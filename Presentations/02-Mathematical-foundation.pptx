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6.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diagrams/data7.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diagrams/data5.xml" ContentType="application/vnd.openxmlformats-officedocument.drawingml.diagramData+xml"/>
  <Override PartName="/ppt/diagrams/data8.xml" ContentType="application/vnd.openxmlformats-officedocument.drawingml.diagramData+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8"/>
  </p:notesMasterIdLst>
  <p:handoutMasterIdLst>
    <p:handoutMasterId r:id="rId69"/>
  </p:handoutMasterIdLst>
  <p:sldIdLst>
    <p:sldId id="726" r:id="rId2"/>
    <p:sldId id="602" r:id="rId3"/>
    <p:sldId id="523" r:id="rId4"/>
    <p:sldId id="608" r:id="rId5"/>
    <p:sldId id="728" r:id="rId6"/>
    <p:sldId id="615" r:id="rId7"/>
    <p:sldId id="624" r:id="rId8"/>
    <p:sldId id="616" r:id="rId9"/>
    <p:sldId id="610" r:id="rId10"/>
    <p:sldId id="698" r:id="rId11"/>
    <p:sldId id="699" r:id="rId12"/>
    <p:sldId id="501" r:id="rId13"/>
    <p:sldId id="589" r:id="rId14"/>
    <p:sldId id="743" r:id="rId15"/>
    <p:sldId id="727" r:id="rId16"/>
    <p:sldId id="607" r:id="rId17"/>
    <p:sldId id="606" r:id="rId18"/>
    <p:sldId id="617" r:id="rId19"/>
    <p:sldId id="549" r:id="rId20"/>
    <p:sldId id="591" r:id="rId21"/>
    <p:sldId id="611" r:id="rId22"/>
    <p:sldId id="592" r:id="rId23"/>
    <p:sldId id="593" r:id="rId24"/>
    <p:sldId id="506" r:id="rId25"/>
    <p:sldId id="508" r:id="rId26"/>
    <p:sldId id="524" r:id="rId27"/>
    <p:sldId id="730" r:id="rId28"/>
    <p:sldId id="525" r:id="rId29"/>
    <p:sldId id="625" r:id="rId30"/>
    <p:sldId id="612" r:id="rId31"/>
    <p:sldId id="729" r:id="rId32"/>
    <p:sldId id="613" r:id="rId33"/>
    <p:sldId id="598" r:id="rId34"/>
    <p:sldId id="638" r:id="rId35"/>
    <p:sldId id="637" r:id="rId36"/>
    <p:sldId id="736" r:id="rId37"/>
    <p:sldId id="739" r:id="rId38"/>
    <p:sldId id="759" r:id="rId39"/>
    <p:sldId id="742" r:id="rId40"/>
    <p:sldId id="509" r:id="rId41"/>
    <p:sldId id="514" r:id="rId42"/>
    <p:sldId id="596" r:id="rId43"/>
    <p:sldId id="642" r:id="rId44"/>
    <p:sldId id="641" r:id="rId45"/>
    <p:sldId id="597" r:id="rId46"/>
    <p:sldId id="521" r:id="rId47"/>
    <p:sldId id="522" r:id="rId48"/>
    <p:sldId id="643" r:id="rId49"/>
    <p:sldId id="745" r:id="rId50"/>
    <p:sldId id="644" r:id="rId51"/>
    <p:sldId id="744" r:id="rId52"/>
    <p:sldId id="688" r:id="rId53"/>
    <p:sldId id="600" r:id="rId54"/>
    <p:sldId id="645" r:id="rId55"/>
    <p:sldId id="646" r:id="rId56"/>
    <p:sldId id="647" r:id="rId57"/>
    <p:sldId id="648" r:id="rId58"/>
    <p:sldId id="649" r:id="rId59"/>
    <p:sldId id="689" r:id="rId60"/>
    <p:sldId id="690" r:id="rId61"/>
    <p:sldId id="740" r:id="rId62"/>
    <p:sldId id="691" r:id="rId63"/>
    <p:sldId id="650" r:id="rId64"/>
    <p:sldId id="792" r:id="rId65"/>
    <p:sldId id="654" r:id="rId66"/>
    <p:sldId id="741"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FE0"/>
    <a:srgbClr val="0000FF"/>
    <a:srgbClr val="FF5A00"/>
    <a:srgbClr val="A07B98"/>
    <a:srgbClr val="252525"/>
    <a:srgbClr val="CA251F"/>
    <a:srgbClr val="5D5D5D"/>
    <a:srgbClr val="49494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45"/>
    <p:restoredTop sz="64325"/>
  </p:normalViewPr>
  <p:slideViewPr>
    <p:cSldViewPr snapToGrid="0" snapToObjects="1">
      <p:cViewPr varScale="1">
        <p:scale>
          <a:sx n="79" d="100"/>
          <a:sy n="79" d="100"/>
        </p:scale>
        <p:origin x="1776" y="184"/>
      </p:cViewPr>
      <p:guideLst/>
    </p:cSldViewPr>
  </p:slideViewPr>
  <p:outlineViewPr>
    <p:cViewPr>
      <p:scale>
        <a:sx n="33" d="100"/>
        <a:sy n="33" d="100"/>
      </p:scale>
      <p:origin x="0" y="-5560"/>
    </p:cViewPr>
  </p:outlineViewPr>
  <p:notesTextViewPr>
    <p:cViewPr>
      <p:scale>
        <a:sx n="185" d="100"/>
        <a:sy n="185"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diagrams/_rels/data5.xml.rels><?xml version="1.0" encoding="UTF-8" standalone="yes"?>
<Relationships xmlns="http://schemas.openxmlformats.org/package/2006/relationships"><Relationship Id="rId3" Type="http://schemas.openxmlformats.org/officeDocument/2006/relationships/image" Target="../media/image1220.png"/><Relationship Id="rId2" Type="http://schemas.openxmlformats.org/officeDocument/2006/relationships/image" Target="../media/image1200.png"/><Relationship Id="rId1" Type="http://schemas.openxmlformats.org/officeDocument/2006/relationships/image" Target="../media/image1191.png"/><Relationship Id="rId4" Type="http://schemas.openxmlformats.org/officeDocument/2006/relationships/image" Target="../media/image1231.png"/></Relationships>
</file>

<file path=ppt/diagrams/_rels/data8.xml.rels><?xml version="1.0" encoding="UTF-8" standalone="yes"?>
<Relationships xmlns="http://schemas.openxmlformats.org/package/2006/relationships"><Relationship Id="rId1" Type="http://schemas.openxmlformats.org/officeDocument/2006/relationships/image" Target="../media/image236.pn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6F4B801-95EB-FF4A-83A6-3D9DA065C637}" type="doc">
      <dgm:prSet loTypeId="urn:microsoft.com/office/officeart/2005/8/layout/list1" loCatId="" qsTypeId="urn:microsoft.com/office/officeart/2005/8/quickstyle/simple1" qsCatId="simple" csTypeId="urn:microsoft.com/office/officeart/2005/8/colors/colorful4" csCatId="colorful" phldr="1"/>
      <dgm:spPr/>
      <dgm:t>
        <a:bodyPr/>
        <a:lstStyle/>
        <a:p>
          <a:endParaRPr lang="en-US"/>
        </a:p>
      </dgm:t>
    </dgm:pt>
    <dgm:pt modelId="{C582ADE7-706D-074E-AEFE-66626353ACD6}">
      <dgm:prSet phldrT="[Text]" custT="1"/>
      <dgm:spPr/>
      <dgm:t>
        <a:bodyPr/>
        <a:lstStyle/>
        <a:p>
          <a:r>
            <a:rPr lang="en-US" sz="2800" dirty="0">
              <a:solidFill>
                <a:schemeClr val="tx1"/>
              </a:solidFill>
            </a:rPr>
            <a:t>Complex Numbers</a:t>
          </a:r>
        </a:p>
      </dgm:t>
    </dgm:pt>
    <dgm:pt modelId="{0F5000E2-8357-BD41-8CAD-475B3F7C8BCA}" type="parTrans" cxnId="{65B944E1-DF07-4147-90EA-651D698297AF}">
      <dgm:prSet/>
      <dgm:spPr/>
      <dgm:t>
        <a:bodyPr/>
        <a:lstStyle/>
        <a:p>
          <a:endParaRPr lang="en-US" sz="2800"/>
        </a:p>
      </dgm:t>
    </dgm:pt>
    <dgm:pt modelId="{FBD7ABF7-933A-CF42-A4BD-5AB5BEC78397}" type="sibTrans" cxnId="{65B944E1-DF07-4147-90EA-651D698297AF}">
      <dgm:prSet/>
      <dgm:spPr/>
      <dgm:t>
        <a:bodyPr/>
        <a:lstStyle/>
        <a:p>
          <a:endParaRPr lang="en-US" sz="2800"/>
        </a:p>
      </dgm:t>
    </dgm:pt>
    <dgm:pt modelId="{8454A125-F226-B240-88D9-981FB5B2C0B0}">
      <dgm:prSet phldrT="[Text]" custT="1"/>
      <dgm:spPr/>
      <dgm:t>
        <a:bodyPr/>
        <a:lstStyle/>
        <a:p>
          <a:r>
            <a:rPr lang="en-US" sz="2800" dirty="0">
              <a:solidFill>
                <a:schemeClr val="tx1"/>
              </a:solidFill>
            </a:rPr>
            <a:t>Matrices</a:t>
          </a:r>
        </a:p>
      </dgm:t>
    </dgm:pt>
    <dgm:pt modelId="{0B60A3E8-832A-614E-8063-B00055D6C685}" type="parTrans" cxnId="{F971C56A-E635-3346-BD21-6E6B8E042A0A}">
      <dgm:prSet/>
      <dgm:spPr/>
    </dgm:pt>
    <dgm:pt modelId="{08A36234-6687-F84B-B91E-C8B2791BC274}" type="sibTrans" cxnId="{F971C56A-E635-3346-BD21-6E6B8E042A0A}">
      <dgm:prSet/>
      <dgm:spPr/>
    </dgm:pt>
    <dgm:pt modelId="{1A05188A-730A-5E4C-BF6E-6A69983D34AE}">
      <dgm:prSet phldrT="[Text]" custT="1"/>
      <dgm:spPr/>
      <dgm:t>
        <a:bodyPr/>
        <a:lstStyle/>
        <a:p>
          <a:r>
            <a:rPr lang="en-US" sz="2800" dirty="0">
              <a:solidFill>
                <a:schemeClr val="tx1"/>
              </a:solidFill>
            </a:rPr>
            <a:t>Vectors and Vector Spaces</a:t>
          </a:r>
        </a:p>
      </dgm:t>
    </dgm:pt>
    <dgm:pt modelId="{9F1534C0-4E60-FD4D-A4EC-9F698E06AD83}" type="parTrans" cxnId="{CAD1DAE2-D3F2-644B-8F1F-F1F9357D7B39}">
      <dgm:prSet/>
      <dgm:spPr/>
    </dgm:pt>
    <dgm:pt modelId="{048EC51F-A6D8-9B48-A2BB-252627B02BF1}" type="sibTrans" cxnId="{CAD1DAE2-D3F2-644B-8F1F-F1F9357D7B39}">
      <dgm:prSet/>
      <dgm:spPr/>
    </dgm:pt>
    <dgm:pt modelId="{D769067B-11AE-F944-93E4-5CDEC539D493}">
      <dgm:prSet phldrT="[Text]" custT="1"/>
      <dgm:spPr/>
      <dgm:t>
        <a:bodyPr/>
        <a:lstStyle/>
        <a:p>
          <a:r>
            <a:rPr lang="en-US" sz="2800" dirty="0">
              <a:solidFill>
                <a:schemeClr val="tx1"/>
              </a:solidFill>
            </a:rPr>
            <a:t>Linear Transformations</a:t>
          </a:r>
        </a:p>
      </dgm:t>
    </dgm:pt>
    <dgm:pt modelId="{8426F1D5-51ED-3C44-ABDD-5A0610524D94}" type="parTrans" cxnId="{DAD870C4-C35D-7044-9A54-20788610AA0D}">
      <dgm:prSet/>
      <dgm:spPr/>
    </dgm:pt>
    <dgm:pt modelId="{F0E4AF3E-C01B-594D-A616-98DD644180BA}" type="sibTrans" cxnId="{DAD870C4-C35D-7044-9A54-20788610AA0D}">
      <dgm:prSet/>
      <dgm:spPr/>
    </dgm:pt>
    <dgm:pt modelId="{D9EA5B43-8B5D-E148-89A7-275BC0B73120}">
      <dgm:prSet phldrT="[Text]" custT="1"/>
      <dgm:spPr/>
      <dgm:t>
        <a:bodyPr/>
        <a:lstStyle/>
        <a:p>
          <a:r>
            <a:rPr lang="en-US" sz="2800" dirty="0">
              <a:solidFill>
                <a:schemeClr val="tx1"/>
              </a:solidFill>
            </a:rPr>
            <a:t>Operators</a:t>
          </a:r>
        </a:p>
      </dgm:t>
    </dgm:pt>
    <dgm:pt modelId="{B7A49C82-FC0F-C343-AA9F-616DB2141CAA}" type="parTrans" cxnId="{9157A322-853E-3344-BA04-99BD61731DEC}">
      <dgm:prSet/>
      <dgm:spPr/>
    </dgm:pt>
    <dgm:pt modelId="{788334F8-8CA7-D242-9FB6-DA97042EE5E4}" type="sibTrans" cxnId="{9157A322-853E-3344-BA04-99BD61731DEC}">
      <dgm:prSet/>
      <dgm:spPr/>
    </dgm:pt>
    <dgm:pt modelId="{27ECB976-2CD3-B84F-9E84-896334F8264C}">
      <dgm:prSet phldrT="[Text]" custT="1"/>
      <dgm:spPr/>
      <dgm:t>
        <a:bodyPr/>
        <a:lstStyle/>
        <a:p>
          <a:r>
            <a:rPr lang="en-US" sz="2800" dirty="0">
              <a:solidFill>
                <a:schemeClr val="tx1"/>
              </a:solidFill>
            </a:rPr>
            <a:t>Modular Arithmetic</a:t>
          </a:r>
        </a:p>
      </dgm:t>
    </dgm:pt>
    <dgm:pt modelId="{AF9B8E13-5CB5-EF48-81C1-3C2C93B90ADB}" type="parTrans" cxnId="{B415A0DF-8766-7F47-A622-81B83B9D452A}">
      <dgm:prSet/>
      <dgm:spPr/>
    </dgm:pt>
    <dgm:pt modelId="{4EE0F924-A51B-844E-8D45-4EBE79FDBC19}" type="sibTrans" cxnId="{B415A0DF-8766-7F47-A622-81B83B9D452A}">
      <dgm:prSet/>
      <dgm:spPr/>
    </dgm:pt>
    <dgm:pt modelId="{69F003A0-7684-FD49-BBCD-7CFE4DF82DCF}">
      <dgm:prSet phldrT="[Text]" custT="1"/>
      <dgm:spPr/>
      <dgm:t>
        <a:bodyPr/>
        <a:lstStyle/>
        <a:p>
          <a:r>
            <a:rPr lang="en-US" sz="2800" dirty="0">
              <a:solidFill>
                <a:schemeClr val="tx1"/>
              </a:solidFill>
            </a:rPr>
            <a:t>Boolean Algebra</a:t>
          </a:r>
        </a:p>
      </dgm:t>
    </dgm:pt>
    <dgm:pt modelId="{8232651E-F67D-C043-A892-87A76BCB51EF}" type="parTrans" cxnId="{48E65545-1FFA-4146-A180-4A74B8DA0F7E}">
      <dgm:prSet/>
      <dgm:spPr/>
    </dgm:pt>
    <dgm:pt modelId="{C95557C9-5C77-9F4E-AECE-C674862C7E8E}" type="sibTrans" cxnId="{48E65545-1FFA-4146-A180-4A74B8DA0F7E}">
      <dgm:prSet/>
      <dgm:spPr/>
    </dgm:pt>
    <dgm:pt modelId="{571DBEE3-8D92-6C4E-8C62-23AFB417007C}">
      <dgm:prSet phldrT="[Text]" custT="1"/>
      <dgm:spPr/>
      <dgm:t>
        <a:bodyPr/>
        <a:lstStyle/>
        <a:p>
          <a:r>
            <a:rPr lang="en-US" sz="2800" dirty="0">
              <a:solidFill>
                <a:schemeClr val="tx1"/>
              </a:solidFill>
            </a:rPr>
            <a:t>Eigenvalues and Eigenvectors</a:t>
          </a:r>
        </a:p>
      </dgm:t>
    </dgm:pt>
    <dgm:pt modelId="{85479734-1198-AA45-9041-08DB3B076925}" type="parTrans" cxnId="{2CED0CD7-F4E8-DF4B-94A9-2A1171B0CD07}">
      <dgm:prSet/>
      <dgm:spPr/>
    </dgm:pt>
    <dgm:pt modelId="{2748C462-0C64-9C40-9423-E87ABFA40EF5}" type="sibTrans" cxnId="{2CED0CD7-F4E8-DF4B-94A9-2A1171B0CD07}">
      <dgm:prSet/>
      <dgm:spPr/>
    </dgm:pt>
    <dgm:pt modelId="{94ACFDC8-4A23-444B-9C4C-04B274E58FC4}" type="pres">
      <dgm:prSet presAssocID="{76F4B801-95EB-FF4A-83A6-3D9DA065C637}" presName="linear" presStyleCnt="0">
        <dgm:presLayoutVars>
          <dgm:dir/>
          <dgm:animLvl val="lvl"/>
          <dgm:resizeHandles val="exact"/>
        </dgm:presLayoutVars>
      </dgm:prSet>
      <dgm:spPr/>
    </dgm:pt>
    <dgm:pt modelId="{D896AA52-2329-1C4F-BED3-8A0C2056B3B1}" type="pres">
      <dgm:prSet presAssocID="{C582ADE7-706D-074E-AEFE-66626353ACD6}" presName="parentLin" presStyleCnt="0"/>
      <dgm:spPr/>
    </dgm:pt>
    <dgm:pt modelId="{4D65B91C-4FBB-034C-B4A9-3AC7077A18F4}" type="pres">
      <dgm:prSet presAssocID="{C582ADE7-706D-074E-AEFE-66626353ACD6}" presName="parentLeftMargin" presStyleLbl="node1" presStyleIdx="0" presStyleCnt="8"/>
      <dgm:spPr/>
    </dgm:pt>
    <dgm:pt modelId="{86718003-3AD3-634B-B0D8-CF5F36BA7157}" type="pres">
      <dgm:prSet presAssocID="{C582ADE7-706D-074E-AEFE-66626353ACD6}" presName="parentText" presStyleLbl="node1" presStyleIdx="0" presStyleCnt="8">
        <dgm:presLayoutVars>
          <dgm:chMax val="0"/>
          <dgm:bulletEnabled val="1"/>
        </dgm:presLayoutVars>
      </dgm:prSet>
      <dgm:spPr/>
    </dgm:pt>
    <dgm:pt modelId="{ECBE3E55-1082-B143-BBB8-4F8835DA7CDA}" type="pres">
      <dgm:prSet presAssocID="{C582ADE7-706D-074E-AEFE-66626353ACD6}" presName="negativeSpace" presStyleCnt="0"/>
      <dgm:spPr/>
    </dgm:pt>
    <dgm:pt modelId="{B5D8E0E0-BEDC-5F4E-8384-CB0DE46AA46B}" type="pres">
      <dgm:prSet presAssocID="{C582ADE7-706D-074E-AEFE-66626353ACD6}" presName="childText" presStyleLbl="conFgAcc1" presStyleIdx="0" presStyleCnt="8">
        <dgm:presLayoutVars>
          <dgm:bulletEnabled val="1"/>
        </dgm:presLayoutVars>
      </dgm:prSet>
      <dgm:spPr/>
    </dgm:pt>
    <dgm:pt modelId="{65525521-6A5F-3B48-94D4-4FD50396900B}" type="pres">
      <dgm:prSet presAssocID="{FBD7ABF7-933A-CF42-A4BD-5AB5BEC78397}" presName="spaceBetweenRectangles" presStyleCnt="0"/>
      <dgm:spPr/>
    </dgm:pt>
    <dgm:pt modelId="{C9E1F76E-4585-FD4D-B568-9AF4C7E6C584}" type="pres">
      <dgm:prSet presAssocID="{8454A125-F226-B240-88D9-981FB5B2C0B0}" presName="parentLin" presStyleCnt="0"/>
      <dgm:spPr/>
    </dgm:pt>
    <dgm:pt modelId="{2CB3FBA5-49FB-A74F-A14A-38AE5E0F1D06}" type="pres">
      <dgm:prSet presAssocID="{8454A125-F226-B240-88D9-981FB5B2C0B0}" presName="parentLeftMargin" presStyleLbl="node1" presStyleIdx="0" presStyleCnt="8"/>
      <dgm:spPr/>
    </dgm:pt>
    <dgm:pt modelId="{AF714608-9349-834E-A43A-D62E1D614680}" type="pres">
      <dgm:prSet presAssocID="{8454A125-F226-B240-88D9-981FB5B2C0B0}" presName="parentText" presStyleLbl="node1" presStyleIdx="1" presStyleCnt="8">
        <dgm:presLayoutVars>
          <dgm:chMax val="0"/>
          <dgm:bulletEnabled val="1"/>
        </dgm:presLayoutVars>
      </dgm:prSet>
      <dgm:spPr/>
    </dgm:pt>
    <dgm:pt modelId="{E36D21FE-778F-9B44-8604-9A5C8D07B990}" type="pres">
      <dgm:prSet presAssocID="{8454A125-F226-B240-88D9-981FB5B2C0B0}" presName="negativeSpace" presStyleCnt="0"/>
      <dgm:spPr/>
    </dgm:pt>
    <dgm:pt modelId="{7FDAC979-E74C-8F4C-B389-8CEB3502D061}" type="pres">
      <dgm:prSet presAssocID="{8454A125-F226-B240-88D9-981FB5B2C0B0}" presName="childText" presStyleLbl="conFgAcc1" presStyleIdx="1" presStyleCnt="8">
        <dgm:presLayoutVars>
          <dgm:bulletEnabled val="1"/>
        </dgm:presLayoutVars>
      </dgm:prSet>
      <dgm:spPr/>
    </dgm:pt>
    <dgm:pt modelId="{54775EE5-C1AA-D448-8A17-0133A9D33768}" type="pres">
      <dgm:prSet presAssocID="{08A36234-6687-F84B-B91E-C8B2791BC274}" presName="spaceBetweenRectangles" presStyleCnt="0"/>
      <dgm:spPr/>
    </dgm:pt>
    <dgm:pt modelId="{E3AD7C26-3501-0743-A959-0EE41B0D37C1}" type="pres">
      <dgm:prSet presAssocID="{1A05188A-730A-5E4C-BF6E-6A69983D34AE}" presName="parentLin" presStyleCnt="0"/>
      <dgm:spPr/>
    </dgm:pt>
    <dgm:pt modelId="{87A48422-0160-DE46-8EAD-67DF2D317899}" type="pres">
      <dgm:prSet presAssocID="{1A05188A-730A-5E4C-BF6E-6A69983D34AE}" presName="parentLeftMargin" presStyleLbl="node1" presStyleIdx="1" presStyleCnt="8"/>
      <dgm:spPr/>
    </dgm:pt>
    <dgm:pt modelId="{0EAD2812-CAA7-5C4D-A222-08B2AB900C6D}" type="pres">
      <dgm:prSet presAssocID="{1A05188A-730A-5E4C-BF6E-6A69983D34AE}" presName="parentText" presStyleLbl="node1" presStyleIdx="2" presStyleCnt="8">
        <dgm:presLayoutVars>
          <dgm:chMax val="0"/>
          <dgm:bulletEnabled val="1"/>
        </dgm:presLayoutVars>
      </dgm:prSet>
      <dgm:spPr/>
    </dgm:pt>
    <dgm:pt modelId="{0591CBA5-12C9-C642-B959-778A6EB31315}" type="pres">
      <dgm:prSet presAssocID="{1A05188A-730A-5E4C-BF6E-6A69983D34AE}" presName="negativeSpace" presStyleCnt="0"/>
      <dgm:spPr/>
    </dgm:pt>
    <dgm:pt modelId="{46502A8F-752B-5A4D-9BF1-3CC0E4DBC854}" type="pres">
      <dgm:prSet presAssocID="{1A05188A-730A-5E4C-BF6E-6A69983D34AE}" presName="childText" presStyleLbl="conFgAcc1" presStyleIdx="2" presStyleCnt="8">
        <dgm:presLayoutVars>
          <dgm:bulletEnabled val="1"/>
        </dgm:presLayoutVars>
      </dgm:prSet>
      <dgm:spPr/>
    </dgm:pt>
    <dgm:pt modelId="{9A98C4CB-3BCC-5C45-BCEA-9A25D7B9A33D}" type="pres">
      <dgm:prSet presAssocID="{048EC51F-A6D8-9B48-A2BB-252627B02BF1}" presName="spaceBetweenRectangles" presStyleCnt="0"/>
      <dgm:spPr/>
    </dgm:pt>
    <dgm:pt modelId="{74E915D7-031D-7949-B45E-1DED94EDB984}" type="pres">
      <dgm:prSet presAssocID="{D769067B-11AE-F944-93E4-5CDEC539D493}" presName="parentLin" presStyleCnt="0"/>
      <dgm:spPr/>
    </dgm:pt>
    <dgm:pt modelId="{E10118D4-8412-AD45-A661-BC51E46D7C68}" type="pres">
      <dgm:prSet presAssocID="{D769067B-11AE-F944-93E4-5CDEC539D493}" presName="parentLeftMargin" presStyleLbl="node1" presStyleIdx="2" presStyleCnt="8"/>
      <dgm:spPr/>
    </dgm:pt>
    <dgm:pt modelId="{0D98D64E-DFF4-FD42-9067-0747644AC8F2}" type="pres">
      <dgm:prSet presAssocID="{D769067B-11AE-F944-93E4-5CDEC539D493}" presName="parentText" presStyleLbl="node1" presStyleIdx="3" presStyleCnt="8">
        <dgm:presLayoutVars>
          <dgm:chMax val="0"/>
          <dgm:bulletEnabled val="1"/>
        </dgm:presLayoutVars>
      </dgm:prSet>
      <dgm:spPr/>
    </dgm:pt>
    <dgm:pt modelId="{F3B8E963-2545-5E4D-BD50-DD5C67631098}" type="pres">
      <dgm:prSet presAssocID="{D769067B-11AE-F944-93E4-5CDEC539D493}" presName="negativeSpace" presStyleCnt="0"/>
      <dgm:spPr/>
    </dgm:pt>
    <dgm:pt modelId="{DA825067-BC20-854F-A9BA-0967617F7729}" type="pres">
      <dgm:prSet presAssocID="{D769067B-11AE-F944-93E4-5CDEC539D493}" presName="childText" presStyleLbl="conFgAcc1" presStyleIdx="3" presStyleCnt="8">
        <dgm:presLayoutVars>
          <dgm:bulletEnabled val="1"/>
        </dgm:presLayoutVars>
      </dgm:prSet>
      <dgm:spPr/>
    </dgm:pt>
    <dgm:pt modelId="{52FCF99D-F5FE-554B-8015-16EB3C76F4BA}" type="pres">
      <dgm:prSet presAssocID="{F0E4AF3E-C01B-594D-A616-98DD644180BA}" presName="spaceBetweenRectangles" presStyleCnt="0"/>
      <dgm:spPr/>
    </dgm:pt>
    <dgm:pt modelId="{E2771BF1-6075-3542-9A2F-0943B88FA571}" type="pres">
      <dgm:prSet presAssocID="{D9EA5B43-8B5D-E148-89A7-275BC0B73120}" presName="parentLin" presStyleCnt="0"/>
      <dgm:spPr/>
    </dgm:pt>
    <dgm:pt modelId="{469C5413-8569-A144-9555-3A91FF88CA14}" type="pres">
      <dgm:prSet presAssocID="{D9EA5B43-8B5D-E148-89A7-275BC0B73120}" presName="parentLeftMargin" presStyleLbl="node1" presStyleIdx="3" presStyleCnt="8"/>
      <dgm:spPr/>
    </dgm:pt>
    <dgm:pt modelId="{33AD5B64-BFAF-B14A-828F-BA399CD110DD}" type="pres">
      <dgm:prSet presAssocID="{D9EA5B43-8B5D-E148-89A7-275BC0B73120}" presName="parentText" presStyleLbl="node1" presStyleIdx="4" presStyleCnt="8">
        <dgm:presLayoutVars>
          <dgm:chMax val="0"/>
          <dgm:bulletEnabled val="1"/>
        </dgm:presLayoutVars>
      </dgm:prSet>
      <dgm:spPr/>
    </dgm:pt>
    <dgm:pt modelId="{915FB886-3DEC-AB4E-9133-6FB36092F580}" type="pres">
      <dgm:prSet presAssocID="{D9EA5B43-8B5D-E148-89A7-275BC0B73120}" presName="negativeSpace" presStyleCnt="0"/>
      <dgm:spPr/>
    </dgm:pt>
    <dgm:pt modelId="{67DB8112-A275-BF45-9351-D79393287B85}" type="pres">
      <dgm:prSet presAssocID="{D9EA5B43-8B5D-E148-89A7-275BC0B73120}" presName="childText" presStyleLbl="conFgAcc1" presStyleIdx="4" presStyleCnt="8">
        <dgm:presLayoutVars>
          <dgm:bulletEnabled val="1"/>
        </dgm:presLayoutVars>
      </dgm:prSet>
      <dgm:spPr/>
    </dgm:pt>
    <dgm:pt modelId="{1EBACF3B-396F-6848-894A-A8329CB4C166}" type="pres">
      <dgm:prSet presAssocID="{788334F8-8CA7-D242-9FB6-DA97042EE5E4}" presName="spaceBetweenRectangles" presStyleCnt="0"/>
      <dgm:spPr/>
    </dgm:pt>
    <dgm:pt modelId="{5077F531-A09A-4143-96F6-36115AE8F4F2}" type="pres">
      <dgm:prSet presAssocID="{571DBEE3-8D92-6C4E-8C62-23AFB417007C}" presName="parentLin" presStyleCnt="0"/>
      <dgm:spPr/>
    </dgm:pt>
    <dgm:pt modelId="{B75B7FD2-50FC-9640-9434-FA4CA040BA75}" type="pres">
      <dgm:prSet presAssocID="{571DBEE3-8D92-6C4E-8C62-23AFB417007C}" presName="parentLeftMargin" presStyleLbl="node1" presStyleIdx="4" presStyleCnt="8"/>
      <dgm:spPr/>
    </dgm:pt>
    <dgm:pt modelId="{182AE389-9D1D-AF44-83CA-6222C01210E8}" type="pres">
      <dgm:prSet presAssocID="{571DBEE3-8D92-6C4E-8C62-23AFB417007C}" presName="parentText" presStyleLbl="node1" presStyleIdx="5" presStyleCnt="8">
        <dgm:presLayoutVars>
          <dgm:chMax val="0"/>
          <dgm:bulletEnabled val="1"/>
        </dgm:presLayoutVars>
      </dgm:prSet>
      <dgm:spPr/>
    </dgm:pt>
    <dgm:pt modelId="{5335F234-F6BA-6544-B9DD-8EBDAAF66BA1}" type="pres">
      <dgm:prSet presAssocID="{571DBEE3-8D92-6C4E-8C62-23AFB417007C}" presName="negativeSpace" presStyleCnt="0"/>
      <dgm:spPr/>
    </dgm:pt>
    <dgm:pt modelId="{3D155241-6E8B-1D47-97DC-AB51B294F14D}" type="pres">
      <dgm:prSet presAssocID="{571DBEE3-8D92-6C4E-8C62-23AFB417007C}" presName="childText" presStyleLbl="conFgAcc1" presStyleIdx="5" presStyleCnt="8">
        <dgm:presLayoutVars>
          <dgm:bulletEnabled val="1"/>
        </dgm:presLayoutVars>
      </dgm:prSet>
      <dgm:spPr/>
    </dgm:pt>
    <dgm:pt modelId="{3F0EC1AC-98B2-924E-AA23-41C9566EC53F}" type="pres">
      <dgm:prSet presAssocID="{2748C462-0C64-9C40-9423-E87ABFA40EF5}" presName="spaceBetweenRectangles" presStyleCnt="0"/>
      <dgm:spPr/>
    </dgm:pt>
    <dgm:pt modelId="{D83C5EA5-9454-8E4B-BFED-BC376765D81B}" type="pres">
      <dgm:prSet presAssocID="{69F003A0-7684-FD49-BBCD-7CFE4DF82DCF}" presName="parentLin" presStyleCnt="0"/>
      <dgm:spPr/>
    </dgm:pt>
    <dgm:pt modelId="{2B88892A-37E9-CB4C-8C55-3B78990F5BF0}" type="pres">
      <dgm:prSet presAssocID="{69F003A0-7684-FD49-BBCD-7CFE4DF82DCF}" presName="parentLeftMargin" presStyleLbl="node1" presStyleIdx="5" presStyleCnt="8"/>
      <dgm:spPr/>
    </dgm:pt>
    <dgm:pt modelId="{B94E034E-1913-FC41-959E-7C8818CCC0B9}" type="pres">
      <dgm:prSet presAssocID="{69F003A0-7684-FD49-BBCD-7CFE4DF82DCF}" presName="parentText" presStyleLbl="node1" presStyleIdx="6" presStyleCnt="8">
        <dgm:presLayoutVars>
          <dgm:chMax val="0"/>
          <dgm:bulletEnabled val="1"/>
        </dgm:presLayoutVars>
      </dgm:prSet>
      <dgm:spPr/>
    </dgm:pt>
    <dgm:pt modelId="{A6434B0F-297F-2641-9969-17A47D9B00E2}" type="pres">
      <dgm:prSet presAssocID="{69F003A0-7684-FD49-BBCD-7CFE4DF82DCF}" presName="negativeSpace" presStyleCnt="0"/>
      <dgm:spPr/>
    </dgm:pt>
    <dgm:pt modelId="{0B4666BE-2D70-C34E-BDA6-354704EB16CB}" type="pres">
      <dgm:prSet presAssocID="{69F003A0-7684-FD49-BBCD-7CFE4DF82DCF}" presName="childText" presStyleLbl="conFgAcc1" presStyleIdx="6" presStyleCnt="8">
        <dgm:presLayoutVars>
          <dgm:bulletEnabled val="1"/>
        </dgm:presLayoutVars>
      </dgm:prSet>
      <dgm:spPr/>
    </dgm:pt>
    <dgm:pt modelId="{C009F5F2-9E49-AF42-855A-DC629FB03195}" type="pres">
      <dgm:prSet presAssocID="{C95557C9-5C77-9F4E-AECE-C674862C7E8E}" presName="spaceBetweenRectangles" presStyleCnt="0"/>
      <dgm:spPr/>
    </dgm:pt>
    <dgm:pt modelId="{71C3EAC0-EA77-F143-8B4F-97F7B32D8AF3}" type="pres">
      <dgm:prSet presAssocID="{27ECB976-2CD3-B84F-9E84-896334F8264C}" presName="parentLin" presStyleCnt="0"/>
      <dgm:spPr/>
    </dgm:pt>
    <dgm:pt modelId="{92B17729-899E-144D-9E50-3BFA44DDCF5F}" type="pres">
      <dgm:prSet presAssocID="{27ECB976-2CD3-B84F-9E84-896334F8264C}" presName="parentLeftMargin" presStyleLbl="node1" presStyleIdx="6" presStyleCnt="8"/>
      <dgm:spPr/>
    </dgm:pt>
    <dgm:pt modelId="{F241464C-5C62-B64E-A945-D4CCEEFE31C7}" type="pres">
      <dgm:prSet presAssocID="{27ECB976-2CD3-B84F-9E84-896334F8264C}" presName="parentText" presStyleLbl="node1" presStyleIdx="7" presStyleCnt="8">
        <dgm:presLayoutVars>
          <dgm:chMax val="0"/>
          <dgm:bulletEnabled val="1"/>
        </dgm:presLayoutVars>
      </dgm:prSet>
      <dgm:spPr/>
    </dgm:pt>
    <dgm:pt modelId="{0EB760E0-348B-9F43-8BB4-B45BC803AF25}" type="pres">
      <dgm:prSet presAssocID="{27ECB976-2CD3-B84F-9E84-896334F8264C}" presName="negativeSpace" presStyleCnt="0"/>
      <dgm:spPr/>
    </dgm:pt>
    <dgm:pt modelId="{80F40E54-0397-824C-BAA1-E87358F6169E}" type="pres">
      <dgm:prSet presAssocID="{27ECB976-2CD3-B84F-9E84-896334F8264C}" presName="childText" presStyleLbl="conFgAcc1" presStyleIdx="7" presStyleCnt="8">
        <dgm:presLayoutVars>
          <dgm:bulletEnabled val="1"/>
        </dgm:presLayoutVars>
      </dgm:prSet>
      <dgm:spPr/>
    </dgm:pt>
  </dgm:ptLst>
  <dgm:cxnLst>
    <dgm:cxn modelId="{85658914-477F-4343-910B-4203BD229277}" type="presOf" srcId="{76F4B801-95EB-FF4A-83A6-3D9DA065C637}" destId="{94ACFDC8-4A23-444B-9C4C-04B274E58FC4}" srcOrd="0" destOrd="0" presId="urn:microsoft.com/office/officeart/2005/8/layout/list1"/>
    <dgm:cxn modelId="{6CBDC41C-2505-9D41-83E1-D26B50839433}" type="presOf" srcId="{D9EA5B43-8B5D-E148-89A7-275BC0B73120}" destId="{33AD5B64-BFAF-B14A-828F-BA399CD110DD}" srcOrd="1" destOrd="0" presId="urn:microsoft.com/office/officeart/2005/8/layout/list1"/>
    <dgm:cxn modelId="{9157A322-853E-3344-BA04-99BD61731DEC}" srcId="{76F4B801-95EB-FF4A-83A6-3D9DA065C637}" destId="{D9EA5B43-8B5D-E148-89A7-275BC0B73120}" srcOrd="4" destOrd="0" parTransId="{B7A49C82-FC0F-C343-AA9F-616DB2141CAA}" sibTransId="{788334F8-8CA7-D242-9FB6-DA97042EE5E4}"/>
    <dgm:cxn modelId="{235D4E27-D5E1-444E-B274-C510426D890D}" type="presOf" srcId="{D769067B-11AE-F944-93E4-5CDEC539D493}" destId="{0D98D64E-DFF4-FD42-9067-0747644AC8F2}" srcOrd="1" destOrd="0" presId="urn:microsoft.com/office/officeart/2005/8/layout/list1"/>
    <dgm:cxn modelId="{18EB1030-34DC-2A41-AE1A-4A9AA1EB91F7}" type="presOf" srcId="{8454A125-F226-B240-88D9-981FB5B2C0B0}" destId="{2CB3FBA5-49FB-A74F-A14A-38AE5E0F1D06}" srcOrd="0" destOrd="0" presId="urn:microsoft.com/office/officeart/2005/8/layout/list1"/>
    <dgm:cxn modelId="{FDB7133E-5F54-9449-9638-0CBCE3CE25B9}" type="presOf" srcId="{1A05188A-730A-5E4C-BF6E-6A69983D34AE}" destId="{0EAD2812-CAA7-5C4D-A222-08B2AB900C6D}" srcOrd="1" destOrd="0" presId="urn:microsoft.com/office/officeart/2005/8/layout/list1"/>
    <dgm:cxn modelId="{48E65545-1FFA-4146-A180-4A74B8DA0F7E}" srcId="{76F4B801-95EB-FF4A-83A6-3D9DA065C637}" destId="{69F003A0-7684-FD49-BBCD-7CFE4DF82DCF}" srcOrd="6" destOrd="0" parTransId="{8232651E-F67D-C043-A892-87A76BCB51EF}" sibTransId="{C95557C9-5C77-9F4E-AECE-C674862C7E8E}"/>
    <dgm:cxn modelId="{60EBEC52-7826-BB49-905C-9F40A4BEFA9D}" type="presOf" srcId="{571DBEE3-8D92-6C4E-8C62-23AFB417007C}" destId="{182AE389-9D1D-AF44-83CA-6222C01210E8}" srcOrd="1" destOrd="0" presId="urn:microsoft.com/office/officeart/2005/8/layout/list1"/>
    <dgm:cxn modelId="{8C06165A-2206-BC46-89A1-AE7701D24E3E}" type="presOf" srcId="{571DBEE3-8D92-6C4E-8C62-23AFB417007C}" destId="{B75B7FD2-50FC-9640-9434-FA4CA040BA75}" srcOrd="0" destOrd="0" presId="urn:microsoft.com/office/officeart/2005/8/layout/list1"/>
    <dgm:cxn modelId="{876D595C-8662-9242-9502-E34B4EBA14BE}" type="presOf" srcId="{8454A125-F226-B240-88D9-981FB5B2C0B0}" destId="{AF714608-9349-834E-A43A-D62E1D614680}" srcOrd="1" destOrd="0" presId="urn:microsoft.com/office/officeart/2005/8/layout/list1"/>
    <dgm:cxn modelId="{3DA3D763-3478-F949-A8FC-BBE5F33E3B93}" type="presOf" srcId="{69F003A0-7684-FD49-BBCD-7CFE4DF82DCF}" destId="{B94E034E-1913-FC41-959E-7C8818CCC0B9}" srcOrd="1" destOrd="0" presId="urn:microsoft.com/office/officeart/2005/8/layout/list1"/>
    <dgm:cxn modelId="{D9908364-A90F-DD4E-A65F-5CF7679AFDF4}" type="presOf" srcId="{69F003A0-7684-FD49-BBCD-7CFE4DF82DCF}" destId="{2B88892A-37E9-CB4C-8C55-3B78990F5BF0}" srcOrd="0" destOrd="0" presId="urn:microsoft.com/office/officeart/2005/8/layout/list1"/>
    <dgm:cxn modelId="{0804A364-6696-3741-99C5-E2D6691909A7}" type="presOf" srcId="{27ECB976-2CD3-B84F-9E84-896334F8264C}" destId="{92B17729-899E-144D-9E50-3BFA44DDCF5F}" srcOrd="0" destOrd="0" presId="urn:microsoft.com/office/officeart/2005/8/layout/list1"/>
    <dgm:cxn modelId="{F971C56A-E635-3346-BD21-6E6B8E042A0A}" srcId="{76F4B801-95EB-FF4A-83A6-3D9DA065C637}" destId="{8454A125-F226-B240-88D9-981FB5B2C0B0}" srcOrd="1" destOrd="0" parTransId="{0B60A3E8-832A-614E-8063-B00055D6C685}" sibTransId="{08A36234-6687-F84B-B91E-C8B2791BC274}"/>
    <dgm:cxn modelId="{98360972-2909-B04F-B260-37CD9D2641D2}" type="presOf" srcId="{D9EA5B43-8B5D-E148-89A7-275BC0B73120}" destId="{469C5413-8569-A144-9555-3A91FF88CA14}" srcOrd="0" destOrd="0" presId="urn:microsoft.com/office/officeart/2005/8/layout/list1"/>
    <dgm:cxn modelId="{72EFADA1-6A69-EB4E-8D15-0B4AE27F0A33}" type="presOf" srcId="{C582ADE7-706D-074E-AEFE-66626353ACD6}" destId="{4D65B91C-4FBB-034C-B4A9-3AC7077A18F4}" srcOrd="0" destOrd="0" presId="urn:microsoft.com/office/officeart/2005/8/layout/list1"/>
    <dgm:cxn modelId="{0F9331BC-DE89-0849-B57F-51F1A43F8230}" type="presOf" srcId="{1A05188A-730A-5E4C-BF6E-6A69983D34AE}" destId="{87A48422-0160-DE46-8EAD-67DF2D317899}" srcOrd="0" destOrd="0" presId="urn:microsoft.com/office/officeart/2005/8/layout/list1"/>
    <dgm:cxn modelId="{DAD870C4-C35D-7044-9A54-20788610AA0D}" srcId="{76F4B801-95EB-FF4A-83A6-3D9DA065C637}" destId="{D769067B-11AE-F944-93E4-5CDEC539D493}" srcOrd="3" destOrd="0" parTransId="{8426F1D5-51ED-3C44-ABDD-5A0610524D94}" sibTransId="{F0E4AF3E-C01B-594D-A616-98DD644180BA}"/>
    <dgm:cxn modelId="{2CED0CD7-F4E8-DF4B-94A9-2A1171B0CD07}" srcId="{76F4B801-95EB-FF4A-83A6-3D9DA065C637}" destId="{571DBEE3-8D92-6C4E-8C62-23AFB417007C}" srcOrd="5" destOrd="0" parTransId="{85479734-1198-AA45-9041-08DB3B076925}" sibTransId="{2748C462-0C64-9C40-9423-E87ABFA40EF5}"/>
    <dgm:cxn modelId="{877754DF-BC2F-E34D-BC01-119642CC1C6E}" type="presOf" srcId="{27ECB976-2CD3-B84F-9E84-896334F8264C}" destId="{F241464C-5C62-B64E-A945-D4CCEEFE31C7}" srcOrd="1" destOrd="0" presId="urn:microsoft.com/office/officeart/2005/8/layout/list1"/>
    <dgm:cxn modelId="{B415A0DF-8766-7F47-A622-81B83B9D452A}" srcId="{76F4B801-95EB-FF4A-83A6-3D9DA065C637}" destId="{27ECB976-2CD3-B84F-9E84-896334F8264C}" srcOrd="7" destOrd="0" parTransId="{AF9B8E13-5CB5-EF48-81C1-3C2C93B90ADB}" sibTransId="{4EE0F924-A51B-844E-8D45-4EBE79FDBC19}"/>
    <dgm:cxn modelId="{65B944E1-DF07-4147-90EA-651D698297AF}" srcId="{76F4B801-95EB-FF4A-83A6-3D9DA065C637}" destId="{C582ADE7-706D-074E-AEFE-66626353ACD6}" srcOrd="0" destOrd="0" parTransId="{0F5000E2-8357-BD41-8CAD-475B3F7C8BCA}" sibTransId="{FBD7ABF7-933A-CF42-A4BD-5AB5BEC78397}"/>
    <dgm:cxn modelId="{CAD1DAE2-D3F2-644B-8F1F-F1F9357D7B39}" srcId="{76F4B801-95EB-FF4A-83A6-3D9DA065C637}" destId="{1A05188A-730A-5E4C-BF6E-6A69983D34AE}" srcOrd="2" destOrd="0" parTransId="{9F1534C0-4E60-FD4D-A4EC-9F698E06AD83}" sibTransId="{048EC51F-A6D8-9B48-A2BB-252627B02BF1}"/>
    <dgm:cxn modelId="{5CCA5BED-AA5B-5E4B-901A-D0808628FDE9}" type="presOf" srcId="{D769067B-11AE-F944-93E4-5CDEC539D493}" destId="{E10118D4-8412-AD45-A661-BC51E46D7C68}" srcOrd="0" destOrd="0" presId="urn:microsoft.com/office/officeart/2005/8/layout/list1"/>
    <dgm:cxn modelId="{B16CE7FB-EB4D-224D-8354-1B28C8D8F162}" type="presOf" srcId="{C582ADE7-706D-074E-AEFE-66626353ACD6}" destId="{86718003-3AD3-634B-B0D8-CF5F36BA7157}" srcOrd="1" destOrd="0" presId="urn:microsoft.com/office/officeart/2005/8/layout/list1"/>
    <dgm:cxn modelId="{26110900-71F7-B341-8729-8F02F3944464}" type="presParOf" srcId="{94ACFDC8-4A23-444B-9C4C-04B274E58FC4}" destId="{D896AA52-2329-1C4F-BED3-8A0C2056B3B1}" srcOrd="0" destOrd="0" presId="urn:microsoft.com/office/officeart/2005/8/layout/list1"/>
    <dgm:cxn modelId="{C4F1147F-4807-814A-9528-8377B45A9C4B}" type="presParOf" srcId="{D896AA52-2329-1C4F-BED3-8A0C2056B3B1}" destId="{4D65B91C-4FBB-034C-B4A9-3AC7077A18F4}" srcOrd="0" destOrd="0" presId="urn:microsoft.com/office/officeart/2005/8/layout/list1"/>
    <dgm:cxn modelId="{80838C50-5C08-794A-803E-9AF768B41D8A}" type="presParOf" srcId="{D896AA52-2329-1C4F-BED3-8A0C2056B3B1}" destId="{86718003-3AD3-634B-B0D8-CF5F36BA7157}" srcOrd="1" destOrd="0" presId="urn:microsoft.com/office/officeart/2005/8/layout/list1"/>
    <dgm:cxn modelId="{72F52617-77EC-B947-995A-18C449AACCF2}" type="presParOf" srcId="{94ACFDC8-4A23-444B-9C4C-04B274E58FC4}" destId="{ECBE3E55-1082-B143-BBB8-4F8835DA7CDA}" srcOrd="1" destOrd="0" presId="urn:microsoft.com/office/officeart/2005/8/layout/list1"/>
    <dgm:cxn modelId="{E875ADF9-717E-B24E-9E5C-14E8498AF70E}" type="presParOf" srcId="{94ACFDC8-4A23-444B-9C4C-04B274E58FC4}" destId="{B5D8E0E0-BEDC-5F4E-8384-CB0DE46AA46B}" srcOrd="2" destOrd="0" presId="urn:microsoft.com/office/officeart/2005/8/layout/list1"/>
    <dgm:cxn modelId="{26119D37-B925-3442-9C0D-F58086C30089}" type="presParOf" srcId="{94ACFDC8-4A23-444B-9C4C-04B274E58FC4}" destId="{65525521-6A5F-3B48-94D4-4FD50396900B}" srcOrd="3" destOrd="0" presId="urn:microsoft.com/office/officeart/2005/8/layout/list1"/>
    <dgm:cxn modelId="{BFD461A8-608B-E545-86AA-FE08BF486074}" type="presParOf" srcId="{94ACFDC8-4A23-444B-9C4C-04B274E58FC4}" destId="{C9E1F76E-4585-FD4D-B568-9AF4C7E6C584}" srcOrd="4" destOrd="0" presId="urn:microsoft.com/office/officeart/2005/8/layout/list1"/>
    <dgm:cxn modelId="{4F8C5494-374F-EB44-9EBE-8F18ED26B331}" type="presParOf" srcId="{C9E1F76E-4585-FD4D-B568-9AF4C7E6C584}" destId="{2CB3FBA5-49FB-A74F-A14A-38AE5E0F1D06}" srcOrd="0" destOrd="0" presId="urn:microsoft.com/office/officeart/2005/8/layout/list1"/>
    <dgm:cxn modelId="{A50E2B42-7BDB-324F-B094-6CED89298971}" type="presParOf" srcId="{C9E1F76E-4585-FD4D-B568-9AF4C7E6C584}" destId="{AF714608-9349-834E-A43A-D62E1D614680}" srcOrd="1" destOrd="0" presId="urn:microsoft.com/office/officeart/2005/8/layout/list1"/>
    <dgm:cxn modelId="{4030A639-9011-5347-845E-56B12D75B341}" type="presParOf" srcId="{94ACFDC8-4A23-444B-9C4C-04B274E58FC4}" destId="{E36D21FE-778F-9B44-8604-9A5C8D07B990}" srcOrd="5" destOrd="0" presId="urn:microsoft.com/office/officeart/2005/8/layout/list1"/>
    <dgm:cxn modelId="{22E6D798-525E-BD41-99B4-68CC69C7F990}" type="presParOf" srcId="{94ACFDC8-4A23-444B-9C4C-04B274E58FC4}" destId="{7FDAC979-E74C-8F4C-B389-8CEB3502D061}" srcOrd="6" destOrd="0" presId="urn:microsoft.com/office/officeart/2005/8/layout/list1"/>
    <dgm:cxn modelId="{487C87B5-A756-7141-9F4B-1BDEB1C04CED}" type="presParOf" srcId="{94ACFDC8-4A23-444B-9C4C-04B274E58FC4}" destId="{54775EE5-C1AA-D448-8A17-0133A9D33768}" srcOrd="7" destOrd="0" presId="urn:microsoft.com/office/officeart/2005/8/layout/list1"/>
    <dgm:cxn modelId="{2DDA176F-1C45-5449-B1A4-26E99B2EDD81}" type="presParOf" srcId="{94ACFDC8-4A23-444B-9C4C-04B274E58FC4}" destId="{E3AD7C26-3501-0743-A959-0EE41B0D37C1}" srcOrd="8" destOrd="0" presId="urn:microsoft.com/office/officeart/2005/8/layout/list1"/>
    <dgm:cxn modelId="{BAD75D78-8A7A-F848-AE85-84B1B75D0171}" type="presParOf" srcId="{E3AD7C26-3501-0743-A959-0EE41B0D37C1}" destId="{87A48422-0160-DE46-8EAD-67DF2D317899}" srcOrd="0" destOrd="0" presId="urn:microsoft.com/office/officeart/2005/8/layout/list1"/>
    <dgm:cxn modelId="{4F9CA734-4969-CC48-8476-0F8858DAE60E}" type="presParOf" srcId="{E3AD7C26-3501-0743-A959-0EE41B0D37C1}" destId="{0EAD2812-CAA7-5C4D-A222-08B2AB900C6D}" srcOrd="1" destOrd="0" presId="urn:microsoft.com/office/officeart/2005/8/layout/list1"/>
    <dgm:cxn modelId="{65B40B7C-40CA-8248-82A8-D33CADC068F7}" type="presParOf" srcId="{94ACFDC8-4A23-444B-9C4C-04B274E58FC4}" destId="{0591CBA5-12C9-C642-B959-778A6EB31315}" srcOrd="9" destOrd="0" presId="urn:microsoft.com/office/officeart/2005/8/layout/list1"/>
    <dgm:cxn modelId="{AA93C220-C60C-D743-809A-494C9A9BCB0D}" type="presParOf" srcId="{94ACFDC8-4A23-444B-9C4C-04B274E58FC4}" destId="{46502A8F-752B-5A4D-9BF1-3CC0E4DBC854}" srcOrd="10" destOrd="0" presId="urn:microsoft.com/office/officeart/2005/8/layout/list1"/>
    <dgm:cxn modelId="{E200E5E8-FEC6-4F49-92D8-C73BCB18C66A}" type="presParOf" srcId="{94ACFDC8-4A23-444B-9C4C-04B274E58FC4}" destId="{9A98C4CB-3BCC-5C45-BCEA-9A25D7B9A33D}" srcOrd="11" destOrd="0" presId="urn:microsoft.com/office/officeart/2005/8/layout/list1"/>
    <dgm:cxn modelId="{CF233FD9-5876-3549-BF61-0104CF6731D2}" type="presParOf" srcId="{94ACFDC8-4A23-444B-9C4C-04B274E58FC4}" destId="{74E915D7-031D-7949-B45E-1DED94EDB984}" srcOrd="12" destOrd="0" presId="urn:microsoft.com/office/officeart/2005/8/layout/list1"/>
    <dgm:cxn modelId="{C429F13C-B2A2-5545-86F5-5F13D578C089}" type="presParOf" srcId="{74E915D7-031D-7949-B45E-1DED94EDB984}" destId="{E10118D4-8412-AD45-A661-BC51E46D7C68}" srcOrd="0" destOrd="0" presId="urn:microsoft.com/office/officeart/2005/8/layout/list1"/>
    <dgm:cxn modelId="{4DD83F4B-52DE-2F49-8AFD-27306516D919}" type="presParOf" srcId="{74E915D7-031D-7949-B45E-1DED94EDB984}" destId="{0D98D64E-DFF4-FD42-9067-0747644AC8F2}" srcOrd="1" destOrd="0" presId="urn:microsoft.com/office/officeart/2005/8/layout/list1"/>
    <dgm:cxn modelId="{DF1AD6AB-2C3B-CF4B-A117-296BB13F0C5B}" type="presParOf" srcId="{94ACFDC8-4A23-444B-9C4C-04B274E58FC4}" destId="{F3B8E963-2545-5E4D-BD50-DD5C67631098}" srcOrd="13" destOrd="0" presId="urn:microsoft.com/office/officeart/2005/8/layout/list1"/>
    <dgm:cxn modelId="{25CB771C-ED70-0B4B-A4DB-A4576D1EE773}" type="presParOf" srcId="{94ACFDC8-4A23-444B-9C4C-04B274E58FC4}" destId="{DA825067-BC20-854F-A9BA-0967617F7729}" srcOrd="14" destOrd="0" presId="urn:microsoft.com/office/officeart/2005/8/layout/list1"/>
    <dgm:cxn modelId="{D332D6C5-1B7A-1845-AC33-4BA84BD09334}" type="presParOf" srcId="{94ACFDC8-4A23-444B-9C4C-04B274E58FC4}" destId="{52FCF99D-F5FE-554B-8015-16EB3C76F4BA}" srcOrd="15" destOrd="0" presId="urn:microsoft.com/office/officeart/2005/8/layout/list1"/>
    <dgm:cxn modelId="{81FBD874-8122-4643-893E-061EE1DF5E3F}" type="presParOf" srcId="{94ACFDC8-4A23-444B-9C4C-04B274E58FC4}" destId="{E2771BF1-6075-3542-9A2F-0943B88FA571}" srcOrd="16" destOrd="0" presId="urn:microsoft.com/office/officeart/2005/8/layout/list1"/>
    <dgm:cxn modelId="{6C20E831-C0B7-B94B-AF2B-1E0A6282277D}" type="presParOf" srcId="{E2771BF1-6075-3542-9A2F-0943B88FA571}" destId="{469C5413-8569-A144-9555-3A91FF88CA14}" srcOrd="0" destOrd="0" presId="urn:microsoft.com/office/officeart/2005/8/layout/list1"/>
    <dgm:cxn modelId="{4AA72931-9B7C-F643-8E99-44C6D3A1E0BF}" type="presParOf" srcId="{E2771BF1-6075-3542-9A2F-0943B88FA571}" destId="{33AD5B64-BFAF-B14A-828F-BA399CD110DD}" srcOrd="1" destOrd="0" presId="urn:microsoft.com/office/officeart/2005/8/layout/list1"/>
    <dgm:cxn modelId="{8BD03214-0EAE-C344-8AED-292E896D89F9}" type="presParOf" srcId="{94ACFDC8-4A23-444B-9C4C-04B274E58FC4}" destId="{915FB886-3DEC-AB4E-9133-6FB36092F580}" srcOrd="17" destOrd="0" presId="urn:microsoft.com/office/officeart/2005/8/layout/list1"/>
    <dgm:cxn modelId="{556460D4-F23C-4045-86CA-339EFB9578CF}" type="presParOf" srcId="{94ACFDC8-4A23-444B-9C4C-04B274E58FC4}" destId="{67DB8112-A275-BF45-9351-D79393287B85}" srcOrd="18" destOrd="0" presId="urn:microsoft.com/office/officeart/2005/8/layout/list1"/>
    <dgm:cxn modelId="{3AA8930E-504E-AB42-A49C-B723A1E0097D}" type="presParOf" srcId="{94ACFDC8-4A23-444B-9C4C-04B274E58FC4}" destId="{1EBACF3B-396F-6848-894A-A8329CB4C166}" srcOrd="19" destOrd="0" presId="urn:microsoft.com/office/officeart/2005/8/layout/list1"/>
    <dgm:cxn modelId="{C40F417A-ABAA-6241-A273-59FBA964DF98}" type="presParOf" srcId="{94ACFDC8-4A23-444B-9C4C-04B274E58FC4}" destId="{5077F531-A09A-4143-96F6-36115AE8F4F2}" srcOrd="20" destOrd="0" presId="urn:microsoft.com/office/officeart/2005/8/layout/list1"/>
    <dgm:cxn modelId="{32DCA253-B400-F743-A670-E819FF5D1C40}" type="presParOf" srcId="{5077F531-A09A-4143-96F6-36115AE8F4F2}" destId="{B75B7FD2-50FC-9640-9434-FA4CA040BA75}" srcOrd="0" destOrd="0" presId="urn:microsoft.com/office/officeart/2005/8/layout/list1"/>
    <dgm:cxn modelId="{3C95E26C-F661-9546-9FC9-2E3763BA2AF2}" type="presParOf" srcId="{5077F531-A09A-4143-96F6-36115AE8F4F2}" destId="{182AE389-9D1D-AF44-83CA-6222C01210E8}" srcOrd="1" destOrd="0" presId="urn:microsoft.com/office/officeart/2005/8/layout/list1"/>
    <dgm:cxn modelId="{22B5F9D3-9AE3-4249-B36B-F5E682F7E71E}" type="presParOf" srcId="{94ACFDC8-4A23-444B-9C4C-04B274E58FC4}" destId="{5335F234-F6BA-6544-B9DD-8EBDAAF66BA1}" srcOrd="21" destOrd="0" presId="urn:microsoft.com/office/officeart/2005/8/layout/list1"/>
    <dgm:cxn modelId="{9D192AAD-5713-B54C-ADAF-6536235BF652}" type="presParOf" srcId="{94ACFDC8-4A23-444B-9C4C-04B274E58FC4}" destId="{3D155241-6E8B-1D47-97DC-AB51B294F14D}" srcOrd="22" destOrd="0" presId="urn:microsoft.com/office/officeart/2005/8/layout/list1"/>
    <dgm:cxn modelId="{B4D1DDD8-EA17-8E4B-A2A2-4D3F9073FD0B}" type="presParOf" srcId="{94ACFDC8-4A23-444B-9C4C-04B274E58FC4}" destId="{3F0EC1AC-98B2-924E-AA23-41C9566EC53F}" srcOrd="23" destOrd="0" presId="urn:microsoft.com/office/officeart/2005/8/layout/list1"/>
    <dgm:cxn modelId="{BC2E6FD9-BB83-7F45-BD23-D8FC818D1F79}" type="presParOf" srcId="{94ACFDC8-4A23-444B-9C4C-04B274E58FC4}" destId="{D83C5EA5-9454-8E4B-BFED-BC376765D81B}" srcOrd="24" destOrd="0" presId="urn:microsoft.com/office/officeart/2005/8/layout/list1"/>
    <dgm:cxn modelId="{1E628DE5-0937-CB47-B37A-0342FFF49263}" type="presParOf" srcId="{D83C5EA5-9454-8E4B-BFED-BC376765D81B}" destId="{2B88892A-37E9-CB4C-8C55-3B78990F5BF0}" srcOrd="0" destOrd="0" presId="urn:microsoft.com/office/officeart/2005/8/layout/list1"/>
    <dgm:cxn modelId="{623653D7-F05F-434B-A154-46B490D269DA}" type="presParOf" srcId="{D83C5EA5-9454-8E4B-BFED-BC376765D81B}" destId="{B94E034E-1913-FC41-959E-7C8818CCC0B9}" srcOrd="1" destOrd="0" presId="urn:microsoft.com/office/officeart/2005/8/layout/list1"/>
    <dgm:cxn modelId="{69C745D5-FB02-F744-B79D-2989F426802A}" type="presParOf" srcId="{94ACFDC8-4A23-444B-9C4C-04B274E58FC4}" destId="{A6434B0F-297F-2641-9969-17A47D9B00E2}" srcOrd="25" destOrd="0" presId="urn:microsoft.com/office/officeart/2005/8/layout/list1"/>
    <dgm:cxn modelId="{F0D68D58-7DF0-F840-A724-B006B09DBC4A}" type="presParOf" srcId="{94ACFDC8-4A23-444B-9C4C-04B274E58FC4}" destId="{0B4666BE-2D70-C34E-BDA6-354704EB16CB}" srcOrd="26" destOrd="0" presId="urn:microsoft.com/office/officeart/2005/8/layout/list1"/>
    <dgm:cxn modelId="{4E712539-EAD3-6C4E-94FB-5BC7242D8631}" type="presParOf" srcId="{94ACFDC8-4A23-444B-9C4C-04B274E58FC4}" destId="{C009F5F2-9E49-AF42-855A-DC629FB03195}" srcOrd="27" destOrd="0" presId="urn:microsoft.com/office/officeart/2005/8/layout/list1"/>
    <dgm:cxn modelId="{F48AD298-6E5B-3443-A7F4-88797B58C432}" type="presParOf" srcId="{94ACFDC8-4A23-444B-9C4C-04B274E58FC4}" destId="{71C3EAC0-EA77-F143-8B4F-97F7B32D8AF3}" srcOrd="28" destOrd="0" presId="urn:microsoft.com/office/officeart/2005/8/layout/list1"/>
    <dgm:cxn modelId="{CC56C378-65E3-0E44-B5E5-FA997FBBDCDC}" type="presParOf" srcId="{71C3EAC0-EA77-F143-8B4F-97F7B32D8AF3}" destId="{92B17729-899E-144D-9E50-3BFA44DDCF5F}" srcOrd="0" destOrd="0" presId="urn:microsoft.com/office/officeart/2005/8/layout/list1"/>
    <dgm:cxn modelId="{77CD7456-4E24-4545-94D9-1AC117C9984E}" type="presParOf" srcId="{71C3EAC0-EA77-F143-8B4F-97F7B32D8AF3}" destId="{F241464C-5C62-B64E-A945-D4CCEEFE31C7}" srcOrd="1" destOrd="0" presId="urn:microsoft.com/office/officeart/2005/8/layout/list1"/>
    <dgm:cxn modelId="{11A1BD44-66C1-8042-9A5F-C32BEA988229}" type="presParOf" srcId="{94ACFDC8-4A23-444B-9C4C-04B274E58FC4}" destId="{0EB760E0-348B-9F43-8BB4-B45BC803AF25}" srcOrd="29" destOrd="0" presId="urn:microsoft.com/office/officeart/2005/8/layout/list1"/>
    <dgm:cxn modelId="{90B963A3-CE9F-8949-BAA4-5BA1B66A4DAD}" type="presParOf" srcId="{94ACFDC8-4A23-444B-9C4C-04B274E58FC4}" destId="{80F40E54-0397-824C-BAA1-E87358F6169E}" srcOrd="3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FBD6411-6FA3-7845-886B-09F983AE3D66}" type="doc">
      <dgm:prSet loTypeId="urn:microsoft.com/office/officeart/2005/8/layout/lProcess3" loCatId="process" qsTypeId="urn:microsoft.com/office/officeart/2005/8/quickstyle/simple1" qsCatId="simple" csTypeId="urn:microsoft.com/office/officeart/2005/8/colors/colorful3" csCatId="colorful" phldr="1"/>
      <dgm:spPr/>
      <dgm:t>
        <a:bodyPr/>
        <a:lstStyle/>
        <a:p>
          <a:endParaRPr lang="en-US"/>
        </a:p>
      </dgm:t>
    </dgm:pt>
    <dgm:pt modelId="{F5A57D5B-D38F-3344-9AEB-B26746D85129}">
      <dgm:prSet/>
      <dgm:spPr/>
      <dgm:t>
        <a:bodyPr/>
        <a:lstStyle/>
        <a:p>
          <a:r>
            <a:rPr lang="en-US" dirty="0" err="1"/>
            <a:t>matehematical</a:t>
          </a:r>
          <a:r>
            <a:rPr lang="en-US" dirty="0"/>
            <a:t> unit of processing</a:t>
          </a:r>
        </a:p>
      </dgm:t>
    </dgm:pt>
    <dgm:pt modelId="{07368294-972C-4241-BB1A-981FD51E5C02}" type="parTrans" cxnId="{1F1936DF-471C-B34B-9111-49680F006100}">
      <dgm:prSet/>
      <dgm:spPr/>
      <dgm:t>
        <a:bodyPr/>
        <a:lstStyle/>
        <a:p>
          <a:endParaRPr lang="en-US"/>
        </a:p>
      </dgm:t>
    </dgm:pt>
    <dgm:pt modelId="{D16CFCC2-2E29-8A40-B322-749D3D4C2D7D}" type="sibTrans" cxnId="{1F1936DF-471C-B34B-9111-49680F006100}">
      <dgm:prSet/>
      <dgm:spPr/>
      <dgm:t>
        <a:bodyPr/>
        <a:lstStyle/>
        <a:p>
          <a:endParaRPr lang="en-US"/>
        </a:p>
      </dgm:t>
    </dgm:pt>
    <dgm:pt modelId="{8F012C2E-FBD7-7342-809E-61D66F0ADA8F}">
      <dgm:prSet/>
      <dgm:spPr/>
      <dgm:t>
        <a:bodyPr/>
        <a:lstStyle/>
        <a:p>
          <a:r>
            <a:rPr lang="en-US" dirty="0"/>
            <a:t>matrix-vector multiplication</a:t>
          </a:r>
        </a:p>
      </dgm:t>
    </dgm:pt>
    <dgm:pt modelId="{4529DC3B-0617-7B49-B605-5CC2241113F4}" type="parTrans" cxnId="{E8A570B6-2121-A344-BD73-C19385FA3F35}">
      <dgm:prSet/>
      <dgm:spPr/>
      <dgm:t>
        <a:bodyPr/>
        <a:lstStyle/>
        <a:p>
          <a:endParaRPr lang="en-US"/>
        </a:p>
      </dgm:t>
    </dgm:pt>
    <dgm:pt modelId="{1FBA673C-467B-6444-9645-5262536AAE78}" type="sibTrans" cxnId="{E8A570B6-2121-A344-BD73-C19385FA3F35}">
      <dgm:prSet/>
      <dgm:spPr/>
      <dgm:t>
        <a:bodyPr/>
        <a:lstStyle/>
        <a:p>
          <a:endParaRPr lang="en-US"/>
        </a:p>
      </dgm:t>
    </dgm:pt>
    <dgm:pt modelId="{160A1DCA-DDD1-3C40-BD61-4BAC6D770983}">
      <dgm:prSet/>
      <dgm:spPr/>
      <dgm:t>
        <a:bodyPr/>
        <a:lstStyle/>
        <a:p>
          <a:r>
            <a:rPr lang="en-US" dirty="0"/>
            <a:t>unit of data</a:t>
          </a:r>
        </a:p>
      </dgm:t>
    </dgm:pt>
    <dgm:pt modelId="{A54A716F-39B9-F247-AC3B-35E09EDD05C8}" type="parTrans" cxnId="{3B4C0282-845C-7F42-B349-BBECBB3D4531}">
      <dgm:prSet/>
      <dgm:spPr/>
      <dgm:t>
        <a:bodyPr/>
        <a:lstStyle/>
        <a:p>
          <a:endParaRPr lang="en-US"/>
        </a:p>
      </dgm:t>
    </dgm:pt>
    <dgm:pt modelId="{F4D4CD18-37F6-0844-84B6-409FD528DCD2}" type="sibTrans" cxnId="{3B4C0282-845C-7F42-B349-BBECBB3D4531}">
      <dgm:prSet/>
      <dgm:spPr/>
      <dgm:t>
        <a:bodyPr/>
        <a:lstStyle/>
        <a:p>
          <a:endParaRPr lang="en-US"/>
        </a:p>
      </dgm:t>
    </dgm:pt>
    <dgm:pt modelId="{E7275480-C98A-4E4A-AB69-88AAFD0E0267}">
      <dgm:prSet/>
      <dgm:spPr/>
      <dgm:t>
        <a:bodyPr/>
        <a:lstStyle/>
        <a:p>
          <a:r>
            <a:rPr lang="en-US" dirty="0"/>
            <a:t>qubit/vector</a:t>
          </a:r>
        </a:p>
      </dgm:t>
    </dgm:pt>
    <dgm:pt modelId="{77D60A77-FF27-A24C-8601-02131AC42963}" type="parTrans" cxnId="{637C5D95-DE4C-154B-8595-B3D2D5C1599A}">
      <dgm:prSet/>
      <dgm:spPr/>
      <dgm:t>
        <a:bodyPr/>
        <a:lstStyle/>
        <a:p>
          <a:endParaRPr lang="en-US"/>
        </a:p>
      </dgm:t>
    </dgm:pt>
    <dgm:pt modelId="{32321B6E-009C-D04F-81E8-4E7E1208D595}" type="sibTrans" cxnId="{637C5D95-DE4C-154B-8595-B3D2D5C1599A}">
      <dgm:prSet/>
      <dgm:spPr/>
      <dgm:t>
        <a:bodyPr/>
        <a:lstStyle/>
        <a:p>
          <a:endParaRPr lang="en-US"/>
        </a:p>
      </dgm:t>
    </dgm:pt>
    <dgm:pt modelId="{75558DDB-B135-8F4A-8257-A165A0389A4C}">
      <dgm:prSet/>
      <dgm:spPr/>
      <dgm:t>
        <a:bodyPr/>
        <a:lstStyle/>
        <a:p>
          <a:r>
            <a:rPr lang="en-US" dirty="0"/>
            <a:t>unit of processing</a:t>
          </a:r>
        </a:p>
      </dgm:t>
    </dgm:pt>
    <dgm:pt modelId="{E8B56C1E-FA75-5940-A8C4-30A551B1DA75}" type="parTrans" cxnId="{C6057E35-D143-2146-8F5F-D3A3BCA52EBE}">
      <dgm:prSet/>
      <dgm:spPr/>
      <dgm:t>
        <a:bodyPr/>
        <a:lstStyle/>
        <a:p>
          <a:endParaRPr lang="en-US"/>
        </a:p>
      </dgm:t>
    </dgm:pt>
    <dgm:pt modelId="{628207E4-5F9E-954B-BEDC-C47C2A82E45E}" type="sibTrans" cxnId="{C6057E35-D143-2146-8F5F-D3A3BCA52EBE}">
      <dgm:prSet/>
      <dgm:spPr/>
      <dgm:t>
        <a:bodyPr/>
        <a:lstStyle/>
        <a:p>
          <a:endParaRPr lang="en-US"/>
        </a:p>
      </dgm:t>
    </dgm:pt>
    <dgm:pt modelId="{CF3486DF-6C01-104F-AECF-A0D54829799B}">
      <dgm:prSet/>
      <dgm:spPr/>
      <dgm:t>
        <a:bodyPr/>
        <a:lstStyle/>
        <a:p>
          <a:r>
            <a:rPr lang="en-US" dirty="0"/>
            <a:t>quantum gate/matrix</a:t>
          </a:r>
        </a:p>
      </dgm:t>
    </dgm:pt>
    <dgm:pt modelId="{6F52E02A-2CB2-584C-B929-E1AEEBA4FB49}" type="parTrans" cxnId="{E070675B-445C-AD43-9C5D-BF74254A28A2}">
      <dgm:prSet/>
      <dgm:spPr/>
      <dgm:t>
        <a:bodyPr/>
        <a:lstStyle/>
        <a:p>
          <a:endParaRPr lang="en-US"/>
        </a:p>
      </dgm:t>
    </dgm:pt>
    <dgm:pt modelId="{8B4D8B82-B6CD-7F47-B70D-35D3914F6AD2}" type="sibTrans" cxnId="{E070675B-445C-AD43-9C5D-BF74254A28A2}">
      <dgm:prSet/>
      <dgm:spPr/>
      <dgm:t>
        <a:bodyPr/>
        <a:lstStyle/>
        <a:p>
          <a:endParaRPr lang="en-US"/>
        </a:p>
      </dgm:t>
    </dgm:pt>
    <dgm:pt modelId="{C476B5AD-DCC3-FC4A-A3DD-AC3C01611B18}">
      <dgm:prSet/>
      <dgm:spPr/>
      <dgm:t>
        <a:bodyPr/>
        <a:lstStyle/>
        <a:p>
          <a:r>
            <a:rPr lang="en-US" dirty="0"/>
            <a:t>algorithm</a:t>
          </a:r>
        </a:p>
      </dgm:t>
    </dgm:pt>
    <dgm:pt modelId="{F12B458E-FA9D-834A-ADE7-97C5B25E7650}" type="parTrans" cxnId="{47A42DD2-C002-D84F-A5F5-E110B421C37E}">
      <dgm:prSet/>
      <dgm:spPr/>
      <dgm:t>
        <a:bodyPr/>
        <a:lstStyle/>
        <a:p>
          <a:endParaRPr lang="en-US"/>
        </a:p>
      </dgm:t>
    </dgm:pt>
    <dgm:pt modelId="{15AEF5A1-4B03-8142-8884-21C8BC4F33B5}" type="sibTrans" cxnId="{47A42DD2-C002-D84F-A5F5-E110B421C37E}">
      <dgm:prSet/>
      <dgm:spPr/>
      <dgm:t>
        <a:bodyPr/>
        <a:lstStyle/>
        <a:p>
          <a:endParaRPr lang="en-US"/>
        </a:p>
      </dgm:t>
    </dgm:pt>
    <dgm:pt modelId="{6398241F-4CD0-7443-8E0D-FBA0EAD87C82}">
      <dgm:prSet/>
      <dgm:spPr/>
      <dgm:t>
        <a:bodyPr/>
        <a:lstStyle/>
        <a:p>
          <a:r>
            <a:rPr lang="en-US" dirty="0"/>
            <a:t>quantum circuit</a:t>
          </a:r>
        </a:p>
      </dgm:t>
    </dgm:pt>
    <dgm:pt modelId="{FBA2582D-B6F9-2644-B0EA-709AC9511843}" type="parTrans" cxnId="{3BE0D627-C422-4140-8958-E1874639BF42}">
      <dgm:prSet/>
      <dgm:spPr/>
      <dgm:t>
        <a:bodyPr/>
        <a:lstStyle/>
        <a:p>
          <a:endParaRPr lang="en-US"/>
        </a:p>
      </dgm:t>
    </dgm:pt>
    <dgm:pt modelId="{985EC99E-67DA-AE47-BB5E-868DA3CC4D51}" type="sibTrans" cxnId="{3BE0D627-C422-4140-8958-E1874639BF42}">
      <dgm:prSet/>
      <dgm:spPr/>
      <dgm:t>
        <a:bodyPr/>
        <a:lstStyle/>
        <a:p>
          <a:endParaRPr lang="en-US"/>
        </a:p>
      </dgm:t>
    </dgm:pt>
    <dgm:pt modelId="{4BDA77BC-E14B-8245-A88A-13FAE10523F5}">
      <dgm:prSet/>
      <dgm:spPr>
        <a:solidFill>
          <a:schemeClr val="accent6">
            <a:lumMod val="75000"/>
          </a:schemeClr>
        </a:solidFill>
      </dgm:spPr>
      <dgm:t>
        <a:bodyPr/>
        <a:lstStyle/>
        <a:p>
          <a:r>
            <a:rPr lang="en-US" dirty="0"/>
            <a:t>   program</a:t>
          </a:r>
        </a:p>
      </dgm:t>
    </dgm:pt>
    <dgm:pt modelId="{9669BA5D-3107-EE45-A40C-5CACCC3B2B0E}" type="parTrans" cxnId="{DDBF15B0-25AE-C543-8F4C-C5A261D9C88C}">
      <dgm:prSet/>
      <dgm:spPr/>
      <dgm:t>
        <a:bodyPr/>
        <a:lstStyle/>
        <a:p>
          <a:endParaRPr lang="en-US"/>
        </a:p>
      </dgm:t>
    </dgm:pt>
    <dgm:pt modelId="{24E25589-BCD9-6941-BB69-9752AA45F3C7}" type="sibTrans" cxnId="{DDBF15B0-25AE-C543-8F4C-C5A261D9C88C}">
      <dgm:prSet/>
      <dgm:spPr/>
      <dgm:t>
        <a:bodyPr/>
        <a:lstStyle/>
        <a:p>
          <a:endParaRPr lang="en-US"/>
        </a:p>
      </dgm:t>
    </dgm:pt>
    <dgm:pt modelId="{397B0026-6C06-A24C-AC71-DA2CB6F7829B}">
      <dgm:prSet/>
      <dgm:spPr>
        <a:solidFill>
          <a:schemeClr val="accent6">
            <a:lumMod val="40000"/>
            <a:lumOff val="60000"/>
            <a:alpha val="90000"/>
          </a:schemeClr>
        </a:solidFill>
      </dgm:spPr>
      <dgm:t>
        <a:bodyPr/>
        <a:lstStyle/>
        <a:p>
          <a:r>
            <a:rPr lang="en-US" dirty="0"/>
            <a:t>quantum circuit </a:t>
          </a:r>
          <a:r>
            <a:rPr lang="en-US" dirty="0" err="1"/>
            <a:t>desciption</a:t>
          </a:r>
          <a:endParaRPr lang="en-US" dirty="0"/>
        </a:p>
      </dgm:t>
    </dgm:pt>
    <dgm:pt modelId="{B17646FB-44FB-6D4F-A2FE-EDE762969FF8}" type="parTrans" cxnId="{20A1DB7A-245E-7B47-B0A8-D0F7FA5AE104}">
      <dgm:prSet/>
      <dgm:spPr/>
      <dgm:t>
        <a:bodyPr/>
        <a:lstStyle/>
        <a:p>
          <a:endParaRPr lang="en-US"/>
        </a:p>
      </dgm:t>
    </dgm:pt>
    <dgm:pt modelId="{45DD26EC-10C7-FA45-8984-599011A3BEC4}" type="sibTrans" cxnId="{20A1DB7A-245E-7B47-B0A8-D0F7FA5AE104}">
      <dgm:prSet/>
      <dgm:spPr/>
      <dgm:t>
        <a:bodyPr/>
        <a:lstStyle/>
        <a:p>
          <a:endParaRPr lang="en-US"/>
        </a:p>
      </dgm:t>
    </dgm:pt>
    <dgm:pt modelId="{6FEF738C-2EC1-E641-B51A-36787E6B815D}" type="pres">
      <dgm:prSet presAssocID="{4FBD6411-6FA3-7845-886B-09F983AE3D66}" presName="Name0" presStyleCnt="0">
        <dgm:presLayoutVars>
          <dgm:chPref val="3"/>
          <dgm:dir/>
          <dgm:animLvl val="lvl"/>
          <dgm:resizeHandles/>
        </dgm:presLayoutVars>
      </dgm:prSet>
      <dgm:spPr/>
    </dgm:pt>
    <dgm:pt modelId="{42F9EBDB-B792-7743-BBF3-3A57E3293F87}" type="pres">
      <dgm:prSet presAssocID="{160A1DCA-DDD1-3C40-BD61-4BAC6D770983}" presName="horFlow" presStyleCnt="0"/>
      <dgm:spPr/>
    </dgm:pt>
    <dgm:pt modelId="{BC1F68B1-384F-884E-85F2-687846E08432}" type="pres">
      <dgm:prSet presAssocID="{160A1DCA-DDD1-3C40-BD61-4BAC6D770983}" presName="bigChev" presStyleLbl="node1" presStyleIdx="0" presStyleCnt="5" custScaleX="143216"/>
      <dgm:spPr/>
    </dgm:pt>
    <dgm:pt modelId="{05ECDEE6-A71D-2845-B76F-6EFC48BA8DD6}" type="pres">
      <dgm:prSet presAssocID="{77D60A77-FF27-A24C-8601-02131AC42963}" presName="parTrans" presStyleCnt="0"/>
      <dgm:spPr/>
    </dgm:pt>
    <dgm:pt modelId="{589CEB27-68EC-8C44-AE2F-CCCE5077B7DD}" type="pres">
      <dgm:prSet presAssocID="{E7275480-C98A-4E4A-AB69-88AAFD0E0267}" presName="node" presStyleLbl="alignAccFollowNode1" presStyleIdx="0" presStyleCnt="5" custScaleX="115752">
        <dgm:presLayoutVars>
          <dgm:bulletEnabled val="1"/>
        </dgm:presLayoutVars>
      </dgm:prSet>
      <dgm:spPr/>
    </dgm:pt>
    <dgm:pt modelId="{D2C5389B-8744-0B47-B305-A6454ED4134C}" type="pres">
      <dgm:prSet presAssocID="{160A1DCA-DDD1-3C40-BD61-4BAC6D770983}" presName="vSp" presStyleCnt="0"/>
      <dgm:spPr/>
    </dgm:pt>
    <dgm:pt modelId="{74445CD6-E25E-C240-BE60-9A45B7B25C5C}" type="pres">
      <dgm:prSet presAssocID="{75558DDB-B135-8F4A-8257-A165A0389A4C}" presName="horFlow" presStyleCnt="0"/>
      <dgm:spPr/>
    </dgm:pt>
    <dgm:pt modelId="{AC12D99E-FB7E-0741-8161-C77DE0409CB8}" type="pres">
      <dgm:prSet presAssocID="{75558DDB-B135-8F4A-8257-A165A0389A4C}" presName="bigChev" presStyleLbl="node1" presStyleIdx="1" presStyleCnt="5" custScaleX="143216"/>
      <dgm:spPr/>
    </dgm:pt>
    <dgm:pt modelId="{3F7E8E6F-6509-404E-B3F2-D39A334B2DDA}" type="pres">
      <dgm:prSet presAssocID="{6F52E02A-2CB2-584C-B929-E1AEEBA4FB49}" presName="parTrans" presStyleCnt="0"/>
      <dgm:spPr/>
    </dgm:pt>
    <dgm:pt modelId="{8762CD98-6B6D-F945-9F8A-143998E383B8}" type="pres">
      <dgm:prSet presAssocID="{CF3486DF-6C01-104F-AECF-A0D54829799B}" presName="node" presStyleLbl="alignAccFollowNode1" presStyleIdx="1" presStyleCnt="5" custScaleX="115752">
        <dgm:presLayoutVars>
          <dgm:bulletEnabled val="1"/>
        </dgm:presLayoutVars>
      </dgm:prSet>
      <dgm:spPr/>
    </dgm:pt>
    <dgm:pt modelId="{038D8EA8-5999-1446-81FA-0BB39BA0BC61}" type="pres">
      <dgm:prSet presAssocID="{75558DDB-B135-8F4A-8257-A165A0389A4C}" presName="vSp" presStyleCnt="0"/>
      <dgm:spPr/>
    </dgm:pt>
    <dgm:pt modelId="{B6FA550A-E55B-F647-8837-269C5F2B45CA}" type="pres">
      <dgm:prSet presAssocID="{F5A57D5B-D38F-3344-9AEB-B26746D85129}" presName="horFlow" presStyleCnt="0"/>
      <dgm:spPr/>
    </dgm:pt>
    <dgm:pt modelId="{5640E65B-7044-844F-9EB5-48CE7C5F451B}" type="pres">
      <dgm:prSet presAssocID="{F5A57D5B-D38F-3344-9AEB-B26746D85129}" presName="bigChev" presStyleLbl="node1" presStyleIdx="2" presStyleCnt="5" custScaleX="143216"/>
      <dgm:spPr/>
    </dgm:pt>
    <dgm:pt modelId="{082B47EC-2459-F145-AB5A-00E5E8E0E6B6}" type="pres">
      <dgm:prSet presAssocID="{4529DC3B-0617-7B49-B605-5CC2241113F4}" presName="parTrans" presStyleCnt="0"/>
      <dgm:spPr/>
    </dgm:pt>
    <dgm:pt modelId="{E7AF8E55-35D4-EE43-84F0-EB1EE3C4089C}" type="pres">
      <dgm:prSet presAssocID="{8F012C2E-FBD7-7342-809E-61D66F0ADA8F}" presName="node" presStyleLbl="alignAccFollowNode1" presStyleIdx="2" presStyleCnt="5" custScaleX="115752">
        <dgm:presLayoutVars>
          <dgm:bulletEnabled val="1"/>
        </dgm:presLayoutVars>
      </dgm:prSet>
      <dgm:spPr/>
    </dgm:pt>
    <dgm:pt modelId="{5811418B-F0A5-9846-9D84-2FCF3A1E0C85}" type="pres">
      <dgm:prSet presAssocID="{F5A57D5B-D38F-3344-9AEB-B26746D85129}" presName="vSp" presStyleCnt="0"/>
      <dgm:spPr/>
    </dgm:pt>
    <dgm:pt modelId="{C6432E75-451D-C04E-B974-85A83CC24E61}" type="pres">
      <dgm:prSet presAssocID="{C476B5AD-DCC3-FC4A-A3DD-AC3C01611B18}" presName="horFlow" presStyleCnt="0"/>
      <dgm:spPr/>
    </dgm:pt>
    <dgm:pt modelId="{11900ED1-072B-FE45-8087-917F279E1854}" type="pres">
      <dgm:prSet presAssocID="{C476B5AD-DCC3-FC4A-A3DD-AC3C01611B18}" presName="bigChev" presStyleLbl="node1" presStyleIdx="3" presStyleCnt="5" custScaleX="143216"/>
      <dgm:spPr/>
    </dgm:pt>
    <dgm:pt modelId="{1CD7A641-D2C6-6D44-9821-969E062E8052}" type="pres">
      <dgm:prSet presAssocID="{FBA2582D-B6F9-2644-B0EA-709AC9511843}" presName="parTrans" presStyleCnt="0"/>
      <dgm:spPr/>
    </dgm:pt>
    <dgm:pt modelId="{8BCC3C3D-DEEA-0241-A450-84AB07AF83EE}" type="pres">
      <dgm:prSet presAssocID="{6398241F-4CD0-7443-8E0D-FBA0EAD87C82}" presName="node" presStyleLbl="alignAccFollowNode1" presStyleIdx="3" presStyleCnt="5" custScaleX="115752" custLinFactNeighborX="0">
        <dgm:presLayoutVars>
          <dgm:bulletEnabled val="1"/>
        </dgm:presLayoutVars>
      </dgm:prSet>
      <dgm:spPr/>
    </dgm:pt>
    <dgm:pt modelId="{1D0209CC-4DAD-BC49-8FFF-5B1A3AD7C8AC}" type="pres">
      <dgm:prSet presAssocID="{C476B5AD-DCC3-FC4A-A3DD-AC3C01611B18}" presName="vSp" presStyleCnt="0"/>
      <dgm:spPr/>
    </dgm:pt>
    <dgm:pt modelId="{E841F784-B451-0C4B-9417-AABFB4527209}" type="pres">
      <dgm:prSet presAssocID="{4BDA77BC-E14B-8245-A88A-13FAE10523F5}" presName="horFlow" presStyleCnt="0"/>
      <dgm:spPr/>
    </dgm:pt>
    <dgm:pt modelId="{96B99780-81A6-4C41-BF29-ECA058D08E7B}" type="pres">
      <dgm:prSet presAssocID="{4BDA77BC-E14B-8245-A88A-13FAE10523F5}" presName="bigChev" presStyleLbl="node1" presStyleIdx="4" presStyleCnt="5" custScaleX="139012" custLinFactNeighborX="11076"/>
      <dgm:spPr/>
    </dgm:pt>
    <dgm:pt modelId="{EB80123E-E06B-0344-8B98-C77BE803B9A0}" type="pres">
      <dgm:prSet presAssocID="{B17646FB-44FB-6D4F-A2FE-EDE762969FF8}" presName="parTrans" presStyleCnt="0"/>
      <dgm:spPr/>
    </dgm:pt>
    <dgm:pt modelId="{C442239F-A10C-D54C-B093-8FD13A00035F}" type="pres">
      <dgm:prSet presAssocID="{397B0026-6C06-A24C-AC71-DA2CB6F7829B}" presName="node" presStyleLbl="alignAccFollowNode1" presStyleIdx="4" presStyleCnt="5" custScaleX="123130">
        <dgm:presLayoutVars>
          <dgm:bulletEnabled val="1"/>
        </dgm:presLayoutVars>
      </dgm:prSet>
      <dgm:spPr/>
    </dgm:pt>
  </dgm:ptLst>
  <dgm:cxnLst>
    <dgm:cxn modelId="{6373D519-2788-B541-B311-6B6C3DE6DC52}" type="presOf" srcId="{4BDA77BC-E14B-8245-A88A-13FAE10523F5}" destId="{96B99780-81A6-4C41-BF29-ECA058D08E7B}" srcOrd="0" destOrd="0" presId="urn:microsoft.com/office/officeart/2005/8/layout/lProcess3"/>
    <dgm:cxn modelId="{3BE0D627-C422-4140-8958-E1874639BF42}" srcId="{C476B5AD-DCC3-FC4A-A3DD-AC3C01611B18}" destId="{6398241F-4CD0-7443-8E0D-FBA0EAD87C82}" srcOrd="0" destOrd="0" parTransId="{FBA2582D-B6F9-2644-B0EA-709AC9511843}" sibTransId="{985EC99E-67DA-AE47-BB5E-868DA3CC4D51}"/>
    <dgm:cxn modelId="{C6057E35-D143-2146-8F5F-D3A3BCA52EBE}" srcId="{4FBD6411-6FA3-7845-886B-09F983AE3D66}" destId="{75558DDB-B135-8F4A-8257-A165A0389A4C}" srcOrd="1" destOrd="0" parTransId="{E8B56C1E-FA75-5940-A8C4-30A551B1DA75}" sibTransId="{628207E4-5F9E-954B-BEDC-C47C2A82E45E}"/>
    <dgm:cxn modelId="{306C9C4B-78DD-C54F-AA0E-2DF3FD3890CE}" type="presOf" srcId="{8F012C2E-FBD7-7342-809E-61D66F0ADA8F}" destId="{E7AF8E55-35D4-EE43-84F0-EB1EE3C4089C}" srcOrd="0" destOrd="0" presId="urn:microsoft.com/office/officeart/2005/8/layout/lProcess3"/>
    <dgm:cxn modelId="{86E87358-B747-E645-B031-3AE9E79B9B20}" type="presOf" srcId="{4FBD6411-6FA3-7845-886B-09F983AE3D66}" destId="{6FEF738C-2EC1-E641-B51A-36787E6B815D}" srcOrd="0" destOrd="0" presId="urn:microsoft.com/office/officeart/2005/8/layout/lProcess3"/>
    <dgm:cxn modelId="{E070675B-445C-AD43-9C5D-BF74254A28A2}" srcId="{75558DDB-B135-8F4A-8257-A165A0389A4C}" destId="{CF3486DF-6C01-104F-AECF-A0D54829799B}" srcOrd="0" destOrd="0" parTransId="{6F52E02A-2CB2-584C-B929-E1AEEBA4FB49}" sibTransId="{8B4D8B82-B6CD-7F47-B70D-35D3914F6AD2}"/>
    <dgm:cxn modelId="{C817F579-3D7F-AE41-9C77-80D70786EC6F}" type="presOf" srcId="{F5A57D5B-D38F-3344-9AEB-B26746D85129}" destId="{5640E65B-7044-844F-9EB5-48CE7C5F451B}" srcOrd="0" destOrd="0" presId="urn:microsoft.com/office/officeart/2005/8/layout/lProcess3"/>
    <dgm:cxn modelId="{20A1DB7A-245E-7B47-B0A8-D0F7FA5AE104}" srcId="{4BDA77BC-E14B-8245-A88A-13FAE10523F5}" destId="{397B0026-6C06-A24C-AC71-DA2CB6F7829B}" srcOrd="0" destOrd="0" parTransId="{B17646FB-44FB-6D4F-A2FE-EDE762969FF8}" sibTransId="{45DD26EC-10C7-FA45-8984-599011A3BEC4}"/>
    <dgm:cxn modelId="{3B4C0282-845C-7F42-B349-BBECBB3D4531}" srcId="{4FBD6411-6FA3-7845-886B-09F983AE3D66}" destId="{160A1DCA-DDD1-3C40-BD61-4BAC6D770983}" srcOrd="0" destOrd="0" parTransId="{A54A716F-39B9-F247-AC3B-35E09EDD05C8}" sibTransId="{F4D4CD18-37F6-0844-84B6-409FD528DCD2}"/>
    <dgm:cxn modelId="{637C5D95-DE4C-154B-8595-B3D2D5C1599A}" srcId="{160A1DCA-DDD1-3C40-BD61-4BAC6D770983}" destId="{E7275480-C98A-4E4A-AB69-88AAFD0E0267}" srcOrd="0" destOrd="0" parTransId="{77D60A77-FF27-A24C-8601-02131AC42963}" sibTransId="{32321B6E-009C-D04F-81E8-4E7E1208D595}"/>
    <dgm:cxn modelId="{41EDF0A6-AA9A-4045-A58A-D3898DE91BD6}" type="presOf" srcId="{C476B5AD-DCC3-FC4A-A3DD-AC3C01611B18}" destId="{11900ED1-072B-FE45-8087-917F279E1854}" srcOrd="0" destOrd="0" presId="urn:microsoft.com/office/officeart/2005/8/layout/lProcess3"/>
    <dgm:cxn modelId="{7C9F59AB-6AEF-9A4A-8F5D-CC91706C4CAB}" type="presOf" srcId="{75558DDB-B135-8F4A-8257-A165A0389A4C}" destId="{AC12D99E-FB7E-0741-8161-C77DE0409CB8}" srcOrd="0" destOrd="0" presId="urn:microsoft.com/office/officeart/2005/8/layout/lProcess3"/>
    <dgm:cxn modelId="{DDBF15B0-25AE-C543-8F4C-C5A261D9C88C}" srcId="{4FBD6411-6FA3-7845-886B-09F983AE3D66}" destId="{4BDA77BC-E14B-8245-A88A-13FAE10523F5}" srcOrd="4" destOrd="0" parTransId="{9669BA5D-3107-EE45-A40C-5CACCC3B2B0E}" sibTransId="{24E25589-BCD9-6941-BB69-9752AA45F3C7}"/>
    <dgm:cxn modelId="{1364E0B2-AD7F-7748-A952-1E3575C09943}" type="presOf" srcId="{6398241F-4CD0-7443-8E0D-FBA0EAD87C82}" destId="{8BCC3C3D-DEEA-0241-A450-84AB07AF83EE}" srcOrd="0" destOrd="0" presId="urn:microsoft.com/office/officeart/2005/8/layout/lProcess3"/>
    <dgm:cxn modelId="{F1381DB4-ABE6-3A4C-904B-E1B35688F50E}" type="presOf" srcId="{E7275480-C98A-4E4A-AB69-88AAFD0E0267}" destId="{589CEB27-68EC-8C44-AE2F-CCCE5077B7DD}" srcOrd="0" destOrd="0" presId="urn:microsoft.com/office/officeart/2005/8/layout/lProcess3"/>
    <dgm:cxn modelId="{E8A570B6-2121-A344-BD73-C19385FA3F35}" srcId="{F5A57D5B-D38F-3344-9AEB-B26746D85129}" destId="{8F012C2E-FBD7-7342-809E-61D66F0ADA8F}" srcOrd="0" destOrd="0" parTransId="{4529DC3B-0617-7B49-B605-5CC2241113F4}" sibTransId="{1FBA673C-467B-6444-9645-5262536AAE78}"/>
    <dgm:cxn modelId="{3BD20EBB-DDF6-5447-AB63-01659E9DEE8D}" type="presOf" srcId="{160A1DCA-DDD1-3C40-BD61-4BAC6D770983}" destId="{BC1F68B1-384F-884E-85F2-687846E08432}" srcOrd="0" destOrd="0" presId="urn:microsoft.com/office/officeart/2005/8/layout/lProcess3"/>
    <dgm:cxn modelId="{47A42DD2-C002-D84F-A5F5-E110B421C37E}" srcId="{4FBD6411-6FA3-7845-886B-09F983AE3D66}" destId="{C476B5AD-DCC3-FC4A-A3DD-AC3C01611B18}" srcOrd="3" destOrd="0" parTransId="{F12B458E-FA9D-834A-ADE7-97C5B25E7650}" sibTransId="{15AEF5A1-4B03-8142-8884-21C8BC4F33B5}"/>
    <dgm:cxn modelId="{1F1936DF-471C-B34B-9111-49680F006100}" srcId="{4FBD6411-6FA3-7845-886B-09F983AE3D66}" destId="{F5A57D5B-D38F-3344-9AEB-B26746D85129}" srcOrd="2" destOrd="0" parTransId="{07368294-972C-4241-BB1A-981FD51E5C02}" sibTransId="{D16CFCC2-2E29-8A40-B322-749D3D4C2D7D}"/>
    <dgm:cxn modelId="{0703D0EE-B38F-0143-A7A6-1C4CB4DCF536}" type="presOf" srcId="{CF3486DF-6C01-104F-AECF-A0D54829799B}" destId="{8762CD98-6B6D-F945-9F8A-143998E383B8}" srcOrd="0" destOrd="0" presId="urn:microsoft.com/office/officeart/2005/8/layout/lProcess3"/>
    <dgm:cxn modelId="{2E6BCEFD-716E-C94B-A552-B3407B2B54AA}" type="presOf" srcId="{397B0026-6C06-A24C-AC71-DA2CB6F7829B}" destId="{C442239F-A10C-D54C-B093-8FD13A00035F}" srcOrd="0" destOrd="0" presId="urn:microsoft.com/office/officeart/2005/8/layout/lProcess3"/>
    <dgm:cxn modelId="{30375657-BD54-A641-9EBC-F44F91EF81CB}" type="presParOf" srcId="{6FEF738C-2EC1-E641-B51A-36787E6B815D}" destId="{42F9EBDB-B792-7743-BBF3-3A57E3293F87}" srcOrd="0" destOrd="0" presId="urn:microsoft.com/office/officeart/2005/8/layout/lProcess3"/>
    <dgm:cxn modelId="{3DE5F85C-EC6D-604B-AC33-D456E0E01822}" type="presParOf" srcId="{42F9EBDB-B792-7743-BBF3-3A57E3293F87}" destId="{BC1F68B1-384F-884E-85F2-687846E08432}" srcOrd="0" destOrd="0" presId="urn:microsoft.com/office/officeart/2005/8/layout/lProcess3"/>
    <dgm:cxn modelId="{2F93A8DF-8BDE-3440-906A-9D2550AA98A4}" type="presParOf" srcId="{42F9EBDB-B792-7743-BBF3-3A57E3293F87}" destId="{05ECDEE6-A71D-2845-B76F-6EFC48BA8DD6}" srcOrd="1" destOrd="0" presId="urn:microsoft.com/office/officeart/2005/8/layout/lProcess3"/>
    <dgm:cxn modelId="{6B6C5CED-71FD-1741-BAAD-26FF0A8DEF5A}" type="presParOf" srcId="{42F9EBDB-B792-7743-BBF3-3A57E3293F87}" destId="{589CEB27-68EC-8C44-AE2F-CCCE5077B7DD}" srcOrd="2" destOrd="0" presId="urn:microsoft.com/office/officeart/2005/8/layout/lProcess3"/>
    <dgm:cxn modelId="{147FF670-C82C-C445-858C-9273D8308622}" type="presParOf" srcId="{6FEF738C-2EC1-E641-B51A-36787E6B815D}" destId="{D2C5389B-8744-0B47-B305-A6454ED4134C}" srcOrd="1" destOrd="0" presId="urn:microsoft.com/office/officeart/2005/8/layout/lProcess3"/>
    <dgm:cxn modelId="{6A68D92C-2470-B84A-A55B-37D0DCE90244}" type="presParOf" srcId="{6FEF738C-2EC1-E641-B51A-36787E6B815D}" destId="{74445CD6-E25E-C240-BE60-9A45B7B25C5C}" srcOrd="2" destOrd="0" presId="urn:microsoft.com/office/officeart/2005/8/layout/lProcess3"/>
    <dgm:cxn modelId="{2E98D35D-7E03-2B4A-8823-2397AA1F179F}" type="presParOf" srcId="{74445CD6-E25E-C240-BE60-9A45B7B25C5C}" destId="{AC12D99E-FB7E-0741-8161-C77DE0409CB8}" srcOrd="0" destOrd="0" presId="urn:microsoft.com/office/officeart/2005/8/layout/lProcess3"/>
    <dgm:cxn modelId="{1CE88BCE-45A9-BE45-A988-27E5AC57CFF5}" type="presParOf" srcId="{74445CD6-E25E-C240-BE60-9A45B7B25C5C}" destId="{3F7E8E6F-6509-404E-B3F2-D39A334B2DDA}" srcOrd="1" destOrd="0" presId="urn:microsoft.com/office/officeart/2005/8/layout/lProcess3"/>
    <dgm:cxn modelId="{BCD2ED9E-6138-E745-AD0D-39F86A0062E8}" type="presParOf" srcId="{74445CD6-E25E-C240-BE60-9A45B7B25C5C}" destId="{8762CD98-6B6D-F945-9F8A-143998E383B8}" srcOrd="2" destOrd="0" presId="urn:microsoft.com/office/officeart/2005/8/layout/lProcess3"/>
    <dgm:cxn modelId="{9BE32A7F-BA15-0042-B0F7-8710335FB83B}" type="presParOf" srcId="{6FEF738C-2EC1-E641-B51A-36787E6B815D}" destId="{038D8EA8-5999-1446-81FA-0BB39BA0BC61}" srcOrd="3" destOrd="0" presId="urn:microsoft.com/office/officeart/2005/8/layout/lProcess3"/>
    <dgm:cxn modelId="{9F7B9657-5086-F446-AADA-9D822EE9DE4E}" type="presParOf" srcId="{6FEF738C-2EC1-E641-B51A-36787E6B815D}" destId="{B6FA550A-E55B-F647-8837-269C5F2B45CA}" srcOrd="4" destOrd="0" presId="urn:microsoft.com/office/officeart/2005/8/layout/lProcess3"/>
    <dgm:cxn modelId="{1170CBEF-9640-1C47-BF8B-9C911C77090C}" type="presParOf" srcId="{B6FA550A-E55B-F647-8837-269C5F2B45CA}" destId="{5640E65B-7044-844F-9EB5-48CE7C5F451B}" srcOrd="0" destOrd="0" presId="urn:microsoft.com/office/officeart/2005/8/layout/lProcess3"/>
    <dgm:cxn modelId="{7B2F8D94-151A-8445-9531-6018A4123B4E}" type="presParOf" srcId="{B6FA550A-E55B-F647-8837-269C5F2B45CA}" destId="{082B47EC-2459-F145-AB5A-00E5E8E0E6B6}" srcOrd="1" destOrd="0" presId="urn:microsoft.com/office/officeart/2005/8/layout/lProcess3"/>
    <dgm:cxn modelId="{218D6C5A-A347-5644-8591-845BCB81BA1E}" type="presParOf" srcId="{B6FA550A-E55B-F647-8837-269C5F2B45CA}" destId="{E7AF8E55-35D4-EE43-84F0-EB1EE3C4089C}" srcOrd="2" destOrd="0" presId="urn:microsoft.com/office/officeart/2005/8/layout/lProcess3"/>
    <dgm:cxn modelId="{23DFD0DC-703E-C742-9D0C-FBEEED8D1933}" type="presParOf" srcId="{6FEF738C-2EC1-E641-B51A-36787E6B815D}" destId="{5811418B-F0A5-9846-9D84-2FCF3A1E0C85}" srcOrd="5" destOrd="0" presId="urn:microsoft.com/office/officeart/2005/8/layout/lProcess3"/>
    <dgm:cxn modelId="{99059B04-79E0-6047-A9BB-5B25B3B0A5B9}" type="presParOf" srcId="{6FEF738C-2EC1-E641-B51A-36787E6B815D}" destId="{C6432E75-451D-C04E-B974-85A83CC24E61}" srcOrd="6" destOrd="0" presId="urn:microsoft.com/office/officeart/2005/8/layout/lProcess3"/>
    <dgm:cxn modelId="{DC23A82E-FAC5-2649-8C47-C9C4C2BACD0D}" type="presParOf" srcId="{C6432E75-451D-C04E-B974-85A83CC24E61}" destId="{11900ED1-072B-FE45-8087-917F279E1854}" srcOrd="0" destOrd="0" presId="urn:microsoft.com/office/officeart/2005/8/layout/lProcess3"/>
    <dgm:cxn modelId="{F55577DB-4E22-8F47-AD7C-6D58D79D6343}" type="presParOf" srcId="{C6432E75-451D-C04E-B974-85A83CC24E61}" destId="{1CD7A641-D2C6-6D44-9821-969E062E8052}" srcOrd="1" destOrd="0" presId="urn:microsoft.com/office/officeart/2005/8/layout/lProcess3"/>
    <dgm:cxn modelId="{0CEF3DE8-3FB4-1A47-A939-300F527B68A0}" type="presParOf" srcId="{C6432E75-451D-C04E-B974-85A83CC24E61}" destId="{8BCC3C3D-DEEA-0241-A450-84AB07AF83EE}" srcOrd="2" destOrd="0" presId="urn:microsoft.com/office/officeart/2005/8/layout/lProcess3"/>
    <dgm:cxn modelId="{C5155326-BA3E-5F43-9035-1CA3CD79C485}" type="presParOf" srcId="{6FEF738C-2EC1-E641-B51A-36787E6B815D}" destId="{1D0209CC-4DAD-BC49-8FFF-5B1A3AD7C8AC}" srcOrd="7" destOrd="0" presId="urn:microsoft.com/office/officeart/2005/8/layout/lProcess3"/>
    <dgm:cxn modelId="{0E854899-2904-874C-A4E9-8BFF30310A95}" type="presParOf" srcId="{6FEF738C-2EC1-E641-B51A-36787E6B815D}" destId="{E841F784-B451-0C4B-9417-AABFB4527209}" srcOrd="8" destOrd="0" presId="urn:microsoft.com/office/officeart/2005/8/layout/lProcess3"/>
    <dgm:cxn modelId="{91457D9A-F676-E84B-B6AA-DC7649C6D3ED}" type="presParOf" srcId="{E841F784-B451-0C4B-9417-AABFB4527209}" destId="{96B99780-81A6-4C41-BF29-ECA058D08E7B}" srcOrd="0" destOrd="0" presId="urn:microsoft.com/office/officeart/2005/8/layout/lProcess3"/>
    <dgm:cxn modelId="{A86BDCF0-CF40-A947-951D-CC7B1B178493}" type="presParOf" srcId="{E841F784-B451-0C4B-9417-AABFB4527209}" destId="{EB80123E-E06B-0344-8B98-C77BE803B9A0}" srcOrd="1" destOrd="0" presId="urn:microsoft.com/office/officeart/2005/8/layout/lProcess3"/>
    <dgm:cxn modelId="{725B842F-6840-E945-9298-66AF4CD0563C}" type="presParOf" srcId="{E841F784-B451-0C4B-9417-AABFB4527209}" destId="{C442239F-A10C-D54C-B093-8FD13A00035F}" srcOrd="2" destOrd="0" presId="urn:microsoft.com/office/officeart/2005/8/layout/l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F7F11D1-8D1F-C841-9FFC-CBCB25067BD8}" type="doc">
      <dgm:prSet loTypeId="urn:microsoft.com/office/officeart/2005/8/layout/gear1" loCatId="" qsTypeId="urn:microsoft.com/office/officeart/2005/8/quickstyle/simple2" qsCatId="simple" csTypeId="urn:microsoft.com/office/officeart/2005/8/colors/colorful4" csCatId="colorful" phldr="1"/>
      <dgm:spPr/>
      <dgm:t>
        <a:bodyPr/>
        <a:lstStyle/>
        <a:p>
          <a:endParaRPr lang="en-US"/>
        </a:p>
      </dgm:t>
    </dgm:pt>
    <dgm:pt modelId="{B5724259-7AE2-734B-984F-ACE9FA05370D}">
      <dgm:prSet phldrT="[Text]" custT="1"/>
      <dgm:spPr/>
      <dgm:t>
        <a:bodyPr/>
        <a:lstStyle/>
        <a:p>
          <a:r>
            <a:rPr lang="en-US" sz="2800" dirty="0">
              <a:solidFill>
                <a:schemeClr val="tx1"/>
              </a:solidFill>
            </a:rPr>
            <a:t>Linear algebra</a:t>
          </a:r>
        </a:p>
      </dgm:t>
    </dgm:pt>
    <dgm:pt modelId="{7053F5EE-26F6-814F-880F-56B7FE464683}" type="parTrans" cxnId="{398AECA7-68A0-1C42-9AA4-E248DFAA344F}">
      <dgm:prSet/>
      <dgm:spPr/>
      <dgm:t>
        <a:bodyPr/>
        <a:lstStyle/>
        <a:p>
          <a:endParaRPr lang="en-US"/>
        </a:p>
      </dgm:t>
    </dgm:pt>
    <dgm:pt modelId="{13312ABB-C026-5147-A9C8-52E65E90AB91}" type="sibTrans" cxnId="{398AECA7-68A0-1C42-9AA4-E248DFAA344F}">
      <dgm:prSet/>
      <dgm:spPr/>
      <dgm:t>
        <a:bodyPr/>
        <a:lstStyle/>
        <a:p>
          <a:endParaRPr lang="en-US"/>
        </a:p>
      </dgm:t>
    </dgm:pt>
    <dgm:pt modelId="{AB28A417-A652-DC49-BEB5-34FFF86D958B}">
      <dgm:prSet phldrT="[Text]" custT="1"/>
      <dgm:spPr/>
      <dgm:t>
        <a:bodyPr/>
        <a:lstStyle/>
        <a:p>
          <a:r>
            <a:rPr lang="en-US" sz="2800" dirty="0">
              <a:solidFill>
                <a:schemeClr val="tx1"/>
              </a:solidFill>
            </a:rPr>
            <a:t>Matrices</a:t>
          </a:r>
        </a:p>
      </dgm:t>
    </dgm:pt>
    <dgm:pt modelId="{6BE64859-4B39-4E46-ADD5-565DFFB48E6C}" type="parTrans" cxnId="{9502CDE0-CA4E-AC45-8748-92FDCFC0388C}">
      <dgm:prSet/>
      <dgm:spPr/>
      <dgm:t>
        <a:bodyPr/>
        <a:lstStyle/>
        <a:p>
          <a:endParaRPr lang="en-US"/>
        </a:p>
      </dgm:t>
    </dgm:pt>
    <dgm:pt modelId="{B91F8304-5C5D-DC47-BD4F-C04361DADB59}" type="sibTrans" cxnId="{9502CDE0-CA4E-AC45-8748-92FDCFC0388C}">
      <dgm:prSet/>
      <dgm:spPr/>
      <dgm:t>
        <a:bodyPr/>
        <a:lstStyle/>
        <a:p>
          <a:endParaRPr lang="en-US"/>
        </a:p>
      </dgm:t>
    </dgm:pt>
    <dgm:pt modelId="{3A8AF3C0-A6CE-884E-8D11-51F54AFE62BD}">
      <dgm:prSet phldrT="[Text]" custT="1"/>
      <dgm:spPr/>
      <dgm:t>
        <a:bodyPr/>
        <a:lstStyle/>
        <a:p>
          <a:r>
            <a:rPr lang="en-US" sz="2800" dirty="0">
              <a:solidFill>
                <a:schemeClr val="tx1"/>
              </a:solidFill>
            </a:rPr>
            <a:t>Vectors</a:t>
          </a:r>
        </a:p>
      </dgm:t>
    </dgm:pt>
    <dgm:pt modelId="{51030104-85E2-4E42-9D7F-10E0EE92911F}" type="parTrans" cxnId="{B076CE51-5964-E245-8202-3D26C43D29C9}">
      <dgm:prSet/>
      <dgm:spPr/>
      <dgm:t>
        <a:bodyPr/>
        <a:lstStyle/>
        <a:p>
          <a:endParaRPr lang="en-US"/>
        </a:p>
      </dgm:t>
    </dgm:pt>
    <dgm:pt modelId="{74227C64-2CB6-D44E-8CAA-12D45E234847}" type="sibTrans" cxnId="{B076CE51-5964-E245-8202-3D26C43D29C9}">
      <dgm:prSet/>
      <dgm:spPr/>
      <dgm:t>
        <a:bodyPr/>
        <a:lstStyle/>
        <a:p>
          <a:endParaRPr lang="en-US"/>
        </a:p>
      </dgm:t>
    </dgm:pt>
    <dgm:pt modelId="{10545F23-84B9-DB4B-8315-ACA5816BE554}" type="pres">
      <dgm:prSet presAssocID="{0F7F11D1-8D1F-C841-9FFC-CBCB25067BD8}" presName="composite" presStyleCnt="0">
        <dgm:presLayoutVars>
          <dgm:chMax val="3"/>
          <dgm:animLvl val="lvl"/>
          <dgm:resizeHandles val="exact"/>
        </dgm:presLayoutVars>
      </dgm:prSet>
      <dgm:spPr/>
    </dgm:pt>
    <dgm:pt modelId="{7FEDC7B4-6A86-ED40-A783-57411F654F71}" type="pres">
      <dgm:prSet presAssocID="{3A8AF3C0-A6CE-884E-8D11-51F54AFE62BD}" presName="gear1" presStyleLbl="node1" presStyleIdx="0" presStyleCnt="3" custScaleX="102713" custScaleY="98552" custLinFactNeighborX="-2449" custLinFactNeighborY="-8540">
        <dgm:presLayoutVars>
          <dgm:chMax val="1"/>
          <dgm:bulletEnabled val="1"/>
        </dgm:presLayoutVars>
      </dgm:prSet>
      <dgm:spPr/>
    </dgm:pt>
    <dgm:pt modelId="{25ECC110-CA04-7E46-8A77-D75C5224DC98}" type="pres">
      <dgm:prSet presAssocID="{3A8AF3C0-A6CE-884E-8D11-51F54AFE62BD}" presName="gear1srcNode" presStyleLbl="node1" presStyleIdx="0" presStyleCnt="3"/>
      <dgm:spPr/>
    </dgm:pt>
    <dgm:pt modelId="{069A6E43-D02D-FA4A-8860-9AF6701821CB}" type="pres">
      <dgm:prSet presAssocID="{3A8AF3C0-A6CE-884E-8D11-51F54AFE62BD}" presName="gear1dstNode" presStyleLbl="node1" presStyleIdx="0" presStyleCnt="3"/>
      <dgm:spPr/>
    </dgm:pt>
    <dgm:pt modelId="{4DC21653-BA09-C74C-9197-EA792AE9B53B}" type="pres">
      <dgm:prSet presAssocID="{AB28A417-A652-DC49-BEB5-34FFF86D958B}" presName="gear2" presStyleLbl="node1" presStyleIdx="1" presStyleCnt="3" custScaleX="105725" custScaleY="98060" custLinFactNeighborX="-3705" custLinFactNeighborY="-6538">
        <dgm:presLayoutVars>
          <dgm:chMax val="1"/>
          <dgm:bulletEnabled val="1"/>
        </dgm:presLayoutVars>
      </dgm:prSet>
      <dgm:spPr/>
    </dgm:pt>
    <dgm:pt modelId="{2F0ABF17-07F5-EC47-A02E-AB3C378C79BC}" type="pres">
      <dgm:prSet presAssocID="{AB28A417-A652-DC49-BEB5-34FFF86D958B}" presName="gear2srcNode" presStyleLbl="node1" presStyleIdx="1" presStyleCnt="3"/>
      <dgm:spPr/>
    </dgm:pt>
    <dgm:pt modelId="{86E5BDA7-2C57-8A4C-B5AB-3A093089AB8F}" type="pres">
      <dgm:prSet presAssocID="{AB28A417-A652-DC49-BEB5-34FFF86D958B}" presName="gear2dstNode" presStyleLbl="node1" presStyleIdx="1" presStyleCnt="3"/>
      <dgm:spPr/>
    </dgm:pt>
    <dgm:pt modelId="{0ABF2805-CC02-6C48-B1D0-90E786824CFE}" type="pres">
      <dgm:prSet presAssocID="{B5724259-7AE2-734B-984F-ACE9FA05370D}" presName="gear3" presStyleLbl="node1" presStyleIdx="2" presStyleCnt="3"/>
      <dgm:spPr/>
    </dgm:pt>
    <dgm:pt modelId="{F754BB3B-4F80-9E49-84D1-BD21285EB377}" type="pres">
      <dgm:prSet presAssocID="{B5724259-7AE2-734B-984F-ACE9FA05370D}" presName="gear3tx" presStyleLbl="node1" presStyleIdx="2" presStyleCnt="3">
        <dgm:presLayoutVars>
          <dgm:chMax val="1"/>
          <dgm:bulletEnabled val="1"/>
        </dgm:presLayoutVars>
      </dgm:prSet>
      <dgm:spPr/>
    </dgm:pt>
    <dgm:pt modelId="{AB29107C-D9E6-3D41-9ADF-8E11FA3DEB53}" type="pres">
      <dgm:prSet presAssocID="{B5724259-7AE2-734B-984F-ACE9FA05370D}" presName="gear3srcNode" presStyleLbl="node1" presStyleIdx="2" presStyleCnt="3"/>
      <dgm:spPr/>
    </dgm:pt>
    <dgm:pt modelId="{1C676D3E-0672-0242-A15F-26DB5C88E2AA}" type="pres">
      <dgm:prSet presAssocID="{B5724259-7AE2-734B-984F-ACE9FA05370D}" presName="gear3dstNode" presStyleLbl="node1" presStyleIdx="2" presStyleCnt="3"/>
      <dgm:spPr/>
    </dgm:pt>
    <dgm:pt modelId="{1B72251B-46B9-5E40-ABFB-13A567B1E291}" type="pres">
      <dgm:prSet presAssocID="{74227C64-2CB6-D44E-8CAA-12D45E234847}" presName="connector1" presStyleLbl="sibTrans2D1" presStyleIdx="0" presStyleCnt="3" custLinFactNeighborX="2946" custLinFactNeighborY="-6284"/>
      <dgm:spPr/>
    </dgm:pt>
    <dgm:pt modelId="{9A59CBF1-4E44-2740-AAAB-64CBC76FFFFD}" type="pres">
      <dgm:prSet presAssocID="{B91F8304-5C5D-DC47-BD4F-C04361DADB59}" presName="connector2" presStyleLbl="sibTrans2D1" presStyleIdx="1" presStyleCnt="3"/>
      <dgm:spPr/>
    </dgm:pt>
    <dgm:pt modelId="{E7A528AD-1D4C-6243-BF4C-338ED934C6EE}" type="pres">
      <dgm:prSet presAssocID="{13312ABB-C026-5147-A9C8-52E65E90AB91}" presName="connector3" presStyleLbl="sibTrans2D1" presStyleIdx="2" presStyleCnt="3"/>
      <dgm:spPr/>
    </dgm:pt>
  </dgm:ptLst>
  <dgm:cxnLst>
    <dgm:cxn modelId="{158B871E-E5F9-6944-A9BF-4210E224438C}" type="presOf" srcId="{74227C64-2CB6-D44E-8CAA-12D45E234847}" destId="{1B72251B-46B9-5E40-ABFB-13A567B1E291}" srcOrd="0" destOrd="0" presId="urn:microsoft.com/office/officeart/2005/8/layout/gear1"/>
    <dgm:cxn modelId="{425B6222-2E99-B940-B751-1A5DB2CA9A1D}" type="presOf" srcId="{AB28A417-A652-DC49-BEB5-34FFF86D958B}" destId="{2F0ABF17-07F5-EC47-A02E-AB3C378C79BC}" srcOrd="1" destOrd="0" presId="urn:microsoft.com/office/officeart/2005/8/layout/gear1"/>
    <dgm:cxn modelId="{8AA2DA25-556D-9544-B8BD-E8C56C9F84CF}" type="presOf" srcId="{3A8AF3C0-A6CE-884E-8D11-51F54AFE62BD}" destId="{25ECC110-CA04-7E46-8A77-D75C5224DC98}" srcOrd="1" destOrd="0" presId="urn:microsoft.com/office/officeart/2005/8/layout/gear1"/>
    <dgm:cxn modelId="{B076CE51-5964-E245-8202-3D26C43D29C9}" srcId="{0F7F11D1-8D1F-C841-9FFC-CBCB25067BD8}" destId="{3A8AF3C0-A6CE-884E-8D11-51F54AFE62BD}" srcOrd="0" destOrd="0" parTransId="{51030104-85E2-4E42-9D7F-10E0EE92911F}" sibTransId="{74227C64-2CB6-D44E-8CAA-12D45E234847}"/>
    <dgm:cxn modelId="{5BF28560-EE2D-094A-83AE-8989D04CE2EB}" type="presOf" srcId="{0F7F11D1-8D1F-C841-9FFC-CBCB25067BD8}" destId="{10545F23-84B9-DB4B-8315-ACA5816BE554}" srcOrd="0" destOrd="0" presId="urn:microsoft.com/office/officeart/2005/8/layout/gear1"/>
    <dgm:cxn modelId="{DFE31F66-AD63-F44F-9F11-1D610021027E}" type="presOf" srcId="{AB28A417-A652-DC49-BEB5-34FFF86D958B}" destId="{86E5BDA7-2C57-8A4C-B5AB-3A093089AB8F}" srcOrd="2" destOrd="0" presId="urn:microsoft.com/office/officeart/2005/8/layout/gear1"/>
    <dgm:cxn modelId="{6F80C16D-BF1B-B749-85D8-E6F86230C530}" type="presOf" srcId="{13312ABB-C026-5147-A9C8-52E65E90AB91}" destId="{E7A528AD-1D4C-6243-BF4C-338ED934C6EE}" srcOrd="0" destOrd="0" presId="urn:microsoft.com/office/officeart/2005/8/layout/gear1"/>
    <dgm:cxn modelId="{398AECA7-68A0-1C42-9AA4-E248DFAA344F}" srcId="{0F7F11D1-8D1F-C841-9FFC-CBCB25067BD8}" destId="{B5724259-7AE2-734B-984F-ACE9FA05370D}" srcOrd="2" destOrd="0" parTransId="{7053F5EE-26F6-814F-880F-56B7FE464683}" sibTransId="{13312ABB-C026-5147-A9C8-52E65E90AB91}"/>
    <dgm:cxn modelId="{BC5614A9-84A4-274F-8F51-8A5D2BD8BED8}" type="presOf" srcId="{B5724259-7AE2-734B-984F-ACE9FA05370D}" destId="{F754BB3B-4F80-9E49-84D1-BD21285EB377}" srcOrd="1" destOrd="0" presId="urn:microsoft.com/office/officeart/2005/8/layout/gear1"/>
    <dgm:cxn modelId="{84646EB3-02D6-7148-8E12-9754B1FD3111}" type="presOf" srcId="{3A8AF3C0-A6CE-884E-8D11-51F54AFE62BD}" destId="{069A6E43-D02D-FA4A-8860-9AF6701821CB}" srcOrd="2" destOrd="0" presId="urn:microsoft.com/office/officeart/2005/8/layout/gear1"/>
    <dgm:cxn modelId="{6883B4B3-7768-8C47-BF7F-4E6E4E412863}" type="presOf" srcId="{B91F8304-5C5D-DC47-BD4F-C04361DADB59}" destId="{9A59CBF1-4E44-2740-AAAB-64CBC76FFFFD}" srcOrd="0" destOrd="0" presId="urn:microsoft.com/office/officeart/2005/8/layout/gear1"/>
    <dgm:cxn modelId="{694A23B8-DFFF-AE42-A54E-CBB0FA7E7B05}" type="presOf" srcId="{B5724259-7AE2-734B-984F-ACE9FA05370D}" destId="{AB29107C-D9E6-3D41-9ADF-8E11FA3DEB53}" srcOrd="2" destOrd="0" presId="urn:microsoft.com/office/officeart/2005/8/layout/gear1"/>
    <dgm:cxn modelId="{80352CCC-A71E-BB48-A667-808D485E5084}" type="presOf" srcId="{B5724259-7AE2-734B-984F-ACE9FA05370D}" destId="{1C676D3E-0672-0242-A15F-26DB5C88E2AA}" srcOrd="3" destOrd="0" presId="urn:microsoft.com/office/officeart/2005/8/layout/gear1"/>
    <dgm:cxn modelId="{65E704D7-E8E5-144E-A71A-9DB4FE96F73D}" type="presOf" srcId="{AB28A417-A652-DC49-BEB5-34FFF86D958B}" destId="{4DC21653-BA09-C74C-9197-EA792AE9B53B}" srcOrd="0" destOrd="0" presId="urn:microsoft.com/office/officeart/2005/8/layout/gear1"/>
    <dgm:cxn modelId="{9502CDE0-CA4E-AC45-8748-92FDCFC0388C}" srcId="{0F7F11D1-8D1F-C841-9FFC-CBCB25067BD8}" destId="{AB28A417-A652-DC49-BEB5-34FFF86D958B}" srcOrd="1" destOrd="0" parTransId="{6BE64859-4B39-4E46-ADD5-565DFFB48E6C}" sibTransId="{B91F8304-5C5D-DC47-BD4F-C04361DADB59}"/>
    <dgm:cxn modelId="{8F2BD9E1-AF3C-124D-9600-59E76476CC07}" type="presOf" srcId="{3A8AF3C0-A6CE-884E-8D11-51F54AFE62BD}" destId="{7FEDC7B4-6A86-ED40-A783-57411F654F71}" srcOrd="0" destOrd="0" presId="urn:microsoft.com/office/officeart/2005/8/layout/gear1"/>
    <dgm:cxn modelId="{FB99F7E8-257B-5A43-821F-2CE54D042AC6}" type="presOf" srcId="{B5724259-7AE2-734B-984F-ACE9FA05370D}" destId="{0ABF2805-CC02-6C48-B1D0-90E786824CFE}" srcOrd="0" destOrd="0" presId="urn:microsoft.com/office/officeart/2005/8/layout/gear1"/>
    <dgm:cxn modelId="{F77D0D35-36CD-BB4D-A389-1FA926F1C0F2}" type="presParOf" srcId="{10545F23-84B9-DB4B-8315-ACA5816BE554}" destId="{7FEDC7B4-6A86-ED40-A783-57411F654F71}" srcOrd="0" destOrd="0" presId="urn:microsoft.com/office/officeart/2005/8/layout/gear1"/>
    <dgm:cxn modelId="{31358EB1-BA98-3E4D-A5C3-4779AFF83232}" type="presParOf" srcId="{10545F23-84B9-DB4B-8315-ACA5816BE554}" destId="{25ECC110-CA04-7E46-8A77-D75C5224DC98}" srcOrd="1" destOrd="0" presId="urn:microsoft.com/office/officeart/2005/8/layout/gear1"/>
    <dgm:cxn modelId="{C80C0AF0-E26E-D849-96BA-65862761A3D4}" type="presParOf" srcId="{10545F23-84B9-DB4B-8315-ACA5816BE554}" destId="{069A6E43-D02D-FA4A-8860-9AF6701821CB}" srcOrd="2" destOrd="0" presId="urn:microsoft.com/office/officeart/2005/8/layout/gear1"/>
    <dgm:cxn modelId="{46766CF0-FB56-264B-B4F3-A922E9FA5CBD}" type="presParOf" srcId="{10545F23-84B9-DB4B-8315-ACA5816BE554}" destId="{4DC21653-BA09-C74C-9197-EA792AE9B53B}" srcOrd="3" destOrd="0" presId="urn:microsoft.com/office/officeart/2005/8/layout/gear1"/>
    <dgm:cxn modelId="{9262E9B6-C55A-CF43-8E43-AAD8B75AEB1C}" type="presParOf" srcId="{10545F23-84B9-DB4B-8315-ACA5816BE554}" destId="{2F0ABF17-07F5-EC47-A02E-AB3C378C79BC}" srcOrd="4" destOrd="0" presId="urn:microsoft.com/office/officeart/2005/8/layout/gear1"/>
    <dgm:cxn modelId="{C01A0F90-EB1C-D44C-BE8D-58FF1E027FD0}" type="presParOf" srcId="{10545F23-84B9-DB4B-8315-ACA5816BE554}" destId="{86E5BDA7-2C57-8A4C-B5AB-3A093089AB8F}" srcOrd="5" destOrd="0" presId="urn:microsoft.com/office/officeart/2005/8/layout/gear1"/>
    <dgm:cxn modelId="{8E37C1C4-634E-D442-AA88-E56E1A34CE54}" type="presParOf" srcId="{10545F23-84B9-DB4B-8315-ACA5816BE554}" destId="{0ABF2805-CC02-6C48-B1D0-90E786824CFE}" srcOrd="6" destOrd="0" presId="urn:microsoft.com/office/officeart/2005/8/layout/gear1"/>
    <dgm:cxn modelId="{B5F0B920-4AA1-424C-8E65-7A91F35F5BF4}" type="presParOf" srcId="{10545F23-84B9-DB4B-8315-ACA5816BE554}" destId="{F754BB3B-4F80-9E49-84D1-BD21285EB377}" srcOrd="7" destOrd="0" presId="urn:microsoft.com/office/officeart/2005/8/layout/gear1"/>
    <dgm:cxn modelId="{622A250B-018C-694E-A5B0-C8DF5AE1E982}" type="presParOf" srcId="{10545F23-84B9-DB4B-8315-ACA5816BE554}" destId="{AB29107C-D9E6-3D41-9ADF-8E11FA3DEB53}" srcOrd="8" destOrd="0" presId="urn:microsoft.com/office/officeart/2005/8/layout/gear1"/>
    <dgm:cxn modelId="{08EC48D0-4831-6D4A-9FEB-2EC9058AAFC6}" type="presParOf" srcId="{10545F23-84B9-DB4B-8315-ACA5816BE554}" destId="{1C676D3E-0672-0242-A15F-26DB5C88E2AA}" srcOrd="9" destOrd="0" presId="urn:microsoft.com/office/officeart/2005/8/layout/gear1"/>
    <dgm:cxn modelId="{44E97DBB-8C4E-DF4F-933A-BA27BB821CE8}" type="presParOf" srcId="{10545F23-84B9-DB4B-8315-ACA5816BE554}" destId="{1B72251B-46B9-5E40-ABFB-13A567B1E291}" srcOrd="10" destOrd="0" presId="urn:microsoft.com/office/officeart/2005/8/layout/gear1"/>
    <dgm:cxn modelId="{6A111609-0760-3340-AD72-80635E416F3A}" type="presParOf" srcId="{10545F23-84B9-DB4B-8315-ACA5816BE554}" destId="{9A59CBF1-4E44-2740-AAAB-64CBC76FFFFD}" srcOrd="11" destOrd="0" presId="urn:microsoft.com/office/officeart/2005/8/layout/gear1"/>
    <dgm:cxn modelId="{9A339F1F-3601-D349-B745-EE0EFD7C3943}" type="presParOf" srcId="{10545F23-84B9-DB4B-8315-ACA5816BE554}" destId="{E7A528AD-1D4C-6243-BF4C-338ED934C6EE}" srcOrd="12" destOrd="0" presId="urn:microsoft.com/office/officeart/2005/8/layout/gear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A2AF5BC-60E3-8541-8864-4F28C9F2BF59}" type="doc">
      <dgm:prSet loTypeId="urn:microsoft.com/office/officeart/2005/8/layout/default" loCatId="" qsTypeId="urn:microsoft.com/office/officeart/2005/8/quickstyle/simple1" qsCatId="simple" csTypeId="urn:microsoft.com/office/officeart/2005/8/colors/colorful1" csCatId="colorful" phldr="1"/>
      <dgm:spPr/>
      <dgm:t>
        <a:bodyPr/>
        <a:lstStyle/>
        <a:p>
          <a:endParaRPr lang="en-US"/>
        </a:p>
      </dgm:t>
    </dgm:pt>
    <dgm:pt modelId="{F46E0186-56FE-A745-93AB-3EFFD3428EBE}">
      <dgm:prSet phldrT="[Text]"/>
      <dgm:spPr>
        <a:solidFill>
          <a:srgbClr val="FFFDD0"/>
        </a:solidFill>
      </dgm:spPr>
      <dgm:t>
        <a:bodyPr/>
        <a:lstStyle/>
        <a:p>
          <a:pPr algn="l">
            <a:buNone/>
          </a:pPr>
          <a:r>
            <a:rPr lang="en-ZA" sz="2800" b="0" dirty="0">
              <a:solidFill>
                <a:schemeClr val="tx1"/>
              </a:solidFill>
            </a:rPr>
            <a:t>Identity Matrix</a:t>
          </a:r>
          <a:endParaRPr lang="en-US" sz="2800" dirty="0">
            <a:solidFill>
              <a:schemeClr val="tx1"/>
            </a:solidFill>
          </a:endParaRPr>
        </a:p>
      </dgm:t>
    </dgm:pt>
    <dgm:pt modelId="{B93B2ED3-1F66-F544-BA8F-AEAA75BFE5F8}" type="parTrans" cxnId="{72E66FB4-6E45-AD42-B54A-B9B0BB9CF612}">
      <dgm:prSet/>
      <dgm:spPr/>
      <dgm:t>
        <a:bodyPr/>
        <a:lstStyle/>
        <a:p>
          <a:endParaRPr lang="en-US"/>
        </a:p>
      </dgm:t>
    </dgm:pt>
    <dgm:pt modelId="{06CD5965-698E-B746-AD8C-3D42D05ADDBD}" type="sibTrans" cxnId="{72E66FB4-6E45-AD42-B54A-B9B0BB9CF612}">
      <dgm:prSet/>
      <dgm:spPr/>
      <dgm:t>
        <a:bodyPr/>
        <a:lstStyle/>
        <a:p>
          <a:endParaRPr lang="en-US"/>
        </a:p>
      </dgm:t>
    </dgm:pt>
    <mc:AlternateContent xmlns:mc="http://schemas.openxmlformats.org/markup-compatibility/2006" xmlns:a14="http://schemas.microsoft.com/office/drawing/2010/main">
      <mc:Choice Requires="a14">
        <dgm:pt modelId="{1E464050-1747-3244-9B57-3FD157FF1855}">
          <dgm:prSet phldrT="[Text]" custT="1"/>
          <dgm:spPr>
            <a:solidFill>
              <a:srgbClr val="FFFDD0"/>
            </a:solidFill>
          </dgm:spPr>
          <dgm:t>
            <a:bodyPr/>
            <a:lstStyle/>
            <a:p>
              <a:pPr algn="l">
                <a:buNone/>
              </a:pPr>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𝐼</m:t>
                    </m:r>
                    <m:r>
                      <a:rPr lang="en-US" sz="2400" b="0" i="1" smtClean="0">
                        <a:solidFill>
                          <a:schemeClr val="tx1"/>
                        </a:solidFill>
                        <a:latin typeface="Cambria Math" panose="02040503050406030204" pitchFamily="18" charset="0"/>
                      </a:rPr>
                      <m:t>=</m:t>
                    </m:r>
                    <m:d>
                      <m:dPr>
                        <m:ctrlPr>
                          <a:rPr lang="en-US" sz="2400" i="1" smtClean="0">
                            <a:solidFill>
                              <a:schemeClr val="tx1"/>
                            </a:solidFill>
                            <a:latin typeface="Cambria Math" panose="02040503050406030204" pitchFamily="18" charset="0"/>
                          </a:rPr>
                        </m:ctrlPr>
                      </m:dPr>
                      <m:e>
                        <m:m>
                          <m:mPr>
                            <m:plcHide m:val="on"/>
                            <m:mcs>
                              <m:mc>
                                <m:mcPr>
                                  <m:count m:val="2"/>
                                  <m:mcJc m:val="center"/>
                                </m:mcPr>
                              </m:mc>
                            </m:mcs>
                            <m:ctrlPr>
                              <a:rPr lang="en-US" sz="2400" i="1">
                                <a:solidFill>
                                  <a:schemeClr val="tx1"/>
                                </a:solidFill>
                                <a:latin typeface="Cambria Math" panose="02040503050406030204" pitchFamily="18" charset="0"/>
                              </a:rPr>
                            </m:ctrlPr>
                          </m:mPr>
                          <m:mr>
                            <m:e>
                              <m:r>
                                <a:rPr lang="en-US" sz="2400">
                                  <a:solidFill>
                                    <a:schemeClr val="tx1"/>
                                  </a:solidFill>
                                  <a:latin typeface="Cambria Math" panose="02040503050406030204" pitchFamily="18" charset="0"/>
                                </a:rPr>
                                <m:t>1</m:t>
                              </m:r>
                            </m:e>
                            <m:e>
                              <m:r>
                                <a:rPr lang="en-US" sz="2400">
                                  <a:solidFill>
                                    <a:schemeClr val="tx1"/>
                                  </a:solidFill>
                                  <a:latin typeface="Cambria Math" panose="02040503050406030204" pitchFamily="18" charset="0"/>
                                </a:rPr>
                                <m:t>0</m:t>
                              </m:r>
                            </m:e>
                          </m:mr>
                          <m:mr>
                            <m:e>
                              <m:r>
                                <a:rPr lang="en-US" sz="2400">
                                  <a:solidFill>
                                    <a:schemeClr val="tx1"/>
                                  </a:solidFill>
                                  <a:latin typeface="Cambria Math" panose="02040503050406030204" pitchFamily="18" charset="0"/>
                                </a:rPr>
                                <m:t>0</m:t>
                              </m:r>
                            </m:e>
                            <m:e>
                              <m:r>
                                <a:rPr lang="en-US" sz="2400">
                                  <a:solidFill>
                                    <a:schemeClr val="tx1"/>
                                  </a:solidFill>
                                  <a:latin typeface="Cambria Math" panose="02040503050406030204" pitchFamily="18" charset="0"/>
                                </a:rPr>
                                <m:t>1</m:t>
                              </m:r>
                            </m:e>
                          </m:mr>
                        </m:m>
                      </m:e>
                    </m:d>
                  </m:oMath>
                </m:oMathPara>
              </a14:m>
              <a:endParaRPr lang="en-US" sz="2400" dirty="0">
                <a:solidFill>
                  <a:schemeClr val="tx1"/>
                </a:solidFill>
              </a:endParaRPr>
            </a:p>
          </dgm:t>
        </dgm:pt>
      </mc:Choice>
      <mc:Fallback xmlns="">
        <dgm:pt modelId="{1E464050-1747-3244-9B57-3FD157FF1855}">
          <dgm:prSet phldrT="[Text]" custT="1"/>
          <dgm:spPr>
            <a:solidFill>
              <a:srgbClr val="FFFDD0"/>
            </a:solidFill>
          </dgm:spPr>
          <dgm:t>
            <a:bodyPr/>
            <a:lstStyle/>
            <a:p>
              <a:pPr algn="l">
                <a:buNone/>
              </a:pPr>
              <a:r>
                <a:rPr lang="en-US" sz="2400" b="0" i="0">
                  <a:solidFill>
                    <a:schemeClr val="tx1"/>
                  </a:solidFill>
                  <a:latin typeface="Cambria Math" panose="02040503050406030204" pitchFamily="18" charset="0"/>
                </a:rPr>
                <a:t>𝐼=</a:t>
              </a:r>
              <a:r>
                <a:rPr lang="en-US" sz="2400" i="0">
                  <a:solidFill>
                    <a:schemeClr val="tx1"/>
                  </a:solidFill>
                  <a:latin typeface="Cambria Math" panose="02040503050406030204" pitchFamily="18" charset="0"/>
                </a:rPr>
                <a:t>(■(1&amp;0@0&amp;1))</a:t>
              </a:r>
              <a:endParaRPr lang="en-US" sz="2400" dirty="0">
                <a:solidFill>
                  <a:schemeClr val="tx1"/>
                </a:solidFill>
              </a:endParaRPr>
            </a:p>
          </dgm:t>
        </dgm:pt>
      </mc:Fallback>
    </mc:AlternateContent>
    <dgm:pt modelId="{27F4F252-E5AA-1D42-81EF-5290F30C73A4}" type="parTrans" cxnId="{E02B955D-9502-D542-AF77-847CA31EE064}">
      <dgm:prSet/>
      <dgm:spPr/>
      <dgm:t>
        <a:bodyPr/>
        <a:lstStyle/>
        <a:p>
          <a:endParaRPr lang="en-US"/>
        </a:p>
      </dgm:t>
    </dgm:pt>
    <dgm:pt modelId="{9723EB83-B998-A641-B0C7-8211F476F11B}" type="sibTrans" cxnId="{E02B955D-9502-D542-AF77-847CA31EE064}">
      <dgm:prSet/>
      <dgm:spPr/>
      <dgm:t>
        <a:bodyPr/>
        <a:lstStyle/>
        <a:p>
          <a:endParaRPr lang="en-US"/>
        </a:p>
      </dgm:t>
    </dgm:pt>
    <dgm:pt modelId="{AA07CF5C-2921-C842-A860-32B00E23B509}">
      <dgm:prSet phldrT="[Text]"/>
      <dgm:spPr>
        <a:solidFill>
          <a:schemeClr val="bg1">
            <a:lumMod val="95000"/>
          </a:schemeClr>
        </a:solidFill>
      </dgm:spPr>
      <dgm:t>
        <a:bodyPr/>
        <a:lstStyle/>
        <a:p>
          <a:pPr algn="l">
            <a:buNone/>
          </a:pPr>
          <a:r>
            <a:rPr lang="en-ZA" sz="3000" b="0" dirty="0">
              <a:solidFill>
                <a:schemeClr val="tx1"/>
              </a:solidFill>
            </a:rPr>
            <a:t>Orthogonal Matrix</a:t>
          </a:r>
          <a:endParaRPr lang="en-US" sz="3000" dirty="0">
            <a:solidFill>
              <a:schemeClr val="tx1"/>
            </a:solidFill>
          </a:endParaRPr>
        </a:p>
      </dgm:t>
    </dgm:pt>
    <dgm:pt modelId="{9257E34B-3492-B245-9D4D-BD32D97CC5BB}" type="parTrans" cxnId="{5C0E0FAE-FA5B-7A4E-86C1-AE92143A4E00}">
      <dgm:prSet/>
      <dgm:spPr/>
      <dgm:t>
        <a:bodyPr/>
        <a:lstStyle/>
        <a:p>
          <a:endParaRPr lang="en-US"/>
        </a:p>
      </dgm:t>
    </dgm:pt>
    <dgm:pt modelId="{895DE975-4270-B944-9686-401F709396A6}" type="sibTrans" cxnId="{5C0E0FAE-FA5B-7A4E-86C1-AE92143A4E00}">
      <dgm:prSet/>
      <dgm:spPr/>
      <dgm:t>
        <a:bodyPr/>
        <a:lstStyle/>
        <a:p>
          <a:endParaRPr lang="en-US"/>
        </a:p>
      </dgm:t>
    </dgm:pt>
    <dgm:pt modelId="{41B166D0-7162-1D4E-8FDA-821931D3AB3D}">
      <dgm:prSet phldrT="[Text]" custT="1"/>
      <dgm:spPr>
        <a:solidFill>
          <a:schemeClr val="bg1">
            <a:lumMod val="95000"/>
          </a:schemeClr>
        </a:solidFill>
      </dgm:spPr>
      <dgm:t>
        <a:bodyPr/>
        <a:lstStyle/>
        <a:p>
          <a:pPr algn="just"/>
          <a:r>
            <a:rPr lang="en-US" sz="2300" dirty="0">
              <a:solidFill>
                <a:schemeClr val="tx1"/>
              </a:solidFill>
            </a:rPr>
            <a:t>A square matrix which, when multiplied by its transpose, results in the identity matrix.</a:t>
          </a:r>
        </a:p>
      </dgm:t>
    </dgm:pt>
    <dgm:pt modelId="{B7634088-3C7A-A94E-AA8D-D5F714B23870}" type="parTrans" cxnId="{C957F60B-B1A0-504D-AC5D-77375C857A8B}">
      <dgm:prSet/>
      <dgm:spPr/>
      <dgm:t>
        <a:bodyPr/>
        <a:lstStyle/>
        <a:p>
          <a:endParaRPr lang="en-US"/>
        </a:p>
      </dgm:t>
    </dgm:pt>
    <dgm:pt modelId="{8E861D9F-3DD5-B049-95E0-A16725E5E16D}" type="sibTrans" cxnId="{C957F60B-B1A0-504D-AC5D-77375C857A8B}">
      <dgm:prSet/>
      <dgm:spPr/>
      <dgm:t>
        <a:bodyPr/>
        <a:lstStyle/>
        <a:p>
          <a:endParaRPr lang="en-US"/>
        </a:p>
      </dgm:t>
    </dgm:pt>
    <dgm:pt modelId="{9C26BD6F-4A74-6B4A-8FA9-3EC23DFE0336}">
      <dgm:prSet phldrT="[Text]" custT="1"/>
      <dgm:spPr>
        <a:solidFill>
          <a:srgbClr val="FFFDD0"/>
        </a:solidFill>
      </dgm:spPr>
      <dgm:t>
        <a:bodyPr/>
        <a:lstStyle/>
        <a:p>
          <a:pPr algn="just">
            <a:buFont typeface="Arial" panose="020B0604020202020204" pitchFamily="34" charset="0"/>
            <a:buChar char="•"/>
          </a:pPr>
          <a:r>
            <a:rPr lang="en-US" sz="2300" dirty="0">
              <a:solidFill>
                <a:schemeClr val="tx1"/>
              </a:solidFill>
            </a:rPr>
            <a:t>A square matrix with ones on the main diagonal and zeros elsewhere</a:t>
          </a:r>
          <a:r>
            <a:rPr lang="en-ZA" sz="2300" dirty="0">
              <a:solidFill>
                <a:schemeClr val="tx1"/>
              </a:solidFill>
            </a:rPr>
            <a:t>. </a:t>
          </a:r>
          <a:endParaRPr lang="en-US" sz="2200" dirty="0">
            <a:solidFill>
              <a:schemeClr val="tx1"/>
            </a:solidFill>
          </a:endParaRPr>
        </a:p>
      </dgm:t>
    </dgm:pt>
    <dgm:pt modelId="{32416553-E9D9-9E4C-B37A-C5D949DD5DD9}" type="parTrans" cxnId="{C69C83C7-A2A8-2744-8253-9D3248B65A7B}">
      <dgm:prSet/>
      <dgm:spPr/>
      <dgm:t>
        <a:bodyPr/>
        <a:lstStyle/>
        <a:p>
          <a:endParaRPr lang="en-US"/>
        </a:p>
      </dgm:t>
    </dgm:pt>
    <dgm:pt modelId="{A63F58B7-7B49-4F4B-ACC1-300B210F0929}" type="sibTrans" cxnId="{C69C83C7-A2A8-2744-8253-9D3248B65A7B}">
      <dgm:prSet/>
      <dgm:spPr/>
      <dgm:t>
        <a:bodyPr/>
        <a:lstStyle/>
        <a:p>
          <a:endParaRPr lang="en-US"/>
        </a:p>
      </dgm:t>
    </dgm:pt>
    <mc:AlternateContent xmlns:mc="http://schemas.openxmlformats.org/markup-compatibility/2006" xmlns:a14="http://schemas.microsoft.com/office/drawing/2010/main">
      <mc:Choice Requires="a14">
        <dgm:pt modelId="{A7F12DDC-AFF2-504D-A40A-16CC592BCD4A}">
          <dgm:prSet phldrT="[Text]" custT="1"/>
          <dgm:spPr>
            <a:solidFill>
              <a:schemeClr val="bg1">
                <a:lumMod val="95000"/>
              </a:schemeClr>
            </a:solidFill>
          </dgm:spPr>
          <dgm:t>
            <a:bodyPr/>
            <a:lstStyle/>
            <a:p>
              <a:pPr algn="l">
                <a:buNone/>
              </a:pPr>
              <a14:m>
                <m:oMathPara xmlns:m="http://schemas.openxmlformats.org/officeDocument/2006/math">
                  <m:oMathParaPr>
                    <m:jc m:val="centerGroup"/>
                  </m:oMathParaPr>
                  <m:oMath xmlns:m="http://schemas.openxmlformats.org/officeDocument/2006/math">
                    <m:sSup>
                      <m:sSupPr>
                        <m:ctrlPr>
                          <a:rPr lang="en-US" sz="240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𝐴</m:t>
                        </m:r>
                        <m:r>
                          <a:rPr lang="en-US" sz="2400" i="1">
                            <a:solidFill>
                              <a:schemeClr val="tx1"/>
                            </a:solidFill>
                            <a:latin typeface="Cambria Math" panose="02040503050406030204" pitchFamily="18" charset="0"/>
                          </a:rPr>
                          <m:t>𝐴</m:t>
                        </m:r>
                      </m:e>
                      <m:sup>
                        <m:r>
                          <a:rPr lang="en-US" sz="2400" b="0" i="1" smtClean="0">
                            <a:solidFill>
                              <a:schemeClr val="tx1"/>
                            </a:solidFill>
                            <a:latin typeface="Cambria Math" panose="02040503050406030204" pitchFamily="18" charset="0"/>
                          </a:rPr>
                          <m:t>𝑇</m:t>
                        </m:r>
                      </m:sup>
                    </m:sSup>
                    <m:r>
                      <a:rPr lang="en-US" sz="2400" b="0" i="1" smtClean="0">
                        <a:solidFill>
                          <a:schemeClr val="tx1"/>
                        </a:solidFill>
                        <a:latin typeface="Cambria Math" panose="02040503050406030204" pitchFamily="18" charset="0"/>
                      </a:rPr>
                      <m:t>=</m:t>
                    </m:r>
                    <m:sSup>
                      <m:sSupPr>
                        <m:ctrlPr>
                          <a:rPr lang="en-US" sz="2400" i="1" smtClean="0">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𝐴</m:t>
                        </m:r>
                      </m:e>
                      <m:sup>
                        <m:r>
                          <a:rPr lang="en-US" sz="2400" b="0" i="1" smtClean="0">
                            <a:solidFill>
                              <a:schemeClr val="tx1"/>
                            </a:solidFill>
                            <a:latin typeface="Cambria Math" panose="02040503050406030204" pitchFamily="18" charset="0"/>
                          </a:rPr>
                          <m:t>𝑇</m:t>
                        </m:r>
                      </m:sup>
                    </m:sSup>
                    <m:r>
                      <a:rPr lang="en-US" sz="2400" b="0" i="1" smtClean="0">
                        <a:solidFill>
                          <a:schemeClr val="tx1"/>
                        </a:solidFill>
                        <a:latin typeface="Cambria Math" panose="02040503050406030204" pitchFamily="18" charset="0"/>
                      </a:rPr>
                      <m:t>𝐴</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𝐼</m:t>
                    </m:r>
                  </m:oMath>
                </m:oMathPara>
              </a14:m>
              <a:endParaRPr lang="en-US" sz="2400" dirty="0">
                <a:solidFill>
                  <a:schemeClr val="tx1"/>
                </a:solidFill>
              </a:endParaRPr>
            </a:p>
          </dgm:t>
        </dgm:pt>
      </mc:Choice>
      <mc:Fallback xmlns="">
        <dgm:pt modelId="{A7F12DDC-AFF2-504D-A40A-16CC592BCD4A}">
          <dgm:prSet phldrT="[Text]" custT="1"/>
          <dgm:spPr>
            <a:solidFill>
              <a:schemeClr val="bg1">
                <a:lumMod val="95000"/>
              </a:schemeClr>
            </a:solidFill>
          </dgm:spPr>
          <dgm:t>
            <a:bodyPr/>
            <a:lstStyle/>
            <a:p>
              <a:pPr algn="l">
                <a:buNone/>
              </a:pPr>
              <a:r>
                <a:rPr lang="en-US" sz="2400" i="0">
                  <a:solidFill>
                    <a:schemeClr val="tx1"/>
                  </a:solidFill>
                  <a:latin typeface="Cambria Math" panose="02040503050406030204" pitchFamily="18" charset="0"/>
                </a:rPr>
                <a:t>〖</a:t>
              </a:r>
              <a:r>
                <a:rPr lang="en-US" sz="2400" b="0" i="0">
                  <a:solidFill>
                    <a:schemeClr val="tx1"/>
                  </a:solidFill>
                  <a:latin typeface="Cambria Math" panose="02040503050406030204" pitchFamily="18" charset="0"/>
                </a:rPr>
                <a:t>𝐴</a:t>
              </a:r>
              <a:r>
                <a:rPr lang="en-US" sz="2400" i="0">
                  <a:solidFill>
                    <a:schemeClr val="tx1"/>
                  </a:solidFill>
                  <a:latin typeface="Cambria Math" panose="02040503050406030204" pitchFamily="18" charset="0"/>
                </a:rPr>
                <a:t>𝐴〗^</a:t>
              </a:r>
              <a:r>
                <a:rPr lang="en-US" sz="2400" b="0" i="0">
                  <a:solidFill>
                    <a:schemeClr val="tx1"/>
                  </a:solidFill>
                  <a:latin typeface="Cambria Math" panose="02040503050406030204" pitchFamily="18" charset="0"/>
                </a:rPr>
                <a:t>𝑇=</a:t>
              </a:r>
              <a:r>
                <a:rPr lang="en-US" sz="2400" i="0">
                  <a:solidFill>
                    <a:schemeClr val="tx1"/>
                  </a:solidFill>
                  <a:latin typeface="Cambria Math" panose="02040503050406030204" pitchFamily="18" charset="0"/>
                </a:rPr>
                <a:t>𝐴^</a:t>
              </a:r>
              <a:r>
                <a:rPr lang="en-US" sz="2400" b="0" i="0">
                  <a:solidFill>
                    <a:schemeClr val="tx1"/>
                  </a:solidFill>
                  <a:latin typeface="Cambria Math" panose="02040503050406030204" pitchFamily="18" charset="0"/>
                </a:rPr>
                <a:t>𝑇 𝐴=𝐼</a:t>
              </a:r>
              <a:endParaRPr lang="en-US" sz="2400" dirty="0">
                <a:solidFill>
                  <a:schemeClr val="tx1"/>
                </a:solidFill>
              </a:endParaRPr>
            </a:p>
          </dgm:t>
        </dgm:pt>
      </mc:Fallback>
    </mc:AlternateContent>
    <dgm:pt modelId="{270853BE-451D-C348-A41D-46BFC7664B74}" type="parTrans" cxnId="{8BAB1BE0-A60F-9240-8550-73521236C4C9}">
      <dgm:prSet/>
      <dgm:spPr/>
      <dgm:t>
        <a:bodyPr/>
        <a:lstStyle/>
        <a:p>
          <a:endParaRPr lang="en-US"/>
        </a:p>
      </dgm:t>
    </dgm:pt>
    <dgm:pt modelId="{100C07D3-35B8-8848-9998-84F96EF61ACF}" type="sibTrans" cxnId="{8BAB1BE0-A60F-9240-8550-73521236C4C9}">
      <dgm:prSet/>
      <dgm:spPr/>
      <dgm:t>
        <a:bodyPr/>
        <a:lstStyle/>
        <a:p>
          <a:endParaRPr lang="en-US"/>
        </a:p>
      </dgm:t>
    </dgm:pt>
    <dgm:pt modelId="{A51968AF-A7CB-5B4E-8656-F1815D43C2CC}">
      <dgm:prSet phldrT="[Text]"/>
      <dgm:spPr>
        <a:solidFill>
          <a:schemeClr val="accent2">
            <a:lumMod val="20000"/>
            <a:lumOff val="80000"/>
          </a:schemeClr>
        </a:solidFill>
      </dgm:spPr>
      <dgm:t>
        <a:bodyPr/>
        <a:lstStyle/>
        <a:p>
          <a:pPr algn="l">
            <a:buNone/>
          </a:pPr>
          <a:r>
            <a:rPr lang="en-ZA" sz="3000" b="0" dirty="0">
              <a:solidFill>
                <a:schemeClr val="tx1"/>
              </a:solidFill>
            </a:rPr>
            <a:t>Hermitian Matrix</a:t>
          </a:r>
          <a:endParaRPr lang="en-US" sz="3000" dirty="0">
            <a:solidFill>
              <a:schemeClr val="tx1"/>
            </a:solidFill>
          </a:endParaRPr>
        </a:p>
      </dgm:t>
    </dgm:pt>
    <dgm:pt modelId="{7E44049A-AB25-3247-B3D0-76998841B900}" type="parTrans" cxnId="{4AE0C231-0D8A-B94B-A64E-99065D00D458}">
      <dgm:prSet/>
      <dgm:spPr/>
      <dgm:t>
        <a:bodyPr/>
        <a:lstStyle/>
        <a:p>
          <a:endParaRPr lang="en-US"/>
        </a:p>
      </dgm:t>
    </dgm:pt>
    <dgm:pt modelId="{CFD8F77A-9045-7848-9F35-528A12D68876}" type="sibTrans" cxnId="{4AE0C231-0D8A-B94B-A64E-99065D00D458}">
      <dgm:prSet/>
      <dgm:spPr/>
      <dgm:t>
        <a:bodyPr/>
        <a:lstStyle/>
        <a:p>
          <a:endParaRPr lang="en-US"/>
        </a:p>
      </dgm:t>
    </dgm:pt>
    <dgm:pt modelId="{64E414A6-3B47-DA46-A25C-F513E52618F1}">
      <dgm:prSet phldrT="[Text]" custT="1"/>
      <dgm:spPr>
        <a:solidFill>
          <a:schemeClr val="accent2">
            <a:lumMod val="20000"/>
            <a:lumOff val="80000"/>
          </a:schemeClr>
        </a:solidFill>
      </dgm:spPr>
      <dgm:t>
        <a:bodyPr/>
        <a:lstStyle/>
        <a:p>
          <a:pPr algn="just"/>
          <a:r>
            <a:rPr lang="en-US" sz="2300" dirty="0">
              <a:solidFill>
                <a:schemeClr val="tx1"/>
              </a:solidFill>
            </a:rPr>
            <a:t>A square matrix that is equal to its conjugate transpose</a:t>
          </a:r>
          <a:r>
            <a:rPr lang="en-ZA" sz="2300" dirty="0">
              <a:solidFill>
                <a:schemeClr val="tx1"/>
              </a:solidFill>
            </a:rPr>
            <a:t>.</a:t>
          </a:r>
          <a:endParaRPr lang="en-US" sz="2300" dirty="0">
            <a:solidFill>
              <a:schemeClr val="tx1"/>
            </a:solidFill>
          </a:endParaRPr>
        </a:p>
      </dgm:t>
    </dgm:pt>
    <dgm:pt modelId="{194B8AC5-E6BA-5646-9AB8-556A09297BDA}" type="parTrans" cxnId="{EBEEE367-A602-3D4A-875E-215B23143C8F}">
      <dgm:prSet/>
      <dgm:spPr/>
      <dgm:t>
        <a:bodyPr/>
        <a:lstStyle/>
        <a:p>
          <a:endParaRPr lang="en-US"/>
        </a:p>
      </dgm:t>
    </dgm:pt>
    <dgm:pt modelId="{5D6CBBE3-99BE-464B-9366-3623B694561F}" type="sibTrans" cxnId="{EBEEE367-A602-3D4A-875E-215B23143C8F}">
      <dgm:prSet/>
      <dgm:spPr/>
      <dgm:t>
        <a:bodyPr/>
        <a:lstStyle/>
        <a:p>
          <a:endParaRPr lang="en-US"/>
        </a:p>
      </dgm:t>
    </dgm:pt>
    <mc:AlternateContent xmlns:mc="http://schemas.openxmlformats.org/markup-compatibility/2006" xmlns:a14="http://schemas.microsoft.com/office/drawing/2010/main">
      <mc:Choice Requires="a14">
        <dgm:pt modelId="{0CEAF519-1C3B-3C43-95FD-B4C9F87D1E60}">
          <dgm:prSet phldrT="[Text]" custT="1"/>
          <dgm:spPr>
            <a:solidFill>
              <a:schemeClr val="accent2">
                <a:lumMod val="20000"/>
                <a:lumOff val="80000"/>
              </a:schemeClr>
            </a:solidFill>
          </dgm:spPr>
          <dgm:t>
            <a:bodyPr/>
            <a:lstStyle/>
            <a:p>
              <a:pPr algn="l">
                <a:buNone/>
              </a:pPr>
              <a14:m>
                <m:oMathPara xmlns:m="http://schemas.openxmlformats.org/officeDocument/2006/math">
                  <m:oMathParaPr>
                    <m:jc m:val="centerGroup"/>
                  </m:oMathParaPr>
                  <m:oMath xmlns:m="http://schemas.openxmlformats.org/officeDocument/2006/math">
                    <m:sSup>
                      <m:sSupPr>
                        <m:ctrlPr>
                          <a:rPr lang="en-US" sz="240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𝐴</m:t>
                        </m:r>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𝐴</m:t>
                        </m:r>
                      </m:e>
                      <m:sup>
                        <m:r>
                          <a:rPr lang="en-US" sz="2400" i="1">
                            <a:solidFill>
                              <a:schemeClr val="tx1"/>
                            </a:solidFill>
                            <a:latin typeface="Cambria Math" panose="02040503050406030204" pitchFamily="18" charset="0"/>
                          </a:rPr>
                          <m:t>†</m:t>
                        </m:r>
                      </m:sup>
                    </m:sSup>
                  </m:oMath>
                </m:oMathPara>
              </a14:m>
              <a:endParaRPr lang="en-US" sz="2400" dirty="0">
                <a:solidFill>
                  <a:schemeClr val="tx1"/>
                </a:solidFill>
              </a:endParaRPr>
            </a:p>
          </dgm:t>
        </dgm:pt>
      </mc:Choice>
      <mc:Fallback xmlns="">
        <dgm:pt modelId="{0CEAF519-1C3B-3C43-95FD-B4C9F87D1E60}">
          <dgm:prSet phldrT="[Text]" custT="1"/>
          <dgm:spPr>
            <a:solidFill>
              <a:schemeClr val="accent2">
                <a:lumMod val="20000"/>
                <a:lumOff val="80000"/>
              </a:schemeClr>
            </a:solidFill>
          </dgm:spPr>
          <dgm:t>
            <a:bodyPr/>
            <a:lstStyle/>
            <a:p>
              <a:pPr algn="l">
                <a:buNone/>
              </a:pPr>
              <a:r>
                <a:rPr lang="en-US" sz="2400" i="0">
                  <a:solidFill>
                    <a:schemeClr val="tx1"/>
                  </a:solidFill>
                  <a:latin typeface="Cambria Math" panose="02040503050406030204" pitchFamily="18" charset="0"/>
                </a:rPr>
                <a:t>〖</a:t>
              </a:r>
              <a:r>
                <a:rPr lang="en-US" sz="2400" b="0" i="0">
                  <a:solidFill>
                    <a:schemeClr val="tx1"/>
                  </a:solidFill>
                  <a:latin typeface="Cambria Math" panose="02040503050406030204" pitchFamily="18" charset="0"/>
                </a:rPr>
                <a:t>𝐴=</a:t>
              </a:r>
              <a:r>
                <a:rPr lang="en-US" sz="2400" i="0">
                  <a:solidFill>
                    <a:schemeClr val="tx1"/>
                  </a:solidFill>
                  <a:latin typeface="Cambria Math" panose="02040503050406030204" pitchFamily="18" charset="0"/>
                </a:rPr>
                <a:t>𝐴〗^†</a:t>
              </a:r>
              <a:endParaRPr lang="en-US" sz="2400" dirty="0">
                <a:solidFill>
                  <a:schemeClr val="tx1"/>
                </a:solidFill>
              </a:endParaRPr>
            </a:p>
          </dgm:t>
        </dgm:pt>
      </mc:Fallback>
    </mc:AlternateContent>
    <dgm:pt modelId="{CC7B24E6-727E-8740-AEB1-B367388B3656}" type="parTrans" cxnId="{AC678887-1EBB-3743-8582-6F3A2B33CBD3}">
      <dgm:prSet/>
      <dgm:spPr/>
      <dgm:t>
        <a:bodyPr/>
        <a:lstStyle/>
        <a:p>
          <a:endParaRPr lang="en-US"/>
        </a:p>
      </dgm:t>
    </dgm:pt>
    <dgm:pt modelId="{427C35D3-FBEB-2E47-938B-233EF658C6EE}" type="sibTrans" cxnId="{AC678887-1EBB-3743-8582-6F3A2B33CBD3}">
      <dgm:prSet/>
      <dgm:spPr/>
      <dgm:t>
        <a:bodyPr/>
        <a:lstStyle/>
        <a:p>
          <a:endParaRPr lang="en-US"/>
        </a:p>
      </dgm:t>
    </dgm:pt>
    <dgm:pt modelId="{49FCC770-FC46-724B-8B42-999231F3883D}">
      <dgm:prSet phldrT="[Text]"/>
      <dgm:spPr>
        <a:solidFill>
          <a:schemeClr val="accent5">
            <a:lumMod val="20000"/>
            <a:lumOff val="80000"/>
          </a:schemeClr>
        </a:solidFill>
      </dgm:spPr>
      <dgm:t>
        <a:bodyPr/>
        <a:lstStyle/>
        <a:p>
          <a:pPr algn="l">
            <a:buNone/>
          </a:pPr>
          <a:r>
            <a:rPr lang="en-ZA" sz="2700" b="0" dirty="0">
              <a:solidFill>
                <a:schemeClr val="tx1"/>
              </a:solidFill>
            </a:rPr>
            <a:t>Unitary Matrix</a:t>
          </a:r>
          <a:endParaRPr lang="en-US" sz="2700" dirty="0">
            <a:solidFill>
              <a:schemeClr val="tx1"/>
            </a:solidFill>
          </a:endParaRPr>
        </a:p>
      </dgm:t>
    </dgm:pt>
    <dgm:pt modelId="{55810CB1-660B-BD42-BFCA-9B7F6D9D018E}" type="parTrans" cxnId="{13793690-3187-1D40-8108-514BEAC24C10}">
      <dgm:prSet/>
      <dgm:spPr/>
      <dgm:t>
        <a:bodyPr/>
        <a:lstStyle/>
        <a:p>
          <a:endParaRPr lang="en-US"/>
        </a:p>
      </dgm:t>
    </dgm:pt>
    <dgm:pt modelId="{70AE20F3-F2B9-8D4E-9E6F-C4FCB047460F}" type="sibTrans" cxnId="{13793690-3187-1D40-8108-514BEAC24C10}">
      <dgm:prSet/>
      <dgm:spPr/>
      <dgm:t>
        <a:bodyPr/>
        <a:lstStyle/>
        <a:p>
          <a:endParaRPr lang="en-US"/>
        </a:p>
      </dgm:t>
    </dgm:pt>
    <mc:AlternateContent xmlns:mc="http://schemas.openxmlformats.org/markup-compatibility/2006" xmlns:a14="http://schemas.microsoft.com/office/drawing/2010/main">
      <mc:Choice Requires="a14">
        <dgm:pt modelId="{81B4A25D-E7DD-D741-BE4B-998FEE9C5058}">
          <dgm:prSet custT="1"/>
          <dgm:spPr>
            <a:solidFill>
              <a:schemeClr val="accent5">
                <a:lumMod val="20000"/>
                <a:lumOff val="80000"/>
              </a:schemeClr>
            </a:solidFill>
          </dgm:spPr>
          <dgm:t>
            <a:bodyPr/>
            <a:lstStyle/>
            <a:p>
              <a:pPr algn="l">
                <a:buNone/>
              </a:pPr>
              <a14:m>
                <m:oMathPara xmlns:m="http://schemas.openxmlformats.org/officeDocument/2006/math">
                  <m:oMathParaPr>
                    <m:jc m:val="centerGroup"/>
                  </m:oMathParaPr>
                  <m:oMath xmlns:m="http://schemas.openxmlformats.org/officeDocument/2006/math">
                    <m:sSup>
                      <m:sSupPr>
                        <m:ctrlPr>
                          <a:rPr lang="en-US" sz="240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𝐴</m:t>
                        </m:r>
                        <m:r>
                          <a:rPr lang="en-US" sz="2400" i="1">
                            <a:solidFill>
                              <a:schemeClr val="tx1"/>
                            </a:solidFill>
                            <a:latin typeface="Cambria Math" panose="02040503050406030204" pitchFamily="18" charset="0"/>
                          </a:rPr>
                          <m:t>𝐴</m:t>
                        </m:r>
                      </m:e>
                      <m:sup>
                        <m:r>
                          <a:rPr lang="en-US" sz="2400" i="1">
                            <a:solidFill>
                              <a:schemeClr val="tx1"/>
                            </a:solidFill>
                            <a:latin typeface="Cambria Math" panose="02040503050406030204" pitchFamily="18" charset="0"/>
                          </a:rPr>
                          <m:t>†</m:t>
                        </m:r>
                      </m:sup>
                    </m:sSup>
                    <m:r>
                      <a:rPr lang="en-US" sz="2400" b="0" i="1" smtClean="0">
                        <a:solidFill>
                          <a:schemeClr val="tx1"/>
                        </a:solidFill>
                        <a:latin typeface="Cambria Math" panose="02040503050406030204" pitchFamily="18" charset="0"/>
                      </a:rPr>
                      <m:t>=</m:t>
                    </m:r>
                    <m:sSup>
                      <m:sSupPr>
                        <m:ctrlPr>
                          <a:rPr lang="en-US" sz="2400" i="1" smtClean="0">
                            <a:solidFill>
                              <a:schemeClr val="tx1"/>
                            </a:solidFill>
                            <a:latin typeface="Cambria Math" panose="02040503050406030204" pitchFamily="18" charset="0"/>
                          </a:rPr>
                        </m:ctrlPr>
                      </m:sSupPr>
                      <m:e>
                        <m:r>
                          <a:rPr lang="en-US" sz="2400" b="0" i="1" smtClean="0">
                            <a:solidFill>
                              <a:schemeClr val="tx1"/>
                            </a:solidFill>
                            <a:latin typeface="Cambria Math" panose="02040503050406030204" pitchFamily="18" charset="0"/>
                          </a:rPr>
                          <m:t>𝐴</m:t>
                        </m:r>
                      </m:e>
                      <m:sup>
                        <m:r>
                          <a:rPr lang="en-US" sz="2400" i="1">
                            <a:solidFill>
                              <a:schemeClr val="tx1"/>
                            </a:solidFill>
                            <a:latin typeface="Cambria Math" panose="02040503050406030204" pitchFamily="18" charset="0"/>
                          </a:rPr>
                          <m:t>†</m:t>
                        </m:r>
                      </m:sup>
                    </m:sSup>
                    <m:r>
                      <a:rPr lang="en-US" sz="2400" b="0" i="1" smtClean="0">
                        <a:solidFill>
                          <a:schemeClr val="tx1"/>
                        </a:solidFill>
                        <a:latin typeface="Cambria Math" panose="02040503050406030204" pitchFamily="18" charset="0"/>
                      </a:rPr>
                      <m:t>𝐴</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𝐼</m:t>
                    </m:r>
                  </m:oMath>
                </m:oMathPara>
              </a14:m>
              <a:endParaRPr lang="en-US" sz="2400" dirty="0">
                <a:solidFill>
                  <a:schemeClr val="tx1"/>
                </a:solidFill>
              </a:endParaRPr>
            </a:p>
          </dgm:t>
        </dgm:pt>
      </mc:Choice>
      <mc:Fallback xmlns="">
        <dgm:pt modelId="{81B4A25D-E7DD-D741-BE4B-998FEE9C5058}">
          <dgm:prSet custT="1"/>
          <dgm:spPr>
            <a:solidFill>
              <a:schemeClr val="accent5">
                <a:lumMod val="20000"/>
                <a:lumOff val="80000"/>
              </a:schemeClr>
            </a:solidFill>
          </dgm:spPr>
          <dgm:t>
            <a:bodyPr/>
            <a:lstStyle/>
            <a:p>
              <a:pPr algn="l">
                <a:buNone/>
              </a:pPr>
              <a:r>
                <a:rPr lang="en-US" sz="2400" i="0">
                  <a:solidFill>
                    <a:schemeClr val="tx1"/>
                  </a:solidFill>
                  <a:latin typeface="Cambria Math" panose="02040503050406030204" pitchFamily="18" charset="0"/>
                </a:rPr>
                <a:t>〖</a:t>
              </a:r>
              <a:r>
                <a:rPr lang="en-US" sz="2400" b="0" i="0">
                  <a:solidFill>
                    <a:schemeClr val="tx1"/>
                  </a:solidFill>
                  <a:latin typeface="Cambria Math" panose="02040503050406030204" pitchFamily="18" charset="0"/>
                </a:rPr>
                <a:t>𝐴</a:t>
              </a:r>
              <a:r>
                <a:rPr lang="en-US" sz="2400" i="0">
                  <a:solidFill>
                    <a:schemeClr val="tx1"/>
                  </a:solidFill>
                  <a:latin typeface="Cambria Math" panose="02040503050406030204" pitchFamily="18" charset="0"/>
                </a:rPr>
                <a:t>𝐴〗^†</a:t>
              </a:r>
              <a:r>
                <a:rPr lang="en-US" sz="2400" b="0" i="0">
                  <a:solidFill>
                    <a:schemeClr val="tx1"/>
                  </a:solidFill>
                  <a:latin typeface="Cambria Math" panose="02040503050406030204" pitchFamily="18" charset="0"/>
                </a:rPr>
                <a:t>=𝐴^</a:t>
              </a:r>
              <a:r>
                <a:rPr lang="en-US" sz="2400" i="0">
                  <a:solidFill>
                    <a:schemeClr val="tx1"/>
                  </a:solidFill>
                  <a:latin typeface="Cambria Math" panose="02040503050406030204" pitchFamily="18" charset="0"/>
                </a:rPr>
                <a:t>†</a:t>
              </a:r>
              <a:r>
                <a:rPr lang="en-US" sz="2400" b="0" i="0">
                  <a:solidFill>
                    <a:schemeClr val="tx1"/>
                  </a:solidFill>
                  <a:latin typeface="Cambria Math" panose="02040503050406030204" pitchFamily="18" charset="0"/>
                </a:rPr>
                <a:t> 𝐴=𝐼</a:t>
              </a:r>
              <a:endParaRPr lang="en-US" sz="2400" dirty="0">
                <a:solidFill>
                  <a:schemeClr val="tx1"/>
                </a:solidFill>
              </a:endParaRPr>
            </a:p>
          </dgm:t>
        </dgm:pt>
      </mc:Fallback>
    </mc:AlternateContent>
    <dgm:pt modelId="{676968CC-6B2D-E84B-96D1-10E2C2D0CCA3}" type="parTrans" cxnId="{B91D2C49-0B3C-A74F-8FDB-234CF97DB8A0}">
      <dgm:prSet/>
      <dgm:spPr/>
      <dgm:t>
        <a:bodyPr/>
        <a:lstStyle/>
        <a:p>
          <a:endParaRPr lang="en-US"/>
        </a:p>
      </dgm:t>
    </dgm:pt>
    <dgm:pt modelId="{AFB83FB0-6767-A944-9B4D-2F2576FCF907}" type="sibTrans" cxnId="{B91D2C49-0B3C-A74F-8FDB-234CF97DB8A0}">
      <dgm:prSet/>
      <dgm:spPr/>
      <dgm:t>
        <a:bodyPr/>
        <a:lstStyle/>
        <a:p>
          <a:endParaRPr lang="en-US"/>
        </a:p>
      </dgm:t>
    </dgm:pt>
    <dgm:pt modelId="{87AE0D3B-B448-7248-B367-399B311A8E0E}">
      <dgm:prSet custT="1"/>
      <dgm:spPr>
        <a:solidFill>
          <a:schemeClr val="accent5">
            <a:lumMod val="20000"/>
            <a:lumOff val="80000"/>
          </a:schemeClr>
        </a:solidFill>
      </dgm:spPr>
      <dgm:t>
        <a:bodyPr/>
        <a:lstStyle/>
        <a:p>
          <a:pPr algn="just"/>
          <a:r>
            <a:rPr lang="en-US" sz="2300" dirty="0">
              <a:solidFill>
                <a:schemeClr val="tx1"/>
              </a:solidFill>
            </a:rPr>
            <a:t>A square matrix which, when multiplied by its conjugate transpose, results in the identity matrix.</a:t>
          </a:r>
          <a:endParaRPr lang="en-US" sz="1000" dirty="0">
            <a:solidFill>
              <a:schemeClr val="tx1"/>
            </a:solidFill>
          </a:endParaRPr>
        </a:p>
      </dgm:t>
    </dgm:pt>
    <dgm:pt modelId="{9DC4FAA6-49B4-A94E-BB21-B2007FD1C6EE}" type="parTrans" cxnId="{76C00E61-E278-904B-A299-2B18487532A3}">
      <dgm:prSet/>
      <dgm:spPr/>
      <dgm:t>
        <a:bodyPr/>
        <a:lstStyle/>
        <a:p>
          <a:endParaRPr lang="en-US"/>
        </a:p>
      </dgm:t>
    </dgm:pt>
    <dgm:pt modelId="{3ACCDBAF-31B0-9041-8EB7-052FB1EAA56B}" type="sibTrans" cxnId="{76C00E61-E278-904B-A299-2B18487532A3}">
      <dgm:prSet/>
      <dgm:spPr/>
      <dgm:t>
        <a:bodyPr/>
        <a:lstStyle/>
        <a:p>
          <a:endParaRPr lang="en-US"/>
        </a:p>
      </dgm:t>
    </dgm:pt>
    <dgm:pt modelId="{C4AA0D6C-EACD-6042-ADE1-8700E6D2A5DE}">
      <dgm:prSet phldrT="[Text]" custT="1"/>
      <dgm:spPr>
        <a:solidFill>
          <a:srgbClr val="FFFDD0"/>
        </a:solidFill>
      </dgm:spPr>
      <dgm:t>
        <a:bodyPr/>
        <a:lstStyle/>
        <a:p>
          <a:pPr algn="just">
            <a:buFont typeface="Arial" panose="020B0604020202020204" pitchFamily="34" charset="0"/>
            <a:buChar char="•"/>
          </a:pPr>
          <a:endParaRPr lang="en-US" sz="1000" dirty="0">
            <a:solidFill>
              <a:schemeClr val="tx1"/>
            </a:solidFill>
          </a:endParaRPr>
        </a:p>
      </dgm:t>
    </dgm:pt>
    <dgm:pt modelId="{49B5CC91-C0BB-6443-86A0-0F77C4BA9558}" type="parTrans" cxnId="{1903B39A-B1AE-C841-A4AB-E495762BC503}">
      <dgm:prSet/>
      <dgm:spPr/>
      <dgm:t>
        <a:bodyPr/>
        <a:lstStyle/>
        <a:p>
          <a:endParaRPr lang="en-US"/>
        </a:p>
      </dgm:t>
    </dgm:pt>
    <dgm:pt modelId="{E74C5394-01B1-8D46-A6FF-84027DE6EB94}" type="sibTrans" cxnId="{1903B39A-B1AE-C841-A4AB-E495762BC503}">
      <dgm:prSet/>
      <dgm:spPr/>
      <dgm:t>
        <a:bodyPr/>
        <a:lstStyle/>
        <a:p>
          <a:endParaRPr lang="en-US"/>
        </a:p>
      </dgm:t>
    </dgm:pt>
    <dgm:pt modelId="{2528F6AB-236A-1040-9B8A-9396E24164BC}">
      <dgm:prSet custT="1"/>
      <dgm:spPr>
        <a:solidFill>
          <a:schemeClr val="accent5">
            <a:lumMod val="20000"/>
            <a:lumOff val="80000"/>
          </a:schemeClr>
        </a:solidFill>
      </dgm:spPr>
      <dgm:t>
        <a:bodyPr/>
        <a:lstStyle/>
        <a:p>
          <a:pPr algn="just"/>
          <a:endParaRPr lang="en-US" sz="1000" dirty="0">
            <a:solidFill>
              <a:schemeClr val="tx1"/>
            </a:solidFill>
          </a:endParaRPr>
        </a:p>
      </dgm:t>
    </dgm:pt>
    <dgm:pt modelId="{628564C8-1D01-FD45-8422-0CE960EE4C75}" type="parTrans" cxnId="{5F06FE3A-13E2-1A43-AC4D-A43C94BBDE66}">
      <dgm:prSet/>
      <dgm:spPr/>
      <dgm:t>
        <a:bodyPr/>
        <a:lstStyle/>
        <a:p>
          <a:endParaRPr lang="en-US"/>
        </a:p>
      </dgm:t>
    </dgm:pt>
    <dgm:pt modelId="{78E235B9-0FB0-434E-BEF7-FF43049A8EEA}" type="sibTrans" cxnId="{5F06FE3A-13E2-1A43-AC4D-A43C94BBDE66}">
      <dgm:prSet/>
      <dgm:spPr/>
      <dgm:t>
        <a:bodyPr/>
        <a:lstStyle/>
        <a:p>
          <a:endParaRPr lang="en-US"/>
        </a:p>
      </dgm:t>
    </dgm:pt>
    <dgm:pt modelId="{1C4F7063-50B7-FC48-B220-958147F8AB79}">
      <dgm:prSet phldrT="[Text]" custT="1"/>
      <dgm:spPr>
        <a:solidFill>
          <a:schemeClr val="bg1">
            <a:lumMod val="95000"/>
          </a:schemeClr>
        </a:solidFill>
      </dgm:spPr>
      <dgm:t>
        <a:bodyPr/>
        <a:lstStyle/>
        <a:p>
          <a:pPr algn="just">
            <a:buNone/>
          </a:pPr>
          <a:endParaRPr lang="en-US" sz="1000" dirty="0">
            <a:solidFill>
              <a:schemeClr val="tx1"/>
            </a:solidFill>
          </a:endParaRPr>
        </a:p>
      </dgm:t>
    </dgm:pt>
    <dgm:pt modelId="{9B24AB54-A5E9-624E-BFB0-2C122C63B708}" type="parTrans" cxnId="{B108C3DE-0FE4-E84D-A080-96E053E0BC95}">
      <dgm:prSet/>
      <dgm:spPr/>
      <dgm:t>
        <a:bodyPr/>
        <a:lstStyle/>
        <a:p>
          <a:endParaRPr lang="en-US"/>
        </a:p>
      </dgm:t>
    </dgm:pt>
    <dgm:pt modelId="{517C64F2-7BFF-564C-8C59-A852537375BC}" type="sibTrans" cxnId="{B108C3DE-0FE4-E84D-A080-96E053E0BC95}">
      <dgm:prSet/>
      <dgm:spPr/>
      <dgm:t>
        <a:bodyPr/>
        <a:lstStyle/>
        <a:p>
          <a:endParaRPr lang="en-US"/>
        </a:p>
      </dgm:t>
    </dgm:pt>
    <dgm:pt modelId="{0F749E6E-90AA-744D-B040-AA8A471C8E63}">
      <dgm:prSet phldrT="[Text]" custT="1"/>
      <dgm:spPr>
        <a:solidFill>
          <a:schemeClr val="accent2">
            <a:lumMod val="20000"/>
            <a:lumOff val="80000"/>
          </a:schemeClr>
        </a:solidFill>
      </dgm:spPr>
      <dgm:t>
        <a:bodyPr/>
        <a:lstStyle/>
        <a:p>
          <a:pPr algn="just">
            <a:buNone/>
          </a:pPr>
          <a:endParaRPr lang="en-US" sz="1800" dirty="0">
            <a:solidFill>
              <a:schemeClr val="tx1"/>
            </a:solidFill>
          </a:endParaRPr>
        </a:p>
      </dgm:t>
    </dgm:pt>
    <dgm:pt modelId="{05887BC7-A79F-0246-8D6C-3AD328BEFAE9}" type="parTrans" cxnId="{43CD5992-10AB-474D-BC44-728145CE7AA9}">
      <dgm:prSet/>
      <dgm:spPr/>
      <dgm:t>
        <a:bodyPr/>
        <a:lstStyle/>
        <a:p>
          <a:endParaRPr lang="en-US"/>
        </a:p>
      </dgm:t>
    </dgm:pt>
    <dgm:pt modelId="{915835C5-FC1F-7C49-9E4D-834936ABDB1D}" type="sibTrans" cxnId="{43CD5992-10AB-474D-BC44-728145CE7AA9}">
      <dgm:prSet/>
      <dgm:spPr/>
      <dgm:t>
        <a:bodyPr/>
        <a:lstStyle/>
        <a:p>
          <a:endParaRPr lang="en-US"/>
        </a:p>
      </dgm:t>
    </dgm:pt>
    <dgm:pt modelId="{2267F006-4D86-5840-BD86-522F1C4FE36B}" type="pres">
      <dgm:prSet presAssocID="{BA2AF5BC-60E3-8541-8864-4F28C9F2BF59}" presName="diagram" presStyleCnt="0">
        <dgm:presLayoutVars>
          <dgm:dir/>
          <dgm:resizeHandles val="exact"/>
        </dgm:presLayoutVars>
      </dgm:prSet>
      <dgm:spPr/>
    </dgm:pt>
    <dgm:pt modelId="{79B831A5-711D-4D4A-B56F-A4F6D63D6C13}" type="pres">
      <dgm:prSet presAssocID="{F46E0186-56FE-A745-93AB-3EFFD3428EBE}" presName="node" presStyleLbl="node1" presStyleIdx="0" presStyleCnt="4">
        <dgm:presLayoutVars>
          <dgm:bulletEnabled val="1"/>
        </dgm:presLayoutVars>
      </dgm:prSet>
      <dgm:spPr/>
    </dgm:pt>
    <dgm:pt modelId="{36A67D89-B940-7748-B77E-D9A479FAAB71}" type="pres">
      <dgm:prSet presAssocID="{06CD5965-698E-B746-AD8C-3D42D05ADDBD}" presName="sibTrans" presStyleCnt="0"/>
      <dgm:spPr/>
    </dgm:pt>
    <dgm:pt modelId="{230E0ECE-F143-B24C-9E4D-62F109CAC925}" type="pres">
      <dgm:prSet presAssocID="{AA07CF5C-2921-C842-A860-32B00E23B509}" presName="node" presStyleLbl="node1" presStyleIdx="1" presStyleCnt="4">
        <dgm:presLayoutVars>
          <dgm:bulletEnabled val="1"/>
        </dgm:presLayoutVars>
      </dgm:prSet>
      <dgm:spPr/>
    </dgm:pt>
    <dgm:pt modelId="{0CE66574-747F-184D-A847-34A35A797744}" type="pres">
      <dgm:prSet presAssocID="{895DE975-4270-B944-9686-401F709396A6}" presName="sibTrans" presStyleCnt="0"/>
      <dgm:spPr/>
    </dgm:pt>
    <dgm:pt modelId="{C9378457-7A05-FD4D-B796-355BBEAF5417}" type="pres">
      <dgm:prSet presAssocID="{A51968AF-A7CB-5B4E-8656-F1815D43C2CC}" presName="node" presStyleLbl="node1" presStyleIdx="2" presStyleCnt="4">
        <dgm:presLayoutVars>
          <dgm:bulletEnabled val="1"/>
        </dgm:presLayoutVars>
      </dgm:prSet>
      <dgm:spPr/>
    </dgm:pt>
    <dgm:pt modelId="{F3D38369-3EEC-FE49-A767-E82E95149770}" type="pres">
      <dgm:prSet presAssocID="{CFD8F77A-9045-7848-9F35-528A12D68876}" presName="sibTrans" presStyleCnt="0"/>
      <dgm:spPr/>
    </dgm:pt>
    <dgm:pt modelId="{F2A1F630-CF8F-124E-B501-DC33C45612C6}" type="pres">
      <dgm:prSet presAssocID="{49FCC770-FC46-724B-8B42-999231F3883D}" presName="node" presStyleLbl="node1" presStyleIdx="3" presStyleCnt="4">
        <dgm:presLayoutVars>
          <dgm:bulletEnabled val="1"/>
        </dgm:presLayoutVars>
      </dgm:prSet>
      <dgm:spPr/>
    </dgm:pt>
  </dgm:ptLst>
  <dgm:cxnLst>
    <dgm:cxn modelId="{C957F60B-B1A0-504D-AC5D-77375C857A8B}" srcId="{AA07CF5C-2921-C842-A860-32B00E23B509}" destId="{41B166D0-7162-1D4E-8FDA-821931D3AB3D}" srcOrd="0" destOrd="0" parTransId="{B7634088-3C7A-A94E-AA8D-D5F714B23870}" sibTransId="{8E861D9F-3DD5-B049-95E0-A16725E5E16D}"/>
    <dgm:cxn modelId="{6631D611-3F55-9246-BF1A-4793B6BAF2F5}" type="presOf" srcId="{87AE0D3B-B448-7248-B367-399B311A8E0E}" destId="{F2A1F630-CF8F-124E-B501-DC33C45612C6}" srcOrd="0" destOrd="1" presId="urn:microsoft.com/office/officeart/2005/8/layout/default"/>
    <dgm:cxn modelId="{F42F101B-E5E2-6541-99E1-D1C759050580}" type="presOf" srcId="{F46E0186-56FE-A745-93AB-3EFFD3428EBE}" destId="{79B831A5-711D-4D4A-B56F-A4F6D63D6C13}" srcOrd="0" destOrd="0" presId="urn:microsoft.com/office/officeart/2005/8/layout/default"/>
    <dgm:cxn modelId="{4AE0C231-0D8A-B94B-A64E-99065D00D458}" srcId="{BA2AF5BC-60E3-8541-8864-4F28C9F2BF59}" destId="{A51968AF-A7CB-5B4E-8656-F1815D43C2CC}" srcOrd="2" destOrd="0" parTransId="{7E44049A-AB25-3247-B3D0-76998841B900}" sibTransId="{CFD8F77A-9045-7848-9F35-528A12D68876}"/>
    <dgm:cxn modelId="{42E87332-3E90-6D41-9344-40D39B098014}" type="presOf" srcId="{81B4A25D-E7DD-D741-BE4B-998FEE9C5058}" destId="{F2A1F630-CF8F-124E-B501-DC33C45612C6}" srcOrd="0" destOrd="3" presId="urn:microsoft.com/office/officeart/2005/8/layout/default"/>
    <dgm:cxn modelId="{F794D132-2944-9340-A023-DE1B035D5624}" type="presOf" srcId="{1C4F7063-50B7-FC48-B220-958147F8AB79}" destId="{230E0ECE-F143-B24C-9E4D-62F109CAC925}" srcOrd="0" destOrd="2" presId="urn:microsoft.com/office/officeart/2005/8/layout/default"/>
    <dgm:cxn modelId="{240D4839-DC34-D54D-B286-989413EF4332}" type="presOf" srcId="{2528F6AB-236A-1040-9B8A-9396E24164BC}" destId="{F2A1F630-CF8F-124E-B501-DC33C45612C6}" srcOrd="0" destOrd="2" presId="urn:microsoft.com/office/officeart/2005/8/layout/default"/>
    <dgm:cxn modelId="{5F06FE3A-13E2-1A43-AC4D-A43C94BBDE66}" srcId="{49FCC770-FC46-724B-8B42-999231F3883D}" destId="{2528F6AB-236A-1040-9B8A-9396E24164BC}" srcOrd="1" destOrd="0" parTransId="{628564C8-1D01-FD45-8422-0CE960EE4C75}" sibTransId="{78E235B9-0FB0-434E-BEF7-FF43049A8EEA}"/>
    <dgm:cxn modelId="{B91D2C49-0B3C-A74F-8FDB-234CF97DB8A0}" srcId="{49FCC770-FC46-724B-8B42-999231F3883D}" destId="{81B4A25D-E7DD-D741-BE4B-998FEE9C5058}" srcOrd="2" destOrd="0" parTransId="{676968CC-6B2D-E84B-96D1-10E2C2D0CCA3}" sibTransId="{AFB83FB0-6767-A944-9B4D-2F2576FCF907}"/>
    <dgm:cxn modelId="{AC86CF4A-80C7-5548-A4A9-C6E9CAA70526}" type="presOf" srcId="{C4AA0D6C-EACD-6042-ADE1-8700E6D2A5DE}" destId="{79B831A5-711D-4D4A-B56F-A4F6D63D6C13}" srcOrd="0" destOrd="2" presId="urn:microsoft.com/office/officeart/2005/8/layout/default"/>
    <dgm:cxn modelId="{C82A2B58-6D32-A847-A183-11FA84FED798}" type="presOf" srcId="{0F749E6E-90AA-744D-B040-AA8A471C8E63}" destId="{C9378457-7A05-FD4D-B796-355BBEAF5417}" srcOrd="0" destOrd="2" presId="urn:microsoft.com/office/officeart/2005/8/layout/default"/>
    <dgm:cxn modelId="{E02B955D-9502-D542-AF77-847CA31EE064}" srcId="{F46E0186-56FE-A745-93AB-3EFFD3428EBE}" destId="{1E464050-1747-3244-9B57-3FD157FF1855}" srcOrd="2" destOrd="0" parTransId="{27F4F252-E5AA-1D42-81EF-5290F30C73A4}" sibTransId="{9723EB83-B998-A641-B0C7-8211F476F11B}"/>
    <dgm:cxn modelId="{76C00E61-E278-904B-A299-2B18487532A3}" srcId="{49FCC770-FC46-724B-8B42-999231F3883D}" destId="{87AE0D3B-B448-7248-B367-399B311A8E0E}" srcOrd="0" destOrd="0" parTransId="{9DC4FAA6-49B4-A94E-BB21-B2007FD1C6EE}" sibTransId="{3ACCDBAF-31B0-9041-8EB7-052FB1EAA56B}"/>
    <dgm:cxn modelId="{EBEEE367-A602-3D4A-875E-215B23143C8F}" srcId="{A51968AF-A7CB-5B4E-8656-F1815D43C2CC}" destId="{64E414A6-3B47-DA46-A25C-F513E52618F1}" srcOrd="0" destOrd="0" parTransId="{194B8AC5-E6BA-5646-9AB8-556A09297BDA}" sibTransId="{5D6CBBE3-99BE-464B-9366-3623B694561F}"/>
    <dgm:cxn modelId="{AC678887-1EBB-3743-8582-6F3A2B33CBD3}" srcId="{A51968AF-A7CB-5B4E-8656-F1815D43C2CC}" destId="{0CEAF519-1C3B-3C43-95FD-B4C9F87D1E60}" srcOrd="2" destOrd="0" parTransId="{CC7B24E6-727E-8740-AEB1-B367388B3656}" sibTransId="{427C35D3-FBEB-2E47-938B-233EF658C6EE}"/>
    <dgm:cxn modelId="{13793690-3187-1D40-8108-514BEAC24C10}" srcId="{BA2AF5BC-60E3-8541-8864-4F28C9F2BF59}" destId="{49FCC770-FC46-724B-8B42-999231F3883D}" srcOrd="3" destOrd="0" parTransId="{55810CB1-660B-BD42-BFCA-9B7F6D9D018E}" sibTransId="{70AE20F3-F2B9-8D4E-9E6F-C4FCB047460F}"/>
    <dgm:cxn modelId="{F0886790-ED2F-9B43-BD02-C62987C4CC94}" type="presOf" srcId="{9C26BD6F-4A74-6B4A-8FA9-3EC23DFE0336}" destId="{79B831A5-711D-4D4A-B56F-A4F6D63D6C13}" srcOrd="0" destOrd="1" presId="urn:microsoft.com/office/officeart/2005/8/layout/default"/>
    <dgm:cxn modelId="{43CD5992-10AB-474D-BC44-728145CE7AA9}" srcId="{A51968AF-A7CB-5B4E-8656-F1815D43C2CC}" destId="{0F749E6E-90AA-744D-B040-AA8A471C8E63}" srcOrd="1" destOrd="0" parTransId="{05887BC7-A79F-0246-8D6C-3AD328BEFAE9}" sibTransId="{915835C5-FC1F-7C49-9E4D-834936ABDB1D}"/>
    <dgm:cxn modelId="{17AF3C98-CC08-2E42-9217-DA6ADF50F6BA}" type="presOf" srcId="{1E464050-1747-3244-9B57-3FD157FF1855}" destId="{79B831A5-711D-4D4A-B56F-A4F6D63D6C13}" srcOrd="0" destOrd="3" presId="urn:microsoft.com/office/officeart/2005/8/layout/default"/>
    <dgm:cxn modelId="{1903B39A-B1AE-C841-A4AB-E495762BC503}" srcId="{F46E0186-56FE-A745-93AB-3EFFD3428EBE}" destId="{C4AA0D6C-EACD-6042-ADE1-8700E6D2A5DE}" srcOrd="1" destOrd="0" parTransId="{49B5CC91-C0BB-6443-86A0-0F77C4BA9558}" sibTransId="{E74C5394-01B1-8D46-A6FF-84027DE6EB94}"/>
    <dgm:cxn modelId="{0888BE9D-973A-6844-BA7D-205A09FDCAE8}" type="presOf" srcId="{0CEAF519-1C3B-3C43-95FD-B4C9F87D1E60}" destId="{C9378457-7A05-FD4D-B796-355BBEAF5417}" srcOrd="0" destOrd="3" presId="urn:microsoft.com/office/officeart/2005/8/layout/default"/>
    <dgm:cxn modelId="{7026CD9F-070F-0A48-8307-608B7650D57C}" type="presOf" srcId="{49FCC770-FC46-724B-8B42-999231F3883D}" destId="{F2A1F630-CF8F-124E-B501-DC33C45612C6}" srcOrd="0" destOrd="0" presId="urn:microsoft.com/office/officeart/2005/8/layout/default"/>
    <dgm:cxn modelId="{5C0E0FAE-FA5B-7A4E-86C1-AE92143A4E00}" srcId="{BA2AF5BC-60E3-8541-8864-4F28C9F2BF59}" destId="{AA07CF5C-2921-C842-A860-32B00E23B509}" srcOrd="1" destOrd="0" parTransId="{9257E34B-3492-B245-9D4D-BD32D97CC5BB}" sibTransId="{895DE975-4270-B944-9686-401F709396A6}"/>
    <dgm:cxn modelId="{45E483AE-013A-BA4D-85E3-28FF34C98B34}" type="presOf" srcId="{AA07CF5C-2921-C842-A860-32B00E23B509}" destId="{230E0ECE-F143-B24C-9E4D-62F109CAC925}" srcOrd="0" destOrd="0" presId="urn:microsoft.com/office/officeart/2005/8/layout/default"/>
    <dgm:cxn modelId="{72E66FB4-6E45-AD42-B54A-B9B0BB9CF612}" srcId="{BA2AF5BC-60E3-8541-8864-4F28C9F2BF59}" destId="{F46E0186-56FE-A745-93AB-3EFFD3428EBE}" srcOrd="0" destOrd="0" parTransId="{B93B2ED3-1F66-F544-BA8F-AEAA75BFE5F8}" sibTransId="{06CD5965-698E-B746-AD8C-3D42D05ADDBD}"/>
    <dgm:cxn modelId="{BBB758C1-E375-7B4A-B681-FA9C21A9F99E}" type="presOf" srcId="{A7F12DDC-AFF2-504D-A40A-16CC592BCD4A}" destId="{230E0ECE-F143-B24C-9E4D-62F109CAC925}" srcOrd="0" destOrd="3" presId="urn:microsoft.com/office/officeart/2005/8/layout/default"/>
    <dgm:cxn modelId="{C69C83C7-A2A8-2744-8253-9D3248B65A7B}" srcId="{F46E0186-56FE-A745-93AB-3EFFD3428EBE}" destId="{9C26BD6F-4A74-6B4A-8FA9-3EC23DFE0336}" srcOrd="0" destOrd="0" parTransId="{32416553-E9D9-9E4C-B37A-C5D949DD5DD9}" sibTransId="{A63F58B7-7B49-4F4B-ACC1-300B210F0929}"/>
    <dgm:cxn modelId="{35B10BCD-BE2C-A94C-9F74-F329856AA635}" type="presOf" srcId="{BA2AF5BC-60E3-8541-8864-4F28C9F2BF59}" destId="{2267F006-4D86-5840-BD86-522F1C4FE36B}" srcOrd="0" destOrd="0" presId="urn:microsoft.com/office/officeart/2005/8/layout/default"/>
    <dgm:cxn modelId="{B108C3DE-0FE4-E84D-A080-96E053E0BC95}" srcId="{AA07CF5C-2921-C842-A860-32B00E23B509}" destId="{1C4F7063-50B7-FC48-B220-958147F8AB79}" srcOrd="1" destOrd="0" parTransId="{9B24AB54-A5E9-624E-BFB0-2C122C63B708}" sibTransId="{517C64F2-7BFF-564C-8C59-A852537375BC}"/>
    <dgm:cxn modelId="{E8F078DF-8034-2047-9143-3ECC704E924E}" type="presOf" srcId="{41B166D0-7162-1D4E-8FDA-821931D3AB3D}" destId="{230E0ECE-F143-B24C-9E4D-62F109CAC925}" srcOrd="0" destOrd="1" presId="urn:microsoft.com/office/officeart/2005/8/layout/default"/>
    <dgm:cxn modelId="{8BAB1BE0-A60F-9240-8550-73521236C4C9}" srcId="{AA07CF5C-2921-C842-A860-32B00E23B509}" destId="{A7F12DDC-AFF2-504D-A40A-16CC592BCD4A}" srcOrd="2" destOrd="0" parTransId="{270853BE-451D-C348-A41D-46BFC7664B74}" sibTransId="{100C07D3-35B8-8848-9998-84F96EF61ACF}"/>
    <dgm:cxn modelId="{112DABEA-58E2-7441-AF35-47FE5424FA4F}" type="presOf" srcId="{A51968AF-A7CB-5B4E-8656-F1815D43C2CC}" destId="{C9378457-7A05-FD4D-B796-355BBEAF5417}" srcOrd="0" destOrd="0" presId="urn:microsoft.com/office/officeart/2005/8/layout/default"/>
    <dgm:cxn modelId="{92C64AF8-096B-414F-8BC4-62B8016803B2}" type="presOf" srcId="{64E414A6-3B47-DA46-A25C-F513E52618F1}" destId="{C9378457-7A05-FD4D-B796-355BBEAF5417}" srcOrd="0" destOrd="1" presId="urn:microsoft.com/office/officeart/2005/8/layout/default"/>
    <dgm:cxn modelId="{86CED733-78A4-DC43-B2A3-227C67494F12}" type="presParOf" srcId="{2267F006-4D86-5840-BD86-522F1C4FE36B}" destId="{79B831A5-711D-4D4A-B56F-A4F6D63D6C13}" srcOrd="0" destOrd="0" presId="urn:microsoft.com/office/officeart/2005/8/layout/default"/>
    <dgm:cxn modelId="{33F66D39-8D42-9648-9497-6B5F3FF917F9}" type="presParOf" srcId="{2267F006-4D86-5840-BD86-522F1C4FE36B}" destId="{36A67D89-B940-7748-B77E-D9A479FAAB71}" srcOrd="1" destOrd="0" presId="urn:microsoft.com/office/officeart/2005/8/layout/default"/>
    <dgm:cxn modelId="{E05F348E-551A-FB41-9286-8CC8D18D1764}" type="presParOf" srcId="{2267F006-4D86-5840-BD86-522F1C4FE36B}" destId="{230E0ECE-F143-B24C-9E4D-62F109CAC925}" srcOrd="2" destOrd="0" presId="urn:microsoft.com/office/officeart/2005/8/layout/default"/>
    <dgm:cxn modelId="{3F62EE63-3AAA-AF42-9C6F-481530773FCE}" type="presParOf" srcId="{2267F006-4D86-5840-BD86-522F1C4FE36B}" destId="{0CE66574-747F-184D-A847-34A35A797744}" srcOrd="3" destOrd="0" presId="urn:microsoft.com/office/officeart/2005/8/layout/default"/>
    <dgm:cxn modelId="{E06346F6-F86E-E54B-99E1-9F8E94848C62}" type="presParOf" srcId="{2267F006-4D86-5840-BD86-522F1C4FE36B}" destId="{C9378457-7A05-FD4D-B796-355BBEAF5417}" srcOrd="4" destOrd="0" presId="urn:microsoft.com/office/officeart/2005/8/layout/default"/>
    <dgm:cxn modelId="{B7E833B6-B3D6-8347-9319-8E74DDAD3590}" type="presParOf" srcId="{2267F006-4D86-5840-BD86-522F1C4FE36B}" destId="{F3D38369-3EEC-FE49-A767-E82E95149770}" srcOrd="5" destOrd="0" presId="urn:microsoft.com/office/officeart/2005/8/layout/default"/>
    <dgm:cxn modelId="{630839A4-DF99-EC4A-860A-35A16A865C18}" type="presParOf" srcId="{2267F006-4D86-5840-BD86-522F1C4FE36B}" destId="{F2A1F630-CF8F-124E-B501-DC33C45612C6}"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A2AF5BC-60E3-8541-8864-4F28C9F2BF59}" type="doc">
      <dgm:prSet loTypeId="urn:microsoft.com/office/officeart/2005/8/layout/default" loCatId="" qsTypeId="urn:microsoft.com/office/officeart/2005/8/quickstyle/simple1" qsCatId="simple" csTypeId="urn:microsoft.com/office/officeart/2005/8/colors/colorful1" csCatId="colorful" phldr="1"/>
      <dgm:spPr/>
      <dgm:t>
        <a:bodyPr/>
        <a:lstStyle/>
        <a:p>
          <a:endParaRPr lang="en-US"/>
        </a:p>
      </dgm:t>
    </dgm:pt>
    <dgm:pt modelId="{F46E0186-56FE-A745-93AB-3EFFD3428EBE}">
      <dgm:prSet phldrT="[Text]"/>
      <dgm:spPr>
        <a:blipFill>
          <a:blip xmlns:r="http://schemas.openxmlformats.org/officeDocument/2006/relationships" r:embed="rId1"/>
          <a:stretch>
            <a:fillRect l="-2890" t="-2885" r="-1734"/>
          </a:stretch>
        </a:blipFill>
      </dgm:spPr>
      <dgm:t>
        <a:bodyPr/>
        <a:lstStyle/>
        <a:p>
          <a:r>
            <a:rPr lang="en-US">
              <a:noFill/>
            </a:rPr>
            <a:t> </a:t>
          </a:r>
        </a:p>
      </dgm:t>
    </dgm:pt>
    <dgm:pt modelId="{B93B2ED3-1F66-F544-BA8F-AEAA75BFE5F8}" type="parTrans" cxnId="{72E66FB4-6E45-AD42-B54A-B9B0BB9CF612}">
      <dgm:prSet/>
      <dgm:spPr/>
      <dgm:t>
        <a:bodyPr/>
        <a:lstStyle/>
        <a:p>
          <a:endParaRPr lang="en-US"/>
        </a:p>
      </dgm:t>
    </dgm:pt>
    <dgm:pt modelId="{06CD5965-698E-B746-AD8C-3D42D05ADDBD}" type="sibTrans" cxnId="{72E66FB4-6E45-AD42-B54A-B9B0BB9CF612}">
      <dgm:prSet/>
      <dgm:spPr/>
      <dgm:t>
        <a:bodyPr/>
        <a:lstStyle/>
        <a:p>
          <a:endParaRPr lang="en-US"/>
        </a:p>
      </dgm:t>
    </dgm:pt>
    <dgm:pt modelId="{1E464050-1747-3244-9B57-3FD157FF1855}">
      <dgm:prSet phldrT="[Text]" custT="1"/>
      <dgm:spPr>
        <a:solidFill>
          <a:srgbClr val="FFFDD0"/>
        </a:solidFill>
      </dgm:spPr>
      <dgm:t>
        <a:bodyPr/>
        <a:lstStyle/>
        <a:p>
          <a:r>
            <a:rPr lang="en-US">
              <a:noFill/>
            </a:rPr>
            <a:t> </a:t>
          </a:r>
        </a:p>
      </dgm:t>
    </dgm:pt>
    <dgm:pt modelId="{27F4F252-E5AA-1D42-81EF-5290F30C73A4}" type="parTrans" cxnId="{E02B955D-9502-D542-AF77-847CA31EE064}">
      <dgm:prSet/>
      <dgm:spPr/>
      <dgm:t>
        <a:bodyPr/>
        <a:lstStyle/>
        <a:p>
          <a:endParaRPr lang="en-US"/>
        </a:p>
      </dgm:t>
    </dgm:pt>
    <dgm:pt modelId="{9723EB83-B998-A641-B0C7-8211F476F11B}" type="sibTrans" cxnId="{E02B955D-9502-D542-AF77-847CA31EE064}">
      <dgm:prSet/>
      <dgm:spPr/>
      <dgm:t>
        <a:bodyPr/>
        <a:lstStyle/>
        <a:p>
          <a:endParaRPr lang="en-US"/>
        </a:p>
      </dgm:t>
    </dgm:pt>
    <dgm:pt modelId="{AA07CF5C-2921-C842-A860-32B00E23B509}">
      <dgm:prSet phldrT="[Text]"/>
      <dgm:spPr>
        <a:blipFill>
          <a:blip xmlns:r="http://schemas.openxmlformats.org/officeDocument/2006/relationships" r:embed="rId2"/>
          <a:stretch>
            <a:fillRect l="-3179" t="-2885" r="-1734"/>
          </a:stretch>
        </a:blipFill>
      </dgm:spPr>
      <dgm:t>
        <a:bodyPr/>
        <a:lstStyle/>
        <a:p>
          <a:r>
            <a:rPr lang="en-US">
              <a:noFill/>
            </a:rPr>
            <a:t> </a:t>
          </a:r>
        </a:p>
      </dgm:t>
    </dgm:pt>
    <dgm:pt modelId="{9257E34B-3492-B245-9D4D-BD32D97CC5BB}" type="parTrans" cxnId="{5C0E0FAE-FA5B-7A4E-86C1-AE92143A4E00}">
      <dgm:prSet/>
      <dgm:spPr/>
      <dgm:t>
        <a:bodyPr/>
        <a:lstStyle/>
        <a:p>
          <a:endParaRPr lang="en-US"/>
        </a:p>
      </dgm:t>
    </dgm:pt>
    <dgm:pt modelId="{895DE975-4270-B944-9686-401F709396A6}" type="sibTrans" cxnId="{5C0E0FAE-FA5B-7A4E-86C1-AE92143A4E00}">
      <dgm:prSet/>
      <dgm:spPr/>
      <dgm:t>
        <a:bodyPr/>
        <a:lstStyle/>
        <a:p>
          <a:endParaRPr lang="en-US"/>
        </a:p>
      </dgm:t>
    </dgm:pt>
    <dgm:pt modelId="{41B166D0-7162-1D4E-8FDA-821931D3AB3D}">
      <dgm:prSet phldrT="[Text]" custT="1"/>
      <dgm:spPr>
        <a:solidFill>
          <a:schemeClr val="bg1">
            <a:lumMod val="95000"/>
          </a:schemeClr>
        </a:solidFill>
      </dgm:spPr>
      <dgm:t>
        <a:bodyPr/>
        <a:lstStyle/>
        <a:p>
          <a:r>
            <a:rPr lang="en-US">
              <a:noFill/>
            </a:rPr>
            <a:t> </a:t>
          </a:r>
        </a:p>
      </dgm:t>
    </dgm:pt>
    <dgm:pt modelId="{B7634088-3C7A-A94E-AA8D-D5F714B23870}" type="parTrans" cxnId="{C957F60B-B1A0-504D-AC5D-77375C857A8B}">
      <dgm:prSet/>
      <dgm:spPr/>
      <dgm:t>
        <a:bodyPr/>
        <a:lstStyle/>
        <a:p>
          <a:endParaRPr lang="en-US"/>
        </a:p>
      </dgm:t>
    </dgm:pt>
    <dgm:pt modelId="{8E861D9F-3DD5-B049-95E0-A16725E5E16D}" type="sibTrans" cxnId="{C957F60B-B1A0-504D-AC5D-77375C857A8B}">
      <dgm:prSet/>
      <dgm:spPr/>
      <dgm:t>
        <a:bodyPr/>
        <a:lstStyle/>
        <a:p>
          <a:endParaRPr lang="en-US"/>
        </a:p>
      </dgm:t>
    </dgm:pt>
    <dgm:pt modelId="{9C26BD6F-4A74-6B4A-8FA9-3EC23DFE0336}">
      <dgm:prSet phldrT="[Text]" custT="1"/>
      <dgm:spPr>
        <a:solidFill>
          <a:srgbClr val="FFFDD0"/>
        </a:solidFill>
      </dgm:spPr>
      <dgm:t>
        <a:bodyPr/>
        <a:lstStyle/>
        <a:p>
          <a:r>
            <a:rPr lang="en-US">
              <a:noFill/>
            </a:rPr>
            <a:t> </a:t>
          </a:r>
        </a:p>
      </dgm:t>
    </dgm:pt>
    <dgm:pt modelId="{32416553-E9D9-9E4C-B37A-C5D949DD5DD9}" type="parTrans" cxnId="{C69C83C7-A2A8-2744-8253-9D3248B65A7B}">
      <dgm:prSet/>
      <dgm:spPr/>
      <dgm:t>
        <a:bodyPr/>
        <a:lstStyle/>
        <a:p>
          <a:endParaRPr lang="en-US"/>
        </a:p>
      </dgm:t>
    </dgm:pt>
    <dgm:pt modelId="{A63F58B7-7B49-4F4B-ACC1-300B210F0929}" type="sibTrans" cxnId="{C69C83C7-A2A8-2744-8253-9D3248B65A7B}">
      <dgm:prSet/>
      <dgm:spPr/>
      <dgm:t>
        <a:bodyPr/>
        <a:lstStyle/>
        <a:p>
          <a:endParaRPr lang="en-US"/>
        </a:p>
      </dgm:t>
    </dgm:pt>
    <dgm:pt modelId="{A7F12DDC-AFF2-504D-A40A-16CC592BCD4A}">
      <dgm:prSet phldrT="[Text]" custT="1"/>
      <dgm:spPr>
        <a:solidFill>
          <a:schemeClr val="bg1">
            <a:lumMod val="95000"/>
          </a:schemeClr>
        </a:solidFill>
      </dgm:spPr>
      <dgm:t>
        <a:bodyPr/>
        <a:lstStyle/>
        <a:p>
          <a:r>
            <a:rPr lang="en-US">
              <a:noFill/>
            </a:rPr>
            <a:t> </a:t>
          </a:r>
        </a:p>
      </dgm:t>
    </dgm:pt>
    <dgm:pt modelId="{270853BE-451D-C348-A41D-46BFC7664B74}" type="parTrans" cxnId="{8BAB1BE0-A60F-9240-8550-73521236C4C9}">
      <dgm:prSet/>
      <dgm:spPr/>
      <dgm:t>
        <a:bodyPr/>
        <a:lstStyle/>
        <a:p>
          <a:endParaRPr lang="en-US"/>
        </a:p>
      </dgm:t>
    </dgm:pt>
    <dgm:pt modelId="{100C07D3-35B8-8848-9998-84F96EF61ACF}" type="sibTrans" cxnId="{8BAB1BE0-A60F-9240-8550-73521236C4C9}">
      <dgm:prSet/>
      <dgm:spPr/>
      <dgm:t>
        <a:bodyPr/>
        <a:lstStyle/>
        <a:p>
          <a:endParaRPr lang="en-US"/>
        </a:p>
      </dgm:t>
    </dgm:pt>
    <dgm:pt modelId="{A51968AF-A7CB-5B4E-8656-F1815D43C2CC}">
      <dgm:prSet phldrT="[Text]"/>
      <dgm:spPr>
        <a:blipFill>
          <a:blip xmlns:r="http://schemas.openxmlformats.org/officeDocument/2006/relationships" r:embed="rId3"/>
          <a:stretch>
            <a:fillRect l="-3179" t="-3365" r="-1734"/>
          </a:stretch>
        </a:blipFill>
      </dgm:spPr>
      <dgm:t>
        <a:bodyPr/>
        <a:lstStyle/>
        <a:p>
          <a:r>
            <a:rPr lang="en-US">
              <a:noFill/>
            </a:rPr>
            <a:t> </a:t>
          </a:r>
        </a:p>
      </dgm:t>
    </dgm:pt>
    <dgm:pt modelId="{7E44049A-AB25-3247-B3D0-76998841B900}" type="parTrans" cxnId="{4AE0C231-0D8A-B94B-A64E-99065D00D458}">
      <dgm:prSet/>
      <dgm:spPr/>
      <dgm:t>
        <a:bodyPr/>
        <a:lstStyle/>
        <a:p>
          <a:endParaRPr lang="en-US"/>
        </a:p>
      </dgm:t>
    </dgm:pt>
    <dgm:pt modelId="{CFD8F77A-9045-7848-9F35-528A12D68876}" type="sibTrans" cxnId="{4AE0C231-0D8A-B94B-A64E-99065D00D458}">
      <dgm:prSet/>
      <dgm:spPr/>
      <dgm:t>
        <a:bodyPr/>
        <a:lstStyle/>
        <a:p>
          <a:endParaRPr lang="en-US"/>
        </a:p>
      </dgm:t>
    </dgm:pt>
    <dgm:pt modelId="{64E414A6-3B47-DA46-A25C-F513E52618F1}">
      <dgm:prSet phldrT="[Text]" custT="1"/>
      <dgm:spPr>
        <a:solidFill>
          <a:schemeClr val="accent2">
            <a:lumMod val="20000"/>
            <a:lumOff val="80000"/>
          </a:schemeClr>
        </a:solidFill>
      </dgm:spPr>
      <dgm:t>
        <a:bodyPr/>
        <a:lstStyle/>
        <a:p>
          <a:r>
            <a:rPr lang="en-US">
              <a:noFill/>
            </a:rPr>
            <a:t> </a:t>
          </a:r>
        </a:p>
      </dgm:t>
    </dgm:pt>
    <dgm:pt modelId="{194B8AC5-E6BA-5646-9AB8-556A09297BDA}" type="parTrans" cxnId="{EBEEE367-A602-3D4A-875E-215B23143C8F}">
      <dgm:prSet/>
      <dgm:spPr/>
      <dgm:t>
        <a:bodyPr/>
        <a:lstStyle/>
        <a:p>
          <a:endParaRPr lang="en-US"/>
        </a:p>
      </dgm:t>
    </dgm:pt>
    <dgm:pt modelId="{5D6CBBE3-99BE-464B-9366-3623B694561F}" type="sibTrans" cxnId="{EBEEE367-A602-3D4A-875E-215B23143C8F}">
      <dgm:prSet/>
      <dgm:spPr/>
      <dgm:t>
        <a:bodyPr/>
        <a:lstStyle/>
        <a:p>
          <a:endParaRPr lang="en-US"/>
        </a:p>
      </dgm:t>
    </dgm:pt>
    <dgm:pt modelId="{0CEAF519-1C3B-3C43-95FD-B4C9F87D1E60}">
      <dgm:prSet phldrT="[Text]" custT="1"/>
      <dgm:spPr>
        <a:solidFill>
          <a:schemeClr val="accent2">
            <a:lumMod val="20000"/>
            <a:lumOff val="80000"/>
          </a:schemeClr>
        </a:solidFill>
      </dgm:spPr>
      <dgm:t>
        <a:bodyPr/>
        <a:lstStyle/>
        <a:p>
          <a:r>
            <a:rPr lang="en-US">
              <a:noFill/>
            </a:rPr>
            <a:t> </a:t>
          </a:r>
        </a:p>
      </dgm:t>
    </dgm:pt>
    <dgm:pt modelId="{CC7B24E6-727E-8740-AEB1-B367388B3656}" type="parTrans" cxnId="{AC678887-1EBB-3743-8582-6F3A2B33CBD3}">
      <dgm:prSet/>
      <dgm:spPr/>
      <dgm:t>
        <a:bodyPr/>
        <a:lstStyle/>
        <a:p>
          <a:endParaRPr lang="en-US"/>
        </a:p>
      </dgm:t>
    </dgm:pt>
    <dgm:pt modelId="{427C35D3-FBEB-2E47-938B-233EF658C6EE}" type="sibTrans" cxnId="{AC678887-1EBB-3743-8582-6F3A2B33CBD3}">
      <dgm:prSet/>
      <dgm:spPr/>
      <dgm:t>
        <a:bodyPr/>
        <a:lstStyle/>
        <a:p>
          <a:endParaRPr lang="en-US"/>
        </a:p>
      </dgm:t>
    </dgm:pt>
    <dgm:pt modelId="{49FCC770-FC46-724B-8B42-999231F3883D}">
      <dgm:prSet phldrT="[Text]"/>
      <dgm:spPr>
        <a:blipFill>
          <a:blip xmlns:r="http://schemas.openxmlformats.org/officeDocument/2006/relationships" r:embed="rId4"/>
          <a:stretch>
            <a:fillRect l="-2601" t="-2885" r="-1734"/>
          </a:stretch>
        </a:blipFill>
      </dgm:spPr>
      <dgm:t>
        <a:bodyPr/>
        <a:lstStyle/>
        <a:p>
          <a:r>
            <a:rPr lang="en-US">
              <a:noFill/>
            </a:rPr>
            <a:t> </a:t>
          </a:r>
        </a:p>
      </dgm:t>
    </dgm:pt>
    <dgm:pt modelId="{55810CB1-660B-BD42-BFCA-9B7F6D9D018E}" type="parTrans" cxnId="{13793690-3187-1D40-8108-514BEAC24C10}">
      <dgm:prSet/>
      <dgm:spPr/>
      <dgm:t>
        <a:bodyPr/>
        <a:lstStyle/>
        <a:p>
          <a:endParaRPr lang="en-US"/>
        </a:p>
      </dgm:t>
    </dgm:pt>
    <dgm:pt modelId="{70AE20F3-F2B9-8D4E-9E6F-C4FCB047460F}" type="sibTrans" cxnId="{13793690-3187-1D40-8108-514BEAC24C10}">
      <dgm:prSet/>
      <dgm:spPr/>
      <dgm:t>
        <a:bodyPr/>
        <a:lstStyle/>
        <a:p>
          <a:endParaRPr lang="en-US"/>
        </a:p>
      </dgm:t>
    </dgm:pt>
    <dgm:pt modelId="{81B4A25D-E7DD-D741-BE4B-998FEE9C5058}">
      <dgm:prSet custT="1"/>
      <dgm:spPr>
        <a:solidFill>
          <a:schemeClr val="accent5">
            <a:lumMod val="20000"/>
            <a:lumOff val="80000"/>
          </a:schemeClr>
        </a:solidFill>
      </dgm:spPr>
      <dgm:t>
        <a:bodyPr/>
        <a:lstStyle/>
        <a:p>
          <a:r>
            <a:rPr lang="en-US">
              <a:noFill/>
            </a:rPr>
            <a:t> </a:t>
          </a:r>
        </a:p>
      </dgm:t>
    </dgm:pt>
    <dgm:pt modelId="{676968CC-6B2D-E84B-96D1-10E2C2D0CCA3}" type="parTrans" cxnId="{B91D2C49-0B3C-A74F-8FDB-234CF97DB8A0}">
      <dgm:prSet/>
      <dgm:spPr/>
      <dgm:t>
        <a:bodyPr/>
        <a:lstStyle/>
        <a:p>
          <a:endParaRPr lang="en-US"/>
        </a:p>
      </dgm:t>
    </dgm:pt>
    <dgm:pt modelId="{AFB83FB0-6767-A944-9B4D-2F2576FCF907}" type="sibTrans" cxnId="{B91D2C49-0B3C-A74F-8FDB-234CF97DB8A0}">
      <dgm:prSet/>
      <dgm:spPr/>
      <dgm:t>
        <a:bodyPr/>
        <a:lstStyle/>
        <a:p>
          <a:endParaRPr lang="en-US"/>
        </a:p>
      </dgm:t>
    </dgm:pt>
    <dgm:pt modelId="{87AE0D3B-B448-7248-B367-399B311A8E0E}">
      <dgm:prSet custT="1"/>
      <dgm:spPr>
        <a:solidFill>
          <a:schemeClr val="accent5">
            <a:lumMod val="20000"/>
            <a:lumOff val="80000"/>
          </a:schemeClr>
        </a:solidFill>
      </dgm:spPr>
      <dgm:t>
        <a:bodyPr/>
        <a:lstStyle/>
        <a:p>
          <a:r>
            <a:rPr lang="en-US">
              <a:noFill/>
            </a:rPr>
            <a:t> </a:t>
          </a:r>
        </a:p>
      </dgm:t>
    </dgm:pt>
    <dgm:pt modelId="{9DC4FAA6-49B4-A94E-BB21-B2007FD1C6EE}" type="parTrans" cxnId="{76C00E61-E278-904B-A299-2B18487532A3}">
      <dgm:prSet/>
      <dgm:spPr/>
      <dgm:t>
        <a:bodyPr/>
        <a:lstStyle/>
        <a:p>
          <a:endParaRPr lang="en-US"/>
        </a:p>
      </dgm:t>
    </dgm:pt>
    <dgm:pt modelId="{3ACCDBAF-31B0-9041-8EB7-052FB1EAA56B}" type="sibTrans" cxnId="{76C00E61-E278-904B-A299-2B18487532A3}">
      <dgm:prSet/>
      <dgm:spPr/>
      <dgm:t>
        <a:bodyPr/>
        <a:lstStyle/>
        <a:p>
          <a:endParaRPr lang="en-US"/>
        </a:p>
      </dgm:t>
    </dgm:pt>
    <dgm:pt modelId="{C4AA0D6C-EACD-6042-ADE1-8700E6D2A5DE}">
      <dgm:prSet phldrT="[Text]" custT="1"/>
      <dgm:spPr>
        <a:solidFill>
          <a:srgbClr val="FFFDD0"/>
        </a:solidFill>
      </dgm:spPr>
      <dgm:t>
        <a:bodyPr/>
        <a:lstStyle/>
        <a:p>
          <a:r>
            <a:rPr lang="en-US">
              <a:noFill/>
            </a:rPr>
            <a:t> </a:t>
          </a:r>
        </a:p>
      </dgm:t>
    </dgm:pt>
    <dgm:pt modelId="{49B5CC91-C0BB-6443-86A0-0F77C4BA9558}" type="parTrans" cxnId="{1903B39A-B1AE-C841-A4AB-E495762BC503}">
      <dgm:prSet/>
      <dgm:spPr/>
      <dgm:t>
        <a:bodyPr/>
        <a:lstStyle/>
        <a:p>
          <a:endParaRPr lang="en-US"/>
        </a:p>
      </dgm:t>
    </dgm:pt>
    <dgm:pt modelId="{E74C5394-01B1-8D46-A6FF-84027DE6EB94}" type="sibTrans" cxnId="{1903B39A-B1AE-C841-A4AB-E495762BC503}">
      <dgm:prSet/>
      <dgm:spPr/>
      <dgm:t>
        <a:bodyPr/>
        <a:lstStyle/>
        <a:p>
          <a:endParaRPr lang="en-US"/>
        </a:p>
      </dgm:t>
    </dgm:pt>
    <dgm:pt modelId="{2528F6AB-236A-1040-9B8A-9396E24164BC}">
      <dgm:prSet custT="1"/>
      <dgm:spPr>
        <a:solidFill>
          <a:schemeClr val="accent5">
            <a:lumMod val="20000"/>
            <a:lumOff val="80000"/>
          </a:schemeClr>
        </a:solidFill>
      </dgm:spPr>
      <dgm:t>
        <a:bodyPr/>
        <a:lstStyle/>
        <a:p>
          <a:r>
            <a:rPr lang="en-US">
              <a:noFill/>
            </a:rPr>
            <a:t> </a:t>
          </a:r>
        </a:p>
      </dgm:t>
    </dgm:pt>
    <dgm:pt modelId="{628564C8-1D01-FD45-8422-0CE960EE4C75}" type="parTrans" cxnId="{5F06FE3A-13E2-1A43-AC4D-A43C94BBDE66}">
      <dgm:prSet/>
      <dgm:spPr/>
      <dgm:t>
        <a:bodyPr/>
        <a:lstStyle/>
        <a:p>
          <a:endParaRPr lang="en-US"/>
        </a:p>
      </dgm:t>
    </dgm:pt>
    <dgm:pt modelId="{78E235B9-0FB0-434E-BEF7-FF43049A8EEA}" type="sibTrans" cxnId="{5F06FE3A-13E2-1A43-AC4D-A43C94BBDE66}">
      <dgm:prSet/>
      <dgm:spPr/>
      <dgm:t>
        <a:bodyPr/>
        <a:lstStyle/>
        <a:p>
          <a:endParaRPr lang="en-US"/>
        </a:p>
      </dgm:t>
    </dgm:pt>
    <dgm:pt modelId="{1C4F7063-50B7-FC48-B220-958147F8AB79}">
      <dgm:prSet phldrT="[Text]" custT="1"/>
      <dgm:spPr>
        <a:solidFill>
          <a:schemeClr val="bg1">
            <a:lumMod val="95000"/>
          </a:schemeClr>
        </a:solidFill>
      </dgm:spPr>
      <dgm:t>
        <a:bodyPr/>
        <a:lstStyle/>
        <a:p>
          <a:r>
            <a:rPr lang="en-US">
              <a:noFill/>
            </a:rPr>
            <a:t> </a:t>
          </a:r>
        </a:p>
      </dgm:t>
    </dgm:pt>
    <dgm:pt modelId="{9B24AB54-A5E9-624E-BFB0-2C122C63B708}" type="parTrans" cxnId="{B108C3DE-0FE4-E84D-A080-96E053E0BC95}">
      <dgm:prSet/>
      <dgm:spPr/>
      <dgm:t>
        <a:bodyPr/>
        <a:lstStyle/>
        <a:p>
          <a:endParaRPr lang="en-US"/>
        </a:p>
      </dgm:t>
    </dgm:pt>
    <dgm:pt modelId="{517C64F2-7BFF-564C-8C59-A852537375BC}" type="sibTrans" cxnId="{B108C3DE-0FE4-E84D-A080-96E053E0BC95}">
      <dgm:prSet/>
      <dgm:spPr/>
      <dgm:t>
        <a:bodyPr/>
        <a:lstStyle/>
        <a:p>
          <a:endParaRPr lang="en-US"/>
        </a:p>
      </dgm:t>
    </dgm:pt>
    <dgm:pt modelId="{0F749E6E-90AA-744D-B040-AA8A471C8E63}">
      <dgm:prSet phldrT="[Text]" custT="1"/>
      <dgm:spPr>
        <a:solidFill>
          <a:schemeClr val="accent2">
            <a:lumMod val="20000"/>
            <a:lumOff val="80000"/>
          </a:schemeClr>
        </a:solidFill>
      </dgm:spPr>
      <dgm:t>
        <a:bodyPr/>
        <a:lstStyle/>
        <a:p>
          <a:r>
            <a:rPr lang="en-US">
              <a:noFill/>
            </a:rPr>
            <a:t> </a:t>
          </a:r>
        </a:p>
      </dgm:t>
    </dgm:pt>
    <dgm:pt modelId="{05887BC7-A79F-0246-8D6C-3AD328BEFAE9}" type="parTrans" cxnId="{43CD5992-10AB-474D-BC44-728145CE7AA9}">
      <dgm:prSet/>
      <dgm:spPr/>
      <dgm:t>
        <a:bodyPr/>
        <a:lstStyle/>
        <a:p>
          <a:endParaRPr lang="en-US"/>
        </a:p>
      </dgm:t>
    </dgm:pt>
    <dgm:pt modelId="{915835C5-FC1F-7C49-9E4D-834936ABDB1D}" type="sibTrans" cxnId="{43CD5992-10AB-474D-BC44-728145CE7AA9}">
      <dgm:prSet/>
      <dgm:spPr/>
      <dgm:t>
        <a:bodyPr/>
        <a:lstStyle/>
        <a:p>
          <a:endParaRPr lang="en-US"/>
        </a:p>
      </dgm:t>
    </dgm:pt>
    <dgm:pt modelId="{2267F006-4D86-5840-BD86-522F1C4FE36B}" type="pres">
      <dgm:prSet presAssocID="{BA2AF5BC-60E3-8541-8864-4F28C9F2BF59}" presName="diagram" presStyleCnt="0">
        <dgm:presLayoutVars>
          <dgm:dir/>
          <dgm:resizeHandles val="exact"/>
        </dgm:presLayoutVars>
      </dgm:prSet>
      <dgm:spPr/>
    </dgm:pt>
    <dgm:pt modelId="{79B831A5-711D-4D4A-B56F-A4F6D63D6C13}" type="pres">
      <dgm:prSet presAssocID="{F46E0186-56FE-A745-93AB-3EFFD3428EBE}" presName="node" presStyleLbl="node1" presStyleIdx="0" presStyleCnt="4">
        <dgm:presLayoutVars>
          <dgm:bulletEnabled val="1"/>
        </dgm:presLayoutVars>
      </dgm:prSet>
      <dgm:spPr/>
    </dgm:pt>
    <dgm:pt modelId="{36A67D89-B940-7748-B77E-D9A479FAAB71}" type="pres">
      <dgm:prSet presAssocID="{06CD5965-698E-B746-AD8C-3D42D05ADDBD}" presName="sibTrans" presStyleCnt="0"/>
      <dgm:spPr/>
    </dgm:pt>
    <dgm:pt modelId="{230E0ECE-F143-B24C-9E4D-62F109CAC925}" type="pres">
      <dgm:prSet presAssocID="{AA07CF5C-2921-C842-A860-32B00E23B509}" presName="node" presStyleLbl="node1" presStyleIdx="1" presStyleCnt="4">
        <dgm:presLayoutVars>
          <dgm:bulletEnabled val="1"/>
        </dgm:presLayoutVars>
      </dgm:prSet>
      <dgm:spPr/>
    </dgm:pt>
    <dgm:pt modelId="{0CE66574-747F-184D-A847-34A35A797744}" type="pres">
      <dgm:prSet presAssocID="{895DE975-4270-B944-9686-401F709396A6}" presName="sibTrans" presStyleCnt="0"/>
      <dgm:spPr/>
    </dgm:pt>
    <dgm:pt modelId="{C9378457-7A05-FD4D-B796-355BBEAF5417}" type="pres">
      <dgm:prSet presAssocID="{A51968AF-A7CB-5B4E-8656-F1815D43C2CC}" presName="node" presStyleLbl="node1" presStyleIdx="2" presStyleCnt="4">
        <dgm:presLayoutVars>
          <dgm:bulletEnabled val="1"/>
        </dgm:presLayoutVars>
      </dgm:prSet>
      <dgm:spPr/>
    </dgm:pt>
    <dgm:pt modelId="{F3D38369-3EEC-FE49-A767-E82E95149770}" type="pres">
      <dgm:prSet presAssocID="{CFD8F77A-9045-7848-9F35-528A12D68876}" presName="sibTrans" presStyleCnt="0"/>
      <dgm:spPr/>
    </dgm:pt>
    <dgm:pt modelId="{F2A1F630-CF8F-124E-B501-DC33C45612C6}" type="pres">
      <dgm:prSet presAssocID="{49FCC770-FC46-724B-8B42-999231F3883D}" presName="node" presStyleLbl="node1" presStyleIdx="3" presStyleCnt="4">
        <dgm:presLayoutVars>
          <dgm:bulletEnabled val="1"/>
        </dgm:presLayoutVars>
      </dgm:prSet>
      <dgm:spPr/>
    </dgm:pt>
  </dgm:ptLst>
  <dgm:cxnLst>
    <dgm:cxn modelId="{C957F60B-B1A0-504D-AC5D-77375C857A8B}" srcId="{AA07CF5C-2921-C842-A860-32B00E23B509}" destId="{41B166D0-7162-1D4E-8FDA-821931D3AB3D}" srcOrd="0" destOrd="0" parTransId="{B7634088-3C7A-A94E-AA8D-D5F714B23870}" sibTransId="{8E861D9F-3DD5-B049-95E0-A16725E5E16D}"/>
    <dgm:cxn modelId="{6631D611-3F55-9246-BF1A-4793B6BAF2F5}" type="presOf" srcId="{87AE0D3B-B448-7248-B367-399B311A8E0E}" destId="{F2A1F630-CF8F-124E-B501-DC33C45612C6}" srcOrd="0" destOrd="1" presId="urn:microsoft.com/office/officeart/2005/8/layout/default"/>
    <dgm:cxn modelId="{F42F101B-E5E2-6541-99E1-D1C759050580}" type="presOf" srcId="{F46E0186-56FE-A745-93AB-3EFFD3428EBE}" destId="{79B831A5-711D-4D4A-B56F-A4F6D63D6C13}" srcOrd="0" destOrd="0" presId="urn:microsoft.com/office/officeart/2005/8/layout/default"/>
    <dgm:cxn modelId="{4AE0C231-0D8A-B94B-A64E-99065D00D458}" srcId="{BA2AF5BC-60E3-8541-8864-4F28C9F2BF59}" destId="{A51968AF-A7CB-5B4E-8656-F1815D43C2CC}" srcOrd="2" destOrd="0" parTransId="{7E44049A-AB25-3247-B3D0-76998841B900}" sibTransId="{CFD8F77A-9045-7848-9F35-528A12D68876}"/>
    <dgm:cxn modelId="{42E87332-3E90-6D41-9344-40D39B098014}" type="presOf" srcId="{81B4A25D-E7DD-D741-BE4B-998FEE9C5058}" destId="{F2A1F630-CF8F-124E-B501-DC33C45612C6}" srcOrd="0" destOrd="3" presId="urn:microsoft.com/office/officeart/2005/8/layout/default"/>
    <dgm:cxn modelId="{F794D132-2944-9340-A023-DE1B035D5624}" type="presOf" srcId="{1C4F7063-50B7-FC48-B220-958147F8AB79}" destId="{230E0ECE-F143-B24C-9E4D-62F109CAC925}" srcOrd="0" destOrd="2" presId="urn:microsoft.com/office/officeart/2005/8/layout/default"/>
    <dgm:cxn modelId="{240D4839-DC34-D54D-B286-989413EF4332}" type="presOf" srcId="{2528F6AB-236A-1040-9B8A-9396E24164BC}" destId="{F2A1F630-CF8F-124E-B501-DC33C45612C6}" srcOrd="0" destOrd="2" presId="urn:microsoft.com/office/officeart/2005/8/layout/default"/>
    <dgm:cxn modelId="{5F06FE3A-13E2-1A43-AC4D-A43C94BBDE66}" srcId="{49FCC770-FC46-724B-8B42-999231F3883D}" destId="{2528F6AB-236A-1040-9B8A-9396E24164BC}" srcOrd="1" destOrd="0" parTransId="{628564C8-1D01-FD45-8422-0CE960EE4C75}" sibTransId="{78E235B9-0FB0-434E-BEF7-FF43049A8EEA}"/>
    <dgm:cxn modelId="{B91D2C49-0B3C-A74F-8FDB-234CF97DB8A0}" srcId="{49FCC770-FC46-724B-8B42-999231F3883D}" destId="{81B4A25D-E7DD-D741-BE4B-998FEE9C5058}" srcOrd="2" destOrd="0" parTransId="{676968CC-6B2D-E84B-96D1-10E2C2D0CCA3}" sibTransId="{AFB83FB0-6767-A944-9B4D-2F2576FCF907}"/>
    <dgm:cxn modelId="{AC86CF4A-80C7-5548-A4A9-C6E9CAA70526}" type="presOf" srcId="{C4AA0D6C-EACD-6042-ADE1-8700E6D2A5DE}" destId="{79B831A5-711D-4D4A-B56F-A4F6D63D6C13}" srcOrd="0" destOrd="2" presId="urn:microsoft.com/office/officeart/2005/8/layout/default"/>
    <dgm:cxn modelId="{C82A2B58-6D32-A847-A183-11FA84FED798}" type="presOf" srcId="{0F749E6E-90AA-744D-B040-AA8A471C8E63}" destId="{C9378457-7A05-FD4D-B796-355BBEAF5417}" srcOrd="0" destOrd="2" presId="urn:microsoft.com/office/officeart/2005/8/layout/default"/>
    <dgm:cxn modelId="{E02B955D-9502-D542-AF77-847CA31EE064}" srcId="{F46E0186-56FE-A745-93AB-3EFFD3428EBE}" destId="{1E464050-1747-3244-9B57-3FD157FF1855}" srcOrd="2" destOrd="0" parTransId="{27F4F252-E5AA-1D42-81EF-5290F30C73A4}" sibTransId="{9723EB83-B998-A641-B0C7-8211F476F11B}"/>
    <dgm:cxn modelId="{76C00E61-E278-904B-A299-2B18487532A3}" srcId="{49FCC770-FC46-724B-8B42-999231F3883D}" destId="{87AE0D3B-B448-7248-B367-399B311A8E0E}" srcOrd="0" destOrd="0" parTransId="{9DC4FAA6-49B4-A94E-BB21-B2007FD1C6EE}" sibTransId="{3ACCDBAF-31B0-9041-8EB7-052FB1EAA56B}"/>
    <dgm:cxn modelId="{EBEEE367-A602-3D4A-875E-215B23143C8F}" srcId="{A51968AF-A7CB-5B4E-8656-F1815D43C2CC}" destId="{64E414A6-3B47-DA46-A25C-F513E52618F1}" srcOrd="0" destOrd="0" parTransId="{194B8AC5-E6BA-5646-9AB8-556A09297BDA}" sibTransId="{5D6CBBE3-99BE-464B-9366-3623B694561F}"/>
    <dgm:cxn modelId="{AC678887-1EBB-3743-8582-6F3A2B33CBD3}" srcId="{A51968AF-A7CB-5B4E-8656-F1815D43C2CC}" destId="{0CEAF519-1C3B-3C43-95FD-B4C9F87D1E60}" srcOrd="2" destOrd="0" parTransId="{CC7B24E6-727E-8740-AEB1-B367388B3656}" sibTransId="{427C35D3-FBEB-2E47-938B-233EF658C6EE}"/>
    <dgm:cxn modelId="{13793690-3187-1D40-8108-514BEAC24C10}" srcId="{BA2AF5BC-60E3-8541-8864-4F28C9F2BF59}" destId="{49FCC770-FC46-724B-8B42-999231F3883D}" srcOrd="3" destOrd="0" parTransId="{55810CB1-660B-BD42-BFCA-9B7F6D9D018E}" sibTransId="{70AE20F3-F2B9-8D4E-9E6F-C4FCB047460F}"/>
    <dgm:cxn modelId="{F0886790-ED2F-9B43-BD02-C62987C4CC94}" type="presOf" srcId="{9C26BD6F-4A74-6B4A-8FA9-3EC23DFE0336}" destId="{79B831A5-711D-4D4A-B56F-A4F6D63D6C13}" srcOrd="0" destOrd="1" presId="urn:microsoft.com/office/officeart/2005/8/layout/default"/>
    <dgm:cxn modelId="{43CD5992-10AB-474D-BC44-728145CE7AA9}" srcId="{A51968AF-A7CB-5B4E-8656-F1815D43C2CC}" destId="{0F749E6E-90AA-744D-B040-AA8A471C8E63}" srcOrd="1" destOrd="0" parTransId="{05887BC7-A79F-0246-8D6C-3AD328BEFAE9}" sibTransId="{915835C5-FC1F-7C49-9E4D-834936ABDB1D}"/>
    <dgm:cxn modelId="{17AF3C98-CC08-2E42-9217-DA6ADF50F6BA}" type="presOf" srcId="{1E464050-1747-3244-9B57-3FD157FF1855}" destId="{79B831A5-711D-4D4A-B56F-A4F6D63D6C13}" srcOrd="0" destOrd="3" presId="urn:microsoft.com/office/officeart/2005/8/layout/default"/>
    <dgm:cxn modelId="{1903B39A-B1AE-C841-A4AB-E495762BC503}" srcId="{F46E0186-56FE-A745-93AB-3EFFD3428EBE}" destId="{C4AA0D6C-EACD-6042-ADE1-8700E6D2A5DE}" srcOrd="1" destOrd="0" parTransId="{49B5CC91-C0BB-6443-86A0-0F77C4BA9558}" sibTransId="{E74C5394-01B1-8D46-A6FF-84027DE6EB94}"/>
    <dgm:cxn modelId="{0888BE9D-973A-6844-BA7D-205A09FDCAE8}" type="presOf" srcId="{0CEAF519-1C3B-3C43-95FD-B4C9F87D1E60}" destId="{C9378457-7A05-FD4D-B796-355BBEAF5417}" srcOrd="0" destOrd="3" presId="urn:microsoft.com/office/officeart/2005/8/layout/default"/>
    <dgm:cxn modelId="{7026CD9F-070F-0A48-8307-608B7650D57C}" type="presOf" srcId="{49FCC770-FC46-724B-8B42-999231F3883D}" destId="{F2A1F630-CF8F-124E-B501-DC33C45612C6}" srcOrd="0" destOrd="0" presId="urn:microsoft.com/office/officeart/2005/8/layout/default"/>
    <dgm:cxn modelId="{5C0E0FAE-FA5B-7A4E-86C1-AE92143A4E00}" srcId="{BA2AF5BC-60E3-8541-8864-4F28C9F2BF59}" destId="{AA07CF5C-2921-C842-A860-32B00E23B509}" srcOrd="1" destOrd="0" parTransId="{9257E34B-3492-B245-9D4D-BD32D97CC5BB}" sibTransId="{895DE975-4270-B944-9686-401F709396A6}"/>
    <dgm:cxn modelId="{45E483AE-013A-BA4D-85E3-28FF34C98B34}" type="presOf" srcId="{AA07CF5C-2921-C842-A860-32B00E23B509}" destId="{230E0ECE-F143-B24C-9E4D-62F109CAC925}" srcOrd="0" destOrd="0" presId="urn:microsoft.com/office/officeart/2005/8/layout/default"/>
    <dgm:cxn modelId="{72E66FB4-6E45-AD42-B54A-B9B0BB9CF612}" srcId="{BA2AF5BC-60E3-8541-8864-4F28C9F2BF59}" destId="{F46E0186-56FE-A745-93AB-3EFFD3428EBE}" srcOrd="0" destOrd="0" parTransId="{B93B2ED3-1F66-F544-BA8F-AEAA75BFE5F8}" sibTransId="{06CD5965-698E-B746-AD8C-3D42D05ADDBD}"/>
    <dgm:cxn modelId="{BBB758C1-E375-7B4A-B681-FA9C21A9F99E}" type="presOf" srcId="{A7F12DDC-AFF2-504D-A40A-16CC592BCD4A}" destId="{230E0ECE-F143-B24C-9E4D-62F109CAC925}" srcOrd="0" destOrd="3" presId="urn:microsoft.com/office/officeart/2005/8/layout/default"/>
    <dgm:cxn modelId="{C69C83C7-A2A8-2744-8253-9D3248B65A7B}" srcId="{F46E0186-56FE-A745-93AB-3EFFD3428EBE}" destId="{9C26BD6F-4A74-6B4A-8FA9-3EC23DFE0336}" srcOrd="0" destOrd="0" parTransId="{32416553-E9D9-9E4C-B37A-C5D949DD5DD9}" sibTransId="{A63F58B7-7B49-4F4B-ACC1-300B210F0929}"/>
    <dgm:cxn modelId="{35B10BCD-BE2C-A94C-9F74-F329856AA635}" type="presOf" srcId="{BA2AF5BC-60E3-8541-8864-4F28C9F2BF59}" destId="{2267F006-4D86-5840-BD86-522F1C4FE36B}" srcOrd="0" destOrd="0" presId="urn:microsoft.com/office/officeart/2005/8/layout/default"/>
    <dgm:cxn modelId="{B108C3DE-0FE4-E84D-A080-96E053E0BC95}" srcId="{AA07CF5C-2921-C842-A860-32B00E23B509}" destId="{1C4F7063-50B7-FC48-B220-958147F8AB79}" srcOrd="1" destOrd="0" parTransId="{9B24AB54-A5E9-624E-BFB0-2C122C63B708}" sibTransId="{517C64F2-7BFF-564C-8C59-A852537375BC}"/>
    <dgm:cxn modelId="{E8F078DF-8034-2047-9143-3ECC704E924E}" type="presOf" srcId="{41B166D0-7162-1D4E-8FDA-821931D3AB3D}" destId="{230E0ECE-F143-B24C-9E4D-62F109CAC925}" srcOrd="0" destOrd="1" presId="urn:microsoft.com/office/officeart/2005/8/layout/default"/>
    <dgm:cxn modelId="{8BAB1BE0-A60F-9240-8550-73521236C4C9}" srcId="{AA07CF5C-2921-C842-A860-32B00E23B509}" destId="{A7F12DDC-AFF2-504D-A40A-16CC592BCD4A}" srcOrd="2" destOrd="0" parTransId="{270853BE-451D-C348-A41D-46BFC7664B74}" sibTransId="{100C07D3-35B8-8848-9998-84F96EF61ACF}"/>
    <dgm:cxn modelId="{112DABEA-58E2-7441-AF35-47FE5424FA4F}" type="presOf" srcId="{A51968AF-A7CB-5B4E-8656-F1815D43C2CC}" destId="{C9378457-7A05-FD4D-B796-355BBEAF5417}" srcOrd="0" destOrd="0" presId="urn:microsoft.com/office/officeart/2005/8/layout/default"/>
    <dgm:cxn modelId="{92C64AF8-096B-414F-8BC4-62B8016803B2}" type="presOf" srcId="{64E414A6-3B47-DA46-A25C-F513E52618F1}" destId="{C9378457-7A05-FD4D-B796-355BBEAF5417}" srcOrd="0" destOrd="1" presId="urn:microsoft.com/office/officeart/2005/8/layout/default"/>
    <dgm:cxn modelId="{86CED733-78A4-DC43-B2A3-227C67494F12}" type="presParOf" srcId="{2267F006-4D86-5840-BD86-522F1C4FE36B}" destId="{79B831A5-711D-4D4A-B56F-A4F6D63D6C13}" srcOrd="0" destOrd="0" presId="urn:microsoft.com/office/officeart/2005/8/layout/default"/>
    <dgm:cxn modelId="{33F66D39-8D42-9648-9497-6B5F3FF917F9}" type="presParOf" srcId="{2267F006-4D86-5840-BD86-522F1C4FE36B}" destId="{36A67D89-B940-7748-B77E-D9A479FAAB71}" srcOrd="1" destOrd="0" presId="urn:microsoft.com/office/officeart/2005/8/layout/default"/>
    <dgm:cxn modelId="{E05F348E-551A-FB41-9286-8CC8D18D1764}" type="presParOf" srcId="{2267F006-4D86-5840-BD86-522F1C4FE36B}" destId="{230E0ECE-F143-B24C-9E4D-62F109CAC925}" srcOrd="2" destOrd="0" presId="urn:microsoft.com/office/officeart/2005/8/layout/default"/>
    <dgm:cxn modelId="{3F62EE63-3AAA-AF42-9C6F-481530773FCE}" type="presParOf" srcId="{2267F006-4D86-5840-BD86-522F1C4FE36B}" destId="{0CE66574-747F-184D-A847-34A35A797744}" srcOrd="3" destOrd="0" presId="urn:microsoft.com/office/officeart/2005/8/layout/default"/>
    <dgm:cxn modelId="{E06346F6-F86E-E54B-99E1-9F8E94848C62}" type="presParOf" srcId="{2267F006-4D86-5840-BD86-522F1C4FE36B}" destId="{C9378457-7A05-FD4D-B796-355BBEAF5417}" srcOrd="4" destOrd="0" presId="urn:microsoft.com/office/officeart/2005/8/layout/default"/>
    <dgm:cxn modelId="{B7E833B6-B3D6-8347-9319-8E74DDAD3590}" type="presParOf" srcId="{2267F006-4D86-5840-BD86-522F1C4FE36B}" destId="{F3D38369-3EEC-FE49-A767-E82E95149770}" srcOrd="5" destOrd="0" presId="urn:microsoft.com/office/officeart/2005/8/layout/default"/>
    <dgm:cxn modelId="{630839A4-DF99-EC4A-860A-35A16A865C18}" type="presParOf" srcId="{2267F006-4D86-5840-BD86-522F1C4FE36B}" destId="{F2A1F630-CF8F-124E-B501-DC33C45612C6}"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F1B6B86-7E11-F443-9FEF-963C212953AC}" type="doc">
      <dgm:prSet loTypeId="urn:microsoft.com/office/officeart/2005/8/layout/target3" loCatId="" qsTypeId="urn:microsoft.com/office/officeart/2005/8/quickstyle/simple1" qsCatId="simple" csTypeId="urn:microsoft.com/office/officeart/2005/8/colors/colorful3" csCatId="colorful" phldr="1"/>
      <dgm:spPr/>
    </dgm:pt>
    <dgm:pt modelId="{EA1D697D-A778-E74D-ADD4-892935AAB621}">
      <dgm:prSet phldrT="[Text]" custT="1"/>
      <dgm:spPr/>
      <dgm:t>
        <a:bodyPr/>
        <a:lstStyle/>
        <a:p>
          <a:r>
            <a:rPr lang="en-ZA" sz="2200" dirty="0"/>
            <a:t>A </a:t>
          </a:r>
          <a:r>
            <a:rPr lang="en-ZA" sz="2200" b="1" dirty="0"/>
            <a:t>vector space </a:t>
          </a:r>
          <a:r>
            <a:rPr lang="en-ZA" sz="2200" dirty="0"/>
            <a:t>is a collection of vectors that can be added together and multiplied by scalars.</a:t>
          </a:r>
          <a:endParaRPr lang="en-US" sz="2200" dirty="0"/>
        </a:p>
      </dgm:t>
    </dgm:pt>
    <dgm:pt modelId="{242F727A-CCA8-6742-9D16-6AA67D065337}" type="parTrans" cxnId="{58DA43A4-0884-2E44-AD5B-F32F592B06C0}">
      <dgm:prSet/>
      <dgm:spPr/>
      <dgm:t>
        <a:bodyPr/>
        <a:lstStyle/>
        <a:p>
          <a:endParaRPr lang="en-US"/>
        </a:p>
      </dgm:t>
    </dgm:pt>
    <dgm:pt modelId="{C45BEC6B-A4F4-A94A-9607-70AB22B42D02}" type="sibTrans" cxnId="{58DA43A4-0884-2E44-AD5B-F32F592B06C0}">
      <dgm:prSet/>
      <dgm:spPr/>
      <dgm:t>
        <a:bodyPr/>
        <a:lstStyle/>
        <a:p>
          <a:endParaRPr lang="en-US"/>
        </a:p>
      </dgm:t>
    </dgm:pt>
    <dgm:pt modelId="{0C35B2E3-353F-1446-926A-ED0FDCE93BAE}">
      <dgm:prSet custT="1"/>
      <dgm:spPr/>
      <dgm:t>
        <a:bodyPr/>
        <a:lstStyle/>
        <a:p>
          <a:r>
            <a:rPr lang="en-US" sz="2200" b="0" dirty="0"/>
            <a:t>A </a:t>
          </a:r>
          <a:r>
            <a:rPr lang="en-US" sz="2200" b="1" dirty="0"/>
            <a:t>Hilbert space</a:t>
          </a:r>
          <a:r>
            <a:rPr lang="en-US" sz="2200" b="0" dirty="0"/>
            <a:t> is a </a:t>
          </a:r>
          <a:r>
            <a:rPr lang="en-US" sz="2200" b="0" u="sng" dirty="0"/>
            <a:t>complete</a:t>
          </a:r>
          <a:r>
            <a:rPr lang="en-US" sz="2200" b="0" dirty="0"/>
            <a:t> inner product space over the field of complex numbers.</a:t>
          </a:r>
        </a:p>
      </dgm:t>
    </dgm:pt>
    <dgm:pt modelId="{1D0898DC-8F43-5F49-8002-EB2D078702E1}" type="parTrans" cxnId="{5B80DB42-2568-FB49-87F4-E136744A3540}">
      <dgm:prSet/>
      <dgm:spPr/>
      <dgm:t>
        <a:bodyPr/>
        <a:lstStyle/>
        <a:p>
          <a:endParaRPr lang="en-US"/>
        </a:p>
      </dgm:t>
    </dgm:pt>
    <dgm:pt modelId="{1823118C-AB22-5344-B479-C4D415B3B77A}" type="sibTrans" cxnId="{5B80DB42-2568-FB49-87F4-E136744A3540}">
      <dgm:prSet/>
      <dgm:spPr/>
      <dgm:t>
        <a:bodyPr/>
        <a:lstStyle/>
        <a:p>
          <a:endParaRPr lang="en-US"/>
        </a:p>
      </dgm:t>
    </dgm:pt>
    <dgm:pt modelId="{13CB398F-F3ED-7647-B9A5-35ABFAAD3978}">
      <dgm:prSet phldrT="[Text]" custT="1"/>
      <dgm:spPr/>
      <dgm:t>
        <a:bodyPr/>
        <a:lstStyle/>
        <a:p>
          <a:r>
            <a:rPr lang="en-US" sz="2200" dirty="0"/>
            <a:t>A vector space over the field of complex numbers, equipped with an inner product, is called a </a:t>
          </a:r>
          <a:r>
            <a:rPr lang="en-US" sz="2200" b="1" dirty="0"/>
            <a:t>complex inner product space</a:t>
          </a:r>
        </a:p>
      </dgm:t>
    </dgm:pt>
    <dgm:pt modelId="{39EB5BB5-689A-D445-85BD-C911FE8FD418}" type="parTrans" cxnId="{FC6F39DC-E306-0646-998D-C23ADB5A6B2E}">
      <dgm:prSet/>
      <dgm:spPr/>
      <dgm:t>
        <a:bodyPr/>
        <a:lstStyle/>
        <a:p>
          <a:endParaRPr lang="en-US"/>
        </a:p>
      </dgm:t>
    </dgm:pt>
    <dgm:pt modelId="{B3EF9B67-0408-0C46-8622-20E6271B1921}" type="sibTrans" cxnId="{FC6F39DC-E306-0646-998D-C23ADB5A6B2E}">
      <dgm:prSet/>
      <dgm:spPr/>
      <dgm:t>
        <a:bodyPr/>
        <a:lstStyle/>
        <a:p>
          <a:endParaRPr lang="en-US"/>
        </a:p>
      </dgm:t>
    </dgm:pt>
    <dgm:pt modelId="{8EE0E4B7-F035-AA4B-82D3-1CBA00AB83D6}" type="pres">
      <dgm:prSet presAssocID="{2F1B6B86-7E11-F443-9FEF-963C212953AC}" presName="Name0" presStyleCnt="0">
        <dgm:presLayoutVars>
          <dgm:chMax val="7"/>
          <dgm:dir/>
          <dgm:animLvl val="lvl"/>
          <dgm:resizeHandles val="exact"/>
        </dgm:presLayoutVars>
      </dgm:prSet>
      <dgm:spPr/>
    </dgm:pt>
    <dgm:pt modelId="{F723F4FE-C7E8-C448-BD7F-0F84C57DF3C7}" type="pres">
      <dgm:prSet presAssocID="{EA1D697D-A778-E74D-ADD4-892935AAB621}" presName="circle1" presStyleLbl="node1" presStyleIdx="0" presStyleCnt="3"/>
      <dgm:spPr/>
    </dgm:pt>
    <dgm:pt modelId="{71062428-F99C-6D4D-8A35-D7253A9FC739}" type="pres">
      <dgm:prSet presAssocID="{EA1D697D-A778-E74D-ADD4-892935AAB621}" presName="space" presStyleCnt="0"/>
      <dgm:spPr/>
    </dgm:pt>
    <dgm:pt modelId="{DEA31E11-D9F2-6A4E-9125-21E5ED7A280C}" type="pres">
      <dgm:prSet presAssocID="{EA1D697D-A778-E74D-ADD4-892935AAB621}" presName="rect1" presStyleLbl="alignAcc1" presStyleIdx="0" presStyleCnt="3"/>
      <dgm:spPr/>
    </dgm:pt>
    <dgm:pt modelId="{9DFF0084-1150-1041-9B74-9B481EA6791B}" type="pres">
      <dgm:prSet presAssocID="{13CB398F-F3ED-7647-B9A5-35ABFAAD3978}" presName="vertSpace2" presStyleLbl="node1" presStyleIdx="0" presStyleCnt="3"/>
      <dgm:spPr/>
    </dgm:pt>
    <dgm:pt modelId="{C81D190E-BE41-D24D-BAD0-BA85E85E8CE7}" type="pres">
      <dgm:prSet presAssocID="{13CB398F-F3ED-7647-B9A5-35ABFAAD3978}" presName="circle2" presStyleLbl="node1" presStyleIdx="1" presStyleCnt="3"/>
      <dgm:spPr/>
    </dgm:pt>
    <dgm:pt modelId="{C26EA930-79A9-CF45-AEAB-0B7FE9C4DFA9}" type="pres">
      <dgm:prSet presAssocID="{13CB398F-F3ED-7647-B9A5-35ABFAAD3978}" presName="rect2" presStyleLbl="alignAcc1" presStyleIdx="1" presStyleCnt="3"/>
      <dgm:spPr/>
    </dgm:pt>
    <dgm:pt modelId="{A201E8E8-4E80-3542-823E-EB7744E1F30F}" type="pres">
      <dgm:prSet presAssocID="{0C35B2E3-353F-1446-926A-ED0FDCE93BAE}" presName="vertSpace3" presStyleLbl="node1" presStyleIdx="1" presStyleCnt="3"/>
      <dgm:spPr/>
    </dgm:pt>
    <dgm:pt modelId="{5201EDC6-C155-7043-A9C1-D6E1EFEE5723}" type="pres">
      <dgm:prSet presAssocID="{0C35B2E3-353F-1446-926A-ED0FDCE93BAE}" presName="circle3" presStyleLbl="node1" presStyleIdx="2" presStyleCnt="3"/>
      <dgm:spPr/>
    </dgm:pt>
    <dgm:pt modelId="{5F2DCD29-87DA-8C4F-A830-26FBC692F1E2}" type="pres">
      <dgm:prSet presAssocID="{0C35B2E3-353F-1446-926A-ED0FDCE93BAE}" presName="rect3" presStyleLbl="alignAcc1" presStyleIdx="2" presStyleCnt="3"/>
      <dgm:spPr/>
    </dgm:pt>
    <dgm:pt modelId="{1DAB14F2-0401-A448-ACA0-A0C1DF4102C9}" type="pres">
      <dgm:prSet presAssocID="{EA1D697D-A778-E74D-ADD4-892935AAB621}" presName="rect1ParTxNoCh" presStyleLbl="alignAcc1" presStyleIdx="2" presStyleCnt="3">
        <dgm:presLayoutVars>
          <dgm:chMax val="1"/>
          <dgm:bulletEnabled val="1"/>
        </dgm:presLayoutVars>
      </dgm:prSet>
      <dgm:spPr/>
    </dgm:pt>
    <dgm:pt modelId="{4E6E8971-C02A-904B-8197-C43CCBD8F560}" type="pres">
      <dgm:prSet presAssocID="{13CB398F-F3ED-7647-B9A5-35ABFAAD3978}" presName="rect2ParTxNoCh" presStyleLbl="alignAcc1" presStyleIdx="2" presStyleCnt="3">
        <dgm:presLayoutVars>
          <dgm:chMax val="1"/>
          <dgm:bulletEnabled val="1"/>
        </dgm:presLayoutVars>
      </dgm:prSet>
      <dgm:spPr/>
    </dgm:pt>
    <dgm:pt modelId="{4764428A-C140-2C4E-821F-84FF9C64C950}" type="pres">
      <dgm:prSet presAssocID="{0C35B2E3-353F-1446-926A-ED0FDCE93BAE}" presName="rect3ParTxNoCh" presStyleLbl="alignAcc1" presStyleIdx="2" presStyleCnt="3">
        <dgm:presLayoutVars>
          <dgm:chMax val="1"/>
          <dgm:bulletEnabled val="1"/>
        </dgm:presLayoutVars>
      </dgm:prSet>
      <dgm:spPr/>
    </dgm:pt>
  </dgm:ptLst>
  <dgm:cxnLst>
    <dgm:cxn modelId="{A001DD1B-B7FC-CE42-87DF-D6B2E4431E53}" type="presOf" srcId="{EA1D697D-A778-E74D-ADD4-892935AAB621}" destId="{1DAB14F2-0401-A448-ACA0-A0C1DF4102C9}" srcOrd="1" destOrd="0" presId="urn:microsoft.com/office/officeart/2005/8/layout/target3"/>
    <dgm:cxn modelId="{A8BBEF22-BAAD-9643-B7DD-98BB80189336}" type="presOf" srcId="{0C35B2E3-353F-1446-926A-ED0FDCE93BAE}" destId="{4764428A-C140-2C4E-821F-84FF9C64C950}" srcOrd="1" destOrd="0" presId="urn:microsoft.com/office/officeart/2005/8/layout/target3"/>
    <dgm:cxn modelId="{5B80DB42-2568-FB49-87F4-E136744A3540}" srcId="{2F1B6B86-7E11-F443-9FEF-963C212953AC}" destId="{0C35B2E3-353F-1446-926A-ED0FDCE93BAE}" srcOrd="2" destOrd="0" parTransId="{1D0898DC-8F43-5F49-8002-EB2D078702E1}" sibTransId="{1823118C-AB22-5344-B479-C4D415B3B77A}"/>
    <dgm:cxn modelId="{E5E5674A-8BBB-284D-BAAE-19D9E9A51BC8}" type="presOf" srcId="{13CB398F-F3ED-7647-B9A5-35ABFAAD3978}" destId="{C26EA930-79A9-CF45-AEAB-0B7FE9C4DFA9}" srcOrd="0" destOrd="0" presId="urn:microsoft.com/office/officeart/2005/8/layout/target3"/>
    <dgm:cxn modelId="{F2675B4F-C4B5-334F-8ED8-6C6724E7808A}" type="presOf" srcId="{2F1B6B86-7E11-F443-9FEF-963C212953AC}" destId="{8EE0E4B7-F035-AA4B-82D3-1CBA00AB83D6}" srcOrd="0" destOrd="0" presId="urn:microsoft.com/office/officeart/2005/8/layout/target3"/>
    <dgm:cxn modelId="{25FE3581-0771-1A4F-BA86-959941E7982E}" type="presOf" srcId="{0C35B2E3-353F-1446-926A-ED0FDCE93BAE}" destId="{5F2DCD29-87DA-8C4F-A830-26FBC692F1E2}" srcOrd="0" destOrd="0" presId="urn:microsoft.com/office/officeart/2005/8/layout/target3"/>
    <dgm:cxn modelId="{31B80F90-F5FE-1140-9432-01A37BE77037}" type="presOf" srcId="{13CB398F-F3ED-7647-B9A5-35ABFAAD3978}" destId="{4E6E8971-C02A-904B-8197-C43CCBD8F560}" srcOrd="1" destOrd="0" presId="urn:microsoft.com/office/officeart/2005/8/layout/target3"/>
    <dgm:cxn modelId="{58DA43A4-0884-2E44-AD5B-F32F592B06C0}" srcId="{2F1B6B86-7E11-F443-9FEF-963C212953AC}" destId="{EA1D697D-A778-E74D-ADD4-892935AAB621}" srcOrd="0" destOrd="0" parTransId="{242F727A-CCA8-6742-9D16-6AA67D065337}" sibTransId="{C45BEC6B-A4F4-A94A-9607-70AB22B42D02}"/>
    <dgm:cxn modelId="{EDCD3CCB-D54F-0148-B69C-FB995B2B9497}" type="presOf" srcId="{EA1D697D-A778-E74D-ADD4-892935AAB621}" destId="{DEA31E11-D9F2-6A4E-9125-21E5ED7A280C}" srcOrd="0" destOrd="0" presId="urn:microsoft.com/office/officeart/2005/8/layout/target3"/>
    <dgm:cxn modelId="{FC6F39DC-E306-0646-998D-C23ADB5A6B2E}" srcId="{2F1B6B86-7E11-F443-9FEF-963C212953AC}" destId="{13CB398F-F3ED-7647-B9A5-35ABFAAD3978}" srcOrd="1" destOrd="0" parTransId="{39EB5BB5-689A-D445-85BD-C911FE8FD418}" sibTransId="{B3EF9B67-0408-0C46-8622-20E6271B1921}"/>
    <dgm:cxn modelId="{26DE7D4E-F232-6543-8C26-8AB36BD6B5B3}" type="presParOf" srcId="{8EE0E4B7-F035-AA4B-82D3-1CBA00AB83D6}" destId="{F723F4FE-C7E8-C448-BD7F-0F84C57DF3C7}" srcOrd="0" destOrd="0" presId="urn:microsoft.com/office/officeart/2005/8/layout/target3"/>
    <dgm:cxn modelId="{F8259C16-C43F-234D-A8C4-04AB26B4BC51}" type="presParOf" srcId="{8EE0E4B7-F035-AA4B-82D3-1CBA00AB83D6}" destId="{71062428-F99C-6D4D-8A35-D7253A9FC739}" srcOrd="1" destOrd="0" presId="urn:microsoft.com/office/officeart/2005/8/layout/target3"/>
    <dgm:cxn modelId="{E7703446-7891-2F45-B049-DB1B0FF9461F}" type="presParOf" srcId="{8EE0E4B7-F035-AA4B-82D3-1CBA00AB83D6}" destId="{DEA31E11-D9F2-6A4E-9125-21E5ED7A280C}" srcOrd="2" destOrd="0" presId="urn:microsoft.com/office/officeart/2005/8/layout/target3"/>
    <dgm:cxn modelId="{731B3874-C514-5345-B3C5-18A5FE916DBD}" type="presParOf" srcId="{8EE0E4B7-F035-AA4B-82D3-1CBA00AB83D6}" destId="{9DFF0084-1150-1041-9B74-9B481EA6791B}" srcOrd="3" destOrd="0" presId="urn:microsoft.com/office/officeart/2005/8/layout/target3"/>
    <dgm:cxn modelId="{DCCE47FA-0972-F842-A0ED-D3DDB6F76680}" type="presParOf" srcId="{8EE0E4B7-F035-AA4B-82D3-1CBA00AB83D6}" destId="{C81D190E-BE41-D24D-BAD0-BA85E85E8CE7}" srcOrd="4" destOrd="0" presId="urn:microsoft.com/office/officeart/2005/8/layout/target3"/>
    <dgm:cxn modelId="{847F4C8D-5C9A-BE46-86AD-5FBD91958473}" type="presParOf" srcId="{8EE0E4B7-F035-AA4B-82D3-1CBA00AB83D6}" destId="{C26EA930-79A9-CF45-AEAB-0B7FE9C4DFA9}" srcOrd="5" destOrd="0" presId="urn:microsoft.com/office/officeart/2005/8/layout/target3"/>
    <dgm:cxn modelId="{D4D162E3-97E1-CD4D-A61C-AA259A95FFFE}" type="presParOf" srcId="{8EE0E4B7-F035-AA4B-82D3-1CBA00AB83D6}" destId="{A201E8E8-4E80-3542-823E-EB7744E1F30F}" srcOrd="6" destOrd="0" presId="urn:microsoft.com/office/officeart/2005/8/layout/target3"/>
    <dgm:cxn modelId="{41135519-5F5F-4445-9B16-76F1409214B2}" type="presParOf" srcId="{8EE0E4B7-F035-AA4B-82D3-1CBA00AB83D6}" destId="{5201EDC6-C155-7043-A9C1-D6E1EFEE5723}" srcOrd="7" destOrd="0" presId="urn:microsoft.com/office/officeart/2005/8/layout/target3"/>
    <dgm:cxn modelId="{9BB9B736-6297-474C-B956-05A240CA6EB6}" type="presParOf" srcId="{8EE0E4B7-F035-AA4B-82D3-1CBA00AB83D6}" destId="{5F2DCD29-87DA-8C4F-A830-26FBC692F1E2}" srcOrd="8" destOrd="0" presId="urn:microsoft.com/office/officeart/2005/8/layout/target3"/>
    <dgm:cxn modelId="{4615B853-EFE3-2545-AEA8-80C7BB6CA53D}" type="presParOf" srcId="{8EE0E4B7-F035-AA4B-82D3-1CBA00AB83D6}" destId="{1DAB14F2-0401-A448-ACA0-A0C1DF4102C9}" srcOrd="9" destOrd="0" presId="urn:microsoft.com/office/officeart/2005/8/layout/target3"/>
    <dgm:cxn modelId="{0A1548A0-BC49-884B-9113-400207D6CCDD}" type="presParOf" srcId="{8EE0E4B7-F035-AA4B-82D3-1CBA00AB83D6}" destId="{4E6E8971-C02A-904B-8197-C43CCBD8F560}" srcOrd="10" destOrd="0" presId="urn:microsoft.com/office/officeart/2005/8/layout/target3"/>
    <dgm:cxn modelId="{594EFA63-F2A3-3B4B-A760-771A2D1C4FDA}" type="presParOf" srcId="{8EE0E4B7-F035-AA4B-82D3-1CBA00AB83D6}" destId="{4764428A-C140-2C4E-821F-84FF9C64C950}" srcOrd="11"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BBA4C2C-5DED-3940-9699-838D93932BEA}" type="doc">
      <dgm:prSet loTypeId="urn:microsoft.com/office/officeart/2005/8/layout/hChevron3" loCatId="" qsTypeId="urn:microsoft.com/office/officeart/2005/8/quickstyle/simple1" qsCatId="simple" csTypeId="urn:microsoft.com/office/officeart/2005/8/colors/colorful2" csCatId="colorful" phldr="1"/>
      <dgm:spPr/>
    </dgm:pt>
    <dgm:pt modelId="{196F0884-153E-4B43-BCC3-D931BABB15D5}">
      <dgm:prSet phldrT="[Text]" custT="1"/>
      <dgm:spPr>
        <a:solidFill>
          <a:schemeClr val="bg1">
            <a:lumMod val="95000"/>
          </a:schemeClr>
        </a:solidFill>
      </dgm:spPr>
      <dgm:t>
        <a:bodyPr/>
        <a:lstStyle/>
        <a:p>
          <a:pPr algn="l"/>
          <a:r>
            <a:rPr lang="en-US" sz="2800" dirty="0">
              <a:solidFill>
                <a:schemeClr val="tx1"/>
              </a:solidFill>
            </a:rPr>
            <a:t>Periodic function</a:t>
          </a:r>
        </a:p>
      </dgm:t>
    </dgm:pt>
    <dgm:pt modelId="{DD8E6762-39CD-D84B-A71B-F62CCDAD0349}" type="parTrans" cxnId="{7006D361-43DA-AD45-BDBB-E592BDBA1660}">
      <dgm:prSet/>
      <dgm:spPr/>
      <dgm:t>
        <a:bodyPr/>
        <a:lstStyle/>
        <a:p>
          <a:endParaRPr lang="en-US" sz="3200">
            <a:solidFill>
              <a:schemeClr val="tx1"/>
            </a:solidFill>
          </a:endParaRPr>
        </a:p>
      </dgm:t>
    </dgm:pt>
    <dgm:pt modelId="{6E4EF3C9-7164-0E4E-8F70-0988B503B8B2}" type="sibTrans" cxnId="{7006D361-43DA-AD45-BDBB-E592BDBA1660}">
      <dgm:prSet/>
      <dgm:spPr/>
      <dgm:t>
        <a:bodyPr/>
        <a:lstStyle/>
        <a:p>
          <a:endParaRPr lang="en-US" sz="3200">
            <a:solidFill>
              <a:schemeClr val="tx1"/>
            </a:solidFill>
          </a:endParaRPr>
        </a:p>
      </dgm:t>
    </dgm:pt>
    <mc:AlternateContent xmlns:mc="http://schemas.openxmlformats.org/markup-compatibility/2006" xmlns:a14="http://schemas.microsoft.com/office/drawing/2010/main">
      <mc:Choice Requires="a14">
        <dgm:pt modelId="{538601FA-003E-1F40-9A11-315274D31737}">
          <dgm:prSet phldrT="[Text]" custT="1"/>
          <dgm:spPr>
            <a:solidFill>
              <a:schemeClr val="accent5">
                <a:lumMod val="20000"/>
                <a:lumOff val="80000"/>
              </a:schemeClr>
            </a:solidFill>
          </dgm:spPr>
          <dgm:t>
            <a:bodyPr/>
            <a:lstStyle/>
            <a:p>
              <a:pPr algn="ctr"/>
              <a14:m>
                <m:oMath xmlns:m="http://schemas.openxmlformats.org/officeDocument/2006/math">
                  <m:r>
                    <a:rPr lang="en-US" sz="2800" b="0" i="1" smtClean="0">
                      <a:solidFill>
                        <a:schemeClr val="tx1"/>
                      </a:solidFill>
                      <a:latin typeface="Cambria Math" panose="02040503050406030204" pitchFamily="18" charset="0"/>
                    </a:rPr>
                    <m:t>𝑓</m:t>
                  </m:r>
                  <m:d>
                    <m:dPr>
                      <m:ctrlPr>
                        <a:rPr lang="en-US" sz="2800" b="0" i="1" smtClean="0">
                          <a:solidFill>
                            <a:schemeClr val="tx1"/>
                          </a:solidFill>
                          <a:latin typeface="Cambria Math" panose="02040503050406030204" pitchFamily="18" charset="0"/>
                        </a:rPr>
                      </m:ctrlPr>
                    </m:dPr>
                    <m:e>
                      <m:r>
                        <a:rPr lang="en-US" sz="2800" b="0" i="1" smtClean="0">
                          <a:solidFill>
                            <a:schemeClr val="tx1"/>
                          </a:solidFill>
                          <a:latin typeface="Cambria Math" panose="02040503050406030204" pitchFamily="18" charset="0"/>
                        </a:rPr>
                        <m:t>𝑥</m:t>
                      </m:r>
                    </m:e>
                  </m:d>
                  <m:r>
                    <a:rPr lang="en-US" sz="2800" b="0" i="1" smtClean="0">
                      <a:solidFill>
                        <a:schemeClr val="tx1"/>
                      </a:solidFill>
                      <a:latin typeface="Cambria Math" panose="02040503050406030204" pitchFamily="18" charset="0"/>
                    </a:rPr>
                    <m:t>=</m:t>
                  </m:r>
                  <m:sSup>
                    <m:sSupPr>
                      <m:ctrlPr>
                        <a:rPr lang="en-US" sz="280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𝑎</m:t>
                      </m:r>
                    </m:e>
                    <m:sup>
                      <m:r>
                        <a:rPr lang="en-US" sz="2800" b="0" i="1" smtClean="0">
                          <a:solidFill>
                            <a:schemeClr val="tx1"/>
                          </a:solidFill>
                          <a:latin typeface="Cambria Math" panose="02040503050406030204" pitchFamily="18" charset="0"/>
                        </a:rPr>
                        <m:t>𝑥</m:t>
                      </m:r>
                    </m:sup>
                  </m:sSup>
                  <m:r>
                    <a:rPr lang="en-US" sz="2800" b="0" i="1" smtClean="0">
                      <a:solidFill>
                        <a:schemeClr val="tx1"/>
                      </a:solidFill>
                      <a:latin typeface="Cambria Math" panose="02040503050406030204" pitchFamily="18" charset="0"/>
                    </a:rPr>
                    <m:t> </m:t>
                  </m:r>
                  <m:r>
                    <a:rPr lang="en-US" sz="2800" b="0" i="1" smtClean="0">
                      <a:solidFill>
                        <a:schemeClr val="tx1"/>
                      </a:solidFill>
                      <a:latin typeface="Cambria Math" panose="02040503050406030204" pitchFamily="18" charset="0"/>
                    </a:rPr>
                    <m:t>𝑚𝑜𝑑</m:t>
                  </m:r>
                  <m:r>
                    <a:rPr lang="en-US" sz="2800" b="0" i="1" smtClean="0">
                      <a:solidFill>
                        <a:schemeClr val="tx1"/>
                      </a:solidFill>
                      <a:latin typeface="Cambria Math" panose="02040503050406030204" pitchFamily="18" charset="0"/>
                    </a:rPr>
                    <m:t> </m:t>
                  </m:r>
                  <m:r>
                    <a:rPr lang="sr-Latn-RS" sz="2800" b="0" i="1" smtClean="0">
                      <a:solidFill>
                        <a:schemeClr val="tx1"/>
                      </a:solidFill>
                      <a:latin typeface="Cambria Math" panose="02040503050406030204" pitchFamily="18" charset="0"/>
                    </a:rPr>
                    <m:t>𝑛</m:t>
                  </m:r>
                  <m:r>
                    <a:rPr lang="en-US" sz="28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sz="2800" b="0" i="1" smtClean="0">
                          <a:solidFill>
                            <a:schemeClr val="tx1"/>
                          </a:solidFill>
                          <a:latin typeface="Cambria Math" panose="02040503050406030204" pitchFamily="18" charset="0"/>
                          <a:ea typeface="Cambria Math" panose="02040503050406030204" pitchFamily="18" charset="0"/>
                        </a:rPr>
                      </m:ctrlPr>
                    </m:dPr>
                    <m:e>
                      <m:m>
                        <m:mPr>
                          <m:mcs>
                            <m:mc>
                              <m:mcPr>
                                <m:count m:val="1"/>
                                <m:mcJc m:val="center"/>
                              </m:mcPr>
                            </m:mc>
                          </m:mcs>
                          <m:ctrlPr>
                            <a:rPr lang="en-US" sz="2800" b="0" i="1" smtClean="0">
                              <a:solidFill>
                                <a:schemeClr val="tx1"/>
                              </a:solidFill>
                              <a:latin typeface="Cambria Math" panose="02040503050406030204" pitchFamily="18" charset="0"/>
                              <a:ea typeface="Cambria Math" panose="02040503050406030204" pitchFamily="18" charset="0"/>
                            </a:rPr>
                          </m:ctrlPr>
                        </m:mPr>
                        <m:mr>
                          <m:e>
                            <m:r>
                              <a:rPr lang="en-US" sz="2800" b="0" i="1" smtClean="0">
                                <a:solidFill>
                                  <a:schemeClr val="tx1"/>
                                </a:solidFill>
                                <a:latin typeface="Cambria Math" panose="02040503050406030204" pitchFamily="18" charset="0"/>
                              </a:rPr>
                              <m:t>𝑓</m:t>
                            </m:r>
                            <m:d>
                              <m:dPr>
                                <m:ctrlPr>
                                  <a:rPr lang="en-US" sz="2800" b="0" i="1" smtClean="0">
                                    <a:solidFill>
                                      <a:schemeClr val="tx1"/>
                                    </a:solidFill>
                                    <a:latin typeface="Cambria Math" panose="02040503050406030204" pitchFamily="18" charset="0"/>
                                  </a:rPr>
                                </m:ctrlPr>
                              </m:dPr>
                              <m:e>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𝑥</m:t>
                                    </m:r>
                                  </m:e>
                                  <m:sub>
                                    <m:r>
                                      <a:rPr lang="en-US" sz="2800" b="0" i="1" smtClean="0">
                                        <a:solidFill>
                                          <a:schemeClr val="tx1"/>
                                        </a:solidFill>
                                        <a:latin typeface="Cambria Math" panose="02040503050406030204" pitchFamily="18" charset="0"/>
                                      </a:rPr>
                                      <m:t>=0</m:t>
                                    </m:r>
                                  </m:sub>
                                </m:sSub>
                              </m:e>
                            </m:d>
                            <m:r>
                              <a:rPr lang="en-US" sz="2800" b="0" i="1" smtClean="0">
                                <a:solidFill>
                                  <a:schemeClr val="tx1"/>
                                </a:solidFill>
                                <a:latin typeface="Cambria Math" panose="02040503050406030204" pitchFamily="18" charset="0"/>
                              </a:rPr>
                              <m:t>=1</m:t>
                            </m:r>
                          </m:e>
                        </m:mr>
                        <m:mr>
                          <m:e>
                            <m:r>
                              <a:rPr lang="en-US" sz="2800" b="0" i="1" smtClean="0">
                                <a:solidFill>
                                  <a:schemeClr val="tx1"/>
                                </a:solidFill>
                                <a:latin typeface="Cambria Math" panose="02040503050406030204" pitchFamily="18" charset="0"/>
                              </a:rPr>
                              <m:t>𝑓</m:t>
                            </m:r>
                            <m:d>
                              <m:dPr>
                                <m:ctrlPr>
                                  <a:rPr lang="en-US" sz="2800" b="0" i="1" smtClean="0">
                                    <a:solidFill>
                                      <a:schemeClr val="tx1"/>
                                    </a:solidFill>
                                    <a:latin typeface="Cambria Math" panose="02040503050406030204" pitchFamily="18" charset="0"/>
                                  </a:rPr>
                                </m:ctrlPr>
                              </m:dPr>
                              <m:e>
                                <m:sSub>
                                  <m:sSubPr>
                                    <m:ctrlPr>
                                      <a:rPr lang="en-US" sz="2800" b="0" i="1" smtClean="0">
                                        <a:solidFill>
                                          <a:schemeClr val="tx1"/>
                                        </a:solidFill>
                                        <a:latin typeface="Cambria Math" panose="02040503050406030204" pitchFamily="18" charset="0"/>
                                      </a:rPr>
                                    </m:ctrlPr>
                                  </m:sSubPr>
                                  <m:e>
                                    <m:r>
                                      <a:rPr lang="en-US" sz="2800" b="0" i="1" smtClean="0">
                                        <a:solidFill>
                                          <a:schemeClr val="tx1"/>
                                        </a:solidFill>
                                        <a:latin typeface="Cambria Math" panose="02040503050406030204" pitchFamily="18" charset="0"/>
                                      </a:rPr>
                                      <m:t>𝑥</m:t>
                                    </m:r>
                                  </m:e>
                                  <m:sub>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𝑟</m:t>
                                    </m:r>
                                  </m:sub>
                                </m:sSub>
                              </m:e>
                            </m:d>
                            <m:r>
                              <a:rPr lang="en-US" sz="2800" b="0" i="1" smtClean="0">
                                <a:solidFill>
                                  <a:schemeClr val="tx1"/>
                                </a:solidFill>
                                <a:latin typeface="Cambria Math" panose="02040503050406030204" pitchFamily="18" charset="0"/>
                              </a:rPr>
                              <m:t>=1</m:t>
                            </m:r>
                          </m:e>
                        </m:mr>
                      </m:m>
                    </m:e>
                  </m:d>
                </m:oMath>
              </a14:m>
              <a:r>
                <a:rPr lang="en-US" sz="2800" i="0" dirty="0">
                  <a:solidFill>
                    <a:schemeClr val="tx1"/>
                  </a:solidFill>
                  <a:latin typeface="+mn-lt"/>
                  <a:ea typeface="Cambria Math" panose="02040503050406030204" pitchFamily="18" charset="0"/>
                </a:rPr>
                <a:t> </a:t>
              </a:r>
            </a:p>
          </dgm:t>
        </dgm:pt>
      </mc:Choice>
      <mc:Fallback xmlns="">
        <dgm:pt modelId="{538601FA-003E-1F40-9A11-315274D31737}">
          <dgm:prSet phldrT="[Text]" custT="1"/>
          <dgm:spPr>
            <a:solidFill>
              <a:schemeClr val="accent5">
                <a:lumMod val="20000"/>
                <a:lumOff val="80000"/>
              </a:schemeClr>
            </a:solidFill>
          </dgm:spPr>
          <dgm:t>
            <a:bodyPr/>
            <a:lstStyle/>
            <a:p>
              <a:pPr algn="ctr"/>
              <a:r>
                <a:rPr lang="en-US" sz="2800" b="0" i="0">
                  <a:solidFill>
                    <a:schemeClr val="tx1"/>
                  </a:solidFill>
                  <a:latin typeface="Cambria Math" panose="02040503050406030204" pitchFamily="18" charset="0"/>
                </a:rPr>
                <a:t>𝑓(𝑥)=𝑎^𝑥  𝑚𝑜𝑑 </a:t>
              </a:r>
              <a:r>
                <a:rPr lang="sr-Latn-RS" sz="2800" b="0" i="0">
                  <a:solidFill>
                    <a:schemeClr val="tx1"/>
                  </a:solidFill>
                  <a:latin typeface="Cambria Math" panose="02040503050406030204" pitchFamily="18" charset="0"/>
                </a:rPr>
                <a:t>𝑛</a:t>
              </a:r>
              <a:r>
                <a:rPr lang="en-US" sz="2800" b="0" i="0">
                  <a:solidFill>
                    <a:schemeClr val="tx1"/>
                  </a:solidFill>
                  <a:latin typeface="Cambria Math" panose="02040503050406030204" pitchFamily="18" charset="0"/>
                  <a:ea typeface="Cambria Math" panose="02040503050406030204" pitchFamily="18" charset="0"/>
                </a:rPr>
                <a:t>→{■8(</a:t>
              </a:r>
              <a:r>
                <a:rPr lang="en-US" sz="2800" b="0" i="0">
                  <a:solidFill>
                    <a:schemeClr val="tx1"/>
                  </a:solidFill>
                  <a:latin typeface="Cambria Math" panose="02040503050406030204" pitchFamily="18" charset="0"/>
                </a:rPr>
                <a:t>𝑓(𝑥_(=0) )=1@𝑓(𝑥_(=𝑟) )=1)┤</a:t>
              </a:r>
              <a:r>
                <a:rPr lang="en-US" sz="2800" i="0" dirty="0">
                  <a:solidFill>
                    <a:schemeClr val="tx1"/>
                  </a:solidFill>
                  <a:latin typeface="+mn-lt"/>
                  <a:ea typeface="Cambria Math" panose="02040503050406030204" pitchFamily="18" charset="0"/>
                </a:rPr>
                <a:t> </a:t>
              </a:r>
            </a:p>
          </dgm:t>
        </dgm:pt>
      </mc:Fallback>
    </mc:AlternateContent>
    <dgm:pt modelId="{2851EF8D-52AA-3E4E-AC86-3CCB77577061}" type="parTrans" cxnId="{A2AC26A9-C494-A641-8F0D-740F34402D7D}">
      <dgm:prSet/>
      <dgm:spPr/>
      <dgm:t>
        <a:bodyPr/>
        <a:lstStyle/>
        <a:p>
          <a:endParaRPr lang="en-US" sz="3200">
            <a:solidFill>
              <a:schemeClr val="tx1"/>
            </a:solidFill>
          </a:endParaRPr>
        </a:p>
      </dgm:t>
    </dgm:pt>
    <dgm:pt modelId="{41CAD2B2-ECC0-3543-A481-A846B72869D0}" type="sibTrans" cxnId="{A2AC26A9-C494-A641-8F0D-740F34402D7D}">
      <dgm:prSet/>
      <dgm:spPr/>
      <dgm:t>
        <a:bodyPr/>
        <a:lstStyle/>
        <a:p>
          <a:endParaRPr lang="en-US" sz="3200">
            <a:solidFill>
              <a:schemeClr val="tx1"/>
            </a:solidFill>
          </a:endParaRPr>
        </a:p>
      </dgm:t>
    </dgm:pt>
    <dgm:pt modelId="{1F85FE15-0DD2-0943-8E72-FF83FF050C4E}" type="pres">
      <dgm:prSet presAssocID="{0BBA4C2C-5DED-3940-9699-838D93932BEA}" presName="Name0" presStyleCnt="0">
        <dgm:presLayoutVars>
          <dgm:dir/>
          <dgm:resizeHandles val="exact"/>
        </dgm:presLayoutVars>
      </dgm:prSet>
      <dgm:spPr/>
    </dgm:pt>
    <dgm:pt modelId="{C042C814-BA0C-E44F-80E9-1EE4C22CA83D}" type="pres">
      <dgm:prSet presAssocID="{196F0884-153E-4B43-BCC3-D931BABB15D5}" presName="parTxOnly" presStyleLbl="node1" presStyleIdx="0" presStyleCnt="2" custScaleX="40155" custLinFactNeighborX="742">
        <dgm:presLayoutVars>
          <dgm:bulletEnabled val="1"/>
        </dgm:presLayoutVars>
      </dgm:prSet>
      <dgm:spPr/>
    </dgm:pt>
    <dgm:pt modelId="{9302BE9F-4EE8-E548-9001-74D777CAA615}" type="pres">
      <dgm:prSet presAssocID="{6E4EF3C9-7164-0E4E-8F70-0988B503B8B2}" presName="parSpace" presStyleCnt="0"/>
      <dgm:spPr/>
    </dgm:pt>
    <dgm:pt modelId="{878896BA-557A-5049-8A92-AC0CF143522C}" type="pres">
      <dgm:prSet presAssocID="{538601FA-003E-1F40-9A11-315274D31737}" presName="parTxOnly" presStyleLbl="node1" presStyleIdx="1" presStyleCnt="2" custScaleX="71246">
        <dgm:presLayoutVars>
          <dgm:bulletEnabled val="1"/>
        </dgm:presLayoutVars>
      </dgm:prSet>
      <dgm:spPr/>
    </dgm:pt>
  </dgm:ptLst>
  <dgm:cxnLst>
    <dgm:cxn modelId="{A578433D-6FD0-B344-93B8-303015F7B420}" type="presOf" srcId="{196F0884-153E-4B43-BCC3-D931BABB15D5}" destId="{C042C814-BA0C-E44F-80E9-1EE4C22CA83D}" srcOrd="0" destOrd="0" presId="urn:microsoft.com/office/officeart/2005/8/layout/hChevron3"/>
    <dgm:cxn modelId="{7006D361-43DA-AD45-BDBB-E592BDBA1660}" srcId="{0BBA4C2C-5DED-3940-9699-838D93932BEA}" destId="{196F0884-153E-4B43-BCC3-D931BABB15D5}" srcOrd="0" destOrd="0" parTransId="{DD8E6762-39CD-D84B-A71B-F62CCDAD0349}" sibTransId="{6E4EF3C9-7164-0E4E-8F70-0988B503B8B2}"/>
    <dgm:cxn modelId="{D57C2271-B076-E947-A3A9-8C9476D1F3A0}" type="presOf" srcId="{538601FA-003E-1F40-9A11-315274D31737}" destId="{878896BA-557A-5049-8A92-AC0CF143522C}" srcOrd="0" destOrd="0" presId="urn:microsoft.com/office/officeart/2005/8/layout/hChevron3"/>
    <dgm:cxn modelId="{CDC30F95-3841-174D-B071-C58CFE83A16E}" type="presOf" srcId="{0BBA4C2C-5DED-3940-9699-838D93932BEA}" destId="{1F85FE15-0DD2-0943-8E72-FF83FF050C4E}" srcOrd="0" destOrd="0" presId="urn:microsoft.com/office/officeart/2005/8/layout/hChevron3"/>
    <dgm:cxn modelId="{A2AC26A9-C494-A641-8F0D-740F34402D7D}" srcId="{0BBA4C2C-5DED-3940-9699-838D93932BEA}" destId="{538601FA-003E-1F40-9A11-315274D31737}" srcOrd="1" destOrd="0" parTransId="{2851EF8D-52AA-3E4E-AC86-3CCB77577061}" sibTransId="{41CAD2B2-ECC0-3543-A481-A846B72869D0}"/>
    <dgm:cxn modelId="{01F579A9-C93E-B649-B22F-86B461B839E9}" type="presParOf" srcId="{1F85FE15-0DD2-0943-8E72-FF83FF050C4E}" destId="{C042C814-BA0C-E44F-80E9-1EE4C22CA83D}" srcOrd="0" destOrd="0" presId="urn:microsoft.com/office/officeart/2005/8/layout/hChevron3"/>
    <dgm:cxn modelId="{CAB0CD16-1E8B-0542-A661-CCB19C0CDF90}" type="presParOf" srcId="{1F85FE15-0DD2-0943-8E72-FF83FF050C4E}" destId="{9302BE9F-4EE8-E548-9001-74D777CAA615}" srcOrd="1" destOrd="0" presId="urn:microsoft.com/office/officeart/2005/8/layout/hChevron3"/>
    <dgm:cxn modelId="{CFC8EC15-8F28-FD49-8397-DFE7FE4A5934}" type="presParOf" srcId="{1F85FE15-0DD2-0943-8E72-FF83FF050C4E}" destId="{878896BA-557A-5049-8A92-AC0CF143522C}" srcOrd="2"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BBA4C2C-5DED-3940-9699-838D93932BEA}" type="doc">
      <dgm:prSet loTypeId="urn:microsoft.com/office/officeart/2005/8/layout/hChevron3" loCatId="" qsTypeId="urn:microsoft.com/office/officeart/2005/8/quickstyle/simple1" qsCatId="simple" csTypeId="urn:microsoft.com/office/officeart/2005/8/colors/colorful2" csCatId="colorful" phldr="1"/>
      <dgm:spPr/>
    </dgm:pt>
    <dgm:pt modelId="{196F0884-153E-4B43-BCC3-D931BABB15D5}">
      <dgm:prSet phldrT="[Text]" custT="1"/>
      <dgm:spPr>
        <a:solidFill>
          <a:schemeClr val="bg1">
            <a:lumMod val="95000"/>
          </a:schemeClr>
        </a:solidFill>
      </dgm:spPr>
      <dgm:t>
        <a:bodyPr/>
        <a:lstStyle/>
        <a:p>
          <a:pPr algn="l"/>
          <a:r>
            <a:rPr lang="en-US" sz="2800" dirty="0">
              <a:solidFill>
                <a:schemeClr val="tx1"/>
              </a:solidFill>
            </a:rPr>
            <a:t>Periodic function</a:t>
          </a:r>
        </a:p>
      </dgm:t>
    </dgm:pt>
    <dgm:pt modelId="{DD8E6762-39CD-D84B-A71B-F62CCDAD0349}" type="parTrans" cxnId="{7006D361-43DA-AD45-BDBB-E592BDBA1660}">
      <dgm:prSet/>
      <dgm:spPr/>
      <dgm:t>
        <a:bodyPr/>
        <a:lstStyle/>
        <a:p>
          <a:endParaRPr lang="en-US" sz="3200">
            <a:solidFill>
              <a:schemeClr val="tx1"/>
            </a:solidFill>
          </a:endParaRPr>
        </a:p>
      </dgm:t>
    </dgm:pt>
    <dgm:pt modelId="{6E4EF3C9-7164-0E4E-8F70-0988B503B8B2}" type="sibTrans" cxnId="{7006D361-43DA-AD45-BDBB-E592BDBA1660}">
      <dgm:prSet/>
      <dgm:spPr/>
      <dgm:t>
        <a:bodyPr/>
        <a:lstStyle/>
        <a:p>
          <a:endParaRPr lang="en-US" sz="3200">
            <a:solidFill>
              <a:schemeClr val="tx1"/>
            </a:solidFill>
          </a:endParaRPr>
        </a:p>
      </dgm:t>
    </dgm:pt>
    <dgm:pt modelId="{538601FA-003E-1F40-9A11-315274D31737}">
      <dgm:prSet phldrT="[Text]" custT="1"/>
      <dgm:spPr>
        <a:blipFill>
          <a:blip xmlns:r="http://schemas.openxmlformats.org/officeDocument/2006/relationships" r:embed="rId1"/>
          <a:stretch>
            <a:fillRect t="-185556" b="-265556"/>
          </a:stretch>
        </a:blipFill>
      </dgm:spPr>
      <dgm:t>
        <a:bodyPr/>
        <a:lstStyle/>
        <a:p>
          <a:r>
            <a:rPr lang="en-US">
              <a:noFill/>
            </a:rPr>
            <a:t> </a:t>
          </a:r>
        </a:p>
      </dgm:t>
    </dgm:pt>
    <dgm:pt modelId="{2851EF8D-52AA-3E4E-AC86-3CCB77577061}" type="parTrans" cxnId="{A2AC26A9-C494-A641-8F0D-740F34402D7D}">
      <dgm:prSet/>
      <dgm:spPr/>
      <dgm:t>
        <a:bodyPr/>
        <a:lstStyle/>
        <a:p>
          <a:endParaRPr lang="en-US" sz="3200">
            <a:solidFill>
              <a:schemeClr val="tx1"/>
            </a:solidFill>
          </a:endParaRPr>
        </a:p>
      </dgm:t>
    </dgm:pt>
    <dgm:pt modelId="{41CAD2B2-ECC0-3543-A481-A846B72869D0}" type="sibTrans" cxnId="{A2AC26A9-C494-A641-8F0D-740F34402D7D}">
      <dgm:prSet/>
      <dgm:spPr/>
      <dgm:t>
        <a:bodyPr/>
        <a:lstStyle/>
        <a:p>
          <a:endParaRPr lang="en-US" sz="3200">
            <a:solidFill>
              <a:schemeClr val="tx1"/>
            </a:solidFill>
          </a:endParaRPr>
        </a:p>
      </dgm:t>
    </dgm:pt>
    <dgm:pt modelId="{1F85FE15-0DD2-0943-8E72-FF83FF050C4E}" type="pres">
      <dgm:prSet presAssocID="{0BBA4C2C-5DED-3940-9699-838D93932BEA}" presName="Name0" presStyleCnt="0">
        <dgm:presLayoutVars>
          <dgm:dir/>
          <dgm:resizeHandles val="exact"/>
        </dgm:presLayoutVars>
      </dgm:prSet>
      <dgm:spPr/>
    </dgm:pt>
    <dgm:pt modelId="{C042C814-BA0C-E44F-80E9-1EE4C22CA83D}" type="pres">
      <dgm:prSet presAssocID="{196F0884-153E-4B43-BCC3-D931BABB15D5}" presName="parTxOnly" presStyleLbl="node1" presStyleIdx="0" presStyleCnt="2" custScaleX="40155" custLinFactNeighborX="742">
        <dgm:presLayoutVars>
          <dgm:bulletEnabled val="1"/>
        </dgm:presLayoutVars>
      </dgm:prSet>
      <dgm:spPr/>
    </dgm:pt>
    <dgm:pt modelId="{9302BE9F-4EE8-E548-9001-74D777CAA615}" type="pres">
      <dgm:prSet presAssocID="{6E4EF3C9-7164-0E4E-8F70-0988B503B8B2}" presName="parSpace" presStyleCnt="0"/>
      <dgm:spPr/>
    </dgm:pt>
    <dgm:pt modelId="{878896BA-557A-5049-8A92-AC0CF143522C}" type="pres">
      <dgm:prSet presAssocID="{538601FA-003E-1F40-9A11-315274D31737}" presName="parTxOnly" presStyleLbl="node1" presStyleIdx="1" presStyleCnt="2" custScaleX="71246">
        <dgm:presLayoutVars>
          <dgm:bulletEnabled val="1"/>
        </dgm:presLayoutVars>
      </dgm:prSet>
      <dgm:spPr/>
    </dgm:pt>
  </dgm:ptLst>
  <dgm:cxnLst>
    <dgm:cxn modelId="{A578433D-6FD0-B344-93B8-303015F7B420}" type="presOf" srcId="{196F0884-153E-4B43-BCC3-D931BABB15D5}" destId="{C042C814-BA0C-E44F-80E9-1EE4C22CA83D}" srcOrd="0" destOrd="0" presId="urn:microsoft.com/office/officeart/2005/8/layout/hChevron3"/>
    <dgm:cxn modelId="{7006D361-43DA-AD45-BDBB-E592BDBA1660}" srcId="{0BBA4C2C-5DED-3940-9699-838D93932BEA}" destId="{196F0884-153E-4B43-BCC3-D931BABB15D5}" srcOrd="0" destOrd="0" parTransId="{DD8E6762-39CD-D84B-A71B-F62CCDAD0349}" sibTransId="{6E4EF3C9-7164-0E4E-8F70-0988B503B8B2}"/>
    <dgm:cxn modelId="{D57C2271-B076-E947-A3A9-8C9476D1F3A0}" type="presOf" srcId="{538601FA-003E-1F40-9A11-315274D31737}" destId="{878896BA-557A-5049-8A92-AC0CF143522C}" srcOrd="0" destOrd="0" presId="urn:microsoft.com/office/officeart/2005/8/layout/hChevron3"/>
    <dgm:cxn modelId="{CDC30F95-3841-174D-B071-C58CFE83A16E}" type="presOf" srcId="{0BBA4C2C-5DED-3940-9699-838D93932BEA}" destId="{1F85FE15-0DD2-0943-8E72-FF83FF050C4E}" srcOrd="0" destOrd="0" presId="urn:microsoft.com/office/officeart/2005/8/layout/hChevron3"/>
    <dgm:cxn modelId="{A2AC26A9-C494-A641-8F0D-740F34402D7D}" srcId="{0BBA4C2C-5DED-3940-9699-838D93932BEA}" destId="{538601FA-003E-1F40-9A11-315274D31737}" srcOrd="1" destOrd="0" parTransId="{2851EF8D-52AA-3E4E-AC86-3CCB77577061}" sibTransId="{41CAD2B2-ECC0-3543-A481-A846B72869D0}"/>
    <dgm:cxn modelId="{01F579A9-C93E-B649-B22F-86B461B839E9}" type="presParOf" srcId="{1F85FE15-0DD2-0943-8E72-FF83FF050C4E}" destId="{C042C814-BA0C-E44F-80E9-1EE4C22CA83D}" srcOrd="0" destOrd="0" presId="urn:microsoft.com/office/officeart/2005/8/layout/hChevron3"/>
    <dgm:cxn modelId="{CAB0CD16-1E8B-0542-A661-CCB19C0CDF90}" type="presParOf" srcId="{1F85FE15-0DD2-0943-8E72-FF83FF050C4E}" destId="{9302BE9F-4EE8-E548-9001-74D777CAA615}" srcOrd="1" destOrd="0" presId="urn:microsoft.com/office/officeart/2005/8/layout/hChevron3"/>
    <dgm:cxn modelId="{CFC8EC15-8F28-FD49-8397-DFE7FE4A5934}" type="presParOf" srcId="{1F85FE15-0DD2-0943-8E72-FF83FF050C4E}" destId="{878896BA-557A-5049-8A92-AC0CF143522C}" srcOrd="2"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D8E0E0-BEDC-5F4E-8384-CB0DE46AA46B}">
      <dsp:nvSpPr>
        <dsp:cNvPr id="0" name=""/>
        <dsp:cNvSpPr/>
      </dsp:nvSpPr>
      <dsp:spPr>
        <a:xfrm>
          <a:off x="0" y="249633"/>
          <a:ext cx="11633198" cy="3780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6718003-3AD3-634B-B0D8-CF5F36BA7157}">
      <dsp:nvSpPr>
        <dsp:cNvPr id="0" name=""/>
        <dsp:cNvSpPr/>
      </dsp:nvSpPr>
      <dsp:spPr>
        <a:xfrm>
          <a:off x="581659" y="28233"/>
          <a:ext cx="8143239" cy="44280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7795" tIns="0" rIns="307795" bIns="0" numCol="1" spcCol="1270" anchor="ctr" anchorCtr="0">
          <a:noAutofit/>
        </a:bodyPr>
        <a:lstStyle/>
        <a:p>
          <a:pPr marL="0" lvl="0" indent="0" algn="l" defTabSz="1244600">
            <a:lnSpc>
              <a:spcPct val="90000"/>
            </a:lnSpc>
            <a:spcBef>
              <a:spcPct val="0"/>
            </a:spcBef>
            <a:spcAft>
              <a:spcPct val="35000"/>
            </a:spcAft>
            <a:buNone/>
          </a:pPr>
          <a:r>
            <a:rPr lang="en-US" sz="2800" kern="1200" dirty="0">
              <a:solidFill>
                <a:schemeClr val="tx1"/>
              </a:solidFill>
            </a:rPr>
            <a:t>Complex Numbers</a:t>
          </a:r>
        </a:p>
      </dsp:txBody>
      <dsp:txXfrm>
        <a:off x="603275" y="49849"/>
        <a:ext cx="8100007" cy="399568"/>
      </dsp:txXfrm>
    </dsp:sp>
    <dsp:sp modelId="{7FDAC979-E74C-8F4C-B389-8CEB3502D061}">
      <dsp:nvSpPr>
        <dsp:cNvPr id="0" name=""/>
        <dsp:cNvSpPr/>
      </dsp:nvSpPr>
      <dsp:spPr>
        <a:xfrm>
          <a:off x="0" y="930033"/>
          <a:ext cx="11633198" cy="378000"/>
        </a:xfrm>
        <a:prstGeom prst="rect">
          <a:avLst/>
        </a:prstGeom>
        <a:solidFill>
          <a:schemeClr val="lt1">
            <a:alpha val="90000"/>
            <a:hueOff val="0"/>
            <a:satOff val="0"/>
            <a:lumOff val="0"/>
            <a:alphaOff val="0"/>
          </a:schemeClr>
        </a:solidFill>
        <a:ln w="12700" cap="flat" cmpd="sng" algn="ctr">
          <a:solidFill>
            <a:schemeClr val="accent4">
              <a:hueOff val="1400127"/>
              <a:satOff val="-5825"/>
              <a:lumOff val="1373"/>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714608-9349-834E-A43A-D62E1D614680}">
      <dsp:nvSpPr>
        <dsp:cNvPr id="0" name=""/>
        <dsp:cNvSpPr/>
      </dsp:nvSpPr>
      <dsp:spPr>
        <a:xfrm>
          <a:off x="581659" y="708633"/>
          <a:ext cx="8143239" cy="442800"/>
        </a:xfrm>
        <a:prstGeom prst="roundRect">
          <a:avLst/>
        </a:prstGeom>
        <a:solidFill>
          <a:schemeClr val="accent4">
            <a:hueOff val="1400127"/>
            <a:satOff val="-5825"/>
            <a:lumOff val="13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7795" tIns="0" rIns="307795" bIns="0" numCol="1" spcCol="1270" anchor="ctr" anchorCtr="0">
          <a:noAutofit/>
        </a:bodyPr>
        <a:lstStyle/>
        <a:p>
          <a:pPr marL="0" lvl="0" indent="0" algn="l" defTabSz="1244600">
            <a:lnSpc>
              <a:spcPct val="90000"/>
            </a:lnSpc>
            <a:spcBef>
              <a:spcPct val="0"/>
            </a:spcBef>
            <a:spcAft>
              <a:spcPct val="35000"/>
            </a:spcAft>
            <a:buNone/>
          </a:pPr>
          <a:r>
            <a:rPr lang="en-US" sz="2800" kern="1200" dirty="0">
              <a:solidFill>
                <a:schemeClr val="tx1"/>
              </a:solidFill>
            </a:rPr>
            <a:t>Matrices</a:t>
          </a:r>
        </a:p>
      </dsp:txBody>
      <dsp:txXfrm>
        <a:off x="603275" y="730249"/>
        <a:ext cx="8100007" cy="399568"/>
      </dsp:txXfrm>
    </dsp:sp>
    <dsp:sp modelId="{46502A8F-752B-5A4D-9BF1-3CC0E4DBC854}">
      <dsp:nvSpPr>
        <dsp:cNvPr id="0" name=""/>
        <dsp:cNvSpPr/>
      </dsp:nvSpPr>
      <dsp:spPr>
        <a:xfrm>
          <a:off x="0" y="1610433"/>
          <a:ext cx="11633198" cy="378000"/>
        </a:xfrm>
        <a:prstGeom prst="rect">
          <a:avLst/>
        </a:prstGeom>
        <a:solidFill>
          <a:schemeClr val="lt1">
            <a:alpha val="90000"/>
            <a:hueOff val="0"/>
            <a:satOff val="0"/>
            <a:lumOff val="0"/>
            <a:alphaOff val="0"/>
          </a:schemeClr>
        </a:solidFill>
        <a:ln w="12700" cap="flat" cmpd="sng" algn="ctr">
          <a:solidFill>
            <a:schemeClr val="accent4">
              <a:hueOff val="2800255"/>
              <a:satOff val="-11651"/>
              <a:lumOff val="2745"/>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AD2812-CAA7-5C4D-A222-08B2AB900C6D}">
      <dsp:nvSpPr>
        <dsp:cNvPr id="0" name=""/>
        <dsp:cNvSpPr/>
      </dsp:nvSpPr>
      <dsp:spPr>
        <a:xfrm>
          <a:off x="581659" y="1389033"/>
          <a:ext cx="8143239" cy="442800"/>
        </a:xfrm>
        <a:prstGeom prst="roundRect">
          <a:avLst/>
        </a:prstGeom>
        <a:solidFill>
          <a:schemeClr val="accent4">
            <a:hueOff val="2800255"/>
            <a:satOff val="-11651"/>
            <a:lumOff val="274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7795" tIns="0" rIns="307795" bIns="0" numCol="1" spcCol="1270" anchor="ctr" anchorCtr="0">
          <a:noAutofit/>
        </a:bodyPr>
        <a:lstStyle/>
        <a:p>
          <a:pPr marL="0" lvl="0" indent="0" algn="l" defTabSz="1244600">
            <a:lnSpc>
              <a:spcPct val="90000"/>
            </a:lnSpc>
            <a:spcBef>
              <a:spcPct val="0"/>
            </a:spcBef>
            <a:spcAft>
              <a:spcPct val="35000"/>
            </a:spcAft>
            <a:buNone/>
          </a:pPr>
          <a:r>
            <a:rPr lang="en-US" sz="2800" kern="1200" dirty="0">
              <a:solidFill>
                <a:schemeClr val="tx1"/>
              </a:solidFill>
            </a:rPr>
            <a:t>Vectors and Vector Spaces</a:t>
          </a:r>
        </a:p>
      </dsp:txBody>
      <dsp:txXfrm>
        <a:off x="603275" y="1410649"/>
        <a:ext cx="8100007" cy="399568"/>
      </dsp:txXfrm>
    </dsp:sp>
    <dsp:sp modelId="{DA825067-BC20-854F-A9BA-0967617F7729}">
      <dsp:nvSpPr>
        <dsp:cNvPr id="0" name=""/>
        <dsp:cNvSpPr/>
      </dsp:nvSpPr>
      <dsp:spPr>
        <a:xfrm>
          <a:off x="0" y="2290833"/>
          <a:ext cx="11633198" cy="378000"/>
        </a:xfrm>
        <a:prstGeom prst="rect">
          <a:avLst/>
        </a:prstGeom>
        <a:solidFill>
          <a:schemeClr val="lt1">
            <a:alpha val="90000"/>
            <a:hueOff val="0"/>
            <a:satOff val="0"/>
            <a:lumOff val="0"/>
            <a:alphaOff val="0"/>
          </a:schemeClr>
        </a:solidFill>
        <a:ln w="12700" cap="flat" cmpd="sng" algn="ctr">
          <a:solidFill>
            <a:schemeClr val="accent4">
              <a:hueOff val="4200382"/>
              <a:satOff val="-17476"/>
              <a:lumOff val="4118"/>
              <a:alphaOff val="0"/>
            </a:schemeClr>
          </a:solidFill>
          <a:prstDash val="solid"/>
          <a:miter lim="800000"/>
        </a:ln>
        <a:effectLst/>
      </dsp:spPr>
      <dsp:style>
        <a:lnRef idx="2">
          <a:scrgbClr r="0" g="0" b="0"/>
        </a:lnRef>
        <a:fillRef idx="1">
          <a:scrgbClr r="0" g="0" b="0"/>
        </a:fillRef>
        <a:effectRef idx="0">
          <a:scrgbClr r="0" g="0" b="0"/>
        </a:effectRef>
        <a:fontRef idx="minor"/>
      </dsp:style>
    </dsp:sp>
    <dsp:sp modelId="{0D98D64E-DFF4-FD42-9067-0747644AC8F2}">
      <dsp:nvSpPr>
        <dsp:cNvPr id="0" name=""/>
        <dsp:cNvSpPr/>
      </dsp:nvSpPr>
      <dsp:spPr>
        <a:xfrm>
          <a:off x="581659" y="2069433"/>
          <a:ext cx="8143239" cy="442800"/>
        </a:xfrm>
        <a:prstGeom prst="roundRect">
          <a:avLst/>
        </a:prstGeom>
        <a:solidFill>
          <a:schemeClr val="accent4">
            <a:hueOff val="4200382"/>
            <a:satOff val="-17476"/>
            <a:lumOff val="411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7795" tIns="0" rIns="307795" bIns="0" numCol="1" spcCol="1270" anchor="ctr" anchorCtr="0">
          <a:noAutofit/>
        </a:bodyPr>
        <a:lstStyle/>
        <a:p>
          <a:pPr marL="0" lvl="0" indent="0" algn="l" defTabSz="1244600">
            <a:lnSpc>
              <a:spcPct val="90000"/>
            </a:lnSpc>
            <a:spcBef>
              <a:spcPct val="0"/>
            </a:spcBef>
            <a:spcAft>
              <a:spcPct val="35000"/>
            </a:spcAft>
            <a:buNone/>
          </a:pPr>
          <a:r>
            <a:rPr lang="en-US" sz="2800" kern="1200" dirty="0">
              <a:solidFill>
                <a:schemeClr val="tx1"/>
              </a:solidFill>
            </a:rPr>
            <a:t>Linear Transformations</a:t>
          </a:r>
        </a:p>
      </dsp:txBody>
      <dsp:txXfrm>
        <a:off x="603275" y="2091049"/>
        <a:ext cx="8100007" cy="399568"/>
      </dsp:txXfrm>
    </dsp:sp>
    <dsp:sp modelId="{67DB8112-A275-BF45-9351-D79393287B85}">
      <dsp:nvSpPr>
        <dsp:cNvPr id="0" name=""/>
        <dsp:cNvSpPr/>
      </dsp:nvSpPr>
      <dsp:spPr>
        <a:xfrm>
          <a:off x="0" y="2971233"/>
          <a:ext cx="11633198" cy="378000"/>
        </a:xfrm>
        <a:prstGeom prst="rect">
          <a:avLst/>
        </a:prstGeom>
        <a:solidFill>
          <a:schemeClr val="lt1">
            <a:alpha val="90000"/>
            <a:hueOff val="0"/>
            <a:satOff val="0"/>
            <a:lumOff val="0"/>
            <a:alphaOff val="0"/>
          </a:schemeClr>
        </a:solidFill>
        <a:ln w="12700" cap="flat" cmpd="sng" algn="ctr">
          <a:solidFill>
            <a:schemeClr val="accent4">
              <a:hueOff val="5600509"/>
              <a:satOff val="-23301"/>
              <a:lumOff val="549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3AD5B64-BFAF-B14A-828F-BA399CD110DD}">
      <dsp:nvSpPr>
        <dsp:cNvPr id="0" name=""/>
        <dsp:cNvSpPr/>
      </dsp:nvSpPr>
      <dsp:spPr>
        <a:xfrm>
          <a:off x="581659" y="2749833"/>
          <a:ext cx="8143239" cy="442800"/>
        </a:xfrm>
        <a:prstGeom prst="roundRect">
          <a:avLst/>
        </a:prstGeom>
        <a:solidFill>
          <a:schemeClr val="accent4">
            <a:hueOff val="5600509"/>
            <a:satOff val="-23301"/>
            <a:lumOff val="549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7795" tIns="0" rIns="307795" bIns="0" numCol="1" spcCol="1270" anchor="ctr" anchorCtr="0">
          <a:noAutofit/>
        </a:bodyPr>
        <a:lstStyle/>
        <a:p>
          <a:pPr marL="0" lvl="0" indent="0" algn="l" defTabSz="1244600">
            <a:lnSpc>
              <a:spcPct val="90000"/>
            </a:lnSpc>
            <a:spcBef>
              <a:spcPct val="0"/>
            </a:spcBef>
            <a:spcAft>
              <a:spcPct val="35000"/>
            </a:spcAft>
            <a:buNone/>
          </a:pPr>
          <a:r>
            <a:rPr lang="en-US" sz="2800" kern="1200" dirty="0">
              <a:solidFill>
                <a:schemeClr val="tx1"/>
              </a:solidFill>
            </a:rPr>
            <a:t>Operators</a:t>
          </a:r>
        </a:p>
      </dsp:txBody>
      <dsp:txXfrm>
        <a:off x="603275" y="2771449"/>
        <a:ext cx="8100007" cy="399568"/>
      </dsp:txXfrm>
    </dsp:sp>
    <dsp:sp modelId="{3D155241-6E8B-1D47-97DC-AB51B294F14D}">
      <dsp:nvSpPr>
        <dsp:cNvPr id="0" name=""/>
        <dsp:cNvSpPr/>
      </dsp:nvSpPr>
      <dsp:spPr>
        <a:xfrm>
          <a:off x="0" y="3651633"/>
          <a:ext cx="11633198" cy="378000"/>
        </a:xfrm>
        <a:prstGeom prst="rect">
          <a:avLst/>
        </a:prstGeom>
        <a:solidFill>
          <a:schemeClr val="lt1">
            <a:alpha val="90000"/>
            <a:hueOff val="0"/>
            <a:satOff val="0"/>
            <a:lumOff val="0"/>
            <a:alphaOff val="0"/>
          </a:schemeClr>
        </a:solidFill>
        <a:ln w="12700" cap="flat" cmpd="sng" algn="ctr">
          <a:solidFill>
            <a:schemeClr val="accent4">
              <a:hueOff val="7000636"/>
              <a:satOff val="-29126"/>
              <a:lumOff val="6863"/>
              <a:alphaOff val="0"/>
            </a:schemeClr>
          </a:solidFill>
          <a:prstDash val="solid"/>
          <a:miter lim="800000"/>
        </a:ln>
        <a:effectLst/>
      </dsp:spPr>
      <dsp:style>
        <a:lnRef idx="2">
          <a:scrgbClr r="0" g="0" b="0"/>
        </a:lnRef>
        <a:fillRef idx="1">
          <a:scrgbClr r="0" g="0" b="0"/>
        </a:fillRef>
        <a:effectRef idx="0">
          <a:scrgbClr r="0" g="0" b="0"/>
        </a:effectRef>
        <a:fontRef idx="minor"/>
      </dsp:style>
    </dsp:sp>
    <dsp:sp modelId="{182AE389-9D1D-AF44-83CA-6222C01210E8}">
      <dsp:nvSpPr>
        <dsp:cNvPr id="0" name=""/>
        <dsp:cNvSpPr/>
      </dsp:nvSpPr>
      <dsp:spPr>
        <a:xfrm>
          <a:off x="581659" y="3430233"/>
          <a:ext cx="8143239" cy="442800"/>
        </a:xfrm>
        <a:prstGeom prst="roundRect">
          <a:avLst/>
        </a:prstGeom>
        <a:solidFill>
          <a:schemeClr val="accent4">
            <a:hueOff val="7000636"/>
            <a:satOff val="-29126"/>
            <a:lumOff val="686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7795" tIns="0" rIns="307795" bIns="0" numCol="1" spcCol="1270" anchor="ctr" anchorCtr="0">
          <a:noAutofit/>
        </a:bodyPr>
        <a:lstStyle/>
        <a:p>
          <a:pPr marL="0" lvl="0" indent="0" algn="l" defTabSz="1244600">
            <a:lnSpc>
              <a:spcPct val="90000"/>
            </a:lnSpc>
            <a:spcBef>
              <a:spcPct val="0"/>
            </a:spcBef>
            <a:spcAft>
              <a:spcPct val="35000"/>
            </a:spcAft>
            <a:buNone/>
          </a:pPr>
          <a:r>
            <a:rPr lang="en-US" sz="2800" kern="1200" dirty="0">
              <a:solidFill>
                <a:schemeClr val="tx1"/>
              </a:solidFill>
            </a:rPr>
            <a:t>Eigenvalues and Eigenvectors</a:t>
          </a:r>
        </a:p>
      </dsp:txBody>
      <dsp:txXfrm>
        <a:off x="603275" y="3451849"/>
        <a:ext cx="8100007" cy="399568"/>
      </dsp:txXfrm>
    </dsp:sp>
    <dsp:sp modelId="{0B4666BE-2D70-C34E-BDA6-354704EB16CB}">
      <dsp:nvSpPr>
        <dsp:cNvPr id="0" name=""/>
        <dsp:cNvSpPr/>
      </dsp:nvSpPr>
      <dsp:spPr>
        <a:xfrm>
          <a:off x="0" y="4332033"/>
          <a:ext cx="11633198" cy="378000"/>
        </a:xfrm>
        <a:prstGeom prst="rect">
          <a:avLst/>
        </a:prstGeom>
        <a:solidFill>
          <a:schemeClr val="lt1">
            <a:alpha val="90000"/>
            <a:hueOff val="0"/>
            <a:satOff val="0"/>
            <a:lumOff val="0"/>
            <a:alphaOff val="0"/>
          </a:schemeClr>
        </a:solidFill>
        <a:ln w="12700" cap="flat" cmpd="sng" algn="ctr">
          <a:solidFill>
            <a:schemeClr val="accent4">
              <a:hueOff val="8400764"/>
              <a:satOff val="-34952"/>
              <a:lumOff val="8235"/>
              <a:alphaOff val="0"/>
            </a:schemeClr>
          </a:solidFill>
          <a:prstDash val="solid"/>
          <a:miter lim="800000"/>
        </a:ln>
        <a:effectLst/>
      </dsp:spPr>
      <dsp:style>
        <a:lnRef idx="2">
          <a:scrgbClr r="0" g="0" b="0"/>
        </a:lnRef>
        <a:fillRef idx="1">
          <a:scrgbClr r="0" g="0" b="0"/>
        </a:fillRef>
        <a:effectRef idx="0">
          <a:scrgbClr r="0" g="0" b="0"/>
        </a:effectRef>
        <a:fontRef idx="minor"/>
      </dsp:style>
    </dsp:sp>
    <dsp:sp modelId="{B94E034E-1913-FC41-959E-7C8818CCC0B9}">
      <dsp:nvSpPr>
        <dsp:cNvPr id="0" name=""/>
        <dsp:cNvSpPr/>
      </dsp:nvSpPr>
      <dsp:spPr>
        <a:xfrm>
          <a:off x="581659" y="4110633"/>
          <a:ext cx="8143239" cy="442800"/>
        </a:xfrm>
        <a:prstGeom prst="roundRect">
          <a:avLst/>
        </a:prstGeom>
        <a:solidFill>
          <a:schemeClr val="accent4">
            <a:hueOff val="8400764"/>
            <a:satOff val="-34952"/>
            <a:lumOff val="823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7795" tIns="0" rIns="307795" bIns="0" numCol="1" spcCol="1270" anchor="ctr" anchorCtr="0">
          <a:noAutofit/>
        </a:bodyPr>
        <a:lstStyle/>
        <a:p>
          <a:pPr marL="0" lvl="0" indent="0" algn="l" defTabSz="1244600">
            <a:lnSpc>
              <a:spcPct val="90000"/>
            </a:lnSpc>
            <a:spcBef>
              <a:spcPct val="0"/>
            </a:spcBef>
            <a:spcAft>
              <a:spcPct val="35000"/>
            </a:spcAft>
            <a:buNone/>
          </a:pPr>
          <a:r>
            <a:rPr lang="en-US" sz="2800" kern="1200" dirty="0">
              <a:solidFill>
                <a:schemeClr val="tx1"/>
              </a:solidFill>
            </a:rPr>
            <a:t>Boolean Algebra</a:t>
          </a:r>
        </a:p>
      </dsp:txBody>
      <dsp:txXfrm>
        <a:off x="603275" y="4132249"/>
        <a:ext cx="8100007" cy="399568"/>
      </dsp:txXfrm>
    </dsp:sp>
    <dsp:sp modelId="{80F40E54-0397-824C-BAA1-E87358F6169E}">
      <dsp:nvSpPr>
        <dsp:cNvPr id="0" name=""/>
        <dsp:cNvSpPr/>
      </dsp:nvSpPr>
      <dsp:spPr>
        <a:xfrm>
          <a:off x="0" y="5012433"/>
          <a:ext cx="11633198" cy="378000"/>
        </a:xfrm>
        <a:prstGeom prst="rect">
          <a:avLst/>
        </a:prstGeom>
        <a:solidFill>
          <a:schemeClr val="lt1">
            <a:alpha val="90000"/>
            <a:hueOff val="0"/>
            <a:satOff val="0"/>
            <a:lumOff val="0"/>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dsp:style>
    </dsp:sp>
    <dsp:sp modelId="{F241464C-5C62-B64E-A945-D4CCEEFE31C7}">
      <dsp:nvSpPr>
        <dsp:cNvPr id="0" name=""/>
        <dsp:cNvSpPr/>
      </dsp:nvSpPr>
      <dsp:spPr>
        <a:xfrm>
          <a:off x="581659" y="4791033"/>
          <a:ext cx="8143239" cy="442800"/>
        </a:xfrm>
        <a:prstGeom prst="roundRec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7795" tIns="0" rIns="307795" bIns="0" numCol="1" spcCol="1270" anchor="ctr" anchorCtr="0">
          <a:noAutofit/>
        </a:bodyPr>
        <a:lstStyle/>
        <a:p>
          <a:pPr marL="0" lvl="0" indent="0" algn="l" defTabSz="1244600">
            <a:lnSpc>
              <a:spcPct val="90000"/>
            </a:lnSpc>
            <a:spcBef>
              <a:spcPct val="0"/>
            </a:spcBef>
            <a:spcAft>
              <a:spcPct val="35000"/>
            </a:spcAft>
            <a:buNone/>
          </a:pPr>
          <a:r>
            <a:rPr lang="en-US" sz="2800" kern="1200" dirty="0">
              <a:solidFill>
                <a:schemeClr val="tx1"/>
              </a:solidFill>
            </a:rPr>
            <a:t>Modular Arithmetic</a:t>
          </a:r>
        </a:p>
      </dsp:txBody>
      <dsp:txXfrm>
        <a:off x="603275" y="4812649"/>
        <a:ext cx="8100007" cy="3995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1F68B1-384F-884E-85F2-687846E08432}">
      <dsp:nvSpPr>
        <dsp:cNvPr id="0" name=""/>
        <dsp:cNvSpPr/>
      </dsp:nvSpPr>
      <dsp:spPr>
        <a:xfrm>
          <a:off x="397115" y="1956"/>
          <a:ext cx="3410877" cy="952652"/>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unit of data</a:t>
          </a:r>
        </a:p>
      </dsp:txBody>
      <dsp:txXfrm>
        <a:off x="873441" y="1956"/>
        <a:ext cx="2458225" cy="952652"/>
      </dsp:txXfrm>
    </dsp:sp>
    <dsp:sp modelId="{589CEB27-68EC-8C44-AE2F-CCCE5077B7DD}">
      <dsp:nvSpPr>
        <dsp:cNvPr id="0" name=""/>
        <dsp:cNvSpPr/>
      </dsp:nvSpPr>
      <dsp:spPr>
        <a:xfrm>
          <a:off x="3498380" y="82932"/>
          <a:ext cx="2288132" cy="790701"/>
        </a:xfrm>
        <a:prstGeom prst="chevron">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qubit/vector</a:t>
          </a:r>
        </a:p>
      </dsp:txBody>
      <dsp:txXfrm>
        <a:off x="3893731" y="82932"/>
        <a:ext cx="1497431" cy="790701"/>
      </dsp:txXfrm>
    </dsp:sp>
    <dsp:sp modelId="{AC12D99E-FB7E-0741-8161-C77DE0409CB8}">
      <dsp:nvSpPr>
        <dsp:cNvPr id="0" name=""/>
        <dsp:cNvSpPr/>
      </dsp:nvSpPr>
      <dsp:spPr>
        <a:xfrm>
          <a:off x="397115" y="1087980"/>
          <a:ext cx="3410877" cy="952652"/>
        </a:xfrm>
        <a:prstGeom prst="chevron">
          <a:avLst/>
        </a:prstGeom>
        <a:solidFill>
          <a:schemeClr val="accent3">
            <a:hueOff val="677650"/>
            <a:satOff val="25000"/>
            <a:lumOff val="-36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unit of processing</a:t>
          </a:r>
        </a:p>
      </dsp:txBody>
      <dsp:txXfrm>
        <a:off x="873441" y="1087980"/>
        <a:ext cx="2458225" cy="952652"/>
      </dsp:txXfrm>
    </dsp:sp>
    <dsp:sp modelId="{8762CD98-6B6D-F945-9F8A-143998E383B8}">
      <dsp:nvSpPr>
        <dsp:cNvPr id="0" name=""/>
        <dsp:cNvSpPr/>
      </dsp:nvSpPr>
      <dsp:spPr>
        <a:xfrm>
          <a:off x="3498380" y="1168956"/>
          <a:ext cx="2288132" cy="790701"/>
        </a:xfrm>
        <a:prstGeom prst="chevron">
          <a:avLst/>
        </a:prstGeom>
        <a:solidFill>
          <a:schemeClr val="accent3">
            <a:tint val="40000"/>
            <a:alpha val="90000"/>
            <a:hueOff val="507285"/>
            <a:satOff val="25000"/>
            <a:lumOff val="445"/>
            <a:alphaOff val="0"/>
          </a:schemeClr>
        </a:solidFill>
        <a:ln w="12700" cap="flat" cmpd="sng" algn="ctr">
          <a:solidFill>
            <a:schemeClr val="accent3">
              <a:tint val="40000"/>
              <a:alpha val="90000"/>
              <a:hueOff val="507285"/>
              <a:satOff val="25000"/>
              <a:lumOff val="44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quantum gate/matrix</a:t>
          </a:r>
        </a:p>
      </dsp:txBody>
      <dsp:txXfrm>
        <a:off x="3893731" y="1168956"/>
        <a:ext cx="1497431" cy="790701"/>
      </dsp:txXfrm>
    </dsp:sp>
    <dsp:sp modelId="{5640E65B-7044-844F-9EB5-48CE7C5F451B}">
      <dsp:nvSpPr>
        <dsp:cNvPr id="0" name=""/>
        <dsp:cNvSpPr/>
      </dsp:nvSpPr>
      <dsp:spPr>
        <a:xfrm>
          <a:off x="397115" y="2174004"/>
          <a:ext cx="3410877" cy="952652"/>
        </a:xfrm>
        <a:prstGeom prst="chevron">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err="1"/>
            <a:t>matehematical</a:t>
          </a:r>
          <a:r>
            <a:rPr lang="en-US" sz="2600" kern="1200" dirty="0"/>
            <a:t> unit of processing</a:t>
          </a:r>
        </a:p>
      </dsp:txBody>
      <dsp:txXfrm>
        <a:off x="873441" y="2174004"/>
        <a:ext cx="2458225" cy="952652"/>
      </dsp:txXfrm>
    </dsp:sp>
    <dsp:sp modelId="{E7AF8E55-35D4-EE43-84F0-EB1EE3C4089C}">
      <dsp:nvSpPr>
        <dsp:cNvPr id="0" name=""/>
        <dsp:cNvSpPr/>
      </dsp:nvSpPr>
      <dsp:spPr>
        <a:xfrm>
          <a:off x="3498380" y="2254980"/>
          <a:ext cx="2288132" cy="790701"/>
        </a:xfrm>
        <a:prstGeom prst="chevron">
          <a:avLst/>
        </a:prstGeom>
        <a:solidFill>
          <a:schemeClr val="accent3">
            <a:tint val="40000"/>
            <a:alpha val="90000"/>
            <a:hueOff val="1014570"/>
            <a:satOff val="50000"/>
            <a:lumOff val="890"/>
            <a:alphaOff val="0"/>
          </a:schemeClr>
        </a:solidFill>
        <a:ln w="12700" cap="flat" cmpd="sng" algn="ctr">
          <a:solidFill>
            <a:schemeClr val="accent3">
              <a:tint val="40000"/>
              <a:alpha val="90000"/>
              <a:hueOff val="1014570"/>
              <a:satOff val="50000"/>
              <a:lumOff val="89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matrix-vector multiplication</a:t>
          </a:r>
        </a:p>
      </dsp:txBody>
      <dsp:txXfrm>
        <a:off x="3893731" y="2254980"/>
        <a:ext cx="1497431" cy="790701"/>
      </dsp:txXfrm>
    </dsp:sp>
    <dsp:sp modelId="{11900ED1-072B-FE45-8087-917F279E1854}">
      <dsp:nvSpPr>
        <dsp:cNvPr id="0" name=""/>
        <dsp:cNvSpPr/>
      </dsp:nvSpPr>
      <dsp:spPr>
        <a:xfrm>
          <a:off x="397115" y="3260028"/>
          <a:ext cx="3410877" cy="952652"/>
        </a:xfrm>
        <a:prstGeom prst="chevron">
          <a:avLst/>
        </a:prstGeom>
        <a:solidFill>
          <a:schemeClr val="accent3">
            <a:hueOff val="2032949"/>
            <a:satOff val="75000"/>
            <a:lumOff val="-110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algorithm</a:t>
          </a:r>
        </a:p>
      </dsp:txBody>
      <dsp:txXfrm>
        <a:off x="873441" y="3260028"/>
        <a:ext cx="2458225" cy="952652"/>
      </dsp:txXfrm>
    </dsp:sp>
    <dsp:sp modelId="{8BCC3C3D-DEEA-0241-A450-84AB07AF83EE}">
      <dsp:nvSpPr>
        <dsp:cNvPr id="0" name=""/>
        <dsp:cNvSpPr/>
      </dsp:nvSpPr>
      <dsp:spPr>
        <a:xfrm>
          <a:off x="3498380" y="3341004"/>
          <a:ext cx="2288132" cy="790701"/>
        </a:xfrm>
        <a:prstGeom prst="chevron">
          <a:avLst/>
        </a:prstGeom>
        <a:solidFill>
          <a:schemeClr val="accent3">
            <a:tint val="40000"/>
            <a:alpha val="90000"/>
            <a:hueOff val="1521856"/>
            <a:satOff val="75000"/>
            <a:lumOff val="1334"/>
            <a:alphaOff val="0"/>
          </a:schemeClr>
        </a:solidFill>
        <a:ln w="12700" cap="flat" cmpd="sng" algn="ctr">
          <a:solidFill>
            <a:schemeClr val="accent3">
              <a:tint val="40000"/>
              <a:alpha val="90000"/>
              <a:hueOff val="1521856"/>
              <a:satOff val="75000"/>
              <a:lumOff val="133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quantum circuit</a:t>
          </a:r>
        </a:p>
      </dsp:txBody>
      <dsp:txXfrm>
        <a:off x="3893731" y="3341004"/>
        <a:ext cx="1497431" cy="790701"/>
      </dsp:txXfrm>
    </dsp:sp>
    <dsp:sp modelId="{96B99780-81A6-4C41-BF29-ECA058D08E7B}">
      <dsp:nvSpPr>
        <dsp:cNvPr id="0" name=""/>
        <dsp:cNvSpPr/>
      </dsp:nvSpPr>
      <dsp:spPr>
        <a:xfrm>
          <a:off x="431408" y="4346052"/>
          <a:ext cx="3310753" cy="952652"/>
        </a:xfrm>
        <a:prstGeom prst="chevron">
          <a:avLst/>
        </a:prstGeom>
        <a:solidFill>
          <a:schemeClr val="accent6">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   program</a:t>
          </a:r>
        </a:p>
      </dsp:txBody>
      <dsp:txXfrm>
        <a:off x="907734" y="4346052"/>
        <a:ext cx="2358101" cy="952652"/>
      </dsp:txXfrm>
    </dsp:sp>
    <dsp:sp modelId="{C442239F-A10C-D54C-B093-8FD13A00035F}">
      <dsp:nvSpPr>
        <dsp:cNvPr id="0" name=""/>
        <dsp:cNvSpPr/>
      </dsp:nvSpPr>
      <dsp:spPr>
        <a:xfrm>
          <a:off x="3398257" y="4427028"/>
          <a:ext cx="2433977" cy="790701"/>
        </a:xfrm>
        <a:prstGeom prst="chevron">
          <a:avLst/>
        </a:prstGeom>
        <a:solidFill>
          <a:schemeClr val="accent6">
            <a:lumMod val="40000"/>
            <a:lumOff val="60000"/>
            <a:alpha val="90000"/>
          </a:schemeClr>
        </a:solidFill>
        <a:ln w="12700" cap="flat" cmpd="sng" algn="ctr">
          <a:solidFill>
            <a:schemeClr val="accent3">
              <a:tint val="40000"/>
              <a:alpha val="90000"/>
              <a:hueOff val="2029141"/>
              <a:satOff val="100000"/>
              <a:lumOff val="17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130" tIns="12065" rIns="0" bIns="12065" numCol="1" spcCol="1270" anchor="ctr" anchorCtr="0">
          <a:noAutofit/>
        </a:bodyPr>
        <a:lstStyle/>
        <a:p>
          <a:pPr marL="0" lvl="0" indent="0" algn="ctr" defTabSz="844550">
            <a:lnSpc>
              <a:spcPct val="90000"/>
            </a:lnSpc>
            <a:spcBef>
              <a:spcPct val="0"/>
            </a:spcBef>
            <a:spcAft>
              <a:spcPct val="35000"/>
            </a:spcAft>
            <a:buNone/>
          </a:pPr>
          <a:r>
            <a:rPr lang="en-US" sz="1900" kern="1200" dirty="0"/>
            <a:t>quantum circuit </a:t>
          </a:r>
          <a:r>
            <a:rPr lang="en-US" sz="1900" kern="1200" dirty="0" err="1"/>
            <a:t>desciption</a:t>
          </a:r>
          <a:endParaRPr lang="en-US" sz="1900" kern="1200" dirty="0"/>
        </a:p>
      </dsp:txBody>
      <dsp:txXfrm>
        <a:off x="3793608" y="4427028"/>
        <a:ext cx="1643276" cy="7907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DC7B4-6A86-ED40-A783-57411F654F71}">
      <dsp:nvSpPr>
        <dsp:cNvPr id="0" name=""/>
        <dsp:cNvSpPr/>
      </dsp:nvSpPr>
      <dsp:spPr>
        <a:xfrm>
          <a:off x="4037634" y="2595346"/>
          <a:ext cx="3584734" cy="3439513"/>
        </a:xfrm>
        <a:prstGeom prst="gear9">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Vectors</a:t>
          </a:r>
        </a:p>
      </dsp:txBody>
      <dsp:txXfrm>
        <a:off x="4747471" y="3401036"/>
        <a:ext cx="2165060" cy="1767980"/>
      </dsp:txXfrm>
    </dsp:sp>
    <dsp:sp modelId="{4DC21653-BA09-C74C-9197-EA792AE9B53B}">
      <dsp:nvSpPr>
        <dsp:cNvPr id="0" name=""/>
        <dsp:cNvSpPr/>
      </dsp:nvSpPr>
      <dsp:spPr>
        <a:xfrm>
          <a:off x="1973176" y="1901880"/>
          <a:ext cx="2683530" cy="2488976"/>
        </a:xfrm>
        <a:prstGeom prst="gear6">
          <a:avLst/>
        </a:prstGeom>
        <a:solidFill>
          <a:schemeClr val="accent4">
            <a:hueOff val="4900445"/>
            <a:satOff val="-20388"/>
            <a:lumOff val="4804"/>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Matrices</a:t>
          </a:r>
        </a:p>
      </dsp:txBody>
      <dsp:txXfrm>
        <a:off x="2628064" y="2532274"/>
        <a:ext cx="1373754" cy="1228188"/>
      </dsp:txXfrm>
    </dsp:sp>
    <dsp:sp modelId="{0ABF2805-CC02-6C48-B1D0-90E786824CFE}">
      <dsp:nvSpPr>
        <dsp:cNvPr id="0" name=""/>
        <dsp:cNvSpPr/>
      </dsp:nvSpPr>
      <dsp:spPr>
        <a:xfrm rot="20700000">
          <a:off x="3561534" y="292096"/>
          <a:ext cx="2486935" cy="2486935"/>
        </a:xfrm>
        <a:prstGeom prst="gear6">
          <a:avLst/>
        </a:prstGeom>
        <a:solidFill>
          <a:schemeClr val="accent4">
            <a:hueOff val="9800891"/>
            <a:satOff val="-40777"/>
            <a:lumOff val="960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Linear algebra</a:t>
          </a:r>
        </a:p>
      </dsp:txBody>
      <dsp:txXfrm rot="-20700000">
        <a:off x="4106992" y="837554"/>
        <a:ext cx="1396019" cy="1396019"/>
      </dsp:txXfrm>
    </dsp:sp>
    <dsp:sp modelId="{1B72251B-46B9-5E40-ABFB-13A567B1E291}">
      <dsp:nvSpPr>
        <dsp:cNvPr id="0" name=""/>
        <dsp:cNvSpPr/>
      </dsp:nvSpPr>
      <dsp:spPr>
        <a:xfrm>
          <a:off x="4057966" y="2046842"/>
          <a:ext cx="4467262" cy="4467262"/>
        </a:xfrm>
        <a:prstGeom prst="circularArrow">
          <a:avLst>
            <a:gd name="adj1" fmla="val 4688"/>
            <a:gd name="adj2" fmla="val 299029"/>
            <a:gd name="adj3" fmla="val 2551356"/>
            <a:gd name="adj4" fmla="val 15787451"/>
            <a:gd name="adj5" fmla="val 5469"/>
          </a:avLst>
        </a:prstGeom>
        <a:solidFill>
          <a:schemeClr val="accent4">
            <a:hueOff val="0"/>
            <a:satOff val="0"/>
            <a:lumOff val="0"/>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9A59CBF1-4E44-2740-AAAB-64CBC76FFFFD}">
      <dsp:nvSpPr>
        <dsp:cNvPr id="0" name=""/>
        <dsp:cNvSpPr/>
      </dsp:nvSpPr>
      <dsp:spPr>
        <a:xfrm>
          <a:off x="1690360" y="1472364"/>
          <a:ext cx="3245745" cy="3245745"/>
        </a:xfrm>
        <a:prstGeom prst="leftCircularArrow">
          <a:avLst>
            <a:gd name="adj1" fmla="val 6452"/>
            <a:gd name="adj2" fmla="val 429999"/>
            <a:gd name="adj3" fmla="val 10489124"/>
            <a:gd name="adj4" fmla="val 14837806"/>
            <a:gd name="adj5" fmla="val 7527"/>
          </a:avLst>
        </a:prstGeom>
        <a:solidFill>
          <a:schemeClr val="accent4">
            <a:hueOff val="4900445"/>
            <a:satOff val="-20388"/>
            <a:lumOff val="4804"/>
            <a:alphaOff val="0"/>
          </a:schemeClr>
        </a:solidFill>
        <a:ln>
          <a:noFill/>
        </a:ln>
        <a:effectLst/>
      </dsp:spPr>
      <dsp:style>
        <a:lnRef idx="0">
          <a:scrgbClr r="0" g="0" b="0"/>
        </a:lnRef>
        <a:fillRef idx="1">
          <a:scrgbClr r="0" g="0" b="0"/>
        </a:fillRef>
        <a:effectRef idx="1">
          <a:scrgbClr r="0" g="0" b="0"/>
        </a:effectRef>
        <a:fontRef idx="minor">
          <a:schemeClr val="lt1"/>
        </a:fontRef>
      </dsp:style>
    </dsp:sp>
    <dsp:sp modelId="{E7A528AD-1D4C-6243-BF4C-338ED934C6EE}">
      <dsp:nvSpPr>
        <dsp:cNvPr id="0" name=""/>
        <dsp:cNvSpPr/>
      </dsp:nvSpPr>
      <dsp:spPr>
        <a:xfrm>
          <a:off x="2986281" y="-261867"/>
          <a:ext cx="3499567" cy="3499567"/>
        </a:xfrm>
        <a:prstGeom prst="circularArrow">
          <a:avLst>
            <a:gd name="adj1" fmla="val 5984"/>
            <a:gd name="adj2" fmla="val 394124"/>
            <a:gd name="adj3" fmla="val 13313824"/>
            <a:gd name="adj4" fmla="val 10508221"/>
            <a:gd name="adj5" fmla="val 6981"/>
          </a:avLst>
        </a:prstGeom>
        <a:solidFill>
          <a:schemeClr val="accent4">
            <a:hueOff val="9800891"/>
            <a:satOff val="-40777"/>
            <a:lumOff val="9608"/>
            <a:alphaOff val="0"/>
          </a:schemeClr>
        </a:solidFill>
        <a:ln>
          <a:noFill/>
        </a:ln>
        <a:effectLst/>
      </dsp:spPr>
      <dsp:style>
        <a:lnRef idx="0">
          <a:scrgbClr r="0" g="0" b="0"/>
        </a:lnRef>
        <a:fillRef idx="1">
          <a:scrgbClr r="0" g="0" b="0"/>
        </a:fillRef>
        <a:effectRef idx="1">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B831A5-711D-4D4A-B56F-A4F6D63D6C13}">
      <dsp:nvSpPr>
        <dsp:cNvPr id="0" name=""/>
        <dsp:cNvSpPr/>
      </dsp:nvSpPr>
      <dsp:spPr>
        <a:xfrm>
          <a:off x="1457337" y="1187"/>
          <a:ext cx="4366112" cy="2619667"/>
        </a:xfrm>
        <a:prstGeom prst="rect">
          <a:avLst/>
        </a:prstGeom>
        <a:solidFill>
          <a:srgbClr val="FFFDD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244600">
            <a:lnSpc>
              <a:spcPct val="90000"/>
            </a:lnSpc>
            <a:spcBef>
              <a:spcPct val="0"/>
            </a:spcBef>
            <a:spcAft>
              <a:spcPct val="35000"/>
            </a:spcAft>
            <a:buNone/>
          </a:pPr>
          <a:r>
            <a:rPr lang="en-ZA" sz="2800" b="0" kern="1200" dirty="0">
              <a:solidFill>
                <a:schemeClr val="tx1"/>
              </a:solidFill>
            </a:rPr>
            <a:t>Identity Matrix</a:t>
          </a:r>
          <a:endParaRPr lang="en-US" sz="2800" kern="1200" dirty="0">
            <a:solidFill>
              <a:schemeClr val="tx1"/>
            </a:solidFill>
          </a:endParaRPr>
        </a:p>
        <a:p>
          <a:pPr marL="228600" lvl="1" indent="-228600" algn="just" defTabSz="1022350">
            <a:lnSpc>
              <a:spcPct val="90000"/>
            </a:lnSpc>
            <a:spcBef>
              <a:spcPct val="0"/>
            </a:spcBef>
            <a:spcAft>
              <a:spcPct val="15000"/>
            </a:spcAft>
            <a:buFont typeface="Arial" panose="020B0604020202020204" pitchFamily="34" charset="0"/>
            <a:buChar char="•"/>
          </a:pPr>
          <a:r>
            <a:rPr lang="en-US" sz="2300" kern="1200" dirty="0">
              <a:solidFill>
                <a:schemeClr val="tx1"/>
              </a:solidFill>
            </a:rPr>
            <a:t>A square matrix with ones on the main diagonal and zeros elsewhere</a:t>
          </a:r>
          <a:r>
            <a:rPr lang="en-ZA" sz="2300" kern="1200" dirty="0">
              <a:solidFill>
                <a:schemeClr val="tx1"/>
              </a:solidFill>
            </a:rPr>
            <a:t>. </a:t>
          </a:r>
          <a:endParaRPr lang="en-US" sz="2200" kern="1200" dirty="0">
            <a:solidFill>
              <a:schemeClr val="tx1"/>
            </a:solidFill>
          </a:endParaRPr>
        </a:p>
        <a:p>
          <a:pPr marL="57150" lvl="1" indent="-57150" algn="just" defTabSz="444500">
            <a:lnSpc>
              <a:spcPct val="90000"/>
            </a:lnSpc>
            <a:spcBef>
              <a:spcPct val="0"/>
            </a:spcBef>
            <a:spcAft>
              <a:spcPct val="15000"/>
            </a:spcAft>
            <a:buFont typeface="Arial" panose="020B0604020202020204" pitchFamily="34" charset="0"/>
            <a:buChar char="•"/>
          </a:pPr>
          <a:endParaRPr lang="en-US" sz="1000" kern="1200" dirty="0">
            <a:solidFill>
              <a:schemeClr val="tx1"/>
            </a:solidFill>
          </a:endParaRPr>
        </a:p>
        <a:p>
          <a:pPr marL="228600" lvl="1" indent="-228600" algn="l" defTabSz="10668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r>
                  <a:rPr lang="en-US" sz="2400" b="0" i="1" kern="1200" smtClean="0">
                    <a:solidFill>
                      <a:schemeClr val="tx1"/>
                    </a:solidFill>
                    <a:latin typeface="Cambria Math" panose="02040503050406030204" pitchFamily="18" charset="0"/>
                  </a:rPr>
                  <m:t>𝐼</m:t>
                </m:r>
                <m:r>
                  <a:rPr lang="en-US" sz="2400" b="0" i="1" kern="1200" smtClean="0">
                    <a:solidFill>
                      <a:schemeClr val="tx1"/>
                    </a:solidFill>
                    <a:latin typeface="Cambria Math" panose="02040503050406030204" pitchFamily="18" charset="0"/>
                  </a:rPr>
                  <m:t>=</m:t>
                </m:r>
                <m:d>
                  <m:dPr>
                    <m:ctrlPr>
                      <a:rPr lang="en-US" sz="2400" i="1" kern="1200" smtClean="0">
                        <a:solidFill>
                          <a:schemeClr val="tx1"/>
                        </a:solidFill>
                        <a:latin typeface="Cambria Math" panose="02040503050406030204" pitchFamily="18" charset="0"/>
                      </a:rPr>
                    </m:ctrlPr>
                  </m:dPr>
                  <m:e>
                    <m:m>
                      <m:mPr>
                        <m:plcHide m:val="on"/>
                        <m:mcs>
                          <m:mc>
                            <m:mcPr>
                              <m:count m:val="2"/>
                              <m:mcJc m:val="center"/>
                            </m:mcPr>
                          </m:mc>
                        </m:mcs>
                        <m:ctrlPr>
                          <a:rPr lang="en-US" sz="2400" i="1" kern="1200">
                            <a:solidFill>
                              <a:schemeClr val="tx1"/>
                            </a:solidFill>
                            <a:latin typeface="Cambria Math" panose="02040503050406030204" pitchFamily="18" charset="0"/>
                          </a:rPr>
                        </m:ctrlPr>
                      </m:mPr>
                      <m:mr>
                        <m:e>
                          <m:r>
                            <a:rPr lang="en-US" sz="2400" kern="1200">
                              <a:solidFill>
                                <a:schemeClr val="tx1"/>
                              </a:solidFill>
                              <a:latin typeface="Cambria Math" panose="02040503050406030204" pitchFamily="18" charset="0"/>
                            </a:rPr>
                            <m:t>1</m:t>
                          </m:r>
                        </m:e>
                        <m:e>
                          <m:r>
                            <a:rPr lang="en-US" sz="2400" kern="1200">
                              <a:solidFill>
                                <a:schemeClr val="tx1"/>
                              </a:solidFill>
                              <a:latin typeface="Cambria Math" panose="02040503050406030204" pitchFamily="18" charset="0"/>
                            </a:rPr>
                            <m:t>0</m:t>
                          </m:r>
                        </m:e>
                      </m:mr>
                      <m:mr>
                        <m:e>
                          <m:r>
                            <a:rPr lang="en-US" sz="2400" kern="1200">
                              <a:solidFill>
                                <a:schemeClr val="tx1"/>
                              </a:solidFill>
                              <a:latin typeface="Cambria Math" panose="02040503050406030204" pitchFamily="18" charset="0"/>
                            </a:rPr>
                            <m:t>0</m:t>
                          </m:r>
                        </m:e>
                        <m:e>
                          <m:r>
                            <a:rPr lang="en-US" sz="2400" kern="1200">
                              <a:solidFill>
                                <a:schemeClr val="tx1"/>
                              </a:solidFill>
                              <a:latin typeface="Cambria Math" panose="02040503050406030204" pitchFamily="18" charset="0"/>
                            </a:rPr>
                            <m:t>1</m:t>
                          </m:r>
                        </m:e>
                      </m:mr>
                    </m:m>
                  </m:e>
                </m:d>
              </m:oMath>
            </m:oMathPara>
          </a14:m>
          <a:endParaRPr lang="en-US" sz="2400" kern="1200" dirty="0">
            <a:solidFill>
              <a:schemeClr val="tx1"/>
            </a:solidFill>
          </a:endParaRPr>
        </a:p>
      </dsp:txBody>
      <dsp:txXfrm>
        <a:off x="1457337" y="1187"/>
        <a:ext cx="4366112" cy="2619667"/>
      </dsp:txXfrm>
    </dsp:sp>
    <dsp:sp modelId="{230E0ECE-F143-B24C-9E4D-62F109CAC925}">
      <dsp:nvSpPr>
        <dsp:cNvPr id="0" name=""/>
        <dsp:cNvSpPr/>
      </dsp:nvSpPr>
      <dsp:spPr>
        <a:xfrm>
          <a:off x="6260061" y="1187"/>
          <a:ext cx="4366112" cy="2619667"/>
        </a:xfrm>
        <a:prstGeom prst="rect">
          <a:avLst/>
        </a:prstGeom>
        <a:solidFill>
          <a:schemeClr val="bg1">
            <a:lumMod val="9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333500">
            <a:lnSpc>
              <a:spcPct val="90000"/>
            </a:lnSpc>
            <a:spcBef>
              <a:spcPct val="0"/>
            </a:spcBef>
            <a:spcAft>
              <a:spcPct val="35000"/>
            </a:spcAft>
            <a:buNone/>
          </a:pPr>
          <a:r>
            <a:rPr lang="en-ZA" sz="3000" b="0" kern="1200" dirty="0">
              <a:solidFill>
                <a:schemeClr val="tx1"/>
              </a:solidFill>
            </a:rPr>
            <a:t>Orthogonal Matrix</a:t>
          </a:r>
          <a:endParaRPr lang="en-US" sz="3000" kern="1200" dirty="0">
            <a:solidFill>
              <a:schemeClr val="tx1"/>
            </a:solidFill>
          </a:endParaRPr>
        </a:p>
        <a:p>
          <a:pPr marL="228600" lvl="1" indent="-228600" algn="just" defTabSz="1022350">
            <a:lnSpc>
              <a:spcPct val="90000"/>
            </a:lnSpc>
            <a:spcBef>
              <a:spcPct val="0"/>
            </a:spcBef>
            <a:spcAft>
              <a:spcPct val="15000"/>
            </a:spcAft>
            <a:buChar char="•"/>
          </a:pPr>
          <a:r>
            <a:rPr lang="en-US" sz="2300" kern="1200" dirty="0">
              <a:solidFill>
                <a:schemeClr val="tx1"/>
              </a:solidFill>
            </a:rPr>
            <a:t>A square matrix which, when multiplied by its transpose, results in the identity matrix.</a:t>
          </a:r>
        </a:p>
        <a:p>
          <a:pPr marL="57150" lvl="1" indent="-57150" algn="just" defTabSz="444500">
            <a:lnSpc>
              <a:spcPct val="90000"/>
            </a:lnSpc>
            <a:spcBef>
              <a:spcPct val="0"/>
            </a:spcBef>
            <a:spcAft>
              <a:spcPct val="15000"/>
            </a:spcAft>
            <a:buNone/>
          </a:pPr>
          <a:endParaRPr lang="en-US" sz="1000" kern="1200" dirty="0">
            <a:solidFill>
              <a:schemeClr val="tx1"/>
            </a:solidFill>
          </a:endParaRPr>
        </a:p>
        <a:p>
          <a:pPr marL="228600" lvl="1" indent="-228600" algn="l" defTabSz="10668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p>
                  <m:sSupPr>
                    <m:ctrlPr>
                      <a:rPr lang="en-US" sz="2400" i="1" kern="1200" smtClean="0">
                        <a:solidFill>
                          <a:schemeClr val="tx1"/>
                        </a:solidFill>
                        <a:latin typeface="Cambria Math" panose="02040503050406030204" pitchFamily="18" charset="0"/>
                      </a:rPr>
                    </m:ctrlPr>
                  </m:sSupPr>
                  <m:e>
                    <m:r>
                      <a:rPr lang="en-US" sz="2400" b="0" i="1" kern="1200" smtClean="0">
                        <a:solidFill>
                          <a:schemeClr val="tx1"/>
                        </a:solidFill>
                        <a:latin typeface="Cambria Math" panose="02040503050406030204" pitchFamily="18" charset="0"/>
                      </a:rPr>
                      <m:t>𝐴</m:t>
                    </m:r>
                    <m:r>
                      <a:rPr lang="en-US" sz="2400" i="1" kern="1200">
                        <a:solidFill>
                          <a:schemeClr val="tx1"/>
                        </a:solidFill>
                        <a:latin typeface="Cambria Math" panose="02040503050406030204" pitchFamily="18" charset="0"/>
                      </a:rPr>
                      <m:t>𝐴</m:t>
                    </m:r>
                  </m:e>
                  <m:sup>
                    <m:r>
                      <a:rPr lang="en-US" sz="2400" b="0" i="1" kern="1200" smtClean="0">
                        <a:solidFill>
                          <a:schemeClr val="tx1"/>
                        </a:solidFill>
                        <a:latin typeface="Cambria Math" panose="02040503050406030204" pitchFamily="18" charset="0"/>
                      </a:rPr>
                      <m:t>𝑇</m:t>
                    </m:r>
                  </m:sup>
                </m:sSup>
                <m:r>
                  <a:rPr lang="en-US" sz="2400" b="0" i="1" kern="1200" smtClean="0">
                    <a:solidFill>
                      <a:schemeClr val="tx1"/>
                    </a:solidFill>
                    <a:latin typeface="Cambria Math" panose="02040503050406030204" pitchFamily="18" charset="0"/>
                  </a:rPr>
                  <m:t>=</m:t>
                </m:r>
                <m:sSup>
                  <m:sSupPr>
                    <m:ctrlPr>
                      <a:rPr lang="en-US" sz="2400" i="1" kern="1200" smtClean="0">
                        <a:solidFill>
                          <a:schemeClr val="tx1"/>
                        </a:solidFill>
                        <a:latin typeface="Cambria Math" panose="02040503050406030204" pitchFamily="18" charset="0"/>
                      </a:rPr>
                    </m:ctrlPr>
                  </m:sSupPr>
                  <m:e>
                    <m:r>
                      <a:rPr lang="en-US" sz="2400" i="1" kern="1200">
                        <a:solidFill>
                          <a:schemeClr val="tx1"/>
                        </a:solidFill>
                        <a:latin typeface="Cambria Math" panose="02040503050406030204" pitchFamily="18" charset="0"/>
                      </a:rPr>
                      <m:t>𝐴</m:t>
                    </m:r>
                  </m:e>
                  <m:sup>
                    <m:r>
                      <a:rPr lang="en-US" sz="2400" b="0" i="1" kern="1200" smtClean="0">
                        <a:solidFill>
                          <a:schemeClr val="tx1"/>
                        </a:solidFill>
                        <a:latin typeface="Cambria Math" panose="02040503050406030204" pitchFamily="18" charset="0"/>
                      </a:rPr>
                      <m:t>𝑇</m:t>
                    </m:r>
                  </m:sup>
                </m:sSup>
                <m:r>
                  <a:rPr lang="en-US" sz="2400" b="0" i="1" kern="1200" smtClean="0">
                    <a:solidFill>
                      <a:schemeClr val="tx1"/>
                    </a:solidFill>
                    <a:latin typeface="Cambria Math" panose="02040503050406030204" pitchFamily="18" charset="0"/>
                  </a:rPr>
                  <m:t>𝐴</m:t>
                </m:r>
                <m:r>
                  <a:rPr lang="en-US" sz="2400" b="0" i="1" kern="1200" smtClean="0">
                    <a:solidFill>
                      <a:schemeClr val="tx1"/>
                    </a:solidFill>
                    <a:latin typeface="Cambria Math" panose="02040503050406030204" pitchFamily="18" charset="0"/>
                  </a:rPr>
                  <m:t>=</m:t>
                </m:r>
                <m:r>
                  <a:rPr lang="en-US" sz="2400" b="0" i="1" kern="1200" smtClean="0">
                    <a:solidFill>
                      <a:schemeClr val="tx1"/>
                    </a:solidFill>
                    <a:latin typeface="Cambria Math" panose="02040503050406030204" pitchFamily="18" charset="0"/>
                  </a:rPr>
                  <m:t>𝐼</m:t>
                </m:r>
              </m:oMath>
            </m:oMathPara>
          </a14:m>
          <a:endParaRPr lang="en-US" sz="2400" kern="1200" dirty="0">
            <a:solidFill>
              <a:schemeClr val="tx1"/>
            </a:solidFill>
          </a:endParaRPr>
        </a:p>
      </dsp:txBody>
      <dsp:txXfrm>
        <a:off x="6260061" y="1187"/>
        <a:ext cx="4366112" cy="2619667"/>
      </dsp:txXfrm>
    </dsp:sp>
    <dsp:sp modelId="{C9378457-7A05-FD4D-B796-355BBEAF5417}">
      <dsp:nvSpPr>
        <dsp:cNvPr id="0" name=""/>
        <dsp:cNvSpPr/>
      </dsp:nvSpPr>
      <dsp:spPr>
        <a:xfrm>
          <a:off x="1457337" y="3057466"/>
          <a:ext cx="4366112" cy="2619667"/>
        </a:xfrm>
        <a:prstGeom prst="rect">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333500">
            <a:lnSpc>
              <a:spcPct val="90000"/>
            </a:lnSpc>
            <a:spcBef>
              <a:spcPct val="0"/>
            </a:spcBef>
            <a:spcAft>
              <a:spcPct val="35000"/>
            </a:spcAft>
            <a:buNone/>
          </a:pPr>
          <a:r>
            <a:rPr lang="en-ZA" sz="3000" b="0" kern="1200" dirty="0">
              <a:solidFill>
                <a:schemeClr val="tx1"/>
              </a:solidFill>
            </a:rPr>
            <a:t>Hermitian Matrix</a:t>
          </a:r>
          <a:endParaRPr lang="en-US" sz="3000" kern="1200" dirty="0">
            <a:solidFill>
              <a:schemeClr val="tx1"/>
            </a:solidFill>
          </a:endParaRPr>
        </a:p>
        <a:p>
          <a:pPr marL="228600" lvl="1" indent="-228600" algn="just" defTabSz="1022350">
            <a:lnSpc>
              <a:spcPct val="90000"/>
            </a:lnSpc>
            <a:spcBef>
              <a:spcPct val="0"/>
            </a:spcBef>
            <a:spcAft>
              <a:spcPct val="15000"/>
            </a:spcAft>
            <a:buChar char="•"/>
          </a:pPr>
          <a:r>
            <a:rPr lang="en-US" sz="2300" kern="1200" dirty="0">
              <a:solidFill>
                <a:schemeClr val="tx1"/>
              </a:solidFill>
            </a:rPr>
            <a:t>A square matrix that is equal to its conjugate transpose</a:t>
          </a:r>
          <a:r>
            <a:rPr lang="en-ZA" sz="2300" kern="1200" dirty="0">
              <a:solidFill>
                <a:schemeClr val="tx1"/>
              </a:solidFill>
            </a:rPr>
            <a:t>.</a:t>
          </a:r>
          <a:endParaRPr lang="en-US" sz="2300" kern="1200" dirty="0">
            <a:solidFill>
              <a:schemeClr val="tx1"/>
            </a:solidFill>
          </a:endParaRPr>
        </a:p>
        <a:p>
          <a:pPr marL="171450" lvl="1" indent="-171450" algn="just" defTabSz="800100">
            <a:lnSpc>
              <a:spcPct val="90000"/>
            </a:lnSpc>
            <a:spcBef>
              <a:spcPct val="0"/>
            </a:spcBef>
            <a:spcAft>
              <a:spcPct val="15000"/>
            </a:spcAft>
            <a:buNone/>
          </a:pPr>
          <a:endParaRPr lang="en-US" sz="1800" kern="1200" dirty="0">
            <a:solidFill>
              <a:schemeClr val="tx1"/>
            </a:solidFill>
          </a:endParaRPr>
        </a:p>
        <a:p>
          <a:pPr marL="228600" lvl="1" indent="-228600" algn="l" defTabSz="10668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p>
                  <m:sSupPr>
                    <m:ctrlPr>
                      <a:rPr lang="en-US" sz="2400" i="1" kern="1200" smtClean="0">
                        <a:solidFill>
                          <a:schemeClr val="tx1"/>
                        </a:solidFill>
                        <a:latin typeface="Cambria Math" panose="02040503050406030204" pitchFamily="18" charset="0"/>
                      </a:rPr>
                    </m:ctrlPr>
                  </m:sSupPr>
                  <m:e>
                    <m:r>
                      <a:rPr lang="en-US" sz="2400" b="0" i="1" kern="1200" smtClean="0">
                        <a:solidFill>
                          <a:schemeClr val="tx1"/>
                        </a:solidFill>
                        <a:latin typeface="Cambria Math" panose="02040503050406030204" pitchFamily="18" charset="0"/>
                      </a:rPr>
                      <m:t>𝐴</m:t>
                    </m:r>
                    <m:r>
                      <a:rPr lang="en-US" sz="2400" b="0" i="1" kern="1200" smtClean="0">
                        <a:solidFill>
                          <a:schemeClr val="tx1"/>
                        </a:solidFill>
                        <a:latin typeface="Cambria Math" panose="02040503050406030204" pitchFamily="18" charset="0"/>
                      </a:rPr>
                      <m:t>=</m:t>
                    </m:r>
                    <m:r>
                      <a:rPr lang="en-US" sz="2400" i="1" kern="1200">
                        <a:solidFill>
                          <a:schemeClr val="tx1"/>
                        </a:solidFill>
                        <a:latin typeface="Cambria Math" panose="02040503050406030204" pitchFamily="18" charset="0"/>
                      </a:rPr>
                      <m:t>𝐴</m:t>
                    </m:r>
                  </m:e>
                  <m:sup>
                    <m:r>
                      <a:rPr lang="en-US" sz="2400" i="1" kern="1200">
                        <a:solidFill>
                          <a:schemeClr val="tx1"/>
                        </a:solidFill>
                        <a:latin typeface="Cambria Math" panose="02040503050406030204" pitchFamily="18" charset="0"/>
                      </a:rPr>
                      <m:t>†</m:t>
                    </m:r>
                  </m:sup>
                </m:sSup>
              </m:oMath>
            </m:oMathPara>
          </a14:m>
          <a:endParaRPr lang="en-US" sz="2400" kern="1200" dirty="0">
            <a:solidFill>
              <a:schemeClr val="tx1"/>
            </a:solidFill>
          </a:endParaRPr>
        </a:p>
      </dsp:txBody>
      <dsp:txXfrm>
        <a:off x="1457337" y="3057466"/>
        <a:ext cx="4366112" cy="2619667"/>
      </dsp:txXfrm>
    </dsp:sp>
    <dsp:sp modelId="{F2A1F630-CF8F-124E-B501-DC33C45612C6}">
      <dsp:nvSpPr>
        <dsp:cNvPr id="0" name=""/>
        <dsp:cNvSpPr/>
      </dsp:nvSpPr>
      <dsp:spPr>
        <a:xfrm>
          <a:off x="6260061" y="3057466"/>
          <a:ext cx="4366112" cy="2619667"/>
        </a:xfrm>
        <a:prstGeom prst="rect">
          <a:avLst/>
        </a:prstGeom>
        <a:solidFill>
          <a:schemeClr val="accent5">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t" anchorCtr="0">
          <a:noAutofit/>
        </a:bodyPr>
        <a:lstStyle/>
        <a:p>
          <a:pPr marL="0" lvl="0" indent="0" algn="l" defTabSz="1200150">
            <a:lnSpc>
              <a:spcPct val="90000"/>
            </a:lnSpc>
            <a:spcBef>
              <a:spcPct val="0"/>
            </a:spcBef>
            <a:spcAft>
              <a:spcPct val="35000"/>
            </a:spcAft>
            <a:buNone/>
          </a:pPr>
          <a:r>
            <a:rPr lang="en-ZA" sz="2700" b="0" kern="1200" dirty="0">
              <a:solidFill>
                <a:schemeClr val="tx1"/>
              </a:solidFill>
            </a:rPr>
            <a:t>Unitary Matrix</a:t>
          </a:r>
          <a:endParaRPr lang="en-US" sz="2700" kern="1200" dirty="0">
            <a:solidFill>
              <a:schemeClr val="tx1"/>
            </a:solidFill>
          </a:endParaRPr>
        </a:p>
        <a:p>
          <a:pPr marL="228600" lvl="1" indent="-228600" algn="just" defTabSz="1022350">
            <a:lnSpc>
              <a:spcPct val="90000"/>
            </a:lnSpc>
            <a:spcBef>
              <a:spcPct val="0"/>
            </a:spcBef>
            <a:spcAft>
              <a:spcPct val="15000"/>
            </a:spcAft>
            <a:buChar char="•"/>
          </a:pPr>
          <a:r>
            <a:rPr lang="en-US" sz="2300" kern="1200" dirty="0">
              <a:solidFill>
                <a:schemeClr val="tx1"/>
              </a:solidFill>
            </a:rPr>
            <a:t>A square matrix which, when multiplied by its conjugate transpose, results in the identity matrix.</a:t>
          </a:r>
          <a:endParaRPr lang="en-US" sz="1000" kern="1200" dirty="0">
            <a:solidFill>
              <a:schemeClr val="tx1"/>
            </a:solidFill>
          </a:endParaRPr>
        </a:p>
        <a:p>
          <a:pPr marL="57150" lvl="1" indent="-57150" algn="just" defTabSz="444500">
            <a:lnSpc>
              <a:spcPct val="90000"/>
            </a:lnSpc>
            <a:spcBef>
              <a:spcPct val="0"/>
            </a:spcBef>
            <a:spcAft>
              <a:spcPct val="15000"/>
            </a:spcAft>
            <a:buChar char="•"/>
          </a:pPr>
          <a:endParaRPr lang="en-US" sz="1000" kern="1200" dirty="0">
            <a:solidFill>
              <a:schemeClr val="tx1"/>
            </a:solidFill>
          </a:endParaRPr>
        </a:p>
        <a:p>
          <a:pPr marL="228600" lvl="1" indent="-228600" algn="l" defTabSz="1066800">
            <a:lnSpc>
              <a:spcPct val="90000"/>
            </a:lnSpc>
            <a:spcBef>
              <a:spcPct val="0"/>
            </a:spcBef>
            <a:spcAft>
              <a:spcPct val="15000"/>
            </a:spcAft>
            <a:buNone/>
          </a:pPr>
          <a14:m xmlns:a14="http://schemas.microsoft.com/office/drawing/2010/main">
            <m:oMathPara xmlns:m="http://schemas.openxmlformats.org/officeDocument/2006/math">
              <m:oMathParaPr>
                <m:jc m:val="centerGroup"/>
              </m:oMathParaPr>
              <m:oMath xmlns:m="http://schemas.openxmlformats.org/officeDocument/2006/math">
                <m:sSup>
                  <m:sSupPr>
                    <m:ctrlPr>
                      <a:rPr lang="en-US" sz="2400" i="1" kern="1200" smtClean="0">
                        <a:solidFill>
                          <a:schemeClr val="tx1"/>
                        </a:solidFill>
                        <a:latin typeface="Cambria Math" panose="02040503050406030204" pitchFamily="18" charset="0"/>
                      </a:rPr>
                    </m:ctrlPr>
                  </m:sSupPr>
                  <m:e>
                    <m:r>
                      <a:rPr lang="en-US" sz="2400" b="0" i="1" kern="1200" smtClean="0">
                        <a:solidFill>
                          <a:schemeClr val="tx1"/>
                        </a:solidFill>
                        <a:latin typeface="Cambria Math" panose="02040503050406030204" pitchFamily="18" charset="0"/>
                      </a:rPr>
                      <m:t>𝐴</m:t>
                    </m:r>
                    <m:r>
                      <a:rPr lang="en-US" sz="2400" i="1" kern="1200">
                        <a:solidFill>
                          <a:schemeClr val="tx1"/>
                        </a:solidFill>
                        <a:latin typeface="Cambria Math" panose="02040503050406030204" pitchFamily="18" charset="0"/>
                      </a:rPr>
                      <m:t>𝐴</m:t>
                    </m:r>
                  </m:e>
                  <m:sup>
                    <m:r>
                      <a:rPr lang="en-US" sz="2400" i="1" kern="1200">
                        <a:solidFill>
                          <a:schemeClr val="tx1"/>
                        </a:solidFill>
                        <a:latin typeface="Cambria Math" panose="02040503050406030204" pitchFamily="18" charset="0"/>
                      </a:rPr>
                      <m:t>†</m:t>
                    </m:r>
                  </m:sup>
                </m:sSup>
                <m:r>
                  <a:rPr lang="en-US" sz="2400" b="0" i="1" kern="1200" smtClean="0">
                    <a:solidFill>
                      <a:schemeClr val="tx1"/>
                    </a:solidFill>
                    <a:latin typeface="Cambria Math" panose="02040503050406030204" pitchFamily="18" charset="0"/>
                  </a:rPr>
                  <m:t>=</m:t>
                </m:r>
                <m:sSup>
                  <m:sSupPr>
                    <m:ctrlPr>
                      <a:rPr lang="en-US" sz="2400" i="1" kern="1200" smtClean="0">
                        <a:solidFill>
                          <a:schemeClr val="tx1"/>
                        </a:solidFill>
                        <a:latin typeface="Cambria Math" panose="02040503050406030204" pitchFamily="18" charset="0"/>
                      </a:rPr>
                    </m:ctrlPr>
                  </m:sSupPr>
                  <m:e>
                    <m:r>
                      <a:rPr lang="en-US" sz="2400" b="0" i="1" kern="1200" smtClean="0">
                        <a:solidFill>
                          <a:schemeClr val="tx1"/>
                        </a:solidFill>
                        <a:latin typeface="Cambria Math" panose="02040503050406030204" pitchFamily="18" charset="0"/>
                      </a:rPr>
                      <m:t>𝐴</m:t>
                    </m:r>
                  </m:e>
                  <m:sup>
                    <m:r>
                      <a:rPr lang="en-US" sz="2400" i="1" kern="1200">
                        <a:solidFill>
                          <a:schemeClr val="tx1"/>
                        </a:solidFill>
                        <a:latin typeface="Cambria Math" panose="02040503050406030204" pitchFamily="18" charset="0"/>
                      </a:rPr>
                      <m:t>†</m:t>
                    </m:r>
                  </m:sup>
                </m:sSup>
                <m:r>
                  <a:rPr lang="en-US" sz="2400" b="0" i="1" kern="1200" smtClean="0">
                    <a:solidFill>
                      <a:schemeClr val="tx1"/>
                    </a:solidFill>
                    <a:latin typeface="Cambria Math" panose="02040503050406030204" pitchFamily="18" charset="0"/>
                  </a:rPr>
                  <m:t>𝐴</m:t>
                </m:r>
                <m:r>
                  <a:rPr lang="en-US" sz="2400" b="0" i="1" kern="1200" smtClean="0">
                    <a:solidFill>
                      <a:schemeClr val="tx1"/>
                    </a:solidFill>
                    <a:latin typeface="Cambria Math" panose="02040503050406030204" pitchFamily="18" charset="0"/>
                  </a:rPr>
                  <m:t>=</m:t>
                </m:r>
                <m:r>
                  <a:rPr lang="en-US" sz="2400" b="0" i="1" kern="1200" smtClean="0">
                    <a:solidFill>
                      <a:schemeClr val="tx1"/>
                    </a:solidFill>
                    <a:latin typeface="Cambria Math" panose="02040503050406030204" pitchFamily="18" charset="0"/>
                  </a:rPr>
                  <m:t>𝐼</m:t>
                </m:r>
              </m:oMath>
            </m:oMathPara>
          </a14:m>
          <a:endParaRPr lang="en-US" sz="2400" kern="1200" dirty="0">
            <a:solidFill>
              <a:schemeClr val="tx1"/>
            </a:solidFill>
          </a:endParaRPr>
        </a:p>
      </dsp:txBody>
      <dsp:txXfrm>
        <a:off x="6260061" y="3057466"/>
        <a:ext cx="4366112" cy="261966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23F4FE-C7E8-C448-BD7F-0F84C57DF3C7}">
      <dsp:nvSpPr>
        <dsp:cNvPr id="0" name=""/>
        <dsp:cNvSpPr/>
      </dsp:nvSpPr>
      <dsp:spPr>
        <a:xfrm>
          <a:off x="0" y="0"/>
          <a:ext cx="4160788" cy="4160788"/>
        </a:xfrm>
        <a:prstGeom prst="pie">
          <a:avLst>
            <a:gd name="adj1" fmla="val 5400000"/>
            <a:gd name="adj2" fmla="val 1620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A31E11-D9F2-6A4E-9125-21E5ED7A280C}">
      <dsp:nvSpPr>
        <dsp:cNvPr id="0" name=""/>
        <dsp:cNvSpPr/>
      </dsp:nvSpPr>
      <dsp:spPr>
        <a:xfrm>
          <a:off x="2080394" y="0"/>
          <a:ext cx="5050926" cy="4160788"/>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ZA" sz="2200" kern="1200" dirty="0"/>
            <a:t>A </a:t>
          </a:r>
          <a:r>
            <a:rPr lang="en-ZA" sz="2200" b="1" kern="1200" dirty="0"/>
            <a:t>vector space </a:t>
          </a:r>
          <a:r>
            <a:rPr lang="en-ZA" sz="2200" kern="1200" dirty="0"/>
            <a:t>is a collection of vectors that can be added together and multiplied by scalars.</a:t>
          </a:r>
          <a:endParaRPr lang="en-US" sz="2200" kern="1200" dirty="0"/>
        </a:p>
      </dsp:txBody>
      <dsp:txXfrm>
        <a:off x="2080394" y="0"/>
        <a:ext cx="5050926" cy="1248239"/>
      </dsp:txXfrm>
    </dsp:sp>
    <dsp:sp modelId="{C81D190E-BE41-D24D-BAD0-BA85E85E8CE7}">
      <dsp:nvSpPr>
        <dsp:cNvPr id="0" name=""/>
        <dsp:cNvSpPr/>
      </dsp:nvSpPr>
      <dsp:spPr>
        <a:xfrm>
          <a:off x="728139" y="1248239"/>
          <a:ext cx="2704509" cy="2704509"/>
        </a:xfrm>
        <a:prstGeom prst="pie">
          <a:avLst>
            <a:gd name="adj1" fmla="val 5400000"/>
            <a:gd name="adj2" fmla="val 16200000"/>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26EA930-79A9-CF45-AEAB-0B7FE9C4DFA9}">
      <dsp:nvSpPr>
        <dsp:cNvPr id="0" name=""/>
        <dsp:cNvSpPr/>
      </dsp:nvSpPr>
      <dsp:spPr>
        <a:xfrm>
          <a:off x="2080394" y="1248239"/>
          <a:ext cx="5050926" cy="2704509"/>
        </a:xfrm>
        <a:prstGeom prst="rect">
          <a:avLst/>
        </a:prstGeom>
        <a:solidFill>
          <a:schemeClr val="lt1">
            <a:alpha val="90000"/>
            <a:hueOff val="0"/>
            <a:satOff val="0"/>
            <a:lumOff val="0"/>
            <a:alphaOff val="0"/>
          </a:schemeClr>
        </a:solidFill>
        <a:ln w="12700" cap="flat" cmpd="sng" algn="ctr">
          <a:solidFill>
            <a:schemeClr val="accent3">
              <a:hueOff val="1355300"/>
              <a:satOff val="50000"/>
              <a:lumOff val="-735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dirty="0"/>
            <a:t>A vector space over the field of complex numbers, equipped with an inner product, is called a </a:t>
          </a:r>
          <a:r>
            <a:rPr lang="en-US" sz="2200" b="1" kern="1200" dirty="0"/>
            <a:t>complex inner product space</a:t>
          </a:r>
        </a:p>
      </dsp:txBody>
      <dsp:txXfrm>
        <a:off x="2080394" y="1248239"/>
        <a:ext cx="5050926" cy="1248234"/>
      </dsp:txXfrm>
    </dsp:sp>
    <dsp:sp modelId="{5201EDC6-C155-7043-A9C1-D6E1EFEE5723}">
      <dsp:nvSpPr>
        <dsp:cNvPr id="0" name=""/>
        <dsp:cNvSpPr/>
      </dsp:nvSpPr>
      <dsp:spPr>
        <a:xfrm>
          <a:off x="1456276" y="2496474"/>
          <a:ext cx="1248235" cy="1248235"/>
        </a:xfrm>
        <a:prstGeom prst="pie">
          <a:avLst>
            <a:gd name="adj1" fmla="val 5400000"/>
            <a:gd name="adj2" fmla="val 16200000"/>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2DCD29-87DA-8C4F-A830-26FBC692F1E2}">
      <dsp:nvSpPr>
        <dsp:cNvPr id="0" name=""/>
        <dsp:cNvSpPr/>
      </dsp:nvSpPr>
      <dsp:spPr>
        <a:xfrm>
          <a:off x="2080394" y="2496474"/>
          <a:ext cx="5050926" cy="1248235"/>
        </a:xfrm>
        <a:prstGeom prst="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0" kern="1200" dirty="0"/>
            <a:t>A </a:t>
          </a:r>
          <a:r>
            <a:rPr lang="en-US" sz="2200" b="1" kern="1200" dirty="0"/>
            <a:t>Hilbert space</a:t>
          </a:r>
          <a:r>
            <a:rPr lang="en-US" sz="2200" b="0" kern="1200" dirty="0"/>
            <a:t> is a </a:t>
          </a:r>
          <a:r>
            <a:rPr lang="en-US" sz="2200" b="0" u="sng" kern="1200" dirty="0"/>
            <a:t>complete</a:t>
          </a:r>
          <a:r>
            <a:rPr lang="en-US" sz="2200" b="0" kern="1200" dirty="0"/>
            <a:t> inner product space over the field of complex numbers.</a:t>
          </a:r>
        </a:p>
      </dsp:txBody>
      <dsp:txXfrm>
        <a:off x="2080394" y="2496474"/>
        <a:ext cx="5050926" cy="124823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42C814-BA0C-E44F-80E9-1EE4C22CA83D}">
      <dsp:nvSpPr>
        <dsp:cNvPr id="0" name=""/>
        <dsp:cNvSpPr/>
      </dsp:nvSpPr>
      <dsp:spPr>
        <a:xfrm>
          <a:off x="513106" y="0"/>
          <a:ext cx="4581899" cy="1116562"/>
        </a:xfrm>
        <a:prstGeom prst="homePlate">
          <a:avLst/>
        </a:prstGeom>
        <a:solidFill>
          <a:schemeClr val="bg1">
            <a:lumMod val="9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74676" rIns="37338" bIns="74676" numCol="1" spcCol="1270" anchor="ctr" anchorCtr="0">
          <a:noAutofit/>
        </a:bodyPr>
        <a:lstStyle/>
        <a:p>
          <a:pPr marL="0" lvl="0" indent="0" algn="l" defTabSz="1244600">
            <a:lnSpc>
              <a:spcPct val="90000"/>
            </a:lnSpc>
            <a:spcBef>
              <a:spcPct val="0"/>
            </a:spcBef>
            <a:spcAft>
              <a:spcPct val="35000"/>
            </a:spcAft>
            <a:buNone/>
          </a:pPr>
          <a:r>
            <a:rPr lang="en-US" sz="2800" kern="1200" dirty="0">
              <a:solidFill>
                <a:schemeClr val="tx1"/>
              </a:solidFill>
            </a:rPr>
            <a:t>Periodic function</a:t>
          </a:r>
        </a:p>
      </dsp:txBody>
      <dsp:txXfrm>
        <a:off x="513106" y="0"/>
        <a:ext cx="4302759" cy="1116562"/>
      </dsp:txXfrm>
    </dsp:sp>
    <dsp:sp modelId="{878896BA-557A-5049-8A92-AC0CF143522C}">
      <dsp:nvSpPr>
        <dsp:cNvPr id="0" name=""/>
        <dsp:cNvSpPr/>
      </dsp:nvSpPr>
      <dsp:spPr>
        <a:xfrm>
          <a:off x="2795965" y="0"/>
          <a:ext cx="8129548" cy="1116562"/>
        </a:xfrm>
        <a:prstGeom prst="chevron">
          <a:avLst/>
        </a:prstGeom>
        <a:solidFill>
          <a:schemeClr val="accent5">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2014" tIns="74676" rIns="37338" bIns="74676" numCol="1" spcCol="1270" anchor="ctr" anchorCtr="0">
          <a:noAutofit/>
        </a:bodyPr>
        <a:lstStyle/>
        <a:p>
          <a:pPr marL="0" lvl="0" indent="0" algn="ctr" defTabSz="1244600">
            <a:lnSpc>
              <a:spcPct val="90000"/>
            </a:lnSpc>
            <a:spcBef>
              <a:spcPct val="0"/>
            </a:spcBef>
            <a:spcAft>
              <a:spcPct val="35000"/>
            </a:spcAft>
            <a:buNone/>
          </a:pPr>
          <a14:m xmlns:a14="http://schemas.microsoft.com/office/drawing/2010/main">
            <m:oMath xmlns:m="http://schemas.openxmlformats.org/officeDocument/2006/math">
              <m:r>
                <a:rPr lang="en-US" sz="2800" b="0" i="1" kern="1200" smtClean="0">
                  <a:solidFill>
                    <a:schemeClr val="tx1"/>
                  </a:solidFill>
                  <a:latin typeface="Cambria Math" panose="02040503050406030204" pitchFamily="18" charset="0"/>
                </a:rPr>
                <m:t>𝑓</m:t>
              </m:r>
              <m:d>
                <m:dPr>
                  <m:ctrlPr>
                    <a:rPr lang="en-US" sz="2800" b="0" i="1" kern="1200" smtClean="0">
                      <a:solidFill>
                        <a:schemeClr val="tx1"/>
                      </a:solidFill>
                      <a:latin typeface="Cambria Math" panose="02040503050406030204" pitchFamily="18" charset="0"/>
                    </a:rPr>
                  </m:ctrlPr>
                </m:dPr>
                <m:e>
                  <m:r>
                    <a:rPr lang="en-US" sz="2800" b="0" i="1" kern="1200" smtClean="0">
                      <a:solidFill>
                        <a:schemeClr val="tx1"/>
                      </a:solidFill>
                      <a:latin typeface="Cambria Math" panose="02040503050406030204" pitchFamily="18" charset="0"/>
                    </a:rPr>
                    <m:t>𝑥</m:t>
                  </m:r>
                </m:e>
              </m:d>
              <m:r>
                <a:rPr lang="en-US" sz="2800" b="0" i="1" kern="1200" smtClean="0">
                  <a:solidFill>
                    <a:schemeClr val="tx1"/>
                  </a:solidFill>
                  <a:latin typeface="Cambria Math" panose="02040503050406030204" pitchFamily="18" charset="0"/>
                </a:rPr>
                <m:t>=</m:t>
              </m:r>
              <m:sSup>
                <m:sSupPr>
                  <m:ctrlPr>
                    <a:rPr lang="en-US" sz="2800" i="1" kern="1200" smtClean="0">
                      <a:solidFill>
                        <a:schemeClr val="tx1"/>
                      </a:solidFill>
                      <a:latin typeface="Cambria Math" panose="02040503050406030204" pitchFamily="18" charset="0"/>
                    </a:rPr>
                  </m:ctrlPr>
                </m:sSupPr>
                <m:e>
                  <m:r>
                    <a:rPr lang="en-US" sz="2800" b="0" i="1" kern="1200" smtClean="0">
                      <a:solidFill>
                        <a:schemeClr val="tx1"/>
                      </a:solidFill>
                      <a:latin typeface="Cambria Math" panose="02040503050406030204" pitchFamily="18" charset="0"/>
                    </a:rPr>
                    <m:t>𝑎</m:t>
                  </m:r>
                </m:e>
                <m:sup>
                  <m:r>
                    <a:rPr lang="en-US" sz="2800" b="0" i="1" kern="1200" smtClean="0">
                      <a:solidFill>
                        <a:schemeClr val="tx1"/>
                      </a:solidFill>
                      <a:latin typeface="Cambria Math" panose="02040503050406030204" pitchFamily="18" charset="0"/>
                    </a:rPr>
                    <m:t>𝑥</m:t>
                  </m:r>
                </m:sup>
              </m:sSup>
              <m:r>
                <a:rPr lang="en-US" sz="2800" b="0" i="1" kern="1200" smtClean="0">
                  <a:solidFill>
                    <a:schemeClr val="tx1"/>
                  </a:solidFill>
                  <a:latin typeface="Cambria Math" panose="02040503050406030204" pitchFamily="18" charset="0"/>
                </a:rPr>
                <m:t> </m:t>
              </m:r>
              <m:r>
                <a:rPr lang="en-US" sz="2800" b="0" i="1" kern="1200" smtClean="0">
                  <a:solidFill>
                    <a:schemeClr val="tx1"/>
                  </a:solidFill>
                  <a:latin typeface="Cambria Math" panose="02040503050406030204" pitchFamily="18" charset="0"/>
                </a:rPr>
                <m:t>𝑚𝑜𝑑</m:t>
              </m:r>
              <m:r>
                <a:rPr lang="en-US" sz="2800" b="0" i="1" kern="1200" smtClean="0">
                  <a:solidFill>
                    <a:schemeClr val="tx1"/>
                  </a:solidFill>
                  <a:latin typeface="Cambria Math" panose="02040503050406030204" pitchFamily="18" charset="0"/>
                </a:rPr>
                <m:t> </m:t>
              </m:r>
              <m:r>
                <a:rPr lang="sr-Latn-RS" sz="2800" b="0" i="1" kern="1200" smtClean="0">
                  <a:solidFill>
                    <a:schemeClr val="tx1"/>
                  </a:solidFill>
                  <a:latin typeface="Cambria Math" panose="02040503050406030204" pitchFamily="18" charset="0"/>
                </a:rPr>
                <m:t>𝑛</m:t>
              </m:r>
              <m:r>
                <a:rPr lang="en-US" sz="2800" b="0" i="1" kern="1200" smtClean="0">
                  <a:solidFill>
                    <a:schemeClr val="tx1"/>
                  </a:solidFill>
                  <a:latin typeface="Cambria Math" panose="02040503050406030204" pitchFamily="18" charset="0"/>
                  <a:ea typeface="Cambria Math" panose="02040503050406030204" pitchFamily="18" charset="0"/>
                </a:rPr>
                <m:t>→</m:t>
              </m:r>
              <m:d>
                <m:dPr>
                  <m:begChr m:val="{"/>
                  <m:endChr m:val=""/>
                  <m:ctrlPr>
                    <a:rPr lang="en-US" sz="2800" b="0" i="1" kern="1200" smtClean="0">
                      <a:solidFill>
                        <a:schemeClr val="tx1"/>
                      </a:solidFill>
                      <a:latin typeface="Cambria Math" panose="02040503050406030204" pitchFamily="18" charset="0"/>
                      <a:ea typeface="Cambria Math" panose="02040503050406030204" pitchFamily="18" charset="0"/>
                    </a:rPr>
                  </m:ctrlPr>
                </m:dPr>
                <m:e>
                  <m:m>
                    <m:mPr>
                      <m:mcs>
                        <m:mc>
                          <m:mcPr>
                            <m:count m:val="1"/>
                            <m:mcJc m:val="center"/>
                          </m:mcPr>
                        </m:mc>
                      </m:mcs>
                      <m:ctrlPr>
                        <a:rPr lang="en-US" sz="2800" b="0" i="1" kern="1200" smtClean="0">
                          <a:solidFill>
                            <a:schemeClr val="tx1"/>
                          </a:solidFill>
                          <a:latin typeface="Cambria Math" panose="02040503050406030204" pitchFamily="18" charset="0"/>
                          <a:ea typeface="Cambria Math" panose="02040503050406030204" pitchFamily="18" charset="0"/>
                        </a:rPr>
                      </m:ctrlPr>
                    </m:mPr>
                    <m:mr>
                      <m:e>
                        <m:r>
                          <a:rPr lang="en-US" sz="2800" b="0" i="1" kern="1200" smtClean="0">
                            <a:solidFill>
                              <a:schemeClr val="tx1"/>
                            </a:solidFill>
                            <a:latin typeface="Cambria Math" panose="02040503050406030204" pitchFamily="18" charset="0"/>
                          </a:rPr>
                          <m:t>𝑓</m:t>
                        </m:r>
                        <m:d>
                          <m:dPr>
                            <m:ctrlPr>
                              <a:rPr lang="en-US" sz="2800" b="0" i="1" kern="1200" smtClean="0">
                                <a:solidFill>
                                  <a:schemeClr val="tx1"/>
                                </a:solidFill>
                                <a:latin typeface="Cambria Math" panose="02040503050406030204" pitchFamily="18" charset="0"/>
                              </a:rPr>
                            </m:ctrlPr>
                          </m:dPr>
                          <m:e>
                            <m:sSub>
                              <m:sSubPr>
                                <m:ctrlPr>
                                  <a:rPr lang="en-US" sz="2800" b="0" i="1" kern="1200" smtClean="0">
                                    <a:solidFill>
                                      <a:schemeClr val="tx1"/>
                                    </a:solidFill>
                                    <a:latin typeface="Cambria Math" panose="02040503050406030204" pitchFamily="18" charset="0"/>
                                  </a:rPr>
                                </m:ctrlPr>
                              </m:sSubPr>
                              <m:e>
                                <m:r>
                                  <a:rPr lang="en-US" sz="2800" b="0" i="1" kern="1200" smtClean="0">
                                    <a:solidFill>
                                      <a:schemeClr val="tx1"/>
                                    </a:solidFill>
                                    <a:latin typeface="Cambria Math" panose="02040503050406030204" pitchFamily="18" charset="0"/>
                                  </a:rPr>
                                  <m:t>𝑥</m:t>
                                </m:r>
                              </m:e>
                              <m:sub>
                                <m:r>
                                  <a:rPr lang="en-US" sz="2800" b="0" i="1" kern="1200" smtClean="0">
                                    <a:solidFill>
                                      <a:schemeClr val="tx1"/>
                                    </a:solidFill>
                                    <a:latin typeface="Cambria Math" panose="02040503050406030204" pitchFamily="18" charset="0"/>
                                  </a:rPr>
                                  <m:t>=0</m:t>
                                </m:r>
                              </m:sub>
                            </m:sSub>
                          </m:e>
                        </m:d>
                        <m:r>
                          <a:rPr lang="en-US" sz="2800" b="0" i="1" kern="1200" smtClean="0">
                            <a:solidFill>
                              <a:schemeClr val="tx1"/>
                            </a:solidFill>
                            <a:latin typeface="Cambria Math" panose="02040503050406030204" pitchFamily="18" charset="0"/>
                          </a:rPr>
                          <m:t>=1</m:t>
                        </m:r>
                      </m:e>
                    </m:mr>
                    <m:mr>
                      <m:e>
                        <m:r>
                          <a:rPr lang="en-US" sz="2800" b="0" i="1" kern="1200" smtClean="0">
                            <a:solidFill>
                              <a:schemeClr val="tx1"/>
                            </a:solidFill>
                            <a:latin typeface="Cambria Math" panose="02040503050406030204" pitchFamily="18" charset="0"/>
                          </a:rPr>
                          <m:t>𝑓</m:t>
                        </m:r>
                        <m:d>
                          <m:dPr>
                            <m:ctrlPr>
                              <a:rPr lang="en-US" sz="2800" b="0" i="1" kern="1200" smtClean="0">
                                <a:solidFill>
                                  <a:schemeClr val="tx1"/>
                                </a:solidFill>
                                <a:latin typeface="Cambria Math" panose="02040503050406030204" pitchFamily="18" charset="0"/>
                              </a:rPr>
                            </m:ctrlPr>
                          </m:dPr>
                          <m:e>
                            <m:sSub>
                              <m:sSubPr>
                                <m:ctrlPr>
                                  <a:rPr lang="en-US" sz="2800" b="0" i="1" kern="1200" smtClean="0">
                                    <a:solidFill>
                                      <a:schemeClr val="tx1"/>
                                    </a:solidFill>
                                    <a:latin typeface="Cambria Math" panose="02040503050406030204" pitchFamily="18" charset="0"/>
                                  </a:rPr>
                                </m:ctrlPr>
                              </m:sSubPr>
                              <m:e>
                                <m:r>
                                  <a:rPr lang="en-US" sz="2800" b="0" i="1" kern="1200" smtClean="0">
                                    <a:solidFill>
                                      <a:schemeClr val="tx1"/>
                                    </a:solidFill>
                                    <a:latin typeface="Cambria Math" panose="02040503050406030204" pitchFamily="18" charset="0"/>
                                  </a:rPr>
                                  <m:t>𝑥</m:t>
                                </m:r>
                              </m:e>
                              <m:sub>
                                <m:r>
                                  <a:rPr lang="en-US" sz="2800" b="0" i="1" kern="1200" smtClean="0">
                                    <a:solidFill>
                                      <a:schemeClr val="tx1"/>
                                    </a:solidFill>
                                    <a:latin typeface="Cambria Math" panose="02040503050406030204" pitchFamily="18" charset="0"/>
                                  </a:rPr>
                                  <m:t>=</m:t>
                                </m:r>
                                <m:r>
                                  <a:rPr lang="en-US" sz="2800" b="0" i="1" kern="1200" smtClean="0">
                                    <a:solidFill>
                                      <a:schemeClr val="tx1"/>
                                    </a:solidFill>
                                    <a:latin typeface="Cambria Math" panose="02040503050406030204" pitchFamily="18" charset="0"/>
                                  </a:rPr>
                                  <m:t>𝑟</m:t>
                                </m:r>
                              </m:sub>
                            </m:sSub>
                          </m:e>
                        </m:d>
                        <m:r>
                          <a:rPr lang="en-US" sz="2800" b="0" i="1" kern="1200" smtClean="0">
                            <a:solidFill>
                              <a:schemeClr val="tx1"/>
                            </a:solidFill>
                            <a:latin typeface="Cambria Math" panose="02040503050406030204" pitchFamily="18" charset="0"/>
                          </a:rPr>
                          <m:t>=1</m:t>
                        </m:r>
                      </m:e>
                    </m:mr>
                  </m:m>
                </m:e>
              </m:d>
            </m:oMath>
          </a14:m>
          <a:r>
            <a:rPr lang="en-US" sz="2800" i="0" kern="1200" dirty="0">
              <a:solidFill>
                <a:schemeClr val="tx1"/>
              </a:solidFill>
              <a:latin typeface="+mn-lt"/>
              <a:ea typeface="Cambria Math" panose="02040503050406030204" pitchFamily="18" charset="0"/>
            </a:rPr>
            <a:t> </a:t>
          </a:r>
        </a:p>
      </dsp:txBody>
      <dsp:txXfrm>
        <a:off x="3354246" y="0"/>
        <a:ext cx="7012986" cy="111656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3F2DF16-EA6C-5443-91C8-71F4571C94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CDB7671-BDFE-5B47-9993-EC70DD859E8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307B4C-AC2F-CE4B-8193-006BB1C98DCA}" type="datetimeFigureOut">
              <a:rPr lang="en-US" smtClean="0"/>
              <a:t>9/26/26</a:t>
            </a:fld>
            <a:endParaRPr lang="en-US"/>
          </a:p>
        </p:txBody>
      </p:sp>
      <p:sp>
        <p:nvSpPr>
          <p:cNvPr id="4" name="Footer Placeholder 3">
            <a:extLst>
              <a:ext uri="{FF2B5EF4-FFF2-40B4-BE49-F238E27FC236}">
                <a16:creationId xmlns:a16="http://schemas.microsoft.com/office/drawing/2014/main" id="{1AD926D5-C78A-2D45-8A54-8734BC9B221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CF77BE0-AAFE-E842-A8B4-AA852705317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B72675-2D31-5E41-A10F-808799E9BEBA}" type="slidenum">
              <a:rPr lang="en-US" smtClean="0"/>
              <a:t>‹#›</a:t>
            </a:fld>
            <a:endParaRPr lang="en-US"/>
          </a:p>
        </p:txBody>
      </p:sp>
    </p:spTree>
    <p:extLst>
      <p:ext uri="{BB962C8B-B14F-4D97-AF65-F5344CB8AC3E}">
        <p14:creationId xmlns:p14="http://schemas.microsoft.com/office/powerpoint/2010/main" val="5193227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9BEB82-778D-AD40-9C78-E0B63E5D4744}" type="datetimeFigureOut">
              <a:rPr lang="en-US" smtClean="0"/>
              <a:t>9/26/26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CE5E3-B8BD-D040-AC87-D640191DD8F1}" type="slidenum">
              <a:rPr lang="en-US" smtClean="0"/>
              <a:t>‹#›</a:t>
            </a:fld>
            <a:endParaRPr lang="en-US"/>
          </a:p>
        </p:txBody>
      </p:sp>
    </p:spTree>
    <p:extLst>
      <p:ext uri="{BB962C8B-B14F-4D97-AF65-F5344CB8AC3E}">
        <p14:creationId xmlns:p14="http://schemas.microsoft.com/office/powerpoint/2010/main" val="811909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1</a:t>
            </a:fld>
            <a:endParaRPr lang="en-US"/>
          </a:p>
        </p:txBody>
      </p:sp>
    </p:spTree>
    <p:extLst>
      <p:ext uri="{BB962C8B-B14F-4D97-AF65-F5344CB8AC3E}">
        <p14:creationId xmlns:p14="http://schemas.microsoft.com/office/powerpoint/2010/main" val="1189359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p:txBody>
      </p:sp>
      <p:sp>
        <p:nvSpPr>
          <p:cNvPr id="4" name="Slide Number Placeholder 3"/>
          <p:cNvSpPr>
            <a:spLocks noGrp="1"/>
          </p:cNvSpPr>
          <p:nvPr>
            <p:ph type="sldNum" sz="quarter" idx="5"/>
          </p:nvPr>
        </p:nvSpPr>
        <p:spPr/>
        <p:txBody>
          <a:bodyPr/>
          <a:lstStyle/>
          <a:p>
            <a:fld id="{1B2CE5E3-B8BD-D040-AC87-D640191DD8F1}" type="slidenum">
              <a:rPr lang="en-US" smtClean="0"/>
              <a:t>2</a:t>
            </a:fld>
            <a:endParaRPr lang="en-US"/>
          </a:p>
        </p:txBody>
      </p:sp>
    </p:spTree>
    <p:extLst>
      <p:ext uri="{BB962C8B-B14F-4D97-AF65-F5344CB8AC3E}">
        <p14:creationId xmlns:p14="http://schemas.microsoft.com/office/powerpoint/2010/main" val="230534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buFont typeface="+mj-lt"/>
              <a:buNone/>
            </a:pPr>
            <a:r>
              <a:rPr lang="en-ZA" dirty="0"/>
              <a:t>To start, it is useful to revisit the quantum computation model.</a:t>
            </a:r>
          </a:p>
          <a:p>
            <a:pPr marL="228600" indent="-228600" algn="just">
              <a:buFont typeface="+mj-lt"/>
              <a:buAutoNum type="arabicPeriod"/>
            </a:pPr>
            <a:endParaRPr lang="en-ZA" dirty="0"/>
          </a:p>
          <a:p>
            <a:pPr marL="228600" indent="-228600" algn="just">
              <a:buFont typeface="+mj-lt"/>
              <a:buAutoNum type="arabicPeriod"/>
            </a:pPr>
            <a:r>
              <a:rPr lang="en-ZA" dirty="0"/>
              <a:t>The basic unit of quantum information is the quantum bit, or qubit. Mathematically, a qubit is represented by a two-dimensional state vector. </a:t>
            </a:r>
            <a:endParaRPr lang="en-ZA" sz="1200" dirty="0">
              <a:latin typeface="+mn-lt"/>
            </a:endParaRPr>
          </a:p>
          <a:p>
            <a:pPr marL="228600" indent="-228600" algn="just">
              <a:buFont typeface="+mj-lt"/>
              <a:buAutoNum type="arabicPeriod"/>
            </a:pPr>
            <a:endParaRPr lang="en-US" sz="500" dirty="0">
              <a:latin typeface="+mn-lt"/>
            </a:endParaRP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b="0" dirty="0"/>
              <a:t>The basic unit of quantum processing is the quantum gate. Mathematically, a quantum gate is represented by a unitary matrix.</a:t>
            </a:r>
            <a:endParaRPr lang="en-ZA" dirty="0"/>
          </a:p>
          <a:p>
            <a:pPr marL="228600" indent="-228600" algn="just">
              <a:buFont typeface="+mj-lt"/>
              <a:buAutoNum type="arabicPeriod"/>
            </a:pPr>
            <a:endParaRPr lang="en-US" sz="1200" dirty="0">
              <a:latin typeface="+mn-lt"/>
            </a:endParaRPr>
          </a:p>
          <a:p>
            <a:pPr marL="228600" indent="-228600" algn="just">
              <a:buFont typeface="+mj-lt"/>
              <a:buAutoNum type="arabicPeriod"/>
            </a:pPr>
            <a:r>
              <a:rPr lang="en-ZA" dirty="0"/>
              <a:t>Quantum computation consists of successive transformations of the qubit state. Geometrically, these transformations can be visualized as rotations of the vector. Mathematically, they are represented by multiplying the qubit state vector by the matrix corresponding to a quantum gate, producing a new quantum state.</a:t>
            </a:r>
          </a:p>
          <a:p>
            <a:pPr marL="228600" indent="-228600" algn="just">
              <a:buFont typeface="+mj-lt"/>
              <a:buAutoNum type="arabicPeriod"/>
            </a:pPr>
            <a:endParaRPr lang="en-US" sz="1200" dirty="0">
              <a:latin typeface="+mn-lt"/>
            </a:endParaRPr>
          </a:p>
          <a:p>
            <a:pPr marL="228600" indent="-228600" algn="just">
              <a:buFont typeface="+mj-lt"/>
              <a:buAutoNum type="arabicPeriod"/>
            </a:pPr>
            <a:r>
              <a:rPr lang="en-ZA" dirty="0"/>
              <a:t>A quantum algorithm is commonly represented as a quantum circuit. Although the term "quantum circuit" might suggest a hardware circuit, it is actually a flowchart-like diagram that shows the sequence of quantum gates applied to the qubits during program execution.</a:t>
            </a:r>
          </a:p>
          <a:p>
            <a:pPr marL="228600" indent="-228600" algn="just">
              <a:buFont typeface="+mj-lt"/>
              <a:buAutoNum type="arabicPeriod"/>
            </a:pPr>
            <a:endParaRPr lang="en-US" sz="1200" dirty="0">
              <a:latin typeface="+mn-lt"/>
            </a:endParaRPr>
          </a:p>
          <a:p>
            <a:pPr marL="228600" indent="-228600" algn="just">
              <a:buFont typeface="+mj-lt"/>
              <a:buAutoNum type="arabicPeriod"/>
            </a:pPr>
            <a:r>
              <a:rPr lang="en-ZA" dirty="0"/>
              <a:t>Finally, a quantum program is a description of a quantum circuit written in a programming language, typically Python or a quantum assembly language such as </a:t>
            </a:r>
            <a:r>
              <a:rPr lang="en-ZA" dirty="0" err="1"/>
              <a:t>OpenQASM</a:t>
            </a:r>
            <a:r>
              <a:rPr lang="en-ZA" dirty="0"/>
              <a:t>.</a:t>
            </a:r>
            <a:endParaRPr lang="en-US" sz="1200" dirty="0">
              <a:latin typeface="+mn-lt"/>
            </a:endParaRPr>
          </a:p>
        </p:txBody>
      </p:sp>
      <p:sp>
        <p:nvSpPr>
          <p:cNvPr id="4" name="Slide Number Placeholder 3"/>
          <p:cNvSpPr>
            <a:spLocks noGrp="1"/>
          </p:cNvSpPr>
          <p:nvPr>
            <p:ph type="sldNum" sz="quarter" idx="5"/>
          </p:nvPr>
        </p:nvSpPr>
        <p:spPr/>
        <p:txBody>
          <a:bodyPr/>
          <a:lstStyle/>
          <a:p>
            <a:fld id="{1B2CE5E3-B8BD-D040-AC87-D640191DD8F1}" type="slidenum">
              <a:rPr lang="en-US" smtClean="0"/>
              <a:t>3</a:t>
            </a:fld>
            <a:endParaRPr lang="en-US"/>
          </a:p>
        </p:txBody>
      </p:sp>
    </p:spTree>
    <p:extLst>
      <p:ext uri="{BB962C8B-B14F-4D97-AF65-F5344CB8AC3E}">
        <p14:creationId xmlns:p14="http://schemas.microsoft.com/office/powerpoint/2010/main" val="1023404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To start, it is useful to introduce a few mathematical constants that appear frequently in quantum computing. These constants appear frequently in quantum computing, particularly in complex numbers, trigonometric functions, and quantum states.</a:t>
            </a:r>
            <a:endParaRPr lang="en-US" sz="1200" dirty="0"/>
          </a:p>
        </p:txBody>
      </p:sp>
      <p:sp>
        <p:nvSpPr>
          <p:cNvPr id="4" name="Slide Number Placeholder 3"/>
          <p:cNvSpPr>
            <a:spLocks noGrp="1"/>
          </p:cNvSpPr>
          <p:nvPr>
            <p:ph type="sldNum" sz="quarter" idx="5"/>
          </p:nvPr>
        </p:nvSpPr>
        <p:spPr/>
        <p:txBody>
          <a:bodyPr/>
          <a:lstStyle/>
          <a:p>
            <a:fld id="{1B2CE5E3-B8BD-D040-AC87-D640191DD8F1}" type="slidenum">
              <a:rPr lang="en-US" smtClean="0"/>
              <a:t>4</a:t>
            </a:fld>
            <a:endParaRPr lang="en-US"/>
          </a:p>
        </p:txBody>
      </p:sp>
    </p:spTree>
    <p:extLst>
      <p:ext uri="{BB962C8B-B14F-4D97-AF65-F5344CB8AC3E}">
        <p14:creationId xmlns:p14="http://schemas.microsoft.com/office/powerpoint/2010/main" val="4218339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just">
                  <a:buFont typeface="+mj-lt"/>
                  <a:buNone/>
                </a:pPr>
                <a:r>
                  <a:rPr lang="en-US" sz="1200" dirty="0">
                    <a:solidFill>
                      <a:schemeClr val="tx1"/>
                    </a:solidFill>
                  </a:rPr>
                  <a:t>There are several mathematical constants that frequently appear in quantum mechanics and quantum computing.</a:t>
                </a:r>
              </a:p>
              <a:p>
                <a:pPr marL="0" indent="0" algn="just">
                  <a:buFont typeface="+mj-lt"/>
                  <a:buNone/>
                </a:pPr>
                <a:endParaRPr lang="en-US" sz="1200" dirty="0">
                  <a:solidFill>
                    <a:schemeClr val="tx1"/>
                  </a:solidFill>
                </a:endParaRPr>
              </a:p>
              <a:p>
                <a:pPr marL="228600" indent="-228600" algn="l">
                  <a:buFont typeface="+mj-lt"/>
                  <a:buAutoNum type="arabicPeriod"/>
                </a:pPr>
                <a:r>
                  <a:rPr lang="en-US" sz="1200" dirty="0">
                    <a:solidFill>
                      <a:schemeClr val="tx1"/>
                    </a:solidFill>
                  </a:rPr>
                  <a:t>Constant, </a:t>
                </a:r>
                <a14:m>
                  <m:oMath xmlns:m="http://schemas.openxmlformats.org/officeDocument/2006/math">
                    <m:rad>
                      <m:radPr>
                        <m:degHide m:val="on"/>
                        <m:ctrlPr>
                          <a:rPr lang="en-US" sz="1200" b="1" i="1" smtClean="0">
                            <a:solidFill>
                              <a:schemeClr val="tx1"/>
                            </a:solidFill>
                            <a:latin typeface="Cambria Math" panose="02040503050406030204" pitchFamily="18" charset="0"/>
                          </a:rPr>
                        </m:ctrlPr>
                      </m:radPr>
                      <m:deg/>
                      <m:e>
                        <m:r>
                          <a:rPr lang="en-US" sz="1200" b="1" i="1">
                            <a:solidFill>
                              <a:schemeClr val="tx1"/>
                            </a:solidFill>
                            <a:latin typeface="Cambria Math" panose="02040503050406030204" pitchFamily="18" charset="0"/>
                          </a:rPr>
                          <m:t>𝟐</m:t>
                        </m:r>
                      </m:e>
                    </m:rad>
                  </m:oMath>
                </a14:m>
                <a:r>
                  <a:rPr lang="en-US" sz="1200" b="1" dirty="0">
                    <a:solidFill>
                      <a:schemeClr val="tx1"/>
                    </a:solidFill>
                  </a:rPr>
                  <a:t>,</a:t>
                </a:r>
                <a:r>
                  <a:rPr lang="en-US" sz="1200" dirty="0">
                    <a:solidFill>
                      <a:schemeClr val="tx1"/>
                    </a:solidFill>
                  </a:rPr>
                  <a:t> and its reciprocal, </a:t>
                </a:r>
                <a14:m>
                  <m:oMath xmlns:m="http://schemas.openxmlformats.org/officeDocument/2006/math">
                    <m:r>
                      <a:rPr lang="en-US" sz="1200" b="0" i="0" smtClean="0">
                        <a:solidFill>
                          <a:schemeClr val="tx1"/>
                        </a:solidFill>
                        <a:latin typeface="Cambria Math" panose="02040503050406030204" pitchFamily="18" charset="0"/>
                      </a:rPr>
                      <m:t>1/</m:t>
                    </m:r>
                    <m:rad>
                      <m:radPr>
                        <m:degHide m:val="on"/>
                        <m:ctrlPr>
                          <a:rPr lang="en-US" sz="1200" b="0" i="1" smtClean="0">
                            <a:solidFill>
                              <a:schemeClr val="tx1"/>
                            </a:solidFill>
                            <a:latin typeface="Cambria Math" panose="02040503050406030204" pitchFamily="18" charset="0"/>
                          </a:rPr>
                        </m:ctrlPr>
                      </m:radPr>
                      <m:deg/>
                      <m:e>
                        <m:r>
                          <a:rPr lang="en-US" sz="1200" b="0" i="1">
                            <a:solidFill>
                              <a:schemeClr val="tx1"/>
                            </a:solidFill>
                            <a:latin typeface="Cambria Math" panose="02040503050406030204" pitchFamily="18" charset="0"/>
                          </a:rPr>
                          <m:t>2</m:t>
                        </m:r>
                      </m:e>
                    </m:rad>
                  </m:oMath>
                </a14:m>
                <a:r>
                  <a:rPr lang="en-US" sz="1200" dirty="0">
                    <a:solidFill>
                      <a:schemeClr val="tx1"/>
                    </a:solidFill>
                  </a:rPr>
                  <a:t> , often come up in quantum mechanics and quantum computing. They usually appear as results of operations on a unit circle or a unit sphere with radius 1.</a:t>
                </a:r>
                <a:br>
                  <a:rPr lang="en-US" sz="1200" dirty="0">
                    <a:solidFill>
                      <a:schemeClr val="tx1"/>
                    </a:solidFill>
                  </a:rPr>
                </a:br>
                <a:endParaRPr lang="en-US" sz="1200" dirty="0">
                  <a:solidFill>
                    <a:schemeClr val="tx1"/>
                  </a:solidFill>
                </a:endParaRPr>
              </a:p>
              <a:p>
                <a:pPr marL="228600" indent="-228600" algn="l">
                  <a:buFont typeface="+mj-lt"/>
                  <a:buAutoNum type="arabicPeriod"/>
                </a:pPr>
                <a:r>
                  <a:rPr lang="en-ZA" dirty="0">
                    <a:solidFill>
                      <a:schemeClr val="tx1"/>
                    </a:solidFill>
                  </a:rPr>
                  <a:t>Pi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𝜋</m:t>
                    </m:r>
                  </m:oMath>
                </a14:m>
                <a:r>
                  <a:rPr lang="el-GR" dirty="0">
                    <a:solidFill>
                      <a:schemeClr val="tx1"/>
                    </a:solidFill>
                  </a:rPr>
                  <a:t>) </a:t>
                </a:r>
                <a:r>
                  <a:rPr lang="en-ZA" dirty="0">
                    <a:solidFill>
                      <a:schemeClr val="tx1"/>
                    </a:solidFill>
                  </a:rPr>
                  <a:t>is usually defined as the ratio of a circle’s circumference to its diameter, but there are other definitions too. For example, Leibniz’s formula gives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𝜋</m:t>
                    </m:r>
                  </m:oMath>
                </a14:m>
                <a:r>
                  <a:rPr lang="el-GR" dirty="0">
                    <a:solidFill>
                      <a:schemeClr val="tx1"/>
                    </a:solidFill>
                  </a:rPr>
                  <a:t> </a:t>
                </a:r>
                <a:r>
                  <a:rPr lang="en-ZA" dirty="0">
                    <a:solidFill>
                      <a:schemeClr val="tx1"/>
                    </a:solidFill>
                  </a:rPr>
                  <a:t>as an infinite series.</a:t>
                </a:r>
                <a:r>
                  <a:rPr lang="en-ZA" baseline="0" dirty="0">
                    <a:solidFill>
                      <a:schemeClr val="tx1"/>
                    </a:solidFill>
                  </a:rPr>
                  <a:t> </a:t>
                </a:r>
                <a:r>
                  <a:rPr lang="en-ZA" dirty="0">
                    <a:solidFill>
                      <a:schemeClr val="tx1"/>
                    </a:solidFill>
                  </a:rPr>
                  <a:t>In quantum mechanics,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𝜋</m:t>
                    </m:r>
                  </m:oMath>
                </a14:m>
                <a:r>
                  <a:rPr lang="el-GR" dirty="0">
                    <a:solidFill>
                      <a:schemeClr val="tx1"/>
                    </a:solidFill>
                  </a:rPr>
                  <a:t> </a:t>
                </a:r>
                <a:r>
                  <a:rPr lang="en-ZA" dirty="0">
                    <a:solidFill>
                      <a:schemeClr val="tx1"/>
                    </a:solidFill>
                  </a:rPr>
                  <a:t>is linked to the energy levels of hydrogen atoms.</a:t>
                </a:r>
                <a:br>
                  <a:rPr lang="en-US" sz="1200" b="0" dirty="0">
                    <a:solidFill>
                      <a:schemeClr val="tx1"/>
                    </a:solidFill>
                  </a:rPr>
                </a:br>
                <a:br>
                  <a:rPr lang="en-US" sz="1200" b="0" dirty="0">
                    <a:solidFill>
                      <a:schemeClr val="tx1"/>
                    </a:solidFill>
                  </a:rPr>
                </a:br>
                <a:r>
                  <a:rPr lang="en-ZA" dirty="0"/>
                  <a:t>The number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𝜋</m:t>
                    </m:r>
                  </m:oMath>
                </a14:m>
                <a:r>
                  <a:rPr lang="el-GR" dirty="0"/>
                  <a:t> </a:t>
                </a:r>
                <a:r>
                  <a:rPr lang="en-ZA" dirty="0"/>
                  <a:t>is closely linked to measuring angles in radians, which is the natural unit for angles in math. One radian is the angle that covers an arc the same length as the radius. Since </a:t>
                </a:r>
                <a:r>
                  <a:rPr lang="en-ZA" b="0" dirty="0">
                    <a:solidFill>
                      <a:schemeClr val="tx1"/>
                    </a:solidFill>
                  </a:rPr>
                  <a:t>C=2𝝅r</a:t>
                </a:r>
                <a:r>
                  <a:rPr lang="en-ZA" dirty="0"/>
                  <a:t>, a full circle is </a:t>
                </a:r>
                <a:r>
                  <a:rPr lang="en-ZA" b="0" dirty="0">
                    <a:solidFill>
                      <a:schemeClr val="tx1"/>
                    </a:solidFill>
                  </a:rPr>
                  <a:t>C=2</a:t>
                </a:r>
                <a:r>
                  <a:rPr lang="en-ZA" b="1" dirty="0">
                    <a:solidFill>
                      <a:schemeClr val="tx1"/>
                    </a:solidFill>
                  </a:rPr>
                  <a:t>𝝅</a:t>
                </a:r>
                <a:r>
                  <a:rPr lang="en-ZA" b="0" baseline="0" dirty="0">
                    <a:solidFill>
                      <a:schemeClr val="tx1"/>
                    </a:solidFill>
                  </a:rPr>
                  <a:t> </a:t>
                </a:r>
                <a:r>
                  <a:rPr lang="en-ZA" dirty="0"/>
                  <a:t>radians. Common angles are easy to write as fractions of </a:t>
                </a:r>
                <a:r>
                  <a:rPr lang="en-ZA" b="1" dirty="0">
                    <a:solidFill>
                      <a:schemeClr val="tx1"/>
                    </a:solidFill>
                  </a:rPr>
                  <a:t>𝝅. </a:t>
                </a:r>
                <a:r>
                  <a:rPr lang="en-US" dirty="0"/>
                  <a:t>F</a:t>
                </a:r>
                <a:r>
                  <a:rPr lang="en-ZA" dirty="0"/>
                  <a:t>or example, a right angle (90°) is </a:t>
                </a:r>
                <a:r>
                  <a:rPr lang="en-ZA" b="0" dirty="0">
                    <a:solidFill>
                      <a:schemeClr val="tx1"/>
                    </a:solidFill>
                  </a:rPr>
                  <a:t>𝝅/2</a:t>
                </a:r>
                <a:r>
                  <a:rPr lang="el-GR" dirty="0"/>
                  <a:t> </a:t>
                </a:r>
                <a:r>
                  <a:rPr lang="en-ZA" dirty="0"/>
                  <a:t>radians.</a:t>
                </a:r>
                <a:endParaRPr lang="en-US" sz="1200" b="0" dirty="0">
                  <a:solidFill>
                    <a:schemeClr val="tx1"/>
                  </a:solidFill>
                </a:endParaRPr>
              </a:p>
              <a:p>
                <a:pPr marL="228600" indent="-228600" algn="l">
                  <a:buFont typeface="+mj-lt"/>
                  <a:buAutoNum type="arabicPeriod"/>
                </a:pPr>
                <a:endParaRPr lang="en-US" sz="1200" dirty="0">
                  <a:solidFill>
                    <a:schemeClr val="tx1"/>
                  </a:solidFill>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chemeClr val="tx1"/>
                    </a:solidFill>
                  </a:rPr>
                  <a:t>The Imaginary Unit (</a:t>
                </a:r>
                <a14:m>
                  <m:oMath xmlns:m="http://schemas.openxmlformats.org/officeDocument/2006/math">
                    <m:r>
                      <a:rPr lang="en-US" sz="1200" i="1" smtClean="0">
                        <a:solidFill>
                          <a:schemeClr val="tx1"/>
                        </a:solidFill>
                        <a:latin typeface="Cambria Math" panose="02040503050406030204" pitchFamily="18" charset="0"/>
                      </a:rPr>
                      <m:t>𝑖</m:t>
                    </m:r>
                  </m:oMath>
                </a14:m>
                <a:r>
                  <a:rPr lang="en-US" sz="1200" dirty="0">
                    <a:solidFill>
                      <a:schemeClr val="tx1"/>
                    </a:solidFill>
                  </a:rPr>
                  <a:t>) is defined as the solution to the equation:</a:t>
                </a:r>
                <a:r>
                  <a:rPr lang="en-US" sz="1200" baseline="0" dirty="0">
                    <a:solidFill>
                      <a:schemeClr val="tx1"/>
                    </a:solidFill>
                  </a:rPr>
                  <a:t> </a:t>
                </a:r>
                <a14:m>
                  <m:oMath xmlns:m="http://schemas.openxmlformats.org/officeDocument/2006/math">
                    <m:sSup>
                      <m:sSupPr>
                        <m:ctrlPr>
                          <a:rPr lang="en-ZA" sz="1200" i="1" smtClean="0">
                            <a:solidFill>
                              <a:schemeClr val="tx1"/>
                            </a:solidFill>
                            <a:latin typeface="Cambria Math" panose="02040503050406030204" pitchFamily="18" charset="0"/>
                          </a:rPr>
                        </m:ctrlPr>
                      </m:sSupPr>
                      <m:e>
                        <m:r>
                          <a:rPr lang="sr-Latn-RS" sz="1200" i="1">
                            <a:solidFill>
                              <a:schemeClr val="tx1"/>
                            </a:solidFill>
                            <a:latin typeface="Cambria Math" panose="02040503050406030204" pitchFamily="18" charset="0"/>
                          </a:rPr>
                          <m:t>𝑥</m:t>
                        </m:r>
                      </m:e>
                      <m:sup>
                        <m:r>
                          <a:rPr lang="sr-Latn-RS" sz="1200" i="1">
                            <a:solidFill>
                              <a:schemeClr val="tx1"/>
                            </a:solidFill>
                            <a:latin typeface="Cambria Math" panose="02040503050406030204" pitchFamily="18" charset="0"/>
                          </a:rPr>
                          <m:t>2</m:t>
                        </m:r>
                      </m:sup>
                    </m:sSup>
                    <m:r>
                      <a:rPr lang="sr-Latn-RS" sz="1200" i="1">
                        <a:solidFill>
                          <a:schemeClr val="tx1"/>
                        </a:solidFill>
                        <a:latin typeface="Cambria Math" panose="02040503050406030204" pitchFamily="18" charset="0"/>
                      </a:rPr>
                      <m:t>+1=0</m:t>
                    </m:r>
                  </m:oMath>
                </a14:m>
                <a:r>
                  <a:rPr lang="sr-Latn-RS" sz="1200" i="0" baseline="0" dirty="0">
                    <a:solidFill>
                      <a:schemeClr val="tx1"/>
                    </a:solidFill>
                  </a:rPr>
                  <a:t>. In </a:t>
                </a:r>
                <a:r>
                  <a:rPr lang="sr-Latn-RS" sz="1200" i="0" baseline="0" dirty="0" err="1">
                    <a:solidFill>
                      <a:schemeClr val="tx1"/>
                    </a:solidFill>
                  </a:rPr>
                  <a:t>other</a:t>
                </a:r>
                <a:r>
                  <a:rPr lang="sr-Latn-RS" sz="1200" i="0" baseline="0" dirty="0">
                    <a:solidFill>
                      <a:schemeClr val="tx1"/>
                    </a:solidFill>
                  </a:rPr>
                  <a:t> </a:t>
                </a:r>
                <a:r>
                  <a:rPr lang="sr-Latn-RS" sz="1200" i="0" baseline="0" dirty="0" err="1">
                    <a:solidFill>
                      <a:schemeClr val="tx1"/>
                    </a:solidFill>
                  </a:rPr>
                  <a:t>words</a:t>
                </a:r>
                <a:r>
                  <a:rPr lang="sr-Latn-RS" sz="1200" i="0" baseline="0" dirty="0">
                    <a:solidFill>
                      <a:schemeClr val="tx1"/>
                    </a:solidFill>
                  </a:rPr>
                  <a:t> </a:t>
                </a:r>
                <a14:m>
                  <m:oMath xmlns:m="http://schemas.openxmlformats.org/officeDocument/2006/math">
                    <m:r>
                      <a:rPr lang="en-US" sz="1200" b="0" i="1" smtClean="0">
                        <a:solidFill>
                          <a:schemeClr val="tx1"/>
                        </a:solidFill>
                        <a:latin typeface="Cambria Math" panose="02040503050406030204" pitchFamily="18" charset="0"/>
                      </a:rPr>
                      <m:t>𝑥</m:t>
                    </m:r>
                    <m:r>
                      <a:rPr lang="en-US" sz="1200" b="0" i="1" smtClean="0">
                        <a:solidFill>
                          <a:schemeClr val="tx1"/>
                        </a:solidFill>
                        <a:latin typeface="Cambria Math" panose="02040503050406030204" pitchFamily="18" charset="0"/>
                      </a:rPr>
                      <m:t>=</m:t>
                    </m:r>
                    <m:rad>
                      <m:radPr>
                        <m:degHide m:val="on"/>
                        <m:ctrlPr>
                          <a:rPr lang="en-US" sz="1200" b="0" i="1" smtClean="0">
                            <a:solidFill>
                              <a:schemeClr val="tx1"/>
                            </a:solidFill>
                            <a:latin typeface="Cambria Math" panose="02040503050406030204" pitchFamily="18" charset="0"/>
                          </a:rPr>
                        </m:ctrlPr>
                      </m:radPr>
                      <m:deg/>
                      <m:e>
                        <m:r>
                          <a:rPr lang="en-US" sz="1200" b="0" i="1" smtClean="0">
                            <a:solidFill>
                              <a:schemeClr val="tx1"/>
                            </a:solidFill>
                            <a:latin typeface="Cambria Math" panose="02040503050406030204" pitchFamily="18" charset="0"/>
                          </a:rPr>
                          <m:t>−1</m:t>
                        </m:r>
                      </m:e>
                    </m:rad>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𝑖</m:t>
                    </m:r>
                  </m:oMath>
                </a14:m>
                <a:r>
                  <a:rPr lang="en-US" sz="1200" dirty="0">
                    <a:solidFill>
                      <a:schemeClr val="tx1"/>
                    </a:solidFill>
                  </a:rPr>
                  <a: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sz="1200" dirty="0">
                  <a:solidFill>
                    <a:schemeClr val="tx1"/>
                  </a:solidFill>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dirty="0"/>
                  <a:t>Euler’s number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𝑒</m:t>
                    </m:r>
                  </m:oMath>
                </a14:m>
                <a:r>
                  <a:rPr lang="en-ZA" dirty="0"/>
                  <a:t>) is another important constant, and it can be defined in several ways. One way is through compounded growth. As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𝑛</m:t>
                    </m:r>
                  </m:oMath>
                </a14:m>
                <a:r>
                  <a:rPr lang="en-ZA" dirty="0"/>
                  <a:t> gets larger and larger, this</a:t>
                </a:r>
                <a:r>
                  <a:rPr lang="en-ZA" baseline="0" dirty="0"/>
                  <a:t> </a:t>
                </a:r>
                <a:r>
                  <a:rPr lang="en-ZA" dirty="0"/>
                  <a:t>expression approaches the value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𝑒</m:t>
                    </m:r>
                  </m:oMath>
                </a14:m>
                <a:r>
                  <a:rPr lang="en-ZA" dirty="0"/>
                  <a:t>, which is about 2.718.</a:t>
                </a:r>
                <a:endParaRPr lang="en-US" sz="1200" b="0" dirty="0">
                  <a:solidFill>
                    <a:schemeClr val="tx1"/>
                  </a:solidFill>
                </a:endParaRPr>
              </a:p>
              <a:p>
                <a:pPr marL="0" indent="0" algn="just">
                  <a:buFont typeface="+mj-lt"/>
                  <a:buNone/>
                </a:pPr>
                <a:endParaRPr lang="en-US" sz="1200" dirty="0">
                  <a:solidFill>
                    <a:schemeClr val="tx1"/>
                  </a:solidFill>
                </a:endParaRPr>
              </a:p>
            </p:txBody>
          </p:sp>
        </mc:Choice>
        <mc:Fallback xmlns="">
          <p:sp>
            <p:nvSpPr>
              <p:cNvPr id="3" name="Notes Placeholder 2"/>
              <p:cNvSpPr>
                <a:spLocks noGrp="1"/>
              </p:cNvSpPr>
              <p:nvPr>
                <p:ph type="body" idx="1"/>
              </p:nvPr>
            </p:nvSpPr>
            <p:spPr/>
            <p:txBody>
              <a:bodyPr/>
              <a:lstStyle/>
              <a:p>
                <a:r>
                  <a:rPr lang="en-US" sz="2000" dirty="0"/>
                  <a:t>U </a:t>
                </a:r>
                <a:r>
                  <a:rPr lang="en-US" sz="2000" dirty="0" err="1"/>
                  <a:t>kvantnom</a:t>
                </a:r>
                <a:r>
                  <a:rPr lang="en-US" sz="2000" dirty="0"/>
                  <a:t> </a:t>
                </a:r>
                <a:r>
                  <a:rPr lang="en-US" sz="2000" dirty="0" err="1"/>
                  <a:t>racunarstvu</a:t>
                </a:r>
                <a:r>
                  <a:rPr lang="en-US" sz="2000" dirty="0"/>
                  <a:t> </a:t>
                </a:r>
                <a:r>
                  <a:rPr lang="en-US" sz="2000" dirty="0" err="1"/>
                  <a:t>cesto</a:t>
                </a:r>
                <a:r>
                  <a:rPr lang="en-US" sz="2000" dirty="0"/>
                  <a:t> se </a:t>
                </a:r>
                <a:r>
                  <a:rPr lang="en-US" sz="2000" dirty="0" err="1"/>
                  <a:t>pojavljuje</a:t>
                </a:r>
                <a:r>
                  <a:rPr lang="en-US" sz="2000" dirty="0"/>
                  <a:t> </a:t>
                </a:r>
                <a:r>
                  <a:rPr lang="en-US" sz="2000" dirty="0" err="1"/>
                  <a:t>nekoliko</a:t>
                </a:r>
                <a:r>
                  <a:rPr lang="en-US" sz="2000" dirty="0"/>
                  <a:t> </a:t>
                </a:r>
                <a:r>
                  <a:rPr lang="en-US" sz="2000" dirty="0" err="1"/>
                  <a:t>vaznih</a:t>
                </a:r>
                <a:r>
                  <a:rPr lang="en-US" sz="2000" dirty="0"/>
                  <a:t> </a:t>
                </a:r>
                <a:r>
                  <a:rPr lang="en-US" sz="2000" dirty="0" err="1"/>
                  <a:t>konstanti</a:t>
                </a:r>
                <a:r>
                  <a:rPr lang="en-US" sz="2000" dirty="0"/>
                  <a:t> </a:t>
                </a:r>
                <a:r>
                  <a:rPr lang="en-US" sz="2000" dirty="0" err="1"/>
                  <a:t>koje</a:t>
                </a:r>
                <a:r>
                  <a:rPr lang="en-US" sz="2000" dirty="0"/>
                  <a:t> </a:t>
                </a:r>
                <a:r>
                  <a:rPr lang="en-US" sz="2000" dirty="0" err="1"/>
                  <a:t>cemo</a:t>
                </a:r>
                <a:r>
                  <a:rPr lang="en-US" sz="2000" dirty="0"/>
                  <a:t> </a:t>
                </a:r>
                <a:r>
                  <a:rPr lang="en-US" sz="2000" dirty="0" err="1"/>
                  <a:t>ukratko</a:t>
                </a:r>
                <a:r>
                  <a:rPr lang="en-US" sz="2000" dirty="0"/>
                  <a:t> </a:t>
                </a:r>
                <a:r>
                  <a:rPr lang="en-US" sz="2000" dirty="0" err="1"/>
                  <a:t>nabrojati</a:t>
                </a:r>
                <a:r>
                  <a:rPr lang="en-US" sz="2000" dirty="0"/>
                  <a:t>.</a:t>
                </a:r>
              </a:p>
              <a:p>
                <a:pPr marL="457200" indent="-457200">
                  <a:buFont typeface="+mj-lt"/>
                  <a:buAutoNum type="arabicPeriod"/>
                </a:pPr>
                <a:r>
                  <a:rPr lang="en-US" sz="2000" dirty="0" err="1"/>
                  <a:t>Krenucemo</a:t>
                </a:r>
                <a:r>
                  <a:rPr lang="en-US" sz="2000" dirty="0"/>
                  <a:t> od </a:t>
                </a:r>
                <a:r>
                  <a:rPr lang="en-US" sz="2000" dirty="0" err="1"/>
                  <a:t>konstante</a:t>
                </a:r>
                <a:r>
                  <a:rPr lang="en-US" sz="2000" dirty="0"/>
                  <a:t> </a:t>
                </a:r>
                <a:r>
                  <a:rPr lang="en-ZA" sz="2000" dirty="0"/>
                  <a:t>√</a:t>
                </a:r>
                <a:r>
                  <a:rPr lang="en-ZA" sz="2000" dirty="0">
                    <a:effectLst/>
                  </a:rPr>
                  <a:t>2. </a:t>
                </a:r>
                <a:r>
                  <a:rPr lang="en-ZA" sz="2000" dirty="0" err="1">
                    <a:effectLst/>
                  </a:rPr>
                  <a:t>Geometrijski</a:t>
                </a:r>
                <a:r>
                  <a:rPr lang="en-ZA" sz="2000" dirty="0">
                    <a:effectLst/>
                  </a:rPr>
                  <a:t>, </a:t>
                </a:r>
                <a:r>
                  <a:rPr lang="en-ZA" sz="2000" dirty="0"/>
                  <a:t>√</a:t>
                </a:r>
                <a:r>
                  <a:rPr lang="en-ZA" sz="2000" dirty="0">
                    <a:effectLst/>
                  </a:rPr>
                  <a:t>2 </a:t>
                </a:r>
                <a:r>
                  <a:rPr lang="en-ZA" sz="2000" dirty="0" err="1">
                    <a:effectLst/>
                  </a:rPr>
                  <a:t>je</a:t>
                </a:r>
                <a:r>
                  <a:rPr lang="en-ZA" sz="2000" dirty="0">
                    <a:effectLst/>
                  </a:rPr>
                  <a:t> </a:t>
                </a:r>
                <a:r>
                  <a:rPr lang="en-ZA" sz="2000" dirty="0" err="1">
                    <a:effectLst/>
                  </a:rPr>
                  <a:t>dijagonala</a:t>
                </a:r>
                <a:r>
                  <a:rPr lang="en-ZA" sz="2000" dirty="0">
                    <a:effectLst/>
                  </a:rPr>
                  <a:t> </a:t>
                </a:r>
                <a:r>
                  <a:rPr lang="en-ZA" sz="2000" dirty="0" err="1">
                    <a:effectLst/>
                  </a:rPr>
                  <a:t>jedinicnog</a:t>
                </a:r>
                <a:r>
                  <a:rPr lang="en-ZA" sz="2000" dirty="0">
                    <a:effectLst/>
                  </a:rPr>
                  <a:t> </a:t>
                </a:r>
                <a:r>
                  <a:rPr lang="en-ZA" sz="2000" dirty="0" err="1">
                    <a:effectLst/>
                  </a:rPr>
                  <a:t>kvadrata</a:t>
                </a:r>
                <a:r>
                  <a:rPr lang="en-ZA" sz="2000" dirty="0">
                    <a:effectLst/>
                  </a:rPr>
                  <a:t>, </a:t>
                </a:r>
                <a:r>
                  <a:rPr lang="en-ZA" sz="2000" dirty="0" err="1">
                    <a:effectLst/>
                  </a:rPr>
                  <a:t>sto</a:t>
                </a:r>
                <a:r>
                  <a:rPr lang="en-ZA" sz="2000" dirty="0">
                    <a:effectLst/>
                  </a:rPr>
                  <a:t> </a:t>
                </a:r>
                <a:r>
                  <a:rPr lang="en-ZA" sz="2000" dirty="0" err="1">
                    <a:effectLst/>
                  </a:rPr>
                  <a:t>sledi</a:t>
                </a:r>
                <a:r>
                  <a:rPr lang="en-ZA" sz="2000" dirty="0">
                    <a:effectLst/>
                  </a:rPr>
                  <a:t> </a:t>
                </a:r>
                <a:r>
                  <a:rPr lang="en-ZA" sz="2000" dirty="0" err="1">
                    <a:effectLst/>
                  </a:rPr>
                  <a:t>iz</a:t>
                </a:r>
                <a:r>
                  <a:rPr lang="en-ZA" sz="2000" dirty="0">
                    <a:effectLst/>
                  </a:rPr>
                  <a:t> </a:t>
                </a:r>
                <a:r>
                  <a:rPr lang="en-ZA" sz="2000" dirty="0" err="1">
                    <a:effectLst/>
                  </a:rPr>
                  <a:t>Pitagorine</a:t>
                </a:r>
                <a:r>
                  <a:rPr lang="en-ZA" sz="2000" dirty="0">
                    <a:effectLst/>
                  </a:rPr>
                  <a:t> </a:t>
                </a:r>
                <a:r>
                  <a:rPr lang="en-ZA" sz="2000" dirty="0" err="1">
                    <a:effectLst/>
                  </a:rPr>
                  <a:t>teoreme</a:t>
                </a:r>
                <a:r>
                  <a:rPr lang="en-ZA" sz="2000" dirty="0">
                    <a:effectLst/>
                  </a:rPr>
                  <a:t>. U </a:t>
                </a:r>
                <a:r>
                  <a:rPr lang="en-ZA" sz="2000" dirty="0" err="1">
                    <a:effectLst/>
                  </a:rPr>
                  <a:t>kvantnom</a:t>
                </a:r>
                <a:r>
                  <a:rPr lang="en-ZA" sz="2000" dirty="0">
                    <a:effectLst/>
                  </a:rPr>
                  <a:t> </a:t>
                </a:r>
                <a:r>
                  <a:rPr lang="en-ZA" sz="2000" dirty="0" err="1">
                    <a:effectLst/>
                  </a:rPr>
                  <a:t>racunarstvu</a:t>
                </a:r>
                <a:r>
                  <a:rPr lang="en-ZA" sz="2000" dirty="0">
                    <a:effectLst/>
                  </a:rPr>
                  <a:t> se </a:t>
                </a:r>
                <a:r>
                  <a:rPr lang="en-ZA" sz="2000" dirty="0" err="1">
                    <a:effectLst/>
                  </a:rPr>
                  <a:t>cesto</a:t>
                </a:r>
                <a:r>
                  <a:rPr lang="en-ZA" sz="2000" dirty="0">
                    <a:effectLst/>
                  </a:rPr>
                  <a:t> </a:t>
                </a:r>
                <a:r>
                  <a:rPr lang="en-ZA" sz="2000" dirty="0" err="1">
                    <a:effectLst/>
                  </a:rPr>
                  <a:t>pojavljuje</a:t>
                </a:r>
                <a:r>
                  <a:rPr lang="en-ZA" sz="2000" dirty="0">
                    <a:effectLst/>
                  </a:rPr>
                  <a:t> </a:t>
                </a:r>
                <a:r>
                  <a:rPr lang="en-ZA" sz="2000" dirty="0" err="1">
                    <a:effectLst/>
                  </a:rPr>
                  <a:t>jer</a:t>
                </a:r>
                <a:r>
                  <a:rPr lang="en-ZA" sz="2000" dirty="0">
                    <a:effectLst/>
                  </a:rPr>
                  <a:t> </a:t>
                </a:r>
                <a:r>
                  <a:rPr lang="en-ZA" sz="2000" dirty="0" err="1">
                    <a:effectLst/>
                  </a:rPr>
                  <a:t>su</a:t>
                </a:r>
                <a:r>
                  <a:rPr lang="en-ZA" sz="2000" dirty="0">
                    <a:effectLst/>
                  </a:rPr>
                  <a:t> </a:t>
                </a:r>
                <a:r>
                  <a:rPr lang="en-ZA" sz="2000" dirty="0" err="1">
                    <a:effectLst/>
                  </a:rPr>
                  <a:t>kubiti</a:t>
                </a:r>
                <a:r>
                  <a:rPr lang="en-ZA" sz="2000" dirty="0">
                    <a:effectLst/>
                  </a:rPr>
                  <a:t> </a:t>
                </a:r>
                <a:r>
                  <a:rPr lang="en-ZA" sz="2000" dirty="0" err="1">
                    <a:effectLst/>
                  </a:rPr>
                  <a:t>predstavljeni</a:t>
                </a:r>
                <a:r>
                  <a:rPr lang="en-ZA" sz="2000" dirty="0">
                    <a:effectLst/>
                  </a:rPr>
                  <a:t> </a:t>
                </a:r>
                <a:r>
                  <a:rPr lang="en-ZA" sz="2000" dirty="0" err="1">
                    <a:effectLst/>
                  </a:rPr>
                  <a:t>jedninicnim</a:t>
                </a:r>
                <a:r>
                  <a:rPr lang="en-ZA" sz="2000" dirty="0">
                    <a:effectLst/>
                  </a:rPr>
                  <a:t> </a:t>
                </a:r>
                <a:r>
                  <a:rPr lang="en-ZA" sz="2000" dirty="0" err="1">
                    <a:effectLst/>
                  </a:rPr>
                  <a:t>vektorima</a:t>
                </a:r>
                <a:r>
                  <a:rPr lang="en-ZA" sz="2000" dirty="0">
                    <a:effectLst/>
                  </a:rPr>
                  <a:t> I </a:t>
                </a:r>
                <a:r>
                  <a:rPr lang="en-ZA" sz="2000" dirty="0" err="1">
                    <a:effectLst/>
                  </a:rPr>
                  <a:t>operacije</a:t>
                </a:r>
                <a:r>
                  <a:rPr lang="en-ZA" sz="2000" dirty="0">
                    <a:effectLst/>
                  </a:rPr>
                  <a:t> </a:t>
                </a:r>
                <a:r>
                  <a:rPr lang="en-ZA" sz="2000" dirty="0" err="1">
                    <a:effectLst/>
                  </a:rPr>
                  <a:t>sa</a:t>
                </a:r>
                <a:r>
                  <a:rPr lang="en-ZA" sz="2000" dirty="0">
                    <a:effectLst/>
                  </a:rPr>
                  <a:t> </a:t>
                </a:r>
                <a:r>
                  <a:rPr lang="en-ZA" sz="2000" dirty="0" err="1">
                    <a:effectLst/>
                  </a:rPr>
                  <a:t>njima</a:t>
                </a:r>
                <a:r>
                  <a:rPr lang="en-ZA" sz="2000" dirty="0">
                    <a:effectLst/>
                  </a:rPr>
                  <a:t> </a:t>
                </a:r>
                <a:r>
                  <a:rPr lang="en-ZA" sz="2000" dirty="0" err="1">
                    <a:effectLst/>
                  </a:rPr>
                  <a:t>cesto</a:t>
                </a:r>
                <a:r>
                  <a:rPr lang="en-ZA" sz="2000" dirty="0">
                    <a:effectLst/>
                  </a:rPr>
                  <a:t> </a:t>
                </a:r>
                <a:r>
                  <a:rPr lang="en-ZA" sz="2000" dirty="0" err="1">
                    <a:effectLst/>
                  </a:rPr>
                  <a:t>daju</a:t>
                </a:r>
                <a:r>
                  <a:rPr lang="en-ZA" sz="2000" dirty="0">
                    <a:effectLst/>
                  </a:rPr>
                  <a:t> </a:t>
                </a:r>
                <a:r>
                  <a:rPr lang="en-ZA" sz="2000" dirty="0" err="1">
                    <a:effectLst/>
                  </a:rPr>
                  <a:t>rezultate</a:t>
                </a:r>
                <a:r>
                  <a:rPr lang="en-ZA" sz="2000" dirty="0">
                    <a:effectLst/>
                  </a:rPr>
                  <a:t> </a:t>
                </a:r>
                <a:r>
                  <a:rPr lang="en-ZA" sz="2000" dirty="0" err="1">
                    <a:effectLst/>
                  </a:rPr>
                  <a:t>koji</a:t>
                </a:r>
                <a:r>
                  <a:rPr lang="en-ZA" sz="2000" dirty="0">
                    <a:effectLst/>
                  </a:rPr>
                  <a:t> </a:t>
                </a:r>
                <a:r>
                  <a:rPr lang="en-ZA" sz="2000" dirty="0" err="1">
                    <a:effectLst/>
                  </a:rPr>
                  <a:t>su</a:t>
                </a:r>
                <a:r>
                  <a:rPr lang="en-ZA" sz="2000" dirty="0">
                    <a:effectLst/>
                  </a:rPr>
                  <a:t> </a:t>
                </a:r>
                <a:r>
                  <a:rPr lang="en-ZA" sz="2000" dirty="0"/>
                  <a:t>√</a:t>
                </a:r>
                <a:r>
                  <a:rPr lang="en-ZA" sz="2000" dirty="0">
                    <a:effectLst/>
                  </a:rPr>
                  <a:t>2 </a:t>
                </a:r>
                <a:r>
                  <a:rPr lang="en-ZA" sz="2000" dirty="0" err="1">
                    <a:effectLst/>
                  </a:rPr>
                  <a:t>ili</a:t>
                </a:r>
                <a:r>
                  <a:rPr lang="en-ZA" sz="2000" dirty="0">
                    <a:effectLst/>
                  </a:rPr>
                  <a:t> 1/</a:t>
                </a:r>
                <a:r>
                  <a:rPr lang="en-ZA" sz="2000" dirty="0"/>
                  <a:t>√</a:t>
                </a:r>
                <a:r>
                  <a:rPr lang="en-ZA" sz="2000" dirty="0">
                    <a:effectLst/>
                  </a:rPr>
                  <a:t>2.</a:t>
                </a:r>
              </a:p>
              <a:p>
                <a:pPr marL="457200" indent="-457200">
                  <a:buFont typeface="+mj-lt"/>
                  <a:buAutoNum type="arabicPeriod"/>
                </a:pPr>
                <a:r>
                  <a:rPr lang="en-ZA" sz="2000" dirty="0">
                    <a:effectLst/>
                  </a:rPr>
                  <a:t>Druga </a:t>
                </a:r>
                <a:r>
                  <a:rPr lang="en-ZA" sz="2000" dirty="0" err="1">
                    <a:effectLst/>
                  </a:rPr>
                  <a:t>konstanta</a:t>
                </a:r>
                <a:r>
                  <a:rPr lang="en-ZA" sz="2000" dirty="0">
                    <a:effectLst/>
                  </a:rPr>
                  <a:t>, </a:t>
                </a:r>
                <a:r>
                  <a:rPr lang="en-US" sz="2000" i="0">
                    <a:latin typeface="Cambria Math" panose="02040503050406030204" pitchFamily="18" charset="0"/>
                    <a:ea typeface="Cambria Math" panose="02040503050406030204" pitchFamily="18" charset="0"/>
                  </a:rPr>
                  <a:t>𝜋</a:t>
                </a:r>
                <a:r>
                  <a:rPr lang="en-ZA" sz="2000" dirty="0">
                    <a:effectLst/>
                  </a:rPr>
                  <a:t> se </a:t>
                </a:r>
                <a:r>
                  <a:rPr lang="en-ZA" sz="2000" dirty="0" err="1">
                    <a:effectLst/>
                  </a:rPr>
                  <a:t>tradicionalno</a:t>
                </a:r>
                <a:r>
                  <a:rPr lang="en-ZA" sz="2000" dirty="0">
                    <a:effectLst/>
                  </a:rPr>
                  <a:t> </a:t>
                </a:r>
                <a:r>
                  <a:rPr lang="en-ZA" sz="2000" dirty="0" err="1">
                    <a:effectLst/>
                  </a:rPr>
                  <a:t>definise</a:t>
                </a:r>
                <a:r>
                  <a:rPr lang="en-ZA" sz="2000" dirty="0">
                    <a:effectLst/>
                  </a:rPr>
                  <a:t> </a:t>
                </a:r>
                <a:r>
                  <a:rPr lang="en-ZA" sz="2000" dirty="0" err="1">
                    <a:effectLst/>
                  </a:rPr>
                  <a:t>kao</a:t>
                </a:r>
                <a:r>
                  <a:rPr lang="en-ZA" sz="2000" dirty="0">
                    <a:effectLst/>
                  </a:rPr>
                  <a:t> </a:t>
                </a:r>
                <a:r>
                  <a:rPr lang="en-ZA" sz="2000" dirty="0" err="1">
                    <a:effectLst/>
                  </a:rPr>
                  <a:t>odnos</a:t>
                </a:r>
                <a:r>
                  <a:rPr lang="en-ZA" sz="2000" dirty="0">
                    <a:effectLst/>
                  </a:rPr>
                  <a:t> </a:t>
                </a:r>
                <a:r>
                  <a:rPr lang="en-ZA" sz="2000" dirty="0" err="1">
                    <a:effectLst/>
                  </a:rPr>
                  <a:t>obima</a:t>
                </a:r>
                <a:r>
                  <a:rPr lang="en-ZA" sz="2000" dirty="0">
                    <a:effectLst/>
                  </a:rPr>
                  <a:t> </a:t>
                </a:r>
                <a:r>
                  <a:rPr lang="en-ZA" sz="2000" dirty="0" err="1">
                    <a:effectLst/>
                  </a:rPr>
                  <a:t>kruga</a:t>
                </a:r>
                <a:r>
                  <a:rPr lang="en-ZA" sz="2000" dirty="0">
                    <a:effectLst/>
                  </a:rPr>
                  <a:t> I </a:t>
                </a:r>
                <a:r>
                  <a:rPr lang="en-ZA" sz="2000" dirty="0" err="1">
                    <a:effectLst/>
                  </a:rPr>
                  <a:t>njegovog</a:t>
                </a:r>
                <a:r>
                  <a:rPr lang="en-ZA" sz="2000" dirty="0">
                    <a:effectLst/>
                  </a:rPr>
                  <a:t> </a:t>
                </a:r>
                <a:r>
                  <a:rPr lang="en-ZA" sz="2000" dirty="0" err="1">
                    <a:effectLst/>
                  </a:rPr>
                  <a:t>precnika</a:t>
                </a:r>
                <a:r>
                  <a:rPr lang="en-ZA" sz="2000" dirty="0">
                    <a:effectLst/>
                  </a:rPr>
                  <a:t>. Druga </a:t>
                </a:r>
                <a:r>
                  <a:rPr lang="en-ZA" sz="2000" dirty="0" err="1">
                    <a:effectLst/>
                  </a:rPr>
                  <a:t>definicija</a:t>
                </a:r>
                <a:r>
                  <a:rPr lang="en-ZA" sz="2000" dirty="0">
                    <a:effectLst/>
                  </a:rPr>
                  <a:t> </a:t>
                </a:r>
                <a:r>
                  <a:rPr lang="en-ZA" sz="2000" dirty="0" err="1">
                    <a:effectLst/>
                  </a:rPr>
                  <a:t>je</a:t>
                </a:r>
                <a:r>
                  <a:rPr lang="en-ZA" sz="2000" dirty="0">
                    <a:effectLst/>
                  </a:rPr>
                  <a:t> </a:t>
                </a:r>
                <a:r>
                  <a:rPr lang="en-ZA" sz="2000" dirty="0" err="1">
                    <a:effectLst/>
                  </a:rPr>
                  <a:t>Valisov</a:t>
                </a:r>
                <a:r>
                  <a:rPr lang="en-ZA" sz="2000" dirty="0">
                    <a:effectLst/>
                  </a:rPr>
                  <a:t> </a:t>
                </a:r>
                <a:r>
                  <a:rPr lang="en-ZA" sz="2000" dirty="0" err="1">
                    <a:effectLst/>
                  </a:rPr>
                  <a:t>proizvod</a:t>
                </a:r>
                <a:r>
                  <a:rPr lang="en-ZA" sz="2000" dirty="0">
                    <a:effectLst/>
                  </a:rPr>
                  <a:t> </a:t>
                </a:r>
                <a:r>
                  <a:rPr lang="en-ZA" sz="2000" dirty="0" err="1">
                    <a:effectLst/>
                  </a:rPr>
                  <a:t>iz</a:t>
                </a:r>
                <a:r>
                  <a:rPr lang="en-ZA" sz="2000" dirty="0">
                    <a:effectLst/>
                  </a:rPr>
                  <a:t> 1656 </a:t>
                </a:r>
                <a:r>
                  <a:rPr lang="en-ZA" sz="2000" dirty="0" err="1">
                    <a:effectLst/>
                  </a:rPr>
                  <a:t>koji</a:t>
                </a:r>
                <a:r>
                  <a:rPr lang="en-ZA" sz="2000" dirty="0">
                    <a:effectLst/>
                  </a:rPr>
                  <a:t> </a:t>
                </a:r>
                <a:r>
                  <a:rPr lang="en-ZA" sz="2000" dirty="0" err="1">
                    <a:effectLst/>
                  </a:rPr>
                  <a:t>koristi</a:t>
                </a:r>
                <a:r>
                  <a:rPr lang="en-ZA" sz="2000" dirty="0">
                    <a:effectLst/>
                  </a:rPr>
                  <a:t> </a:t>
                </a:r>
                <a:r>
                  <a:rPr lang="en-ZA" sz="2000" dirty="0" err="1">
                    <a:effectLst/>
                  </a:rPr>
                  <a:t>beskonacne</a:t>
                </a:r>
                <a:r>
                  <a:rPr lang="en-ZA" sz="2000" dirty="0">
                    <a:effectLst/>
                  </a:rPr>
                  <a:t> </a:t>
                </a:r>
                <a:r>
                  <a:rPr lang="en-ZA" sz="2000" dirty="0" err="1">
                    <a:effectLst/>
                  </a:rPr>
                  <a:t>proizvode</a:t>
                </a:r>
                <a:r>
                  <a:rPr lang="en-ZA" sz="2000" dirty="0">
                    <a:effectLst/>
                  </a:rPr>
                  <a:t>. </a:t>
                </a:r>
                <a:r>
                  <a:rPr lang="en-ZA" sz="2000" dirty="0" err="1">
                    <a:effectLst/>
                  </a:rPr>
                  <a:t>Postoji</a:t>
                </a:r>
                <a:r>
                  <a:rPr lang="en-ZA" sz="2000" dirty="0">
                    <a:effectLst/>
                  </a:rPr>
                  <a:t> I </a:t>
                </a:r>
                <a:r>
                  <a:rPr lang="en-ZA" sz="2000" dirty="0" err="1">
                    <a:effectLst/>
                  </a:rPr>
                  <a:t>kvantno</a:t>
                </a:r>
                <a:r>
                  <a:rPr lang="en-ZA" sz="2000" dirty="0">
                    <a:effectLst/>
                  </a:rPr>
                  <a:t> </a:t>
                </a:r>
                <a:r>
                  <a:rPr lang="en-ZA" sz="2000" dirty="0" err="1">
                    <a:effectLst/>
                  </a:rPr>
                  <a:t>mehanicka</a:t>
                </a:r>
                <a:r>
                  <a:rPr lang="en-ZA" sz="2000" dirty="0">
                    <a:effectLst/>
                  </a:rPr>
                  <a:t>  </a:t>
                </a:r>
                <a:r>
                  <a:rPr lang="en-ZA" sz="2000" dirty="0" err="1">
                    <a:effectLst/>
                  </a:rPr>
                  <a:t>definicija</a:t>
                </a:r>
                <a:r>
                  <a:rPr lang="en-ZA" sz="2000" dirty="0">
                    <a:effectLst/>
                  </a:rPr>
                  <a:t> </a:t>
                </a:r>
                <a:r>
                  <a:rPr lang="en-ZA" sz="2000" dirty="0" err="1">
                    <a:effectLst/>
                  </a:rPr>
                  <a:t>iz</a:t>
                </a:r>
                <a:r>
                  <a:rPr lang="en-ZA" sz="2000" dirty="0">
                    <a:effectLst/>
                  </a:rPr>
                  <a:t> 2015</a:t>
                </a:r>
                <a:r>
                  <a:rPr lang="en-ZA" sz="2000" baseline="0" dirty="0">
                    <a:effectLst/>
                  </a:rPr>
                  <a:t> </a:t>
                </a:r>
                <a:r>
                  <a:rPr lang="en-ZA" sz="2000" baseline="0" dirty="0" err="1">
                    <a:effectLst/>
                  </a:rPr>
                  <a:t>dobijena</a:t>
                </a:r>
                <a:r>
                  <a:rPr lang="en-ZA" sz="2000" baseline="0" dirty="0">
                    <a:effectLst/>
                  </a:rPr>
                  <a:t> </a:t>
                </a:r>
                <a:r>
                  <a:rPr lang="en-ZA" sz="2000" baseline="0" dirty="0" err="1">
                    <a:effectLst/>
                  </a:rPr>
                  <a:t>iz</a:t>
                </a:r>
                <a:r>
                  <a:rPr lang="en-ZA" sz="2000" baseline="0" dirty="0">
                    <a:effectLst/>
                  </a:rPr>
                  <a:t> </a:t>
                </a:r>
                <a:r>
                  <a:rPr lang="en-ZA" sz="2000" baseline="0" dirty="0" err="1">
                    <a:effectLst/>
                  </a:rPr>
                  <a:t>odnosna</a:t>
                </a:r>
                <a:r>
                  <a:rPr lang="en-ZA" sz="2000" baseline="0" dirty="0">
                    <a:effectLst/>
                  </a:rPr>
                  <a:t> </a:t>
                </a:r>
                <a:r>
                  <a:rPr lang="en-ZA" sz="2000" baseline="0" dirty="0" err="1">
                    <a:effectLst/>
                  </a:rPr>
                  <a:t>energetskih</a:t>
                </a:r>
                <a:r>
                  <a:rPr lang="en-ZA" sz="2000" baseline="0" dirty="0">
                    <a:effectLst/>
                  </a:rPr>
                  <a:t> </a:t>
                </a:r>
                <a:r>
                  <a:rPr lang="en-ZA" sz="2000" baseline="0" dirty="0" err="1">
                    <a:effectLst/>
                  </a:rPr>
                  <a:t>nivoa</a:t>
                </a:r>
                <a:r>
                  <a:rPr lang="en-ZA" sz="2000" baseline="0" dirty="0">
                    <a:effectLst/>
                  </a:rPr>
                  <a:t> </a:t>
                </a:r>
                <a:r>
                  <a:rPr lang="en-ZA" sz="2000" baseline="0" dirty="0" err="1">
                    <a:effectLst/>
                  </a:rPr>
                  <a:t>vodonika</a:t>
                </a:r>
                <a:r>
                  <a:rPr lang="en-ZA" sz="2000" baseline="0" dirty="0">
                    <a:effectLst/>
                  </a:rPr>
                  <a:t> </a:t>
                </a:r>
                <a:r>
                  <a:rPr lang="en-ZA" sz="2000" baseline="0" dirty="0" err="1">
                    <a:effectLst/>
                  </a:rPr>
                  <a:t>koji</a:t>
                </a:r>
                <a:r>
                  <a:rPr lang="en-ZA" sz="2000" baseline="0" dirty="0">
                    <a:effectLst/>
                  </a:rPr>
                  <a:t> </a:t>
                </a:r>
                <a:r>
                  <a:rPr lang="en-ZA" sz="2000" baseline="0" dirty="0" err="1">
                    <a:effectLst/>
                  </a:rPr>
                  <a:t>su</a:t>
                </a:r>
                <a:r>
                  <a:rPr lang="en-ZA" sz="2000" baseline="0" dirty="0">
                    <a:effectLst/>
                  </a:rPr>
                  <a:t> </a:t>
                </a:r>
                <a:r>
                  <a:rPr lang="en-ZA" sz="2000" baseline="0" dirty="0" err="1">
                    <a:effectLst/>
                  </a:rPr>
                  <a:t>krugovi</a:t>
                </a:r>
                <a:r>
                  <a:rPr lang="en-ZA" sz="2000" baseline="0" dirty="0">
                    <a:effectLst/>
                  </a:rPr>
                  <a:t> </a:t>
                </a:r>
                <a:r>
                  <a:rPr lang="en-ZA" sz="2000" baseline="0" dirty="0" err="1">
                    <a:effectLst/>
                  </a:rPr>
                  <a:t>oko</a:t>
                </a:r>
                <a:r>
                  <a:rPr lang="en-ZA" sz="2000" baseline="0" dirty="0">
                    <a:effectLst/>
                  </a:rPr>
                  <a:t> </a:t>
                </a:r>
                <a:r>
                  <a:rPr lang="en-ZA" sz="2000" baseline="0" dirty="0" err="1">
                    <a:effectLst/>
                  </a:rPr>
                  <a:t>nukleusa</a:t>
                </a:r>
                <a:r>
                  <a:rPr lang="en-ZA" sz="2000" baseline="0" dirty="0">
                    <a:effectLst/>
                  </a:rPr>
                  <a:t>.</a:t>
                </a:r>
                <a:r>
                  <a:rPr lang="en-ZA" sz="2000" dirty="0">
                    <a:effectLst/>
                  </a:rPr>
                  <a:t> U </a:t>
                </a:r>
                <a:r>
                  <a:rPr lang="en-ZA" sz="2000" dirty="0" err="1">
                    <a:effectLst/>
                  </a:rPr>
                  <a:t>kvantnom</a:t>
                </a:r>
                <a:r>
                  <a:rPr lang="en-ZA" sz="2000" dirty="0">
                    <a:effectLst/>
                  </a:rPr>
                  <a:t> </a:t>
                </a:r>
                <a:r>
                  <a:rPr lang="en-ZA" sz="2000" dirty="0" err="1">
                    <a:effectLst/>
                  </a:rPr>
                  <a:t>racunarstvu</a:t>
                </a:r>
                <a:r>
                  <a:rPr lang="en-ZA" sz="2000" dirty="0">
                    <a:effectLst/>
                  </a:rPr>
                  <a:t>, se </a:t>
                </a:r>
                <a:r>
                  <a:rPr lang="en-ZA" sz="2000" dirty="0" err="1">
                    <a:effectLst/>
                  </a:rPr>
                  <a:t>najcesce</a:t>
                </a:r>
                <a:r>
                  <a:rPr lang="en-ZA" sz="2000" dirty="0">
                    <a:effectLst/>
                  </a:rPr>
                  <a:t> </a:t>
                </a:r>
                <a:r>
                  <a:rPr lang="en-ZA" sz="2000" dirty="0" err="1">
                    <a:effectLst/>
                  </a:rPr>
                  <a:t>pojavljuje</a:t>
                </a:r>
                <a:r>
                  <a:rPr lang="en-ZA" sz="2000" dirty="0">
                    <a:effectLst/>
                  </a:rPr>
                  <a:t> </a:t>
                </a:r>
                <a:r>
                  <a:rPr lang="en-ZA" sz="2000" dirty="0" err="1">
                    <a:effectLst/>
                  </a:rPr>
                  <a:t>kao</a:t>
                </a:r>
                <a:r>
                  <a:rPr lang="en-ZA" sz="2000" dirty="0">
                    <a:effectLst/>
                  </a:rPr>
                  <a:t> </a:t>
                </a:r>
                <a:r>
                  <a:rPr lang="en-ZA" sz="2000" dirty="0" err="1">
                    <a:effectLst/>
                  </a:rPr>
                  <a:t>posledica</a:t>
                </a:r>
                <a:r>
                  <a:rPr lang="en-ZA" sz="2000" dirty="0">
                    <a:effectLst/>
                  </a:rPr>
                  <a:t> </a:t>
                </a:r>
                <a:r>
                  <a:rPr lang="en-ZA" sz="2000" dirty="0" err="1">
                    <a:effectLst/>
                  </a:rPr>
                  <a:t>cinjenice</a:t>
                </a:r>
                <a:r>
                  <a:rPr lang="en-ZA" sz="2000" baseline="0" dirty="0">
                    <a:effectLst/>
                  </a:rPr>
                  <a:t> da </a:t>
                </a:r>
                <a:r>
                  <a:rPr lang="en-ZA" sz="2000" baseline="0" dirty="0" err="1">
                    <a:effectLst/>
                  </a:rPr>
                  <a:t>ke</a:t>
                </a:r>
                <a:r>
                  <a:rPr lang="en-ZA" sz="2000" baseline="0" dirty="0">
                    <a:effectLst/>
                  </a:rPr>
                  <a:t> </a:t>
                </a:r>
                <a:r>
                  <a:rPr lang="en-ZA" sz="2000" baseline="0" dirty="0" err="1">
                    <a:effectLst/>
                  </a:rPr>
                  <a:t>kubit</a:t>
                </a:r>
                <a:r>
                  <a:rPr lang="en-ZA" sz="2000" baseline="0" dirty="0">
                    <a:effectLst/>
                  </a:rPr>
                  <a:t> </a:t>
                </a:r>
                <a:r>
                  <a:rPr lang="en-ZA" sz="2000" baseline="0" dirty="0" err="1">
                    <a:effectLst/>
                  </a:rPr>
                  <a:t>vektor</a:t>
                </a:r>
                <a:r>
                  <a:rPr lang="en-ZA" sz="2000" baseline="0" dirty="0">
                    <a:effectLst/>
                  </a:rPr>
                  <a:t> </a:t>
                </a:r>
                <a:r>
                  <a:rPr lang="en-ZA" sz="2000" baseline="0" dirty="0" err="1">
                    <a:effectLst/>
                  </a:rPr>
                  <a:t>koji</a:t>
                </a:r>
                <a:r>
                  <a:rPr lang="en-ZA" sz="2000" baseline="0" dirty="0">
                    <a:effectLst/>
                  </a:rPr>
                  <a:t> se </a:t>
                </a:r>
                <a:r>
                  <a:rPr lang="en-ZA" sz="2000" baseline="0" dirty="0" err="1">
                    <a:effectLst/>
                  </a:rPr>
                  <a:t>okrece</a:t>
                </a:r>
                <a:r>
                  <a:rPr lang="en-ZA" sz="2000" baseline="0" dirty="0">
                    <a:effectLst/>
                  </a:rPr>
                  <a:t> </a:t>
                </a:r>
                <a:r>
                  <a:rPr lang="en-ZA" sz="2000" baseline="0" dirty="0" err="1">
                    <a:effectLst/>
                  </a:rPr>
                  <a:t>oko</a:t>
                </a:r>
                <a:r>
                  <a:rPr lang="en-ZA" sz="2000" baseline="0" dirty="0">
                    <a:effectLst/>
                  </a:rPr>
                  <a:t> </a:t>
                </a:r>
                <a:r>
                  <a:rPr lang="en-ZA" sz="2000" baseline="0" dirty="0" err="1">
                    <a:effectLst/>
                  </a:rPr>
                  <a:t>jedinicnog</a:t>
                </a:r>
                <a:r>
                  <a:rPr lang="en-ZA" sz="2000" baseline="0" dirty="0">
                    <a:effectLst/>
                  </a:rPr>
                  <a:t> </a:t>
                </a:r>
                <a:r>
                  <a:rPr lang="en-ZA" sz="2000" baseline="0" dirty="0" err="1">
                    <a:effectLst/>
                  </a:rPr>
                  <a:t>kruga</a:t>
                </a:r>
                <a:r>
                  <a:rPr lang="en-ZA" sz="2000" baseline="0" dirty="0">
                    <a:effectLst/>
                  </a:rPr>
                  <a:t> </a:t>
                </a:r>
                <a:r>
                  <a:rPr lang="en-ZA" sz="2000" baseline="0" dirty="0" err="1">
                    <a:effectLst/>
                  </a:rPr>
                  <a:t>ciji</a:t>
                </a:r>
                <a:r>
                  <a:rPr lang="en-ZA" sz="2000" baseline="0" dirty="0">
                    <a:effectLst/>
                  </a:rPr>
                  <a:t> </a:t>
                </a:r>
                <a:r>
                  <a:rPr lang="en-ZA" sz="2000" baseline="0" dirty="0" err="1">
                    <a:effectLst/>
                  </a:rPr>
                  <a:t>su</a:t>
                </a:r>
                <a:r>
                  <a:rPr lang="en-ZA" sz="2000" baseline="0" dirty="0">
                    <a:effectLst/>
                  </a:rPr>
                  <a:t> </a:t>
                </a:r>
                <a:r>
                  <a:rPr lang="en-ZA" sz="2000" baseline="0" dirty="0" err="1">
                    <a:effectLst/>
                  </a:rPr>
                  <a:t>uglovi</a:t>
                </a:r>
                <a:r>
                  <a:rPr lang="en-ZA" sz="2000" baseline="0" dirty="0">
                    <a:effectLst/>
                  </a:rPr>
                  <a:t> </a:t>
                </a:r>
                <a:r>
                  <a:rPr lang="en-ZA" sz="2000" baseline="0" dirty="0" err="1">
                    <a:effectLst/>
                  </a:rPr>
                  <a:t>izrazeni</a:t>
                </a:r>
                <a:r>
                  <a:rPr lang="en-ZA" sz="2000" baseline="0" dirty="0">
                    <a:effectLst/>
                  </a:rPr>
                  <a:t> u </a:t>
                </a:r>
                <a:r>
                  <a:rPr lang="en-ZA" sz="2000" baseline="0" dirty="0" err="1">
                    <a:effectLst/>
                  </a:rPr>
                  <a:t>radijanima</a:t>
                </a:r>
                <a:r>
                  <a:rPr lang="en-ZA" sz="2000" baseline="0" dirty="0">
                    <a:effectLst/>
                  </a:rPr>
                  <a:t> </a:t>
                </a:r>
                <a:r>
                  <a:rPr lang="en-ZA" sz="2000" baseline="0" dirty="0" err="1">
                    <a:effectLst/>
                  </a:rPr>
                  <a:t>kao</a:t>
                </a:r>
                <a:r>
                  <a:rPr lang="en-ZA" sz="2000" baseline="0" dirty="0">
                    <a:effectLst/>
                  </a:rPr>
                  <a:t> . Da se </a:t>
                </a:r>
                <a:r>
                  <a:rPr lang="en-ZA" sz="2000" baseline="0" dirty="0" err="1">
                    <a:effectLst/>
                  </a:rPr>
                  <a:t>podestimo</a:t>
                </a:r>
                <a:r>
                  <a:rPr lang="en-ZA" sz="2000" baseline="0" dirty="0">
                    <a:effectLst/>
                  </a:rPr>
                  <a:t> 1 </a:t>
                </a:r>
                <a:r>
                  <a:rPr lang="en-ZA" sz="2000" baseline="0" dirty="0" err="1">
                    <a:effectLst/>
                  </a:rPr>
                  <a:t>radijan</a:t>
                </a:r>
                <a:r>
                  <a:rPr lang="en-ZA" sz="2000" baseline="0" dirty="0">
                    <a:effectLst/>
                  </a:rPr>
                  <a:t> </a:t>
                </a:r>
                <a:r>
                  <a:rPr lang="en-ZA" sz="2000" baseline="0" dirty="0" err="1">
                    <a:effectLst/>
                  </a:rPr>
                  <a:t>je</a:t>
                </a:r>
                <a:r>
                  <a:rPr lang="en-ZA" sz="2000" baseline="0" dirty="0">
                    <a:effectLst/>
                  </a:rPr>
                  <a:t> </a:t>
                </a:r>
                <a:r>
                  <a:rPr lang="en-ZA" sz="2000" baseline="0" dirty="0" err="1">
                    <a:effectLst/>
                  </a:rPr>
                  <a:t>ugao</a:t>
                </a:r>
                <a:r>
                  <a:rPr lang="en-ZA" sz="2000" baseline="0" dirty="0">
                    <a:effectLst/>
                  </a:rPr>
                  <a:t> </a:t>
                </a:r>
                <a:r>
                  <a:rPr lang="en-ZA" sz="2000" baseline="0" dirty="0" err="1">
                    <a:effectLst/>
                  </a:rPr>
                  <a:t>koji</a:t>
                </a:r>
                <a:r>
                  <a:rPr lang="en-ZA" sz="2000" baseline="0" dirty="0">
                    <a:effectLst/>
                  </a:rPr>
                  <a:t> </a:t>
                </a:r>
                <a:r>
                  <a:rPr lang="en-ZA" sz="2000" baseline="0" dirty="0" err="1">
                    <a:effectLst/>
                  </a:rPr>
                  <a:t>kreira</a:t>
                </a:r>
                <a:r>
                  <a:rPr lang="en-ZA" sz="2000" baseline="0" dirty="0">
                    <a:effectLst/>
                  </a:rPr>
                  <a:t> </a:t>
                </a:r>
                <a:r>
                  <a:rPr lang="en-ZA" sz="2000" baseline="0" dirty="0" err="1">
                    <a:effectLst/>
                  </a:rPr>
                  <a:t>luk</a:t>
                </a:r>
                <a:r>
                  <a:rPr lang="en-ZA" sz="2000" baseline="0" dirty="0">
                    <a:effectLst/>
                  </a:rPr>
                  <a:t> </a:t>
                </a:r>
                <a:r>
                  <a:rPr lang="en-ZA" sz="2000" baseline="0" dirty="0" err="1">
                    <a:effectLst/>
                  </a:rPr>
                  <a:t>duzine</a:t>
                </a:r>
                <a:r>
                  <a:rPr lang="en-ZA" sz="2000" baseline="0" dirty="0">
                    <a:effectLst/>
                  </a:rPr>
                  <a:t> </a:t>
                </a:r>
                <a:r>
                  <a:rPr lang="en-ZA" sz="2000" baseline="0" dirty="0" err="1">
                    <a:effectLst/>
                  </a:rPr>
                  <a:t>poluprecnika</a:t>
                </a:r>
                <a:r>
                  <a:rPr lang="en-ZA" sz="2000" baseline="0" dirty="0">
                    <a:effectLst/>
                  </a:rPr>
                  <a:t> </a:t>
                </a:r>
                <a:r>
                  <a:rPr lang="en-ZA" sz="2000" baseline="0" dirty="0" err="1">
                    <a:effectLst/>
                  </a:rPr>
                  <a:t>kruznice</a:t>
                </a:r>
                <a:r>
                  <a:rPr lang="en-ZA" sz="2000" baseline="0" dirty="0">
                    <a:effectLst/>
                  </a:rPr>
                  <a:t>. </a:t>
                </a:r>
                <a:r>
                  <a:rPr lang="en-ZA" sz="2000" baseline="0" dirty="0" err="1">
                    <a:effectLst/>
                  </a:rPr>
                  <a:t>Posto</a:t>
                </a:r>
                <a:r>
                  <a:rPr lang="en-ZA" sz="2000" baseline="0" dirty="0">
                    <a:effectLst/>
                  </a:rPr>
                  <a:t> </a:t>
                </a:r>
                <a:r>
                  <a:rPr lang="en-ZA" sz="2000" baseline="0" dirty="0" err="1">
                    <a:effectLst/>
                  </a:rPr>
                  <a:t>je</a:t>
                </a:r>
                <a:r>
                  <a:rPr lang="en-ZA" sz="2000" baseline="0" dirty="0">
                    <a:effectLst/>
                  </a:rPr>
                  <a:t> </a:t>
                </a:r>
                <a:r>
                  <a:rPr lang="en-ZA" sz="2000" baseline="0" dirty="0" err="1">
                    <a:effectLst/>
                  </a:rPr>
                  <a:t>obim</a:t>
                </a:r>
                <a:r>
                  <a:rPr lang="en-ZA" sz="2000" baseline="0" dirty="0">
                    <a:effectLst/>
                  </a:rPr>
                  <a:t> </a:t>
                </a:r>
                <a:r>
                  <a:rPr lang="en-ZA" sz="2000" baseline="0" dirty="0" err="1">
                    <a:effectLst/>
                  </a:rPr>
                  <a:t>jedinicnog</a:t>
                </a:r>
                <a:r>
                  <a:rPr lang="en-ZA" sz="2000" baseline="0" dirty="0">
                    <a:effectLst/>
                  </a:rPr>
                  <a:t> </a:t>
                </a:r>
                <a:r>
                  <a:rPr lang="en-ZA" sz="2000" baseline="0" dirty="0" err="1">
                    <a:effectLst/>
                  </a:rPr>
                  <a:t>kruga</a:t>
                </a:r>
                <a:r>
                  <a:rPr lang="en-ZA" sz="2000" baseline="0" dirty="0">
                    <a:effectLst/>
                  </a:rPr>
                  <a:t> </a:t>
                </a:r>
                <a:r>
                  <a:rPr lang="en-US" sz="2000" b="0" i="0">
                    <a:latin typeface="Cambria Math" panose="02040503050406030204" pitchFamily="18" charset="0"/>
                    <a:ea typeface="Cambria Math" panose="02040503050406030204" pitchFamily="18" charset="0"/>
                  </a:rPr>
                  <a:t>2</a:t>
                </a:r>
                <a:r>
                  <a:rPr lang="en-US" sz="2000" i="0">
                    <a:latin typeface="Cambria Math" panose="02040503050406030204" pitchFamily="18" charset="0"/>
                    <a:ea typeface="Cambria Math" panose="02040503050406030204" pitchFamily="18" charset="0"/>
                  </a:rPr>
                  <a:t>𝜋</a:t>
                </a:r>
                <a:r>
                  <a:rPr lang="en-ZA" sz="2000" dirty="0">
                    <a:effectLst/>
                  </a:rPr>
                  <a:t> radijana, </a:t>
                </a:r>
                <a:r>
                  <a:rPr lang="en-ZA" sz="2000" dirty="0" err="1">
                    <a:effectLst/>
                  </a:rPr>
                  <a:t>uglovi</a:t>
                </a:r>
                <a:r>
                  <a:rPr lang="en-ZA" sz="2000" dirty="0">
                    <a:effectLst/>
                  </a:rPr>
                  <a:t> se </a:t>
                </a:r>
                <a:r>
                  <a:rPr lang="en-ZA" sz="2000" dirty="0" err="1">
                    <a:effectLst/>
                  </a:rPr>
                  <a:t>cesto</a:t>
                </a:r>
                <a:r>
                  <a:rPr lang="en-ZA" sz="2000" dirty="0">
                    <a:effectLst/>
                  </a:rPr>
                  <a:t> </a:t>
                </a:r>
                <a:r>
                  <a:rPr lang="en-ZA" sz="2000" dirty="0" err="1">
                    <a:effectLst/>
                  </a:rPr>
                  <a:t>izrazavaju</a:t>
                </a:r>
                <a:r>
                  <a:rPr lang="en-ZA" sz="2000" dirty="0">
                    <a:effectLst/>
                  </a:rPr>
                  <a:t> </a:t>
                </a:r>
                <a:r>
                  <a:rPr lang="en-ZA" sz="2000" dirty="0" err="1">
                    <a:effectLst/>
                  </a:rPr>
                  <a:t>kao</a:t>
                </a:r>
                <a:r>
                  <a:rPr lang="en-ZA" sz="2000" dirty="0">
                    <a:effectLst/>
                  </a:rPr>
                  <a:t> </a:t>
                </a:r>
                <a:r>
                  <a:rPr lang="en-ZA" sz="2000" dirty="0" err="1">
                    <a:effectLst/>
                  </a:rPr>
                  <a:t>delovi</a:t>
                </a:r>
                <a:r>
                  <a:rPr lang="en-ZA" sz="2000" dirty="0">
                    <a:effectLst/>
                  </a:rPr>
                  <a:t> </a:t>
                </a:r>
                <a:r>
                  <a:rPr lang="en-ZA" sz="2000" dirty="0" err="1">
                    <a:effectLst/>
                  </a:rPr>
                  <a:t>kruga</a:t>
                </a:r>
                <a:r>
                  <a:rPr lang="en-ZA" sz="2000" dirty="0">
                    <a:effectLst/>
                  </a:rPr>
                  <a:t>, </a:t>
                </a:r>
                <a:r>
                  <a:rPr lang="en-ZA" sz="2000" dirty="0" err="1">
                    <a:effectLst/>
                  </a:rPr>
                  <a:t>na</a:t>
                </a:r>
                <a:r>
                  <a:rPr lang="en-ZA" sz="2000" dirty="0">
                    <a:effectLst/>
                  </a:rPr>
                  <a:t> primer 90 </a:t>
                </a:r>
                <a:r>
                  <a:rPr lang="en-ZA" sz="2000" dirty="0" err="1">
                    <a:effectLst/>
                  </a:rPr>
                  <a:t>je</a:t>
                </a:r>
                <a:r>
                  <a:rPr lang="en-ZA" sz="2000" dirty="0">
                    <a:effectLst/>
                  </a:rPr>
                  <a:t> </a:t>
                </a:r>
                <a:r>
                  <a:rPr lang="en-US" sz="2000" i="0">
                    <a:latin typeface="Cambria Math" panose="02040503050406030204" pitchFamily="18" charset="0"/>
                    <a:ea typeface="Cambria Math" panose="02040503050406030204" pitchFamily="18" charset="0"/>
                  </a:rPr>
                  <a:t>𝜋</a:t>
                </a:r>
                <a:r>
                  <a:rPr lang="en-US" sz="2000" b="0" i="0">
                    <a:latin typeface="Cambria Math" panose="02040503050406030204" pitchFamily="18" charset="0"/>
                    <a:ea typeface="Cambria Math" panose="02040503050406030204" pitchFamily="18" charset="0"/>
                  </a:rPr>
                  <a:t>/2</a:t>
                </a:r>
                <a:r>
                  <a:rPr lang="en-ZA" sz="2000" dirty="0">
                    <a:effectLst/>
                  </a:rPr>
                  <a:t>.</a:t>
                </a:r>
              </a:p>
              <a:p>
                <a:pPr marL="457200" indent="-457200">
                  <a:buFont typeface="+mj-lt"/>
                  <a:buAutoNum type="arabicPeriod"/>
                </a:pPr>
                <a:r>
                  <a:rPr lang="en-ZA" sz="2000" dirty="0" err="1">
                    <a:effectLst/>
                  </a:rPr>
                  <a:t>Treca</a:t>
                </a:r>
                <a:r>
                  <a:rPr lang="en-ZA" sz="2000" dirty="0">
                    <a:effectLst/>
                  </a:rPr>
                  <a:t> </a:t>
                </a:r>
                <a:r>
                  <a:rPr lang="en-ZA" sz="2000" dirty="0" err="1">
                    <a:effectLst/>
                  </a:rPr>
                  <a:t>konstanta</a:t>
                </a:r>
                <a:r>
                  <a:rPr lang="en-ZA" sz="2000" dirty="0">
                    <a:effectLst/>
                  </a:rPr>
                  <a:t> </a:t>
                </a:r>
                <a:r>
                  <a:rPr lang="en-ZA" sz="2000" dirty="0" err="1">
                    <a:effectLst/>
                  </a:rPr>
                  <a:t>je</a:t>
                </a:r>
                <a:r>
                  <a:rPr lang="en-ZA" sz="2000" dirty="0">
                    <a:effectLst/>
                  </a:rPr>
                  <a:t> </a:t>
                </a:r>
                <a:r>
                  <a:rPr lang="en-ZA" sz="2000" dirty="0" err="1">
                    <a:effectLst/>
                  </a:rPr>
                  <a:t>Ojlerov</a:t>
                </a:r>
                <a:r>
                  <a:rPr lang="en-ZA" sz="2000" dirty="0">
                    <a:effectLst/>
                  </a:rPr>
                  <a:t> </a:t>
                </a:r>
                <a:r>
                  <a:rPr lang="en-ZA" sz="2000" dirty="0" err="1">
                    <a:effectLst/>
                  </a:rPr>
                  <a:t>broj</a:t>
                </a:r>
                <a:r>
                  <a:rPr lang="en-ZA" sz="2000" dirty="0">
                    <a:effectLst/>
                  </a:rPr>
                  <a:t> </a:t>
                </a:r>
                <a:r>
                  <a:rPr lang="en-US" sz="2000" i="0">
                    <a:latin typeface="Cambria Math" panose="02040503050406030204" pitchFamily="18" charset="0"/>
                    <a:ea typeface="Cambria Math" panose="02040503050406030204" pitchFamily="18" charset="0"/>
                  </a:rPr>
                  <a:t>𝑒</a:t>
                </a:r>
                <a:r>
                  <a:rPr lang="en-ZA" sz="2000" dirty="0">
                    <a:effectLst/>
                  </a:rPr>
                  <a:t> </a:t>
                </a:r>
                <a:r>
                  <a:rPr lang="en-ZA" sz="2000" dirty="0" err="1">
                    <a:effectLst/>
                  </a:rPr>
                  <a:t>koji</a:t>
                </a:r>
                <a:r>
                  <a:rPr lang="en-ZA" sz="2000" dirty="0">
                    <a:effectLst/>
                  </a:rPr>
                  <a:t> se </a:t>
                </a:r>
                <a:r>
                  <a:rPr lang="en-ZA" sz="2000" dirty="0" err="1">
                    <a:effectLst/>
                  </a:rPr>
                  <a:t>takodje</a:t>
                </a:r>
                <a:r>
                  <a:rPr lang="en-ZA" sz="2000" dirty="0">
                    <a:effectLst/>
                  </a:rPr>
                  <a:t> </a:t>
                </a:r>
                <a:r>
                  <a:rPr lang="en-ZA" sz="2000" dirty="0" err="1">
                    <a:effectLst/>
                  </a:rPr>
                  <a:t>definise</a:t>
                </a:r>
                <a:r>
                  <a:rPr lang="en-ZA" sz="2000" dirty="0">
                    <a:effectLst/>
                  </a:rPr>
                  <a:t> </a:t>
                </a:r>
                <a:r>
                  <a:rPr lang="en-ZA" sz="2000" dirty="0" err="1">
                    <a:effectLst/>
                  </a:rPr>
                  <a:t>na</a:t>
                </a:r>
                <a:r>
                  <a:rPr lang="en-ZA" sz="2000" dirty="0">
                    <a:effectLst/>
                  </a:rPr>
                  <a:t> </a:t>
                </a:r>
                <a:r>
                  <a:rPr lang="en-ZA" sz="2000" dirty="0" err="1">
                    <a:effectLst/>
                  </a:rPr>
                  <a:t>vise</a:t>
                </a:r>
                <a:r>
                  <a:rPr lang="en-ZA" sz="2000" dirty="0">
                    <a:effectLst/>
                  </a:rPr>
                  <a:t> </a:t>
                </a:r>
                <a:r>
                  <a:rPr lang="en-ZA" sz="2000" dirty="0" err="1">
                    <a:effectLst/>
                  </a:rPr>
                  <a:t>nacina</a:t>
                </a:r>
                <a:r>
                  <a:rPr lang="en-ZA" sz="2000" dirty="0">
                    <a:effectLst/>
                  </a:rPr>
                  <a:t>. Na primer </a:t>
                </a:r>
                <a:r>
                  <a:rPr lang="en-ZA" sz="2000" dirty="0" err="1">
                    <a:effectLst/>
                  </a:rPr>
                  <a:t>kao</a:t>
                </a:r>
                <a:r>
                  <a:rPr lang="en-ZA" sz="2000" dirty="0">
                    <a:effectLst/>
                  </a:rPr>
                  <a:t> </a:t>
                </a:r>
                <a:r>
                  <a:rPr lang="en-ZA" sz="2000" dirty="0" err="1">
                    <a:effectLst/>
                  </a:rPr>
                  <a:t>granica</a:t>
                </a:r>
                <a:r>
                  <a:rPr lang="en-ZA" sz="2000" dirty="0">
                    <a:effectLst/>
                  </a:rPr>
                  <a:t> </a:t>
                </a:r>
                <a:r>
                  <a:rPr lang="en-ZA" sz="2000" dirty="0" err="1">
                    <a:effectLst/>
                  </a:rPr>
                  <a:t>izraza</a:t>
                </a:r>
                <a:r>
                  <a:rPr lang="en-ZA" sz="2000" dirty="0">
                    <a:effectLst/>
                  </a:rPr>
                  <a:t> </a:t>
                </a:r>
                <a:r>
                  <a:rPr lang="en-US" sz="2000" i="0">
                    <a:latin typeface="Cambria Math" panose="02040503050406030204" pitchFamily="18" charset="0"/>
                    <a:ea typeface="Cambria Math" panose="02040503050406030204" pitchFamily="18" charset="0"/>
                  </a:rPr>
                  <a:t>1+</a:t>
                </a:r>
                <a:r>
                  <a:rPr lang="en-US" sz="2000" b="0" i="0">
                    <a:latin typeface="Cambria Math" panose="02040503050406030204" pitchFamily="18" charset="0"/>
                    <a:ea typeface="Cambria Math" panose="02040503050406030204" pitchFamily="18" charset="0"/>
                  </a:rPr>
                  <a:t>1∕𝑛</a:t>
                </a:r>
                <a:r>
                  <a:rPr lang="en-ZA" sz="2000" dirty="0">
                    <a:effectLst/>
                  </a:rPr>
                  <a:t> </a:t>
                </a:r>
                <a:r>
                  <a:rPr lang="en-ZA" sz="2000" dirty="0" err="1">
                    <a:effectLst/>
                  </a:rPr>
                  <a:t>kada</a:t>
                </a:r>
                <a:r>
                  <a:rPr lang="en-ZA" sz="2000" dirty="0">
                    <a:effectLst/>
                  </a:rPr>
                  <a:t> se n </a:t>
                </a:r>
                <a:r>
                  <a:rPr lang="en-ZA" sz="2000" dirty="0" err="1">
                    <a:effectLst/>
                  </a:rPr>
                  <a:t>priblizava</a:t>
                </a:r>
                <a:r>
                  <a:rPr lang="en-ZA" sz="2000" dirty="0">
                    <a:effectLst/>
                  </a:rPr>
                  <a:t> </a:t>
                </a:r>
                <a:r>
                  <a:rPr lang="en-ZA" sz="2000" dirty="0" err="1">
                    <a:effectLst/>
                  </a:rPr>
                  <a:t>beskonacnosti</a:t>
                </a:r>
                <a:r>
                  <a:rPr lang="en-ZA" sz="2000" dirty="0">
                    <a:effectLst/>
                  </a:rPr>
                  <a:t>.</a:t>
                </a:r>
              </a:p>
              <a:p>
                <a:pPr marL="457200" indent="-457200">
                  <a:buFont typeface="+mj-lt"/>
                  <a:buAutoNum type="arabicPeriod"/>
                </a:pPr>
                <a:r>
                  <a:rPr lang="en-ZA" sz="2000" dirty="0" err="1">
                    <a:effectLst/>
                  </a:rPr>
                  <a:t>Cetvrta</a:t>
                </a:r>
                <a:r>
                  <a:rPr lang="en-ZA" sz="2000" dirty="0">
                    <a:effectLst/>
                  </a:rPr>
                  <a:t> </a:t>
                </a:r>
                <a:r>
                  <a:rPr lang="en-ZA" sz="2000" dirty="0" err="1">
                    <a:effectLst/>
                  </a:rPr>
                  <a:t>konstanta</a:t>
                </a:r>
                <a:r>
                  <a:rPr lang="en-ZA" sz="2000" dirty="0">
                    <a:effectLst/>
                  </a:rPr>
                  <a:t> </a:t>
                </a:r>
                <a:r>
                  <a:rPr lang="en-ZA" sz="2000" dirty="0" err="1">
                    <a:effectLst/>
                  </a:rPr>
                  <a:t>je</a:t>
                </a:r>
                <a:r>
                  <a:rPr lang="en-ZA" sz="2000" dirty="0">
                    <a:effectLst/>
                  </a:rPr>
                  <a:t> </a:t>
                </a:r>
                <a:r>
                  <a:rPr lang="en-ZA" sz="2000" dirty="0" err="1">
                    <a:effectLst/>
                  </a:rPr>
                  <a:t>imaginarna</a:t>
                </a:r>
                <a:r>
                  <a:rPr lang="en-ZA" sz="2000" dirty="0">
                    <a:effectLst/>
                  </a:rPr>
                  <a:t> </a:t>
                </a:r>
                <a:r>
                  <a:rPr lang="en-ZA" sz="2000" dirty="0" err="1">
                    <a:effectLst/>
                  </a:rPr>
                  <a:t>jedinica</a:t>
                </a:r>
                <a:r>
                  <a:rPr lang="en-ZA" sz="2000" dirty="0">
                    <a:effectLst/>
                  </a:rPr>
                  <a:t> </a:t>
                </a:r>
                <a:r>
                  <a:rPr lang="en-US" sz="2000" b="0" i="0">
                    <a:latin typeface="Cambria Math" panose="02040503050406030204" pitchFamily="18" charset="0"/>
                  </a:rPr>
                  <a:t>𝑖</a:t>
                </a:r>
                <a:r>
                  <a:rPr lang="en-ZA" sz="2000" dirty="0">
                    <a:effectLst/>
                  </a:rPr>
                  <a:t> </a:t>
                </a:r>
                <a:r>
                  <a:rPr lang="en-ZA" sz="2000" dirty="0" err="1">
                    <a:effectLst/>
                  </a:rPr>
                  <a:t>koja</a:t>
                </a:r>
                <a:r>
                  <a:rPr lang="en-ZA" sz="2000" dirty="0">
                    <a:effectLst/>
                  </a:rPr>
                  <a:t> se </a:t>
                </a:r>
                <a:r>
                  <a:rPr lang="en-ZA" sz="2000" dirty="0" err="1">
                    <a:effectLst/>
                  </a:rPr>
                  <a:t>definise</a:t>
                </a:r>
                <a:r>
                  <a:rPr lang="en-ZA" sz="2000" dirty="0">
                    <a:effectLst/>
                  </a:rPr>
                  <a:t> </a:t>
                </a:r>
                <a:r>
                  <a:rPr lang="en-ZA" sz="2000" dirty="0" err="1">
                    <a:effectLst/>
                  </a:rPr>
                  <a:t>kao</a:t>
                </a:r>
                <a:r>
                  <a:rPr lang="en-ZA" sz="2000" dirty="0">
                    <a:effectLst/>
                  </a:rPr>
                  <a:t> </a:t>
                </a:r>
                <a:r>
                  <a:rPr lang="en-US" sz="2000" b="0" i="0">
                    <a:latin typeface="Cambria Math" panose="02040503050406030204" pitchFamily="18" charset="0"/>
                  </a:rPr>
                  <a:t>√(−1)</a:t>
                </a:r>
                <a:r>
                  <a:rPr lang="en-ZA" sz="2000" dirty="0">
                    <a:effectLst/>
                  </a:rPr>
                  <a:t>. Jos </a:t>
                </a:r>
                <a:r>
                  <a:rPr lang="en-ZA" sz="2000" dirty="0" err="1">
                    <a:effectLst/>
                  </a:rPr>
                  <a:t>uvek</a:t>
                </a:r>
                <a:r>
                  <a:rPr lang="en-ZA" sz="2000" dirty="0">
                    <a:effectLst/>
                  </a:rPr>
                  <a:t> se </a:t>
                </a:r>
                <a:r>
                  <a:rPr lang="en-ZA" sz="2000" dirty="0" err="1">
                    <a:effectLst/>
                  </a:rPr>
                  <a:t>vode</a:t>
                </a:r>
                <a:r>
                  <a:rPr lang="en-ZA" sz="2000" dirty="0">
                    <a:effectLst/>
                  </a:rPr>
                  <a:t> debate o </a:t>
                </a:r>
                <a:r>
                  <a:rPr lang="en-ZA" sz="2000" dirty="0" err="1">
                    <a:effectLst/>
                  </a:rPr>
                  <a:t>fizickom</a:t>
                </a:r>
                <a:r>
                  <a:rPr lang="en-ZA" sz="2000" dirty="0">
                    <a:effectLst/>
                  </a:rPr>
                  <a:t> </a:t>
                </a:r>
                <a:r>
                  <a:rPr lang="en-ZA" sz="2000" dirty="0" err="1">
                    <a:effectLst/>
                  </a:rPr>
                  <a:t>znacenju</a:t>
                </a:r>
                <a:r>
                  <a:rPr lang="en-ZA" sz="2000" dirty="0">
                    <a:effectLst/>
                  </a:rPr>
                  <a:t> </a:t>
                </a:r>
                <a:r>
                  <a:rPr lang="en-ZA" sz="2000" dirty="0" err="1">
                    <a:effectLst/>
                  </a:rPr>
                  <a:t>ove</a:t>
                </a:r>
                <a:r>
                  <a:rPr lang="en-ZA" sz="2000" dirty="0">
                    <a:effectLst/>
                  </a:rPr>
                  <a:t> </a:t>
                </a:r>
                <a:r>
                  <a:rPr lang="en-ZA" sz="2000" dirty="0" err="1">
                    <a:effectLst/>
                  </a:rPr>
                  <a:t>konstante</a:t>
                </a:r>
                <a:r>
                  <a:rPr lang="en-ZA" sz="2000" dirty="0">
                    <a:effectLst/>
                  </a:rPr>
                  <a:t>, </a:t>
                </a:r>
                <a:r>
                  <a:rPr lang="en-ZA" sz="2000" dirty="0" err="1">
                    <a:effectLst/>
                  </a:rPr>
                  <a:t>ali</a:t>
                </a:r>
                <a:r>
                  <a:rPr lang="en-ZA" sz="2000" dirty="0">
                    <a:effectLst/>
                  </a:rPr>
                  <a:t> bez </a:t>
                </a:r>
                <a:r>
                  <a:rPr lang="en-ZA" sz="2000" dirty="0" err="1">
                    <a:effectLst/>
                  </a:rPr>
                  <a:t>nje</a:t>
                </a:r>
                <a:r>
                  <a:rPr lang="en-ZA" sz="2000" dirty="0">
                    <a:effectLst/>
                  </a:rPr>
                  <a:t> model </a:t>
                </a:r>
                <a:r>
                  <a:rPr lang="en-ZA" sz="2000" dirty="0" err="1">
                    <a:effectLst/>
                  </a:rPr>
                  <a:t>kvantne</a:t>
                </a:r>
                <a:r>
                  <a:rPr lang="en-ZA" sz="2000" dirty="0">
                    <a:effectLst/>
                  </a:rPr>
                  <a:t> </a:t>
                </a:r>
                <a:r>
                  <a:rPr lang="en-ZA" sz="2000" dirty="0" err="1">
                    <a:effectLst/>
                  </a:rPr>
                  <a:t>mehanike</a:t>
                </a:r>
                <a:r>
                  <a:rPr lang="en-ZA" sz="2000" dirty="0">
                    <a:effectLst/>
                  </a:rPr>
                  <a:t> I </a:t>
                </a:r>
                <a:r>
                  <a:rPr lang="en-ZA" sz="2000" dirty="0" err="1">
                    <a:effectLst/>
                  </a:rPr>
                  <a:t>kvantnih</a:t>
                </a:r>
                <a:r>
                  <a:rPr lang="en-ZA" sz="2000" dirty="0">
                    <a:effectLst/>
                  </a:rPr>
                  <a:t> </a:t>
                </a:r>
                <a:r>
                  <a:rPr lang="en-ZA" sz="2000" dirty="0" err="1">
                    <a:effectLst/>
                  </a:rPr>
                  <a:t>racunara</a:t>
                </a:r>
                <a:r>
                  <a:rPr lang="en-ZA" sz="2000" dirty="0">
                    <a:effectLst/>
                  </a:rPr>
                  <a:t> ne bi </a:t>
                </a:r>
                <a:r>
                  <a:rPr lang="en-ZA" sz="2000" dirty="0" err="1">
                    <a:effectLst/>
                  </a:rPr>
                  <a:t>davao</a:t>
                </a:r>
                <a:r>
                  <a:rPr lang="en-ZA" sz="2000" dirty="0">
                    <a:effectLst/>
                  </a:rPr>
                  <a:t> </a:t>
                </a:r>
                <a:r>
                  <a:rPr lang="en-ZA" sz="2000" dirty="0" err="1">
                    <a:effectLst/>
                  </a:rPr>
                  <a:t>tacne</a:t>
                </a:r>
                <a:r>
                  <a:rPr lang="en-ZA" sz="2000" dirty="0">
                    <a:effectLst/>
                  </a:rPr>
                  <a:t> </a:t>
                </a:r>
                <a:r>
                  <a:rPr lang="en-ZA" sz="2000" dirty="0" err="1">
                    <a:effectLst/>
                  </a:rPr>
                  <a:t>rezultate</a:t>
                </a:r>
                <a:r>
                  <a:rPr lang="en-ZA" sz="2000" dirty="0">
                    <a:effectLst/>
                  </a:rPr>
                  <a:t>.</a:t>
                </a:r>
              </a:p>
              <a:p>
                <a:pPr marL="457200" indent="-457200">
                  <a:buFont typeface="+mj-lt"/>
                  <a:buAutoNum type="arabicPeriod"/>
                </a:pPr>
                <a:r>
                  <a:rPr lang="en-ZA" sz="2000" dirty="0" err="1">
                    <a:effectLst/>
                  </a:rPr>
                  <a:t>Cesto</a:t>
                </a:r>
                <a:r>
                  <a:rPr lang="en-ZA" sz="2000" dirty="0">
                    <a:effectLst/>
                  </a:rPr>
                  <a:t> </a:t>
                </a:r>
                <a:r>
                  <a:rPr lang="en-ZA" sz="2000" dirty="0" err="1">
                    <a:effectLst/>
                  </a:rPr>
                  <a:t>cemo</a:t>
                </a:r>
                <a:r>
                  <a:rPr lang="en-ZA" sz="2000" dirty="0">
                    <a:effectLst/>
                  </a:rPr>
                  <a:t> </a:t>
                </a:r>
                <a:r>
                  <a:rPr lang="en-ZA" sz="2000" dirty="0" err="1">
                    <a:effectLst/>
                  </a:rPr>
                  <a:t>koristiti</a:t>
                </a:r>
                <a:r>
                  <a:rPr lang="en-ZA" sz="2000" dirty="0">
                    <a:effectLst/>
                  </a:rPr>
                  <a:t> I </a:t>
                </a:r>
                <a:r>
                  <a:rPr lang="en-ZA" sz="2000" dirty="0" err="1">
                    <a:effectLst/>
                  </a:rPr>
                  <a:t>Ojlerovu</a:t>
                </a:r>
                <a:r>
                  <a:rPr lang="en-ZA" sz="2000" dirty="0">
                    <a:effectLst/>
                  </a:rPr>
                  <a:t> </a:t>
                </a:r>
                <a:r>
                  <a:rPr lang="en-ZA" sz="2000" dirty="0" err="1">
                    <a:effectLst/>
                  </a:rPr>
                  <a:t>formulu</a:t>
                </a:r>
                <a:r>
                  <a:rPr lang="en-ZA" sz="2000" dirty="0">
                    <a:effectLst/>
                  </a:rPr>
                  <a:t> </a:t>
                </a:r>
                <a:r>
                  <a:rPr lang="en-ZA" sz="2000" dirty="0" err="1">
                    <a:effectLst/>
                  </a:rPr>
                  <a:t>koja</a:t>
                </a:r>
                <a:r>
                  <a:rPr lang="en-ZA" sz="2000" dirty="0">
                    <a:effectLst/>
                  </a:rPr>
                  <a:t> </a:t>
                </a:r>
                <a:r>
                  <a:rPr lang="en-ZA" sz="2000" dirty="0" err="1">
                    <a:effectLst/>
                  </a:rPr>
                  <a:t>povezuje</a:t>
                </a:r>
                <a:r>
                  <a:rPr lang="en-ZA" sz="2000" dirty="0">
                    <a:effectLst/>
                  </a:rPr>
                  <a:t> </a:t>
                </a:r>
                <a:r>
                  <a:rPr lang="en-ZA" sz="2000" dirty="0" err="1">
                    <a:effectLst/>
                  </a:rPr>
                  <a:t>trigonometrijske</a:t>
                </a:r>
                <a:r>
                  <a:rPr lang="en-ZA" sz="2000" dirty="0">
                    <a:effectLst/>
                  </a:rPr>
                  <a:t> </a:t>
                </a:r>
                <a:r>
                  <a:rPr lang="en-ZA" sz="2000" dirty="0" err="1">
                    <a:effectLst/>
                  </a:rPr>
                  <a:t>funkcije</a:t>
                </a:r>
                <a:r>
                  <a:rPr lang="en-ZA" sz="2000" dirty="0">
                    <a:effectLst/>
                  </a:rPr>
                  <a:t> I </a:t>
                </a:r>
                <a:r>
                  <a:rPr lang="en-ZA" sz="2000" dirty="0" err="1">
                    <a:effectLst/>
                  </a:rPr>
                  <a:t>kompleksne</a:t>
                </a:r>
                <a:r>
                  <a:rPr lang="en-ZA" sz="2000" dirty="0">
                    <a:effectLst/>
                  </a:rPr>
                  <a:t> </a:t>
                </a:r>
                <a:r>
                  <a:rPr lang="en-ZA" sz="2000" dirty="0" err="1">
                    <a:effectLst/>
                  </a:rPr>
                  <a:t>brojeve</a:t>
                </a:r>
                <a:r>
                  <a:rPr lang="en-ZA" sz="2000" dirty="0">
                    <a:effectLst/>
                  </a:rPr>
                  <a:t>. </a:t>
                </a:r>
                <a:r>
                  <a:rPr lang="en-ZA" sz="2000" dirty="0" err="1">
                    <a:effectLst/>
                  </a:rPr>
                  <a:t>Za</a:t>
                </a:r>
                <a:r>
                  <a:rPr lang="en-ZA" sz="2000" dirty="0">
                    <a:effectLst/>
                  </a:rPr>
                  <a:t> </a:t>
                </a:r>
                <a:r>
                  <a:rPr lang="en-ZA" sz="2000" dirty="0" err="1">
                    <a:effectLst/>
                  </a:rPr>
                  <a:t>ugao</a:t>
                </a:r>
                <a:r>
                  <a:rPr lang="en-ZA" sz="2000" dirty="0">
                    <a:effectLst/>
                  </a:rPr>
                  <a:t> </a:t>
                </a:r>
                <a:r>
                  <a:rPr lang="sr-Latn-RS" sz="2000" i="0">
                    <a:latin typeface="Cambria Math" panose="02040503050406030204" pitchFamily="18" charset="0"/>
                    <a:ea typeface="Cambria Math" panose="02040503050406030204" pitchFamily="18" charset="0"/>
                  </a:rPr>
                  <a:t>𝜑</a:t>
                </a:r>
                <a:r>
                  <a:rPr lang="en-US" sz="2000" b="0" i="0">
                    <a:latin typeface="Cambria Math" panose="02040503050406030204" pitchFamily="18" charset="0"/>
                    <a:ea typeface="Cambria Math" panose="02040503050406030204" pitchFamily="18" charset="0"/>
                  </a:rPr>
                  <a:t>=𝜋</a:t>
                </a:r>
                <a:r>
                  <a:rPr lang="en-ZA" sz="2000" dirty="0">
                    <a:effectLst/>
                  </a:rPr>
                  <a:t> </a:t>
                </a:r>
                <a:r>
                  <a:rPr lang="en-ZA" sz="2000" dirty="0" err="1">
                    <a:effectLst/>
                  </a:rPr>
                  <a:t>dobija</a:t>
                </a:r>
                <a:r>
                  <a:rPr lang="en-ZA" sz="2000" dirty="0">
                    <a:effectLst/>
                  </a:rPr>
                  <a:t> se </a:t>
                </a:r>
                <a:r>
                  <a:rPr lang="en-ZA" sz="2000" dirty="0" err="1">
                    <a:effectLst/>
                  </a:rPr>
                  <a:t>Ojlerov</a:t>
                </a:r>
                <a:r>
                  <a:rPr lang="en-ZA" sz="2000" dirty="0">
                    <a:effectLst/>
                  </a:rPr>
                  <a:t> </a:t>
                </a:r>
                <a:r>
                  <a:rPr lang="en-ZA" sz="2000" dirty="0" err="1">
                    <a:effectLst/>
                  </a:rPr>
                  <a:t>identitet</a:t>
                </a:r>
                <a:r>
                  <a:rPr lang="en-ZA" sz="2000" dirty="0">
                    <a:effectLst/>
                  </a:rPr>
                  <a:t> </a:t>
                </a:r>
                <a:r>
                  <a:rPr lang="en-ZA" sz="2000" dirty="0" err="1">
                    <a:effectLst/>
                  </a:rPr>
                  <a:t>koji</a:t>
                </a:r>
                <a:r>
                  <a:rPr lang="en-ZA" sz="2000" dirty="0">
                    <a:effectLst/>
                  </a:rPr>
                  <a:t> se </a:t>
                </a:r>
                <a:r>
                  <a:rPr lang="en-ZA" sz="2000" dirty="0" err="1">
                    <a:effectLst/>
                  </a:rPr>
                  <a:t>smatra</a:t>
                </a:r>
                <a:r>
                  <a:rPr lang="en-ZA" sz="2000" dirty="0">
                    <a:effectLst/>
                  </a:rPr>
                  <a:t> </a:t>
                </a:r>
                <a:r>
                  <a:rPr lang="en-ZA" sz="2000" dirty="0" err="1">
                    <a:effectLst/>
                  </a:rPr>
                  <a:t>najdivnijom</a:t>
                </a:r>
                <a:r>
                  <a:rPr lang="en-ZA" sz="2000" dirty="0">
                    <a:effectLst/>
                  </a:rPr>
                  <a:t> </a:t>
                </a:r>
                <a:r>
                  <a:rPr lang="en-ZA" sz="2000" dirty="0" err="1">
                    <a:effectLst/>
                  </a:rPr>
                  <a:t>formulom</a:t>
                </a:r>
                <a:r>
                  <a:rPr lang="en-ZA" sz="2000" baseline="0" dirty="0">
                    <a:effectLst/>
                  </a:rPr>
                  <a:t> u </a:t>
                </a:r>
                <a:r>
                  <a:rPr lang="en-ZA" sz="2000" baseline="0" dirty="0" err="1">
                    <a:effectLst/>
                  </a:rPr>
                  <a:t>matematici</a:t>
                </a:r>
                <a:r>
                  <a:rPr lang="en-ZA" sz="2000" baseline="0" dirty="0">
                    <a:effectLst/>
                  </a:rPr>
                  <a:t> </a:t>
                </a:r>
                <a:r>
                  <a:rPr lang="en-ZA" sz="2000" baseline="0" dirty="0" err="1">
                    <a:effectLst/>
                  </a:rPr>
                  <a:t>jer</a:t>
                </a:r>
                <a:r>
                  <a:rPr lang="en-ZA" sz="2000" baseline="0" dirty="0">
                    <a:effectLst/>
                  </a:rPr>
                  <a:t> </a:t>
                </a:r>
                <a:r>
                  <a:rPr lang="en-ZA" sz="2000" baseline="0" dirty="0" err="1">
                    <a:effectLst/>
                  </a:rPr>
                  <a:t>na</a:t>
                </a:r>
                <a:r>
                  <a:rPr lang="en-ZA" sz="2000" baseline="0" dirty="0">
                    <a:effectLst/>
                  </a:rPr>
                  <a:t> </a:t>
                </a:r>
                <a:r>
                  <a:rPr lang="en-ZA" sz="2000" baseline="0" dirty="0" err="1">
                    <a:effectLst/>
                  </a:rPr>
                  <a:t>jednostavan</a:t>
                </a:r>
                <a:r>
                  <a:rPr lang="en-ZA" sz="2000" baseline="0" dirty="0">
                    <a:effectLst/>
                  </a:rPr>
                  <a:t> I </a:t>
                </a:r>
                <a:r>
                  <a:rPr lang="en-ZA" sz="2000" baseline="0" dirty="0" err="1">
                    <a:effectLst/>
                  </a:rPr>
                  <a:t>lelgantatn</a:t>
                </a:r>
                <a:r>
                  <a:rPr lang="en-ZA" sz="2000" baseline="0" dirty="0">
                    <a:effectLst/>
                  </a:rPr>
                  <a:t> </a:t>
                </a:r>
                <a:r>
                  <a:rPr lang="en-ZA" sz="2000" baseline="0" dirty="0" err="1">
                    <a:effectLst/>
                  </a:rPr>
                  <a:t>nacin</a:t>
                </a:r>
                <a:r>
                  <a:rPr lang="en-ZA" sz="2000" baseline="0" dirty="0">
                    <a:effectLst/>
                  </a:rPr>
                  <a:t> </a:t>
                </a:r>
                <a:r>
                  <a:rPr lang="en-ZA" sz="2000" baseline="0" dirty="0" err="1">
                    <a:effectLst/>
                  </a:rPr>
                  <a:t>povezuje</a:t>
                </a:r>
                <a:r>
                  <a:rPr lang="en-ZA" sz="2000" baseline="0" dirty="0">
                    <a:effectLst/>
                  </a:rPr>
                  <a:t> 5 </a:t>
                </a:r>
                <a:r>
                  <a:rPr lang="en-ZA" sz="2000" baseline="0" dirty="0" err="1">
                    <a:effectLst/>
                  </a:rPr>
                  <a:t>fundamentalih</a:t>
                </a:r>
                <a:r>
                  <a:rPr lang="en-ZA" sz="2000" baseline="0" dirty="0">
                    <a:effectLst/>
                  </a:rPr>
                  <a:t> </a:t>
                </a:r>
                <a:r>
                  <a:rPr lang="en-ZA" sz="2000" baseline="0" dirty="0" err="1">
                    <a:effectLst/>
                  </a:rPr>
                  <a:t>brojeva</a:t>
                </a:r>
                <a:r>
                  <a:rPr lang="en-ZA" sz="2000" baseline="0" dirty="0">
                    <a:effectLst/>
                  </a:rPr>
                  <a:t>, </a:t>
                </a:r>
                <a:r>
                  <a:rPr lang="sr-Latn-RS" sz="2000" i="0">
                    <a:latin typeface="Cambria Math" panose="02040503050406030204" pitchFamily="18" charset="0"/>
                  </a:rPr>
                  <a:t>𝑒</a:t>
                </a:r>
                <a:r>
                  <a:rPr lang="en-US" sz="2000" b="0" i="0">
                    <a:latin typeface="Cambria Math" panose="02040503050406030204" pitchFamily="18" charset="0"/>
                  </a:rPr>
                  <a:t>,</a:t>
                </a:r>
                <a:r>
                  <a:rPr lang="en-US" sz="2000" i="0">
                    <a:latin typeface="Cambria Math" panose="02040503050406030204" pitchFamily="18" charset="0"/>
                    <a:ea typeface="Cambria Math" panose="02040503050406030204" pitchFamily="18" charset="0"/>
                  </a:rPr>
                  <a:t>𝜋</a:t>
                </a:r>
                <a:r>
                  <a:rPr lang="en-US" sz="2000" b="0" i="0">
                    <a:latin typeface="Cambria Math" panose="02040503050406030204" pitchFamily="18" charset="0"/>
                    <a:ea typeface="Cambria Math" panose="02040503050406030204" pitchFamily="18" charset="0"/>
                  </a:rPr>
                  <a:t>,𝑖,0 i 1</a:t>
                </a:r>
                <a:r>
                  <a:rPr lang="en-ZA" sz="2000" dirty="0">
                    <a:effectLst/>
                  </a:rPr>
                  <a:t>.</a:t>
                </a:r>
              </a:p>
              <a:p>
                <a:pPr marL="457200" indent="-457200">
                  <a:buFont typeface="+mj-lt"/>
                  <a:buAutoNum type="arabicPeriod"/>
                </a:pPr>
                <a:endParaRPr lang="en-ZA" sz="2000" dirty="0">
                  <a:effectLst/>
                </a:endParaRPr>
              </a:p>
              <a:p>
                <a:pPr marL="457200" indent="-457200">
                  <a:buFont typeface="+mj-lt"/>
                  <a:buAutoNum type="arabicPeriod"/>
                </a:pPr>
                <a:endParaRPr lang="en-ZA" sz="2000" dirty="0">
                  <a:effectLst/>
                </a:endParaRPr>
              </a:p>
              <a:p>
                <a:pPr marL="457200" indent="-457200">
                  <a:buFont typeface="+mj-lt"/>
                  <a:buAutoNum type="arabicPeriod"/>
                </a:pPr>
                <a:endParaRPr lang="en-ZA" sz="2000" dirty="0">
                  <a:effectLst/>
                </a:endParaRPr>
              </a:p>
              <a:p>
                <a:pPr marL="457200" indent="-457200">
                  <a:buFont typeface="+mj-lt"/>
                  <a:buAutoNum type="arabicPeriod"/>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a:t>
            </a:fld>
            <a:endParaRPr lang="en-US"/>
          </a:p>
        </p:txBody>
      </p:sp>
    </p:spTree>
    <p:extLst>
      <p:ext uri="{BB962C8B-B14F-4D97-AF65-F5344CB8AC3E}">
        <p14:creationId xmlns:p14="http://schemas.microsoft.com/office/powerpoint/2010/main" val="35954194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lgn="just">
                  <a:buFont typeface="+mj-lt"/>
                  <a:buNone/>
                </a:pPr>
                <a:r>
                  <a:rPr lang="en-ZA" dirty="0"/>
                  <a:t>The unit circle and unit sphere appear frequently in quantum computing. A unit circle or unit sphere simply has a radius of 1. Functions such as sine and cosine help describe points at different angles around them.</a:t>
                </a:r>
              </a:p>
              <a:p>
                <a:pPr marL="0" indent="0" algn="just">
                  <a:buFont typeface="+mj-lt"/>
                  <a:buNone/>
                </a:pPr>
                <a:endParaRPr lang="en-ZA" b="0" dirty="0"/>
              </a:p>
              <a:p>
                <a:pPr marL="0" marR="0" lvl="0" indent="0" algn="just" defTabSz="914400" rtl="0" eaLnBrk="1" fontAlgn="auto" latinLnBrk="0" hangingPunct="1">
                  <a:lnSpc>
                    <a:spcPct val="100000"/>
                  </a:lnSpc>
                  <a:spcBef>
                    <a:spcPts val="0"/>
                  </a:spcBef>
                  <a:spcAft>
                    <a:spcPts val="0"/>
                  </a:spcAft>
                  <a:buClrTx/>
                  <a:buSzTx/>
                  <a:buFont typeface="+mj-lt"/>
                  <a:buNone/>
                  <a:tabLst/>
                  <a:defRPr/>
                </a:pPr>
                <a:r>
                  <a:rPr lang="en-ZA" dirty="0"/>
                  <a:t>On the unit circle, sine and cosine describe the position of a point for a given angle </a:t>
                </a:r>
                <a:r>
                  <a:rPr lang="el-GR" dirty="0"/>
                  <a:t>θ. </a:t>
                </a:r>
                <a:r>
                  <a:rPr lang="en-ZA" dirty="0"/>
                  <a:t>In the example shown, </a:t>
                </a:r>
                <a14:m>
                  <m:oMath xmlns:m="http://schemas.openxmlformats.org/officeDocument/2006/math">
                    <m:func>
                      <m:funcPr>
                        <m:ctrlPr>
                          <a:rPr lang="sr-Latn-RS" sz="1200" b="0" i="1" smtClean="0">
                            <a:latin typeface="Cambria Math" panose="02040503050406030204" pitchFamily="18" charset="0"/>
                          </a:rPr>
                        </m:ctrlPr>
                      </m:funcPr>
                      <m:fName>
                        <m:r>
                          <m:rPr>
                            <m:sty m:val="p"/>
                          </m:rPr>
                          <a:rPr lang="sr-Latn-RS" sz="1200" b="0" i="0" smtClean="0">
                            <a:latin typeface="Cambria Math" panose="02040503050406030204" pitchFamily="18" charset="0"/>
                          </a:rPr>
                          <m:t>sin</m:t>
                        </m:r>
                      </m:fName>
                      <m:e>
                        <m:r>
                          <a:rPr lang="sr-Latn-RS" sz="1200" b="0" i="1" smtClean="0">
                            <a:latin typeface="Cambria Math" panose="02040503050406030204" pitchFamily="18" charset="0"/>
                            <a:ea typeface="Cambria Math" panose="02040503050406030204" pitchFamily="18" charset="0"/>
                          </a:rPr>
                          <m:t>𝜃</m:t>
                        </m:r>
                      </m:e>
                    </m:func>
                    <m:r>
                      <a:rPr lang="sr-Latn-RS" sz="1200" b="0" i="1" smtClean="0">
                        <a:latin typeface="Cambria Math" panose="02040503050406030204" pitchFamily="18" charset="0"/>
                      </a:rPr>
                      <m:t>=</m:t>
                    </m:r>
                    <m:r>
                      <a:rPr lang="sr-Latn-RS" sz="1200" b="0" i="1" smtClean="0">
                        <a:latin typeface="Cambria Math" panose="02040503050406030204" pitchFamily="18" charset="0"/>
                      </a:rPr>
                      <m:t>𝑏</m:t>
                    </m:r>
                  </m:oMath>
                </a14:m>
                <a:r>
                  <a:rPr lang="en-ZA" dirty="0"/>
                  <a:t> and </a:t>
                </a:r>
                <a14:m>
                  <m:oMath xmlns:m="http://schemas.openxmlformats.org/officeDocument/2006/math">
                    <m:func>
                      <m:funcPr>
                        <m:ctrlPr>
                          <a:rPr lang="sr-Latn-RS" sz="1200" i="1" smtClean="0">
                            <a:latin typeface="Cambria Math" panose="02040503050406030204" pitchFamily="18" charset="0"/>
                          </a:rPr>
                        </m:ctrlPr>
                      </m:funcPr>
                      <m:fName>
                        <m:r>
                          <m:rPr>
                            <m:sty m:val="p"/>
                          </m:rPr>
                          <a:rPr lang="sr-Latn-RS" sz="1200" i="0">
                            <a:latin typeface="Cambria Math" panose="02040503050406030204" pitchFamily="18" charset="0"/>
                          </a:rPr>
                          <m:t>cos</m:t>
                        </m:r>
                      </m:fName>
                      <m:e>
                        <m:r>
                          <a:rPr lang="sr-Latn-RS" sz="1200" i="1">
                            <a:latin typeface="Cambria Math" panose="02040503050406030204" pitchFamily="18" charset="0"/>
                            <a:ea typeface="Cambria Math" panose="02040503050406030204" pitchFamily="18" charset="0"/>
                          </a:rPr>
                          <m:t>𝜃</m:t>
                        </m:r>
                        <m:r>
                          <a:rPr lang="sr-Latn-RS" sz="1200" i="1">
                            <a:latin typeface="Cambria Math" panose="02040503050406030204" pitchFamily="18" charset="0"/>
                            <a:ea typeface="Cambria Math" panose="02040503050406030204" pitchFamily="18" charset="0"/>
                          </a:rPr>
                          <m:t>=</m:t>
                        </m:r>
                        <m:r>
                          <a:rPr lang="sr-Latn-RS" sz="1200" b="0" i="1" smtClean="0">
                            <a:latin typeface="Cambria Math" panose="02040503050406030204" pitchFamily="18" charset="0"/>
                            <a:ea typeface="Cambria Math" panose="02040503050406030204" pitchFamily="18" charset="0"/>
                          </a:rPr>
                          <m:t>𝑎</m:t>
                        </m:r>
                      </m:e>
                    </m:func>
                  </m:oMath>
                </a14:m>
                <a:r>
                  <a:rPr lang="en-ZA" dirty="0"/>
                  <a:t>. Because the radius is 1, they satisfy the Pythagorean identity </a:t>
                </a:r>
                <a14:m>
                  <m:oMath xmlns:m="http://schemas.openxmlformats.org/officeDocument/2006/math">
                    <m:sSup>
                      <m:sSupPr>
                        <m:ctrlPr>
                          <a:rPr lang="sr-Latn-RS" sz="1200" b="0" i="1" smtClean="0">
                            <a:latin typeface="Cambria Math" panose="02040503050406030204" pitchFamily="18" charset="0"/>
                          </a:rPr>
                        </m:ctrlPr>
                      </m:sSupPr>
                      <m:e>
                        <m:r>
                          <a:rPr lang="en-US" sz="1200" b="0" i="1" smtClean="0">
                            <a:latin typeface="Cambria Math" panose="02040503050406030204" pitchFamily="18" charset="0"/>
                          </a:rPr>
                          <m:t>𝑎</m:t>
                        </m:r>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sr-Latn-RS" sz="1200" b="0" i="1" smtClean="0">
                            <a:latin typeface="Cambria Math" panose="02040503050406030204" pitchFamily="18" charset="0"/>
                          </a:rPr>
                        </m:ctrlPr>
                      </m:sSupPr>
                      <m:e>
                        <m:r>
                          <a:rPr lang="en-US" sz="1200" b="0" i="1" smtClean="0">
                            <a:latin typeface="Cambria Math" panose="02040503050406030204" pitchFamily="18" charset="0"/>
                          </a:rPr>
                          <m:t>𝑏</m:t>
                        </m:r>
                      </m:e>
                      <m:sup>
                        <m:r>
                          <a:rPr lang="en-US" sz="1200" b="0" i="1" smtClean="0">
                            <a:latin typeface="Cambria Math" panose="02040503050406030204" pitchFamily="18" charset="0"/>
                          </a:rPr>
                          <m:t>2</m:t>
                        </m:r>
                      </m:sup>
                    </m:sSup>
                    <m:r>
                      <a:rPr lang="en-US" sz="1200" b="0" i="1" smtClean="0">
                        <a:latin typeface="Cambria Math" panose="02040503050406030204" pitchFamily="18" charset="0"/>
                      </a:rPr>
                      <m:t>=1</m:t>
                    </m:r>
                  </m:oMath>
                </a14:m>
                <a:r>
                  <a:rPr lang="en-ZA" b="0" dirty="0"/>
                  <a:t>, </a:t>
                </a:r>
                <a:r>
                  <a:rPr lang="en-ZA" dirty="0"/>
                  <a:t>that is, </a:t>
                </a:r>
                <a14:m>
                  <m:oMath xmlns:m="http://schemas.openxmlformats.org/officeDocument/2006/math">
                    <m:func>
                      <m:funcPr>
                        <m:ctrlPr>
                          <a:rPr lang="sr-Latn-RS" sz="1200" i="1" smtClean="0">
                            <a:latin typeface="Cambria Math" panose="02040503050406030204" pitchFamily="18" charset="0"/>
                          </a:rPr>
                        </m:ctrlPr>
                      </m:funcPr>
                      <m:fName>
                        <m:sSup>
                          <m:sSupPr>
                            <m:ctrlPr>
                              <a:rPr lang="sr-Latn-RS" sz="1200" i="1">
                                <a:latin typeface="Cambria Math" panose="02040503050406030204" pitchFamily="18" charset="0"/>
                              </a:rPr>
                            </m:ctrlPr>
                          </m:sSupPr>
                          <m:e>
                            <m:r>
                              <m:rPr>
                                <m:sty m:val="p"/>
                              </m:rPr>
                              <a:rPr lang="en-US" sz="1200">
                                <a:latin typeface="Cambria Math" panose="02040503050406030204" pitchFamily="18" charset="0"/>
                              </a:rPr>
                              <m:t>sin</m:t>
                            </m:r>
                          </m:e>
                          <m:sup>
                            <m:r>
                              <a:rPr lang="en-US" sz="1200" i="1">
                                <a:latin typeface="Cambria Math" panose="02040503050406030204" pitchFamily="18" charset="0"/>
                              </a:rPr>
                              <m:t>2</m:t>
                            </m:r>
                          </m:sup>
                        </m:sSup>
                      </m:fName>
                      <m:e>
                        <m:r>
                          <a:rPr lang="sr-Latn-RS" sz="1200" i="1">
                            <a:latin typeface="Cambria Math" panose="02040503050406030204" pitchFamily="18" charset="0"/>
                            <a:ea typeface="Cambria Math" panose="02040503050406030204" pitchFamily="18" charset="0"/>
                          </a:rPr>
                          <m:t>𝜃</m:t>
                        </m:r>
                      </m:e>
                    </m:func>
                    <m:r>
                      <a:rPr lang="en-US" sz="1200" i="1">
                        <a:latin typeface="Cambria Math" panose="02040503050406030204" pitchFamily="18" charset="0"/>
                        <a:ea typeface="Cambria Math" panose="02040503050406030204" pitchFamily="18" charset="0"/>
                      </a:rPr>
                      <m:t>+</m:t>
                    </m:r>
                    <m:func>
                      <m:funcPr>
                        <m:ctrlPr>
                          <a:rPr lang="sr-Latn-RS" sz="1200" i="1">
                            <a:latin typeface="Cambria Math" panose="02040503050406030204" pitchFamily="18" charset="0"/>
                          </a:rPr>
                        </m:ctrlPr>
                      </m:funcPr>
                      <m:fName>
                        <m:sSup>
                          <m:sSupPr>
                            <m:ctrlPr>
                              <a:rPr lang="sr-Latn-RS" sz="1200" i="1">
                                <a:latin typeface="Cambria Math" panose="02040503050406030204" pitchFamily="18" charset="0"/>
                              </a:rPr>
                            </m:ctrlPr>
                          </m:sSupPr>
                          <m:e>
                            <m:r>
                              <m:rPr>
                                <m:sty m:val="p"/>
                              </m:rPr>
                              <a:rPr lang="en-US" sz="1200">
                                <a:latin typeface="Cambria Math" panose="02040503050406030204" pitchFamily="18" charset="0"/>
                              </a:rPr>
                              <m:t>cos</m:t>
                            </m:r>
                          </m:e>
                          <m:sup>
                            <m:r>
                              <a:rPr lang="en-US" sz="1200">
                                <a:latin typeface="Cambria Math" panose="02040503050406030204" pitchFamily="18" charset="0"/>
                              </a:rPr>
                              <m:t>2</m:t>
                            </m:r>
                          </m:sup>
                        </m:sSup>
                      </m:fName>
                      <m:e>
                        <m:r>
                          <a:rPr lang="sr-Latn-RS" sz="1200" i="1">
                            <a:latin typeface="Cambria Math" panose="02040503050406030204" pitchFamily="18" charset="0"/>
                            <a:ea typeface="Cambria Math" panose="02040503050406030204" pitchFamily="18" charset="0"/>
                          </a:rPr>
                          <m:t>𝜃</m:t>
                        </m:r>
                        <m:r>
                          <a:rPr lang="en-US" sz="1200" i="1">
                            <a:latin typeface="Cambria Math" panose="02040503050406030204" pitchFamily="18" charset="0"/>
                            <a:ea typeface="Cambria Math" panose="02040503050406030204" pitchFamily="18" charset="0"/>
                          </a:rPr>
                          <m:t>=1</m:t>
                        </m:r>
                      </m:e>
                    </m:func>
                  </m:oMath>
                </a14:m>
                <a:r>
                  <a:rPr lang="en-ZA" b="0" dirty="0"/>
                  <a:t>.</a:t>
                </a:r>
              </a:p>
              <a:p>
                <a:pPr marL="228600" indent="-228600" algn="just">
                  <a:buFont typeface="+mj-lt"/>
                  <a:buAutoNum type="arabicPeriod"/>
                </a:pPr>
                <a:endParaRPr lang="en-ZA" b="0" dirty="0"/>
              </a:p>
              <a:p>
                <a:pPr marL="0" indent="0" algn="just">
                  <a:buFont typeface="+mj-lt"/>
                  <a:buNone/>
                </a:pPr>
                <a:r>
                  <a:rPr lang="en-ZA" dirty="0"/>
                  <a:t>The diagram also shows that sine and cosine are closely related through complementary angles. Two angles are complementary when they add up to </a:t>
                </a:r>
                <a:r>
                  <a:rPr lang="el-GR" dirty="0"/>
                  <a:t>π/2, </a:t>
                </a:r>
                <a:r>
                  <a:rPr lang="en-ZA" dirty="0"/>
                  <a:t>allowing sine to be expressed as cosine, and vice versa.</a:t>
                </a:r>
              </a:p>
              <a:p>
                <a:pPr marL="0" indent="0" algn="just">
                  <a:buFont typeface="+mj-lt"/>
                  <a:buNone/>
                </a:pPr>
                <a:endParaRPr lang="en-ZA" b="0" dirty="0"/>
              </a:p>
              <a:p>
                <a:pPr marL="0" indent="0" algn="just">
                  <a:buFont typeface="+mj-lt"/>
                  <a:buNone/>
                </a:pPr>
                <a:r>
                  <a:rPr lang="en-ZA" b="0" dirty="0"/>
                  <a:t>Other useful trigonometric identities describe the sine and cosine of sums and differences of angles.</a:t>
                </a:r>
              </a:p>
              <a:p>
                <a:pPr marL="0" indent="0" algn="just">
                  <a:buFont typeface="+mj-lt"/>
                  <a:buNone/>
                </a:pPr>
                <a:endParaRPr lang="en-ZA"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200" dirty="0" err="1">
                    <a:effectLst/>
                  </a:rPr>
                  <a:t>Kako</a:t>
                </a:r>
                <a:r>
                  <a:rPr lang="en-ZA" sz="1200" dirty="0">
                    <a:effectLst/>
                  </a:rPr>
                  <a:t> se se </a:t>
                </a:r>
                <a:r>
                  <a:rPr lang="en-ZA" sz="1200" dirty="0" err="1">
                    <a:effectLst/>
                  </a:rPr>
                  <a:t>sve</a:t>
                </a:r>
                <a:r>
                  <a:rPr lang="en-ZA" sz="1200" dirty="0">
                    <a:effectLst/>
                  </a:rPr>
                  <a:t> </a:t>
                </a:r>
                <a:r>
                  <a:rPr lang="en-ZA" sz="1200" dirty="0" err="1">
                    <a:effectLst/>
                  </a:rPr>
                  <a:t>operacije</a:t>
                </a:r>
                <a:r>
                  <a:rPr lang="en-ZA" sz="1200" dirty="0">
                    <a:effectLst/>
                  </a:rPr>
                  <a:t> </a:t>
                </a:r>
                <a:r>
                  <a:rPr lang="en-ZA" sz="1200" dirty="0" err="1">
                    <a:effectLst/>
                  </a:rPr>
                  <a:t>kvantnih</a:t>
                </a:r>
                <a:r>
                  <a:rPr lang="en-ZA" sz="1200" dirty="0">
                    <a:effectLst/>
                  </a:rPr>
                  <a:t> </a:t>
                </a:r>
                <a:r>
                  <a:rPr lang="en-ZA" sz="1200" dirty="0" err="1">
                    <a:effectLst/>
                  </a:rPr>
                  <a:t>računara</a:t>
                </a:r>
                <a:r>
                  <a:rPr lang="en-ZA" sz="1200" dirty="0">
                    <a:effectLst/>
                  </a:rPr>
                  <a:t> </a:t>
                </a:r>
                <a:r>
                  <a:rPr lang="en-ZA" sz="1200" dirty="0" err="1">
                    <a:effectLst/>
                  </a:rPr>
                  <a:t>odvijaju</a:t>
                </a:r>
                <a:r>
                  <a:rPr lang="en-ZA" sz="1200" dirty="0">
                    <a:effectLst/>
                  </a:rPr>
                  <a:t> se </a:t>
                </a:r>
                <a:r>
                  <a:rPr lang="en-ZA" sz="1200" dirty="0" err="1">
                    <a:effectLst/>
                  </a:rPr>
                  <a:t>na</a:t>
                </a:r>
                <a:r>
                  <a:rPr lang="en-ZA" sz="1200" dirty="0">
                    <a:effectLst/>
                  </a:rPr>
                  <a:t> </a:t>
                </a:r>
                <a:r>
                  <a:rPr lang="en-ZA" sz="1200" dirty="0" err="1">
                    <a:effectLst/>
                  </a:rPr>
                  <a:t>jediničnom</a:t>
                </a:r>
                <a:r>
                  <a:rPr lang="en-ZA" sz="1200" dirty="0">
                    <a:effectLst/>
                  </a:rPr>
                  <a:t> </a:t>
                </a:r>
                <a:r>
                  <a:rPr lang="en-ZA" sz="1200" dirty="0" err="1">
                    <a:effectLst/>
                  </a:rPr>
                  <a:t>krugu</a:t>
                </a:r>
                <a:r>
                  <a:rPr lang="en-ZA" sz="1200" dirty="0">
                    <a:effectLst/>
                  </a:rPr>
                  <a:t> </a:t>
                </a:r>
                <a:r>
                  <a:rPr lang="en-ZA" sz="1200" dirty="0" err="1">
                    <a:effectLst/>
                  </a:rPr>
                  <a:t>odnosno</a:t>
                </a:r>
                <a:r>
                  <a:rPr lang="en-ZA" sz="1200" dirty="0">
                    <a:effectLst/>
                  </a:rPr>
                  <a:t> </a:t>
                </a:r>
                <a:r>
                  <a:rPr lang="en-ZA" sz="1200" dirty="0" err="1">
                    <a:effectLst/>
                  </a:rPr>
                  <a:t>na</a:t>
                </a:r>
                <a:r>
                  <a:rPr lang="en-ZA" sz="1200" dirty="0">
                    <a:effectLst/>
                  </a:rPr>
                  <a:t> </a:t>
                </a:r>
                <a:r>
                  <a:rPr lang="en-ZA" sz="1200" dirty="0" err="1">
                    <a:effectLst/>
                  </a:rPr>
                  <a:t>jediničnoj</a:t>
                </a:r>
                <a:r>
                  <a:rPr lang="en-ZA" sz="1200" dirty="0">
                    <a:effectLst/>
                  </a:rPr>
                  <a:t> </a:t>
                </a:r>
                <a:r>
                  <a:rPr lang="en-ZA" sz="1200" dirty="0" err="1">
                    <a:effectLst/>
                  </a:rPr>
                  <a:t>sferi</a:t>
                </a:r>
                <a:r>
                  <a:rPr lang="en-ZA" sz="1200" dirty="0">
                    <a:effectLst/>
                  </a:rPr>
                  <a:t>, od </a:t>
                </a:r>
                <a:r>
                  <a:rPr lang="en-ZA" sz="1200" dirty="0" err="1">
                    <a:effectLst/>
                  </a:rPr>
                  <a:t>značaja</a:t>
                </a:r>
                <a:r>
                  <a:rPr lang="en-ZA" sz="1200" dirty="0">
                    <a:effectLst/>
                  </a:rPr>
                  <a:t> </a:t>
                </a:r>
                <a:r>
                  <a:rPr lang="en-ZA" sz="1200" dirty="0" err="1">
                    <a:effectLst/>
                  </a:rPr>
                  <a:t>su</a:t>
                </a:r>
                <a:r>
                  <a:rPr lang="en-ZA" sz="1200" dirty="0">
                    <a:effectLst/>
                  </a:rPr>
                  <a:t> </a:t>
                </a:r>
                <a:r>
                  <a:rPr lang="en-ZA" sz="1200" dirty="0" err="1">
                    <a:effectLst/>
                  </a:rPr>
                  <a:t>i</a:t>
                </a:r>
                <a:r>
                  <a:rPr lang="en-ZA" sz="1200" dirty="0">
                    <a:effectLst/>
                  </a:rPr>
                  <a:t> </a:t>
                </a:r>
                <a:r>
                  <a:rPr lang="en-ZA" sz="1200" dirty="0" err="1">
                    <a:effectLst/>
                  </a:rPr>
                  <a:t>trigonometrijske</a:t>
                </a:r>
                <a:r>
                  <a:rPr lang="en-ZA" sz="1200" dirty="0">
                    <a:effectLst/>
                  </a:rPr>
                  <a:t> </a:t>
                </a:r>
                <a:r>
                  <a:rPr lang="en-ZA" sz="1200" dirty="0" err="1">
                    <a:effectLst/>
                  </a:rPr>
                  <a:t>funkcije</a:t>
                </a:r>
                <a:r>
                  <a:rPr lang="en-ZA" sz="1200" dirty="0">
                    <a:effectLst/>
                  </a:rPr>
                  <a:t> </a:t>
                </a:r>
                <a:r>
                  <a:rPr lang="en-ZA" sz="1200" dirty="0" err="1">
                    <a:effectLst/>
                  </a:rPr>
                  <a:t>viđene</a:t>
                </a:r>
                <a:r>
                  <a:rPr lang="en-ZA" sz="1200" dirty="0">
                    <a:effectLst/>
                  </a:rPr>
                  <a:t> </a:t>
                </a:r>
                <a:r>
                  <a:rPr lang="en-ZA" sz="1200" dirty="0" err="1">
                    <a:effectLst/>
                  </a:rPr>
                  <a:t>iz</a:t>
                </a:r>
                <a:r>
                  <a:rPr lang="en-ZA" sz="1200" dirty="0">
                    <a:effectLst/>
                  </a:rPr>
                  <a:t> </a:t>
                </a:r>
                <a:r>
                  <a:rPr lang="en-ZA" sz="1200" dirty="0" err="1">
                    <a:effectLst/>
                  </a:rPr>
                  <a:t>ove</a:t>
                </a:r>
                <a:r>
                  <a:rPr lang="en-ZA" sz="1200" dirty="0">
                    <a:effectLst/>
                  </a:rPr>
                  <a:t> </a:t>
                </a:r>
                <a:r>
                  <a:rPr lang="en-ZA" sz="1200" dirty="0" err="1">
                    <a:effectLst/>
                  </a:rPr>
                  <a:t>perspektive</a:t>
                </a:r>
                <a:endParaRPr lang="en-ZA" sz="1200" dirty="0">
                  <a:effectLst/>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sz="1200" dirty="0" err="1">
                    <a:effectLst/>
                  </a:rPr>
                  <a:t>Trigonometrijske</a:t>
                </a:r>
                <a:r>
                  <a:rPr lang="en-ZA" sz="1200" dirty="0">
                    <a:effectLst/>
                  </a:rPr>
                  <a:t> </a:t>
                </a:r>
                <a:r>
                  <a:rPr lang="en-ZA" sz="1200" dirty="0" err="1">
                    <a:effectLst/>
                  </a:rPr>
                  <a:t>funkcije</a:t>
                </a:r>
                <a:r>
                  <a:rPr lang="en-ZA" sz="1200" dirty="0">
                    <a:effectLst/>
                  </a:rPr>
                  <a:t> sinus </a:t>
                </a:r>
                <a:r>
                  <a:rPr lang="en-ZA" sz="1200" dirty="0" err="1">
                    <a:effectLst/>
                  </a:rPr>
                  <a:t>i</a:t>
                </a:r>
                <a:r>
                  <a:rPr lang="en-ZA" sz="1200" dirty="0">
                    <a:effectLst/>
                  </a:rPr>
                  <a:t> </a:t>
                </a:r>
                <a:r>
                  <a:rPr lang="en-ZA" sz="1200" dirty="0" err="1">
                    <a:effectLst/>
                  </a:rPr>
                  <a:t>kosinus</a:t>
                </a:r>
                <a:r>
                  <a:rPr lang="en-ZA" sz="1200" dirty="0">
                    <a:effectLst/>
                  </a:rPr>
                  <a:t> </a:t>
                </a:r>
                <a:r>
                  <a:rPr lang="en-ZA" sz="1200" dirty="0" err="1">
                    <a:effectLst/>
                  </a:rPr>
                  <a:t>definišu</a:t>
                </a:r>
                <a:r>
                  <a:rPr lang="en-ZA" sz="1200" dirty="0">
                    <a:effectLst/>
                  </a:rPr>
                  <a:t> se </a:t>
                </a:r>
                <a:r>
                  <a:rPr lang="en-ZA" sz="1200" dirty="0" err="1">
                    <a:effectLst/>
                  </a:rPr>
                  <a:t>kao</a:t>
                </a:r>
                <a:r>
                  <a:rPr lang="en-ZA" sz="1200" dirty="0">
                    <a:effectLst/>
                  </a:rPr>
                  <a:t> 𝑥 </a:t>
                </a:r>
                <a:r>
                  <a:rPr lang="en-ZA" sz="1200" dirty="0" err="1">
                    <a:effectLst/>
                  </a:rPr>
                  <a:t>i</a:t>
                </a:r>
                <a:r>
                  <a:rPr lang="en-ZA" sz="1200" dirty="0">
                    <a:effectLst/>
                  </a:rPr>
                  <a:t> 𝑦 </a:t>
                </a:r>
                <a:r>
                  <a:rPr lang="en-ZA" sz="1200" dirty="0" err="1">
                    <a:effectLst/>
                  </a:rPr>
                  <a:t>koordinate</a:t>
                </a:r>
                <a:r>
                  <a:rPr lang="en-ZA" sz="1200" dirty="0">
                    <a:effectLst/>
                  </a:rPr>
                  <a:t> </a:t>
                </a:r>
                <a:r>
                  <a:rPr lang="en-ZA" sz="1200" dirty="0" err="1">
                    <a:effectLst/>
                  </a:rPr>
                  <a:t>bilo</a:t>
                </a:r>
                <a:r>
                  <a:rPr lang="en-ZA" sz="1200" dirty="0">
                    <a:effectLst/>
                  </a:rPr>
                  <a:t> </a:t>
                </a:r>
                <a:r>
                  <a:rPr lang="en-ZA" sz="1200" dirty="0" err="1">
                    <a:effectLst/>
                  </a:rPr>
                  <a:t>koje</a:t>
                </a:r>
                <a:r>
                  <a:rPr lang="en-ZA" sz="1200" dirty="0">
                    <a:effectLst/>
                  </a:rPr>
                  <a:t> </a:t>
                </a:r>
                <a:r>
                  <a:rPr lang="en-ZA" sz="1200" dirty="0" err="1">
                    <a:effectLst/>
                  </a:rPr>
                  <a:t>tačke</a:t>
                </a:r>
                <a:r>
                  <a:rPr lang="en-ZA" sz="1200" dirty="0">
                    <a:effectLst/>
                  </a:rPr>
                  <a:t> </a:t>
                </a:r>
                <a:r>
                  <a:rPr lang="en-ZA" sz="1200" dirty="0" err="1">
                    <a:effectLst/>
                  </a:rPr>
                  <a:t>na</a:t>
                </a:r>
                <a:r>
                  <a:rPr lang="en-ZA" sz="1200" dirty="0">
                    <a:effectLst/>
                  </a:rPr>
                  <a:t> </a:t>
                </a:r>
                <a:r>
                  <a:rPr lang="en-ZA" sz="1200" dirty="0" err="1">
                    <a:effectLst/>
                  </a:rPr>
                  <a:t>jediničnom</a:t>
                </a:r>
                <a:r>
                  <a:rPr lang="en-ZA" sz="1200" dirty="0">
                    <a:effectLst/>
                  </a:rPr>
                  <a:t> </a:t>
                </a:r>
                <a:r>
                  <a:rPr lang="en-ZA" sz="1200" dirty="0" err="1">
                    <a:effectLst/>
                  </a:rPr>
                  <a:t>krugu</a:t>
                </a:r>
                <a:r>
                  <a:rPr lang="en-ZA" sz="1200" dirty="0">
                    <a:effectLst/>
                  </a:rPr>
                  <a:t>. U </a:t>
                </a:r>
                <a:r>
                  <a:rPr lang="en-ZA" sz="1200" dirty="0" err="1">
                    <a:effectLst/>
                  </a:rPr>
                  <a:t>primeru</a:t>
                </a:r>
                <a:r>
                  <a:rPr lang="en-ZA" sz="1200" dirty="0">
                    <a:effectLst/>
                  </a:rPr>
                  <a:t> </a:t>
                </a:r>
                <a:r>
                  <a:rPr lang="en-ZA" sz="1200" dirty="0" err="1">
                    <a:effectLst/>
                  </a:rPr>
                  <a:t>sa</a:t>
                </a:r>
                <a:r>
                  <a:rPr lang="en-ZA" sz="1200" dirty="0">
                    <a:effectLst/>
                  </a:rPr>
                  <a:t> </a:t>
                </a:r>
                <a:r>
                  <a:rPr lang="en-ZA" sz="1200" dirty="0" err="1">
                    <a:effectLst/>
                  </a:rPr>
                  <a:t>slike</a:t>
                </a:r>
                <a:r>
                  <a:rPr lang="en-ZA" sz="1200" dirty="0">
                    <a:effectLst/>
                  </a:rPr>
                  <a:t> </a:t>
                </a:r>
                <a:r>
                  <a:rPr lang="sr-Latn-RS" sz="1200" b="0" i="0">
                    <a:latin typeface="Cambria Math" panose="02040503050406030204" pitchFamily="18" charset="0"/>
                  </a:rPr>
                  <a:t>sin⁡</a:t>
                </a:r>
                <a:r>
                  <a:rPr lang="sr-Latn-RS" sz="1200" b="0" i="0">
                    <a:latin typeface="Cambria Math" panose="02040503050406030204" pitchFamily="18" charset="0"/>
                    <a:ea typeface="Cambria Math" panose="02040503050406030204" pitchFamily="18" charset="0"/>
                  </a:rPr>
                  <a:t>𝜃</a:t>
                </a:r>
                <a:r>
                  <a:rPr lang="sr-Latn-RS" sz="1200" b="0" i="0">
                    <a:latin typeface="Cambria Math" panose="02040503050406030204" pitchFamily="18" charset="0"/>
                  </a:rPr>
                  <a:t>=𝑎</a:t>
                </a:r>
                <a:r>
                  <a:rPr lang="en-ZA" sz="1200" dirty="0">
                    <a:effectLst/>
                  </a:rPr>
                  <a:t> i </a:t>
                </a:r>
                <a:r>
                  <a:rPr lang="sr-Latn-RS" sz="1200" b="0" i="0">
                    <a:latin typeface="Cambria Math" panose="02040503050406030204" pitchFamily="18" charset="0"/>
                  </a:rPr>
                  <a:t>cos⁡〖</a:t>
                </a:r>
                <a:r>
                  <a:rPr lang="sr-Latn-RS" sz="1200" i="0">
                    <a:latin typeface="Cambria Math" panose="02040503050406030204" pitchFamily="18" charset="0"/>
                    <a:ea typeface="Cambria Math" panose="02040503050406030204" pitchFamily="18" charset="0"/>
                  </a:rPr>
                  <a:t>𝜃</a:t>
                </a:r>
                <a:r>
                  <a:rPr lang="sr-Latn-RS" sz="1200" b="0" i="0">
                    <a:latin typeface="Cambria Math" panose="02040503050406030204" pitchFamily="18" charset="0"/>
                    <a:ea typeface="Cambria Math" panose="02040503050406030204" pitchFamily="18" charset="0"/>
                  </a:rPr>
                  <a:t>=𝑏〗</a:t>
                </a:r>
                <a:r>
                  <a:rPr lang="en-ZA" sz="1200" dirty="0">
                    <a:effectLst/>
                  </a:rPr>
                  <a:t>. </a:t>
                </a:r>
                <a:r>
                  <a:rPr lang="en-ZA" sz="1200" dirty="0" err="1">
                    <a:effectLst/>
                  </a:rPr>
                  <a:t>Iz</a:t>
                </a:r>
                <a:r>
                  <a:rPr lang="en-ZA" sz="1200" dirty="0">
                    <a:effectLst/>
                  </a:rPr>
                  <a:t> </a:t>
                </a:r>
                <a:r>
                  <a:rPr lang="en-ZA" sz="1200" dirty="0" err="1">
                    <a:effectLst/>
                  </a:rPr>
                  <a:t>trouglova</a:t>
                </a:r>
                <a:r>
                  <a:rPr lang="en-ZA" sz="1200" dirty="0">
                    <a:effectLst/>
                  </a:rPr>
                  <a:t> </a:t>
                </a:r>
                <a:r>
                  <a:rPr lang="en-ZA" sz="1200" dirty="0" err="1">
                    <a:effectLst/>
                  </a:rPr>
                  <a:t>sa</a:t>
                </a:r>
                <a:r>
                  <a:rPr lang="en-ZA" sz="1200" baseline="0" dirty="0">
                    <a:effectLst/>
                  </a:rPr>
                  <a:t> </a:t>
                </a:r>
                <a:r>
                  <a:rPr lang="en-ZA" sz="1200" baseline="0" dirty="0" err="1">
                    <a:effectLst/>
                  </a:rPr>
                  <a:t>slike</a:t>
                </a:r>
                <a:r>
                  <a:rPr lang="en-ZA" sz="1200" baseline="0" dirty="0">
                    <a:effectLst/>
                  </a:rPr>
                  <a:t> se </a:t>
                </a:r>
                <a:r>
                  <a:rPr lang="en-ZA" sz="1200" baseline="0" dirty="0" err="1">
                    <a:effectLst/>
                  </a:rPr>
                  <a:t>takođe</a:t>
                </a:r>
                <a:r>
                  <a:rPr lang="en-ZA" sz="1200" baseline="0" dirty="0">
                    <a:effectLst/>
                  </a:rPr>
                  <a:t> </a:t>
                </a:r>
                <a:r>
                  <a:rPr lang="en-ZA" sz="1200" baseline="0" dirty="0" err="1">
                    <a:effectLst/>
                  </a:rPr>
                  <a:t>vidi</a:t>
                </a:r>
                <a:r>
                  <a:rPr lang="en-ZA" sz="1200" baseline="0" dirty="0">
                    <a:effectLst/>
                  </a:rPr>
                  <a:t> da </a:t>
                </a:r>
                <a:r>
                  <a:rPr lang="en-ZA" sz="1200" baseline="0" dirty="0" err="1">
                    <a:effectLst/>
                  </a:rPr>
                  <a:t>je</a:t>
                </a:r>
                <a:r>
                  <a:rPr lang="en-ZA" sz="1200" baseline="0" dirty="0">
                    <a:effectLst/>
                  </a:rPr>
                  <a:t> </a:t>
                </a:r>
                <a:r>
                  <a:rPr lang="en-ZA" sz="1200" baseline="0" dirty="0" err="1">
                    <a:effectLst/>
                  </a:rPr>
                  <a:t>koristeći</a:t>
                </a:r>
                <a:r>
                  <a:rPr lang="en-ZA" sz="1200" baseline="0" dirty="0">
                    <a:effectLst/>
                  </a:rPr>
                  <a:t> </a:t>
                </a:r>
                <a:r>
                  <a:rPr lang="en-ZA" sz="1200" baseline="0" dirty="0" err="1">
                    <a:effectLst/>
                  </a:rPr>
                  <a:t>komplementarne</a:t>
                </a:r>
                <a:r>
                  <a:rPr lang="en-ZA" sz="1200" baseline="0" dirty="0">
                    <a:effectLst/>
                  </a:rPr>
                  <a:t> </a:t>
                </a:r>
                <a:r>
                  <a:rPr lang="en-ZA" sz="1200" baseline="0" dirty="0" err="1">
                    <a:effectLst/>
                  </a:rPr>
                  <a:t>uglove</a:t>
                </a:r>
                <a:r>
                  <a:rPr lang="en-ZA" sz="1200" baseline="0" dirty="0">
                    <a:effectLst/>
                  </a:rPr>
                  <a:t> do </a:t>
                </a:r>
                <a:r>
                  <a:rPr lang="sr-Latn-RS" sz="1200" i="0">
                    <a:latin typeface="Cambria Math" panose="02040503050406030204" pitchFamily="18" charset="0"/>
                  </a:rPr>
                  <a:t>𝜋</a:t>
                </a:r>
                <a:r>
                  <a:rPr lang="en-US" sz="1200" b="0" i="0">
                    <a:latin typeface="Cambria Math" panose="02040503050406030204" pitchFamily="18" charset="0"/>
                  </a:rPr>
                  <a:t>/2</a:t>
                </a:r>
                <a:r>
                  <a:rPr lang="en-ZA" sz="1200" dirty="0">
                    <a:effectLst/>
                  </a:rPr>
                  <a:t> </a:t>
                </a:r>
                <a:r>
                  <a:rPr lang="en-ZA" sz="1200" dirty="0" err="1">
                    <a:effectLst/>
                  </a:rPr>
                  <a:t>moguće</a:t>
                </a:r>
                <a:r>
                  <a:rPr lang="en-ZA" sz="1200" baseline="0" dirty="0">
                    <a:effectLst/>
                  </a:rPr>
                  <a:t> </a:t>
                </a:r>
                <a:r>
                  <a:rPr lang="en-ZA" sz="1200" baseline="0" dirty="0" err="1">
                    <a:effectLst/>
                  </a:rPr>
                  <a:t>preći</a:t>
                </a:r>
                <a:r>
                  <a:rPr lang="en-ZA" sz="1200" baseline="0" dirty="0">
                    <a:effectLst/>
                  </a:rPr>
                  <a:t> </a:t>
                </a:r>
                <a:r>
                  <a:rPr lang="en-ZA" sz="1200" baseline="0" dirty="0" err="1">
                    <a:effectLst/>
                  </a:rPr>
                  <a:t>sa</a:t>
                </a:r>
                <a:r>
                  <a:rPr lang="en-ZA" sz="1200" baseline="0" dirty="0">
                    <a:effectLst/>
                  </a:rPr>
                  <a:t> </a:t>
                </a:r>
                <a:r>
                  <a:rPr lang="en-ZA" sz="1200" baseline="0" dirty="0" err="1">
                    <a:effectLst/>
                  </a:rPr>
                  <a:t>sinusa</a:t>
                </a:r>
                <a:r>
                  <a:rPr lang="en-ZA" sz="1200" baseline="0" dirty="0">
                    <a:effectLst/>
                  </a:rPr>
                  <a:t> </a:t>
                </a:r>
                <a:r>
                  <a:rPr lang="en-ZA" sz="1200" baseline="0" dirty="0" err="1">
                    <a:effectLst/>
                  </a:rPr>
                  <a:t>sa</a:t>
                </a:r>
                <a:r>
                  <a:rPr lang="en-ZA" sz="1200" baseline="0" dirty="0">
                    <a:effectLst/>
                  </a:rPr>
                  <a:t> </a:t>
                </a:r>
                <a:r>
                  <a:rPr lang="en-ZA" sz="1200" baseline="0" dirty="0" err="1">
                    <a:effectLst/>
                  </a:rPr>
                  <a:t>kosinus</a:t>
                </a:r>
                <a:r>
                  <a:rPr lang="en-ZA" sz="1200" baseline="0" dirty="0">
                    <a:effectLst/>
                  </a:rPr>
                  <a:t> I </a:t>
                </a:r>
                <a:r>
                  <a:rPr lang="en-ZA" sz="1200" baseline="0" dirty="0" err="1">
                    <a:effectLst/>
                  </a:rPr>
                  <a:t>obrnuto</a:t>
                </a:r>
                <a:r>
                  <a:rPr lang="en-ZA" sz="1200" baseline="0" dirty="0">
                    <a:effectLst/>
                  </a:rPr>
                  <a: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sz="1200" baseline="0" dirty="0" err="1">
                    <a:effectLst/>
                  </a:rPr>
                  <a:t>Spomenućemo</a:t>
                </a:r>
                <a:r>
                  <a:rPr lang="en-ZA" sz="1200" baseline="0" dirty="0">
                    <a:effectLst/>
                  </a:rPr>
                  <a:t> </a:t>
                </a:r>
                <a:r>
                  <a:rPr lang="en-ZA" sz="1200" baseline="0" dirty="0" err="1">
                    <a:effectLst/>
                  </a:rPr>
                  <a:t>i</a:t>
                </a:r>
                <a:r>
                  <a:rPr lang="en-ZA" sz="1200" baseline="0" dirty="0">
                    <a:effectLst/>
                  </a:rPr>
                  <a:t> </a:t>
                </a:r>
                <a:r>
                  <a:rPr lang="en-ZA" sz="1200" baseline="0" dirty="0" err="1">
                    <a:effectLst/>
                  </a:rPr>
                  <a:t>Ptolomejeve</a:t>
                </a:r>
                <a:r>
                  <a:rPr lang="en-ZA" sz="1200" baseline="0" dirty="0">
                    <a:effectLst/>
                  </a:rPr>
                  <a:t> </a:t>
                </a:r>
                <a:r>
                  <a:rPr lang="en-ZA" sz="1200" baseline="0" dirty="0" err="1">
                    <a:effectLst/>
                  </a:rPr>
                  <a:t>identitete</a:t>
                </a:r>
                <a:r>
                  <a:rPr lang="en-ZA" sz="1200" baseline="0" dirty="0">
                    <a:effectLst/>
                  </a:rPr>
                  <a:t> </a:t>
                </a:r>
                <a:r>
                  <a:rPr lang="en-ZA" sz="1200" baseline="0" dirty="0" err="1">
                    <a:effectLst/>
                  </a:rPr>
                  <a:t>koji</a:t>
                </a:r>
                <a:r>
                  <a:rPr lang="en-ZA" sz="1200" baseline="0" dirty="0">
                    <a:effectLst/>
                  </a:rPr>
                  <a:t> </a:t>
                </a:r>
                <a:r>
                  <a:rPr lang="en-ZA" sz="1200" baseline="0" dirty="0" err="1">
                    <a:effectLst/>
                  </a:rPr>
                  <a:t>definišu</a:t>
                </a:r>
                <a:r>
                  <a:rPr lang="en-ZA" sz="1200" baseline="0" dirty="0">
                    <a:effectLst/>
                  </a:rPr>
                  <a:t> </a:t>
                </a:r>
                <a:r>
                  <a:rPr lang="en-ZA" sz="1200" baseline="0" dirty="0" err="1">
                    <a:effectLst/>
                  </a:rPr>
                  <a:t>funkcije</a:t>
                </a:r>
                <a:r>
                  <a:rPr lang="en-ZA" sz="1200" baseline="0" dirty="0">
                    <a:effectLst/>
                  </a:rPr>
                  <a:t> </a:t>
                </a:r>
                <a:r>
                  <a:rPr lang="en-ZA" sz="1200" baseline="0" dirty="0" err="1">
                    <a:effectLst/>
                  </a:rPr>
                  <a:t>zbira</a:t>
                </a:r>
                <a:r>
                  <a:rPr lang="en-ZA" sz="1200" baseline="0" dirty="0">
                    <a:effectLst/>
                  </a:rPr>
                  <a:t> </a:t>
                </a:r>
                <a:r>
                  <a:rPr lang="en-ZA" sz="1200" baseline="0" dirty="0" err="1">
                    <a:effectLst/>
                  </a:rPr>
                  <a:t>i</a:t>
                </a:r>
                <a:r>
                  <a:rPr lang="en-ZA" sz="1200" baseline="0" dirty="0">
                    <a:effectLst/>
                  </a:rPr>
                  <a:t> </a:t>
                </a:r>
                <a:r>
                  <a:rPr lang="en-ZA" sz="1200" baseline="0" dirty="0" err="1">
                    <a:effectLst/>
                  </a:rPr>
                  <a:t>razlike</a:t>
                </a:r>
                <a:r>
                  <a:rPr lang="en-ZA" sz="1200" baseline="0" dirty="0">
                    <a:effectLst/>
                  </a:rPr>
                  <a:t> </a:t>
                </a:r>
                <a:r>
                  <a:rPr lang="en-ZA" sz="1200" baseline="0" dirty="0" err="1">
                    <a:effectLst/>
                  </a:rPr>
                  <a:t>uglova</a:t>
                </a:r>
                <a:r>
                  <a:rPr lang="en-ZA" sz="1200" baseline="0" dirty="0">
                    <a:effectLst/>
                  </a:rPr>
                  <a: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sz="1200" dirty="0" err="1">
                    <a:effectLst/>
                  </a:rPr>
                  <a:t>Koristeci</a:t>
                </a:r>
                <a:r>
                  <a:rPr lang="en-ZA" sz="1200" dirty="0">
                    <a:effectLst/>
                  </a:rPr>
                  <a:t> </a:t>
                </a:r>
                <a:r>
                  <a:rPr lang="en-ZA" sz="1200" dirty="0" err="1">
                    <a:effectLst/>
                  </a:rPr>
                  <a:t>konstante</a:t>
                </a:r>
                <a:r>
                  <a:rPr lang="en-ZA" sz="1200" dirty="0">
                    <a:effectLst/>
                  </a:rPr>
                  <a:t> </a:t>
                </a:r>
                <a:r>
                  <a:rPr lang="en-US" sz="1200" i="0">
                    <a:latin typeface="Cambria Math" panose="02040503050406030204" pitchFamily="18" charset="0"/>
                    <a:ea typeface="Cambria Math" panose="02040503050406030204" pitchFamily="18" charset="0"/>
                  </a:rPr>
                  <a:t>𝑒</a:t>
                </a:r>
                <a:r>
                  <a:rPr lang="en-ZA" sz="1200" dirty="0">
                    <a:effectLst/>
                  </a:rPr>
                  <a:t> i </a:t>
                </a:r>
                <a:r>
                  <a:rPr lang="en-US" sz="1200" b="0" i="0">
                    <a:latin typeface="Cambria Math" panose="02040503050406030204" pitchFamily="18" charset="0"/>
                    <a:ea typeface="Cambria Math" panose="02040503050406030204" pitchFamily="18" charset="0"/>
                  </a:rPr>
                  <a:t>𝑖</a:t>
                </a:r>
                <a:r>
                  <a:rPr lang="en-ZA" sz="1200" dirty="0">
                    <a:effectLst/>
                  </a:rPr>
                  <a:t>, </a:t>
                </a:r>
                <a:r>
                  <a:rPr lang="en-ZA" sz="1200" dirty="0" err="1">
                    <a:effectLst/>
                  </a:rPr>
                  <a:t>Ojlerova</a:t>
                </a:r>
                <a:r>
                  <a:rPr lang="en-ZA" sz="1200" dirty="0">
                    <a:effectLst/>
                  </a:rPr>
                  <a:t> formula </a:t>
                </a:r>
                <a:r>
                  <a:rPr lang="en-ZA" sz="1200" dirty="0" err="1">
                    <a:effectLst/>
                  </a:rPr>
                  <a:t>daje</a:t>
                </a:r>
                <a:r>
                  <a:rPr lang="en-ZA" sz="1200" dirty="0">
                    <a:effectLst/>
                  </a:rPr>
                  <a:t> </a:t>
                </a:r>
                <a:r>
                  <a:rPr lang="en-ZA" sz="1200" dirty="0" err="1">
                    <a:effectLst/>
                  </a:rPr>
                  <a:t>vezu</a:t>
                </a:r>
                <a:r>
                  <a:rPr lang="en-ZA" sz="1200" dirty="0">
                    <a:effectLst/>
                  </a:rPr>
                  <a:t> </a:t>
                </a:r>
                <a:r>
                  <a:rPr lang="en-ZA" sz="1200" dirty="0" err="1">
                    <a:effectLst/>
                  </a:rPr>
                  <a:t>izmedju</a:t>
                </a:r>
                <a:r>
                  <a:rPr lang="en-ZA" sz="1200" dirty="0">
                    <a:effectLst/>
                  </a:rPr>
                  <a:t> </a:t>
                </a:r>
                <a:r>
                  <a:rPr lang="en-ZA" sz="1200" dirty="0" err="1">
                    <a:effectLst/>
                  </a:rPr>
                  <a:t>eksponencijalne</a:t>
                </a:r>
                <a:r>
                  <a:rPr lang="en-ZA" sz="1200" dirty="0">
                    <a:effectLst/>
                  </a:rPr>
                  <a:t> </a:t>
                </a:r>
                <a:r>
                  <a:rPr lang="en-ZA" sz="1200" dirty="0" err="1">
                    <a:effectLst/>
                  </a:rPr>
                  <a:t>i</a:t>
                </a:r>
                <a:r>
                  <a:rPr lang="en-ZA" sz="1200" dirty="0">
                    <a:effectLst/>
                  </a:rPr>
                  <a:t> </a:t>
                </a:r>
                <a:r>
                  <a:rPr lang="en-ZA" sz="1200" dirty="0" err="1">
                    <a:effectLst/>
                  </a:rPr>
                  <a:t>trigonometrijskih</a:t>
                </a:r>
                <a:r>
                  <a:rPr lang="en-ZA" sz="1200" dirty="0">
                    <a:effectLst/>
                  </a:rPr>
                  <a:t> </a:t>
                </a:r>
                <a:r>
                  <a:rPr lang="en-ZA" sz="1200" dirty="0" err="1">
                    <a:effectLst/>
                  </a:rPr>
                  <a:t>funkcija</a:t>
                </a:r>
                <a:r>
                  <a:rPr lang="en-ZA" sz="1200" baseline="0" dirty="0">
                    <a:effectLst/>
                  </a:rPr>
                  <a:t>. </a:t>
                </a:r>
                <a:r>
                  <a:rPr lang="en-ZA" sz="1200" dirty="0" err="1">
                    <a:effectLst/>
                  </a:rPr>
                  <a:t>Interesantan</a:t>
                </a:r>
                <a:r>
                  <a:rPr lang="en-ZA" sz="1200" dirty="0">
                    <a:effectLst/>
                  </a:rPr>
                  <a:t> </a:t>
                </a:r>
                <a:r>
                  <a:rPr lang="en-ZA" sz="1200" dirty="0" err="1">
                    <a:effectLst/>
                  </a:rPr>
                  <a:t>je</a:t>
                </a:r>
                <a:r>
                  <a:rPr lang="en-ZA" sz="1200" dirty="0">
                    <a:effectLst/>
                  </a:rPr>
                  <a:t> </a:t>
                </a:r>
                <a:r>
                  <a:rPr lang="en-ZA" sz="1200" dirty="0" err="1">
                    <a:effectLst/>
                  </a:rPr>
                  <a:t>i</a:t>
                </a:r>
                <a:r>
                  <a:rPr lang="en-ZA" sz="1200" dirty="0">
                    <a:effectLst/>
                  </a:rPr>
                  <a:t> </a:t>
                </a:r>
                <a:r>
                  <a:rPr lang="en-ZA" sz="1200" dirty="0" err="1">
                    <a:effectLst/>
                  </a:rPr>
                  <a:t>Ojlerov</a:t>
                </a:r>
                <a:r>
                  <a:rPr lang="en-ZA" sz="1200" dirty="0">
                    <a:effectLst/>
                  </a:rPr>
                  <a:t> </a:t>
                </a:r>
                <a:r>
                  <a:rPr lang="en-ZA" sz="1200" dirty="0" err="1">
                    <a:effectLst/>
                  </a:rPr>
                  <a:t>identitet</a:t>
                </a:r>
                <a:r>
                  <a:rPr lang="en-ZA" sz="1200" dirty="0">
                    <a:effectLst/>
                  </a:rPr>
                  <a:t> </a:t>
                </a:r>
                <a:r>
                  <a:rPr lang="en-ZA" sz="1200" i="0">
                    <a:latin typeface="Cambria Math" panose="02040503050406030204" pitchFamily="18" charset="0"/>
                  </a:rPr>
                  <a:t>〖</a:t>
                </a:r>
                <a:r>
                  <a:rPr lang="sr-Latn-RS" sz="1200" b="0" i="0">
                    <a:latin typeface="Cambria Math" panose="02040503050406030204" pitchFamily="18" charset="0"/>
                  </a:rPr>
                  <a:t> </a:t>
                </a:r>
                <a:r>
                  <a:rPr lang="sr-Latn-RS" sz="1200" i="0">
                    <a:latin typeface="Cambria Math" panose="02040503050406030204" pitchFamily="18" charset="0"/>
                  </a:rPr>
                  <a:t>𝑒</a:t>
                </a:r>
                <a:r>
                  <a:rPr lang="en-ZA" sz="1200" i="0">
                    <a:latin typeface="Cambria Math" panose="02040503050406030204" pitchFamily="18" charset="0"/>
                  </a:rPr>
                  <a:t>〗^</a:t>
                </a:r>
                <a:r>
                  <a:rPr lang="sr-Latn-RS" sz="1200" i="0">
                    <a:latin typeface="Cambria Math" panose="02040503050406030204" pitchFamily="18" charset="0"/>
                  </a:rPr>
                  <a:t>𝑖𝜋+1=0</a:t>
                </a:r>
                <a:r>
                  <a:rPr lang="en-ZA" sz="1200" dirty="0">
                    <a:effectLst/>
                  </a:rPr>
                  <a:t> </a:t>
                </a:r>
                <a:r>
                  <a:rPr lang="en-ZA" sz="1200" dirty="0" err="1">
                    <a:effectLst/>
                  </a:rPr>
                  <a:t>koji</a:t>
                </a:r>
                <a:r>
                  <a:rPr lang="en-ZA" sz="1200" dirty="0">
                    <a:effectLst/>
                  </a:rPr>
                  <a:t> se </a:t>
                </a:r>
                <a:r>
                  <a:rPr lang="en-ZA" sz="1200" dirty="0" err="1">
                    <a:effectLst/>
                  </a:rPr>
                  <a:t>smatra</a:t>
                </a:r>
                <a:r>
                  <a:rPr lang="en-ZA" sz="1200" dirty="0">
                    <a:effectLst/>
                  </a:rPr>
                  <a:t> </a:t>
                </a:r>
                <a:r>
                  <a:rPr lang="en-ZA" sz="1200" dirty="0" err="1">
                    <a:effectLst/>
                  </a:rPr>
                  <a:t>najlepšom</a:t>
                </a:r>
                <a:r>
                  <a:rPr lang="en-ZA" sz="1200" dirty="0">
                    <a:effectLst/>
                  </a:rPr>
                  <a:t> </a:t>
                </a:r>
                <a:r>
                  <a:rPr lang="en-ZA" sz="1200" dirty="0" err="1">
                    <a:effectLst/>
                  </a:rPr>
                  <a:t>formulom</a:t>
                </a:r>
                <a:r>
                  <a:rPr lang="en-ZA" sz="1200" dirty="0">
                    <a:effectLst/>
                  </a:rPr>
                  <a:t> u </a:t>
                </a:r>
                <a:r>
                  <a:rPr lang="en-ZA" sz="1200" dirty="0" err="1">
                    <a:effectLst/>
                  </a:rPr>
                  <a:t>matematici</a:t>
                </a:r>
                <a:r>
                  <a:rPr lang="en-ZA" sz="1200" dirty="0">
                    <a:effectLst/>
                  </a:rPr>
                  <a:t> </a:t>
                </a:r>
                <a:r>
                  <a:rPr lang="en-ZA" sz="1200" dirty="0" err="1">
                    <a:effectLst/>
                  </a:rPr>
                  <a:t>jer</a:t>
                </a:r>
                <a:r>
                  <a:rPr lang="en-ZA" sz="1200" dirty="0">
                    <a:effectLst/>
                  </a:rPr>
                  <a:t> </a:t>
                </a:r>
                <a:r>
                  <a:rPr lang="en-ZA" sz="1200" dirty="0" err="1">
                    <a:effectLst/>
                  </a:rPr>
                  <a:t>na</a:t>
                </a:r>
                <a:r>
                  <a:rPr lang="en-ZA" sz="1200" dirty="0">
                    <a:effectLst/>
                  </a:rPr>
                  <a:t> </a:t>
                </a:r>
                <a:r>
                  <a:rPr lang="en-ZA" sz="1200" dirty="0" err="1">
                    <a:effectLst/>
                  </a:rPr>
                  <a:t>jednostavan</a:t>
                </a:r>
                <a:r>
                  <a:rPr lang="en-ZA" sz="1200" dirty="0">
                    <a:effectLst/>
                  </a:rPr>
                  <a:t> </a:t>
                </a:r>
                <a:r>
                  <a:rPr lang="en-ZA" sz="1200" dirty="0" err="1">
                    <a:effectLst/>
                  </a:rPr>
                  <a:t>i</a:t>
                </a:r>
                <a:r>
                  <a:rPr lang="en-ZA" sz="1200" dirty="0">
                    <a:effectLst/>
                  </a:rPr>
                  <a:t> </a:t>
                </a:r>
                <a:r>
                  <a:rPr lang="en-ZA" sz="1200" dirty="0" err="1">
                    <a:effectLst/>
                  </a:rPr>
                  <a:t>elegantatn</a:t>
                </a:r>
                <a:r>
                  <a:rPr lang="en-ZA" sz="1200" dirty="0">
                    <a:effectLst/>
                  </a:rPr>
                  <a:t> </a:t>
                </a:r>
                <a:r>
                  <a:rPr lang="en-ZA" sz="1200" dirty="0" err="1">
                    <a:effectLst/>
                  </a:rPr>
                  <a:t>nacin</a:t>
                </a:r>
                <a:r>
                  <a:rPr lang="en-ZA" sz="1200" dirty="0">
                    <a:effectLst/>
                  </a:rPr>
                  <a:t> </a:t>
                </a:r>
                <a:r>
                  <a:rPr lang="en-ZA" sz="1200" dirty="0" err="1">
                    <a:effectLst/>
                  </a:rPr>
                  <a:t>povezuje</a:t>
                </a:r>
                <a:r>
                  <a:rPr lang="en-ZA" sz="1200" dirty="0">
                    <a:effectLst/>
                  </a:rPr>
                  <a:t> 5 </a:t>
                </a:r>
                <a:r>
                  <a:rPr lang="en-ZA" sz="1200" dirty="0" err="1">
                    <a:effectLst/>
                  </a:rPr>
                  <a:t>fundamentalih</a:t>
                </a:r>
                <a:r>
                  <a:rPr lang="en-ZA" sz="1200" dirty="0">
                    <a:effectLst/>
                  </a:rPr>
                  <a:t> </a:t>
                </a:r>
                <a:r>
                  <a:rPr lang="en-ZA" sz="1200" dirty="0" err="1">
                    <a:effectLst/>
                  </a:rPr>
                  <a:t>brojeva</a:t>
                </a:r>
                <a:r>
                  <a:rPr lang="en-ZA" sz="1200" baseline="0" dirty="0">
                    <a:effectLst/>
                  </a:rPr>
                  <a:t>, </a:t>
                </a:r>
                <a:r>
                  <a:rPr lang="sr-Latn-RS" sz="1200" i="0">
                    <a:latin typeface="Cambria Math" panose="02040503050406030204" pitchFamily="18" charset="0"/>
                  </a:rPr>
                  <a:t>𝑒</a:t>
                </a:r>
                <a:r>
                  <a:rPr lang="en-US" sz="1200" b="0" i="0">
                    <a:latin typeface="Cambria Math" panose="02040503050406030204" pitchFamily="18" charset="0"/>
                  </a:rPr>
                  <a:t>,</a:t>
                </a:r>
                <a:r>
                  <a:rPr lang="en-US" sz="1200" i="0">
                    <a:latin typeface="Cambria Math" panose="02040503050406030204" pitchFamily="18" charset="0"/>
                    <a:ea typeface="Cambria Math" panose="02040503050406030204" pitchFamily="18" charset="0"/>
                  </a:rPr>
                  <a:t>𝜋</a:t>
                </a:r>
                <a:r>
                  <a:rPr lang="en-US" sz="1200" b="0" i="0">
                    <a:latin typeface="Cambria Math" panose="02040503050406030204" pitchFamily="18" charset="0"/>
                    <a:ea typeface="Cambria Math" panose="02040503050406030204" pitchFamily="18" charset="0"/>
                  </a:rPr>
                  <a:t>,𝑖,0 i 1</a:t>
                </a:r>
                <a:r>
                  <a:rPr lang="en-ZA" sz="1200" dirty="0">
                    <a:effectLst/>
                  </a:rPr>
                  <a:t>.</a:t>
                </a:r>
              </a:p>
              <a:p>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a:t>
            </a:fld>
            <a:endParaRPr lang="en-US"/>
          </a:p>
        </p:txBody>
      </p:sp>
    </p:spTree>
    <p:extLst>
      <p:ext uri="{BB962C8B-B14F-4D97-AF65-F5344CB8AC3E}">
        <p14:creationId xmlns:p14="http://schemas.microsoft.com/office/powerpoint/2010/main" val="3903600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r>
                  <a:rPr lang="en-ZA" b="0" dirty="0"/>
                  <a:t>In the Cartesian coordinate system, a point is defined by its coordinates, which represent its distance from mutually perpendicular axes. These axes intersect at the origin O, with coordinates (0,0).</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In the polar coordinate system, a point’s position is determined by its radial distance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𝑟</m:t>
                    </m:r>
                  </m:oMath>
                </a14:m>
                <a:r>
                  <a:rPr lang="en-ZA" b="0" dirty="0"/>
                  <a:t> from a reference point (the pole O) and the polar angle </a:t>
                </a:r>
                <a14:m>
                  <m:oMath xmlns:m="http://schemas.openxmlformats.org/officeDocument/2006/math">
                    <m:r>
                      <a:rPr lang="sr-Latn-RS" sz="1200" i="1" smtClean="0">
                        <a:latin typeface="Cambria Math" panose="02040503050406030204" pitchFamily="18" charset="0"/>
                        <a:ea typeface="Cambria Math" panose="02040503050406030204" pitchFamily="18" charset="0"/>
                      </a:rPr>
                      <m:t>𝜃</m:t>
                    </m:r>
                  </m:oMath>
                </a14:m>
                <a:r>
                  <a:rPr lang="el-GR" b="0" dirty="0"/>
                  <a:t> </a:t>
                </a:r>
                <a:r>
                  <a:rPr lang="en-ZA" b="0" dirty="0"/>
                  <a:t>measured relative to a reference axis.</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In the spherical coordinate system, a point is defined by three coordinates:</a:t>
                </a:r>
              </a:p>
              <a:p>
                <a:pPr lvl="1" algn="just"/>
                <a:r>
                  <a:rPr lang="en-ZA" b="0" dirty="0"/>
                  <a:t>The radial distance </a:t>
                </a:r>
                <a14:m>
                  <m:oMath xmlns:m="http://schemas.openxmlformats.org/officeDocument/2006/math">
                    <m:r>
                      <a:rPr lang="en-US" sz="1200" b="0" i="1" smtClean="0">
                        <a:latin typeface="Cambria Math" panose="02040503050406030204" pitchFamily="18" charset="0"/>
                        <a:ea typeface="Cambria Math" panose="02040503050406030204" pitchFamily="18" charset="0"/>
                      </a:rPr>
                      <m:t>𝑟</m:t>
                    </m:r>
                  </m:oMath>
                </a14:m>
                <a:r>
                  <a:rPr lang="en-ZA" b="0" dirty="0"/>
                  <a:t> from the origin.</a:t>
                </a:r>
              </a:p>
              <a:p>
                <a:pPr lvl="1" algn="just"/>
                <a:r>
                  <a:rPr lang="en-ZA" b="0" dirty="0"/>
                  <a:t>The polar angle </a:t>
                </a:r>
                <a14:m>
                  <m:oMath xmlns:m="http://schemas.openxmlformats.org/officeDocument/2006/math">
                    <m:r>
                      <a:rPr lang="sr-Latn-RS" sz="1200" i="1" smtClean="0">
                        <a:latin typeface="Cambria Math" panose="02040503050406030204" pitchFamily="18" charset="0"/>
                        <a:ea typeface="Cambria Math" panose="02040503050406030204" pitchFamily="18" charset="0"/>
                      </a:rPr>
                      <m:t>𝜃</m:t>
                    </m:r>
                  </m:oMath>
                </a14:m>
                <a:r>
                  <a:rPr lang="el-GR" b="0" dirty="0"/>
                  <a:t>, </a:t>
                </a:r>
                <a:r>
                  <a:rPr lang="en-ZA" b="0" dirty="0"/>
                  <a:t>which measures the angle from the vertical (polar) axis.</a:t>
                </a:r>
              </a:p>
              <a:p>
                <a:pPr lvl="1" algn="just"/>
                <a:r>
                  <a:rPr lang="en-ZA" b="0" dirty="0"/>
                  <a:t>The azimuthal angle </a:t>
                </a:r>
                <a14:m>
                  <m:oMath xmlns:m="http://schemas.openxmlformats.org/officeDocument/2006/math">
                    <m:r>
                      <a:rPr lang="sr-Latn-RS" sz="1200" i="1" smtClean="0">
                        <a:latin typeface="Cambria Math" panose="02040503050406030204" pitchFamily="18" charset="0"/>
                        <a:ea typeface="Cambria Math" panose="02040503050406030204" pitchFamily="18" charset="0"/>
                      </a:rPr>
                      <m:t>𝜑</m:t>
                    </m:r>
                  </m:oMath>
                </a14:m>
                <a:r>
                  <a:rPr lang="el-GR" b="0" dirty="0"/>
                  <a:t>, </a:t>
                </a:r>
                <a:r>
                  <a:rPr lang="en-ZA" b="0" dirty="0"/>
                  <a:t>which measures the angle between the projection of the point onto the </a:t>
                </a:r>
                <a:r>
                  <a:rPr lang="en-ZA" b="0" dirty="0" err="1"/>
                  <a:t>xy</a:t>
                </a:r>
                <a:r>
                  <a:rPr lang="en-ZA" b="0" dirty="0"/>
                  <a:t>-plane and the x-axis.</a:t>
                </a:r>
              </a:p>
              <a:p>
                <a:pPr algn="just"/>
                <a:endParaRPr lang="en-ZA" b="0" dirty="0"/>
              </a:p>
              <a:p>
                <a:pPr marL="171450" indent="-171450" algn="just">
                  <a:buFont typeface="Arial" panose="020B0604020202020204" pitchFamily="34" charset="0"/>
                  <a:buChar char="•"/>
                </a:pPr>
                <a:r>
                  <a:rPr lang="en-ZA" dirty="0"/>
                  <a:t>Using trigonometric functions, it’s easy to convert coordinates between these systems.</a:t>
                </a:r>
              </a:p>
            </p:txBody>
          </p:sp>
        </mc:Choice>
        <mc:Fallback xmlns="">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r>
                  <a:rPr lang="en-ZA" b="0" dirty="0"/>
                  <a:t>In the Cartesian coordinate system, a point is defined by its coordinates, which represent its distance from mutually perpendicular axes. These axes intersect at the origin O, with coordinates (0,0).</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In the polar coordinate system, a point’s position is determined by its radial distance </a:t>
                </a:r>
                <a:r>
                  <a:rPr lang="en-US" sz="1200" b="0" i="0">
                    <a:latin typeface="Cambria Math" panose="02040503050406030204" pitchFamily="18" charset="0"/>
                    <a:ea typeface="Cambria Math" panose="02040503050406030204" pitchFamily="18" charset="0"/>
                  </a:rPr>
                  <a:t>𝑟</a:t>
                </a:r>
                <a:r>
                  <a:rPr lang="en-ZA" b="0" dirty="0"/>
                  <a:t> from a reference point (the pole O) and the polar angle </a:t>
                </a:r>
                <a:r>
                  <a:rPr lang="sr-Latn-RS" sz="1200" i="0">
                    <a:latin typeface="Cambria Math" panose="02040503050406030204" pitchFamily="18" charset="0"/>
                    <a:ea typeface="Cambria Math" panose="02040503050406030204" pitchFamily="18" charset="0"/>
                  </a:rPr>
                  <a:t>𝜃</a:t>
                </a:r>
                <a:r>
                  <a:rPr lang="el-GR" b="0" dirty="0"/>
                  <a:t> </a:t>
                </a:r>
                <a:r>
                  <a:rPr lang="en-ZA" b="0" dirty="0"/>
                  <a:t>measured relative to a reference axis.</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In the spherical coordinate system, a point is defined by three coordinates:</a:t>
                </a:r>
              </a:p>
              <a:p>
                <a:pPr lvl="1" algn="just"/>
                <a:r>
                  <a:rPr lang="en-ZA" b="0" dirty="0"/>
                  <a:t>The radial distance </a:t>
                </a:r>
                <a:r>
                  <a:rPr lang="en-US" sz="1200" b="0" i="0">
                    <a:latin typeface="Cambria Math" panose="02040503050406030204" pitchFamily="18" charset="0"/>
                    <a:ea typeface="Cambria Math" panose="02040503050406030204" pitchFamily="18" charset="0"/>
                  </a:rPr>
                  <a:t>𝑟</a:t>
                </a:r>
                <a:r>
                  <a:rPr lang="en-ZA" b="0" dirty="0"/>
                  <a:t> from the origin.</a:t>
                </a:r>
              </a:p>
              <a:p>
                <a:pPr lvl="1" algn="just"/>
                <a:r>
                  <a:rPr lang="en-ZA" b="0" dirty="0"/>
                  <a:t>The polar angle </a:t>
                </a:r>
                <a:r>
                  <a:rPr lang="sr-Latn-RS" sz="1200" i="0">
                    <a:latin typeface="Cambria Math" panose="02040503050406030204" pitchFamily="18" charset="0"/>
                    <a:ea typeface="Cambria Math" panose="02040503050406030204" pitchFamily="18" charset="0"/>
                  </a:rPr>
                  <a:t>𝜃</a:t>
                </a:r>
                <a:r>
                  <a:rPr lang="el-GR" b="0" dirty="0"/>
                  <a:t>, </a:t>
                </a:r>
                <a:r>
                  <a:rPr lang="en-ZA" b="0" dirty="0"/>
                  <a:t>which measures the angle from the vertical (polar) axis.</a:t>
                </a:r>
              </a:p>
              <a:p>
                <a:pPr lvl="1" algn="just"/>
                <a:r>
                  <a:rPr lang="en-ZA" b="0" dirty="0"/>
                  <a:t>The azimuthal angle </a:t>
                </a:r>
                <a:r>
                  <a:rPr lang="sr-Latn-RS" sz="1200" i="0">
                    <a:latin typeface="Cambria Math" panose="02040503050406030204" pitchFamily="18" charset="0"/>
                    <a:ea typeface="Cambria Math" panose="02040503050406030204" pitchFamily="18" charset="0"/>
                  </a:rPr>
                  <a:t>𝜑</a:t>
                </a:r>
                <a:r>
                  <a:rPr lang="el-GR" b="0" dirty="0"/>
                  <a:t>, </a:t>
                </a:r>
                <a:r>
                  <a:rPr lang="en-ZA" b="0" dirty="0"/>
                  <a:t>which measures the angle between the projection of the point onto the </a:t>
                </a:r>
                <a:r>
                  <a:rPr lang="en-ZA" b="0" dirty="0" err="1"/>
                  <a:t>xy</a:t>
                </a:r>
                <a:r>
                  <a:rPr lang="en-ZA" b="0" dirty="0"/>
                  <a:t>-plane and the x-axis.</a:t>
                </a:r>
              </a:p>
              <a:p>
                <a:pPr algn="just"/>
                <a:endParaRPr lang="en-ZA" b="0" dirty="0"/>
              </a:p>
              <a:p>
                <a:pPr marL="171450" indent="-171450" algn="just">
                  <a:buFont typeface="Arial" panose="020B0604020202020204" pitchFamily="34" charset="0"/>
                  <a:buChar char="•"/>
                </a:pPr>
                <a:r>
                  <a:rPr lang="en-ZA" dirty="0"/>
                  <a:t>Using trigonometric functions, it’s easy to convert coordinates between these systems.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7</a:t>
            </a:fld>
            <a:endParaRPr lang="en-US"/>
          </a:p>
        </p:txBody>
      </p:sp>
    </p:spTree>
    <p:extLst>
      <p:ext uri="{BB962C8B-B14F-4D97-AF65-F5344CB8AC3E}">
        <p14:creationId xmlns:p14="http://schemas.microsoft.com/office/powerpoint/2010/main" val="1791134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Kronecker delta function is a function of two variables, e.g. </a:t>
                </a:r>
                <a14:m>
                  <m:oMath xmlns:m="http://schemas.openxmlformats.org/officeDocument/2006/math">
                    <m:r>
                      <a:rPr lang="en-US" sz="1200" b="0" i="1" smtClean="0">
                        <a:latin typeface="Cambria Math" panose="02040503050406030204" pitchFamily="18" charset="0"/>
                      </a:rPr>
                      <m:t>𝑗</m:t>
                    </m:r>
                  </m:oMath>
                </a14:m>
                <a:r>
                  <a:rPr lang="en-ZA" b="0" dirty="0"/>
                  <a:t> and </a:t>
                </a:r>
                <a14:m>
                  <m:oMath xmlns:m="http://schemas.openxmlformats.org/officeDocument/2006/math">
                    <m:r>
                      <a:rPr lang="sr-Latn-RS" sz="1200" i="1" smtClean="0">
                        <a:latin typeface="Cambria Math" panose="02040503050406030204" pitchFamily="18" charset="0"/>
                      </a:rPr>
                      <m:t>𝑘</m:t>
                    </m:r>
                  </m:oMath>
                </a14:m>
                <a:r>
                  <a:rPr lang="en-ZA" b="0" dirty="0"/>
                  <a:t>, that returns 1 if they are equal and 0 if they are different.</a:t>
                </a:r>
              </a:p>
              <a:p>
                <a:pPr algn="just"/>
                <a:endParaRPr lang="en-ZA" b="0" dirty="0">
                  <a:solidFill>
                    <a:schemeClr val="tx1"/>
                  </a:solidFill>
                </a:endParaRPr>
              </a:p>
              <a:p>
                <a:pPr algn="just"/>
                <a:r>
                  <a:rPr lang="en-ZA" b="0" dirty="0"/>
                  <a:t>This function is commonly used as a filtering function, for example, to extract a specific term from a sum.</a:t>
                </a:r>
              </a:p>
              <a:p>
                <a:pPr algn="just"/>
                <a:endParaRPr lang="en-ZA" b="0" dirty="0"/>
              </a:p>
              <a:p>
                <a:pPr algn="just"/>
                <a:r>
                  <a:rPr lang="en-ZA" b="0" dirty="0"/>
                  <a:t>The function is named after the German mathematician Leopold Kronecker.</a:t>
                </a:r>
              </a:p>
              <a:p>
                <a:pPr algn="just"/>
                <a:endParaRPr lang="en-US" b="0" dirty="0">
                  <a:solidFill>
                    <a:schemeClr val="tx1"/>
                  </a:solidFill>
                </a:endParaRPr>
              </a:p>
            </p:txBody>
          </p:sp>
        </mc:Choice>
        <mc:Fallback xmlns="">
          <p:sp>
            <p:nvSpPr>
              <p:cNvPr id="3" name="Notes Placeholder 2"/>
              <p:cNvSpPr>
                <a:spLocks noGrp="1"/>
              </p:cNvSpPr>
              <p:nvPr>
                <p:ph type="body" idx="1"/>
              </p:nvPr>
            </p:nvSpPr>
            <p:spPr/>
            <p:txBody>
              <a:bodyPr/>
              <a:lstStyle/>
              <a:p>
                <a:pPr algn="just"/>
                <a:r>
                  <a:rPr lang="en-US" dirty="0">
                    <a:solidFill>
                      <a:schemeClr val="tx1"/>
                    </a:solidFill>
                  </a:rPr>
                  <a:t>Kroneker delta  </a:t>
                </a:r>
                <a:r>
                  <a:rPr lang="en-US" dirty="0" err="1">
                    <a:solidFill>
                      <a:schemeClr val="tx1"/>
                    </a:solidFill>
                  </a:rPr>
                  <a:t>funkcija</a:t>
                </a:r>
                <a:r>
                  <a:rPr lang="en-US" dirty="0">
                    <a:solidFill>
                      <a:schemeClr val="tx1"/>
                    </a:solidFill>
                  </a:rPr>
                  <a:t> </a:t>
                </a:r>
                <a:r>
                  <a:rPr lang="en-US" dirty="0" err="1">
                    <a:solidFill>
                      <a:schemeClr val="tx1"/>
                    </a:solidFill>
                  </a:rPr>
                  <a:t>je</a:t>
                </a:r>
                <a:r>
                  <a:rPr lang="en-US" dirty="0">
                    <a:solidFill>
                      <a:schemeClr val="tx1"/>
                    </a:solidFill>
                  </a:rPr>
                  <a:t> </a:t>
                </a:r>
                <a:r>
                  <a:rPr lang="en-US" dirty="0" err="1">
                    <a:solidFill>
                      <a:schemeClr val="tx1"/>
                    </a:solidFill>
                  </a:rPr>
                  <a:t>funkcija</a:t>
                </a:r>
                <a:r>
                  <a:rPr lang="en-US" dirty="0">
                    <a:solidFill>
                      <a:schemeClr val="tx1"/>
                    </a:solidFill>
                  </a:rPr>
                  <a:t> </a:t>
                </a:r>
                <a:r>
                  <a:rPr lang="en-US" dirty="0" err="1">
                    <a:solidFill>
                      <a:schemeClr val="tx1"/>
                    </a:solidFill>
                  </a:rPr>
                  <a:t>koja</a:t>
                </a:r>
                <a:r>
                  <a:rPr lang="en-US" dirty="0">
                    <a:solidFill>
                      <a:schemeClr val="tx1"/>
                    </a:solidFill>
                  </a:rPr>
                  <a:t> </a:t>
                </a:r>
                <a:r>
                  <a:rPr lang="en-US" dirty="0" err="1">
                    <a:solidFill>
                      <a:schemeClr val="tx1"/>
                    </a:solidFill>
                  </a:rPr>
                  <a:t>uzima</a:t>
                </a:r>
                <a:r>
                  <a:rPr lang="en-US" dirty="0">
                    <a:solidFill>
                      <a:schemeClr val="tx1"/>
                    </a:solidFill>
                  </a:rPr>
                  <a:t> </a:t>
                </a:r>
                <a:r>
                  <a:rPr lang="en-US" dirty="0" err="1">
                    <a:solidFill>
                      <a:schemeClr val="tx1"/>
                    </a:solidFill>
                  </a:rPr>
                  <a:t>dva</a:t>
                </a:r>
                <a:r>
                  <a:rPr lang="en-US" dirty="0">
                    <a:solidFill>
                      <a:schemeClr val="tx1"/>
                    </a:solidFill>
                  </a:rPr>
                  <a:t> argumenta, ‘</a:t>
                </a:r>
                <a:r>
                  <a:rPr lang="sr-Latn-RS" sz="1200" i="0">
                    <a:solidFill>
                      <a:schemeClr val="tx1"/>
                    </a:solidFill>
                    <a:latin typeface="Cambria Math" panose="02040503050406030204" pitchFamily="18" charset="0"/>
                  </a:rPr>
                  <a:t>𝑗</a:t>
                </a:r>
                <a:r>
                  <a:rPr lang="en-US" dirty="0">
                    <a:solidFill>
                      <a:schemeClr val="tx1"/>
                    </a:solidFill>
                  </a:rPr>
                  <a:t>' </a:t>
                </a:r>
                <a:r>
                  <a:rPr lang="en-US" dirty="0" err="1">
                    <a:solidFill>
                      <a:schemeClr val="tx1"/>
                    </a:solidFill>
                  </a:rPr>
                  <a:t>i</a:t>
                </a:r>
                <a:r>
                  <a:rPr lang="en-US" dirty="0">
                    <a:solidFill>
                      <a:schemeClr val="tx1"/>
                    </a:solidFill>
                  </a:rPr>
                  <a:t> '</a:t>
                </a:r>
                <a:r>
                  <a:rPr lang="sr-Latn-RS" sz="1200" i="0">
                    <a:solidFill>
                      <a:schemeClr val="tx1"/>
                    </a:solidFill>
                    <a:latin typeface="Cambria Math" panose="02040503050406030204" pitchFamily="18" charset="0"/>
                  </a:rPr>
                  <a:t>𝑘</a:t>
                </a:r>
                <a:r>
                  <a:rPr lang="en-US" dirty="0">
                    <a:solidFill>
                      <a:schemeClr val="tx1"/>
                    </a:solidFill>
                  </a:rPr>
                  <a:t>' </a:t>
                </a:r>
                <a:r>
                  <a:rPr lang="en-US" dirty="0" err="1">
                    <a:solidFill>
                      <a:schemeClr val="tx1"/>
                    </a:solidFill>
                  </a:rPr>
                  <a:t>i</a:t>
                </a:r>
                <a:r>
                  <a:rPr lang="en-US" dirty="0">
                    <a:solidFill>
                      <a:schemeClr val="tx1"/>
                    </a:solidFill>
                  </a:rPr>
                  <a:t> </a:t>
                </a:r>
                <a:r>
                  <a:rPr lang="en-US" dirty="0" err="1">
                    <a:solidFill>
                      <a:schemeClr val="tx1"/>
                    </a:solidFill>
                  </a:rPr>
                  <a:t>vraća</a:t>
                </a:r>
                <a:r>
                  <a:rPr lang="en-US" dirty="0">
                    <a:solidFill>
                      <a:schemeClr val="tx1"/>
                    </a:solidFill>
                  </a:rPr>
                  <a:t> </a:t>
                </a:r>
                <a:r>
                  <a:rPr lang="en-US" dirty="0" err="1">
                    <a:solidFill>
                      <a:schemeClr val="tx1"/>
                    </a:solidFill>
                  </a:rPr>
                  <a:t>konstantu</a:t>
                </a:r>
                <a:r>
                  <a:rPr lang="en-US" dirty="0">
                    <a:solidFill>
                      <a:schemeClr val="tx1"/>
                    </a:solidFill>
                  </a:rPr>
                  <a:t> 1 </a:t>
                </a:r>
                <a:r>
                  <a:rPr lang="en-US" dirty="0" err="1">
                    <a:solidFill>
                      <a:schemeClr val="tx1"/>
                    </a:solidFill>
                  </a:rPr>
                  <a:t>ako</a:t>
                </a:r>
                <a:r>
                  <a:rPr lang="en-US" dirty="0">
                    <a:solidFill>
                      <a:schemeClr val="tx1"/>
                    </a:solidFill>
                  </a:rPr>
                  <a:t> </a:t>
                </a:r>
                <a:r>
                  <a:rPr lang="en-US" dirty="0" err="1">
                    <a:solidFill>
                      <a:schemeClr val="tx1"/>
                    </a:solidFill>
                  </a:rPr>
                  <a:t>su</a:t>
                </a:r>
                <a:r>
                  <a:rPr lang="en-US" dirty="0">
                    <a:solidFill>
                      <a:schemeClr val="tx1"/>
                    </a:solidFill>
                  </a:rPr>
                  <a:t> </a:t>
                </a:r>
                <a:r>
                  <a:rPr lang="en-US" dirty="0" err="1">
                    <a:solidFill>
                      <a:schemeClr val="tx1"/>
                    </a:solidFill>
                  </a:rPr>
                  <a:t>argumenti</a:t>
                </a:r>
                <a:r>
                  <a:rPr lang="en-US" dirty="0">
                    <a:solidFill>
                      <a:schemeClr val="tx1"/>
                    </a:solidFill>
                  </a:rPr>
                  <a:t> </a:t>
                </a:r>
                <a:r>
                  <a:rPr lang="en-US" dirty="0" err="1">
                    <a:solidFill>
                      <a:schemeClr val="tx1"/>
                    </a:solidFill>
                  </a:rPr>
                  <a:t>jednaki</a:t>
                </a:r>
                <a:r>
                  <a:rPr lang="en-US" dirty="0">
                    <a:solidFill>
                      <a:schemeClr val="tx1"/>
                    </a:solidFill>
                  </a:rPr>
                  <a:t>, a 0 </a:t>
                </a:r>
                <a:r>
                  <a:rPr lang="en-US" dirty="0" err="1">
                    <a:solidFill>
                      <a:schemeClr val="tx1"/>
                    </a:solidFill>
                  </a:rPr>
                  <a:t>ako</a:t>
                </a:r>
                <a:r>
                  <a:rPr lang="en-US" dirty="0">
                    <a:solidFill>
                      <a:schemeClr val="tx1"/>
                    </a:solidFill>
                  </a:rPr>
                  <a:t> </a:t>
                </a:r>
                <a:r>
                  <a:rPr lang="en-US" dirty="0" err="1">
                    <a:solidFill>
                      <a:schemeClr val="tx1"/>
                    </a:solidFill>
                  </a:rPr>
                  <a:t>nisu</a:t>
                </a:r>
                <a:r>
                  <a:rPr lang="en-US" dirty="0">
                    <a:solidFill>
                      <a:schemeClr val="tx1"/>
                    </a:solidFill>
                  </a:rPr>
                  <a:t> </a:t>
                </a:r>
                <a:r>
                  <a:rPr lang="en-US" dirty="0" err="1">
                    <a:solidFill>
                      <a:schemeClr val="tx1"/>
                    </a:solidFill>
                  </a:rPr>
                  <a:t>jednaki</a:t>
                </a:r>
                <a:r>
                  <a:rPr lang="en-US" dirty="0">
                    <a:solidFill>
                      <a:schemeClr val="tx1"/>
                    </a:solidFill>
                  </a:rPr>
                  <a:t>. Ova se </a:t>
                </a:r>
                <a:r>
                  <a:rPr lang="en-US" dirty="0" err="1">
                    <a:solidFill>
                      <a:schemeClr val="tx1"/>
                    </a:solidFill>
                  </a:rPr>
                  <a:t>funkcija</a:t>
                </a:r>
                <a:r>
                  <a:rPr lang="en-US" dirty="0">
                    <a:solidFill>
                      <a:schemeClr val="tx1"/>
                    </a:solidFill>
                  </a:rPr>
                  <a:t> </a:t>
                </a:r>
                <a:r>
                  <a:rPr lang="en-US" dirty="0" err="1">
                    <a:solidFill>
                      <a:schemeClr val="tx1"/>
                    </a:solidFill>
                  </a:rPr>
                  <a:t>često</a:t>
                </a:r>
                <a:r>
                  <a:rPr lang="en-US" dirty="0">
                    <a:solidFill>
                      <a:schemeClr val="tx1"/>
                    </a:solidFill>
                  </a:rPr>
                  <a:t> </a:t>
                </a:r>
                <a:r>
                  <a:rPr lang="en-US" dirty="0" err="1">
                    <a:solidFill>
                      <a:schemeClr val="tx1"/>
                    </a:solidFill>
                  </a:rPr>
                  <a:t>koristi</a:t>
                </a:r>
                <a:r>
                  <a:rPr lang="en-US" dirty="0">
                    <a:solidFill>
                      <a:schemeClr val="tx1"/>
                    </a:solidFill>
                  </a:rPr>
                  <a:t> </a:t>
                </a:r>
                <a:r>
                  <a:rPr lang="en-US" dirty="0" err="1">
                    <a:solidFill>
                      <a:schemeClr val="tx1"/>
                    </a:solidFill>
                  </a:rPr>
                  <a:t>kao</a:t>
                </a:r>
                <a:r>
                  <a:rPr lang="en-US" dirty="0">
                    <a:solidFill>
                      <a:schemeClr val="tx1"/>
                    </a:solidFill>
                  </a:rPr>
                  <a:t> </a:t>
                </a:r>
                <a:r>
                  <a:rPr lang="en-US" dirty="0" err="1">
                    <a:solidFill>
                      <a:schemeClr val="tx1"/>
                    </a:solidFill>
                  </a:rPr>
                  <a:t>funkcija</a:t>
                </a:r>
                <a:r>
                  <a:rPr lang="en-US" dirty="0">
                    <a:solidFill>
                      <a:schemeClr val="tx1"/>
                    </a:solidFill>
                  </a:rPr>
                  <a:t> </a:t>
                </a:r>
                <a:r>
                  <a:rPr lang="en-US" dirty="0" err="1">
                    <a:solidFill>
                      <a:schemeClr val="tx1"/>
                    </a:solidFill>
                  </a:rPr>
                  <a:t>prosejavanja</a:t>
                </a:r>
                <a:r>
                  <a:rPr lang="en-US" dirty="0">
                    <a:solidFill>
                      <a:schemeClr val="tx1"/>
                    </a:solidFill>
                  </a:rPr>
                  <a:t>. Na primer </a:t>
                </a:r>
                <a:r>
                  <a:rPr lang="en-US" dirty="0" err="1">
                    <a:solidFill>
                      <a:schemeClr val="tx1"/>
                    </a:solidFill>
                  </a:rPr>
                  <a:t>izdvajanje</a:t>
                </a:r>
                <a:r>
                  <a:rPr lang="en-US" dirty="0">
                    <a:solidFill>
                      <a:schemeClr val="tx1"/>
                    </a:solidFill>
                  </a:rPr>
                  <a:t> </a:t>
                </a:r>
                <a:r>
                  <a:rPr lang="en-US" dirty="0" err="1">
                    <a:solidFill>
                      <a:schemeClr val="tx1"/>
                    </a:solidFill>
                  </a:rPr>
                  <a:t>broja</a:t>
                </a:r>
                <a:r>
                  <a:rPr lang="en-US" dirty="0">
                    <a:solidFill>
                      <a:schemeClr val="tx1"/>
                    </a:solidFill>
                  </a:rPr>
                  <a:t> </a:t>
                </a:r>
                <a:r>
                  <a:rPr lang="en-US" dirty="0" err="1">
                    <a:solidFill>
                      <a:schemeClr val="tx1"/>
                    </a:solidFill>
                  </a:rPr>
                  <a:t>sa</a:t>
                </a:r>
                <a:r>
                  <a:rPr lang="en-US" dirty="0">
                    <a:solidFill>
                      <a:schemeClr val="tx1"/>
                    </a:solidFill>
                  </a:rPr>
                  <a:t> </a:t>
                </a:r>
                <a:r>
                  <a:rPr lang="en-US" dirty="0" err="1">
                    <a:solidFill>
                      <a:schemeClr val="tx1"/>
                    </a:solidFill>
                  </a:rPr>
                  <a:t>određenim</a:t>
                </a:r>
                <a:r>
                  <a:rPr lang="en-US" dirty="0">
                    <a:solidFill>
                      <a:schemeClr val="tx1"/>
                    </a:solidFill>
                  </a:rPr>
                  <a:t> </a:t>
                </a:r>
                <a:r>
                  <a:rPr lang="en-US" dirty="0" err="1">
                    <a:solidFill>
                      <a:schemeClr val="tx1"/>
                    </a:solidFill>
                  </a:rPr>
                  <a:t>indeksom</a:t>
                </a:r>
                <a:r>
                  <a:rPr lang="en-US" dirty="0">
                    <a:solidFill>
                      <a:schemeClr val="tx1"/>
                    </a:solidFill>
                  </a:rPr>
                  <a:t> </a:t>
                </a:r>
                <a:r>
                  <a:rPr lang="en-US" dirty="0" err="1">
                    <a:solidFill>
                      <a:schemeClr val="tx1"/>
                    </a:solidFill>
                  </a:rPr>
                  <a:t>iz</a:t>
                </a:r>
                <a:r>
                  <a:rPr lang="en-US" dirty="0">
                    <a:solidFill>
                      <a:schemeClr val="tx1"/>
                    </a:solidFill>
                  </a:rPr>
                  <a:t> </a:t>
                </a:r>
                <a:r>
                  <a:rPr lang="en-US" dirty="0" err="1">
                    <a:solidFill>
                      <a:schemeClr val="tx1"/>
                    </a:solidFill>
                  </a:rPr>
                  <a:t>sume</a:t>
                </a:r>
                <a:r>
                  <a:rPr lang="en-US" dirty="0">
                    <a:solidFill>
                      <a:schemeClr val="tx1"/>
                    </a:solidFill>
                  </a:rPr>
                  <a:t>. </a:t>
                </a:r>
                <a:r>
                  <a:rPr lang="en-US" dirty="0" err="1">
                    <a:solidFill>
                      <a:schemeClr val="tx1"/>
                    </a:solidFill>
                  </a:rPr>
                  <a:t>Funkcija</a:t>
                </a:r>
                <a:r>
                  <a:rPr lang="en-US" dirty="0">
                    <a:solidFill>
                      <a:schemeClr val="tx1"/>
                    </a:solidFill>
                  </a:rPr>
                  <a:t> </a:t>
                </a:r>
                <a:r>
                  <a:rPr lang="en-US" dirty="0" err="1">
                    <a:solidFill>
                      <a:schemeClr val="tx1"/>
                    </a:solidFill>
                  </a:rPr>
                  <a:t>je</a:t>
                </a:r>
                <a:r>
                  <a:rPr lang="en-US" dirty="0">
                    <a:solidFill>
                      <a:schemeClr val="tx1"/>
                    </a:solidFill>
                  </a:rPr>
                  <a:t> </a:t>
                </a:r>
                <a:r>
                  <a:rPr lang="en-US" dirty="0" err="1">
                    <a:solidFill>
                      <a:schemeClr val="tx1"/>
                    </a:solidFill>
                  </a:rPr>
                  <a:t>nazvana</a:t>
                </a:r>
                <a:r>
                  <a:rPr lang="en-US" dirty="0">
                    <a:solidFill>
                      <a:schemeClr val="tx1"/>
                    </a:solidFill>
                  </a:rPr>
                  <a:t> </a:t>
                </a:r>
                <a:r>
                  <a:rPr lang="en-US" dirty="0" err="1">
                    <a:solidFill>
                      <a:schemeClr val="tx1"/>
                    </a:solidFill>
                  </a:rPr>
                  <a:t>po</a:t>
                </a:r>
                <a:r>
                  <a:rPr lang="en-US" dirty="0">
                    <a:solidFill>
                      <a:schemeClr val="tx1"/>
                    </a:solidFill>
                  </a:rPr>
                  <a:t> </a:t>
                </a:r>
                <a:r>
                  <a:rPr lang="en-US" dirty="0" err="1">
                    <a:solidFill>
                      <a:schemeClr val="tx1"/>
                    </a:solidFill>
                  </a:rPr>
                  <a:t>nemačkom</a:t>
                </a:r>
                <a:r>
                  <a:rPr lang="en-US" dirty="0">
                    <a:solidFill>
                      <a:schemeClr val="tx1"/>
                    </a:solidFill>
                  </a:rPr>
                  <a:t> </a:t>
                </a:r>
                <a:r>
                  <a:rPr lang="en-US" dirty="0" err="1">
                    <a:solidFill>
                      <a:schemeClr val="tx1"/>
                    </a:solidFill>
                  </a:rPr>
                  <a:t>matematičaru</a:t>
                </a:r>
                <a:r>
                  <a:rPr lang="en-US" dirty="0">
                    <a:solidFill>
                      <a:schemeClr val="tx1"/>
                    </a:solidFill>
                  </a:rPr>
                  <a:t> </a:t>
                </a:r>
                <a:r>
                  <a:rPr lang="en-US" dirty="0" err="1">
                    <a:solidFill>
                      <a:schemeClr val="tx1"/>
                    </a:solidFill>
                  </a:rPr>
                  <a:t>Leopoldu</a:t>
                </a:r>
                <a:r>
                  <a:rPr lang="en-US" dirty="0">
                    <a:solidFill>
                      <a:schemeClr val="tx1"/>
                    </a:solidFill>
                  </a:rPr>
                  <a:t> </a:t>
                </a:r>
                <a:r>
                  <a:rPr lang="en-US" dirty="0" err="1">
                    <a:solidFill>
                      <a:schemeClr val="tx1"/>
                    </a:solidFill>
                  </a:rPr>
                  <a:t>Kronekeru</a:t>
                </a:r>
                <a:r>
                  <a:rPr lang="en-US" dirty="0">
                    <a:solidFill>
                      <a:schemeClr val="tx1"/>
                    </a:solidFill>
                  </a:rPr>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8</a:t>
            </a:fld>
            <a:endParaRPr lang="en-US"/>
          </a:p>
        </p:txBody>
      </p:sp>
    </p:spTree>
    <p:extLst>
      <p:ext uri="{BB962C8B-B14F-4D97-AF65-F5344CB8AC3E}">
        <p14:creationId xmlns:p14="http://schemas.microsoft.com/office/powerpoint/2010/main" val="19280682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In linear algebra for quantum computing, complex numbers play a key role. They were introduced into quantum mechanics by Schrödinger and Heisenberg in the 1920s.</a:t>
            </a:r>
          </a:p>
          <a:p>
            <a:pPr algn="just"/>
            <a:endParaRPr lang="en-ZA" b="0" dirty="0"/>
          </a:p>
          <a:p>
            <a:pPr algn="just"/>
            <a:r>
              <a:rPr lang="en-ZA" b="0" dirty="0"/>
              <a:t>In the 1960s, there was a proposal to replace complex numbers with real numbers in quantum mechanics, but this idea did not gain widespread acceptance.</a:t>
            </a:r>
          </a:p>
        </p:txBody>
      </p:sp>
      <p:sp>
        <p:nvSpPr>
          <p:cNvPr id="4" name="Slide Number Placeholder 3"/>
          <p:cNvSpPr>
            <a:spLocks noGrp="1"/>
          </p:cNvSpPr>
          <p:nvPr>
            <p:ph type="sldNum" sz="quarter" idx="5"/>
          </p:nvPr>
        </p:nvSpPr>
        <p:spPr/>
        <p:txBody>
          <a:bodyPr/>
          <a:lstStyle/>
          <a:p>
            <a:fld id="{1B2CE5E3-B8BD-D040-AC87-D640191DD8F1}" type="slidenum">
              <a:rPr lang="en-US" smtClean="0"/>
              <a:t>9</a:t>
            </a:fld>
            <a:endParaRPr lang="en-US"/>
          </a:p>
        </p:txBody>
      </p:sp>
    </p:spTree>
    <p:extLst>
      <p:ext uri="{BB962C8B-B14F-4D97-AF65-F5344CB8AC3E}">
        <p14:creationId xmlns:p14="http://schemas.microsoft.com/office/powerpoint/2010/main" val="988643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lgn="just">
                  <a:buFont typeface="Arial" panose="020B0604020202020204" pitchFamily="34" charset="0"/>
                  <a:buChar char="•"/>
                </a:pPr>
                <a:r>
                  <a:rPr lang="en-ZA" b="0" dirty="0"/>
                  <a:t>A complex number is an ordered pair of real numbers, for example, </a:t>
                </a:r>
                <a14:m>
                  <m:oMath xmlns:m="http://schemas.openxmlformats.org/officeDocument/2006/math">
                    <m:r>
                      <a:rPr lang="en-US" sz="1200" i="1" smtClean="0">
                        <a:latin typeface="Cambria Math" panose="02040503050406030204" pitchFamily="18" charset="0"/>
                      </a:rPr>
                      <m:t>𝑥</m:t>
                    </m:r>
                  </m:oMath>
                </a14:m>
                <a:r>
                  <a:rPr lang="en-ZA" b="0" dirty="0"/>
                  <a:t> and </a:t>
                </a:r>
                <a14:m>
                  <m:oMath xmlns:m="http://schemas.openxmlformats.org/officeDocument/2006/math">
                    <m:r>
                      <a:rPr lang="en-US" sz="1200" b="0" i="1" smtClean="0">
                        <a:latin typeface="Cambria Math" panose="02040503050406030204" pitchFamily="18" charset="0"/>
                      </a:rPr>
                      <m:t>𝑦</m:t>
                    </m:r>
                  </m:oMath>
                </a14:m>
                <a:r>
                  <a:rPr lang="en-ZA" b="0" dirty="0"/>
                  <a:t>, written in algebraic form as: </a:t>
                </a:r>
                <a14:m>
                  <m:oMath xmlns:m="http://schemas.openxmlformats.org/officeDocument/2006/math">
                    <m:r>
                      <a:rPr lang="en-US" sz="1200" i="1" smtClean="0">
                        <a:latin typeface="Cambria Math" panose="02040503050406030204" pitchFamily="18" charset="0"/>
                      </a:rPr>
                      <m:t>𝑧</m:t>
                    </m:r>
                    <m:r>
                      <a:rPr lang="en-US" sz="1200" i="1" smtClean="0">
                        <a:latin typeface="Cambria Math" panose="02040503050406030204" pitchFamily="18" charset="0"/>
                      </a:rPr>
                      <m:t>=</m:t>
                    </m:r>
                    <m:r>
                      <a:rPr lang="en-US" sz="1200" i="1" smtClean="0">
                        <a:latin typeface="Cambria Math" panose="02040503050406030204" pitchFamily="18" charset="0"/>
                      </a:rPr>
                      <m:t>𝑥</m:t>
                    </m:r>
                    <m:r>
                      <a:rPr lang="en-US" sz="1200" i="1" smtClean="0">
                        <a:latin typeface="Cambria Math" panose="02040503050406030204" pitchFamily="18" charset="0"/>
                      </a:rPr>
                      <m:t>+</m:t>
                    </m:r>
                    <m:r>
                      <a:rPr lang="en-US" sz="1200" i="1" smtClean="0">
                        <a:latin typeface="Cambria Math" panose="02040503050406030204" pitchFamily="18" charset="0"/>
                      </a:rPr>
                      <m:t>𝑖𝑦</m:t>
                    </m:r>
                  </m:oMath>
                </a14:m>
                <a:r>
                  <a:rPr lang="en-ZA" b="0" dirty="0"/>
                  <a:t>.</a:t>
                </a:r>
                <a:r>
                  <a:rPr lang="en-ZA" b="0" baseline="0" dirty="0"/>
                  <a:t> </a:t>
                </a:r>
                <a:r>
                  <a:rPr lang="en-ZA" b="0" dirty="0"/>
                  <a:t>The set of all complex numbers is denoted by the double-struck letter </a:t>
                </a:r>
                <a14:m>
                  <m:oMath xmlns:m="http://schemas.openxmlformats.org/officeDocument/2006/math">
                    <m:r>
                      <a:rPr lang="en-US" sz="1200" b="0" i="1" smtClean="0">
                        <a:latin typeface="Cambria Math" panose="02040503050406030204" pitchFamily="18" charset="0"/>
                        <a:ea typeface="Cambria Math" panose="02040503050406030204" pitchFamily="18" charset="0"/>
                      </a:rPr>
                      <m:t>ℂ</m:t>
                    </m:r>
                  </m:oMath>
                </a14:m>
                <a:r>
                  <a:rPr lang="en-ZA" b="0" dirty="0"/>
                  <a:t>.</a:t>
                </a:r>
              </a:p>
              <a:p>
                <a:pPr algn="just"/>
                <a:endParaRPr lang="en-ZA" b="0" dirty="0"/>
              </a:p>
              <a:p>
                <a:pPr marL="628650" lvl="1" indent="-171450" algn="just">
                  <a:buFont typeface="Arial" panose="020B0604020202020204" pitchFamily="34" charset="0"/>
                  <a:buChar char="•"/>
                </a:pPr>
                <a:r>
                  <a:rPr lang="en-ZA" b="0" dirty="0"/>
                  <a:t>    </a:t>
                </a:r>
                <a14:m>
                  <m:oMath xmlns:m="http://schemas.openxmlformats.org/officeDocument/2006/math">
                    <m:r>
                      <a:rPr lang="en-US" sz="1200" i="1" smtClean="0">
                        <a:latin typeface="Cambria Math" panose="02040503050406030204" pitchFamily="18" charset="0"/>
                      </a:rPr>
                      <m:t>𝑥</m:t>
                    </m:r>
                  </m:oMath>
                </a14:m>
                <a:r>
                  <a:rPr lang="en-ZA" b="0" dirty="0"/>
                  <a:t> is the real part, and </a:t>
                </a:r>
                <a14:m>
                  <m:oMath xmlns:m="http://schemas.openxmlformats.org/officeDocument/2006/math">
                    <m:r>
                      <a:rPr lang="en-US" sz="1200" b="0" i="1" smtClean="0">
                        <a:latin typeface="Cambria Math" panose="02040503050406030204" pitchFamily="18" charset="0"/>
                      </a:rPr>
                      <m:t>𝑦</m:t>
                    </m:r>
                  </m:oMath>
                </a14:m>
                <a:r>
                  <a:rPr lang="en-ZA" b="0" dirty="0"/>
                  <a:t> is the imaginary part of the complex number </a:t>
                </a:r>
                <a14:m>
                  <m:oMath xmlns:m="http://schemas.openxmlformats.org/officeDocument/2006/math">
                    <m:r>
                      <a:rPr lang="en-US" sz="1200" b="0" i="1" smtClean="0">
                        <a:latin typeface="Cambria Math" panose="02040503050406030204" pitchFamily="18" charset="0"/>
                      </a:rPr>
                      <m:t>𝑧</m:t>
                    </m:r>
                  </m:oMath>
                </a14:m>
                <a:r>
                  <a:rPr lang="en-ZA" b="0" dirty="0"/>
                  <a:t>.</a:t>
                </a:r>
              </a:p>
              <a:p>
                <a:pPr marL="628650" lvl="1" indent="-171450" algn="just">
                  <a:buFont typeface="Arial" panose="020B0604020202020204" pitchFamily="34" charset="0"/>
                  <a:buChar char="•"/>
                </a:pPr>
                <a:r>
                  <a:rPr lang="en-ZA" b="0" dirty="0"/>
                  <a:t>    </a:t>
                </a:r>
                <a14:m>
                  <m:oMath xmlns:m="http://schemas.openxmlformats.org/officeDocument/2006/math">
                    <m:r>
                      <a:rPr lang="en-US" sz="1200" b="0" i="1" smtClean="0">
                        <a:latin typeface="Cambria Math" panose="02040503050406030204" pitchFamily="18" charset="0"/>
                      </a:rPr>
                      <m:t>𝑖</m:t>
                    </m:r>
                  </m:oMath>
                </a14:m>
                <a:r>
                  <a:rPr lang="en-ZA" b="0" dirty="0"/>
                  <a:t> is the imaginary unit, defined as</a:t>
                </a:r>
                <a:r>
                  <a:rPr lang="en-ZA" b="0" baseline="0" dirty="0"/>
                  <a:t> </a:t>
                </a:r>
                <a14:m>
                  <m:oMath xmlns:m="http://schemas.openxmlformats.org/officeDocument/2006/math">
                    <m:r>
                      <a:rPr lang="en-US" sz="1200" b="0" i="1" smtClean="0">
                        <a:latin typeface="Cambria Math" panose="02040503050406030204" pitchFamily="18" charset="0"/>
                      </a:rPr>
                      <m:t>𝑖</m:t>
                    </m:r>
                    <m:r>
                      <a:rPr lang="en-US" sz="1200" b="0" i="1" smtClean="0">
                        <a:latin typeface="Cambria Math" panose="02040503050406030204" pitchFamily="18" charset="0"/>
                      </a:rPr>
                      <m:t>=</m:t>
                    </m:r>
                    <m:rad>
                      <m:radPr>
                        <m:degHide m:val="on"/>
                        <m:ctrlPr>
                          <a:rPr lang="en-US" sz="1200" i="1" smtClean="0">
                            <a:latin typeface="Cambria Math" panose="02040503050406030204" pitchFamily="18" charset="0"/>
                          </a:rPr>
                        </m:ctrlPr>
                      </m:radPr>
                      <m:deg/>
                      <m:e>
                        <m:r>
                          <a:rPr lang="en-US" sz="1200" i="1">
                            <a:latin typeface="Cambria Math" panose="02040503050406030204" pitchFamily="18" charset="0"/>
                          </a:rPr>
                          <m:t>−1</m:t>
                        </m:r>
                      </m:e>
                    </m:rad>
                  </m:oMath>
                </a14:m>
                <a:r>
                  <a:rPr lang="en-ZA" b="0" dirty="0"/>
                  <a:t>.    ​</a:t>
                </a:r>
              </a:p>
              <a:p>
                <a:pPr algn="just"/>
                <a:endParaRPr lang="en-ZA" b="0" dirty="0"/>
              </a:p>
              <a:p>
                <a:pPr marL="171450" indent="-171450" algn="just">
                  <a:buFont typeface="Arial" panose="020B0604020202020204" pitchFamily="34" charset="0"/>
                  <a:buChar char="•"/>
                </a:pPr>
                <a:r>
                  <a:rPr lang="en-ZA" b="0" dirty="0"/>
                  <a:t>The complex conjugate of a number flips the sign of its imaginary part. We denote it by a star superscript, for example </a:t>
                </a:r>
                <a14:m>
                  <m:oMath xmlns:m="http://schemas.openxmlformats.org/officeDocument/2006/math">
                    <m:sSup>
                      <m:sSupPr>
                        <m:ctrlPr>
                          <a:rPr lang="en-US" sz="1200" i="1" smtClean="0">
                            <a:latin typeface="Cambria Math" panose="02040503050406030204" pitchFamily="18" charset="0"/>
                          </a:rPr>
                        </m:ctrlPr>
                      </m:sSupPr>
                      <m:e>
                        <m:r>
                          <a:rPr lang="en-US" sz="1200" b="0" i="1">
                            <a:latin typeface="Cambria Math" panose="02040503050406030204" pitchFamily="18" charset="0"/>
                          </a:rPr>
                          <m:t>𝑧</m:t>
                        </m:r>
                      </m:e>
                      <m:sup>
                        <m:r>
                          <a:rPr lang="en-US" sz="1200" b="0" i="1">
                            <a:latin typeface="Cambria Math" panose="02040503050406030204" pitchFamily="18" charset="0"/>
                          </a:rPr>
                          <m:t>∗</m:t>
                        </m:r>
                      </m:sup>
                    </m:sSup>
                  </m:oMath>
                </a14:m>
                <a:r>
                  <a:rPr lang="en-ZA" b="0" dirty="0"/>
                  <a:t>.</a:t>
                </a:r>
              </a:p>
              <a:p>
                <a:pPr algn="just"/>
                <a:endParaRPr lang="en-ZA" b="0" dirty="0"/>
              </a:p>
              <a:p>
                <a:pPr marL="171450" indent="-171450" algn="just">
                  <a:buFont typeface="Arial" panose="020B0604020202020204" pitchFamily="34" charset="0"/>
                  <a:buChar char="•"/>
                </a:pPr>
                <a:r>
                  <a:rPr lang="en-ZA" b="0" dirty="0"/>
                  <a:t>The absolute value (or modulus) of a complex number is the square root of the sum of its real part squared and imaginary part squared.</a:t>
                </a:r>
              </a:p>
              <a:p>
                <a:pPr algn="just"/>
                <a:endParaRPr lang="en-ZA" b="0" dirty="0"/>
              </a:p>
              <a:p>
                <a:pPr marL="171450" indent="-171450" algn="just">
                  <a:buFont typeface="Arial" panose="020B0604020202020204" pitchFamily="34" charset="0"/>
                  <a:buChar char="•"/>
                </a:pPr>
                <a:r>
                  <a:rPr lang="en-ZA" b="0" dirty="0"/>
                  <a:t>A complex number can be visually represented as a point in the complex plane, with coordinates </a:t>
                </a:r>
                <a14:m>
                  <m:oMath xmlns:m="http://schemas.openxmlformats.org/officeDocument/2006/math">
                    <m:r>
                      <a:rPr lang="en-US" sz="1200" i="1" smtClean="0">
                        <a:latin typeface="Cambria Math" panose="02040503050406030204" pitchFamily="18" charset="0"/>
                      </a:rPr>
                      <m:t>𝑥</m:t>
                    </m:r>
                  </m:oMath>
                </a14:m>
                <a:r>
                  <a:rPr lang="en-ZA" b="0" dirty="0"/>
                  <a:t> and </a:t>
                </a:r>
                <a14:m>
                  <m:oMath xmlns:m="http://schemas.openxmlformats.org/officeDocument/2006/math">
                    <m:r>
                      <a:rPr lang="en-US" sz="1200" b="0" i="1" smtClean="0">
                        <a:latin typeface="Cambria Math" panose="02040503050406030204" pitchFamily="18" charset="0"/>
                      </a:rPr>
                      <m:t>𝑦</m:t>
                    </m:r>
                  </m:oMath>
                </a14:m>
                <a:r>
                  <a:rPr lang="en-ZA" b="0" dirty="0"/>
                  <a:t>:</a:t>
                </a:r>
              </a:p>
              <a:p>
                <a:pPr marL="628650" lvl="1" indent="-171450" algn="just">
                  <a:buFont typeface="Arial" panose="020B0604020202020204" pitchFamily="34" charset="0"/>
                  <a:buChar char="•"/>
                </a:pPr>
                <a14:m>
                  <m:oMath xmlns:m="http://schemas.openxmlformats.org/officeDocument/2006/math">
                    <m:r>
                      <a:rPr lang="en-US" sz="1200" i="1" smtClean="0">
                        <a:latin typeface="Cambria Math" panose="02040503050406030204" pitchFamily="18" charset="0"/>
                      </a:rPr>
                      <m:t>𝑥</m:t>
                    </m:r>
                  </m:oMath>
                </a14:m>
                <a:r>
                  <a:rPr lang="en-ZA" b="0" dirty="0"/>
                  <a:t> lies on the horizontal (real) axis.</a:t>
                </a:r>
              </a:p>
              <a:p>
                <a:pPr marL="628650" lvl="1" indent="-171450" algn="just">
                  <a:buFont typeface="Arial" panose="020B0604020202020204" pitchFamily="34" charset="0"/>
                  <a:buChar char="•"/>
                </a:pPr>
                <a14:m>
                  <m:oMath xmlns:m="http://schemas.openxmlformats.org/officeDocument/2006/math">
                    <m:r>
                      <a:rPr lang="en-US" sz="1200" b="0" i="1" smtClean="0">
                        <a:latin typeface="Cambria Math" panose="02040503050406030204" pitchFamily="18" charset="0"/>
                      </a:rPr>
                      <m:t>𝑦</m:t>
                    </m:r>
                  </m:oMath>
                </a14:m>
                <a:r>
                  <a:rPr lang="en-ZA" b="0" dirty="0"/>
                  <a:t> lies on the vertical (imaginary) axis.</a:t>
                </a:r>
              </a:p>
              <a:p>
                <a:pPr algn="just"/>
                <a:endParaRPr lang="en-ZA" b="0" dirty="0"/>
              </a:p>
              <a:p>
                <a:pPr lvl="1" algn="just"/>
                <a:r>
                  <a:rPr lang="en-ZA" b="0" dirty="0"/>
                  <a:t>This point is connected to a vector, called the radius vector of the complex number. The length of this vector equals the modulus of the complex number.</a:t>
                </a:r>
              </a:p>
              <a:p>
                <a:pPr lvl="1" algn="just"/>
                <a:endParaRPr lang="en-ZA" b="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i="0" dirty="0"/>
                  <a:t>Here is a simple example of a complex number: </a:t>
                </a:r>
                <a14:m>
                  <m:oMath xmlns:m="http://schemas.openxmlformats.org/officeDocument/2006/math">
                    <m:r>
                      <m:rPr>
                        <m:sty m:val="p"/>
                      </m:rPr>
                      <a:rPr lang="en-US" sz="1200" i="0" smtClean="0">
                        <a:latin typeface="Cambria Math" panose="02040503050406030204" pitchFamily="18" charset="0"/>
                      </a:rPr>
                      <m:t>z</m:t>
                    </m:r>
                    <m:r>
                      <a:rPr lang="en-US" sz="1200" i="0" smtClean="0">
                        <a:latin typeface="Cambria Math" panose="02040503050406030204" pitchFamily="18" charset="0"/>
                      </a:rPr>
                      <m:t>=0.3+</m:t>
                    </m:r>
                    <m:r>
                      <m:rPr>
                        <m:sty m:val="p"/>
                      </m:rPr>
                      <a:rPr lang="en-US" sz="1200" b="0" i="0" smtClean="0">
                        <a:latin typeface="Cambria Math" panose="02040503050406030204" pitchFamily="18" charset="0"/>
                      </a:rPr>
                      <m:t>i</m:t>
                    </m:r>
                    <m:r>
                      <a:rPr lang="en-US" sz="1200" b="0" i="0" smtClean="0">
                        <a:latin typeface="Cambria Math" panose="02040503050406030204" pitchFamily="18" charset="0"/>
                      </a:rPr>
                      <m:t> 0.2</m:t>
                    </m:r>
                  </m:oMath>
                </a14:m>
                <a:r>
                  <a:rPr lang="en-ZA" sz="1200" b="0" i="0" dirty="0">
                    <a:latin typeface="Cambria Math" panose="02040503050406030204" pitchFamily="18" charset="0"/>
                  </a:rPr>
                  <a:t>, its conjugate </a:t>
                </a:r>
                <a14:m>
                  <m:oMath xmlns:m="http://schemas.openxmlformats.org/officeDocument/2006/math">
                    <m:sSup>
                      <m:sSupPr>
                        <m:ctrlPr>
                          <a:rPr lang="en-US" sz="1200" i="1" smtClean="0">
                            <a:latin typeface="Cambria Math" panose="02040503050406030204" pitchFamily="18" charset="0"/>
                          </a:rPr>
                        </m:ctrlPr>
                      </m:sSupPr>
                      <m:e>
                        <m:r>
                          <m:rPr>
                            <m:sty m:val="p"/>
                          </m:rPr>
                          <a:rPr lang="en-US" sz="1200" i="0">
                            <a:latin typeface="Cambria Math" panose="02040503050406030204" pitchFamily="18" charset="0"/>
                          </a:rPr>
                          <m:t>z</m:t>
                        </m:r>
                      </m:e>
                      <m:sup>
                        <m:r>
                          <a:rPr lang="en-US" sz="1200" i="0">
                            <a:latin typeface="Cambria Math" panose="02040503050406030204" pitchFamily="18" charset="0"/>
                          </a:rPr>
                          <m:t>∗</m:t>
                        </m:r>
                      </m:sup>
                    </m:sSup>
                    <m:r>
                      <a:rPr lang="en-US" sz="1200" b="1" i="0">
                        <a:latin typeface="Cambria Math" panose="02040503050406030204" pitchFamily="18" charset="0"/>
                      </a:rPr>
                      <m:t> </m:t>
                    </m:r>
                    <m:r>
                      <a:rPr lang="en-US" sz="1200" i="0">
                        <a:latin typeface="Cambria Math" panose="02040503050406030204" pitchFamily="18" charset="0"/>
                      </a:rPr>
                      <m:t>=0.3</m:t>
                    </m:r>
                    <m:r>
                      <a:rPr lang="en-US" sz="1200" b="0" i="0" smtClean="0">
                        <a:latin typeface="Cambria Math" panose="02040503050406030204" pitchFamily="18" charset="0"/>
                      </a:rPr>
                      <m:t>−</m:t>
                    </m:r>
                    <m:r>
                      <m:rPr>
                        <m:sty m:val="p"/>
                      </m:rPr>
                      <a:rPr lang="en-US" sz="1200" i="0">
                        <a:latin typeface="Cambria Math" panose="02040503050406030204" pitchFamily="18" charset="0"/>
                      </a:rPr>
                      <m:t>i</m:t>
                    </m:r>
                    <m:r>
                      <a:rPr lang="en-US" sz="1200" i="0">
                        <a:latin typeface="Cambria Math" panose="02040503050406030204" pitchFamily="18" charset="0"/>
                      </a:rPr>
                      <m:t> 0.2</m:t>
                    </m:r>
                  </m:oMath>
                </a14:m>
                <a:r>
                  <a:rPr lang="en-US" sz="1200" b="0" i="0" dirty="0">
                    <a:latin typeface="Cambria Math" panose="02040503050406030204" pitchFamily="18" charset="0"/>
                  </a:rPr>
                  <a:t> and it modulus.</a:t>
                </a:r>
              </a:p>
            </p:txBody>
          </p:sp>
        </mc:Choice>
        <mc:Fallback xmlns="">
          <p:sp>
            <p:nvSpPr>
              <p:cNvPr id="3" name="Notes Placeholder 2"/>
              <p:cNvSpPr>
                <a:spLocks noGrp="1"/>
              </p:cNvSpPr>
              <p:nvPr>
                <p:ph type="body" idx="1"/>
              </p:nvPr>
            </p:nvSpPr>
            <p:spPr/>
            <p:txBody>
              <a:bodyPr/>
              <a:lstStyle/>
              <a:p>
                <a:pPr marL="0" indent="0" algn="just">
                  <a:buFont typeface="Arial" panose="020B0604020202020204" pitchFamily="34" charset="0"/>
                  <a:buNone/>
                </a:pPr>
                <a:r>
                  <a:rPr lang="en-ZA" b="0" dirty="0"/>
                  <a:t>This </a:t>
                </a:r>
                <a:r>
                  <a:rPr lang="en-ZA" b="0" dirty="0" err="1"/>
                  <a:t>MathBox</a:t>
                </a:r>
                <a:r>
                  <a:rPr lang="en-ZA" b="0" dirty="0"/>
                  <a:t> provides a quick refresher on complex numbers.</a:t>
                </a:r>
              </a:p>
              <a:p>
                <a:pPr marL="0" indent="0" algn="just">
                  <a:buFont typeface="Arial" panose="020B0604020202020204" pitchFamily="34" charset="0"/>
                  <a:buNone/>
                </a:pPr>
                <a:endParaRPr lang="en-ZA" b="0" dirty="0"/>
              </a:p>
              <a:p>
                <a:pPr marL="171450" indent="-171450" algn="just">
                  <a:buFont typeface="Arial" panose="020B0604020202020204" pitchFamily="34" charset="0"/>
                  <a:buChar char="•"/>
                </a:pPr>
                <a:r>
                  <a:rPr lang="en-ZA" b="0" dirty="0"/>
                  <a:t>A complex number is an ordered pair of real numbers, for example, </a:t>
                </a:r>
                <a:r>
                  <a:rPr lang="en-US" sz="1200" i="0">
                    <a:latin typeface="Cambria Math" panose="02040503050406030204" pitchFamily="18" charset="0"/>
                  </a:rPr>
                  <a:t>𝑥</a:t>
                </a:r>
                <a:r>
                  <a:rPr lang="en-ZA" b="0" dirty="0"/>
                  <a:t> and </a:t>
                </a:r>
                <a:r>
                  <a:rPr lang="en-US" sz="1200" b="0" i="0">
                    <a:latin typeface="Cambria Math" panose="02040503050406030204" pitchFamily="18" charset="0"/>
                  </a:rPr>
                  <a:t>𝑦</a:t>
                </a:r>
                <a:r>
                  <a:rPr lang="en-ZA" b="0" dirty="0"/>
                  <a:t>, written in algebraic form as: </a:t>
                </a:r>
                <a:r>
                  <a:rPr lang="en-US" sz="1200" i="0">
                    <a:latin typeface="Cambria Math" panose="02040503050406030204" pitchFamily="18" charset="0"/>
                  </a:rPr>
                  <a:t>𝑧=𝑥+𝑖𝑦</a:t>
                </a:r>
                <a:r>
                  <a:rPr lang="en-ZA" b="0" dirty="0"/>
                  <a:t>.</a:t>
                </a:r>
                <a:r>
                  <a:rPr lang="en-ZA" b="0" baseline="0" dirty="0"/>
                  <a:t> </a:t>
                </a:r>
                <a:r>
                  <a:rPr lang="en-ZA" b="0" dirty="0"/>
                  <a:t>The set of all complex numbers is denoted by the double-struck letter </a:t>
                </a:r>
                <a:r>
                  <a:rPr lang="en-US" sz="1200" b="0" i="0">
                    <a:latin typeface="Cambria Math" panose="02040503050406030204" pitchFamily="18" charset="0"/>
                    <a:ea typeface="Cambria Math" panose="02040503050406030204" pitchFamily="18" charset="0"/>
                  </a:rPr>
                  <a:t>ℂ</a:t>
                </a:r>
                <a:r>
                  <a:rPr lang="en-ZA" b="0" dirty="0"/>
                  <a:t>.</a:t>
                </a:r>
              </a:p>
              <a:p>
                <a:pPr algn="just"/>
                <a:endParaRPr lang="en-ZA" b="0" dirty="0"/>
              </a:p>
              <a:p>
                <a:pPr marL="628650" lvl="1" indent="-171450" algn="just">
                  <a:buFont typeface="Arial" panose="020B0604020202020204" pitchFamily="34" charset="0"/>
                  <a:buChar char="•"/>
                </a:pPr>
                <a:r>
                  <a:rPr lang="en-ZA" b="0" dirty="0"/>
                  <a:t>    </a:t>
                </a:r>
                <a:r>
                  <a:rPr lang="en-US" sz="1200" i="0">
                    <a:latin typeface="Cambria Math" panose="02040503050406030204" pitchFamily="18" charset="0"/>
                  </a:rPr>
                  <a:t>𝑥</a:t>
                </a:r>
                <a:r>
                  <a:rPr lang="en-ZA" b="0" dirty="0"/>
                  <a:t> is the real part, and </a:t>
                </a:r>
                <a:r>
                  <a:rPr lang="en-US" sz="1200" b="0" i="0">
                    <a:latin typeface="Cambria Math" panose="02040503050406030204" pitchFamily="18" charset="0"/>
                  </a:rPr>
                  <a:t>𝑦</a:t>
                </a:r>
                <a:r>
                  <a:rPr lang="en-ZA" b="0" dirty="0"/>
                  <a:t> is the imaginary part of the complex number </a:t>
                </a:r>
                <a:r>
                  <a:rPr lang="en-US" sz="1200" b="0" i="0">
                    <a:latin typeface="Cambria Math" panose="02040503050406030204" pitchFamily="18" charset="0"/>
                  </a:rPr>
                  <a:t>𝑧</a:t>
                </a:r>
                <a:r>
                  <a:rPr lang="en-ZA" b="0" dirty="0"/>
                  <a:t>.</a:t>
                </a:r>
              </a:p>
              <a:p>
                <a:pPr marL="628650" lvl="1" indent="-171450" algn="just">
                  <a:buFont typeface="Arial" panose="020B0604020202020204" pitchFamily="34" charset="0"/>
                  <a:buChar char="•"/>
                </a:pPr>
                <a:r>
                  <a:rPr lang="en-ZA" b="0" dirty="0"/>
                  <a:t>    </a:t>
                </a:r>
                <a:r>
                  <a:rPr lang="en-US" sz="1200" b="0" i="0">
                    <a:latin typeface="Cambria Math" panose="02040503050406030204" pitchFamily="18" charset="0"/>
                  </a:rPr>
                  <a:t>𝑖</a:t>
                </a:r>
                <a:r>
                  <a:rPr lang="en-ZA" b="0" dirty="0"/>
                  <a:t> is the imaginary unit, defined as</a:t>
                </a:r>
                <a:r>
                  <a:rPr lang="en-ZA" b="0" baseline="0" dirty="0"/>
                  <a:t> </a:t>
                </a:r>
                <a:r>
                  <a:rPr lang="en-US" sz="1200" b="0" i="0">
                    <a:latin typeface="Cambria Math" panose="02040503050406030204" pitchFamily="18" charset="0"/>
                  </a:rPr>
                  <a:t>𝑖=</a:t>
                </a:r>
                <a:r>
                  <a:rPr lang="en-US" sz="1200" i="0">
                    <a:latin typeface="Cambria Math" panose="02040503050406030204" pitchFamily="18" charset="0"/>
                  </a:rPr>
                  <a:t>√(−1)</a:t>
                </a:r>
                <a:r>
                  <a:rPr lang="en-ZA" b="0" dirty="0"/>
                  <a:t>.    ​</a:t>
                </a:r>
              </a:p>
              <a:p>
                <a:pPr algn="just"/>
                <a:endParaRPr lang="en-ZA" b="0" dirty="0"/>
              </a:p>
              <a:p>
                <a:pPr marL="171450" indent="-171450" algn="just">
                  <a:buFont typeface="Arial" panose="020B0604020202020204" pitchFamily="34" charset="0"/>
                  <a:buChar char="•"/>
                </a:pPr>
                <a:r>
                  <a:rPr lang="en-ZA" b="0" dirty="0"/>
                  <a:t>The complex conjugate of a number flips the sign of its imaginary part. We denote it by a star superscript, for example </a:t>
                </a:r>
                <a:r>
                  <a:rPr lang="en-US" sz="1200" b="0" i="0">
                    <a:latin typeface="Cambria Math" panose="02040503050406030204" pitchFamily="18" charset="0"/>
                  </a:rPr>
                  <a:t>𝑧^∗</a:t>
                </a:r>
                <a:r>
                  <a:rPr lang="en-ZA" b="0" dirty="0"/>
                  <a:t>.</a:t>
                </a:r>
              </a:p>
              <a:p>
                <a:pPr algn="just"/>
                <a:endParaRPr lang="en-ZA" b="0" dirty="0"/>
              </a:p>
              <a:p>
                <a:pPr marL="171450" indent="-171450" algn="just">
                  <a:buFont typeface="Arial" panose="020B0604020202020204" pitchFamily="34" charset="0"/>
                  <a:buChar char="•"/>
                </a:pPr>
                <a:r>
                  <a:rPr lang="en-ZA" b="0" dirty="0"/>
                  <a:t>The absolute value (or modulus) of a complex number is the square root of the sum of its real part squared and imaginary part squared.</a:t>
                </a:r>
              </a:p>
              <a:p>
                <a:pPr algn="just"/>
                <a:endParaRPr lang="en-ZA" b="0" dirty="0"/>
              </a:p>
              <a:p>
                <a:pPr marL="171450" indent="-171450" algn="just">
                  <a:buFont typeface="Arial" panose="020B0604020202020204" pitchFamily="34" charset="0"/>
                  <a:buChar char="•"/>
                </a:pPr>
                <a:r>
                  <a:rPr lang="en-ZA" b="0" dirty="0"/>
                  <a:t>A complex number can be visually represented as a point in the complex plane, with coordinates </a:t>
                </a:r>
                <a:r>
                  <a:rPr lang="en-US" sz="1200" i="0">
                    <a:latin typeface="Cambria Math" panose="02040503050406030204" pitchFamily="18" charset="0"/>
                  </a:rPr>
                  <a:t>𝑥</a:t>
                </a:r>
                <a:r>
                  <a:rPr lang="en-ZA" b="0" dirty="0"/>
                  <a:t> and </a:t>
                </a:r>
                <a:r>
                  <a:rPr lang="en-US" sz="1200" b="0" i="0">
                    <a:latin typeface="Cambria Math" panose="02040503050406030204" pitchFamily="18" charset="0"/>
                  </a:rPr>
                  <a:t>𝑦</a:t>
                </a:r>
                <a:r>
                  <a:rPr lang="en-ZA" b="0" dirty="0"/>
                  <a:t>:</a:t>
                </a:r>
              </a:p>
              <a:p>
                <a:pPr marL="628650" lvl="1" indent="-171450" algn="just">
                  <a:buFont typeface="Arial" panose="020B0604020202020204" pitchFamily="34" charset="0"/>
                  <a:buChar char="•"/>
                </a:pPr>
                <a:r>
                  <a:rPr lang="en-US" sz="1200" i="0">
                    <a:latin typeface="Cambria Math" panose="02040503050406030204" pitchFamily="18" charset="0"/>
                  </a:rPr>
                  <a:t>𝑥</a:t>
                </a:r>
                <a:r>
                  <a:rPr lang="en-ZA" b="0" dirty="0"/>
                  <a:t> lies on the horizontal (real) axis.</a:t>
                </a:r>
              </a:p>
              <a:p>
                <a:pPr marL="628650" lvl="1" indent="-171450" algn="just">
                  <a:buFont typeface="Arial" panose="020B0604020202020204" pitchFamily="34" charset="0"/>
                  <a:buChar char="•"/>
                </a:pPr>
                <a:r>
                  <a:rPr lang="en-US" sz="1200" b="0" i="0">
                    <a:latin typeface="Cambria Math" panose="02040503050406030204" pitchFamily="18" charset="0"/>
                  </a:rPr>
                  <a:t>𝑦</a:t>
                </a:r>
                <a:r>
                  <a:rPr lang="en-ZA" b="0" dirty="0"/>
                  <a:t> lies on the vertical (imaginary) axis.</a:t>
                </a:r>
              </a:p>
              <a:p>
                <a:pPr algn="just"/>
                <a:endParaRPr lang="en-ZA" b="0" dirty="0"/>
              </a:p>
              <a:p>
                <a:pPr lvl="1" algn="just"/>
                <a:r>
                  <a:rPr lang="en-ZA" b="0" dirty="0"/>
                  <a:t>This point is connected to a vector, called the radius vector of the complex number. The length of this vector equals the modulus of the complex number.</a:t>
                </a:r>
              </a:p>
              <a:p>
                <a:pPr lvl="1" algn="just"/>
                <a:endParaRPr lang="en-ZA" b="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i="0" dirty="0"/>
                  <a:t>Here is a simple example of a complex number: </a:t>
                </a:r>
                <a:r>
                  <a:rPr lang="en-US" sz="1200" i="0">
                    <a:latin typeface="Cambria Math" panose="02040503050406030204" pitchFamily="18" charset="0"/>
                  </a:rPr>
                  <a:t>z=0.3+</a:t>
                </a:r>
                <a:r>
                  <a:rPr lang="en-US" sz="1200" b="0" i="0">
                    <a:latin typeface="Cambria Math" panose="02040503050406030204" pitchFamily="18" charset="0"/>
                  </a:rPr>
                  <a:t>i 0.2</a:t>
                </a:r>
                <a:r>
                  <a:rPr lang="en-ZA" sz="1200" b="0" i="0" dirty="0">
                    <a:latin typeface="Cambria Math" panose="02040503050406030204" pitchFamily="18" charset="0"/>
                  </a:rPr>
                  <a:t>, its conjugate </a:t>
                </a:r>
                <a:r>
                  <a:rPr lang="en-US" sz="1200" i="0">
                    <a:latin typeface="Cambria Math" panose="02040503050406030204" pitchFamily="18" charset="0"/>
                  </a:rPr>
                  <a:t>z^∗</a:t>
                </a:r>
                <a:r>
                  <a:rPr lang="en-US" sz="1200" b="1" i="0">
                    <a:latin typeface="Cambria Math" panose="02040503050406030204" pitchFamily="18" charset="0"/>
                  </a:rPr>
                  <a:t>  </a:t>
                </a:r>
                <a:r>
                  <a:rPr lang="en-US" sz="1200" i="0">
                    <a:latin typeface="Cambria Math" panose="02040503050406030204" pitchFamily="18" charset="0"/>
                  </a:rPr>
                  <a:t>=0.3</a:t>
                </a:r>
                <a:r>
                  <a:rPr lang="en-US" sz="1200" b="0" i="0">
                    <a:latin typeface="Cambria Math" panose="02040503050406030204" pitchFamily="18" charset="0"/>
                  </a:rPr>
                  <a:t>−</a:t>
                </a:r>
                <a:r>
                  <a:rPr lang="en-US" sz="1200" i="0">
                    <a:latin typeface="Cambria Math" panose="02040503050406030204" pitchFamily="18" charset="0"/>
                  </a:rPr>
                  <a:t>i 0.2</a:t>
                </a:r>
                <a:r>
                  <a:rPr lang="en-US" sz="1200" b="0" i="0" dirty="0">
                    <a:latin typeface="Cambria Math" panose="02040503050406030204" pitchFamily="18" charset="0"/>
                  </a:rPr>
                  <a:t> and it modulus.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10</a:t>
            </a:fld>
            <a:endParaRPr lang="en-US"/>
          </a:p>
        </p:txBody>
      </p:sp>
    </p:spTree>
    <p:extLst>
      <p:ext uri="{BB962C8B-B14F-4D97-AF65-F5344CB8AC3E}">
        <p14:creationId xmlns:p14="http://schemas.microsoft.com/office/powerpoint/2010/main" val="2081679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Euler’s formula provides the exponential representation of a complex number.</a:t>
                </a:r>
              </a:p>
              <a:p>
                <a:pPr algn="just"/>
                <a:endParaRPr lang="en-ZA" b="0" dirty="0"/>
              </a:p>
              <a:p>
                <a:pPr algn="just"/>
                <a:r>
                  <a:rPr lang="en-ZA" b="0" dirty="0"/>
                  <a:t>Consider the complex number shown in the figure: its real part is </a:t>
                </a:r>
                <a14:m>
                  <m:oMath xmlns:m="http://schemas.openxmlformats.org/officeDocument/2006/math">
                    <m:func>
                      <m:funcPr>
                        <m:ctrlPr>
                          <a:rPr lang="en-ZA" b="0" i="1" smtClean="0">
                            <a:latin typeface="Cambria Math" panose="02040503050406030204" pitchFamily="18" charset="0"/>
                          </a:rPr>
                        </m:ctrlPr>
                      </m:funcPr>
                      <m:fName>
                        <m:r>
                          <m:rPr>
                            <m:sty m:val="p"/>
                          </m:rPr>
                          <a:rPr lang="sr-Latn-RS" b="0" smtClean="0">
                            <a:latin typeface="Cambria Math" panose="02040503050406030204" pitchFamily="18" charset="0"/>
                          </a:rPr>
                          <m:t>cos</m:t>
                        </m:r>
                      </m:fName>
                      <m:e>
                        <m:r>
                          <a:rPr lang="sr-Latn-RS" b="0" i="1" smtClean="0">
                            <a:latin typeface="Cambria Math" panose="02040503050406030204" pitchFamily="18" charset="0"/>
                            <a:ea typeface="Cambria Math" panose="02040503050406030204" pitchFamily="18" charset="0"/>
                          </a:rPr>
                          <m:t>𝜑</m:t>
                        </m:r>
                      </m:e>
                    </m:func>
                  </m:oMath>
                </a14:m>
                <a:r>
                  <a:rPr lang="el-GR" b="0" dirty="0"/>
                  <a:t> </a:t>
                </a:r>
                <a:r>
                  <a:rPr lang="en-ZA" b="0" dirty="0"/>
                  <a:t>and its imaginary part is </a:t>
                </a:r>
                <a14:m>
                  <m:oMath xmlns:m="http://schemas.openxmlformats.org/officeDocument/2006/math">
                    <m:func>
                      <m:funcPr>
                        <m:ctrlPr>
                          <a:rPr lang="en-ZA" b="0" i="1" smtClean="0">
                            <a:latin typeface="Cambria Math" panose="02040503050406030204" pitchFamily="18" charset="0"/>
                          </a:rPr>
                        </m:ctrlPr>
                      </m:funcPr>
                      <m:fName>
                        <m:r>
                          <m:rPr>
                            <m:sty m:val="p"/>
                          </m:rPr>
                          <a:rPr lang="sr-Latn-RS" b="0" smtClean="0">
                            <a:latin typeface="Cambria Math" panose="02040503050406030204" pitchFamily="18" charset="0"/>
                          </a:rPr>
                          <m:t>sin</m:t>
                        </m:r>
                      </m:fName>
                      <m:e>
                        <m:r>
                          <a:rPr lang="sr-Latn-RS" b="0" i="1" smtClean="0">
                            <a:latin typeface="Cambria Math" panose="02040503050406030204" pitchFamily="18" charset="0"/>
                            <a:ea typeface="Cambria Math" panose="02040503050406030204" pitchFamily="18" charset="0"/>
                          </a:rPr>
                          <m:t>𝜑</m:t>
                        </m:r>
                      </m:e>
                    </m:func>
                  </m:oMath>
                </a14:m>
                <a:r>
                  <a:rPr lang="el-GR" b="0" dirty="0"/>
                  <a:t>. </a:t>
                </a:r>
                <a:r>
                  <a:rPr lang="en-ZA" b="0" dirty="0"/>
                  <a:t>This number can be written as </a:t>
                </a:r>
                <a14:m>
                  <m:oMath xmlns:m="http://schemas.openxmlformats.org/officeDocument/2006/math">
                    <m:func>
                      <m:funcPr>
                        <m:ctrlPr>
                          <a:rPr lang="en-ZA" sz="1200" i="1" smtClean="0">
                            <a:latin typeface="Cambria Math" panose="02040503050406030204" pitchFamily="18" charset="0"/>
                          </a:rPr>
                        </m:ctrlPr>
                      </m:funcPr>
                      <m:fName>
                        <m:r>
                          <m:rPr>
                            <m:sty m:val="p"/>
                          </m:rPr>
                          <a:rPr lang="sr-Latn-RS" sz="1200">
                            <a:latin typeface="Cambria Math" panose="02040503050406030204" pitchFamily="18" charset="0"/>
                          </a:rPr>
                          <m:t>cos</m:t>
                        </m:r>
                      </m:fName>
                      <m:e>
                        <m:r>
                          <a:rPr lang="sr-Latn-RS" sz="1200" i="1">
                            <a:latin typeface="Cambria Math" panose="02040503050406030204" pitchFamily="18" charset="0"/>
                            <a:ea typeface="Cambria Math" panose="02040503050406030204" pitchFamily="18" charset="0"/>
                          </a:rPr>
                          <m:t>𝜑</m:t>
                        </m:r>
                      </m:e>
                    </m:func>
                    <m:r>
                      <a:rPr lang="en-US" sz="1200" b="0" i="1" smtClean="0">
                        <a:latin typeface="Cambria Math" panose="02040503050406030204" pitchFamily="18" charset="0"/>
                        <a:ea typeface="Cambria Math" panose="02040503050406030204" pitchFamily="18" charset="0"/>
                      </a:rPr>
                      <m:t>+</m:t>
                    </m:r>
                    <m:r>
                      <a:rPr lang="sr-Latn-RS" sz="1200" i="1">
                        <a:latin typeface="Cambria Math" panose="02040503050406030204" pitchFamily="18" charset="0"/>
                      </a:rPr>
                      <m:t>𝑖</m:t>
                    </m:r>
                    <m:func>
                      <m:funcPr>
                        <m:ctrlPr>
                          <a:rPr lang="en-ZA" sz="1200" i="1">
                            <a:latin typeface="Cambria Math" panose="02040503050406030204" pitchFamily="18" charset="0"/>
                          </a:rPr>
                        </m:ctrlPr>
                      </m:funcPr>
                      <m:fName>
                        <m:r>
                          <m:rPr>
                            <m:sty m:val="p"/>
                          </m:rPr>
                          <a:rPr lang="sr-Latn-RS" sz="1200">
                            <a:latin typeface="Cambria Math" panose="02040503050406030204" pitchFamily="18" charset="0"/>
                          </a:rPr>
                          <m:t>sin</m:t>
                        </m:r>
                      </m:fName>
                      <m:e>
                        <m:r>
                          <a:rPr lang="sr-Latn-RS" sz="1200" i="1">
                            <a:latin typeface="Cambria Math" panose="02040503050406030204" pitchFamily="18" charset="0"/>
                            <a:ea typeface="Cambria Math" panose="02040503050406030204" pitchFamily="18" charset="0"/>
                          </a:rPr>
                          <m:t>𝜑</m:t>
                        </m:r>
                      </m:e>
                    </m:func>
                  </m:oMath>
                </a14:m>
                <a:r>
                  <a:rPr lang="en-ZA" b="0" dirty="0"/>
                  <a:t>.</a:t>
                </a:r>
              </a:p>
              <a:p>
                <a:pPr algn="just"/>
                <a:endParaRPr lang="en-ZA" b="0" dirty="0"/>
              </a:p>
              <a:p>
                <a:pPr algn="just"/>
                <a:r>
                  <a:rPr lang="en-ZA" b="0" dirty="0"/>
                  <a:t>Euler’s formula states that this same number can also be expressed as </a:t>
                </a:r>
                <a14:m>
                  <m:oMath xmlns:m="http://schemas.openxmlformats.org/officeDocument/2006/math">
                    <m:sSup>
                      <m:sSupPr>
                        <m:ctrlPr>
                          <a:rPr lang="en-ZA" sz="1200" i="1" smtClean="0">
                            <a:latin typeface="Cambria Math" panose="02040503050406030204" pitchFamily="18" charset="0"/>
                          </a:rPr>
                        </m:ctrlPr>
                      </m:sSupPr>
                      <m:e>
                        <m:r>
                          <a:rPr lang="sr-Latn-RS" sz="1200" i="1">
                            <a:latin typeface="Cambria Math" panose="02040503050406030204" pitchFamily="18" charset="0"/>
                          </a:rPr>
                          <m:t>𝑒</m:t>
                        </m:r>
                      </m:e>
                      <m:sup>
                        <m:r>
                          <a:rPr lang="sr-Latn-RS" sz="1200" i="1">
                            <a:latin typeface="Cambria Math" panose="02040503050406030204" pitchFamily="18" charset="0"/>
                          </a:rPr>
                          <m:t>𝑖</m:t>
                        </m:r>
                        <m:r>
                          <a:rPr lang="sr-Latn-RS" sz="1200" i="1">
                            <a:latin typeface="Cambria Math" panose="02040503050406030204" pitchFamily="18" charset="0"/>
                            <a:ea typeface="Cambria Math" panose="02040503050406030204" pitchFamily="18" charset="0"/>
                          </a:rPr>
                          <m:t>𝜑</m:t>
                        </m:r>
                      </m:sup>
                    </m:sSup>
                  </m:oMath>
                </a14:m>
                <a:r>
                  <a:rPr lang="en-ZA" b="0" dirty="0"/>
                  <a:t>, where:</a:t>
                </a:r>
              </a:p>
              <a:p>
                <a:pPr algn="just"/>
                <a14:m>
                  <m:oMathPara xmlns:m="http://schemas.openxmlformats.org/officeDocument/2006/math">
                    <m:oMathParaPr>
                      <m:jc m:val="centerGroup"/>
                    </m:oMathParaPr>
                    <m:oMath xmlns:m="http://schemas.openxmlformats.org/officeDocument/2006/math">
                      <m:sSup>
                        <m:sSupPr>
                          <m:ctrlPr>
                            <a:rPr lang="en-ZA" sz="1200" i="1" smtClean="0">
                              <a:latin typeface="Cambria Math" panose="02040503050406030204" pitchFamily="18" charset="0"/>
                            </a:rPr>
                          </m:ctrlPr>
                        </m:sSupPr>
                        <m:e>
                          <m:r>
                            <a:rPr lang="sr-Latn-RS" sz="1200" i="1">
                              <a:latin typeface="Cambria Math" panose="02040503050406030204" pitchFamily="18" charset="0"/>
                            </a:rPr>
                            <m:t>𝑒</m:t>
                          </m:r>
                        </m:e>
                        <m:sup>
                          <m:r>
                            <a:rPr lang="sr-Latn-RS" sz="1200" i="1">
                              <a:latin typeface="Cambria Math" panose="02040503050406030204" pitchFamily="18" charset="0"/>
                            </a:rPr>
                            <m:t>𝑖</m:t>
                          </m:r>
                          <m:r>
                            <a:rPr lang="sr-Latn-RS" sz="1200" i="1">
                              <a:latin typeface="Cambria Math" panose="02040503050406030204" pitchFamily="18" charset="0"/>
                              <a:ea typeface="Cambria Math" panose="02040503050406030204" pitchFamily="18" charset="0"/>
                            </a:rPr>
                            <m:t>𝜑</m:t>
                          </m:r>
                        </m:sup>
                      </m:sSup>
                      <m:r>
                        <a:rPr lang="sr-Latn-RS" sz="1200" i="1">
                          <a:latin typeface="Cambria Math" panose="02040503050406030204" pitchFamily="18" charset="0"/>
                        </a:rPr>
                        <m:t>=</m:t>
                      </m:r>
                      <m:func>
                        <m:funcPr>
                          <m:ctrlPr>
                            <a:rPr lang="en-ZA" sz="1200" i="1">
                              <a:latin typeface="Cambria Math" panose="02040503050406030204" pitchFamily="18" charset="0"/>
                            </a:rPr>
                          </m:ctrlPr>
                        </m:funcPr>
                        <m:fName>
                          <m:r>
                            <m:rPr>
                              <m:sty m:val="p"/>
                            </m:rPr>
                            <a:rPr lang="sr-Latn-RS" sz="1200">
                              <a:latin typeface="Cambria Math" panose="02040503050406030204" pitchFamily="18" charset="0"/>
                            </a:rPr>
                            <m:t>cos</m:t>
                          </m:r>
                        </m:fName>
                        <m:e>
                          <m:r>
                            <a:rPr lang="sr-Latn-RS" sz="1200" i="1">
                              <a:latin typeface="Cambria Math" panose="02040503050406030204" pitchFamily="18" charset="0"/>
                              <a:ea typeface="Cambria Math" panose="02040503050406030204" pitchFamily="18" charset="0"/>
                            </a:rPr>
                            <m:t>𝜑</m:t>
                          </m:r>
                        </m:e>
                      </m:func>
                      <m:r>
                        <a:rPr lang="en-US" sz="1200" b="0" i="1" smtClean="0">
                          <a:latin typeface="Cambria Math" panose="02040503050406030204" pitchFamily="18" charset="0"/>
                          <a:ea typeface="Cambria Math" panose="02040503050406030204" pitchFamily="18" charset="0"/>
                        </a:rPr>
                        <m:t>+</m:t>
                      </m:r>
                      <m:r>
                        <a:rPr lang="sr-Latn-RS" sz="1200" i="1">
                          <a:latin typeface="Cambria Math" panose="02040503050406030204" pitchFamily="18" charset="0"/>
                        </a:rPr>
                        <m:t>𝑖</m:t>
                      </m:r>
                      <m:func>
                        <m:funcPr>
                          <m:ctrlPr>
                            <a:rPr lang="en-ZA" sz="1200" i="1">
                              <a:latin typeface="Cambria Math" panose="02040503050406030204" pitchFamily="18" charset="0"/>
                            </a:rPr>
                          </m:ctrlPr>
                        </m:funcPr>
                        <m:fName>
                          <m:r>
                            <m:rPr>
                              <m:sty m:val="p"/>
                            </m:rPr>
                            <a:rPr lang="sr-Latn-RS" sz="1200">
                              <a:latin typeface="Cambria Math" panose="02040503050406030204" pitchFamily="18" charset="0"/>
                            </a:rPr>
                            <m:t>sin</m:t>
                          </m:r>
                        </m:fName>
                        <m:e>
                          <m:r>
                            <a:rPr lang="sr-Latn-RS" sz="1200" i="1">
                              <a:latin typeface="Cambria Math" panose="02040503050406030204" pitchFamily="18" charset="0"/>
                              <a:ea typeface="Cambria Math" panose="02040503050406030204" pitchFamily="18" charset="0"/>
                            </a:rPr>
                            <m:t>𝜑</m:t>
                          </m:r>
                        </m:e>
                      </m:func>
                    </m:oMath>
                  </m:oMathPara>
                </a14:m>
                <a:endParaRPr lang="en-ZA" b="0" dirty="0"/>
              </a:p>
              <a:p>
                <a:pPr algn="just"/>
                <a14:m>
                  <m:oMath xmlns:m="http://schemas.openxmlformats.org/officeDocument/2006/math">
                    <m:r>
                      <a:rPr lang="sr-Latn-RS" sz="1200" b="0" i="1" smtClean="0">
                        <a:latin typeface="Cambria Math" panose="02040503050406030204" pitchFamily="18" charset="0"/>
                        <a:ea typeface="Cambria Math" panose="02040503050406030204" pitchFamily="18" charset="0"/>
                      </a:rPr>
                      <m:t>𝜑</m:t>
                    </m:r>
                  </m:oMath>
                </a14:m>
                <a:r>
                  <a:rPr lang="el-GR" b="0" dirty="0"/>
                  <a:t> </a:t>
                </a:r>
                <a:r>
                  <a:rPr lang="en-ZA" b="0" dirty="0"/>
                  <a:t>is the phase angle,</a:t>
                </a:r>
              </a:p>
              <a:p>
                <a:pPr algn="just"/>
                <a14:m>
                  <m:oMath xmlns:m="http://schemas.openxmlformats.org/officeDocument/2006/math">
                    <m:r>
                      <a:rPr lang="en-US" sz="1200" b="0" i="1" smtClean="0">
                        <a:latin typeface="Cambria Math" panose="02040503050406030204" pitchFamily="18" charset="0"/>
                      </a:rPr>
                      <m:t>𝑒</m:t>
                    </m:r>
                    <m:r>
                      <a:rPr lang="en-US" sz="1200" b="0" i="1" smtClean="0">
                        <a:latin typeface="Cambria Math" panose="02040503050406030204" pitchFamily="18" charset="0"/>
                        <a:ea typeface="Cambria Math" panose="02040503050406030204" pitchFamily="18" charset="0"/>
                      </a:rPr>
                      <m:t>≈2.71</m:t>
                    </m:r>
                  </m:oMath>
                </a14:m>
                <a:r>
                  <a:rPr lang="en-ZA" b="0" dirty="0"/>
                  <a:t>  is Euler’s number.</a:t>
                </a:r>
              </a:p>
              <a:p>
                <a:pPr marL="0" marR="0" lvl="0" indent="0" algn="just"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lang="en-ZA" sz="1200" b="0" i="1" smtClean="0">
                            <a:latin typeface="Cambria Math" panose="02040503050406030204" pitchFamily="18" charset="0"/>
                          </a:rPr>
                        </m:ctrlPr>
                      </m:sSupPr>
                      <m:e>
                        <m:r>
                          <a:rPr lang="sr-Latn-RS" sz="1200" b="0" i="1" smtClean="0">
                            <a:latin typeface="Cambria Math" panose="02040503050406030204" pitchFamily="18" charset="0"/>
                          </a:rPr>
                          <m:t>𝑒</m:t>
                        </m:r>
                      </m:e>
                      <m:sup>
                        <m:r>
                          <a:rPr lang="sr-Latn-RS" sz="1200" b="0" i="1" smtClean="0">
                            <a:latin typeface="Cambria Math" panose="02040503050406030204" pitchFamily="18" charset="0"/>
                          </a:rPr>
                          <m:t>𝑖</m:t>
                        </m:r>
                        <m:r>
                          <a:rPr lang="sr-Latn-RS" sz="1200" b="0" i="1" smtClean="0">
                            <a:latin typeface="Cambria Math" panose="02040503050406030204" pitchFamily="18" charset="0"/>
                            <a:ea typeface="Cambria Math" panose="02040503050406030204" pitchFamily="18" charset="0"/>
                          </a:rPr>
                          <m:t>𝜑</m:t>
                        </m:r>
                      </m:sup>
                    </m:sSup>
                  </m:oMath>
                </a14:m>
                <a:r>
                  <a:rPr lang="en-ZA" dirty="0"/>
                  <a:t> is called a phase factor and it has </a:t>
                </a:r>
                <a:r>
                  <a:rPr lang="en-ZA" b="0" dirty="0"/>
                  <a:t>modulus</a:t>
                </a:r>
                <a:r>
                  <a:rPr lang="en-ZA" dirty="0"/>
                  <a:t> 1.</a:t>
                </a:r>
                <a:endParaRPr lang="en-ZA" b="0" dirty="0"/>
              </a:p>
              <a:p>
                <a:pPr algn="just"/>
                <a:endParaRPr lang="en-ZA" b="0" dirty="0"/>
              </a:p>
              <a:p>
                <a:pPr algn="just"/>
                <a:r>
                  <a:rPr lang="en-ZA" dirty="0"/>
                  <a:t>As the angle </a:t>
                </a:r>
                <a14:m>
                  <m:oMath xmlns:m="http://schemas.openxmlformats.org/officeDocument/2006/math">
                    <m:r>
                      <a:rPr lang="sr-Latn-RS" sz="1200" b="0" i="1" smtClean="0">
                        <a:latin typeface="Cambria Math" panose="02040503050406030204" pitchFamily="18" charset="0"/>
                        <a:ea typeface="Cambria Math" panose="02040503050406030204" pitchFamily="18" charset="0"/>
                      </a:rPr>
                      <m:t>𝜑</m:t>
                    </m:r>
                  </m:oMath>
                </a14:m>
                <a:r>
                  <a:rPr lang="el-GR" dirty="0"/>
                  <a:t> </a:t>
                </a:r>
                <a:r>
                  <a:rPr lang="en-ZA" dirty="0"/>
                  <a:t>increases, the complex number and its associated vector rotate around the origin. Since this rotation is captured by the phase factor </a:t>
                </a:r>
                <a14:m>
                  <m:oMath xmlns:m="http://schemas.openxmlformats.org/officeDocument/2006/math">
                    <m:sSup>
                      <m:sSupPr>
                        <m:ctrlPr>
                          <a:rPr lang="en-ZA" sz="1200" b="0" i="1" smtClean="0">
                            <a:latin typeface="Cambria Math" panose="02040503050406030204" pitchFamily="18" charset="0"/>
                          </a:rPr>
                        </m:ctrlPr>
                      </m:sSupPr>
                      <m:e>
                        <m:r>
                          <a:rPr lang="sr-Latn-RS" sz="1200" b="0" i="1" smtClean="0">
                            <a:latin typeface="Cambria Math" panose="02040503050406030204" pitchFamily="18" charset="0"/>
                          </a:rPr>
                          <m:t>𝑒</m:t>
                        </m:r>
                      </m:e>
                      <m:sup>
                        <m:r>
                          <a:rPr lang="sr-Latn-RS" sz="1200" b="0" i="1" smtClean="0">
                            <a:latin typeface="Cambria Math" panose="02040503050406030204" pitchFamily="18" charset="0"/>
                          </a:rPr>
                          <m:t>𝑖</m:t>
                        </m:r>
                        <m:r>
                          <a:rPr lang="sr-Latn-RS" sz="1200" b="0" i="1" smtClean="0">
                            <a:latin typeface="Cambria Math" panose="02040503050406030204" pitchFamily="18" charset="0"/>
                            <a:ea typeface="Cambria Math" panose="02040503050406030204" pitchFamily="18" charset="0"/>
                          </a:rPr>
                          <m:t>𝜑</m:t>
                        </m:r>
                      </m:sup>
                    </m:sSup>
                  </m:oMath>
                </a14:m>
                <a:r>
                  <a:rPr lang="el-GR" dirty="0"/>
                  <a:t>, </a:t>
                </a:r>
                <a:r>
                  <a:rPr lang="en-ZA" dirty="0"/>
                  <a:t>multiplying any complex number by </a:t>
                </a:r>
                <a:r>
                  <a:rPr lang="en-ZA" b="0" baseline="0" dirty="0"/>
                  <a:t> </a:t>
                </a:r>
                <a14:m>
                  <m:oMath xmlns:m="http://schemas.openxmlformats.org/officeDocument/2006/math">
                    <m:sSup>
                      <m:sSupPr>
                        <m:ctrlPr>
                          <a:rPr lang="en-ZA" sz="1200" b="0" i="1" smtClean="0">
                            <a:latin typeface="Cambria Math" panose="02040503050406030204" pitchFamily="18" charset="0"/>
                          </a:rPr>
                        </m:ctrlPr>
                      </m:sSupPr>
                      <m:e>
                        <m:r>
                          <a:rPr lang="sr-Latn-RS" sz="1200" b="0" i="1" smtClean="0">
                            <a:latin typeface="Cambria Math" panose="02040503050406030204" pitchFamily="18" charset="0"/>
                          </a:rPr>
                          <m:t>𝑒</m:t>
                        </m:r>
                      </m:e>
                      <m:sup>
                        <m:r>
                          <a:rPr lang="sr-Latn-RS" sz="1200" b="0" i="1" smtClean="0">
                            <a:latin typeface="Cambria Math" panose="02040503050406030204" pitchFamily="18" charset="0"/>
                          </a:rPr>
                          <m:t>𝑖</m:t>
                        </m:r>
                        <m:r>
                          <a:rPr lang="sr-Latn-RS" sz="1200" b="0" i="1" smtClean="0">
                            <a:latin typeface="Cambria Math" panose="02040503050406030204" pitchFamily="18" charset="0"/>
                            <a:ea typeface="Cambria Math" panose="02040503050406030204" pitchFamily="18" charset="0"/>
                          </a:rPr>
                          <m:t>𝜑</m:t>
                        </m:r>
                      </m:sup>
                    </m:sSup>
                  </m:oMath>
                </a14:m>
                <a:r>
                  <a:rPr lang="el-GR" dirty="0"/>
                  <a:t> </a:t>
                </a:r>
                <a:r>
                  <a:rPr lang="en-ZA" dirty="0"/>
                  <a:t>rotates it by </a:t>
                </a:r>
                <a14:m>
                  <m:oMath xmlns:m="http://schemas.openxmlformats.org/officeDocument/2006/math">
                    <m:r>
                      <a:rPr lang="sr-Latn-RS" sz="1200" b="0" i="1" smtClean="0">
                        <a:latin typeface="Cambria Math" panose="02040503050406030204" pitchFamily="18" charset="0"/>
                        <a:ea typeface="Cambria Math" panose="02040503050406030204" pitchFamily="18" charset="0"/>
                      </a:rPr>
                      <m:t>𝜑</m:t>
                    </m:r>
                  </m:oMath>
                </a14:m>
                <a:r>
                  <a:rPr lang="el-GR" dirty="0"/>
                  <a:t> </a:t>
                </a:r>
                <a:r>
                  <a:rPr lang="en-ZA" dirty="0"/>
                  <a:t>around the origin.</a:t>
                </a:r>
              </a:p>
              <a:p>
                <a:pPr algn="just"/>
                <a:endParaRPr lang="en-ZA"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A particularly elegant result is Euler’s identity: </a:t>
                </a:r>
                <a14:m>
                  <m:oMath xmlns:m="http://schemas.openxmlformats.org/officeDocument/2006/math">
                    <m:sSup>
                      <m:sSupPr>
                        <m:ctrlPr>
                          <a:rPr lang="en-ZA" sz="1200" i="1" smtClean="0">
                            <a:latin typeface="Cambria Math" panose="02040503050406030204" pitchFamily="18" charset="0"/>
                          </a:rPr>
                        </m:ctrlPr>
                      </m:sSupPr>
                      <m:e>
                        <m:r>
                          <a:rPr lang="sr-Latn-RS" sz="1200" b="0" i="1" smtClean="0">
                            <a:latin typeface="Cambria Math" panose="02040503050406030204" pitchFamily="18" charset="0"/>
                          </a:rPr>
                          <m:t> </m:t>
                        </m:r>
                        <m:r>
                          <a:rPr lang="sr-Latn-RS" sz="1200" i="1">
                            <a:latin typeface="Cambria Math" panose="02040503050406030204" pitchFamily="18" charset="0"/>
                          </a:rPr>
                          <m:t>𝑒</m:t>
                        </m:r>
                      </m:e>
                      <m:sup>
                        <m:r>
                          <a:rPr lang="sr-Latn-RS" sz="1200" i="1">
                            <a:latin typeface="Cambria Math" panose="02040503050406030204" pitchFamily="18" charset="0"/>
                          </a:rPr>
                          <m:t>𝑖</m:t>
                        </m:r>
                        <m:r>
                          <a:rPr lang="sr-Latn-RS" sz="1200" i="1">
                            <a:latin typeface="Cambria Math" panose="02040503050406030204" pitchFamily="18" charset="0"/>
                          </a:rPr>
                          <m:t>𝜋</m:t>
                        </m:r>
                      </m:sup>
                    </m:sSup>
                    <m:r>
                      <a:rPr lang="sr-Latn-RS" sz="1200" i="1">
                        <a:latin typeface="Cambria Math" panose="02040503050406030204" pitchFamily="18" charset="0"/>
                      </a:rPr>
                      <m:t>+1=0</m:t>
                    </m:r>
                  </m:oMath>
                </a14:m>
                <a:r>
                  <a:rPr lang="el-GR" b="0" dirty="0"/>
                  <a:t>, </a:t>
                </a:r>
                <a:r>
                  <a:rPr lang="en-ZA" b="0" dirty="0"/>
                  <a:t>often considered the most beautiful equation in mathematics, as it elegantly connects five fundamental constants: </a:t>
                </a:r>
                <a14:m>
                  <m:oMath xmlns:m="http://schemas.openxmlformats.org/officeDocument/2006/math">
                    <m:r>
                      <a:rPr lang="sr-Latn-RS" sz="1200" i="1" smtClean="0">
                        <a:latin typeface="Cambria Math" panose="02040503050406030204" pitchFamily="18" charset="0"/>
                      </a:rPr>
                      <m:t>𝑒</m:t>
                    </m:r>
                    <m:r>
                      <a:rPr lang="en-US" sz="1200" b="0" i="0" smtClean="0">
                        <a:latin typeface="Cambria Math" panose="02040503050406030204" pitchFamily="18" charset="0"/>
                      </a:rPr>
                      <m:t>,</m:t>
                    </m:r>
                    <m:r>
                      <a:rPr lang="en-US" sz="1200" i="1" smtClean="0">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𝑖</m:t>
                    </m:r>
                    <m:r>
                      <a:rPr lang="en-US" sz="1200" b="0" i="1" smtClean="0">
                        <a:latin typeface="Cambria Math" panose="02040503050406030204" pitchFamily="18" charset="0"/>
                        <a:ea typeface="Cambria Math" panose="02040503050406030204" pitchFamily="18" charset="0"/>
                      </a:rPr>
                      <m:t>,0</m:t>
                    </m:r>
                    <m:r>
                      <a:rPr lang="en-US" sz="1200" b="0" i="0" smtClean="0">
                        <a:latin typeface="Cambria Math" panose="02040503050406030204" pitchFamily="18" charset="0"/>
                        <a:ea typeface="Cambria Math" panose="02040503050406030204" pitchFamily="18" charset="0"/>
                      </a:rPr>
                      <m:t> </m:t>
                    </m:r>
                    <m:r>
                      <m:rPr>
                        <m:sty m:val="p"/>
                      </m:rPr>
                      <a:rPr lang="en-US" sz="1200" b="0" i="0" smtClean="0">
                        <a:latin typeface="Cambria Math" panose="02040503050406030204" pitchFamily="18" charset="0"/>
                        <a:ea typeface="Cambria Math" panose="02040503050406030204" pitchFamily="18" charset="0"/>
                      </a:rPr>
                      <m:t>i</m:t>
                    </m:r>
                    <m:r>
                      <a:rPr lang="en-US" sz="1200" b="0" i="0" smtClean="0">
                        <a:latin typeface="Cambria Math" panose="02040503050406030204" pitchFamily="18" charset="0"/>
                        <a:ea typeface="Cambria Math" panose="02040503050406030204" pitchFamily="18" charset="0"/>
                      </a:rPr>
                      <m:t> 1</m:t>
                    </m:r>
                  </m:oMath>
                </a14:m>
                <a:r>
                  <a:rPr lang="en-ZA" b="0" dirty="0"/>
                  <a:t>.</a:t>
                </a:r>
              </a:p>
              <a:p>
                <a:pPr algn="just"/>
                <a:endParaRPr lang="en-ZA" dirty="0"/>
              </a:p>
              <a:p>
                <a:pPr algn="just"/>
                <a:endParaRPr lang="en-ZA" b="0" dirty="0"/>
              </a:p>
              <a:p>
                <a:pPr algn="just"/>
                <a:endParaRPr lang="en-ZA" b="0" dirty="0"/>
              </a:p>
            </p:txBody>
          </p:sp>
        </mc:Choice>
        <mc:Fallback xmlns="">
          <p:sp>
            <p:nvSpPr>
              <p:cNvPr id="3" name="Notes Placeholder 2"/>
              <p:cNvSpPr>
                <a:spLocks noGrp="1"/>
              </p:cNvSpPr>
              <p:nvPr>
                <p:ph type="body" idx="1"/>
              </p:nvPr>
            </p:nvSpPr>
            <p:spPr/>
            <p:txBody>
              <a:bodyPr/>
              <a:lstStyle/>
              <a:p>
                <a:pPr algn="just"/>
                <a:r>
                  <a:rPr lang="en-ZA" b="0" dirty="0"/>
                  <a:t>Take a look at the geometric interpretation of a complex unit vector with length </a:t>
                </a:r>
                <a:r>
                  <a:rPr lang="en-US" b="0" i="0">
                    <a:latin typeface="Cambria Math" panose="02040503050406030204" pitchFamily="18" charset="0"/>
                  </a:rPr>
                  <a:t>|𝑧|=1</a:t>
                </a:r>
                <a:r>
                  <a:rPr lang="en-ZA" b="0" dirty="0"/>
                  <a:t>, making an angle </a:t>
                </a:r>
                <a:r>
                  <a:rPr lang="sr-Latn-RS" b="0" i="0">
                    <a:latin typeface="Cambria Math" panose="02040503050406030204" pitchFamily="18" charset="0"/>
                    <a:ea typeface="Cambria Math" panose="02040503050406030204" pitchFamily="18" charset="0"/>
                  </a:rPr>
                  <a:t>𝜑</a:t>
                </a:r>
                <a:r>
                  <a:rPr lang="el-GR" b="0" dirty="0"/>
                  <a:t> </a:t>
                </a:r>
                <a:r>
                  <a:rPr lang="en-ZA" b="0" dirty="0"/>
                  <a:t>with the real axis. </a:t>
                </a:r>
              </a:p>
              <a:p>
                <a:pPr algn="just"/>
                <a:endParaRPr lang="en-ZA" b="0" dirty="0"/>
              </a:p>
              <a:p>
                <a:pPr algn="just"/>
                <a:r>
                  <a:rPr lang="en-ZA" b="0" dirty="0"/>
                  <a:t>The horizontal component is </a:t>
                </a:r>
                <a:r>
                  <a:rPr lang="sr-Latn-RS" b="0" i="0">
                    <a:latin typeface="Cambria Math" panose="02040503050406030204" pitchFamily="18" charset="0"/>
                  </a:rPr>
                  <a:t>cos</a:t>
                </a:r>
                <a:r>
                  <a:rPr lang="en-ZA" b="0" i="0">
                    <a:latin typeface="Cambria Math" panose="02040503050406030204" pitchFamily="18" charset="0"/>
                  </a:rPr>
                  <a:t>⁡</a:t>
                </a:r>
                <a:r>
                  <a:rPr lang="sr-Latn-RS" b="0" i="0">
                    <a:latin typeface="Cambria Math" panose="02040503050406030204" pitchFamily="18" charset="0"/>
                    <a:ea typeface="Cambria Math" panose="02040503050406030204" pitchFamily="18" charset="0"/>
                  </a:rPr>
                  <a:t>𝜑</a:t>
                </a:r>
                <a:r>
                  <a:rPr lang="el-GR" b="0" dirty="0"/>
                  <a:t>, </a:t>
                </a:r>
                <a:r>
                  <a:rPr lang="en-ZA" b="0" dirty="0"/>
                  <a:t>and the vertical component is</a:t>
                </a:r>
                <a:r>
                  <a:rPr lang="en-ZA" b="0" baseline="0" dirty="0"/>
                  <a:t> </a:t>
                </a:r>
                <a:r>
                  <a:rPr lang="sr-Latn-RS" b="0" i="0">
                    <a:latin typeface="Cambria Math" panose="02040503050406030204" pitchFamily="18" charset="0"/>
                  </a:rPr>
                  <a:t>𝑖 sin</a:t>
                </a:r>
                <a:r>
                  <a:rPr lang="en-ZA" b="0" i="0">
                    <a:latin typeface="Cambria Math" panose="02040503050406030204" pitchFamily="18" charset="0"/>
                  </a:rPr>
                  <a:t>⁡</a:t>
                </a:r>
                <a:r>
                  <a:rPr lang="sr-Latn-RS" b="0" i="0">
                    <a:latin typeface="Cambria Math" panose="02040503050406030204" pitchFamily="18" charset="0"/>
                    <a:ea typeface="Cambria Math" panose="02040503050406030204" pitchFamily="18" charset="0"/>
                  </a:rPr>
                  <a:t>𝜑</a:t>
                </a:r>
                <a:r>
                  <a:rPr lang="en-US" b="0" dirty="0"/>
                  <a:t>.</a:t>
                </a:r>
                <a:r>
                  <a:rPr lang="el-GR" b="0" dirty="0"/>
                  <a:t> </a:t>
                </a:r>
                <a:r>
                  <a:rPr lang="en-ZA" b="0" dirty="0"/>
                  <a:t>According to Euler’s formula, their sum equals </a:t>
                </a:r>
                <a:r>
                  <a:rPr lang="sr-Latn-RS" sz="1200" b="0" i="0">
                    <a:latin typeface="Cambria Math" panose="02040503050406030204" pitchFamily="18" charset="0"/>
                  </a:rPr>
                  <a:t>𝑒</a:t>
                </a:r>
                <a:r>
                  <a:rPr lang="en-ZA" sz="1200" b="0" i="0">
                    <a:latin typeface="Cambria Math" panose="02040503050406030204" pitchFamily="18" charset="0"/>
                  </a:rPr>
                  <a:t>^</a:t>
                </a:r>
                <a:r>
                  <a:rPr lang="sr-Latn-RS" sz="1200" b="0" i="0">
                    <a:latin typeface="Cambria Math" panose="02040503050406030204" pitchFamily="18" charset="0"/>
                  </a:rPr>
                  <a:t>𝑖</a:t>
                </a:r>
                <a:r>
                  <a:rPr lang="sr-Latn-RS" sz="1200" b="0" i="0">
                    <a:latin typeface="Cambria Math" panose="02040503050406030204" pitchFamily="18" charset="0"/>
                    <a:ea typeface="Cambria Math" panose="02040503050406030204" pitchFamily="18" charset="0"/>
                  </a:rPr>
                  <a:t>𝜑</a:t>
                </a:r>
                <a:r>
                  <a:rPr lang="el-GR" b="0" dirty="0"/>
                  <a:t>, </a:t>
                </a:r>
                <a:r>
                  <a:rPr lang="en-ZA" b="0" dirty="0"/>
                  <a:t>where:</a:t>
                </a:r>
              </a:p>
              <a:p>
                <a:pPr algn="just"/>
                <a:endParaRPr lang="en-ZA" b="0" dirty="0"/>
              </a:p>
              <a:p>
                <a:pPr algn="just"/>
                <a:r>
                  <a:rPr lang="sr-Latn-RS" sz="1200" b="0" i="0">
                    <a:latin typeface="Cambria Math" panose="02040503050406030204" pitchFamily="18" charset="0"/>
                    <a:ea typeface="Cambria Math" panose="02040503050406030204" pitchFamily="18" charset="0"/>
                  </a:rPr>
                  <a:t>𝜑</a:t>
                </a:r>
                <a:r>
                  <a:rPr lang="el-GR" b="0" dirty="0"/>
                  <a:t> </a:t>
                </a:r>
                <a:r>
                  <a:rPr lang="en-ZA" b="0" dirty="0"/>
                  <a:t>is the phase angle,</a:t>
                </a:r>
              </a:p>
              <a:p>
                <a:pPr algn="just"/>
                <a:r>
                  <a:rPr lang="en-US" sz="1200" b="0" i="0">
                    <a:latin typeface="Cambria Math" panose="02040503050406030204" pitchFamily="18" charset="0"/>
                  </a:rPr>
                  <a:t>𝑒</a:t>
                </a:r>
                <a:r>
                  <a:rPr lang="en-US" sz="1200" b="0" i="0">
                    <a:latin typeface="Cambria Math" panose="02040503050406030204" pitchFamily="18" charset="0"/>
                    <a:ea typeface="Cambria Math" panose="02040503050406030204" pitchFamily="18" charset="0"/>
                  </a:rPr>
                  <a:t>≈2.71</a:t>
                </a:r>
                <a:r>
                  <a:rPr lang="en-ZA" b="0" dirty="0"/>
                  <a:t> is the Euler’s </a:t>
                </a:r>
                <a:r>
                  <a:rPr lang="en-ZA" b="0" dirty="0" err="1"/>
                  <a:t>num</a:t>
                </a:r>
                <a:r>
                  <a:rPr lang="en-ZA" b="0" dirty="0"/>
                  <a:t>      </a:t>
                </a:r>
                <a:r>
                  <a:rPr lang="en-ZA" b="0" dirty="0" err="1"/>
                  <a:t>ber</a:t>
                </a:r>
                <a:r>
                  <a:rPr lang="en-ZA" b="0" dirty="0"/>
                  <a:t>,</a:t>
                </a:r>
              </a:p>
              <a:p>
                <a:pPr algn="just"/>
                <a:r>
                  <a:rPr lang="sr-Latn-RS" sz="1200" b="0" i="0">
                    <a:latin typeface="Cambria Math" panose="02040503050406030204" pitchFamily="18" charset="0"/>
                  </a:rPr>
                  <a:t>𝑒</a:t>
                </a:r>
                <a:r>
                  <a:rPr lang="en-ZA" sz="1200" b="0" i="0">
                    <a:latin typeface="Cambria Math" panose="02040503050406030204" pitchFamily="18" charset="0"/>
                  </a:rPr>
                  <a:t>^</a:t>
                </a:r>
                <a:r>
                  <a:rPr lang="sr-Latn-RS" sz="1200" b="0" i="0">
                    <a:latin typeface="Cambria Math" panose="02040503050406030204" pitchFamily="18" charset="0"/>
                  </a:rPr>
                  <a:t>𝑖</a:t>
                </a:r>
                <a:r>
                  <a:rPr lang="sr-Latn-RS" sz="1200" b="0" i="0">
                    <a:latin typeface="Cambria Math" panose="02040503050406030204" pitchFamily="18" charset="0"/>
                    <a:ea typeface="Cambria Math" panose="02040503050406030204" pitchFamily="18" charset="0"/>
                  </a:rPr>
                  <a:t>𝜑</a:t>
                </a:r>
                <a:r>
                  <a:rPr lang="el-GR" b="0" dirty="0"/>
                  <a:t> </a:t>
                </a:r>
                <a:r>
                  <a:rPr lang="en-ZA" b="0" dirty="0"/>
                  <a:t>represents the phase.</a:t>
                </a:r>
              </a:p>
              <a:p>
                <a:pPr algn="just"/>
                <a:endParaRPr lang="en-ZA" b="0" dirty="0"/>
              </a:p>
              <a:p>
                <a:pPr algn="just"/>
                <a:r>
                  <a:rPr lang="en-ZA" b="0" dirty="0"/>
                  <a:t>This example illustrates the </a:t>
                </a:r>
                <a:r>
                  <a:rPr lang="en-ZA" b="0" dirty="0" err="1"/>
                  <a:t>counterclockwise</a:t>
                </a:r>
                <a:r>
                  <a:rPr lang="en-ZA" b="0" dirty="0"/>
                  <a:t> rotation of a complex vector around the origin as the phase angle </a:t>
                </a:r>
                <a:r>
                  <a:rPr lang="sr-Latn-RS" sz="1200" b="0" i="0">
                    <a:latin typeface="Cambria Math" panose="02040503050406030204" pitchFamily="18" charset="0"/>
                    <a:ea typeface="Cambria Math" panose="02040503050406030204" pitchFamily="18" charset="0"/>
                  </a:rPr>
                  <a:t>𝜑</a:t>
                </a:r>
                <a:r>
                  <a:rPr lang="en-ZA" b="0" dirty="0"/>
                  <a:t> increases. This rotation is encoded in the phase factor </a:t>
                </a:r>
                <a:r>
                  <a:rPr lang="sr-Latn-RS" sz="1200" b="0" i="0">
                    <a:latin typeface="Cambria Math" panose="02040503050406030204" pitchFamily="18" charset="0"/>
                  </a:rPr>
                  <a:t>𝑒</a:t>
                </a:r>
                <a:r>
                  <a:rPr lang="en-ZA" sz="1200" b="0" i="0">
                    <a:latin typeface="Cambria Math" panose="02040503050406030204" pitchFamily="18" charset="0"/>
                  </a:rPr>
                  <a:t>^</a:t>
                </a:r>
                <a:r>
                  <a:rPr lang="sr-Latn-RS" sz="1200" b="0" i="0">
                    <a:latin typeface="Cambria Math" panose="02040503050406030204" pitchFamily="18" charset="0"/>
                  </a:rPr>
                  <a:t>𝑖</a:t>
                </a:r>
                <a:r>
                  <a:rPr lang="sr-Latn-RS" sz="1200" b="0" i="0">
                    <a:latin typeface="Cambria Math" panose="02040503050406030204" pitchFamily="18" charset="0"/>
                    <a:ea typeface="Cambria Math" panose="02040503050406030204" pitchFamily="18" charset="0"/>
                  </a:rPr>
                  <a:t>𝜑</a:t>
                </a:r>
                <a:r>
                  <a:rPr lang="el-GR" b="0" dirty="0"/>
                  <a:t>: </a:t>
                </a:r>
                <a:r>
                  <a:rPr lang="en-ZA" b="0" dirty="0"/>
                  <a:t>multiplying a complex number by </a:t>
                </a:r>
                <a:r>
                  <a:rPr lang="sr-Latn-RS" sz="1200" b="0" i="0">
                    <a:latin typeface="Cambria Math" panose="02040503050406030204" pitchFamily="18" charset="0"/>
                  </a:rPr>
                  <a:t>𝑒</a:t>
                </a:r>
                <a:r>
                  <a:rPr lang="en-ZA" sz="1200" b="0" i="0">
                    <a:latin typeface="Cambria Math" panose="02040503050406030204" pitchFamily="18" charset="0"/>
                  </a:rPr>
                  <a:t>^</a:t>
                </a:r>
                <a:r>
                  <a:rPr lang="sr-Latn-RS" sz="1200" b="0" i="0">
                    <a:latin typeface="Cambria Math" panose="02040503050406030204" pitchFamily="18" charset="0"/>
                  </a:rPr>
                  <a:t>𝑖</a:t>
                </a:r>
                <a:r>
                  <a:rPr lang="sr-Latn-RS" sz="1200" b="0" i="0">
                    <a:latin typeface="Cambria Math" panose="02040503050406030204" pitchFamily="18" charset="0"/>
                    <a:ea typeface="Cambria Math" panose="02040503050406030204" pitchFamily="18" charset="0"/>
                  </a:rPr>
                  <a:t>𝜑</a:t>
                </a:r>
                <a:r>
                  <a:rPr lang="el-GR" b="0" dirty="0"/>
                  <a:t> </a:t>
                </a:r>
                <a:r>
                  <a:rPr lang="en-ZA" b="0" dirty="0"/>
                  <a:t>rotates it by angle </a:t>
                </a:r>
                <a:r>
                  <a:rPr lang="sr-Latn-RS" sz="1200" b="0" i="0">
                    <a:latin typeface="Cambria Math" panose="02040503050406030204" pitchFamily="18" charset="0"/>
                    <a:ea typeface="Cambria Math" panose="02040503050406030204" pitchFamily="18" charset="0"/>
                  </a:rPr>
                  <a:t>𝜑</a:t>
                </a:r>
                <a:r>
                  <a:rPr lang="el-GR" b="0" dirty="0"/>
                  <a:t> </a:t>
                </a:r>
                <a:r>
                  <a:rPr lang="en-ZA" b="0" dirty="0"/>
                  <a:t>around the origin.</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11</a:t>
            </a:fld>
            <a:endParaRPr lang="en-US"/>
          </a:p>
        </p:txBody>
      </p:sp>
    </p:spTree>
    <p:extLst>
      <p:ext uri="{BB962C8B-B14F-4D97-AF65-F5344CB8AC3E}">
        <p14:creationId xmlns:p14="http://schemas.microsoft.com/office/powerpoint/2010/main" val="166902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Complex numbers are often expressed in polar form </a:t>
                </a:r>
                <a:r>
                  <a:rPr lang="en-ZA" dirty="0"/>
                  <a:t>using its </a:t>
                </a:r>
                <a:r>
                  <a:rPr lang="en-ZA" sz="1200" dirty="0"/>
                  <a:t>modulus</a:t>
                </a:r>
                <a:r>
                  <a:rPr lang="en-ZA" dirty="0"/>
                  <a:t> </a:t>
                </a:r>
                <a14:m>
                  <m:oMath xmlns:m="http://schemas.openxmlformats.org/officeDocument/2006/math">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𝑧</m:t>
                        </m:r>
                      </m:e>
                    </m:d>
                  </m:oMath>
                </a14:m>
                <a:r>
                  <a:rPr lang="en-ZA" dirty="0"/>
                  <a:t> and angle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𝜑</m:t>
                    </m:r>
                  </m:oMath>
                </a14:m>
                <a:r>
                  <a:rPr lang="el-GR" dirty="0"/>
                  <a:t>, </a:t>
                </a:r>
                <a:r>
                  <a:rPr lang="en-ZA" dirty="0"/>
                  <a:t>instead of real and imaginary parts.</a:t>
                </a:r>
                <a:r>
                  <a:rPr lang="en-ZA" b="0" baseline="0" dirty="0"/>
                  <a:t> </a:t>
                </a:r>
                <a:r>
                  <a:rPr lang="en-ZA" b="0" dirty="0"/>
                  <a:t>The phase angle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𝜑</m:t>
                    </m:r>
                  </m:oMath>
                </a14:m>
                <a:r>
                  <a:rPr lang="el-GR" b="0" dirty="0"/>
                  <a:t> </a:t>
                </a:r>
                <a:r>
                  <a:rPr lang="en-ZA" b="0" dirty="0"/>
                  <a:t>is measured </a:t>
                </a:r>
                <a:r>
                  <a:rPr lang="en-ZA" b="0" dirty="0" err="1"/>
                  <a:t>counterclockwise</a:t>
                </a:r>
                <a:r>
                  <a:rPr lang="en-ZA" b="0" dirty="0"/>
                  <a:t> from the positive real axis.</a:t>
                </a:r>
              </a:p>
              <a:p>
                <a:pPr marL="171450" indent="-171450" algn="just">
                  <a:buFont typeface="Arial" panose="020B0604020202020204" pitchFamily="34" charset="0"/>
                  <a:buChar char="•"/>
                </a:pPr>
                <a:endParaRPr lang="en-ZA" b="0" dirty="0"/>
              </a:p>
              <a:p>
                <a:pPr marL="228600" indent="-228600" algn="just">
                  <a:buFont typeface="+mj-lt"/>
                  <a:buAutoNum type="arabicPeriod"/>
                </a:pPr>
                <a:r>
                  <a:rPr lang="en-ZA" b="0" dirty="0"/>
                  <a:t>By expressing:</a:t>
                </a:r>
                <a:r>
                  <a:rPr lang="en-ZA" b="0" baseline="0" dirty="0"/>
                  <a:t> </a:t>
                </a:r>
                <a14:m>
                  <m:oMath xmlns:m="http://schemas.openxmlformats.org/officeDocument/2006/math">
                    <m:func>
                      <m:funcPr>
                        <m:ctrlPr>
                          <a:rPr lang="en-US" sz="1200" i="1" smtClean="0">
                            <a:latin typeface="Cambria Math" panose="02040503050406030204" pitchFamily="18" charset="0"/>
                          </a:rPr>
                        </m:ctrlPr>
                      </m:funcPr>
                      <m:fName>
                        <m:r>
                          <a:rPr lang="en-US" sz="1200" b="0" i="1" smtClean="0">
                            <a:latin typeface="Cambria Math" panose="02040503050406030204" pitchFamily="18" charset="0"/>
                          </a:rPr>
                          <m:t>𝑥</m:t>
                        </m:r>
                        <m:r>
                          <a:rPr lang="en-US" sz="1200" b="0" i="1" smtClean="0">
                            <a:latin typeface="Cambria Math" panose="02040503050406030204" pitchFamily="18" charset="0"/>
                          </a:rPr>
                          <m:t>=</m:t>
                        </m:r>
                        <m:r>
                          <a:rPr lang="en-US" sz="1200" b="0" i="1" smtClean="0">
                            <a:latin typeface="Cambria Math" panose="02040503050406030204" pitchFamily="18" charset="0"/>
                          </a:rPr>
                          <m:t>𝑟𝑐𝑜𝑠</m:t>
                        </m:r>
                      </m:fName>
                      <m:e>
                        <m:r>
                          <a:rPr lang="en-US" sz="1200" i="1">
                            <a:latin typeface="Cambria Math" panose="02040503050406030204" pitchFamily="18" charset="0"/>
                            <a:ea typeface="Cambria Math" panose="02040503050406030204" pitchFamily="18" charset="0"/>
                          </a:rPr>
                          <m:t>𝜑</m:t>
                        </m:r>
                      </m:e>
                    </m:func>
                  </m:oMath>
                </a14:m>
                <a:r>
                  <a:rPr lang="en-ZA" b="0" i="1" dirty="0"/>
                  <a:t>, </a:t>
                </a:r>
                <a14:m>
                  <m:oMath xmlns:m="http://schemas.openxmlformats.org/officeDocument/2006/math">
                    <m:func>
                      <m:funcPr>
                        <m:ctrlPr>
                          <a:rPr lang="en-US" sz="1200" i="1" smtClean="0">
                            <a:latin typeface="Cambria Math" panose="02040503050406030204" pitchFamily="18" charset="0"/>
                          </a:rPr>
                        </m:ctrlPr>
                      </m:funcPr>
                      <m:fName>
                        <m:r>
                          <a:rPr lang="en-US" sz="1200" b="0" i="1" smtClean="0">
                            <a:latin typeface="Cambria Math" panose="02040503050406030204" pitchFamily="18" charset="0"/>
                          </a:rPr>
                          <m:t>𝑦</m:t>
                        </m:r>
                        <m:r>
                          <a:rPr lang="en-US" sz="1200" b="0" i="1" smtClean="0">
                            <a:latin typeface="Cambria Math" panose="02040503050406030204" pitchFamily="18" charset="0"/>
                          </a:rPr>
                          <m:t>=</m:t>
                        </m:r>
                        <m:r>
                          <a:rPr lang="en-US" sz="1200" b="0" i="1" smtClean="0">
                            <a:latin typeface="Cambria Math" panose="02040503050406030204" pitchFamily="18" charset="0"/>
                          </a:rPr>
                          <m:t>𝑟𝑠𝑖𝑛</m:t>
                        </m:r>
                      </m:fName>
                      <m:e>
                        <m:r>
                          <a:rPr lang="en-US" sz="1200" i="1">
                            <a:latin typeface="Cambria Math" panose="02040503050406030204" pitchFamily="18" charset="0"/>
                            <a:ea typeface="Cambria Math" panose="02040503050406030204" pitchFamily="18" charset="0"/>
                          </a:rPr>
                          <m:t>𝜑</m:t>
                        </m:r>
                      </m:e>
                    </m:func>
                  </m:oMath>
                </a14:m>
                <a:r>
                  <a:rPr lang="en-ZA" b="0" i="1" dirty="0"/>
                  <a:t> </a:t>
                </a:r>
                <a:r>
                  <a:rPr lang="en-ZA" b="0" dirty="0"/>
                  <a:t>we obtain the polar form of a complex number</a:t>
                </a:r>
              </a:p>
              <a:p>
                <a:pPr marL="0" indent="0" algn="just">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𝑧</m:t>
                      </m:r>
                      <m:r>
                        <a:rPr lang="en-US" sz="1200" i="1" smtClean="0">
                          <a:latin typeface="Cambria Math" panose="02040503050406030204" pitchFamily="18" charset="0"/>
                        </a:rPr>
                        <m:t>=</m:t>
                      </m:r>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𝑧</m:t>
                          </m:r>
                        </m:e>
                      </m:d>
                      <m:d>
                        <m:dPr>
                          <m:ctrlPr>
                            <a:rPr lang="en-US" sz="1200" i="1" smtClean="0">
                              <a:latin typeface="Cambria Math" panose="02040503050406030204" pitchFamily="18" charset="0"/>
                            </a:rPr>
                          </m:ctrlPr>
                        </m:dPr>
                        <m:e>
                          <m:func>
                            <m:funcPr>
                              <m:ctrlPr>
                                <a:rPr lang="en-US" sz="1200" b="0" i="1" smtClean="0">
                                  <a:latin typeface="Cambria Math" panose="02040503050406030204" pitchFamily="18" charset="0"/>
                                </a:rPr>
                              </m:ctrlPr>
                            </m:funcPr>
                            <m:fName>
                              <m:r>
                                <m:rPr>
                                  <m:sty m:val="p"/>
                                </m:rPr>
                                <a:rPr lang="en-US" sz="1200" b="0" i="0" smtClean="0">
                                  <a:latin typeface="Cambria Math" panose="02040503050406030204" pitchFamily="18" charset="0"/>
                                </a:rPr>
                                <m:t>cos</m:t>
                              </m:r>
                            </m:fName>
                            <m:e>
                              <m:r>
                                <a:rPr lang="en-US" sz="1200" i="1">
                                  <a:latin typeface="Cambria Math" panose="02040503050406030204" pitchFamily="18" charset="0"/>
                                  <a:ea typeface="Cambria Math" panose="02040503050406030204" pitchFamily="18" charset="0"/>
                                </a:rPr>
                                <m:t>𝜑</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𝑖</m:t>
                              </m:r>
                              <m:func>
                                <m:funcPr>
                                  <m:ctrlPr>
                                    <a:rPr lang="en-US" sz="1200" b="0" i="1" smtClean="0">
                                      <a:latin typeface="Cambria Math" panose="02040503050406030204" pitchFamily="18" charset="0"/>
                                      <a:ea typeface="Cambria Math" panose="02040503050406030204" pitchFamily="18" charset="0"/>
                                    </a:rPr>
                                  </m:ctrlPr>
                                </m:funcPr>
                                <m:fName>
                                  <m:r>
                                    <m:rPr>
                                      <m:sty m:val="p"/>
                                    </m:rPr>
                                    <a:rPr lang="en-US" sz="1200" b="0" i="0" smtClean="0">
                                      <a:latin typeface="Cambria Math" panose="02040503050406030204" pitchFamily="18" charset="0"/>
                                      <a:ea typeface="Cambria Math" panose="02040503050406030204" pitchFamily="18" charset="0"/>
                                    </a:rPr>
                                    <m:t>sin</m:t>
                                  </m:r>
                                </m:fName>
                                <m:e>
                                  <m:r>
                                    <a:rPr lang="en-US" sz="1200" i="1">
                                      <a:latin typeface="Cambria Math" panose="02040503050406030204" pitchFamily="18" charset="0"/>
                                      <a:ea typeface="Cambria Math" panose="02040503050406030204" pitchFamily="18" charset="0"/>
                                    </a:rPr>
                                    <m:t>𝜑</m:t>
                                  </m:r>
                                </m:e>
                              </m:func>
                            </m:e>
                          </m:func>
                        </m:e>
                      </m:d>
                    </m:oMath>
                  </m:oMathPara>
                </a14:m>
                <a:endParaRPr lang="en-US" sz="1200" dirty="0">
                  <a:ea typeface="Cambria Math" panose="02040503050406030204" pitchFamily="18" charset="0"/>
                </a:endParaRPr>
              </a:p>
              <a:p>
                <a:pPr marL="0" indent="0" algn="just">
                  <a:buFont typeface="Arial" panose="020B0604020202020204" pitchFamily="34" charset="0"/>
                  <a:buNone/>
                </a:pPr>
                <a:endParaRPr lang="en-US" sz="1200" dirty="0">
                  <a:ea typeface="Cambria Math" panose="02040503050406030204" pitchFamily="18" charset="0"/>
                </a:endParaRPr>
              </a:p>
              <a:p>
                <a:pPr marL="228600" indent="-228600" algn="just">
                  <a:buFont typeface="+mj-lt"/>
                  <a:buAutoNum type="arabicPeriod" startAt="2"/>
                </a:pPr>
                <a:r>
                  <a:rPr lang="en-ZA" b="0" dirty="0"/>
                  <a:t>Using Euler’s formula, this can be rewritten in exponential form:</a:t>
                </a:r>
                <a:r>
                  <a:rPr lang="en-ZA" b="0" baseline="0" dirty="0"/>
                  <a:t> </a:t>
                </a:r>
                <a14:m>
                  <m:oMath xmlns:m="http://schemas.openxmlformats.org/officeDocument/2006/math">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𝑧</m:t>
                        </m:r>
                        <m:r>
                          <a:rPr lang="en-US" sz="1200" b="0" i="1" smtClean="0">
                            <a:latin typeface="Cambria Math" panose="02040503050406030204" pitchFamily="18" charset="0"/>
                          </a:rPr>
                          <m:t>=</m:t>
                        </m:r>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𝑧</m:t>
                            </m:r>
                          </m:e>
                        </m:d>
                        <m:r>
                          <a:rPr lang="en-US" sz="1200" i="1">
                            <a:latin typeface="Cambria Math" panose="02040503050406030204" pitchFamily="18" charset="0"/>
                          </a:rPr>
                          <m:t>𝑒</m:t>
                        </m:r>
                      </m:e>
                      <m:sup>
                        <m:r>
                          <a:rPr lang="en-US" sz="1200" i="1">
                            <a:latin typeface="Cambria Math" panose="02040503050406030204" pitchFamily="18" charset="0"/>
                          </a:rPr>
                          <m:t>𝑖</m:t>
                        </m:r>
                        <m:r>
                          <a:rPr lang="en-US" sz="1200" i="1">
                            <a:latin typeface="Cambria Math" panose="02040503050406030204" pitchFamily="18" charset="0"/>
                            <a:ea typeface="Cambria Math" panose="02040503050406030204" pitchFamily="18" charset="0"/>
                          </a:rPr>
                          <m:t>𝜑</m:t>
                        </m:r>
                      </m:sup>
                    </m:sSup>
                  </m:oMath>
                </a14:m>
                <a:endParaRPr lang="en-ZA" b="0" dirty="0"/>
              </a:p>
              <a:p>
                <a:pPr marL="228600" indent="-228600" algn="just">
                  <a:buFont typeface="+mj-lt"/>
                  <a:buAutoNum type="arabicPeriod" startAt="2"/>
                </a:pPr>
                <a:endParaRPr lang="en-ZA" b="0" dirty="0"/>
              </a:p>
              <a:p>
                <a:pPr marL="228600" indent="-228600" algn="just">
                  <a:buFont typeface="+mj-lt"/>
                  <a:buAutoNum type="arabicPeriod" startAt="2"/>
                </a:pPr>
                <a:r>
                  <a:rPr lang="en-ZA" b="0" dirty="0"/>
                  <a:t>Another useful formula is De </a:t>
                </a:r>
                <a:r>
                  <a:rPr lang="en-ZA" b="0" dirty="0" err="1"/>
                  <a:t>Moivre’s</a:t>
                </a:r>
                <a:r>
                  <a:rPr lang="en-ZA" b="0" dirty="0"/>
                  <a:t> formula, which extends Euler’s formula to integer powers:</a:t>
                </a:r>
              </a:p>
              <a:p>
                <a:pPr marL="0" marR="0" lvl="0" indent="0" algn="just"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lang="en-ZA" sz="1200" i="1" smtClean="0">
                              <a:latin typeface="Cambria Math" panose="02040503050406030204" pitchFamily="18" charset="0"/>
                            </a:rPr>
                          </m:ctrlPr>
                        </m:sSupPr>
                        <m:e>
                          <m:r>
                            <a:rPr lang="sr-Latn-RS" sz="1200" i="1">
                              <a:latin typeface="Cambria Math" panose="02040503050406030204" pitchFamily="18" charset="0"/>
                            </a:rPr>
                            <m:t>(</m:t>
                          </m:r>
                          <m:func>
                            <m:funcPr>
                              <m:ctrlPr>
                                <a:rPr lang="en-ZA" sz="1200" i="1">
                                  <a:latin typeface="Cambria Math" panose="02040503050406030204" pitchFamily="18" charset="0"/>
                                </a:rPr>
                              </m:ctrlPr>
                            </m:funcPr>
                            <m:fName>
                              <m:r>
                                <m:rPr>
                                  <m:sty m:val="p"/>
                                </m:rPr>
                                <a:rPr lang="sr-Latn-RS" sz="1200">
                                  <a:latin typeface="Cambria Math" panose="02040503050406030204" pitchFamily="18" charset="0"/>
                                </a:rPr>
                                <m:t>cos</m:t>
                              </m:r>
                            </m:fName>
                            <m:e>
                              <m:r>
                                <a:rPr lang="sr-Latn-RS" sz="1200" i="1">
                                  <a:latin typeface="Cambria Math" panose="02040503050406030204" pitchFamily="18" charset="0"/>
                                </a:rPr>
                                <m:t>𝜑</m:t>
                              </m:r>
                            </m:e>
                          </m:func>
                          <m:r>
                            <a:rPr lang="sr-Latn-RS" sz="1200" i="1">
                              <a:latin typeface="Cambria Math" panose="02040503050406030204" pitchFamily="18" charset="0"/>
                            </a:rPr>
                            <m:t>+</m:t>
                          </m:r>
                          <m:r>
                            <a:rPr lang="sr-Latn-RS" sz="1200" i="1">
                              <a:latin typeface="Cambria Math" panose="02040503050406030204" pitchFamily="18" charset="0"/>
                            </a:rPr>
                            <m:t>𝑖</m:t>
                          </m:r>
                          <m:func>
                            <m:funcPr>
                              <m:ctrlPr>
                                <a:rPr lang="en-ZA" sz="1200" i="1">
                                  <a:latin typeface="Cambria Math" panose="02040503050406030204" pitchFamily="18" charset="0"/>
                                </a:rPr>
                              </m:ctrlPr>
                            </m:funcPr>
                            <m:fName>
                              <m:r>
                                <m:rPr>
                                  <m:sty m:val="p"/>
                                </m:rPr>
                                <a:rPr lang="sr-Latn-RS" sz="1200">
                                  <a:latin typeface="Cambria Math" panose="02040503050406030204" pitchFamily="18" charset="0"/>
                                </a:rPr>
                                <m:t>sin</m:t>
                              </m:r>
                            </m:fName>
                            <m:e>
                              <m:r>
                                <a:rPr lang="sr-Latn-RS" sz="1200" i="1">
                                  <a:latin typeface="Cambria Math" panose="02040503050406030204" pitchFamily="18" charset="0"/>
                                </a:rPr>
                                <m:t>𝜑</m:t>
                              </m:r>
                            </m:e>
                          </m:func>
                          <m:r>
                            <a:rPr lang="sr-Latn-RS" sz="1200" i="1">
                              <a:latin typeface="Cambria Math" panose="02040503050406030204" pitchFamily="18" charset="0"/>
                            </a:rPr>
                            <m:t>)</m:t>
                          </m:r>
                        </m:e>
                        <m:sup>
                          <m:r>
                            <a:rPr lang="sr-Latn-RS" sz="1200" i="1">
                              <a:latin typeface="Cambria Math" panose="02040503050406030204" pitchFamily="18" charset="0"/>
                            </a:rPr>
                            <m:t>𝑛</m:t>
                          </m:r>
                        </m:sup>
                      </m:sSup>
                      <m:r>
                        <a:rPr lang="sr-Latn-RS" sz="1200" i="1">
                          <a:latin typeface="Cambria Math" panose="02040503050406030204" pitchFamily="18" charset="0"/>
                        </a:rPr>
                        <m:t>=</m:t>
                      </m:r>
                      <m:func>
                        <m:funcPr>
                          <m:ctrlPr>
                            <a:rPr lang="en-ZA" sz="1200" i="1">
                              <a:latin typeface="Cambria Math" panose="02040503050406030204" pitchFamily="18" charset="0"/>
                            </a:rPr>
                          </m:ctrlPr>
                        </m:funcPr>
                        <m:fName>
                          <m:r>
                            <m:rPr>
                              <m:sty m:val="p"/>
                            </m:rPr>
                            <a:rPr lang="sr-Latn-RS" sz="1200">
                              <a:latin typeface="Cambria Math" panose="02040503050406030204" pitchFamily="18" charset="0"/>
                            </a:rPr>
                            <m:t>cos</m:t>
                          </m:r>
                        </m:fName>
                        <m:e>
                          <m:r>
                            <a:rPr lang="sr-Latn-RS" sz="1200" i="1">
                              <a:latin typeface="Cambria Math" panose="02040503050406030204" pitchFamily="18" charset="0"/>
                            </a:rPr>
                            <m:t>𝑛</m:t>
                          </m:r>
                          <m:r>
                            <a:rPr lang="sr-Latn-RS" sz="1200" i="1">
                              <a:latin typeface="Cambria Math" panose="02040503050406030204" pitchFamily="18" charset="0"/>
                            </a:rPr>
                            <m:t>𝜑</m:t>
                          </m:r>
                          <m:r>
                            <a:rPr lang="sr-Latn-RS" sz="1200" i="1">
                              <a:latin typeface="Cambria Math" panose="02040503050406030204" pitchFamily="18" charset="0"/>
                            </a:rPr>
                            <m:t>+</m:t>
                          </m:r>
                          <m:r>
                            <a:rPr lang="sr-Latn-RS" sz="1200" i="1">
                              <a:latin typeface="Cambria Math" panose="02040503050406030204" pitchFamily="18" charset="0"/>
                            </a:rPr>
                            <m:t>𝑖</m:t>
                          </m:r>
                          <m:func>
                            <m:funcPr>
                              <m:ctrlPr>
                                <a:rPr lang="en-ZA" sz="1200" i="1">
                                  <a:latin typeface="Cambria Math" panose="02040503050406030204" pitchFamily="18" charset="0"/>
                                </a:rPr>
                              </m:ctrlPr>
                            </m:funcPr>
                            <m:fName>
                              <m:r>
                                <m:rPr>
                                  <m:sty m:val="p"/>
                                </m:rPr>
                                <a:rPr lang="sr-Latn-RS" sz="1200">
                                  <a:latin typeface="Cambria Math" panose="02040503050406030204" pitchFamily="18" charset="0"/>
                                </a:rPr>
                                <m:t>sin</m:t>
                              </m:r>
                            </m:fName>
                            <m:e>
                              <m:r>
                                <a:rPr lang="sr-Latn-RS" sz="1200" i="1">
                                  <a:latin typeface="Cambria Math" panose="02040503050406030204" pitchFamily="18" charset="0"/>
                                </a:rPr>
                                <m:t>𝑛</m:t>
                              </m:r>
                              <m:r>
                                <a:rPr lang="sr-Latn-RS" sz="1200" i="1">
                                  <a:latin typeface="Cambria Math" panose="02040503050406030204" pitchFamily="18" charset="0"/>
                                </a:rPr>
                                <m:t>𝜑</m:t>
                              </m:r>
                            </m:e>
                          </m:func>
                        </m:e>
                      </m:func>
                    </m:oMath>
                  </m:oMathPara>
                </a14:m>
                <a:endParaRPr lang="en-US" sz="120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kern="1200" dirty="0">
                    <a:solidFill>
                      <a:schemeClr val="tx1"/>
                    </a:solidFill>
                    <a:effectLst/>
                    <a:latin typeface="+mn-lt"/>
                    <a:ea typeface="+mn-ea"/>
                    <a:cs typeface="+mn-cs"/>
                  </a:rPr>
                  <a:t>A point (𝑥, 𝑦) in the complex plane is associated with the position vector drawn from the origin to that point. The angle </a:t>
                </a:r>
                <a:r>
                  <a:rPr lang="en-US" sz="2000" i="0">
                    <a:latin typeface="Cambria Math" panose="02040503050406030204" pitchFamily="18" charset="0"/>
                    <a:ea typeface="Cambria Math" panose="02040503050406030204" pitchFamily="18" charset="0"/>
                  </a:rPr>
                  <a:t>𝜑</a:t>
                </a:r>
                <a:r>
                  <a:rPr lang="en-US" sz="2000" kern="1200" dirty="0">
                    <a:solidFill>
                      <a:schemeClr val="tx1"/>
                    </a:solidFill>
                    <a:effectLst/>
                    <a:latin typeface="+mn-lt"/>
                    <a:ea typeface="+mn-ea"/>
                    <a:cs typeface="+mn-cs"/>
                  </a:rPr>
                  <a:t> this vector makes with x-axis is called the </a:t>
                </a:r>
                <a:r>
                  <a:rPr lang="en-US" sz="2000" kern="1200">
                    <a:solidFill>
                      <a:schemeClr val="tx1"/>
                    </a:solidFill>
                    <a:effectLst/>
                    <a:latin typeface="+mn-lt"/>
                    <a:ea typeface="+mn-ea"/>
                    <a:cs typeface="+mn-cs"/>
                  </a:rPr>
                  <a:t>phase angle</a:t>
                </a:r>
                <a:r>
                  <a:rPr lang="en-US" sz="2000" kern="1200" baseline="0">
                    <a:solidFill>
                      <a:schemeClr val="tx1"/>
                    </a:solidFill>
                    <a:effectLst/>
                    <a:latin typeface="+mn-lt"/>
                    <a:ea typeface="+mn-ea"/>
                    <a:cs typeface="+mn-cs"/>
                  </a:rPr>
                  <a:t> or simply a phase.</a:t>
                </a:r>
                <a:endParaRPr lang="en-US" sz="2000" kern="1200" dirty="0">
                  <a:solidFill>
                    <a:schemeClr val="tx1"/>
                  </a:solidFill>
                  <a:effectLst/>
                  <a:latin typeface="+mn-lt"/>
                  <a:ea typeface="+mn-ea"/>
                  <a:cs typeface="+mn-cs"/>
                </a:endParaRPr>
              </a:p>
              <a:p>
                <a:endParaRPr lang="en-US" sz="2000" kern="1200" dirty="0">
                  <a:solidFill>
                    <a:schemeClr val="tx1"/>
                  </a:solidFill>
                  <a:effectLst/>
                  <a:latin typeface="+mn-lt"/>
                  <a:ea typeface="+mn-ea"/>
                  <a:cs typeface="+mn-cs"/>
                </a:endParaRPr>
              </a:p>
              <a:p>
                <a:r>
                  <a:rPr lang="en-US" sz="2000" kern="1200" dirty="0">
                    <a:solidFill>
                      <a:schemeClr val="tx1"/>
                    </a:solidFill>
                    <a:effectLst/>
                    <a:latin typeface="+mn-lt"/>
                    <a:ea typeface="+mn-ea"/>
                    <a:cs typeface="+mn-cs"/>
                  </a:rPr>
                  <a:t>Mathematician Leonhard Euler (1707–1783) established the relationship known as </a:t>
                </a:r>
                <a:r>
                  <a:rPr lang="en-US" sz="2000" b="1" i="1" kern="1200" dirty="0">
                    <a:solidFill>
                      <a:schemeClr val="tx1"/>
                    </a:solidFill>
                    <a:effectLst/>
                    <a:latin typeface="+mn-lt"/>
                    <a:ea typeface="+mn-ea"/>
                    <a:cs typeface="+mn-cs"/>
                  </a:rPr>
                  <a:t>Euler’s formula </a:t>
                </a:r>
                <a:r>
                  <a:rPr lang="en-US" sz="2000" b="0" i="0" kern="1200" dirty="0">
                    <a:solidFill>
                      <a:schemeClr val="tx1"/>
                    </a:solidFill>
                    <a:effectLst/>
                    <a:latin typeface="+mn-lt"/>
                    <a:ea typeface="+mn-ea"/>
                    <a:cs typeface="+mn-cs"/>
                  </a:rPr>
                  <a:t>that </a:t>
                </a:r>
                <a:r>
                  <a:rPr lang="en-US" sz="2000" kern="1200" dirty="0">
                    <a:solidFill>
                      <a:schemeClr val="tx1"/>
                    </a:solidFill>
                    <a:effectLst/>
                    <a:latin typeface="+mn-lt"/>
                    <a:ea typeface="+mn-ea"/>
                    <a:cs typeface="+mn-cs"/>
                  </a:rPr>
                  <a:t>states:</a:t>
                </a:r>
                <a:r>
                  <a:rPr lang="en-US" sz="2000" kern="1200" baseline="0" dirty="0">
                    <a:solidFill>
                      <a:schemeClr val="tx1"/>
                    </a:solidFill>
                    <a:effectLst/>
                    <a:latin typeface="+mn-lt"/>
                    <a:ea typeface="+mn-ea"/>
                    <a:cs typeface="+mn-cs"/>
                  </a:rPr>
                  <a:t> </a:t>
                </a:r>
                <a:r>
                  <a:rPr lang="en-US" sz="2000" i="0">
                    <a:latin typeface="Cambria Math" panose="02040503050406030204" pitchFamily="18" charset="0"/>
                  </a:rPr>
                  <a:t>〖𝑒^𝑖</a:t>
                </a:r>
                <a:r>
                  <a:rPr lang="en-US" sz="2000" i="0">
                    <a:latin typeface="Cambria Math" panose="02040503050406030204" pitchFamily="18" charset="0"/>
                    <a:ea typeface="Cambria Math" panose="02040503050406030204" pitchFamily="18" charset="0"/>
                  </a:rPr>
                  <a:t>𝜑</a:t>
                </a:r>
                <a:r>
                  <a:rPr lang="en-US" sz="2000" i="0">
                    <a:latin typeface="Cambria Math" panose="02040503050406030204" pitchFamily="18" charset="0"/>
                  </a:rPr>
                  <a:t>=cos〗⁡</a:t>
                </a:r>
                <a:r>
                  <a:rPr lang="en-US" sz="2000" i="0">
                    <a:latin typeface="Cambria Math" panose="02040503050406030204" pitchFamily="18" charset="0"/>
                    <a:ea typeface="Cambria Math" panose="02040503050406030204" pitchFamily="18" charset="0"/>
                  </a:rPr>
                  <a:t>𝜑 \</a:t>
                </a:r>
                <a:r>
                  <a:rPr lang="en-US" sz="2000" i="0">
                    <a:latin typeface="Cambria Math" panose="02040503050406030204" pitchFamily="18" charset="0"/>
                  </a:rPr>
                  <a:t>+𝑖 sin⁡</a:t>
                </a:r>
                <a:r>
                  <a:rPr lang="en-US" sz="2000" i="0">
                    <a:latin typeface="Cambria Math" panose="02040503050406030204" pitchFamily="18" charset="0"/>
                    <a:ea typeface="Cambria Math" panose="02040503050406030204" pitchFamily="18" charset="0"/>
                  </a:rPr>
                  <a:t>𝜑</a:t>
                </a:r>
                <a:r>
                  <a:rPr lang="en-US" sz="2000" dirty="0"/>
                  <a:t> where </a:t>
                </a:r>
                <a:r>
                  <a:rPr lang="en-US" sz="2000" i="0">
                    <a:latin typeface="Cambria Math" panose="02040503050406030204" pitchFamily="18" charset="0"/>
                    <a:ea typeface="Cambria Math" panose="02040503050406030204" pitchFamily="18" charset="0"/>
                  </a:rPr>
                  <a:t>𝜑</a:t>
                </a:r>
                <a:r>
                  <a:rPr lang="en-US" sz="2000" dirty="0"/>
                  <a:t> is some real number. </a:t>
                </a:r>
              </a:p>
              <a:p>
                <a:endParaRPr lang="en-US" sz="2000" dirty="0"/>
              </a:p>
              <a:p>
                <a:r>
                  <a:rPr lang="en-US" sz="2000" dirty="0"/>
                  <a:t>In our case this number is the phase angle that the position vector makes with the x-axis so we can express complex number in so called polar form as</a:t>
                </a:r>
                <a:r>
                  <a:rPr lang="en-US" sz="2000" baseline="0" dirty="0"/>
                  <a:t>: </a:t>
                </a:r>
                <a:r>
                  <a:rPr lang="en-US" sz="2000" dirty="0"/>
                  <a:t> </a:t>
                </a:r>
                <a:r>
                  <a:rPr lang="en-US" sz="2000" b="0" i="0">
                    <a:latin typeface="Cambria Math" panose="02040503050406030204" pitchFamily="18" charset="0"/>
                  </a:rPr>
                  <a:t>𝑧</a:t>
                </a:r>
                <a:r>
                  <a:rPr lang="en-US" sz="2000" i="0">
                    <a:latin typeface="Cambria Math" panose="02040503050406030204" pitchFamily="18" charset="0"/>
                  </a:rPr>
                  <a:t>〖=|𝑧|𝑒〗^𝑖</a:t>
                </a:r>
                <a:r>
                  <a:rPr lang="en-US" sz="2000" i="0">
                    <a:latin typeface="Cambria Math" panose="02040503050406030204" pitchFamily="18" charset="0"/>
                    <a:ea typeface="Cambria Math" panose="02040503050406030204" pitchFamily="18" charset="0"/>
                  </a:rPr>
                  <a:t>𝜑</a:t>
                </a:r>
                <a:endParaRPr lang="en-US" sz="2000" dirty="0"/>
              </a:p>
              <a:p>
                <a:endParaRPr lang="en-US" sz="2000" dirty="0"/>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12</a:t>
            </a:fld>
            <a:endParaRPr lang="en-US"/>
          </a:p>
        </p:txBody>
      </p:sp>
    </p:spTree>
    <p:extLst>
      <p:ext uri="{BB962C8B-B14F-4D97-AF65-F5344CB8AC3E}">
        <p14:creationId xmlns:p14="http://schemas.microsoft.com/office/powerpoint/2010/main" val="27761061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In quantum computing, complex numbers lie on the unit circle, meaning their modulus is always 1, which simplifies many formulas.</a:t>
                </a:r>
              </a:p>
              <a:p>
                <a:pPr algn="just"/>
                <a:endParaRPr lang="en-ZA" b="0" dirty="0"/>
              </a:p>
              <a:p>
                <a:pPr algn="just"/>
                <a:r>
                  <a:rPr lang="en-ZA" b="0" dirty="0"/>
                  <a:t>For example, the left diagram shows complex numbers, </a:t>
                </a:r>
                <a14:m>
                  <m:oMath xmlns:m="http://schemas.openxmlformats.org/officeDocument/2006/math">
                    <m:sSub>
                      <m:sSubPr>
                        <m:ctrlPr>
                          <a:rPr lang="en-US" sz="1200" b="0" i="1" smtClean="0">
                            <a:solidFill>
                              <a:schemeClr val="tx1"/>
                            </a:solidFill>
                            <a:latin typeface="Cambria Math" panose="02040503050406030204" pitchFamily="18" charset="0"/>
                            <a:ea typeface="Cambria Math" panose="02040503050406030204" pitchFamily="18" charset="0"/>
                          </a:rPr>
                        </m:ctrlPr>
                      </m:sSubPr>
                      <m:e>
                        <m:r>
                          <a:rPr lang="en-US" sz="1200" b="0" i="1" smtClean="0">
                            <a:solidFill>
                              <a:schemeClr val="tx1"/>
                            </a:solidFill>
                            <a:latin typeface="Cambria Math" panose="02040503050406030204" pitchFamily="18" charset="0"/>
                            <a:ea typeface="Cambria Math" panose="02040503050406030204" pitchFamily="18" charset="0"/>
                          </a:rPr>
                          <m:t>𝑧</m:t>
                        </m:r>
                      </m:e>
                      <m:sub>
                        <m:r>
                          <a:rPr lang="en-US" sz="1200" b="0" i="1" smtClean="0">
                            <a:solidFill>
                              <a:schemeClr val="tx1"/>
                            </a:solidFill>
                            <a:latin typeface="Cambria Math" panose="02040503050406030204" pitchFamily="18" charset="0"/>
                            <a:ea typeface="Cambria Math" panose="02040503050406030204" pitchFamily="18" charset="0"/>
                          </a:rPr>
                          <m:t>1</m:t>
                        </m:r>
                      </m:sub>
                    </m:sSub>
                  </m:oMath>
                </a14:m>
                <a:r>
                  <a:rPr lang="en-ZA" b="0" dirty="0"/>
                  <a:t>​ and </a:t>
                </a:r>
                <a14:m>
                  <m:oMath xmlns:m="http://schemas.openxmlformats.org/officeDocument/2006/math">
                    <m:sSub>
                      <m:sSubPr>
                        <m:ctrlPr>
                          <a:rPr lang="en-US" sz="1200" b="0" i="1" smtClean="0">
                            <a:solidFill>
                              <a:schemeClr val="tx1"/>
                            </a:solidFill>
                            <a:latin typeface="Cambria Math" panose="02040503050406030204" pitchFamily="18" charset="0"/>
                            <a:ea typeface="Cambria Math" panose="02040503050406030204" pitchFamily="18" charset="0"/>
                          </a:rPr>
                        </m:ctrlPr>
                      </m:sSubPr>
                      <m:e>
                        <m:r>
                          <a:rPr lang="en-US" sz="1200" b="0" i="1" smtClean="0">
                            <a:solidFill>
                              <a:schemeClr val="tx1"/>
                            </a:solidFill>
                            <a:latin typeface="Cambria Math" panose="02040503050406030204" pitchFamily="18" charset="0"/>
                            <a:ea typeface="Cambria Math" panose="02040503050406030204" pitchFamily="18" charset="0"/>
                          </a:rPr>
                          <m:t>𝑧</m:t>
                        </m:r>
                      </m:e>
                      <m:sub>
                        <m:r>
                          <a:rPr lang="en-US" sz="1200" b="0" i="1" smtClean="0">
                            <a:solidFill>
                              <a:schemeClr val="tx1"/>
                            </a:solidFill>
                            <a:latin typeface="Cambria Math" panose="02040503050406030204" pitchFamily="18" charset="0"/>
                            <a:ea typeface="Cambria Math" panose="02040503050406030204" pitchFamily="18" charset="0"/>
                          </a:rPr>
                          <m:t>2</m:t>
                        </m:r>
                      </m:sub>
                    </m:sSub>
                  </m:oMath>
                </a14:m>
                <a:r>
                  <a:rPr lang="en-ZA" b="0" dirty="0"/>
                  <a:t>​, defined by their phase angles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𝜑</m:t>
                        </m:r>
                      </m:e>
                      <m:sub>
                        <m:r>
                          <a:rPr lang="en-US" sz="1200" i="1">
                            <a:latin typeface="Cambria Math" panose="02040503050406030204" pitchFamily="18" charset="0"/>
                            <a:ea typeface="Cambria Math" panose="02040503050406030204" pitchFamily="18" charset="0"/>
                          </a:rPr>
                          <m:t>1</m:t>
                        </m:r>
                      </m:sub>
                    </m:sSub>
                  </m:oMath>
                </a14:m>
                <a:r>
                  <a:rPr lang="el-GR" b="0" dirty="0"/>
                  <a:t>​ </a:t>
                </a:r>
                <a:r>
                  <a:rPr lang="en-ZA" b="0" dirty="0"/>
                  <a:t>and </a:t>
                </a:r>
                <a14:m>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𝜑</m:t>
                        </m:r>
                      </m:e>
                      <m:sub>
                        <m:r>
                          <a:rPr lang="en-US" sz="1200" b="0" i="1" smtClean="0">
                            <a:latin typeface="Cambria Math" panose="02040503050406030204" pitchFamily="18" charset="0"/>
                            <a:ea typeface="Cambria Math" panose="02040503050406030204" pitchFamily="18" charset="0"/>
                          </a:rPr>
                          <m:t>2</m:t>
                        </m:r>
                      </m:sub>
                    </m:sSub>
                  </m:oMath>
                </a14:m>
                <a:r>
                  <a:rPr lang="el-GR" b="0" dirty="0"/>
                  <a:t>.</a:t>
                </a:r>
                <a:endParaRPr lang="en-US" b="0" dirty="0"/>
              </a:p>
              <a:p>
                <a:pPr algn="just"/>
                <a:endParaRPr lang="el-GR" b="0" dirty="0"/>
              </a:p>
              <a:p>
                <a:pPr marL="228600" indent="-228600" algn="just">
                  <a:buFont typeface="+mj-lt"/>
                  <a:buAutoNum type="arabicPeriod"/>
                </a:pPr>
                <a:r>
                  <a:rPr lang="en-ZA" b="0" dirty="0"/>
                  <a:t>When multiplying these two numbers, their phase angles add, following the exponentiation rule:</a:t>
                </a:r>
              </a:p>
              <a:p>
                <a:pPr algn="just"/>
                <a14:m>
                  <m:oMathPara xmlns:m="http://schemas.openxmlformats.org/officeDocument/2006/math">
                    <m:oMathParaPr>
                      <m:jc m:val="centerGroup"/>
                    </m:oMathParaPr>
                    <m:oMath xmlns:m="http://schemas.openxmlformats.org/officeDocument/2006/math">
                      <m:sSub>
                        <m:sSubPr>
                          <m:ctrlPr>
                            <a:rPr lang="en-US" sz="120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𝑧</m:t>
                          </m:r>
                        </m:e>
                        <m:sub>
                          <m:r>
                            <a:rPr lang="en-US" sz="1200" i="1">
                              <a:latin typeface="Cambria Math" panose="02040503050406030204" pitchFamily="18" charset="0"/>
                              <a:ea typeface="Cambria Math" panose="02040503050406030204" pitchFamily="18" charset="0"/>
                            </a:rPr>
                            <m:t>1</m:t>
                          </m:r>
                        </m:sub>
                      </m:sSub>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𝑧</m:t>
                          </m:r>
                        </m:e>
                        <m:sub>
                          <m:r>
                            <a:rPr lang="en-US" sz="1200" b="0" i="1" smtClean="0">
                              <a:latin typeface="Cambria Math" panose="02040503050406030204" pitchFamily="18" charset="0"/>
                              <a:ea typeface="Cambria Math" panose="02040503050406030204" pitchFamily="18" charset="0"/>
                            </a:rPr>
                            <m:t>2</m:t>
                          </m:r>
                        </m:sub>
                      </m:sSub>
                      <m:r>
                        <a:rPr lang="en-US" sz="1200" b="0" i="1" smtClean="0">
                          <a:solidFill>
                            <a:schemeClr val="tx1"/>
                          </a:solidFill>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𝑒</m:t>
                          </m:r>
                        </m:e>
                        <m:sup>
                          <m:r>
                            <a:rPr lang="en-US" sz="1200" i="1">
                              <a:latin typeface="Cambria Math" panose="02040503050406030204" pitchFamily="18" charset="0"/>
                              <a:ea typeface="Cambria Math" panose="02040503050406030204" pitchFamily="18" charset="0"/>
                            </a:rPr>
                            <m:t>𝑖</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𝜑</m:t>
                              </m:r>
                            </m:e>
                            <m:sub>
                              <m:r>
                                <a:rPr lang="en-US" sz="1200" i="1">
                                  <a:latin typeface="Cambria Math" panose="02040503050406030204" pitchFamily="18" charset="0"/>
                                  <a:ea typeface="Cambria Math" panose="02040503050406030204" pitchFamily="18" charset="0"/>
                                </a:rPr>
                                <m:t>1</m:t>
                              </m:r>
                            </m:sub>
                          </m:sSub>
                        </m:sup>
                      </m:sSup>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𝑒</m:t>
                          </m:r>
                        </m:e>
                        <m:sup>
                          <m:r>
                            <a:rPr lang="en-US" sz="1200" i="1">
                              <a:latin typeface="Cambria Math" panose="02040503050406030204" pitchFamily="18" charset="0"/>
                              <a:ea typeface="Cambria Math" panose="02040503050406030204" pitchFamily="18" charset="0"/>
                            </a:rPr>
                            <m:t>𝑖</m:t>
                          </m:r>
                          <m:sSub>
                            <m:sSubPr>
                              <m:ctrlPr>
                                <a:rPr lang="en-US" sz="1200" i="1">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𝜑</m:t>
                              </m:r>
                            </m:e>
                            <m:sub>
                              <m:r>
                                <a:rPr lang="en-US" sz="1200" b="0" i="1" smtClean="0">
                                  <a:latin typeface="Cambria Math" panose="02040503050406030204" pitchFamily="18" charset="0"/>
                                  <a:ea typeface="Cambria Math" panose="02040503050406030204" pitchFamily="18" charset="0"/>
                                </a:rPr>
                                <m:t>2</m:t>
                              </m:r>
                            </m:sub>
                          </m:sSub>
                        </m:sup>
                      </m:sSup>
                      <m:r>
                        <a:rPr lang="en-US" sz="1200" b="0" i="1" smtClean="0">
                          <a:latin typeface="Cambria Math" panose="02040503050406030204" pitchFamily="18" charset="0"/>
                          <a:ea typeface="Cambria Math" panose="02040503050406030204" pitchFamily="18" charset="0"/>
                        </a:rPr>
                        <m:t>=</m:t>
                      </m:r>
                      <m:sSup>
                        <m:sSupPr>
                          <m:ctrlPr>
                            <a:rPr lang="en-US" sz="1200" i="1" smtClean="0">
                              <a:solidFill>
                                <a:schemeClr val="tx1"/>
                              </a:solidFill>
                              <a:latin typeface="Cambria Math" panose="02040503050406030204" pitchFamily="18" charset="0"/>
                              <a:ea typeface="Cambria Math" panose="02040503050406030204" pitchFamily="18" charset="0"/>
                            </a:rPr>
                          </m:ctrlPr>
                        </m:sSupPr>
                        <m:e>
                          <m:r>
                            <a:rPr lang="en-US" sz="1200" i="1">
                              <a:solidFill>
                                <a:schemeClr val="tx1"/>
                              </a:solidFill>
                              <a:latin typeface="Cambria Math" panose="02040503050406030204" pitchFamily="18" charset="0"/>
                              <a:ea typeface="Cambria Math" panose="02040503050406030204" pitchFamily="18" charset="0"/>
                            </a:rPr>
                            <m:t>𝑒</m:t>
                          </m:r>
                        </m:e>
                        <m:sup>
                          <m:sSub>
                            <m:sSubPr>
                              <m:ctrlPr>
                                <a:rPr lang="en-US" sz="1200" i="1">
                                  <a:solidFill>
                                    <a:schemeClr val="tx1"/>
                                  </a:solidFill>
                                  <a:latin typeface="Cambria Math" panose="02040503050406030204" pitchFamily="18" charset="0"/>
                                  <a:ea typeface="Cambria Math" panose="02040503050406030204" pitchFamily="18" charset="0"/>
                                </a:rPr>
                              </m:ctrlPr>
                            </m:sSubPr>
                            <m:e>
                              <m:r>
                                <a:rPr lang="en-US" sz="1200" b="0" i="1" smtClean="0">
                                  <a:solidFill>
                                    <a:schemeClr val="tx1"/>
                                  </a:solidFill>
                                  <a:latin typeface="Cambria Math" panose="02040503050406030204" pitchFamily="18" charset="0"/>
                                  <a:ea typeface="Cambria Math" panose="02040503050406030204" pitchFamily="18" charset="0"/>
                                </a:rPr>
                                <m:t>𝑖</m:t>
                              </m:r>
                              <m:r>
                                <a:rPr lang="en-US" sz="1200" b="0" i="1" smtClean="0">
                                  <a:solidFill>
                                    <a:schemeClr val="tx1"/>
                                  </a:solidFill>
                                  <a:latin typeface="Cambria Math" panose="02040503050406030204" pitchFamily="18" charset="0"/>
                                  <a:ea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𝜑</m:t>
                              </m:r>
                            </m:e>
                            <m:sub>
                              <m:r>
                                <a:rPr lang="en-US" sz="1200" i="1">
                                  <a:solidFill>
                                    <a:schemeClr val="tx1"/>
                                  </a:solidFill>
                                  <a:latin typeface="Cambria Math" panose="02040503050406030204" pitchFamily="18" charset="0"/>
                                  <a:ea typeface="Cambria Math" panose="02040503050406030204" pitchFamily="18" charset="0"/>
                                </a:rPr>
                                <m:t>1</m:t>
                              </m:r>
                            </m:sub>
                          </m:sSub>
                          <m:r>
                            <a:rPr lang="en-US" sz="1200" i="1">
                              <a:solidFill>
                                <a:schemeClr val="tx1"/>
                              </a:solidFill>
                              <a:latin typeface="Cambria Math" panose="02040503050406030204" pitchFamily="18" charset="0"/>
                              <a:ea typeface="Cambria Math" panose="02040503050406030204" pitchFamily="18" charset="0"/>
                            </a:rPr>
                            <m:t>+</m:t>
                          </m:r>
                          <m:sSub>
                            <m:sSubPr>
                              <m:ctrlPr>
                                <a:rPr lang="en-US" sz="1200" i="1">
                                  <a:solidFill>
                                    <a:schemeClr val="tx1"/>
                                  </a:solidFill>
                                  <a:latin typeface="Cambria Math" panose="02040503050406030204" pitchFamily="18" charset="0"/>
                                  <a:ea typeface="Cambria Math" panose="02040503050406030204" pitchFamily="18" charset="0"/>
                                </a:rPr>
                              </m:ctrlPr>
                            </m:sSubPr>
                            <m:e>
                              <m:r>
                                <a:rPr lang="en-US" sz="1200" i="1">
                                  <a:solidFill>
                                    <a:schemeClr val="tx1"/>
                                  </a:solidFill>
                                  <a:latin typeface="Cambria Math" panose="02040503050406030204" pitchFamily="18" charset="0"/>
                                  <a:ea typeface="Cambria Math" panose="02040503050406030204" pitchFamily="18" charset="0"/>
                                </a:rPr>
                                <m:t>𝜑</m:t>
                              </m:r>
                            </m:e>
                            <m:sub>
                              <m:r>
                                <a:rPr lang="en-US" sz="1200" i="1">
                                  <a:solidFill>
                                    <a:schemeClr val="tx1"/>
                                  </a:solidFill>
                                  <a:latin typeface="Cambria Math" panose="02040503050406030204" pitchFamily="18" charset="0"/>
                                  <a:ea typeface="Cambria Math" panose="02040503050406030204" pitchFamily="18" charset="0"/>
                                </a:rPr>
                                <m:t>2</m:t>
                              </m:r>
                            </m:sub>
                          </m:sSub>
                          <m:r>
                            <a:rPr lang="en-US" sz="1200" b="0" i="1" smtClean="0">
                              <a:solidFill>
                                <a:schemeClr val="tx1"/>
                              </a:solidFill>
                              <a:latin typeface="Cambria Math" panose="02040503050406030204" pitchFamily="18" charset="0"/>
                              <a:ea typeface="Cambria Math" panose="02040503050406030204" pitchFamily="18" charset="0"/>
                            </a:rPr>
                            <m:t>)</m:t>
                          </m:r>
                        </m:sup>
                      </m:sSup>
                    </m:oMath>
                  </m:oMathPara>
                </a14:m>
                <a:endParaRPr lang="en-US" b="0" dirty="0"/>
              </a:p>
              <a:p>
                <a:pPr algn="just"/>
                <a:r>
                  <a:rPr lang="en-ZA" b="0" dirty="0"/>
                  <a:t>In other words, the product of two complex numbers on the unit circle results in a complex number whose phase angle is the sum of the phase angles of the factors.</a:t>
                </a:r>
              </a:p>
              <a:p>
                <a:pPr algn="just"/>
                <a:endParaRPr lang="en-ZA" b="0" dirty="0"/>
              </a:p>
              <a:p>
                <a:pPr marL="228600" indent="-228600" algn="just">
                  <a:buFont typeface="+mj-lt"/>
                  <a:buAutoNum type="arabicPeriod" startAt="2"/>
                </a:pPr>
                <a:r>
                  <a:rPr lang="en-ZA" b="0" dirty="0"/>
                  <a:t>A particularly interesting consequence of this rule is that multiplying a complex number by </a:t>
                </a:r>
                <a14:m>
                  <m:oMath xmlns:m="http://schemas.openxmlformats.org/officeDocument/2006/math">
                    <m:r>
                      <a:rPr lang="en-US" sz="1200" b="0" i="1" smtClean="0">
                        <a:latin typeface="Cambria Math" panose="02040503050406030204" pitchFamily="18" charset="0"/>
                        <a:ea typeface="Cambria Math" panose="02040503050406030204" pitchFamily="18" charset="0"/>
                      </a:rPr>
                      <m:t>𝑖</m:t>
                    </m:r>
                  </m:oMath>
                </a14:m>
                <a:r>
                  <a:rPr lang="en-ZA" b="0" dirty="0"/>
                  <a:t> corresponds to a 90° rotation as </a:t>
                </a:r>
                <a14:m>
                  <m:oMath xmlns:m="http://schemas.openxmlformats.org/officeDocument/2006/math">
                    <m:sSup>
                      <m:sSupPr>
                        <m:ctrlPr>
                          <a:rPr lang="en-US" sz="1200" i="1" smtClean="0">
                            <a:latin typeface="Cambria Math" panose="02040503050406030204" pitchFamily="18" charset="0"/>
                            <a:ea typeface="Cambria Math" panose="02040503050406030204" pitchFamily="18" charset="0"/>
                          </a:rPr>
                        </m:ctrlPr>
                      </m:sSupPr>
                      <m:e>
                        <m:r>
                          <a:rPr lang="en-US" sz="1200" b="0" i="1" smtClean="0">
                            <a:latin typeface="Cambria Math" panose="02040503050406030204" pitchFamily="18" charset="0"/>
                            <a:ea typeface="Cambria Math" panose="02040503050406030204" pitchFamily="18" charset="0"/>
                          </a:rPr>
                          <m:t>𝑖</m:t>
                        </m:r>
                        <m:r>
                          <a:rPr lang="en-US" sz="1200" b="0" i="1" smtClean="0">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𝑒</m:t>
                        </m:r>
                      </m:e>
                      <m:sup>
                        <m:r>
                          <a:rPr lang="en-US" sz="1200" i="1">
                            <a:latin typeface="Cambria Math" panose="02040503050406030204" pitchFamily="18" charset="0"/>
                            <a:ea typeface="Cambria Math" panose="02040503050406030204" pitchFamily="18" charset="0"/>
                          </a:rPr>
                          <m:t>𝑖</m:t>
                        </m:r>
                        <m:r>
                          <a:rPr lang="en-US" sz="1200" i="1" smtClean="0">
                            <a:latin typeface="Cambria Math" panose="02040503050406030204" pitchFamily="18" charset="0"/>
                            <a:ea typeface="Cambria Math" panose="02040503050406030204" pitchFamily="18" charset="0"/>
                          </a:rPr>
                          <m:t>𝜋</m:t>
                        </m:r>
                        <m:r>
                          <a:rPr lang="en-US" sz="1200" b="0" i="1" smtClean="0">
                            <a:latin typeface="Cambria Math" panose="02040503050406030204" pitchFamily="18" charset="0"/>
                            <a:ea typeface="Cambria Math" panose="02040503050406030204" pitchFamily="18" charset="0"/>
                          </a:rPr>
                          <m:t>/2</m:t>
                        </m:r>
                      </m:sup>
                    </m:sSup>
                  </m:oMath>
                </a14:m>
                <a:r>
                  <a:rPr lang="en-ZA" b="0" dirty="0"/>
                  <a:t>. Similarly, multiplying by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𝑖</m:t>
                    </m:r>
                  </m:oMath>
                </a14:m>
                <a:r>
                  <a:rPr lang="en-ZA" b="0" dirty="0"/>
                  <a:t> corresponds to a rotation of 3</a:t>
                </a:r>
                <a:r>
                  <a:rPr lang="el-GR" b="0" dirty="0"/>
                  <a:t>π/2 (</a:t>
                </a:r>
                <a:r>
                  <a:rPr lang="en-ZA" b="0" dirty="0"/>
                  <a:t>or -90°).</a:t>
                </a:r>
              </a:p>
            </p:txBody>
          </p:sp>
        </mc:Choice>
        <mc:Fallback xmlns="">
          <p:sp>
            <p:nvSpPr>
              <p:cNvPr id="3" name="Notes Placeholder 2"/>
              <p:cNvSpPr>
                <a:spLocks noGrp="1"/>
              </p:cNvSpPr>
              <p:nvPr>
                <p:ph type="body" idx="1"/>
              </p:nvPr>
            </p:nvSpPr>
            <p:spPr/>
            <p:txBody>
              <a:bodyPr/>
              <a:lstStyle/>
              <a:p>
                <a:r>
                  <a:rPr lang="en-US" sz="2000" b="0" dirty="0"/>
                  <a:t>Usual algebraic rules apply to complex numbers. </a:t>
                </a:r>
              </a:p>
              <a:p>
                <a:pPr marL="457200" indent="-457200">
                  <a:buFont typeface="+mj-lt"/>
                  <a:buAutoNum type="arabicPeriod"/>
                </a:pPr>
                <a:r>
                  <a:rPr lang="en-US" sz="2000" b="0" dirty="0"/>
                  <a:t>For example, product rules of exponents.</a:t>
                </a:r>
                <a:r>
                  <a:rPr lang="en-US" sz="2000" b="0" baseline="0" dirty="0"/>
                  <a:t> Let’s say we have two complex numbers x and y laying on a unit circle, expressed as a function of their phase angle </a:t>
                </a:r>
                <a:r>
                  <a:rPr lang="en-US" sz="2000" i="0">
                    <a:solidFill>
                      <a:schemeClr val="accent1">
                        <a:lumMod val="75000"/>
                      </a:schemeClr>
                    </a:solidFill>
                    <a:latin typeface="Cambria Math" panose="02040503050406030204" pitchFamily="18" charset="0"/>
                    <a:ea typeface="Cambria Math" panose="02040503050406030204" pitchFamily="18" charset="0"/>
                  </a:rPr>
                  <a:t>𝜑_</a:t>
                </a:r>
                <a:r>
                  <a:rPr lang="en-US" sz="2000" b="0" i="0">
                    <a:solidFill>
                      <a:schemeClr val="accent1">
                        <a:lumMod val="75000"/>
                      </a:schemeClr>
                    </a:solidFill>
                    <a:latin typeface="Cambria Math" panose="02040503050406030204" pitchFamily="18" charset="0"/>
                    <a:ea typeface="Cambria Math" panose="02040503050406030204" pitchFamily="18" charset="0"/>
                  </a:rPr>
                  <a:t>1</a:t>
                </a:r>
                <a:r>
                  <a:rPr lang="en-US" sz="2000" b="0" baseline="0" dirty="0"/>
                  <a:t> and </a:t>
                </a:r>
                <a:r>
                  <a:rPr lang="en-US" sz="2000" i="0">
                    <a:solidFill>
                      <a:schemeClr val="accent1">
                        <a:lumMod val="75000"/>
                      </a:schemeClr>
                    </a:solidFill>
                    <a:latin typeface="Cambria Math" panose="02040503050406030204" pitchFamily="18" charset="0"/>
                    <a:ea typeface="Cambria Math" panose="02040503050406030204" pitchFamily="18" charset="0"/>
                  </a:rPr>
                  <a:t>𝜑_</a:t>
                </a:r>
                <a:r>
                  <a:rPr lang="en-US" sz="2000" b="0" i="0">
                    <a:solidFill>
                      <a:schemeClr val="accent1">
                        <a:lumMod val="75000"/>
                      </a:schemeClr>
                    </a:solidFill>
                    <a:latin typeface="Cambria Math" panose="02040503050406030204" pitchFamily="18" charset="0"/>
                    <a:ea typeface="Cambria Math" panose="02040503050406030204" pitchFamily="18" charset="0"/>
                  </a:rPr>
                  <a:t>2</a:t>
                </a:r>
                <a:r>
                  <a:rPr lang="en-US" sz="2000" b="0" baseline="0" dirty="0"/>
                  <a:t>. If we multiply these numbers, the resulting complex number is still on the circle but phase  angles adds up.</a:t>
                </a:r>
              </a:p>
              <a:p>
                <a:pPr marL="457200" indent="-457200">
                  <a:buFont typeface="+mj-lt"/>
                  <a:buAutoNum type="arabicPeriod"/>
                </a:pPr>
                <a:r>
                  <a:rPr lang="en-US" sz="2000" b="0" baseline="0" dirty="0"/>
                  <a:t>By using the ‘power rule for exponents’ we can prove  </a:t>
                </a:r>
                <a:r>
                  <a:rPr lang="en-US" sz="2000" kern="1200" dirty="0">
                    <a:solidFill>
                      <a:schemeClr val="tx1"/>
                    </a:solidFill>
                    <a:latin typeface="+mn-lt"/>
                    <a:ea typeface="+mn-ea"/>
                    <a:cs typeface="+mn-cs"/>
                  </a:rPr>
                  <a:t>De </a:t>
                </a:r>
                <a:r>
                  <a:rPr lang="en-US" sz="2000" kern="1200" dirty="0" err="1">
                    <a:solidFill>
                      <a:schemeClr val="tx1"/>
                    </a:solidFill>
                    <a:latin typeface="+mn-lt"/>
                    <a:ea typeface="+mn-ea"/>
                    <a:cs typeface="+mn-cs"/>
                  </a:rPr>
                  <a:t>Moivre’s</a:t>
                </a:r>
                <a:r>
                  <a:rPr lang="en-US" sz="2000" kern="1200" dirty="0">
                    <a:solidFill>
                      <a:schemeClr val="tx1"/>
                    </a:solidFill>
                    <a:latin typeface="+mn-lt"/>
                    <a:ea typeface="+mn-ea"/>
                    <a:cs typeface="+mn-cs"/>
                  </a:rPr>
                  <a:t> formula.</a:t>
                </a:r>
                <a:endParaRPr lang="en-US" sz="2000" b="0" baseline="0" dirty="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endParaRPr lang="en-US" sz="2000" b="0" baseline="0" dirty="0"/>
              </a:p>
              <a:p>
                <a:endParaRPr lang="en-US" sz="2000" b="0" baseline="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13</a:t>
            </a:fld>
            <a:endParaRPr lang="en-US"/>
          </a:p>
        </p:txBody>
      </p:sp>
    </p:spTree>
    <p:extLst>
      <p:ext uri="{BB962C8B-B14F-4D97-AF65-F5344CB8AC3E}">
        <p14:creationId xmlns:p14="http://schemas.microsoft.com/office/powerpoint/2010/main" val="41901676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Another important concept in quantum computing is the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𝑛</m:t>
                    </m:r>
                  </m:oMath>
                </a14:m>
                <a:r>
                  <a:rPr lang="en-ZA" dirty="0"/>
                  <a:t>-th roots of unity, which are used to describe and control phase shifts in a qubit state.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The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𝑛</m:t>
                    </m:r>
                  </m:oMath>
                </a14:m>
                <a:r>
                  <a:rPr lang="en-ZA" dirty="0"/>
                  <a:t>-th roots of unity are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𝑛</m:t>
                    </m:r>
                  </m:oMath>
                </a14:m>
                <a:r>
                  <a:rPr lang="en-ZA" dirty="0"/>
                  <a:t> equally spaced points on the unit circle in the complex plane. They are the solutions to the equation </a:t>
                </a:r>
                <a14:m>
                  <m:oMath xmlns:m="http://schemas.openxmlformats.org/officeDocument/2006/math">
                    <m:sSup>
                      <m:sSupPr>
                        <m:ctrlPr>
                          <a:rPr lang="en-US" sz="1200" b="0" i="1" smtClean="0">
                            <a:solidFill>
                              <a:srgbClr val="002060"/>
                            </a:solidFill>
                            <a:latin typeface="Cambria Math" panose="02040503050406030204" pitchFamily="18" charset="0"/>
                            <a:ea typeface="Cambria Math" panose="02040503050406030204" pitchFamily="18" charset="0"/>
                          </a:rPr>
                        </m:ctrlPr>
                      </m:sSupPr>
                      <m:e>
                        <m:r>
                          <a:rPr lang="en-US" sz="1200" b="0" i="1">
                            <a:solidFill>
                              <a:srgbClr val="002060"/>
                            </a:solidFill>
                            <a:latin typeface="Cambria Math" panose="02040503050406030204" pitchFamily="18" charset="0"/>
                            <a:ea typeface="Cambria Math" panose="02040503050406030204" pitchFamily="18" charset="0"/>
                          </a:rPr>
                          <m:t>𝑧</m:t>
                        </m:r>
                      </m:e>
                      <m:sup>
                        <m:r>
                          <a:rPr lang="en-US" sz="1200" b="0" i="1">
                            <a:solidFill>
                              <a:srgbClr val="002060"/>
                            </a:solidFill>
                            <a:latin typeface="Cambria Math" panose="02040503050406030204" pitchFamily="18" charset="0"/>
                            <a:ea typeface="Cambria Math" panose="02040503050406030204" pitchFamily="18" charset="0"/>
                          </a:rPr>
                          <m:t>𝑛</m:t>
                        </m:r>
                      </m:sup>
                    </m:sSup>
                    <m:r>
                      <a:rPr lang="en-US" sz="1200" b="0" i="1">
                        <a:solidFill>
                          <a:srgbClr val="002060"/>
                        </a:solidFill>
                        <a:latin typeface="Cambria Math" panose="02040503050406030204" pitchFamily="18" charset="0"/>
                        <a:ea typeface="Cambria Math" panose="02040503050406030204" pitchFamily="18" charset="0"/>
                      </a:rPr>
                      <m:t>=1</m:t>
                    </m:r>
                  </m:oMath>
                </a14:m>
                <a:r>
                  <a:rPr lang="en-US" sz="1200" b="1"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These solutions correspond to discrete phase angles on the unit circle in the complex plane.</a:t>
                </a:r>
                <a:endParaRPr lang="en-US" sz="1200" b="0" dirty="0"/>
              </a:p>
              <a:p>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Another important concept in quantum computing is the </a:t>
                </a:r>
                <a:r>
                  <a:rPr lang="en-US" sz="1200" b="0" i="0">
                    <a:solidFill>
                      <a:srgbClr val="002060"/>
                    </a:solidFill>
                    <a:latin typeface="Cambria Math" panose="02040503050406030204" pitchFamily="18" charset="0"/>
                    <a:ea typeface="Cambria Math" panose="02040503050406030204" pitchFamily="18" charset="0"/>
                  </a:rPr>
                  <a:t>𝑛</a:t>
                </a:r>
                <a:r>
                  <a:rPr lang="en-ZA" dirty="0"/>
                  <a:t>-th roots of unity, which are used to describe and control phase shifts in a qubit state.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The </a:t>
                </a:r>
                <a:r>
                  <a:rPr lang="en-US" sz="1200" b="0" i="0">
                    <a:solidFill>
                      <a:srgbClr val="002060"/>
                    </a:solidFill>
                    <a:latin typeface="Cambria Math" panose="02040503050406030204" pitchFamily="18" charset="0"/>
                    <a:ea typeface="Cambria Math" panose="02040503050406030204" pitchFamily="18" charset="0"/>
                  </a:rPr>
                  <a:t>𝑛</a:t>
                </a:r>
                <a:r>
                  <a:rPr lang="en-ZA" dirty="0"/>
                  <a:t>-th roots of unity are </a:t>
                </a:r>
                <a:r>
                  <a:rPr lang="en-US" sz="1200" b="0" i="0">
                    <a:solidFill>
                      <a:srgbClr val="002060"/>
                    </a:solidFill>
                    <a:latin typeface="Cambria Math" panose="02040503050406030204" pitchFamily="18" charset="0"/>
                    <a:ea typeface="Cambria Math" panose="02040503050406030204" pitchFamily="18" charset="0"/>
                  </a:rPr>
                  <a:t>𝑛</a:t>
                </a:r>
                <a:r>
                  <a:rPr lang="en-ZA" dirty="0"/>
                  <a:t> equally spaced points on the unit circle in the complex plane. They are the solutions to the equation </a:t>
                </a:r>
                <a:r>
                  <a:rPr lang="en-US" sz="1200" b="0" i="0">
                    <a:solidFill>
                      <a:srgbClr val="002060"/>
                    </a:solidFill>
                    <a:latin typeface="Cambria Math" panose="02040503050406030204" pitchFamily="18" charset="0"/>
                    <a:ea typeface="Cambria Math" panose="02040503050406030204" pitchFamily="18" charset="0"/>
                  </a:rPr>
                  <a:t>𝑧^𝑛=1</a:t>
                </a:r>
                <a:r>
                  <a:rPr lang="en-US" sz="1200" b="1"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ZA" dirty="0"/>
                  <a:t>These solutions correspond to discrete phase angles on the unit circle in the complex plane.</a:t>
                </a:r>
                <a:endParaRPr lang="en-US" sz="1200" b="0" dirty="0"/>
              </a:p>
              <a:p>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14</a:t>
            </a:fld>
            <a:endParaRPr lang="en-US"/>
          </a:p>
        </p:txBody>
      </p:sp>
    </p:spTree>
    <p:extLst>
      <p:ext uri="{BB962C8B-B14F-4D97-AF65-F5344CB8AC3E}">
        <p14:creationId xmlns:p14="http://schemas.microsoft.com/office/powerpoint/2010/main" val="12999009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By the Fundamental Theorem of Algebra, every complex polynomial of degree n has exactly </a:t>
                </a:r>
                <a14:m>
                  <m:oMath xmlns:m="http://schemas.openxmlformats.org/officeDocument/2006/math">
                    <m:r>
                      <a:rPr lang="en-US" sz="1200" i="1" smtClean="0">
                        <a:solidFill>
                          <a:srgbClr val="002060"/>
                        </a:solidFill>
                        <a:latin typeface="Cambria Math" panose="02040503050406030204" pitchFamily="18" charset="0"/>
                        <a:ea typeface="Cambria Math" panose="02040503050406030204" pitchFamily="18" charset="0"/>
                      </a:rPr>
                      <m:t>𝑛</m:t>
                    </m:r>
                  </m:oMath>
                </a14:m>
                <a:r>
                  <a:rPr lang="en-ZA" b="0" dirty="0"/>
                  <a:t> complex solutions. Since the equation </a:t>
                </a:r>
                <a14:m>
                  <m:oMath xmlns:m="http://schemas.openxmlformats.org/officeDocument/2006/math">
                    <m:sSup>
                      <m:sSupPr>
                        <m:ctrlPr>
                          <a:rPr lang="en-US" sz="1200" b="0" i="1" smtClean="0">
                            <a:solidFill>
                              <a:srgbClr val="002060"/>
                            </a:solidFill>
                            <a:latin typeface="Cambria Math" panose="02040503050406030204" pitchFamily="18" charset="0"/>
                            <a:ea typeface="Cambria Math" panose="02040503050406030204" pitchFamily="18" charset="0"/>
                          </a:rPr>
                        </m:ctrlPr>
                      </m:sSupPr>
                      <m:e>
                        <m:r>
                          <a:rPr lang="en-US" sz="1200" b="0" i="1">
                            <a:solidFill>
                              <a:srgbClr val="002060"/>
                            </a:solidFill>
                            <a:latin typeface="Cambria Math" panose="02040503050406030204" pitchFamily="18" charset="0"/>
                            <a:ea typeface="Cambria Math" panose="02040503050406030204" pitchFamily="18" charset="0"/>
                          </a:rPr>
                          <m:t>𝑧</m:t>
                        </m:r>
                      </m:e>
                      <m:sup>
                        <m:r>
                          <a:rPr lang="en-US" sz="1200" b="0" i="1">
                            <a:solidFill>
                              <a:srgbClr val="002060"/>
                            </a:solidFill>
                            <a:latin typeface="Cambria Math" panose="02040503050406030204" pitchFamily="18" charset="0"/>
                            <a:ea typeface="Cambria Math" panose="02040503050406030204" pitchFamily="18" charset="0"/>
                          </a:rPr>
                          <m:t>𝑛</m:t>
                        </m:r>
                      </m:sup>
                    </m:sSup>
                    <m:r>
                      <a:rPr lang="en-US" sz="1200" b="0" i="1">
                        <a:solidFill>
                          <a:srgbClr val="002060"/>
                        </a:solidFill>
                        <a:latin typeface="Cambria Math" panose="02040503050406030204" pitchFamily="18" charset="0"/>
                        <a:ea typeface="Cambria Math" panose="02040503050406030204" pitchFamily="18" charset="0"/>
                      </a:rPr>
                      <m:t>=1</m:t>
                    </m:r>
                  </m:oMath>
                </a14:m>
                <a:r>
                  <a:rPr lang="en-ZA" b="0" dirty="0"/>
                  <a:t> is a polynomial of degree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𝑛</m:t>
                    </m:r>
                  </m:oMath>
                </a14:m>
                <a:r>
                  <a:rPr lang="en-ZA" b="0" dirty="0"/>
                  <a:t>, its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𝑛</m:t>
                    </m:r>
                  </m:oMath>
                </a14:m>
                <a:r>
                  <a:rPr lang="en-ZA" b="0" dirty="0"/>
                  <a:t> solutions are called the n-</a:t>
                </a:r>
                <a:r>
                  <a:rPr lang="en-ZA" b="0" dirty="0" err="1"/>
                  <a:t>th</a:t>
                </a:r>
                <a:r>
                  <a:rPr lang="en-ZA" b="0" dirty="0"/>
                  <a:t> roots of unity.</a:t>
                </a:r>
              </a:p>
              <a:p>
                <a:endParaRPr lang="en-ZA" b="0" dirty="0"/>
              </a:p>
              <a:p>
                <a:pPr marL="228600" indent="-228600">
                  <a:buFont typeface="+mj-lt"/>
                  <a:buAutoNum type="arabicPeriod"/>
                </a:pPr>
                <a:r>
                  <a:rPr lang="en-ZA" b="0" dirty="0"/>
                  <a:t>To find these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𝑛</m:t>
                    </m:r>
                  </m:oMath>
                </a14:m>
                <a:r>
                  <a:rPr lang="en-ZA" b="0" dirty="0"/>
                  <a:t> solutions, we express the number 1 using Euler's formula, knowing that </a:t>
                </a:r>
                <a14:m>
                  <m:oMath xmlns:m="http://schemas.openxmlformats.org/officeDocument/2006/math">
                    <m:sSup>
                      <m:sSupPr>
                        <m:ctrlPr>
                          <a:rPr lang="en-US" sz="1200" i="1" smtClean="0">
                            <a:solidFill>
                              <a:srgbClr val="002060"/>
                            </a:solidFill>
                            <a:latin typeface="Cambria Math" panose="02040503050406030204" pitchFamily="18" charset="0"/>
                            <a:ea typeface="Cambria Math" panose="02040503050406030204" pitchFamily="18" charset="0"/>
                          </a:rPr>
                        </m:ctrlPr>
                      </m:sSupPr>
                      <m:e>
                        <m:r>
                          <a:rPr lang="en-US" sz="1200" b="0" i="1" smtClean="0">
                            <a:solidFill>
                              <a:srgbClr val="002060"/>
                            </a:solidFill>
                            <a:latin typeface="Cambria Math" panose="02040503050406030204" pitchFamily="18" charset="0"/>
                            <a:ea typeface="Cambria Math" panose="02040503050406030204" pitchFamily="18" charset="0"/>
                          </a:rPr>
                          <m:t>𝑒</m:t>
                        </m:r>
                      </m:e>
                      <m:sup>
                        <m:r>
                          <a:rPr lang="en-US" sz="1200" b="0" i="1" smtClean="0">
                            <a:solidFill>
                              <a:srgbClr val="002060"/>
                            </a:solidFill>
                            <a:latin typeface="Cambria Math" panose="02040503050406030204" pitchFamily="18" charset="0"/>
                            <a:ea typeface="Cambria Math" panose="02040503050406030204" pitchFamily="18" charset="0"/>
                          </a:rPr>
                          <m:t>𝑖</m:t>
                        </m:r>
                        <m:r>
                          <a:rPr lang="en-US" sz="1200" b="0" i="1" smtClean="0">
                            <a:solidFill>
                              <a:srgbClr val="002060"/>
                            </a:solidFill>
                            <a:latin typeface="Cambria Math" panose="02040503050406030204" pitchFamily="18" charset="0"/>
                            <a:ea typeface="Cambria Math" panose="02040503050406030204" pitchFamily="18" charset="0"/>
                          </a:rPr>
                          <m:t>2</m:t>
                        </m:r>
                        <m:r>
                          <a:rPr lang="en-US" sz="1200" b="0" i="1" smtClean="0">
                            <a:solidFill>
                              <a:srgbClr val="002060"/>
                            </a:solidFill>
                            <a:latin typeface="Cambria Math" panose="02040503050406030204" pitchFamily="18" charset="0"/>
                            <a:ea typeface="Cambria Math" panose="02040503050406030204" pitchFamily="18" charset="0"/>
                          </a:rPr>
                          <m:t>𝜋</m:t>
                        </m:r>
                      </m:sup>
                    </m:sSup>
                    <m:r>
                      <a:rPr lang="en-US" sz="1200" b="0" i="1" smtClean="0">
                        <a:solidFill>
                          <a:srgbClr val="002060"/>
                        </a:solidFill>
                        <a:latin typeface="Cambria Math" panose="02040503050406030204" pitchFamily="18" charset="0"/>
                        <a:ea typeface="Cambria Math" panose="02040503050406030204" pitchFamily="18" charset="0"/>
                      </a:rPr>
                      <m:t>=1</m:t>
                    </m:r>
                  </m:oMath>
                </a14:m>
                <a:r>
                  <a:rPr lang="el-GR" b="0" dirty="0"/>
                  <a:t>. </a:t>
                </a:r>
                <a:r>
                  <a:rPr lang="en-ZA" b="0" dirty="0"/>
                  <a:t>Since </a:t>
                </a:r>
                <a:r>
                  <a:rPr lang="en-US" b="0" dirty="0"/>
                  <a:t>this equation </a:t>
                </a:r>
                <a:r>
                  <a:rPr lang="en-ZA" b="0" dirty="0"/>
                  <a:t>has exactly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𝑛</m:t>
                    </m:r>
                  </m:oMath>
                </a14:m>
                <a:r>
                  <a:rPr lang="en-ZA" b="0" dirty="0"/>
                  <a:t> complex solutions, we label them with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𝑘</m:t>
                    </m:r>
                  </m:oMath>
                </a14:m>
                <a:r>
                  <a:rPr lang="en-ZA" b="0" dirty="0"/>
                  <a:t> ranging from 0 to </a:t>
                </a:r>
                <a14:m>
                  <m:oMath xmlns:m="http://schemas.openxmlformats.org/officeDocument/2006/math">
                    <m:r>
                      <a:rPr lang="en-US" sz="1200" b="0" i="1" smtClean="0">
                        <a:solidFill>
                          <a:srgbClr val="002060"/>
                        </a:solidFill>
                        <a:latin typeface="Cambria Math" panose="02040503050406030204" pitchFamily="18" charset="0"/>
                        <a:ea typeface="Cambria Math" panose="02040503050406030204" pitchFamily="18" charset="0"/>
                      </a:rPr>
                      <m:t>𝑛</m:t>
                    </m:r>
                    <m:r>
                      <a:rPr lang="en-US" sz="1200" b="0" i="1" smtClean="0">
                        <a:solidFill>
                          <a:srgbClr val="002060"/>
                        </a:solidFill>
                        <a:latin typeface="Cambria Math" panose="02040503050406030204" pitchFamily="18" charset="0"/>
                        <a:ea typeface="Cambria Math" panose="02040503050406030204" pitchFamily="18" charset="0"/>
                      </a:rPr>
                      <m:t>−1</m:t>
                    </m:r>
                  </m:oMath>
                </a14:m>
                <a:r>
                  <a:rPr lang="en-ZA" b="0" dirty="0"/>
                  <a:t>.</a:t>
                </a:r>
              </a:p>
              <a:p>
                <a:pPr marL="228600" indent="-228600">
                  <a:buFont typeface="+mj-lt"/>
                  <a:buAutoNum type="arabicPeriod"/>
                </a:pPr>
                <a:endParaRPr lang="en-ZA" b="0" dirty="0"/>
              </a:p>
              <a:p>
                <a:pPr marL="228600" indent="-228600">
                  <a:buFont typeface="+mj-lt"/>
                  <a:buAutoNum type="arabicPeriod"/>
                </a:pPr>
                <a:r>
                  <a:rPr lang="en-ZA" b="0" dirty="0"/>
                  <a:t>Next, we take the n-</a:t>
                </a:r>
                <a:r>
                  <a:rPr lang="en-ZA" b="0" dirty="0" err="1"/>
                  <a:t>th</a:t>
                </a:r>
                <a:r>
                  <a:rPr lang="en-ZA" b="0" dirty="0"/>
                  <a:t> root of both sides of the equation, which introduces an exponent of </a:t>
                </a:r>
                <a14:m>
                  <m:oMath xmlns:m="http://schemas.openxmlformats.org/officeDocument/2006/math">
                    <m:r>
                      <a:rPr lang="en-US" sz="1200" b="0" i="0" smtClean="0">
                        <a:solidFill>
                          <a:srgbClr val="002060"/>
                        </a:solidFill>
                        <a:latin typeface="Cambria Math" panose="02040503050406030204" pitchFamily="18" charset="0"/>
                        <a:ea typeface="Cambria Math" panose="02040503050406030204" pitchFamily="18" charset="0"/>
                      </a:rPr>
                      <m:t>1/</m:t>
                    </m:r>
                    <m:r>
                      <a:rPr lang="en-US" sz="1200" b="0" i="1" smtClean="0">
                        <a:solidFill>
                          <a:srgbClr val="002060"/>
                        </a:solidFill>
                        <a:latin typeface="Cambria Math" panose="02040503050406030204" pitchFamily="18" charset="0"/>
                        <a:ea typeface="Cambria Math" panose="02040503050406030204" pitchFamily="18" charset="0"/>
                      </a:rPr>
                      <m:t>𝑛</m:t>
                    </m:r>
                  </m:oMath>
                </a14:m>
                <a:r>
                  <a:rPr lang="en-ZA" b="0" dirty="0"/>
                  <a:t> on the right-hand side.</a:t>
                </a:r>
              </a:p>
              <a:p>
                <a:pPr marL="228600" indent="-228600">
                  <a:buFont typeface="+mj-lt"/>
                  <a:buAutoNum type="arabicPeriod"/>
                </a:pPr>
                <a:endParaRPr lang="en-ZA" b="0" dirty="0"/>
              </a:p>
              <a:p>
                <a:pPr marL="228600" indent="-228600">
                  <a:buFont typeface="+mj-lt"/>
                  <a:buAutoNum type="arabicPeriod"/>
                </a:pPr>
                <a:r>
                  <a:rPr lang="en-ZA" b="0" dirty="0"/>
                  <a:t>Now we use De </a:t>
                </a:r>
                <a:r>
                  <a:rPr lang="en-ZA" b="0" dirty="0" err="1"/>
                  <a:t>Moivre’s</a:t>
                </a:r>
                <a:r>
                  <a:rPr lang="en-ZA" b="0" dirty="0"/>
                  <a:t> theorem to find the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𝑛</m:t>
                    </m:r>
                  </m:oMath>
                </a14:m>
                <a:r>
                  <a:rPr lang="en-ZA" b="0" dirty="0"/>
                  <a:t>-</a:t>
                </a:r>
                <a:r>
                  <a:rPr lang="en-ZA" b="0" dirty="0" err="1"/>
                  <a:t>th</a:t>
                </a:r>
                <a:r>
                  <a:rPr lang="en-ZA" b="0" dirty="0"/>
                  <a:t> roots of unity. These solutions have phase angles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2</m:t>
                    </m:r>
                    <m:r>
                      <a:rPr lang="en-US" sz="1200" i="1" smtClean="0">
                        <a:solidFill>
                          <a:schemeClr val="tx1"/>
                        </a:solidFill>
                        <a:latin typeface="Cambria Math" panose="02040503050406030204" pitchFamily="18" charset="0"/>
                        <a:ea typeface="Cambria Math" panose="02040503050406030204" pitchFamily="18" charset="0"/>
                      </a:rPr>
                      <m:t>𝜋</m:t>
                    </m:r>
                    <m:r>
                      <a:rPr lang="en-US" sz="1200" i="1" smtClean="0">
                        <a:solidFill>
                          <a:schemeClr val="tx1"/>
                        </a:solidFill>
                        <a:latin typeface="Cambria Math" panose="02040503050406030204" pitchFamily="18" charset="0"/>
                        <a:ea typeface="Cambria Math" panose="02040503050406030204" pitchFamily="18" charset="0"/>
                      </a:rPr>
                      <m:t>𝑘</m:t>
                    </m:r>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𝑛</m:t>
                    </m:r>
                  </m:oMath>
                </a14:m>
                <a:r>
                  <a:rPr lang="en-ZA" b="0" dirty="0"/>
                  <a:t>, which means the unit circle is split into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𝑛</m:t>
                    </m:r>
                  </m:oMath>
                </a14:m>
                <a:r>
                  <a:rPr lang="en-ZA" b="0" dirty="0"/>
                  <a:t> equally spaced points — the roots of unity we’re looking for.</a:t>
                </a:r>
              </a:p>
              <a:p>
                <a:pPr marL="228600" indent="-228600">
                  <a:buFont typeface="+mj-lt"/>
                  <a:buAutoNum type="arabicPeriod"/>
                </a:pPr>
                <a:endParaRPr lang="en-ZA" b="0" dirty="0"/>
              </a:p>
              <a:p>
                <a:pPr marL="0" indent="0">
                  <a:buFont typeface="+mj-lt"/>
                  <a:buNone/>
                </a:pPr>
                <a:r>
                  <a:rPr lang="en-ZA" dirty="0"/>
                  <a:t>In quantum computing, these roots are commonly written in exponential form and represented by the lowercase Greek letter</a:t>
                </a:r>
                <a:r>
                  <a:rPr lang="en-ZA" b="0" dirty="0"/>
                  <a:t> </a:t>
                </a:r>
                <a14:m>
                  <m:oMath xmlns:m="http://schemas.openxmlformats.org/officeDocument/2006/math">
                    <m:r>
                      <a:rPr lang="en-US" sz="1200" i="1" smtClean="0">
                        <a:latin typeface="Cambria Math" panose="02040503050406030204" pitchFamily="18" charset="0"/>
                        <a:ea typeface="Cambria Math" panose="02040503050406030204" pitchFamily="18" charset="0"/>
                      </a:rPr>
                      <m:t>𝜔</m:t>
                    </m:r>
                  </m:oMath>
                </a14:m>
                <a:r>
                  <a:rPr lang="el-GR" b="0" dirty="0"/>
                  <a:t>,</a:t>
                </a:r>
                <a:r>
                  <a:rPr lang="en-US" b="0" dirty="0"/>
                  <a:t> with</a:t>
                </a:r>
                <a:r>
                  <a:rPr lang="el-GR" b="0" dirty="0"/>
                  <a:t> </a:t>
                </a:r>
                <a14:m>
                  <m:oMath xmlns:m="http://schemas.openxmlformats.org/officeDocument/2006/math">
                    <m:r>
                      <a:rPr lang="en-US" sz="1200" b="0" i="0" smtClean="0">
                        <a:solidFill>
                          <a:schemeClr val="tx1">
                            <a:lumMod val="50000"/>
                            <a:lumOff val="50000"/>
                          </a:schemeClr>
                        </a:solidFill>
                        <a:latin typeface="Cambria Math" panose="02040503050406030204" pitchFamily="18" charset="0"/>
                        <a:ea typeface="Cambria Math" panose="02040503050406030204" pitchFamily="18" charset="0"/>
                      </a:rPr>
                      <m:t> </m:t>
                    </m:r>
                    <m:sSup>
                      <m:sSupPr>
                        <m:ctrlPr>
                          <a:rPr lang="en-US" sz="120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sz="1200" i="1" smtClean="0">
                            <a:solidFill>
                              <a:schemeClr val="tx1">
                                <a:lumMod val="50000"/>
                                <a:lumOff val="50000"/>
                              </a:schemeClr>
                            </a:solidFill>
                            <a:latin typeface="Cambria Math" panose="02040503050406030204" pitchFamily="18" charset="0"/>
                            <a:ea typeface="Cambria Math" panose="02040503050406030204" pitchFamily="18" charset="0"/>
                          </a:rPr>
                          <m:t>𝜔</m:t>
                        </m:r>
                        <m:r>
                          <a:rPr lang="en-US" sz="1200" i="1">
                            <a:solidFill>
                              <a:schemeClr val="tx1">
                                <a:lumMod val="50000"/>
                                <a:lumOff val="50000"/>
                              </a:schemeClr>
                            </a:solidFill>
                            <a:latin typeface="Cambria Math" panose="02040503050406030204" pitchFamily="18" charset="0"/>
                            <a:ea typeface="Cambria Math" panose="02040503050406030204" pitchFamily="18" charset="0"/>
                          </a:rPr>
                          <m:t>=</m:t>
                        </m:r>
                        <m:r>
                          <a:rPr lang="en-US" sz="1200" i="1">
                            <a:solidFill>
                              <a:schemeClr val="tx1">
                                <a:lumMod val="50000"/>
                                <a:lumOff val="50000"/>
                              </a:schemeClr>
                            </a:solidFill>
                            <a:latin typeface="Cambria Math" panose="02040503050406030204" pitchFamily="18" charset="0"/>
                            <a:ea typeface="Cambria Math" panose="02040503050406030204" pitchFamily="18" charset="0"/>
                          </a:rPr>
                          <m:t>𝑒</m:t>
                        </m:r>
                      </m:e>
                      <m:sup>
                        <m:f>
                          <m:fPr>
                            <m:ctrlPr>
                              <a:rPr lang="en-US" sz="1200" i="1">
                                <a:solidFill>
                                  <a:schemeClr val="tx1">
                                    <a:lumMod val="50000"/>
                                    <a:lumOff val="50000"/>
                                  </a:schemeClr>
                                </a:solidFill>
                                <a:latin typeface="Cambria Math" panose="02040503050406030204" pitchFamily="18" charset="0"/>
                                <a:ea typeface="Cambria Math" panose="02040503050406030204" pitchFamily="18" charset="0"/>
                              </a:rPr>
                            </m:ctrlPr>
                          </m:fPr>
                          <m:num>
                            <m:r>
                              <a:rPr lang="en-US" sz="1200" i="1">
                                <a:solidFill>
                                  <a:schemeClr val="tx1">
                                    <a:lumMod val="50000"/>
                                    <a:lumOff val="50000"/>
                                  </a:schemeClr>
                                </a:solidFill>
                                <a:latin typeface="Cambria Math" panose="02040503050406030204" pitchFamily="18" charset="0"/>
                                <a:ea typeface="Cambria Math" panose="02040503050406030204" pitchFamily="18" charset="0"/>
                              </a:rPr>
                              <m:t>2</m:t>
                            </m:r>
                            <m:r>
                              <a:rPr lang="en-US" sz="1200" i="1">
                                <a:solidFill>
                                  <a:schemeClr val="tx1">
                                    <a:lumMod val="50000"/>
                                    <a:lumOff val="50000"/>
                                  </a:schemeClr>
                                </a:solidFill>
                                <a:latin typeface="Cambria Math" panose="02040503050406030204" pitchFamily="18" charset="0"/>
                                <a:ea typeface="Cambria Math" panose="02040503050406030204" pitchFamily="18" charset="0"/>
                              </a:rPr>
                              <m:t>𝜋</m:t>
                            </m:r>
                            <m:r>
                              <a:rPr lang="en-US" sz="1200" i="1">
                                <a:solidFill>
                                  <a:schemeClr val="tx1">
                                    <a:lumMod val="50000"/>
                                    <a:lumOff val="50000"/>
                                  </a:schemeClr>
                                </a:solidFill>
                                <a:latin typeface="Cambria Math" panose="02040503050406030204" pitchFamily="18" charset="0"/>
                                <a:ea typeface="Cambria Math" panose="02040503050406030204" pitchFamily="18" charset="0"/>
                              </a:rPr>
                              <m:t>𝑖</m:t>
                            </m:r>
                          </m:num>
                          <m:den>
                            <m:r>
                              <a:rPr lang="en-US" sz="1200" i="1">
                                <a:solidFill>
                                  <a:schemeClr val="tx1">
                                    <a:lumMod val="50000"/>
                                    <a:lumOff val="50000"/>
                                  </a:schemeClr>
                                </a:solidFill>
                                <a:latin typeface="Cambria Math" panose="02040503050406030204" pitchFamily="18" charset="0"/>
                                <a:ea typeface="Cambria Math" panose="02040503050406030204" pitchFamily="18" charset="0"/>
                              </a:rPr>
                              <m:t>𝑛</m:t>
                            </m:r>
                          </m:den>
                        </m:f>
                      </m:sup>
                    </m:sSup>
                  </m:oMath>
                </a14:m>
                <a:endParaRPr lang="en-US" sz="1200" b="0" dirty="0">
                  <a:ea typeface="Cambria Math" panose="02040503050406030204" pitchFamily="18" charset="0"/>
                </a:endParaRPr>
              </a:p>
              <a:p>
                <a:endParaRPr lang="en-US" sz="1200" b="0" dirty="0">
                  <a:ea typeface="Cambria Math" panose="02040503050406030204" pitchFamily="18" charset="0"/>
                </a:endParaRPr>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t>To</a:t>
                </a:r>
                <a:r>
                  <a:rPr lang="en-US" sz="2000" b="0" baseline="0" dirty="0"/>
                  <a:t> make a mathematical model of these rotations, we start with the equation </a:t>
                </a:r>
                <a:r>
                  <a:rPr lang="en-US" sz="2000" b="1" i="0">
                    <a:solidFill>
                      <a:srgbClr val="002060"/>
                    </a:solidFill>
                    <a:latin typeface="Cambria Math" panose="02040503050406030204" pitchFamily="18" charset="0"/>
                    <a:ea typeface="Cambria Math" panose="02040503050406030204" pitchFamily="18" charset="0"/>
                  </a:rPr>
                  <a:t>𝒛^𝒏=𝟏</a:t>
                </a:r>
                <a:r>
                  <a:rPr lang="en-US" sz="2000" b="0" dirty="0"/>
                  <a:t> where </a:t>
                </a:r>
                <a:r>
                  <a:rPr lang="en-US" sz="2000" b="1" i="0">
                    <a:solidFill>
                      <a:srgbClr val="002060"/>
                    </a:solidFill>
                    <a:latin typeface="Cambria Math" panose="02040503050406030204" pitchFamily="18" charset="0"/>
                    <a:ea typeface="Cambria Math" panose="02040503050406030204" pitchFamily="18" charset="0"/>
                  </a:rPr>
                  <a:t>𝒛</a:t>
                </a:r>
                <a:r>
                  <a:rPr lang="en-US" sz="2000" b="0" dirty="0"/>
                  <a:t> is a complex number. In mathematics, any complex number that yields 1 when raised to some positive integer power n is known as a </a:t>
                </a:r>
                <a:r>
                  <a:rPr lang="en-US" sz="2000" b="0" i="1" dirty="0"/>
                  <a:t>nth root of unity</a:t>
                </a:r>
                <a:r>
                  <a:rPr lang="en-US" sz="2000" b="0" dirty="0"/>
                  <a:t>. In quantum computing,  </a:t>
                </a:r>
                <a:r>
                  <a:rPr lang="en-US" sz="2000" b="1" i="0">
                    <a:solidFill>
                      <a:srgbClr val="002060"/>
                    </a:solidFill>
                    <a:latin typeface="Cambria Math" panose="02040503050406030204" pitchFamily="18" charset="0"/>
                    <a:ea typeface="Cambria Math" panose="02040503050406030204" pitchFamily="18" charset="0"/>
                  </a:rPr>
                  <a:t>𝒛</a:t>
                </a:r>
                <a:r>
                  <a:rPr lang="en-US" sz="2000" b="0" dirty="0"/>
                  <a:t> represents our state vector and roots of unity points through vector passes while rotating on a unit circle.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b="0" dirty="0"/>
                  <a:t>To solve this equation, we express number 1 in a polar form as </a:t>
                </a:r>
                <a:r>
                  <a:rPr lang="en-US" sz="2000" b="0" i="0">
                    <a:solidFill>
                      <a:srgbClr val="002060"/>
                    </a:solidFill>
                    <a:latin typeface="Cambria Math" panose="02040503050406030204" pitchFamily="18" charset="0"/>
                    <a:ea typeface="Cambria Math" panose="02040503050406030204" pitchFamily="18" charset="0"/>
                  </a:rPr>
                  <a:t>𝑒^𝑖2𝜋𝑘</a:t>
                </a:r>
                <a:r>
                  <a:rPr lang="en-US" sz="2000" b="0" dirty="0"/>
                  <a:t> and by using the Euler's formula  as the sum of sine and cosine functions. This identity is true for any integer k, indicating that there are multiple solutions to this equation.</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dirty="0"/>
                  <a:t>In the next step, we express z as nth-root of 1.</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dirty="0"/>
                  <a:t>Finally, by applying the De </a:t>
                </a:r>
                <a:r>
                  <a:rPr lang="en-US" sz="2000" b="0" dirty="0" err="1"/>
                  <a:t>Moivre’s</a:t>
                </a:r>
                <a:r>
                  <a:rPr lang="en-US" sz="2000" b="0" dirty="0"/>
                  <a:t> formula we get a set of solutions or nth roots of unity. </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b="0" dirty="0"/>
                  <a:t>For more compact expression, it is common to use 𝜔 to denote nth root of unity.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15</a:t>
            </a:fld>
            <a:endParaRPr lang="en-US"/>
          </a:p>
        </p:txBody>
      </p:sp>
    </p:spTree>
    <p:extLst>
      <p:ext uri="{BB962C8B-B14F-4D97-AF65-F5344CB8AC3E}">
        <p14:creationId xmlns:p14="http://schemas.microsoft.com/office/powerpoint/2010/main" val="24176259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dirty="0">
                    <a:solidFill>
                      <a:schemeClr val="tx1"/>
                    </a:solidFill>
                  </a:rPr>
                  <a:t>As an example, let’s  find the 5th roots of unity. </a:t>
                </a:r>
              </a:p>
              <a:p>
                <a:endParaRPr lang="en-ZA" dirty="0">
                  <a:solidFill>
                    <a:schemeClr val="tx1"/>
                  </a:solidFill>
                </a:endParaRPr>
              </a:p>
              <a:p>
                <a:pPr marL="228600" indent="-228600">
                  <a:buFont typeface="+mj-lt"/>
                  <a:buAutoNum type="arabicPeriod"/>
                </a:pPr>
                <a:r>
                  <a:rPr lang="en-ZA" dirty="0">
                    <a:solidFill>
                      <a:schemeClr val="tx1"/>
                    </a:solidFill>
                  </a:rPr>
                  <a:t>By applying the formula, we get 5 roots. From these results, we observe:</a:t>
                </a:r>
                <a:endParaRPr lang="en-ZA" b="0" dirty="0">
                  <a:solidFill>
                    <a:schemeClr val="tx1"/>
                  </a:solidFill>
                </a:endParaRPr>
              </a:p>
              <a:p>
                <a:endParaRPr lang="en-ZA" b="0" dirty="0">
                  <a:solidFill>
                    <a:schemeClr val="tx1"/>
                  </a:solidFill>
                </a:endParaRPr>
              </a:p>
              <a:p>
                <a:pPr marL="171450" indent="-171450">
                  <a:buFont typeface="Arial" panose="020B0604020202020204" pitchFamily="34" charset="0"/>
                  <a:buChar char="•"/>
                </a:pPr>
                <a:r>
                  <a:rPr lang="en-ZA" b="0" dirty="0">
                    <a:solidFill>
                      <a:schemeClr val="tx1"/>
                    </a:solidFill>
                  </a:rPr>
                  <a:t>The first root is 1.</a:t>
                </a:r>
              </a:p>
              <a:p>
                <a:pPr marL="171450" indent="-171450">
                  <a:buFont typeface="Arial" panose="020B0604020202020204" pitchFamily="34" charset="0"/>
                  <a:buChar char="•"/>
                </a:pPr>
                <a:r>
                  <a:rPr lang="en-ZA" b="0" dirty="0">
                    <a:solidFill>
                      <a:schemeClr val="tx1"/>
                    </a:solidFill>
                  </a:rPr>
                  <a:t>All roots are evenly spaced by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2</m:t>
                    </m:r>
                    <m:r>
                      <a:rPr lang="en-US" sz="1200" i="1" smtClean="0">
                        <a:solidFill>
                          <a:schemeClr val="tx1"/>
                        </a:solidFill>
                        <a:latin typeface="Cambria Math" panose="02040503050406030204" pitchFamily="18" charset="0"/>
                        <a:ea typeface="Cambria Math" panose="02040503050406030204" pitchFamily="18" charset="0"/>
                      </a:rPr>
                      <m:t>𝜋</m:t>
                    </m:r>
                    <m:r>
                      <a:rPr lang="en-US" sz="1200" b="0" i="1" smtClean="0">
                        <a:solidFill>
                          <a:schemeClr val="tx1"/>
                        </a:solidFill>
                        <a:latin typeface="Cambria Math" panose="02040503050406030204" pitchFamily="18" charset="0"/>
                        <a:ea typeface="Cambria Math" panose="02040503050406030204" pitchFamily="18" charset="0"/>
                      </a:rPr>
                      <m:t>/5</m:t>
                    </m:r>
                  </m:oMath>
                </a14:m>
                <a:r>
                  <a:rPr lang="el-GR" b="0" dirty="0">
                    <a:solidFill>
                      <a:schemeClr val="tx1"/>
                    </a:solidFill>
                  </a:rPr>
                  <a:t>​ </a:t>
                </a:r>
                <a:r>
                  <a:rPr lang="en-ZA" b="0" dirty="0">
                    <a:solidFill>
                      <a:schemeClr val="tx1"/>
                    </a:solidFill>
                  </a:rPr>
                  <a:t>radians on the complex plane.</a:t>
                </a:r>
              </a:p>
              <a:p>
                <a:pPr marL="171450" indent="-171450">
                  <a:buFont typeface="Arial" panose="020B0604020202020204" pitchFamily="34" charset="0"/>
                  <a:buChar char="•"/>
                </a:pPr>
                <a:r>
                  <a:rPr lang="en-ZA" b="0" dirty="0">
                    <a:solidFill>
                      <a:schemeClr val="tx1"/>
                    </a:solidFill>
                  </a:rPr>
                  <a:t>The roots are periodic, meaning they repeat with a period of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𝑛</m:t>
                    </m:r>
                    <m:r>
                      <a:rPr lang="en-US" sz="1200" b="0" i="1" smtClean="0">
                        <a:solidFill>
                          <a:schemeClr val="tx1"/>
                        </a:solidFill>
                        <a:latin typeface="Cambria Math" panose="02040503050406030204" pitchFamily="18" charset="0"/>
                        <a:ea typeface="Cambria Math" panose="02040503050406030204" pitchFamily="18" charset="0"/>
                      </a:rPr>
                      <m:t>=5</m:t>
                    </m:r>
                  </m:oMath>
                </a14:m>
                <a:r>
                  <a:rPr lang="en-ZA" b="0" dirty="0">
                    <a:solidFill>
                      <a:schemeClr val="tx1"/>
                    </a:solidFill>
                  </a:rPr>
                  <a:t>.</a:t>
                </a:r>
              </a:p>
              <a:p>
                <a:endParaRPr lang="en-ZA" b="0" dirty="0">
                  <a:solidFill>
                    <a:schemeClr val="tx1"/>
                  </a:solidFill>
                </a:endParaRPr>
              </a:p>
            </p:txBody>
          </p:sp>
        </mc:Choice>
        <mc:Fallback xmlns="">
          <p:sp>
            <p:nvSpPr>
              <p:cNvPr id="3" name="Notes Placeholder 2"/>
              <p:cNvSpPr>
                <a:spLocks noGrp="1"/>
              </p:cNvSpPr>
              <p:nvPr>
                <p:ph type="body" idx="1"/>
              </p:nvPr>
            </p:nvSpPr>
            <p:spPr/>
            <p:txBody>
              <a:bodyPr/>
              <a:lstStyle/>
              <a:p>
                <a:pPr marL="0" indent="0">
                  <a:buFont typeface="Arial" panose="020B0604020202020204" pitchFamily="34" charset="0"/>
                  <a:buNone/>
                </a:pPr>
                <a:r>
                  <a:rPr lang="en-US" sz="2000" dirty="0"/>
                  <a:t>Knowing the formula, calculating roots of unity is straightforward, so let’s see some examples.</a:t>
                </a:r>
              </a:p>
              <a:p>
                <a:pPr marL="342900" indent="-342900">
                  <a:buFont typeface="Arial" panose="020B0604020202020204" pitchFamily="34" charset="0"/>
                  <a:buChar char="•"/>
                </a:pPr>
                <a:r>
                  <a:rPr lang="en-US" sz="2000" dirty="0"/>
                  <a:t>For n=1, k can be only 0 and the single root of unity is 1.</a:t>
                </a:r>
              </a:p>
              <a:p>
                <a:pPr marL="457200" indent="-457200">
                  <a:buFont typeface="+mj-lt"/>
                  <a:buAutoNum type="arabicPeriod"/>
                </a:pPr>
                <a:r>
                  <a:rPr lang="en-US" sz="2000" dirty="0"/>
                  <a:t>For n=4, k goes from 0 to 3 leading to four roots of unity which are </a:t>
                </a:r>
                <a:r>
                  <a:rPr lang="en-US" sz="2000" i="0">
                    <a:solidFill>
                      <a:srgbClr val="002060"/>
                    </a:solidFill>
                    <a:latin typeface="Cambria Math" panose="02040503050406030204" pitchFamily="18" charset="0"/>
                    <a:ea typeface="Cambria Math" panose="02040503050406030204" pitchFamily="18" charset="0"/>
                  </a:rPr>
                  <a:t>𝜋</a:t>
                </a:r>
                <a:r>
                  <a:rPr lang="en-US" sz="2000" b="0" i="0">
                    <a:solidFill>
                      <a:srgbClr val="002060"/>
                    </a:solidFill>
                    <a:latin typeface="Cambria Math" panose="02040503050406030204" pitchFamily="18" charset="0"/>
                    <a:ea typeface="Cambria Math" panose="02040503050406030204" pitchFamily="18" charset="0"/>
                  </a:rPr>
                  <a:t>/2</a:t>
                </a:r>
                <a:r>
                  <a:rPr lang="en-US" sz="2000" dirty="0"/>
                  <a:t> apart.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For n=5, k goes from 0 to 4 leading to five roots of unity which are</a:t>
                </a:r>
                <a:r>
                  <a:rPr lang="en-US" sz="2000" b="0" i="0">
                    <a:solidFill>
                      <a:srgbClr val="002060"/>
                    </a:solidFill>
                    <a:latin typeface="Cambria Math" panose="02040503050406030204" pitchFamily="18" charset="0"/>
                    <a:ea typeface="Cambria Math" panose="02040503050406030204" pitchFamily="18" charset="0"/>
                  </a:rPr>
                  <a:t> 5</a:t>
                </a:r>
                <a:r>
                  <a:rPr lang="en-US" sz="2000" i="0">
                    <a:solidFill>
                      <a:srgbClr val="002060"/>
                    </a:solidFill>
                    <a:latin typeface="Cambria Math" panose="02040503050406030204" pitchFamily="18" charset="0"/>
                    <a:ea typeface="Cambria Math" panose="02040503050406030204" pitchFamily="18" charset="0"/>
                  </a:rPr>
                  <a:t>𝜋</a:t>
                </a:r>
                <a:r>
                  <a:rPr lang="en-US" sz="2000" b="0" i="0">
                    <a:solidFill>
                      <a:srgbClr val="002060"/>
                    </a:solidFill>
                    <a:latin typeface="Cambria Math" panose="02040503050406030204" pitchFamily="18" charset="0"/>
                    <a:ea typeface="Cambria Math" panose="02040503050406030204" pitchFamily="18" charset="0"/>
                  </a:rPr>
                  <a:t>/2</a:t>
                </a:r>
                <a:r>
                  <a:rPr lang="en-US" sz="2000" dirty="0"/>
                  <a:t> apart.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2000" baseline="0" dirty="0"/>
              </a:p>
              <a:p>
                <a:pPr marL="342900" indent="-342900">
                  <a:buFont typeface="Arial" panose="020B0604020202020204" pitchFamily="34" charset="0"/>
                  <a:buChar char="•"/>
                </a:pPr>
                <a:r>
                  <a:rPr lang="en-US" sz="2000" dirty="0"/>
                  <a:t>What can we see from the formula and from the results is that </a:t>
                </a:r>
              </a:p>
              <a:p>
                <a:pPr marL="800100" lvl="1" indent="-342900">
                  <a:buFont typeface="Arial" panose="020B0604020202020204" pitchFamily="34" charset="0"/>
                  <a:buChar char="•"/>
                </a:pPr>
                <a:r>
                  <a:rPr lang="en-US" sz="2000" dirty="0"/>
                  <a:t>one root will always be 1.</a:t>
                </a:r>
              </a:p>
              <a:p>
                <a:pPr marL="800100" lvl="1" indent="-342900">
                  <a:buFont typeface="Arial" panose="020B0604020202020204" pitchFamily="34" charset="0"/>
                  <a:buChar char="•"/>
                </a:pPr>
                <a:r>
                  <a:rPr lang="en-US" sz="2000" dirty="0"/>
                  <a:t>All roots will be equally separated on a unit circle by </a:t>
                </a:r>
                <a:r>
                  <a:rPr lang="en-US" sz="2000" i="0">
                    <a:solidFill>
                      <a:srgbClr val="002060"/>
                    </a:solidFill>
                    <a:latin typeface="Cambria Math" panose="02040503050406030204" pitchFamily="18" charset="0"/>
                    <a:ea typeface="Cambria Math" panose="02040503050406030204" pitchFamily="18" charset="0"/>
                  </a:rPr>
                  <a:t>2𝜋</a:t>
                </a:r>
                <a:r>
                  <a:rPr lang="en-US" sz="2000" b="0" i="0">
                    <a:solidFill>
                      <a:srgbClr val="002060"/>
                    </a:solidFill>
                    <a:latin typeface="Cambria Math" panose="02040503050406030204" pitchFamily="18" charset="0"/>
                    <a:ea typeface="Cambria Math" panose="02040503050406030204" pitchFamily="18" charset="0"/>
                  </a:rPr>
                  <a:t>/𝑛</a:t>
                </a:r>
                <a:r>
                  <a:rPr lang="en-US" sz="2000" dirty="0"/>
                  <a:t>.</a:t>
                </a:r>
              </a:p>
              <a:p>
                <a:pPr marL="800100" lvl="1" indent="-342900">
                  <a:buFont typeface="Arial" panose="020B0604020202020204" pitchFamily="34" charset="0"/>
                  <a:buChar char="•"/>
                </a:pPr>
                <a:r>
                  <a:rPr lang="en-US" sz="2000" dirty="0"/>
                  <a:t>Powers of roots of unity </a:t>
                </a:r>
                <a:r>
                  <a:rPr lang="en-US" sz="2000" i="0">
                    <a:latin typeface="Cambria Math" panose="02040503050406030204" pitchFamily="18" charset="0"/>
                    <a:ea typeface="Cambria Math" panose="02040503050406030204" pitchFamily="18" charset="0"/>
                  </a:rPr>
                  <a:t>𝜔</a:t>
                </a:r>
                <a:r>
                  <a:rPr lang="en-US" sz="2000" dirty="0"/>
                  <a:t> are periodic with period n. </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2000" baseline="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000" baseline="0" dirty="0"/>
                  <a:t>https://</a:t>
                </a:r>
                <a:r>
                  <a:rPr lang="en-US" sz="2000" baseline="0" dirty="0" err="1"/>
                  <a:t>www.youtube.com</a:t>
                </a:r>
                <a:r>
                  <a:rPr lang="en-US" sz="2000" baseline="0" dirty="0"/>
                  <a:t>/</a:t>
                </a:r>
                <a:r>
                  <a:rPr lang="en-US" sz="2000" baseline="0" dirty="0" err="1"/>
                  <a:t>watch?v</a:t>
                </a:r>
                <a:r>
                  <a:rPr lang="en-US" sz="2000" baseline="0" dirty="0"/>
                  <a:t>=-F-FHNTz4qk</a:t>
                </a:r>
              </a:p>
              <a:p>
                <a:pPr marL="457200" lvl="0" indent="-457200">
                  <a:buFont typeface="+mj-lt"/>
                  <a:buAutoNum type="arabicPeriod"/>
                </a:pPr>
                <a:endParaRPr lang="en-US" sz="2000" baseline="0" dirty="0"/>
              </a:p>
              <a:p>
                <a:pPr marL="457200" lvl="0" indent="-457200">
                  <a:buFont typeface="+mj-lt"/>
                  <a:buAutoNum type="arabicPeriod"/>
                </a:pPr>
                <a:endParaRPr lang="en-US" sz="2000" dirty="0"/>
              </a:p>
              <a:p>
                <a:pPr marL="457200" lvl="0" indent="-457200">
                  <a:buFont typeface="+mj-lt"/>
                  <a:buAutoNum type="arabicPeriod"/>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16</a:t>
            </a:fld>
            <a:endParaRPr lang="en-US"/>
          </a:p>
        </p:txBody>
      </p:sp>
    </p:spTree>
    <p:extLst>
      <p:ext uri="{BB962C8B-B14F-4D97-AF65-F5344CB8AC3E}">
        <p14:creationId xmlns:p14="http://schemas.microsoft.com/office/powerpoint/2010/main" val="30050228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Some properties of the n-</a:t>
                </a:r>
                <a:r>
                  <a:rPr lang="en-ZA" dirty="0" err="1"/>
                  <a:t>th</a:t>
                </a:r>
                <a:r>
                  <a:rPr lang="en-ZA" dirty="0"/>
                  <a:t> roots of unity are:</a:t>
                </a:r>
              </a:p>
              <a:p>
                <a:pPr algn="just"/>
                <a:endParaRPr lang="en-ZA" b="0" dirty="0"/>
              </a:p>
              <a:p>
                <a:pPr marL="228600" indent="-228600" algn="l">
                  <a:buFont typeface="+mj-lt"/>
                  <a:buAutoNum type="arabicPeriod"/>
                </a:pPr>
                <a:r>
                  <a:rPr lang="en-ZA" b="0" dirty="0"/>
                  <a:t>Sum of all roots:</a:t>
                </a:r>
              </a:p>
              <a:p>
                <a:pPr marL="457200" lvl="1" indent="0" algn="l">
                  <a:buFont typeface="+mj-lt"/>
                  <a:buNone/>
                </a:pPr>
                <a:r>
                  <a:rPr lang="en-ZA" dirty="0"/>
                  <a:t>The sum of all n-</a:t>
                </a:r>
                <a:r>
                  <a:rPr lang="en-ZA" dirty="0" err="1"/>
                  <a:t>th</a:t>
                </a:r>
                <a:r>
                  <a:rPr lang="en-ZA" dirty="0"/>
                  <a:t> roots of unity is zero because they are evenly spaced points around the unit circle in the complex plane. If you add them as vectors, they cancel each other out because they’re perfectly balanced around the origin.</a:t>
                </a:r>
                <a:endParaRPr lang="en-ZA" b="0" dirty="0"/>
              </a:p>
              <a:p>
                <a:pPr marL="457200" lvl="1" indent="0" algn="l">
                  <a:buFont typeface="+mj-lt"/>
                  <a:buNone/>
                </a:pPr>
                <a:endParaRPr lang="en-ZA" b="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b="0" dirty="0"/>
                  <a:t>Summing powered roots:</a:t>
                </a:r>
              </a:p>
              <a:p>
                <a:pPr lvl="1" algn="l"/>
                <a:r>
                  <a:rPr lang="en-ZA" dirty="0"/>
                  <a:t>If you raise each root of unity to a power </a:t>
                </a:r>
                <a14:m>
                  <m:oMath xmlns:m="http://schemas.openxmlformats.org/officeDocument/2006/math">
                    <m:r>
                      <a:rPr lang="en-US" sz="1200" b="0" i="1" smtClean="0">
                        <a:latin typeface="Cambria Math" panose="02040503050406030204" pitchFamily="18" charset="0"/>
                        <a:ea typeface="Cambria Math" panose="02040503050406030204" pitchFamily="18" charset="0"/>
                      </a:rPr>
                      <m:t>𝑚</m:t>
                    </m:r>
                  </m:oMath>
                </a14:m>
                <a:r>
                  <a:rPr lang="en-ZA" dirty="0"/>
                  <a:t> (not a multiple of </a:t>
                </a:r>
                <a14:m>
                  <m:oMath xmlns:m="http://schemas.openxmlformats.org/officeDocument/2006/math">
                    <m:r>
                      <a:rPr lang="en-US" sz="1200" b="0" i="1" smtClean="0">
                        <a:latin typeface="Cambria Math" panose="02040503050406030204" pitchFamily="18" charset="0"/>
                        <a:ea typeface="Cambria Math" panose="02040503050406030204" pitchFamily="18" charset="0"/>
                      </a:rPr>
                      <m:t>𝑛</m:t>
                    </m:r>
                  </m:oMath>
                </a14:m>
                <a:r>
                  <a:rPr lang="en-ZA" dirty="0"/>
                  <a:t>) and add them, the sum is still zero. This is because the points stay evenly spaced around the circle, so they balance out</a:t>
                </a:r>
                <a:r>
                  <a:rPr lang="en-ZA" b="0" dirty="0"/>
                  <a:t>.</a:t>
                </a:r>
              </a:p>
              <a:p>
                <a:pPr lvl="1" algn="l"/>
                <a:endParaRPr lang="en-ZA" b="0" dirty="0"/>
              </a:p>
              <a:p>
                <a:pPr marL="228600" indent="-228600" algn="l">
                  <a:buFont typeface="+mj-lt"/>
                  <a:buAutoNum type="arabicPeriod"/>
                </a:pPr>
                <a:r>
                  <a:rPr lang="en-ZA" b="0" dirty="0"/>
                  <a:t>Special case </a:t>
                </a:r>
                <a14:m>
                  <m:oMath xmlns:m="http://schemas.openxmlformats.org/officeDocument/2006/math">
                    <m:r>
                      <a:rPr lang="sr-Latn-RS" sz="1200" b="0" i="1" smtClean="0">
                        <a:latin typeface="Cambria Math" panose="02040503050406030204" pitchFamily="18" charset="0"/>
                        <a:ea typeface="Cambria Math" panose="02040503050406030204" pitchFamily="18" charset="0"/>
                      </a:rPr>
                      <m:t>𝑚</m:t>
                    </m:r>
                    <m:r>
                      <a:rPr lang="en-US" sz="1200" b="0" i="1" smtClean="0">
                        <a:latin typeface="Cambria Math" panose="02040503050406030204" pitchFamily="18" charset="0"/>
                        <a:ea typeface="Cambria Math" panose="02040503050406030204" pitchFamily="18" charset="0"/>
                      </a:rPr>
                      <m:t>=0</m:t>
                    </m:r>
                  </m:oMath>
                </a14:m>
                <a:r>
                  <a:rPr lang="en-ZA" b="0" dirty="0"/>
                  <a:t>:</a:t>
                </a:r>
                <a:br>
                  <a:rPr lang="en-ZA" b="0" dirty="0"/>
                </a:br>
                <a:r>
                  <a:rPr lang="en-ZA" b="0" dirty="0"/>
                  <a:t>When </a:t>
                </a:r>
                <a14:m>
                  <m:oMath xmlns:m="http://schemas.openxmlformats.org/officeDocument/2006/math">
                    <m:r>
                      <a:rPr lang="sr-Latn-RS" sz="1200" b="0" i="1" smtClean="0">
                        <a:latin typeface="Cambria Math" panose="02040503050406030204" pitchFamily="18" charset="0"/>
                        <a:ea typeface="Cambria Math" panose="02040503050406030204" pitchFamily="18" charset="0"/>
                      </a:rPr>
                      <m:t>𝑚</m:t>
                    </m:r>
                    <m:r>
                      <a:rPr lang="en-US" sz="1200" b="0" i="1" smtClean="0">
                        <a:latin typeface="Cambria Math" panose="02040503050406030204" pitchFamily="18" charset="0"/>
                        <a:ea typeface="Cambria Math" panose="02040503050406030204" pitchFamily="18" charset="0"/>
                      </a:rPr>
                      <m:t>=0</m:t>
                    </m:r>
                  </m:oMath>
                </a14:m>
                <a:r>
                  <a:rPr lang="en-ZA" b="0" dirty="0"/>
                  <a:t>, summing all roots gives </a:t>
                </a:r>
                <a14:m>
                  <m:oMath xmlns:m="http://schemas.openxmlformats.org/officeDocument/2006/math">
                    <m:r>
                      <a:rPr lang="en-US" sz="1200" b="0" i="1" smtClean="0">
                        <a:latin typeface="Cambria Math" panose="02040503050406030204" pitchFamily="18" charset="0"/>
                        <a:ea typeface="Cambria Math" panose="02040503050406030204" pitchFamily="18" charset="0"/>
                      </a:rPr>
                      <m:t>𝑛</m:t>
                    </m:r>
                  </m:oMath>
                </a14:m>
                <a:r>
                  <a:rPr lang="en-ZA" b="0" dirty="0"/>
                  <a:t>.</a:t>
                </a:r>
              </a:p>
              <a:p>
                <a:pPr marL="228600" indent="-228600" algn="l">
                  <a:buFont typeface="+mj-lt"/>
                  <a:buAutoNum type="arabicPeriod"/>
                </a:pPr>
                <a:endParaRPr lang="en-ZA" b="0" dirty="0"/>
              </a:p>
              <a:p>
                <a:pPr marL="228600" indent="-228600" algn="l">
                  <a:buFont typeface="+mj-lt"/>
                  <a:buAutoNum type="arabicPeriod"/>
                </a:pPr>
                <a:r>
                  <a:rPr lang="en-ZA" b="0" dirty="0"/>
                  <a:t>Negative exponents and circular motion:</a:t>
                </a:r>
                <a:br>
                  <a:rPr lang="en-ZA" b="0" dirty="0"/>
                </a:br>
                <a:r>
                  <a:rPr lang="en-ZA" b="0" dirty="0"/>
                  <a:t>Since </a:t>
                </a:r>
                <a14:m>
                  <m:oMath xmlns:m="http://schemas.openxmlformats.org/officeDocument/2006/math">
                    <m:sSup>
                      <m:sSupPr>
                        <m:ctrlPr>
                          <a:rPr lang="en-US" sz="1200" i="1" smtClean="0">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𝜔</m:t>
                        </m:r>
                      </m:e>
                      <m:sup>
                        <m:r>
                          <a:rPr lang="en-US" sz="1200" b="0" i="1" smtClean="0">
                            <a:latin typeface="Cambria Math" panose="02040503050406030204" pitchFamily="18" charset="0"/>
                            <a:ea typeface="Cambria Math" panose="02040503050406030204" pitchFamily="18" charset="0"/>
                          </a:rPr>
                          <m:t>𝑛</m:t>
                        </m:r>
                        <m:r>
                          <a:rPr lang="en-US" sz="1200" b="0" i="1" smtClean="0">
                            <a:latin typeface="Cambria Math" panose="02040503050406030204" pitchFamily="18" charset="0"/>
                            <a:ea typeface="Cambria Math" panose="02040503050406030204" pitchFamily="18" charset="0"/>
                          </a:rPr>
                          <m:t>−1</m:t>
                        </m:r>
                      </m:sup>
                    </m:sSup>
                    <m:r>
                      <a:rPr lang="en-US" sz="1200" b="0" i="1" smtClean="0">
                        <a:latin typeface="Cambria Math" panose="02040503050406030204" pitchFamily="18" charset="0"/>
                        <a:ea typeface="Cambria Math" panose="02040503050406030204" pitchFamily="18" charset="0"/>
                      </a:rPr>
                      <m:t>=</m:t>
                    </m:r>
                    <m:sSup>
                      <m:sSupPr>
                        <m:ctrlPr>
                          <a:rPr lang="en-US" sz="1200" i="1">
                            <a:latin typeface="Cambria Math" panose="02040503050406030204" pitchFamily="18" charset="0"/>
                            <a:ea typeface="Cambria Math" panose="02040503050406030204" pitchFamily="18" charset="0"/>
                          </a:rPr>
                        </m:ctrlPr>
                      </m:sSupPr>
                      <m:e>
                        <m:r>
                          <a:rPr lang="en-US" sz="1200" i="1">
                            <a:latin typeface="Cambria Math" panose="02040503050406030204" pitchFamily="18" charset="0"/>
                            <a:ea typeface="Cambria Math" panose="02040503050406030204" pitchFamily="18" charset="0"/>
                          </a:rPr>
                          <m:t>𝜔</m:t>
                        </m:r>
                      </m:e>
                      <m:sup>
                        <m:r>
                          <a:rPr lang="en-US" sz="1200" i="1">
                            <a:latin typeface="Cambria Math" panose="02040503050406030204" pitchFamily="18" charset="0"/>
                            <a:ea typeface="Cambria Math" panose="02040503050406030204" pitchFamily="18" charset="0"/>
                          </a:rPr>
                          <m:t>−1</m:t>
                        </m:r>
                      </m:sup>
                    </m:sSup>
                  </m:oMath>
                </a14:m>
                <a:r>
                  <a:rPr lang="el-GR" b="0" dirty="0"/>
                  <a:t>, </a:t>
                </a:r>
                <a:r>
                  <a:rPr lang="en-ZA" dirty="0"/>
                  <a:t>moving </a:t>
                </a:r>
                <a14:m>
                  <m:oMath xmlns:m="http://schemas.openxmlformats.org/officeDocument/2006/math">
                    <m:r>
                      <a:rPr lang="en-US" sz="1200" b="0" i="1" smtClean="0">
                        <a:latin typeface="Cambria Math" panose="02040503050406030204" pitchFamily="18" charset="0"/>
                        <a:ea typeface="Cambria Math" panose="02040503050406030204" pitchFamily="18" charset="0"/>
                      </a:rPr>
                      <m:t>𝑛</m:t>
                    </m:r>
                    <m:r>
                      <a:rPr lang="en-US" sz="1200" b="0" i="1" smtClean="0">
                        <a:latin typeface="Cambria Math" panose="02040503050406030204" pitchFamily="18" charset="0"/>
                        <a:ea typeface="Cambria Math" panose="02040503050406030204" pitchFamily="18" charset="0"/>
                      </a:rPr>
                      <m:t>−1</m:t>
                    </m:r>
                  </m:oMath>
                </a14:m>
                <a:r>
                  <a:rPr lang="en-ZA" dirty="0"/>
                  <a:t> steps forward around the unit circle is the same as moving 1 step backward. This means we can describe movement along the unit circle using either positive or negative steps.</a:t>
                </a:r>
              </a:p>
              <a:p>
                <a:pPr marL="228600" indent="-228600" algn="l">
                  <a:buFont typeface="+mj-lt"/>
                  <a:buAutoNum type="arabicPeriod"/>
                </a:pPr>
                <a:endParaRPr lang="en-ZA" b="0" dirty="0"/>
              </a:p>
              <a:p>
                <a:pPr marL="228600" indent="-228600" algn="l">
                  <a:buFont typeface="+mj-lt"/>
                  <a:buAutoNum type="arabicPeriod"/>
                </a:pPr>
                <a:r>
                  <a:rPr lang="en-ZA" b="0" dirty="0"/>
                  <a:t>Product of all roots:</a:t>
                </a:r>
                <a:br>
                  <a:rPr lang="en-ZA" b="0" dirty="0"/>
                </a:br>
                <a:r>
                  <a:rPr lang="en-ZA" b="0" dirty="0"/>
                  <a:t>The product of all n-</a:t>
                </a:r>
                <a:r>
                  <a:rPr lang="en-ZA" b="0" dirty="0" err="1"/>
                  <a:t>th</a:t>
                </a:r>
                <a:r>
                  <a:rPr lang="en-ZA" b="0" dirty="0"/>
                  <a:t> roots of unity is ±1, </a:t>
                </a:r>
                <a:r>
                  <a:rPr lang="en-ZA" dirty="0"/>
                  <a:t>depending on whether n is even or odd.</a:t>
                </a:r>
                <a:r>
                  <a:rPr lang="en-ZA" b="0" dirty="0"/>
                  <a:t>.</a:t>
                </a:r>
              </a:p>
            </p:txBody>
          </p:sp>
        </mc:Choice>
        <mc:Fallback xmlns="">
          <p:sp>
            <p:nvSpPr>
              <p:cNvPr id="3" name="Notes Placeholder 2"/>
              <p:cNvSpPr>
                <a:spLocks noGrp="1"/>
              </p:cNvSpPr>
              <p:nvPr>
                <p:ph type="body" idx="1"/>
              </p:nvPr>
            </p:nvSpPr>
            <p:spPr/>
            <p:txBody>
              <a:bodyPr/>
              <a:lstStyle/>
              <a:p>
                <a:pPr marL="0" indent="0">
                  <a:buFont typeface="Arial" panose="020B0604020202020204" pitchFamily="34" charset="0"/>
                  <a:buNone/>
                </a:pPr>
                <a:r>
                  <a:rPr lang="en-US" sz="2000" dirty="0"/>
                  <a:t>Knowing the formula, calculating roots of unity is straightforward, so let’s see some examples.</a:t>
                </a:r>
              </a:p>
              <a:p>
                <a:pPr marL="342900" indent="-342900">
                  <a:buFont typeface="Arial" panose="020B0604020202020204" pitchFamily="34" charset="0"/>
                  <a:buChar char="•"/>
                </a:pPr>
                <a:r>
                  <a:rPr lang="en-US" sz="2000" dirty="0"/>
                  <a:t>For n=1, k can be only 0 and the single root of unity is 1.</a:t>
                </a:r>
              </a:p>
              <a:p>
                <a:pPr marL="457200" indent="-457200">
                  <a:buFont typeface="+mj-lt"/>
                  <a:buAutoNum type="arabicPeriod"/>
                </a:pPr>
                <a:r>
                  <a:rPr lang="en-US" sz="2000" dirty="0"/>
                  <a:t>For n=4, k goes from 0 to 3 leading to four roots of unity which are </a:t>
                </a:r>
                <a:r>
                  <a:rPr lang="en-US" sz="2000" i="0">
                    <a:solidFill>
                      <a:srgbClr val="002060"/>
                    </a:solidFill>
                    <a:latin typeface="Cambria Math" panose="02040503050406030204" pitchFamily="18" charset="0"/>
                    <a:ea typeface="Cambria Math" panose="02040503050406030204" pitchFamily="18" charset="0"/>
                  </a:rPr>
                  <a:t>𝜋</a:t>
                </a:r>
                <a:r>
                  <a:rPr lang="en-US" sz="2000" b="0" i="0">
                    <a:solidFill>
                      <a:srgbClr val="002060"/>
                    </a:solidFill>
                    <a:latin typeface="Cambria Math" panose="02040503050406030204" pitchFamily="18" charset="0"/>
                    <a:ea typeface="Cambria Math" panose="02040503050406030204" pitchFamily="18" charset="0"/>
                  </a:rPr>
                  <a:t>/2</a:t>
                </a:r>
                <a:r>
                  <a:rPr lang="en-US" sz="2000" dirty="0"/>
                  <a:t> apart.</a:t>
                </a:r>
              </a:p>
              <a:p>
                <a:pPr marL="457200" marR="0" lvl="0" indent="-457200" algn="l" defTabSz="914400" rtl="0" eaLnBrk="1" fontAlgn="auto" latinLnBrk="0" hangingPunct="1">
                  <a:lnSpc>
                    <a:spcPct val="100000"/>
                  </a:lnSpc>
                  <a:spcBef>
                    <a:spcPts val="0"/>
                  </a:spcBef>
                  <a:spcAft>
                    <a:spcPts val="0"/>
                  </a:spcAft>
                  <a:buClrTx/>
                  <a:buSzTx/>
                  <a:buFont typeface="+mj-lt"/>
                  <a:buAutoNum type="arabicPeriod"/>
                  <a:tabLst/>
                  <a:defRPr/>
                </a:pPr>
                <a:r>
                  <a:rPr lang="en-US" sz="2000" dirty="0"/>
                  <a:t>For n=5, k goes from 0 to 4 leading to five roots of unity which are</a:t>
                </a:r>
                <a:r>
                  <a:rPr lang="en-US" sz="2000" b="0" i="0">
                    <a:solidFill>
                      <a:srgbClr val="002060"/>
                    </a:solidFill>
                    <a:latin typeface="Cambria Math" panose="02040503050406030204" pitchFamily="18" charset="0"/>
                    <a:ea typeface="Cambria Math" panose="02040503050406030204" pitchFamily="18" charset="0"/>
                  </a:rPr>
                  <a:t> 5</a:t>
                </a:r>
                <a:r>
                  <a:rPr lang="en-US" sz="2000" i="0">
                    <a:solidFill>
                      <a:srgbClr val="002060"/>
                    </a:solidFill>
                    <a:latin typeface="Cambria Math" panose="02040503050406030204" pitchFamily="18" charset="0"/>
                    <a:ea typeface="Cambria Math" panose="02040503050406030204" pitchFamily="18" charset="0"/>
                  </a:rPr>
                  <a:t>𝜋</a:t>
                </a:r>
                <a:r>
                  <a:rPr lang="en-US" sz="2000" b="0" i="0">
                    <a:solidFill>
                      <a:srgbClr val="002060"/>
                    </a:solidFill>
                    <a:latin typeface="Cambria Math" panose="02040503050406030204" pitchFamily="18" charset="0"/>
                    <a:ea typeface="Cambria Math" panose="02040503050406030204" pitchFamily="18" charset="0"/>
                  </a:rPr>
                  <a:t>/2</a:t>
                </a:r>
                <a:r>
                  <a:rPr lang="en-US" sz="2000" dirty="0"/>
                  <a:t> apart.</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2000" baseline="0" dirty="0"/>
              </a:p>
              <a:p>
                <a:pPr marL="342900" indent="-342900">
                  <a:buFont typeface="Arial" panose="020B0604020202020204" pitchFamily="34" charset="0"/>
                  <a:buChar char="•"/>
                </a:pPr>
                <a:r>
                  <a:rPr lang="en-US" sz="2000" dirty="0"/>
                  <a:t>What can we see from the formula and from the results is that </a:t>
                </a:r>
              </a:p>
              <a:p>
                <a:pPr marL="800100" lvl="1" indent="-342900">
                  <a:buFont typeface="Arial" panose="020B0604020202020204" pitchFamily="34" charset="0"/>
                  <a:buChar char="•"/>
                </a:pPr>
                <a:r>
                  <a:rPr lang="en-US" sz="2000" dirty="0"/>
                  <a:t>one root will always be 1.</a:t>
                </a:r>
              </a:p>
              <a:p>
                <a:pPr marL="800100" lvl="1" indent="-342900">
                  <a:buFont typeface="Arial" panose="020B0604020202020204" pitchFamily="34" charset="0"/>
                  <a:buChar char="•"/>
                </a:pPr>
                <a:r>
                  <a:rPr lang="en-US" sz="2000" dirty="0"/>
                  <a:t>All roots will be equally separated on a unit circle by </a:t>
                </a:r>
                <a:r>
                  <a:rPr lang="en-US" sz="2000" i="0">
                    <a:solidFill>
                      <a:srgbClr val="002060"/>
                    </a:solidFill>
                    <a:latin typeface="Cambria Math" panose="02040503050406030204" pitchFamily="18" charset="0"/>
                    <a:ea typeface="Cambria Math" panose="02040503050406030204" pitchFamily="18" charset="0"/>
                  </a:rPr>
                  <a:t>2𝜋</a:t>
                </a:r>
                <a:r>
                  <a:rPr lang="en-US" sz="2000" b="0" i="0">
                    <a:solidFill>
                      <a:srgbClr val="002060"/>
                    </a:solidFill>
                    <a:latin typeface="Cambria Math" panose="02040503050406030204" pitchFamily="18" charset="0"/>
                    <a:ea typeface="Cambria Math" panose="02040503050406030204" pitchFamily="18" charset="0"/>
                  </a:rPr>
                  <a:t>/𝑛</a:t>
                </a:r>
                <a:r>
                  <a:rPr lang="en-US" sz="2000" dirty="0"/>
                  <a:t>.</a:t>
                </a:r>
              </a:p>
              <a:p>
                <a:pPr marL="800100" lvl="1" indent="-342900">
                  <a:buFont typeface="Arial" panose="020B0604020202020204" pitchFamily="34" charset="0"/>
                  <a:buChar char="•"/>
                </a:pPr>
                <a:r>
                  <a:rPr lang="en-US" sz="2000" dirty="0"/>
                  <a:t>Powers of roots of unity </a:t>
                </a:r>
                <a:r>
                  <a:rPr lang="en-US" sz="2000" i="0">
                    <a:latin typeface="Cambria Math" panose="02040503050406030204" pitchFamily="18" charset="0"/>
                    <a:ea typeface="Cambria Math" panose="02040503050406030204" pitchFamily="18" charset="0"/>
                  </a:rPr>
                  <a:t>𝜔</a:t>
                </a:r>
                <a:r>
                  <a:rPr lang="en-US" sz="2000" dirty="0"/>
                  <a:t> are periodic with period n. </a:t>
                </a:r>
              </a:p>
              <a:p>
                <a:pPr marL="0" marR="0" lvl="0" indent="0" algn="l" defTabSz="914400" rtl="0" eaLnBrk="1" fontAlgn="auto" latinLnBrk="0" hangingPunct="1">
                  <a:lnSpc>
                    <a:spcPct val="100000"/>
                  </a:lnSpc>
                  <a:spcBef>
                    <a:spcPts val="0"/>
                  </a:spcBef>
                  <a:spcAft>
                    <a:spcPts val="0"/>
                  </a:spcAft>
                  <a:buClrTx/>
                  <a:buSzTx/>
                  <a:buFont typeface="+mj-lt"/>
                  <a:buNone/>
                  <a:tabLst/>
                  <a:defRPr/>
                </a:pPr>
                <a:endParaRPr lang="en-US" sz="2000" baseline="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sz="2000" baseline="0" dirty="0"/>
                  <a:t>https://</a:t>
                </a:r>
                <a:r>
                  <a:rPr lang="en-US" sz="2000" baseline="0" dirty="0" err="1"/>
                  <a:t>www.youtube.com</a:t>
                </a:r>
                <a:r>
                  <a:rPr lang="en-US" sz="2000" baseline="0" dirty="0"/>
                  <a:t>/</a:t>
                </a:r>
                <a:r>
                  <a:rPr lang="en-US" sz="2000" baseline="0" dirty="0" err="1"/>
                  <a:t>watch?v</a:t>
                </a:r>
                <a:r>
                  <a:rPr lang="en-US" sz="2000" baseline="0" dirty="0"/>
                  <a:t>=-F-FHNTz4qk</a:t>
                </a:r>
              </a:p>
              <a:p>
                <a:pPr marL="457200" lvl="0" indent="-457200">
                  <a:buFont typeface="+mj-lt"/>
                  <a:buAutoNum type="arabicPeriod"/>
                </a:pPr>
                <a:endParaRPr lang="en-US" sz="2000" baseline="0" dirty="0"/>
              </a:p>
              <a:p>
                <a:pPr marL="457200" lvl="0" indent="-457200">
                  <a:buFont typeface="+mj-lt"/>
                  <a:buAutoNum type="arabicPeriod"/>
                </a:pPr>
                <a:endParaRPr lang="en-US" sz="2000" dirty="0"/>
              </a:p>
              <a:p>
                <a:pPr marL="457200" lvl="0" indent="-457200">
                  <a:buFont typeface="+mj-lt"/>
                  <a:buAutoNum type="arabicPeriod"/>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17</a:t>
            </a:fld>
            <a:endParaRPr lang="en-US"/>
          </a:p>
        </p:txBody>
      </p:sp>
    </p:spTree>
    <p:extLst>
      <p:ext uri="{BB962C8B-B14F-4D97-AF65-F5344CB8AC3E}">
        <p14:creationId xmlns:p14="http://schemas.microsoft.com/office/powerpoint/2010/main" val="15584711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An </a:t>
            </a:r>
            <a:r>
              <a:rPr lang="en-ZA" dirty="0"/>
              <a:t>n-</a:t>
            </a:r>
            <a:r>
              <a:rPr lang="en-ZA" dirty="0" err="1"/>
              <a:t>th</a:t>
            </a:r>
            <a:r>
              <a:rPr lang="en-ZA" b="0" dirty="0"/>
              <a:t> root of unity is called primitive if it is not simultaneously an m</a:t>
            </a:r>
            <a:r>
              <a:rPr lang="en-ZA" dirty="0"/>
              <a:t>-</a:t>
            </a:r>
            <a:r>
              <a:rPr lang="en-ZA" dirty="0" err="1"/>
              <a:t>th</a:t>
            </a:r>
            <a:r>
              <a:rPr lang="en-ZA" b="0" dirty="0"/>
              <a:t> root of unity for any smaller m. The table shows examples for roots from n=1 to n=6, where the primitive </a:t>
            </a:r>
            <a:r>
              <a:rPr lang="en-ZA" dirty="0"/>
              <a:t>n-</a:t>
            </a:r>
            <a:r>
              <a:rPr lang="en-ZA" dirty="0" err="1"/>
              <a:t>th</a:t>
            </a:r>
            <a:r>
              <a:rPr lang="en-ZA" b="0" dirty="0"/>
              <a:t> roots of unity are marked in red.</a:t>
            </a:r>
          </a:p>
          <a:p>
            <a:pPr algn="just"/>
            <a:endParaRPr lang="en-ZA" b="0" dirty="0"/>
          </a:p>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These numbers play an important role in signal processing algorithms and cryptography, where they are used in Fourier transforms, error-correcting codes, and quantum algorithms. For example, a primitive </a:t>
            </a:r>
            <a:r>
              <a:rPr lang="en-ZA" dirty="0"/>
              <a:t>n-</a:t>
            </a:r>
            <a:r>
              <a:rPr lang="en-ZA" dirty="0" err="1"/>
              <a:t>th</a:t>
            </a:r>
            <a:r>
              <a:rPr lang="en-ZA" b="0" dirty="0"/>
              <a:t> root of unity completes a full revolution around the unit circle when raised to the power of n. This property is used in modern cryptographic systems like </a:t>
            </a:r>
            <a:r>
              <a:rPr lang="en-ZA" dirty="0"/>
              <a:t>lattice-based cryptography.</a:t>
            </a:r>
            <a:endParaRPr lang="en-ZA" b="0" dirty="0"/>
          </a:p>
          <a:p>
            <a:pPr algn="just"/>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18</a:t>
            </a:fld>
            <a:endParaRPr lang="en-US"/>
          </a:p>
        </p:txBody>
      </p:sp>
    </p:spTree>
    <p:extLst>
      <p:ext uri="{BB962C8B-B14F-4D97-AF65-F5344CB8AC3E}">
        <p14:creationId xmlns:p14="http://schemas.microsoft.com/office/powerpoint/2010/main" val="4574717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With these basic mathematical tools in place, the next step is linear algebra, which provides the main mathematical framework for representing quantum states and operations.</a:t>
            </a:r>
          </a:p>
        </p:txBody>
      </p:sp>
      <p:sp>
        <p:nvSpPr>
          <p:cNvPr id="4" name="Slide Number Placeholder 3"/>
          <p:cNvSpPr>
            <a:spLocks noGrp="1"/>
          </p:cNvSpPr>
          <p:nvPr>
            <p:ph type="sldNum" sz="quarter" idx="5"/>
          </p:nvPr>
        </p:nvSpPr>
        <p:spPr/>
        <p:txBody>
          <a:bodyPr/>
          <a:lstStyle/>
          <a:p>
            <a:fld id="{1B2CE5E3-B8BD-D040-AC87-D640191DD8F1}" type="slidenum">
              <a:rPr lang="en-US" smtClean="0"/>
              <a:t>19</a:t>
            </a:fld>
            <a:endParaRPr lang="en-US"/>
          </a:p>
        </p:txBody>
      </p:sp>
    </p:spTree>
    <p:extLst>
      <p:ext uri="{BB962C8B-B14F-4D97-AF65-F5344CB8AC3E}">
        <p14:creationId xmlns:p14="http://schemas.microsoft.com/office/powerpoint/2010/main" val="5185369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Linear algebra is a branch of mathematics that studies vectors, vector spaces, matrices, linear transformations, and linear operators. The term "linear" means straight or proportional.</a:t>
                </a:r>
              </a:p>
              <a:p>
                <a:pPr algn="just"/>
                <a:endParaRPr lang="en-ZA" b="0" dirty="0"/>
              </a:p>
              <a:p>
                <a:pPr marL="228600" indent="-228600" algn="just">
                  <a:buFont typeface="+mj-lt"/>
                  <a:buAutoNum type="arabicPeriod"/>
                </a:pPr>
                <a:r>
                  <a:rPr lang="en-ZA" dirty="0"/>
                  <a:t>Let’s explain linearity with a simple example. if Bob takes math lessons at 5 </a:t>
                </a:r>
                <a:r>
                  <a:rPr lang="en-ZA" dirty="0" err="1"/>
                  <a:t>Rands</a:t>
                </a:r>
                <a:r>
                  <a:rPr lang="en-ZA" dirty="0"/>
                  <a:t> each, one lesson costs 5 </a:t>
                </a:r>
                <a:r>
                  <a:rPr lang="en-ZA" dirty="0" err="1"/>
                  <a:t>Rands</a:t>
                </a:r>
                <a:r>
                  <a:rPr lang="en-ZA" dirty="0"/>
                  <a:t>, two lessons cost 10 </a:t>
                </a:r>
                <a:r>
                  <a:rPr lang="en-ZA" dirty="0" err="1"/>
                  <a:t>Rands</a:t>
                </a:r>
                <a:r>
                  <a:rPr lang="en-ZA" dirty="0"/>
                  <a:t>, and so on. The cost goes up evenly with the number of lessons, making a straight-line relationship.</a:t>
                </a:r>
              </a:p>
              <a:p>
                <a:pPr algn="just"/>
                <a:endParaRPr lang="en-ZA" b="0" dirty="0"/>
              </a:p>
              <a:p>
                <a:pPr marL="228600" indent="-228600" algn="just">
                  <a:buFont typeface="+mj-lt"/>
                  <a:buAutoNum type="arabicPeriod"/>
                </a:pPr>
                <a:r>
                  <a:rPr lang="en-ZA" b="0" dirty="0"/>
                  <a:t>Linear functions satisfy two key properties: additivity and homogeneity. </a:t>
                </a:r>
              </a:p>
              <a:p>
                <a:pPr marL="628650" lvl="1" indent="-171450" algn="just">
                  <a:buFont typeface="Arial" panose="020B0604020202020204" pitchFamily="34" charset="0"/>
                  <a:buChar char="•"/>
                </a:pPr>
                <a:r>
                  <a:rPr lang="en-ZA" dirty="0"/>
                  <a:t>Additivity means that if you add two inputs first and then apply the function, you get the same result as applying the function to each input separately and then adding the results.</a:t>
                </a:r>
                <a:r>
                  <a:rPr lang="en-ZA" b="0" dirty="0"/>
                  <a:t>.</a:t>
                </a:r>
              </a:p>
              <a:p>
                <a:pPr marL="628650" lvl="1" indent="-171450" algn="just">
                  <a:buFont typeface="Arial" panose="020B0604020202020204" pitchFamily="34" charset="0"/>
                  <a:buChar char="•"/>
                </a:pPr>
                <a:r>
                  <a:rPr lang="en-ZA" dirty="0"/>
                  <a:t>Homogeneity means that if you multiply the input by a number first and then apply the function, it’s the same as applying the function first and then multiplying the result by that number.</a:t>
                </a:r>
                <a:endParaRPr lang="en-ZA" b="0" dirty="0"/>
              </a:p>
              <a:p>
                <a:pPr marL="171450" indent="-171450" algn="just">
                  <a:buFont typeface="Arial" panose="020B0604020202020204" pitchFamily="34" charset="0"/>
                  <a:buChar char="•"/>
                </a:pPr>
                <a:endParaRPr lang="en-ZA" b="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startAt="2"/>
                  <a:tabLst/>
                  <a:defRPr/>
                </a:pPr>
                <a:r>
                  <a:rPr lang="en-ZA" b="0" dirty="0"/>
                  <a:t>Together, these properties define the superposition principle.</a:t>
                </a:r>
                <a:br>
                  <a:rPr lang="en-ZA" b="0" dirty="0"/>
                </a:br>
                <a:r>
                  <a:rPr lang="en-ZA" b="0" dirty="0"/>
                  <a:t>The expression </a:t>
                </a:r>
                <a14:m>
                  <m:oMath xmlns:m="http://schemas.openxmlformats.org/officeDocument/2006/math">
                    <m:sSub>
                      <m:sSubPr>
                        <m:ctrlPr>
                          <a:rPr lang="en-ZA" sz="1200" i="1" smtClean="0">
                            <a:latin typeface="Cambria Math" panose="02040503050406030204" pitchFamily="18" charset="0"/>
                          </a:rPr>
                        </m:ctrlPr>
                      </m:sSubPr>
                      <m:e>
                        <m:r>
                          <a:rPr lang="sr-Latn-RS" sz="1200" i="1">
                            <a:latin typeface="Cambria Math" panose="02040503050406030204" pitchFamily="18" charset="0"/>
                          </a:rPr>
                          <m:t>𝑎</m:t>
                        </m:r>
                      </m:e>
                      <m:sub>
                        <m:r>
                          <a:rPr lang="sr-Latn-RS" sz="1200" i="1">
                            <a:latin typeface="Cambria Math" panose="02040503050406030204" pitchFamily="18" charset="0"/>
                          </a:rPr>
                          <m:t>1</m:t>
                        </m:r>
                      </m:sub>
                    </m:sSub>
                    <m:sSub>
                      <m:sSubPr>
                        <m:ctrlPr>
                          <a:rPr lang="en-ZA" sz="1200" i="1">
                            <a:latin typeface="Cambria Math" panose="02040503050406030204" pitchFamily="18" charset="0"/>
                          </a:rPr>
                        </m:ctrlPr>
                      </m:sSubPr>
                      <m:e>
                        <m:r>
                          <a:rPr lang="sr-Latn-RS" sz="1200" i="1">
                            <a:latin typeface="Cambria Math" panose="02040503050406030204" pitchFamily="18" charset="0"/>
                          </a:rPr>
                          <m:t>𝑥</m:t>
                        </m:r>
                      </m:e>
                      <m:sub>
                        <m:r>
                          <a:rPr lang="sr-Latn-RS" sz="1200" i="1">
                            <a:latin typeface="Cambria Math" panose="02040503050406030204" pitchFamily="18" charset="0"/>
                          </a:rPr>
                          <m:t>1</m:t>
                        </m:r>
                      </m:sub>
                    </m:sSub>
                    <m:r>
                      <a:rPr lang="sr-Latn-RS" sz="1200" i="1">
                        <a:latin typeface="Cambria Math" panose="02040503050406030204" pitchFamily="18" charset="0"/>
                      </a:rPr>
                      <m:t>+</m:t>
                    </m:r>
                    <m:sSub>
                      <m:sSubPr>
                        <m:ctrlPr>
                          <a:rPr lang="en-ZA" sz="1200" i="1">
                            <a:latin typeface="Cambria Math" panose="02040503050406030204" pitchFamily="18" charset="0"/>
                          </a:rPr>
                        </m:ctrlPr>
                      </m:sSubPr>
                      <m:e>
                        <m:r>
                          <a:rPr lang="sr-Latn-RS" sz="1200" i="1">
                            <a:latin typeface="Cambria Math" panose="02040503050406030204" pitchFamily="18" charset="0"/>
                          </a:rPr>
                          <m:t>𝑎</m:t>
                        </m:r>
                      </m:e>
                      <m:sub>
                        <m:r>
                          <a:rPr lang="sr-Latn-RS" sz="1200" i="1">
                            <a:latin typeface="Cambria Math" panose="02040503050406030204" pitchFamily="18" charset="0"/>
                          </a:rPr>
                          <m:t>2</m:t>
                        </m:r>
                      </m:sub>
                    </m:sSub>
                    <m:sSub>
                      <m:sSubPr>
                        <m:ctrlPr>
                          <a:rPr lang="en-ZA" sz="1200" i="1">
                            <a:latin typeface="Cambria Math" panose="02040503050406030204" pitchFamily="18" charset="0"/>
                          </a:rPr>
                        </m:ctrlPr>
                      </m:sSubPr>
                      <m:e>
                        <m:r>
                          <a:rPr lang="sr-Latn-RS" sz="1200" i="1">
                            <a:latin typeface="Cambria Math" panose="02040503050406030204" pitchFamily="18" charset="0"/>
                          </a:rPr>
                          <m:t>𝑥</m:t>
                        </m:r>
                      </m:e>
                      <m:sub>
                        <m:r>
                          <a:rPr lang="sr-Latn-RS" sz="1200" i="1">
                            <a:latin typeface="Cambria Math" panose="02040503050406030204" pitchFamily="18" charset="0"/>
                          </a:rPr>
                          <m:t>2</m:t>
                        </m:r>
                      </m:sub>
                    </m:sSub>
                  </m:oMath>
                </a14:m>
                <a:r>
                  <a:rPr lang="en-ZA" dirty="0"/>
                  <a:t> is called a linear combination. It’s made by multiplying each variable by a constant and then adding the results.</a:t>
                </a:r>
                <a:r>
                  <a:rPr lang="en-ZA" b="0" dirty="0"/>
                  <a:t> </a:t>
                </a:r>
                <a:br>
                  <a:rPr lang="en-ZA" b="0" dirty="0"/>
                </a:br>
                <a:r>
                  <a:rPr lang="en-ZA" dirty="0"/>
                  <a:t>This property means that when you take a linear combination of inputs, you get a linear combination of outputs. This is the main idea behind the superposition principle in linear algebra and quantum mechanics.</a:t>
                </a:r>
                <a:endParaRPr lang="en-ZA" b="0" dirty="0"/>
              </a:p>
            </p:txBody>
          </p:sp>
        </mc:Choice>
        <mc:Fallback xmlns="">
          <p:sp>
            <p:nvSpPr>
              <p:cNvPr id="3" name="Notes Placeholder 2"/>
              <p:cNvSpPr>
                <a:spLocks noGrp="1"/>
              </p:cNvSpPr>
              <p:nvPr>
                <p:ph type="body" idx="1"/>
              </p:nvPr>
            </p:nvSpPr>
            <p:spPr/>
            <p:txBody>
              <a:bodyPr/>
              <a:lstStyle/>
              <a:p>
                <a:pPr algn="l"/>
                <a:r>
                  <a:rPr lang="en-US" sz="2000" dirty="0"/>
                  <a:t>Linear algebra is the branch of mathematics that studies vectors and matrices and,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more generally, </a:t>
                </a:r>
                <a:r>
                  <a:rPr lang="en-US" sz="2000" kern="1200" dirty="0">
                    <a:solidFill>
                      <a:schemeClr val="tx1"/>
                    </a:solidFill>
                    <a:effectLst/>
                    <a:latin typeface="+mn-lt"/>
                    <a:ea typeface="+mn-ea"/>
                    <a:cs typeface="+mn-cs"/>
                  </a:rPr>
                  <a:t>vector spaces and linear operations on them.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In general, linear means a straight line. For example, Bob wishes to enroll into a quantum computing course priced at $5 per lecture.  If he takes 1 lecture it will cost $5, two lectures $10 and x lectures y=5x which is a linear function represented as a straight line.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Linear function must satisfy linearity principles: </a:t>
                </a:r>
                <a:r>
                  <a:rPr lang="en-US" sz="2000" b="0" i="0">
                    <a:latin typeface="Cambria Math" panose="02040503050406030204" pitchFamily="18" charset="0"/>
                  </a:rPr>
                  <a:t>𝑓(𝑎𝑥)=𝑎𝑓(𝑥)</a:t>
                </a:r>
                <a:r>
                  <a:rPr lang="en-US" sz="2000" b="0" dirty="0"/>
                  <a:t> and </a:t>
                </a:r>
                <a:r>
                  <a:rPr lang="en-US" sz="2000" b="0" i="0">
                    <a:latin typeface="Cambria Math" panose="02040503050406030204" pitchFamily="18" charset="0"/>
                  </a:rPr>
                  <a:t>𝑓(𝑎+𝑏)=𝑓(𝑎)+𝑓(𝑏)</a:t>
                </a:r>
                <a:r>
                  <a:rPr lang="en-US" sz="2000" b="0" dirty="0"/>
                  <a:t> where a and b are some constants.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t>In our example, we can see that it doesn’t matter if Bob pays for 6 lectures at once or two times for three lecturers. Also, Bob can pay for 5 lecturers at once or for two lecturers and then for three lectures.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0" dirty="0"/>
                  <a:t>Linear functions can be added, or subtracted.  For example, Bob can obtain an discount coupon for 1$ off for each lecture which he subtracts from the total price. Linear functions can be also multiplied and divided, but the result is not a linear function.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20</a:t>
            </a:fld>
            <a:endParaRPr lang="en-US"/>
          </a:p>
        </p:txBody>
      </p:sp>
    </p:spTree>
    <p:extLst>
      <p:ext uri="{BB962C8B-B14F-4D97-AF65-F5344CB8AC3E}">
        <p14:creationId xmlns:p14="http://schemas.microsoft.com/office/powerpoint/2010/main" val="18793802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latin typeface="+mn-lt"/>
            </a:endParaRPr>
          </a:p>
        </p:txBody>
      </p:sp>
      <p:sp>
        <p:nvSpPr>
          <p:cNvPr id="4" name="Slide Number Placeholder 3"/>
          <p:cNvSpPr>
            <a:spLocks noGrp="1"/>
          </p:cNvSpPr>
          <p:nvPr>
            <p:ph type="sldNum" sz="quarter" idx="5"/>
          </p:nvPr>
        </p:nvSpPr>
        <p:spPr/>
        <p:txBody>
          <a:bodyPr/>
          <a:lstStyle/>
          <a:p>
            <a:fld id="{1B2CE5E3-B8BD-D040-AC87-D640191DD8F1}" type="slidenum">
              <a:rPr lang="en-US" smtClean="0"/>
              <a:t>21</a:t>
            </a:fld>
            <a:endParaRPr lang="en-US"/>
          </a:p>
        </p:txBody>
      </p:sp>
    </p:spTree>
    <p:extLst>
      <p:ext uri="{BB962C8B-B14F-4D97-AF65-F5344CB8AC3E}">
        <p14:creationId xmlns:p14="http://schemas.microsoft.com/office/powerpoint/2010/main" val="29461187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b="0" u="none" dirty="0"/>
                  <a:t>A matrix is a </a:t>
                </a:r>
                <a:r>
                  <a:rPr lang="en-ZA" u="none" dirty="0"/>
                  <a:t>is a rectangular array or table of numbers, symbols</a:t>
                </a:r>
                <a:r>
                  <a:rPr lang="en-ZA" b="0" u="none" dirty="0"/>
                  <a:t> or expressions organized into horizontal rows and vertical columns.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b="0" u="none" dirty="0"/>
              </a:p>
              <a:p>
                <a:r>
                  <a:rPr lang="en-ZA" b="0" dirty="0"/>
                  <a:t>Each element of a matrix is denoted as </a:t>
                </a:r>
                <a14:m>
                  <m:oMath xmlns:m="http://schemas.openxmlformats.org/officeDocument/2006/math">
                    <m:sSub>
                      <m:sSubPr>
                        <m:ctrlPr>
                          <a:rPr lang="en-US" sz="1200" b="0" i="1" smtClean="0">
                            <a:latin typeface="Cambria Math" panose="02040503050406030204" pitchFamily="18" charset="0"/>
                          </a:rPr>
                        </m:ctrlPr>
                      </m:sSubPr>
                      <m:e>
                        <m:r>
                          <a:rPr lang="en-US" sz="1200" b="1" i="1">
                            <a:latin typeface="Cambria Math" panose="02040503050406030204" pitchFamily="18" charset="0"/>
                          </a:rPr>
                          <m:t>𝒂</m:t>
                        </m:r>
                      </m:e>
                      <m:sub>
                        <m:r>
                          <a:rPr lang="en-US" sz="1200" b="1" i="1">
                            <a:latin typeface="Cambria Math" panose="02040503050406030204" pitchFamily="18" charset="0"/>
                          </a:rPr>
                          <m:t>𝒊𝒋</m:t>
                        </m:r>
                      </m:sub>
                    </m:sSub>
                  </m:oMath>
                </a14:m>
                <a:r>
                  <a:rPr lang="en-ZA" b="0" dirty="0"/>
                  <a:t>​, where:</a:t>
                </a:r>
              </a:p>
              <a:p>
                <a14:m>
                  <m:oMath xmlns:m="http://schemas.openxmlformats.org/officeDocument/2006/math">
                    <m:r>
                      <a:rPr lang="en-US" sz="1200" b="1" i="1" smtClean="0">
                        <a:latin typeface="Cambria Math" panose="02040503050406030204" pitchFamily="18" charset="0"/>
                      </a:rPr>
                      <m:t>𝒊</m:t>
                    </m:r>
                  </m:oMath>
                </a14:m>
                <a:r>
                  <a:rPr lang="en-ZA" b="0" dirty="0"/>
                  <a:t> represents the row number, and</a:t>
                </a:r>
              </a:p>
              <a:p>
                <a14:m>
                  <m:oMath xmlns:m="http://schemas.openxmlformats.org/officeDocument/2006/math">
                    <m:r>
                      <a:rPr lang="en-US" sz="1200" b="1" i="1" smtClean="0">
                        <a:latin typeface="Cambria Math" panose="02040503050406030204" pitchFamily="18" charset="0"/>
                      </a:rPr>
                      <m:t>𝒋</m:t>
                    </m:r>
                  </m:oMath>
                </a14:m>
                <a:r>
                  <a:rPr lang="en-ZA" b="0" dirty="0"/>
                  <a:t> represents the column number.</a:t>
                </a:r>
              </a:p>
              <a:p>
                <a:endParaRPr lang="en-ZA" b="0" dirty="0"/>
              </a:p>
              <a:p>
                <a:r>
                  <a:rPr lang="en-ZA" b="0" dirty="0"/>
                  <a:t>The elements </a:t>
                </a:r>
                <a14:m>
                  <m:oMath xmlns:m="http://schemas.openxmlformats.org/officeDocument/2006/math">
                    <m:sSub>
                      <m:sSubPr>
                        <m:ctrlPr>
                          <a:rPr lang="en-US" sz="1200" b="0" i="1" smtClean="0">
                            <a:latin typeface="Cambria Math" panose="02040503050406030204" pitchFamily="18" charset="0"/>
                          </a:rPr>
                        </m:ctrlPr>
                      </m:sSubPr>
                      <m:e>
                        <m:r>
                          <a:rPr lang="en-US" sz="1200" b="0" i="1">
                            <a:latin typeface="Cambria Math" panose="02040503050406030204" pitchFamily="18" charset="0"/>
                          </a:rPr>
                          <m:t>𝑎</m:t>
                        </m:r>
                      </m:e>
                      <m:sub>
                        <m:r>
                          <a:rPr lang="en-US" sz="1200" b="0" i="1">
                            <a:latin typeface="Cambria Math" panose="02040503050406030204" pitchFamily="18" charset="0"/>
                          </a:rPr>
                          <m:t>𝑖𝑗</m:t>
                        </m:r>
                      </m:sub>
                    </m:sSub>
                    <m:r>
                      <a:rPr lang="en-US" sz="1200" b="0" i="0" smtClean="0">
                        <a:latin typeface="Cambria Math" panose="02040503050406030204" pitchFamily="18" charset="0"/>
                      </a:rPr>
                      <m:t> </m:t>
                    </m:r>
                  </m:oMath>
                </a14:m>
                <a:r>
                  <a:rPr lang="en-ZA" b="0" dirty="0"/>
                  <a:t> for which </a:t>
                </a:r>
                <a14:m>
                  <m:oMath xmlns:m="http://schemas.openxmlformats.org/officeDocument/2006/math">
                    <m:r>
                      <a:rPr lang="en-US" sz="1200" b="0" i="1" smtClean="0">
                        <a:latin typeface="Cambria Math" panose="02040503050406030204" pitchFamily="18" charset="0"/>
                      </a:rPr>
                      <m:t>𝑖</m:t>
                    </m:r>
                    <m:r>
                      <a:rPr lang="en-US" sz="1200" b="0" i="1" smtClean="0">
                        <a:latin typeface="Cambria Math" panose="02040503050406030204" pitchFamily="18" charset="0"/>
                      </a:rPr>
                      <m:t>=</m:t>
                    </m:r>
                    <m:r>
                      <a:rPr lang="en-US" sz="1200" b="0" i="1" smtClean="0">
                        <a:latin typeface="Cambria Math" panose="02040503050406030204" pitchFamily="18" charset="0"/>
                      </a:rPr>
                      <m:t>𝑗</m:t>
                    </m:r>
                  </m:oMath>
                </a14:m>
                <a:r>
                  <a:rPr lang="en-ZA" b="0" dirty="0"/>
                  <a:t> form the main diagonal of the matrix. The trace of a matrix, denoted as </a:t>
                </a:r>
                <a14:m>
                  <m:oMath xmlns:m="http://schemas.openxmlformats.org/officeDocument/2006/math">
                    <m:r>
                      <a:rPr lang="en-US" sz="1200" b="0" i="1" smtClean="0">
                        <a:latin typeface="Cambria Math" panose="02040503050406030204" pitchFamily="18" charset="0"/>
                      </a:rPr>
                      <m:t>𝑡𝑟</m:t>
                    </m:r>
                    <m:r>
                      <a:rPr lang="en-US" sz="1200" b="0" i="1" smtClean="0">
                        <a:latin typeface="Cambria Math" panose="02040503050406030204" pitchFamily="18" charset="0"/>
                      </a:rPr>
                      <m:t>(</m:t>
                    </m:r>
                    <m:r>
                      <a:rPr lang="en-US" sz="1200" b="0" i="1" smtClean="0">
                        <a:latin typeface="Cambria Math" panose="02040503050406030204" pitchFamily="18" charset="0"/>
                      </a:rPr>
                      <m:t>𝐴</m:t>
                    </m:r>
                    <m:r>
                      <a:rPr lang="en-US" sz="1200" b="0" i="1" smtClean="0">
                        <a:latin typeface="Cambria Math" panose="02040503050406030204" pitchFamily="18" charset="0"/>
                      </a:rPr>
                      <m:t>)</m:t>
                    </m:r>
                  </m:oMath>
                </a14:m>
                <a:r>
                  <a:rPr lang="en-ZA" b="0" dirty="0"/>
                  <a:t>, is the sum of the elements along the main diagonal.</a:t>
                </a:r>
              </a:p>
              <a:p>
                <a:endParaRPr lang="en-ZA" b="0" dirty="0"/>
              </a:p>
              <a:p>
                <a:r>
                  <a:rPr lang="en-ZA" dirty="0"/>
                  <a:t>In quantum computing, we mostly use three kinds of matrices by dimension: row vectors, column vectors and square matrices.</a:t>
                </a:r>
              </a:p>
              <a:p>
                <a:pPr marL="171450" indent="-171450">
                  <a:buFont typeface="Arial" panose="020B0604020202020204" pitchFamily="34" charset="0"/>
                  <a:buChar char="•"/>
                </a:pPr>
                <a:r>
                  <a:rPr lang="en-ZA" b="0" dirty="0"/>
                  <a:t>Row vector is a matrix with one row.</a:t>
                </a:r>
              </a:p>
              <a:p>
                <a:pPr marL="171450" indent="-171450">
                  <a:buFont typeface="Arial" panose="020B0604020202020204" pitchFamily="34" charset="0"/>
                  <a:buChar char="•"/>
                </a:pPr>
                <a:r>
                  <a:rPr lang="en-ZA" b="0" dirty="0"/>
                  <a:t>Column vector:  is a matrix with one column.</a:t>
                </a:r>
              </a:p>
              <a:p>
                <a:pPr marL="171450" indent="-171450">
                  <a:buFont typeface="Arial" panose="020B0604020202020204" pitchFamily="34" charset="0"/>
                  <a:buChar char="•"/>
                </a:pPr>
                <a:r>
                  <a:rPr lang="en-ZA" b="0" dirty="0"/>
                  <a:t>Square matrix:  is a matrix with the same number of rows and columns.</a:t>
                </a:r>
              </a:p>
              <a:p>
                <a:endParaRPr lang="en-ZA" b="0" dirty="0"/>
              </a:p>
              <a:p>
                <a:endParaRPr lang="en-ZA" b="0"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 matrix (plural: matrices) is a table of numbers, matrix elements, arranged in rows and columns.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A matrix dimension is given as </a:t>
                </a:r>
                <a:r>
                  <a:rPr lang="en-US" sz="2000" i="0">
                    <a:latin typeface="Cambria Math" panose="02040503050406030204" pitchFamily="18" charset="0"/>
                  </a:rPr>
                  <a:t>𝑚× 𝑛</a:t>
                </a:r>
                <a:r>
                  <a:rPr lang="en-US" sz="2000" dirty="0"/>
                  <a:t>, where </a:t>
                </a:r>
                <a:r>
                  <a:rPr lang="en-US" sz="2000" i="0">
                    <a:latin typeface="Cambria Math" panose="02040503050406030204" pitchFamily="18" charset="0"/>
                  </a:rPr>
                  <a:t>𝑚</a:t>
                </a:r>
                <a:r>
                  <a:rPr lang="en-US" sz="2000" dirty="0"/>
                  <a:t> is the number of rows and </a:t>
                </a:r>
                <a:r>
                  <a:rPr lang="en-US" sz="2000" i="0">
                    <a:latin typeface="Cambria Math" panose="02040503050406030204" pitchFamily="18" charset="0"/>
                  </a:rPr>
                  <a:t>𝑛</a:t>
                </a:r>
                <a:r>
                  <a:rPr lang="en-US" sz="2000" dirty="0"/>
                  <a:t> is the number of columns.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main diagonal is list of elements </a:t>
                </a:r>
                <a:r>
                  <a:rPr lang="en-US" sz="2000" b="1" i="0">
                    <a:latin typeface="Cambria Math" panose="02040503050406030204" pitchFamily="18" charset="0"/>
                  </a:rPr>
                  <a:t>𝒂_𝒊𝒋</a:t>
                </a:r>
                <a:r>
                  <a:rPr lang="en-US" sz="2000" dirty="0"/>
                  <a:t> for which </a:t>
                </a:r>
                <a:r>
                  <a:rPr lang="en-US" sz="2000" dirty="0" err="1"/>
                  <a:t>i</a:t>
                </a:r>
                <a:r>
                  <a:rPr lang="en-US" sz="2000" dirty="0"/>
                  <a:t>=j.</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22</a:t>
            </a:fld>
            <a:endParaRPr lang="en-US"/>
          </a:p>
        </p:txBody>
      </p:sp>
    </p:spTree>
    <p:extLst>
      <p:ext uri="{BB962C8B-B14F-4D97-AF65-F5344CB8AC3E}">
        <p14:creationId xmlns:p14="http://schemas.microsoft.com/office/powerpoint/2010/main" val="26920672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ZA" b="0" dirty="0"/>
                  <a:t>Addition and  Subtraction:</a:t>
                </a:r>
                <a:br>
                  <a:rPr lang="en-ZA" b="0" dirty="0"/>
                </a:br>
                <a:r>
                  <a:rPr lang="en-ZA" b="0" dirty="0"/>
                  <a:t>Two matrices are added or subtracted by performing element-wise operations on corresponding indices.</a:t>
                </a:r>
              </a:p>
              <a:p>
                <a:endParaRPr lang="en-ZA" b="0" dirty="0"/>
              </a:p>
              <a:p>
                <a:pPr marL="171450" indent="-171450">
                  <a:buFont typeface="Arial" panose="020B0604020202020204" pitchFamily="34" charset="0"/>
                  <a:buChar char="•"/>
                </a:pPr>
                <a:r>
                  <a:rPr lang="en-ZA" b="0" dirty="0"/>
                  <a:t>Scalar Multiplication:</a:t>
                </a:r>
                <a:br>
                  <a:rPr lang="en-ZA" b="0" dirty="0"/>
                </a:br>
                <a:r>
                  <a:rPr lang="en-ZA" b="0" dirty="0"/>
                  <a:t>A matrix is multiplied by a scalar by multiplying each element by the scalar.</a:t>
                </a:r>
              </a:p>
              <a:p>
                <a:endParaRPr lang="en-ZA" b="0" dirty="0"/>
              </a:p>
              <a:p>
                <a:pPr marL="171450" indent="-171450">
                  <a:buFont typeface="Arial" panose="020B0604020202020204" pitchFamily="34" charset="0"/>
                  <a:buChar char="•"/>
                </a:pPr>
                <a:r>
                  <a:rPr lang="en-ZA" b="0" dirty="0"/>
                  <a:t>Transpose:</a:t>
                </a:r>
                <a:br>
                  <a:rPr lang="en-ZA" b="0" dirty="0"/>
                </a:br>
                <a:r>
                  <a:rPr lang="en-ZA" b="0" dirty="0"/>
                  <a:t>The transpose of a matrix is obtained by swapping its rows and columns.</a:t>
                </a:r>
              </a:p>
              <a:p>
                <a:endParaRPr lang="en-ZA" b="0" dirty="0"/>
              </a:p>
              <a:p>
                <a:pPr marL="171450" indent="-171450">
                  <a:buFont typeface="Arial" panose="020B0604020202020204" pitchFamily="34" charset="0"/>
                  <a:buChar char="•"/>
                </a:pPr>
                <a:r>
                  <a:rPr lang="en-ZA" b="0" dirty="0"/>
                  <a:t>Conjugate Transpose:</a:t>
                </a:r>
                <a:br>
                  <a:rPr lang="en-ZA" b="0" dirty="0"/>
                </a:br>
                <a:r>
                  <a:rPr lang="en-ZA" b="0" dirty="0"/>
                  <a:t>The conjugate transpose of a matrix is found by taking the complex conjugate of each element and then transposing the matrix. Conjugate Transpose is denoted by a superscript dagger (†).</a:t>
                </a:r>
              </a:p>
            </p:txBody>
          </p:sp>
        </mc:Choice>
        <mc:Fallback xmlns="">
          <p:sp>
            <p:nvSpPr>
              <p:cNvPr id="3" name="Notes Placeholder 2"/>
              <p:cNvSpPr>
                <a:spLocks noGrp="1"/>
              </p:cNvSpPr>
              <p:nvPr>
                <p:ph type="body" idx="1"/>
              </p:nvPr>
            </p:nvSpPr>
            <p:spPr/>
            <p:txBody>
              <a:bodyPr/>
              <a:lstStyle/>
              <a:p>
                <a:r>
                  <a:rPr lang="en-US" sz="2000" dirty="0"/>
                  <a:t>Basic operations with matrices are shown on the slide.</a:t>
                </a:r>
              </a:p>
              <a:p>
                <a:r>
                  <a:rPr lang="en-US" sz="2000" b="1" kern="1200" dirty="0">
                    <a:effectLst/>
                  </a:rPr>
                  <a:t>Addition/subtraction: </a:t>
                </a:r>
                <a:r>
                  <a:rPr lang="en-US" sz="2000" kern="1200" dirty="0">
                    <a:effectLst/>
                  </a:rPr>
                  <a:t>Add/subtract numbers across corresponding matrix positions.</a:t>
                </a:r>
              </a:p>
              <a:p>
                <a:r>
                  <a:rPr lang="en-US" sz="2000" b="1" kern="1200" dirty="0">
                    <a:solidFill>
                      <a:schemeClr val="tx1"/>
                    </a:solidFill>
                    <a:effectLst/>
                    <a:latin typeface="+mn-lt"/>
                    <a:ea typeface="+mn-ea"/>
                    <a:cs typeface="+mn-cs"/>
                  </a:rPr>
                  <a:t>Scalar multiplication: </a:t>
                </a:r>
                <a:r>
                  <a:rPr lang="en-US" sz="2000" kern="1200" dirty="0">
                    <a:solidFill>
                      <a:schemeClr val="tx1"/>
                    </a:solidFill>
                    <a:effectLst/>
                    <a:latin typeface="+mn-lt"/>
                    <a:ea typeface="+mn-ea"/>
                    <a:cs typeface="+mn-cs"/>
                  </a:rPr>
                  <a:t>Multiply each matrix element by a scalar</a:t>
                </a:r>
                <a:r>
                  <a:rPr lang="en-US" sz="2000" dirty="0">
                    <a:effectLst/>
                  </a:rPr>
                  <a:t> </a:t>
                </a:r>
                <a:endParaRPr lang="en-US" sz="2000" dirty="0"/>
              </a:p>
              <a:p>
                <a:r>
                  <a:rPr lang="en-US" sz="2000" b="1" kern="1200" dirty="0">
                    <a:solidFill>
                      <a:schemeClr val="tx1"/>
                    </a:solidFill>
                    <a:effectLst/>
                    <a:latin typeface="+mn-lt"/>
                    <a:ea typeface="+mn-ea"/>
                    <a:cs typeface="+mn-cs"/>
                  </a:rPr>
                  <a:t>Transposition</a:t>
                </a:r>
                <a:r>
                  <a:rPr lang="en-US" sz="2000" dirty="0">
                    <a:effectLst/>
                  </a:rPr>
                  <a:t> </a:t>
                </a:r>
                <a:r>
                  <a:rPr lang="en-US" sz="2000" baseline="0" dirty="0">
                    <a:effectLst/>
                  </a:rPr>
                  <a:t> </a:t>
                </a:r>
                <a:r>
                  <a:rPr lang="en-US" sz="2000" kern="1200" dirty="0">
                    <a:solidFill>
                      <a:schemeClr val="tx1"/>
                    </a:solidFill>
                    <a:effectLst/>
                    <a:latin typeface="+mn-lt"/>
                    <a:ea typeface="+mn-ea"/>
                    <a:cs typeface="+mn-cs"/>
                  </a:rPr>
                  <a:t>Transposition is denoted by the superscript </a:t>
                </a:r>
                <a:r>
                  <a:rPr lang="en-US" sz="2000" i="0" kern="1200">
                    <a:solidFill>
                      <a:schemeClr val="tx1"/>
                    </a:solidFill>
                    <a:effectLst/>
                    <a:latin typeface="Cambria Math" panose="02040503050406030204" pitchFamily="18" charset="0"/>
                    <a:ea typeface="+mn-ea"/>
                    <a:cs typeface="+mn-cs"/>
                  </a:rPr>
                  <a:t>𝑇</a:t>
                </a:r>
                <a:r>
                  <a:rPr lang="en-US" sz="2000" kern="1200" dirty="0">
                    <a:solidFill>
                      <a:schemeClr val="tx1"/>
                    </a:solidFill>
                    <a:effectLst/>
                    <a:latin typeface="+mn-lt"/>
                    <a:ea typeface="+mn-ea"/>
                    <a:cs typeface="+mn-cs"/>
                  </a:rPr>
                  <a:t> and swaps rows and columns.</a:t>
                </a:r>
                <a:r>
                  <a:rPr lang="en-US" sz="2000" dirty="0">
                    <a:effectLst/>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kern="1200" dirty="0">
                    <a:solidFill>
                      <a:schemeClr val="tx1"/>
                    </a:solidFill>
                    <a:effectLst/>
                    <a:latin typeface="+mn-lt"/>
                    <a:ea typeface="+mn-ea"/>
                    <a:cs typeface="+mn-cs"/>
                  </a:rPr>
                  <a:t>Conjugate transpose (adjoint)  </a:t>
                </a:r>
                <a:r>
                  <a:rPr lang="en-US" sz="2000" b="0" kern="1200" dirty="0">
                    <a:solidFill>
                      <a:schemeClr val="tx1"/>
                    </a:solidFill>
                    <a:effectLst/>
                    <a:latin typeface="+mn-lt"/>
                    <a:ea typeface="+mn-ea"/>
                    <a:cs typeface="+mn-cs"/>
                  </a:rPr>
                  <a:t>matrix is obtained by finding conjugate of all matrix elements and then transposing the matrix. The matrix is Hermitian matrix if it </a:t>
                </a:r>
                <a:r>
                  <a:rPr lang="en-US" sz="2000" kern="1200" dirty="0">
                    <a:solidFill>
                      <a:schemeClr val="tx1"/>
                    </a:solidFill>
                    <a:effectLst/>
                    <a:latin typeface="+mn-lt"/>
                    <a:ea typeface="+mn-ea"/>
                    <a:cs typeface="+mn-cs"/>
                  </a:rPr>
                  <a:t>is equal to its own conjugate transpose.</a:t>
                </a:r>
                <a:r>
                  <a:rPr lang="en-US" sz="2000" dirty="0">
                    <a:effectLst/>
                  </a:rPr>
                  <a:t> </a:t>
                </a:r>
                <a:endParaRPr lang="en-US" sz="2000" b="0" dirty="0"/>
              </a:p>
              <a:p>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23</a:t>
            </a:fld>
            <a:endParaRPr lang="en-US"/>
          </a:p>
        </p:txBody>
      </p:sp>
    </p:spTree>
    <p:extLst>
      <p:ext uri="{BB962C8B-B14F-4D97-AF65-F5344CB8AC3E}">
        <p14:creationId xmlns:p14="http://schemas.microsoft.com/office/powerpoint/2010/main" val="6413394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ZA" b="0" dirty="0"/>
                  <a:t>Matrices can be multiplied only if the number of columns in the left matrix equals the number of rows in the right matrix.</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Matrix multiplication is performed by taking each element of the </a:t>
                </a:r>
                <a14:m>
                  <m:oMath xmlns:m="http://schemas.openxmlformats.org/officeDocument/2006/math">
                    <m:r>
                      <a:rPr lang="en-US" sz="1200" b="0" i="1" smtClean="0">
                        <a:latin typeface="Cambria Math" panose="02040503050406030204" pitchFamily="18" charset="0"/>
                      </a:rPr>
                      <m:t>𝑖</m:t>
                    </m:r>
                  </m:oMath>
                </a14:m>
                <a:r>
                  <a:rPr lang="en-ZA" b="0" dirty="0"/>
                  <a:t>-</a:t>
                </a:r>
                <a:r>
                  <a:rPr lang="en-ZA" b="0" dirty="0" err="1"/>
                  <a:t>th</a:t>
                </a:r>
                <a:r>
                  <a:rPr lang="en-ZA" b="0" dirty="0"/>
                  <a:t> row of the left matrix, multiplying it with the corresponding element of the </a:t>
                </a:r>
                <a14:m>
                  <m:oMath xmlns:m="http://schemas.openxmlformats.org/officeDocument/2006/math">
                    <m:r>
                      <a:rPr lang="en-US" sz="1200" b="0" i="1" smtClean="0">
                        <a:latin typeface="Cambria Math" panose="02040503050406030204" pitchFamily="18" charset="0"/>
                      </a:rPr>
                      <m:t>𝑗</m:t>
                    </m:r>
                  </m:oMath>
                </a14:m>
                <a:r>
                  <a:rPr lang="en-ZA" b="0" dirty="0"/>
                  <a:t>-</a:t>
                </a:r>
                <a:r>
                  <a:rPr lang="en-ZA" b="0" dirty="0" err="1"/>
                  <a:t>th</a:t>
                </a:r>
                <a:r>
                  <a:rPr lang="en-ZA" b="0" dirty="0"/>
                  <a:t> column of the right matrix, and summing the products. This sum becomes the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𝑐</m:t>
                        </m:r>
                      </m:e>
                      <m:sub>
                        <m:r>
                          <a:rPr lang="en-US" sz="1200" i="1">
                            <a:latin typeface="Cambria Math" panose="02040503050406030204" pitchFamily="18" charset="0"/>
                          </a:rPr>
                          <m:t>𝑖𝑗</m:t>
                        </m:r>
                      </m:sub>
                    </m:sSub>
                  </m:oMath>
                </a14:m>
                <a:r>
                  <a:rPr lang="en-ZA" b="0" dirty="0"/>
                  <a:t> element of the resulting matrix.</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This process is repeated for all rows of the left matrix.</a:t>
                </a:r>
              </a:p>
            </p:txBody>
          </p:sp>
        </mc:Choice>
        <mc:Fallback xmlns="">
          <p:sp>
            <p:nvSpPr>
              <p:cNvPr id="3" name="Notes Placeholder 2"/>
              <p:cNvSpPr>
                <a:spLocks noGrp="1"/>
              </p:cNvSpPr>
              <p:nvPr>
                <p:ph type="body" idx="1"/>
              </p:nvPr>
            </p:nvSpPr>
            <p:spPr/>
            <p: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A matrix can be multiplied by any other matrix that has the same number of rows as the first has columns.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Every element of the </a:t>
                </a:r>
                <a:r>
                  <a:rPr lang="en-US" sz="2000" dirty="0" err="1"/>
                  <a:t>i-th</a:t>
                </a:r>
                <a:r>
                  <a:rPr lang="en-US" sz="2000" dirty="0"/>
                  <a:t> row of matrix A is multiplied by every element of j-</a:t>
                </a:r>
                <a:r>
                  <a:rPr lang="en-US" sz="2000" dirty="0" err="1"/>
                  <a:t>th</a:t>
                </a:r>
                <a:r>
                  <a:rPr lang="en-US" sz="2000" dirty="0"/>
                  <a:t> column of matrix B and products summed up. This gives the </a:t>
                </a:r>
                <a:r>
                  <a:rPr lang="en-US" sz="2000" i="0">
                    <a:latin typeface="Cambria Math" panose="02040503050406030204" pitchFamily="18" charset="0"/>
                  </a:rPr>
                  <a:t>𝑐_𝑖𝑗</a:t>
                </a:r>
                <a:r>
                  <a:rPr lang="en-US" sz="2000" dirty="0"/>
                  <a:t>-</a:t>
                </a:r>
                <a:r>
                  <a:rPr lang="en-US" sz="2000" dirty="0" err="1"/>
                  <a:t>th</a:t>
                </a:r>
                <a:r>
                  <a:rPr lang="en-US" sz="2000" dirty="0"/>
                  <a:t>  element of the new matrix.</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To get all the elements of matrix </a:t>
                </a:r>
                <a:r>
                  <a:rPr lang="en-US" sz="2000" i="0">
                    <a:latin typeface="Cambria Math" panose="02040503050406030204" pitchFamily="18" charset="0"/>
                  </a:rPr>
                  <a:t>𝐶</a:t>
                </a:r>
                <a:r>
                  <a:rPr lang="en-US" sz="2000" b="0" i="0">
                    <a:latin typeface="Cambria Math" panose="02040503050406030204" pitchFamily="18" charset="0"/>
                  </a:rPr>
                  <a:t> this o</a:t>
                </a:r>
                <a:r>
                  <a:rPr lang="en-US" sz="2000" dirty="0"/>
                  <a:t>peration is </a:t>
                </a:r>
                <a:r>
                  <a:rPr lang="en-US" sz="2000" dirty="0" err="1"/>
                  <a:t>repeatd</a:t>
                </a:r>
                <a:r>
                  <a:rPr lang="en-US" sz="2000" dirty="0"/>
                  <a:t> for every row of matrix </a:t>
                </a:r>
                <a:r>
                  <a:rPr lang="en-US" sz="2000" i="0">
                    <a:latin typeface="Cambria Math" panose="02040503050406030204" pitchFamily="18" charset="0"/>
                  </a:rPr>
                  <a:t>𝐴</a:t>
                </a:r>
                <a:r>
                  <a:rPr lang="en-US" sz="2000" dirty="0"/>
                  <a:t> and every column of matrix </a:t>
                </a:r>
                <a:r>
                  <a:rPr lang="en-US" sz="2000" i="0">
                    <a:latin typeface="Cambria Math" panose="02040503050406030204" pitchFamily="18" charset="0"/>
                  </a:rPr>
                  <a:t>𝐵</a:t>
                </a:r>
                <a:endParaRPr lang="en-US" sz="2000" dirty="0"/>
              </a:p>
              <a:p>
                <a:pPr marL="342900" indent="-342900">
                  <a:buFont typeface="Arial" panose="020B0604020202020204" pitchFamily="34" charset="0"/>
                  <a:buChar char="•"/>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24</a:t>
            </a:fld>
            <a:endParaRPr lang="en-US"/>
          </a:p>
        </p:txBody>
      </p:sp>
    </p:spTree>
    <p:extLst>
      <p:ext uri="{BB962C8B-B14F-4D97-AF65-F5344CB8AC3E}">
        <p14:creationId xmlns:p14="http://schemas.microsoft.com/office/powerpoint/2010/main" val="41752115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The tensor (Kronecker) product is an operation between two matrices in which each element of the first matrix multiplies the entire second matrix, resulting in a block-structured matrix. </a:t>
            </a:r>
            <a:r>
              <a:rPr lang="en-ZA" b="0" dirty="0"/>
              <a:t>This results in a larger matrix with dimensions significantly greater than those of the original matrices.</a:t>
            </a:r>
          </a:p>
          <a:p>
            <a:pPr algn="just"/>
            <a:endParaRPr lang="en-ZA" b="0" dirty="0"/>
          </a:p>
          <a:p>
            <a:pPr algn="just"/>
            <a:r>
              <a:rPr lang="en-ZA" b="0" dirty="0"/>
              <a:t>Both types of matrix multiplication play a crucial role in quantum computing:</a:t>
            </a:r>
          </a:p>
          <a:p>
            <a:pPr marL="171450" indent="-171450" algn="just">
              <a:buFont typeface="Arial" panose="020B0604020202020204" pitchFamily="34" charset="0"/>
              <a:buChar char="•"/>
            </a:pPr>
            <a:r>
              <a:rPr lang="en-ZA" b="0" dirty="0"/>
              <a:t>Standard matrix multiplication represents sequential transformations on a qubit, where each matrix corresponds to a single transformation.</a:t>
            </a:r>
          </a:p>
          <a:p>
            <a:pPr marL="171450" indent="-171450" algn="just">
              <a:buFont typeface="Arial" panose="020B0604020202020204" pitchFamily="34" charset="0"/>
              <a:buChar char="•"/>
            </a:pPr>
            <a:r>
              <a:rPr lang="en-ZA" b="0" dirty="0"/>
              <a:t>The Kronecker product represents parallel transformations acting on multiple qubits simultaneously.</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Note: </a:t>
            </a:r>
            <a:r>
              <a:rPr lang="en-ZA" dirty="0"/>
              <a:t>Machine learning does not use the strict tensor/Kronecker product; instead, the word tensor usually just means a multidimensional array, with multiplication done as normal matrix or vector operations..</a:t>
            </a: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25</a:t>
            </a:fld>
            <a:endParaRPr lang="en-US"/>
          </a:p>
        </p:txBody>
      </p:sp>
    </p:spTree>
    <p:extLst>
      <p:ext uri="{BB962C8B-B14F-4D97-AF65-F5344CB8AC3E}">
        <p14:creationId xmlns:p14="http://schemas.microsoft.com/office/powerpoint/2010/main" val="41446025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The most important matrix </a:t>
            </a:r>
            <a:r>
              <a:rPr lang="en-ZA" dirty="0"/>
              <a:t>types</a:t>
            </a:r>
            <a:r>
              <a:rPr lang="en-ZA" b="0" dirty="0"/>
              <a:t> used in quantum computing are identity, orthogonal, Hermitian, and unitary matrices.</a:t>
            </a:r>
          </a:p>
          <a:p>
            <a:pPr algn="just"/>
            <a:endParaRPr lang="en-ZA" b="0" dirty="0"/>
          </a:p>
          <a:p>
            <a:pPr marL="171450" indent="-171450" algn="just">
              <a:buFont typeface="Arial" panose="020B0604020202020204" pitchFamily="34" charset="0"/>
              <a:buChar char="•"/>
            </a:pPr>
            <a:r>
              <a:rPr lang="en-ZA" b="0" dirty="0"/>
              <a:t>Identity Matrix: A square matrix with ones on the main diagonal and zeros elsewhere. It acts as the equivalent of a </a:t>
            </a:r>
            <a:r>
              <a:rPr lang="en-ZA" b="0" i="1" dirty="0"/>
              <a:t>no-operation (NOP)</a:t>
            </a:r>
            <a:r>
              <a:rPr lang="en-ZA" b="0" dirty="0"/>
              <a:t> instruction in classical computing. </a:t>
            </a:r>
            <a:r>
              <a:rPr lang="en-ZA" dirty="0"/>
              <a:t>The identity matrix is useful because multiplying by it doesn’t change the result, but it can help organize and set up matrix transformations.</a:t>
            </a:r>
            <a:endParaRPr lang="en-ZA" b="0" dirty="0"/>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Orthogonal Matrix: </a:t>
            </a:r>
            <a:r>
              <a:rPr lang="en-ZA" dirty="0"/>
              <a:t>An orthogonal matrix is a square matrix whose transpose, when multiplied by the original, gives the identity matrix. Multiplying a vector by an orthogonal matrix can change its orientation but keeps its size the same. Multiplying it afterward by the matrix’s transpose brings the vector back to its original position. This shows that such transformations are reversible, which is an important property of quantum computing operations.</a:t>
            </a:r>
            <a:endParaRPr lang="en-ZA" b="0" dirty="0"/>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Hermitian Matrix: A square matrix that is equal to its conjugate transpose. Its diagonal elements are always real numbers, while the elements above the diagonal are complex conjugates of those below. </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Unitary Matrix: </a:t>
            </a:r>
            <a:r>
              <a:rPr lang="en-ZA" dirty="0"/>
              <a:t>A unitary matrix is a square matrix whose </a:t>
            </a:r>
            <a:r>
              <a:rPr lang="en-ZA" b="0" dirty="0"/>
              <a:t>conjugate </a:t>
            </a:r>
            <a:r>
              <a:rPr lang="en-ZA" dirty="0"/>
              <a:t>transpose, when multiplied by the original, gives the identity matrix. </a:t>
            </a:r>
            <a:r>
              <a:rPr lang="en-ZA" b="0" dirty="0"/>
              <a:t>Unitary matrices can be seen as the complex extension of orthogonal matrices. While orthogonal matrices describe transformations in real space, u</a:t>
            </a:r>
            <a:r>
              <a:rPr lang="en-ZA" dirty="0"/>
              <a:t>nitary matrices describe transformations in complex space, making them fundamental tools for qubit transformations.</a:t>
            </a: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26</a:t>
            </a:fld>
            <a:endParaRPr lang="en-US"/>
          </a:p>
        </p:txBody>
      </p:sp>
    </p:spTree>
    <p:extLst>
      <p:ext uri="{BB962C8B-B14F-4D97-AF65-F5344CB8AC3E}">
        <p14:creationId xmlns:p14="http://schemas.microsoft.com/office/powerpoint/2010/main" val="35400035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1" dirty="0"/>
                  <a:t>The determinant</a:t>
                </a:r>
                <a:r>
                  <a:rPr lang="en-ZA" b="0" dirty="0"/>
                  <a:t> of a matrix is a scalar value that depends on all elements of a square matrix.</a:t>
                </a:r>
              </a:p>
              <a:p>
                <a:pPr algn="just"/>
                <a:r>
                  <a:rPr lang="en-ZA" dirty="0"/>
                  <a:t>To compute determinants, it helps to start with the 2×2 case, which is simply the difference between the products of the diagonal elements:</a:t>
                </a:r>
                <a:endParaRPr lang="en-US" sz="1200" b="0" i="0" dirty="0">
                  <a:latin typeface="Cambria Math" panose="02040503050406030204" pitchFamily="18" charset="0"/>
                </a:endParaRPr>
              </a:p>
              <a:p>
                <a:pPr algn="just"/>
                <a14:m>
                  <m:oMathPara xmlns:m="http://schemas.openxmlformats.org/officeDocument/2006/math">
                    <m:oMathParaPr>
                      <m:jc m:val="centerGroup"/>
                    </m:oMathParaPr>
                    <m:oMath xmlns:m="http://schemas.openxmlformats.org/officeDocument/2006/math">
                      <m:r>
                        <m:rPr>
                          <m:sty m:val="p"/>
                        </m:rPr>
                        <a:rPr lang="en-US" sz="1200" b="0" i="0" smtClean="0">
                          <a:latin typeface="Cambria Math" panose="02040503050406030204" pitchFamily="18" charset="0"/>
                        </a:rPr>
                        <m:t>det</m:t>
                      </m:r>
                      <m:d>
                        <m:dPr>
                          <m:ctrlPr>
                            <a:rPr lang="en-US" sz="1200" i="1">
                              <a:latin typeface="Cambria Math" panose="02040503050406030204" pitchFamily="18" charset="0"/>
                            </a:rPr>
                          </m:ctrlPr>
                        </m:dPr>
                        <m:e>
                          <m:m>
                            <m:mPr>
                              <m:mcs>
                                <m:mc>
                                  <m:mcPr>
                                    <m:count m:val="2"/>
                                    <m:mcJc m:val="center"/>
                                  </m:mcPr>
                                </m:mc>
                              </m:mcs>
                              <m:ctrlPr>
                                <a:rPr lang="en-US" sz="1200" i="1">
                                  <a:latin typeface="Cambria Math" panose="02040503050406030204" pitchFamily="18" charset="0"/>
                                </a:rPr>
                              </m:ctrlPr>
                            </m:mPr>
                            <m:mr>
                              <m:e>
                                <m:r>
                                  <a:rPr lang="en-US" sz="1200">
                                    <a:latin typeface="Cambria Math" panose="02040503050406030204" pitchFamily="18" charset="0"/>
                                  </a:rPr>
                                  <m:t>𝑎</m:t>
                                </m:r>
                              </m:e>
                              <m:e>
                                <m:r>
                                  <a:rPr lang="en-US" sz="1200">
                                    <a:latin typeface="Cambria Math" panose="02040503050406030204" pitchFamily="18" charset="0"/>
                                  </a:rPr>
                                  <m:t>𝑏</m:t>
                                </m:r>
                              </m:e>
                            </m:mr>
                            <m:mr>
                              <m:e>
                                <m:r>
                                  <a:rPr lang="en-US" sz="1200">
                                    <a:latin typeface="Cambria Math" panose="02040503050406030204" pitchFamily="18" charset="0"/>
                                  </a:rPr>
                                  <m:t>𝑐</m:t>
                                </m:r>
                              </m:e>
                              <m:e>
                                <m:r>
                                  <a:rPr lang="en-US" sz="1200">
                                    <a:latin typeface="Cambria Math" panose="02040503050406030204" pitchFamily="18" charset="0"/>
                                  </a:rPr>
                                  <m:t>𝑑</m:t>
                                </m:r>
                              </m:e>
                            </m:mr>
                          </m:m>
                        </m:e>
                      </m:d>
                      <m:r>
                        <a:rPr lang="en-US" sz="1200" b="0" i="1" smtClean="0">
                          <a:latin typeface="Cambria Math" panose="02040503050406030204" pitchFamily="18" charset="0"/>
                        </a:rPr>
                        <m:t>=</m:t>
                      </m:r>
                      <m:r>
                        <a:rPr lang="en-US" sz="1200" b="0" i="1" smtClean="0">
                          <a:latin typeface="Cambria Math" panose="02040503050406030204" pitchFamily="18" charset="0"/>
                        </a:rPr>
                        <m:t>𝑎𝑑</m:t>
                      </m:r>
                      <m:r>
                        <a:rPr lang="en-US" sz="1200" b="0" i="1" smtClean="0">
                          <a:latin typeface="Cambria Math" panose="02040503050406030204" pitchFamily="18" charset="0"/>
                        </a:rPr>
                        <m:t>−</m:t>
                      </m:r>
                      <m:r>
                        <a:rPr lang="en-US" sz="1200" b="0" i="1" smtClean="0">
                          <a:latin typeface="Cambria Math" panose="02040503050406030204" pitchFamily="18" charset="0"/>
                        </a:rPr>
                        <m:t>𝑏𝑐</m:t>
                      </m:r>
                    </m:oMath>
                  </m:oMathPara>
                </a14:m>
                <a:endParaRPr lang="en-ZA" b="0" dirty="0"/>
              </a:p>
              <a:p>
                <a:pPr algn="just"/>
                <a:endParaRPr lang="en-ZA" b="0" dirty="0"/>
              </a:p>
              <a:p>
                <a:pPr algn="just"/>
                <a:r>
                  <a:rPr lang="en-ZA" b="0" dirty="0"/>
                  <a:t>This is known as the second-order determinant.</a:t>
                </a:r>
              </a:p>
              <a:p>
                <a:pPr algn="just"/>
                <a:endParaRPr lang="en-ZA" b="0" dirty="0"/>
              </a:p>
              <a:p>
                <a:pPr algn="just"/>
                <a:r>
                  <a:rPr lang="en-ZA" dirty="0"/>
                  <a:t>For bigger matrices, we use the Laplace expansion, or cofactor expansion. In this method:</a:t>
                </a:r>
              </a:p>
              <a:p>
                <a:pPr marL="228600" indent="-228600" algn="just">
                  <a:buFont typeface="+mj-lt"/>
                  <a:buAutoNum type="arabicPeriod"/>
                </a:pPr>
                <a:r>
                  <a:rPr lang="en-ZA" dirty="0"/>
                  <a:t>We choose an element from a selected row or column, </a:t>
                </a:r>
              </a:p>
              <a:p>
                <a:pPr marL="228600" indent="-228600" algn="just">
                  <a:buFont typeface="+mj-lt"/>
                  <a:buAutoNum type="arabicPeriod"/>
                </a:pPr>
                <a:r>
                  <a:rPr lang="en-ZA" dirty="0"/>
                  <a:t>then exclude that element’s row and column from the matrix. </a:t>
                </a:r>
              </a:p>
              <a:p>
                <a:pPr marL="228600" indent="-228600" algn="just">
                  <a:buFont typeface="+mj-lt"/>
                  <a:buAutoNum type="arabicPeriod"/>
                </a:pPr>
                <a:r>
                  <a:rPr lang="en-ZA" dirty="0"/>
                  <a:t>We calculate the determinant of the remaining submatrix and multiply it by the chosen element. </a:t>
                </a:r>
              </a:p>
              <a:p>
                <a:pPr marL="228600" indent="-228600" algn="just">
                  <a:buFont typeface="+mj-lt"/>
                  <a:buAutoNum type="arabicPeriod"/>
                </a:pPr>
                <a:r>
                  <a:rPr lang="en-ZA" dirty="0"/>
                  <a:t>This is done for each element in the selected row or column. </a:t>
                </a:r>
              </a:p>
              <a:p>
                <a:pPr marL="228600" indent="-228600" algn="just">
                  <a:buFont typeface="+mj-lt"/>
                  <a:buAutoNum type="arabicPeriod"/>
                </a:pPr>
                <a:r>
                  <a:rPr lang="en-ZA" dirty="0"/>
                  <a:t>The results are added together, with the signs alternating between + and −. </a:t>
                </a:r>
              </a:p>
              <a:p>
                <a:pPr marL="228600" indent="-228600" algn="just">
                  <a:buFont typeface="+mj-lt"/>
                  <a:buAutoNum type="arabicPeriod"/>
                </a:pPr>
                <a:r>
                  <a:rPr lang="en-ZA" dirty="0"/>
                  <a:t>If any submatrix is larger than 2×2, we apply the same process recursively until we reach 2×2 determinants.</a:t>
                </a:r>
                <a:endParaRPr lang="en-ZA" b="0" dirty="0"/>
              </a:p>
              <a:p>
                <a:pPr algn="just"/>
                <a:endParaRPr lang="en-ZA" b="0" dirty="0"/>
              </a:p>
              <a:p>
                <a:pPr algn="just"/>
                <a:r>
                  <a:rPr lang="en-ZA" b="1" dirty="0"/>
                  <a:t>Special Unitary Groups</a:t>
                </a:r>
              </a:p>
              <a:p>
                <a:pPr algn="just"/>
                <a:r>
                  <a:rPr lang="en-ZA" dirty="0"/>
                  <a:t>Matrices with determinant 1 are of special interest in quantum computing because they ensure that the transformation doesn’t change the overall size or add an overall phase to the quantum state. These matrices form special unitary groups (denoted SU). The special unitary group of degree n, denoted SU(n), consists of all </a:t>
                </a:r>
                <a:r>
                  <a:rPr lang="en-ZA" dirty="0" err="1"/>
                  <a:t>n×n</a:t>
                </a:r>
                <a:r>
                  <a:rPr lang="en-ZA" dirty="0"/>
                  <a:t> unitary matrices with a determinant of 1. The groups SU(2) and SU(4) are particularly important, as they describe single-qubit and two-qubit gates, respectively.</a:t>
                </a:r>
                <a:endParaRPr lang="en-ZA" b="1" dirty="0"/>
              </a:p>
              <a:p>
                <a:pPr algn="just"/>
                <a:endParaRPr lang="en-ZA" b="1" dirty="0"/>
              </a:p>
            </p:txBody>
          </p:sp>
        </mc:Choice>
        <mc:Fallback xmlns="">
          <p:sp>
            <p:nvSpPr>
              <p:cNvPr id="3" name="Notes Placeholder 2"/>
              <p:cNvSpPr>
                <a:spLocks noGrp="1"/>
              </p:cNvSpPr>
              <p:nvPr>
                <p:ph type="body" idx="1"/>
              </p:nvPr>
            </p:nvSpPr>
            <p:spPr/>
            <p:txBody>
              <a:bodyPr/>
              <a:lstStyle/>
              <a:p>
                <a:r>
                  <a:rPr lang="en-US" sz="2000" dirty="0" err="1"/>
                  <a:t>Determinanta</a:t>
                </a:r>
                <a:r>
                  <a:rPr lang="en-US" sz="2000" dirty="0"/>
                  <a:t> </a:t>
                </a:r>
                <a:r>
                  <a:rPr lang="en-US" sz="2000" dirty="0" err="1"/>
                  <a:t>je</a:t>
                </a:r>
                <a:r>
                  <a:rPr lang="en-US" sz="2000" dirty="0"/>
                  <a:t> scalar </a:t>
                </a:r>
                <a:r>
                  <a:rPr lang="en-US" sz="2000" dirty="0" err="1"/>
                  <a:t>koji</a:t>
                </a:r>
                <a:r>
                  <a:rPr lang="en-US" sz="2000" dirty="0"/>
                  <a:t> </a:t>
                </a:r>
                <a:r>
                  <a:rPr lang="en-US" sz="2000" dirty="0" err="1"/>
                  <a:t>je</a:t>
                </a:r>
                <a:r>
                  <a:rPr lang="en-US" sz="2000" dirty="0"/>
                  <a:t> </a:t>
                </a:r>
                <a:r>
                  <a:rPr lang="en-US" sz="2000" dirty="0" err="1"/>
                  <a:t>funkcija</a:t>
                </a:r>
                <a:r>
                  <a:rPr lang="en-US" sz="2000" dirty="0"/>
                  <a:t> </a:t>
                </a:r>
                <a:r>
                  <a:rPr lang="en-US" sz="2000" dirty="0" err="1"/>
                  <a:t>cele</a:t>
                </a:r>
                <a:r>
                  <a:rPr lang="en-US" sz="2000" dirty="0"/>
                  <a:t> </a:t>
                </a:r>
                <a:r>
                  <a:rPr lang="en-US" sz="2000" dirty="0" err="1"/>
                  <a:t>kvadratne</a:t>
                </a:r>
                <a:r>
                  <a:rPr lang="en-US" sz="2000" dirty="0"/>
                  <a:t> </a:t>
                </a:r>
                <a:r>
                  <a:rPr lang="en-US" sz="2000" dirty="0" err="1"/>
                  <a:t>matrice</a:t>
                </a:r>
                <a:r>
                  <a:rPr lang="en-US" sz="2000" dirty="0"/>
                  <a:t>. </a:t>
                </a:r>
                <a:r>
                  <a:rPr lang="en-US" sz="2000" dirty="0" err="1"/>
                  <a:t>Za</a:t>
                </a:r>
                <a:r>
                  <a:rPr lang="en-US" sz="2000" dirty="0"/>
                  <a:t> </a:t>
                </a:r>
                <a:r>
                  <a:rPr lang="en-US" sz="2000" dirty="0" err="1"/>
                  <a:t>izracunavanje</a:t>
                </a:r>
                <a:r>
                  <a:rPr lang="en-US" sz="2000" dirty="0"/>
                  <a:t> </a:t>
                </a:r>
                <a:r>
                  <a:rPr lang="en-US" sz="2000" dirty="0" err="1"/>
                  <a:t>determinanata</a:t>
                </a:r>
                <a:r>
                  <a:rPr lang="en-US" sz="2000" dirty="0"/>
                  <a:t>, </a:t>
                </a:r>
                <a:r>
                  <a:rPr lang="en-US" sz="2000" dirty="0" err="1"/>
                  <a:t>dovoljno</a:t>
                </a:r>
                <a:r>
                  <a:rPr lang="en-US" sz="2000" dirty="0"/>
                  <a:t> </a:t>
                </a:r>
                <a:r>
                  <a:rPr lang="en-US" sz="2000" dirty="0" err="1"/>
                  <a:t>je</a:t>
                </a:r>
                <a:r>
                  <a:rPr lang="en-US" sz="2000" dirty="0"/>
                  <a:t> </a:t>
                </a:r>
                <a:r>
                  <a:rPr lang="en-US" sz="2000" dirty="0" err="1"/>
                  <a:t>zapamtiti</a:t>
                </a:r>
                <a:r>
                  <a:rPr lang="en-US" sz="2000" dirty="0"/>
                  <a:t> </a:t>
                </a:r>
                <a:r>
                  <a:rPr lang="en-US" sz="2000" dirty="0" err="1"/>
                  <a:t>determinantu</a:t>
                </a:r>
                <a:r>
                  <a:rPr lang="en-US" sz="2000" dirty="0"/>
                  <a:t> 2x2 </a:t>
                </a:r>
                <a:r>
                  <a:rPr lang="en-US" sz="2000" dirty="0" err="1"/>
                  <a:t>matrice</a:t>
                </a:r>
                <a:r>
                  <a:rPr lang="en-US" sz="2000" dirty="0"/>
                  <a:t> </a:t>
                </a:r>
                <a:r>
                  <a:rPr lang="en-US" sz="2000" dirty="0" err="1"/>
                  <a:t>koja</a:t>
                </a:r>
                <a:r>
                  <a:rPr lang="en-US" sz="2000" dirty="0"/>
                  <a:t> </a:t>
                </a:r>
                <a:r>
                  <a:rPr lang="en-US" sz="2000" dirty="0" err="1"/>
                  <a:t>je</a:t>
                </a:r>
                <a:r>
                  <a:rPr lang="en-US" sz="2000" dirty="0"/>
                  <a:t> </a:t>
                </a:r>
                <a:r>
                  <a:rPr lang="en-US" sz="2000" dirty="0" err="1"/>
                  <a:t>jednaka</a:t>
                </a:r>
                <a:r>
                  <a:rPr lang="en-US" sz="2000" dirty="0"/>
                  <a:t> </a:t>
                </a:r>
                <a:r>
                  <a:rPr lang="en-US" sz="2000" dirty="0" err="1"/>
                  <a:t>razlici</a:t>
                </a:r>
                <a:r>
                  <a:rPr lang="en-US" sz="2000" dirty="0"/>
                  <a:t> </a:t>
                </a:r>
                <a:r>
                  <a:rPr lang="en-US" sz="2000" dirty="0" err="1"/>
                  <a:t>proizvoda</a:t>
                </a:r>
                <a:r>
                  <a:rPr lang="en-US" sz="2000" dirty="0"/>
                  <a:t> </a:t>
                </a:r>
                <a:r>
                  <a:rPr lang="en-US" sz="2000" dirty="0" err="1"/>
                  <a:t>dijagonalnih</a:t>
                </a:r>
                <a:r>
                  <a:rPr lang="en-US" sz="2000" dirty="0"/>
                  <a:t> </a:t>
                </a:r>
                <a:r>
                  <a:rPr lang="en-US" sz="2000" dirty="0" err="1"/>
                  <a:t>elemenata</a:t>
                </a:r>
                <a:r>
                  <a:rPr lang="en-US" sz="2000" dirty="0"/>
                  <a:t>.  </a:t>
                </a:r>
                <a:r>
                  <a:rPr lang="en-US" sz="2000" dirty="0" err="1"/>
                  <a:t>Ovo</a:t>
                </a:r>
                <a:r>
                  <a:rPr lang="en-US" sz="2000" dirty="0"/>
                  <a:t> </a:t>
                </a:r>
                <a:r>
                  <a:rPr lang="en-US" sz="2000" dirty="0" err="1"/>
                  <a:t>je</a:t>
                </a:r>
                <a:r>
                  <a:rPr lang="en-US" sz="2000" dirty="0"/>
                  <a:t> </a:t>
                </a:r>
                <a:r>
                  <a:rPr lang="en-US" sz="2000" dirty="0" err="1"/>
                  <a:t>takozvana</a:t>
                </a:r>
                <a:r>
                  <a:rPr lang="en-US" sz="2000" dirty="0"/>
                  <a:t> </a:t>
                </a:r>
                <a:r>
                  <a:rPr lang="en-US" sz="2000" dirty="0" err="1"/>
                  <a:t>determinta</a:t>
                </a:r>
                <a:r>
                  <a:rPr lang="en-US" sz="2000" dirty="0"/>
                  <a:t> </a:t>
                </a:r>
                <a:r>
                  <a:rPr lang="en-US" sz="2000" dirty="0" err="1"/>
                  <a:t>drugog</a:t>
                </a:r>
                <a:r>
                  <a:rPr lang="en-US" sz="2000" dirty="0"/>
                  <a:t> </a:t>
                </a:r>
                <a:r>
                  <a:rPr lang="en-US" sz="2000" dirty="0" err="1"/>
                  <a:t>reda</a:t>
                </a:r>
                <a:r>
                  <a:rPr lang="en-US" sz="2000" dirty="0"/>
                  <a:t>.</a:t>
                </a:r>
              </a:p>
              <a:p>
                <a:pPr marL="457200" lvl="0" indent="-457200">
                  <a:buFont typeface="+mj-lt"/>
                  <a:buAutoNum type="arabicPeriod"/>
                </a:pPr>
                <a:r>
                  <a:rPr lang="en-US" sz="2000" dirty="0" err="1"/>
                  <a:t>Determinante</a:t>
                </a:r>
                <a:r>
                  <a:rPr lang="en-US" sz="2000" dirty="0"/>
                  <a:t> </a:t>
                </a:r>
                <a:r>
                  <a:rPr lang="en-US" sz="2000" dirty="0" err="1"/>
                  <a:t>viseg</a:t>
                </a:r>
                <a:r>
                  <a:rPr lang="en-US" sz="2000" dirty="0"/>
                  <a:t> </a:t>
                </a:r>
                <a:r>
                  <a:rPr lang="en-US" sz="2000" dirty="0" err="1"/>
                  <a:t>reda</a:t>
                </a:r>
                <a:r>
                  <a:rPr lang="en-US" sz="2000" dirty="0"/>
                  <a:t> </a:t>
                </a:r>
                <a:r>
                  <a:rPr lang="en-US" sz="2000" dirty="0" err="1"/>
                  <a:t>dobijaju</a:t>
                </a:r>
                <a:r>
                  <a:rPr lang="en-US" sz="2000" dirty="0"/>
                  <a:t> se </a:t>
                </a:r>
                <a:r>
                  <a:rPr lang="en-US" sz="2000" dirty="0" err="1"/>
                  <a:t>Laplasovim</a:t>
                </a:r>
                <a:r>
                  <a:rPr lang="en-US" sz="2000" dirty="0"/>
                  <a:t> </a:t>
                </a:r>
                <a:r>
                  <a:rPr lang="en-US" sz="2000" dirty="0" err="1"/>
                  <a:t>razvojem</a:t>
                </a:r>
                <a:r>
                  <a:rPr lang="en-US" sz="2000" dirty="0"/>
                  <a:t> </a:t>
                </a:r>
                <a:r>
                  <a:rPr lang="en-US" sz="2000" dirty="0" err="1"/>
                  <a:t>tako</a:t>
                </a:r>
                <a:r>
                  <a:rPr lang="en-US" sz="2000" dirty="0"/>
                  <a:t> </a:t>
                </a:r>
                <a:r>
                  <a:rPr lang="en-US" sz="2000" dirty="0" err="1"/>
                  <a:t>sto</a:t>
                </a:r>
                <a:r>
                  <a:rPr lang="en-US" sz="2000" dirty="0"/>
                  <a:t> se </a:t>
                </a:r>
                <a:r>
                  <a:rPr lang="en-US" sz="2000" dirty="0" err="1"/>
                  <a:t>izracunavaju</a:t>
                </a:r>
                <a:r>
                  <a:rPr lang="en-US" sz="2000" dirty="0"/>
                  <a:t> </a:t>
                </a:r>
                <a:r>
                  <a:rPr lang="en-US" sz="2000" dirty="0" err="1"/>
                  <a:t>kao</a:t>
                </a:r>
                <a:r>
                  <a:rPr lang="en-US" sz="2000" dirty="0"/>
                  <a:t> </a:t>
                </a:r>
                <a:r>
                  <a:rPr lang="en-US" sz="2000" dirty="0" err="1"/>
                  <a:t>suma</a:t>
                </a:r>
                <a:r>
                  <a:rPr lang="en-US" sz="2000" dirty="0"/>
                  <a:t> </a:t>
                </a:r>
                <a:r>
                  <a:rPr lang="en-US" sz="2000" dirty="0" err="1"/>
                  <a:t>determinanata</a:t>
                </a:r>
                <a:r>
                  <a:rPr lang="en-US" sz="2000" dirty="0"/>
                  <a:t> </a:t>
                </a:r>
                <a:r>
                  <a:rPr lang="en-US" sz="2000" dirty="0" err="1"/>
                  <a:t>submatrica</a:t>
                </a:r>
                <a:r>
                  <a:rPr lang="en-US" sz="2000" dirty="0"/>
                  <a:t>. U </a:t>
                </a:r>
                <a:r>
                  <a:rPr lang="en-US" sz="2000" dirty="0" err="1"/>
                  <a:t>toj</a:t>
                </a:r>
                <a:r>
                  <a:rPr lang="en-US" sz="2000" dirty="0"/>
                  <a:t> </a:t>
                </a:r>
                <a:r>
                  <a:rPr lang="en-US" sz="2000" dirty="0" err="1"/>
                  <a:t>sumi</a:t>
                </a:r>
                <a:r>
                  <a:rPr lang="en-US" sz="2000" dirty="0"/>
                  <a:t> se </a:t>
                </a:r>
                <a:r>
                  <a:rPr lang="en-US" sz="2000" dirty="0" err="1"/>
                  <a:t>naizmenicno</a:t>
                </a:r>
                <a:r>
                  <a:rPr lang="en-US" sz="2000" dirty="0"/>
                  <a:t> </a:t>
                </a:r>
                <a:r>
                  <a:rPr lang="en-US" sz="2000" dirty="0" err="1"/>
                  <a:t>smenjuju</a:t>
                </a:r>
                <a:r>
                  <a:rPr lang="en-US" sz="2000" dirty="0"/>
                  <a:t> + </a:t>
                </a:r>
                <a:r>
                  <a:rPr lang="en-US" sz="2000" dirty="0" err="1"/>
                  <a:t>i</a:t>
                </a:r>
                <a:r>
                  <a:rPr lang="en-US" sz="2000" dirty="0"/>
                  <a:t> -. </a:t>
                </a:r>
                <a:r>
                  <a:rPr lang="en-US" sz="2000" dirty="0" err="1"/>
                  <a:t>Elementi</a:t>
                </a:r>
                <a:r>
                  <a:rPr lang="en-US" sz="2000" dirty="0"/>
                  <a:t> submatrices ne </a:t>
                </a:r>
                <a:r>
                  <a:rPr lang="en-US" sz="2000" dirty="0" err="1"/>
                  <a:t>smeju</a:t>
                </a:r>
                <a:r>
                  <a:rPr lang="en-US" sz="2000" dirty="0"/>
                  <a:t> </a:t>
                </a:r>
                <a:r>
                  <a:rPr lang="en-US" sz="2000" dirty="0" err="1"/>
                  <a:t>biti</a:t>
                </a:r>
                <a:r>
                  <a:rPr lang="en-US" sz="2000" dirty="0"/>
                  <a:t> u </a:t>
                </a:r>
                <a:r>
                  <a:rPr lang="en-US" sz="2000" dirty="0" err="1"/>
                  <a:t>istoj</a:t>
                </a:r>
                <a:r>
                  <a:rPr lang="en-US" sz="2000" dirty="0"/>
                  <a:t> </a:t>
                </a:r>
                <a:r>
                  <a:rPr lang="en-US" sz="2000" dirty="0" err="1"/>
                  <a:t>vrsti</a:t>
                </a:r>
                <a:r>
                  <a:rPr lang="en-US" sz="2000" dirty="0"/>
                  <a:t> </a:t>
                </a:r>
                <a:r>
                  <a:rPr lang="en-US" sz="2000" dirty="0" err="1"/>
                  <a:t>ili</a:t>
                </a:r>
                <a:r>
                  <a:rPr lang="en-US" sz="2000" dirty="0"/>
                  <a:t> </a:t>
                </a:r>
                <a:r>
                  <a:rPr lang="en-US" sz="2000" dirty="0" err="1"/>
                  <a:t>koloni</a:t>
                </a:r>
                <a:r>
                  <a:rPr lang="en-US" sz="2000" dirty="0"/>
                  <a:t>. Kao </a:t>
                </a:r>
                <a:r>
                  <a:rPr lang="en-US" sz="2000" dirty="0" err="1"/>
                  <a:t>programeri</a:t>
                </a:r>
                <a:r>
                  <a:rPr lang="en-US" sz="2000" dirty="0"/>
                  <a:t> </a:t>
                </a:r>
                <a:r>
                  <a:rPr lang="en-US" sz="2000" dirty="0" err="1"/>
                  <a:t>odmah</a:t>
                </a:r>
                <a:r>
                  <a:rPr lang="en-US" sz="2000" dirty="0"/>
                  <a:t> </a:t>
                </a:r>
                <a:r>
                  <a:rPr lang="en-US" sz="2000" dirty="0" err="1"/>
                  <a:t>uocavamo</a:t>
                </a:r>
                <a:r>
                  <a:rPr lang="en-US" sz="2000" dirty="0"/>
                  <a:t> da se </a:t>
                </a:r>
                <a:r>
                  <a:rPr lang="en-US" sz="2000" dirty="0" err="1"/>
                  <a:t>radi</a:t>
                </a:r>
                <a:r>
                  <a:rPr lang="en-US" sz="2000" dirty="0"/>
                  <a:t> o </a:t>
                </a:r>
                <a:r>
                  <a:rPr lang="en-US" sz="2000" dirty="0" err="1"/>
                  <a:t>rekurzivnom</a:t>
                </a:r>
                <a:r>
                  <a:rPr lang="en-US" sz="2000" dirty="0"/>
                  <a:t> </a:t>
                </a:r>
                <a:r>
                  <a:rPr lang="en-US" sz="2000" dirty="0" err="1"/>
                  <a:t>algoritmu</a:t>
                </a:r>
                <a:r>
                  <a:rPr lang="en-US" sz="2000" dirty="0"/>
                  <a:t>.</a:t>
                </a:r>
              </a:p>
              <a:p>
                <a:pPr marL="457200" indent="-457200">
                  <a:buFont typeface="+mj-lt"/>
                  <a:buAutoNum type="arabicPeriod"/>
                </a:pPr>
                <a:r>
                  <a:rPr lang="en-US" sz="2000" dirty="0" err="1"/>
                  <a:t>Matrice</a:t>
                </a:r>
                <a:r>
                  <a:rPr lang="en-US" sz="2000" dirty="0"/>
                  <a:t> </a:t>
                </a:r>
                <a:r>
                  <a:rPr lang="en-US" sz="2000" dirty="0" err="1"/>
                  <a:t>čije</a:t>
                </a:r>
                <a:r>
                  <a:rPr lang="en-US" sz="2000" dirty="0"/>
                  <a:t> </a:t>
                </a:r>
                <a:r>
                  <a:rPr lang="en-US" sz="2000" dirty="0" err="1"/>
                  <a:t>su</a:t>
                </a:r>
                <a:r>
                  <a:rPr lang="en-US" sz="2000" dirty="0"/>
                  <a:t> </a:t>
                </a:r>
                <a:r>
                  <a:rPr lang="en-US" sz="2000" dirty="0" err="1"/>
                  <a:t>determinante</a:t>
                </a:r>
                <a:r>
                  <a:rPr lang="en-US" sz="2000" dirty="0"/>
                  <a:t> </a:t>
                </a:r>
                <a:r>
                  <a:rPr lang="en-US" sz="2000" dirty="0" err="1"/>
                  <a:t>jednake</a:t>
                </a:r>
                <a:r>
                  <a:rPr lang="en-US" sz="2000" dirty="0"/>
                  <a:t> 1</a:t>
                </a:r>
                <a:r>
                  <a:rPr lang="en-US" sz="2000" baseline="0" dirty="0"/>
                  <a:t> </a:t>
                </a:r>
                <a:r>
                  <a:rPr lang="en-US" sz="2000" baseline="0" dirty="0" err="1"/>
                  <a:t>pripadaju</a:t>
                </a:r>
                <a:r>
                  <a:rPr lang="en-US" sz="2000" baseline="0" dirty="0"/>
                  <a:t> </a:t>
                </a:r>
                <a:r>
                  <a:rPr lang="en-US" sz="2000" dirty="0"/>
                  <a:t> </a:t>
                </a:r>
                <a:r>
                  <a:rPr lang="en-US" sz="2000" dirty="0" err="1"/>
                  <a:t>specijalnim</a:t>
                </a:r>
                <a:r>
                  <a:rPr lang="en-US" sz="2000" dirty="0"/>
                  <a:t> </a:t>
                </a:r>
                <a:r>
                  <a:rPr lang="en-US" sz="2000" dirty="0" err="1"/>
                  <a:t>unitarnim</a:t>
                </a:r>
                <a:r>
                  <a:rPr lang="en-US" sz="2000" dirty="0"/>
                  <a:t> </a:t>
                </a:r>
                <a:r>
                  <a:rPr lang="en-US" sz="2000" dirty="0" err="1"/>
                  <a:t>grupama</a:t>
                </a:r>
                <a:r>
                  <a:rPr lang="en-US" sz="2000" dirty="0"/>
                  <a:t> </a:t>
                </a:r>
                <a:r>
                  <a:rPr lang="en-US" sz="2000" dirty="0" err="1"/>
                  <a:t>stepena</a:t>
                </a:r>
                <a:r>
                  <a:rPr lang="en-US" sz="2000" dirty="0"/>
                  <a:t> </a:t>
                </a:r>
                <a:r>
                  <a:rPr lang="en-US" sz="2000" b="0" i="0">
                    <a:latin typeface="Cambria Math" panose="02040503050406030204" pitchFamily="18" charset="0"/>
                  </a:rPr>
                  <a:t>𝑛</a:t>
                </a:r>
                <a:r>
                  <a:rPr lang="en-US" sz="2000" dirty="0"/>
                  <a:t> I </a:t>
                </a:r>
                <a:r>
                  <a:rPr lang="en-US" sz="2000" dirty="0" err="1"/>
                  <a:t>označavaju</a:t>
                </a:r>
                <a:r>
                  <a:rPr lang="en-US" sz="2000" baseline="0" dirty="0"/>
                  <a:t> se</a:t>
                </a:r>
                <a:r>
                  <a:rPr lang="en-US" sz="2000" dirty="0"/>
                  <a:t> kao </a:t>
                </a:r>
                <a:r>
                  <a:rPr lang="en-US" sz="2000" i="0">
                    <a:latin typeface="Cambria Math" panose="02040503050406030204" pitchFamily="18" charset="0"/>
                  </a:rPr>
                  <a:t>𝑆𝑈(𝑛)</a:t>
                </a:r>
                <a:r>
                  <a:rPr lang="en-US" sz="2000" dirty="0"/>
                  <a:t>. </a:t>
                </a:r>
                <a:r>
                  <a:rPr lang="en-US" sz="2000" dirty="0" err="1"/>
                  <a:t>Ako</a:t>
                </a:r>
                <a:r>
                  <a:rPr lang="en-US" sz="2000" dirty="0"/>
                  <a:t> </a:t>
                </a:r>
                <a:r>
                  <a:rPr lang="en-US" sz="2000" dirty="0" err="1"/>
                  <a:t>su</a:t>
                </a:r>
                <a:r>
                  <a:rPr lang="en-US" sz="2000" dirty="0"/>
                  <a:t> </a:t>
                </a:r>
                <a:r>
                  <a:rPr lang="en-US" sz="2000" dirty="0" err="1"/>
                  <a:t>elementi</a:t>
                </a:r>
                <a:r>
                  <a:rPr lang="en-US" sz="2000" dirty="0"/>
                  <a:t> </a:t>
                </a:r>
                <a:r>
                  <a:rPr lang="en-US" sz="2000" dirty="0" err="1"/>
                  <a:t>kompleksni</a:t>
                </a:r>
                <a:r>
                  <a:rPr lang="en-US" sz="2000" baseline="0" dirty="0"/>
                  <a:t> </a:t>
                </a:r>
                <a:r>
                  <a:rPr lang="en-US" sz="2000" baseline="0" dirty="0" err="1"/>
                  <a:t>brojevi</a:t>
                </a:r>
                <a:r>
                  <a:rPr lang="en-US" sz="2000" baseline="0" dirty="0"/>
                  <a:t> </a:t>
                </a:r>
                <a:r>
                  <a:rPr lang="en-US" sz="2000" baseline="0" dirty="0" err="1"/>
                  <a:t>onda</a:t>
                </a:r>
                <a:r>
                  <a:rPr lang="en-US" sz="2000" baseline="0" dirty="0"/>
                  <a:t> se </a:t>
                </a:r>
                <a:r>
                  <a:rPr lang="en-US" sz="2000" baseline="0" dirty="0" err="1"/>
                  <a:t>kao</a:t>
                </a:r>
                <a:r>
                  <a:rPr lang="en-US" sz="2000" baseline="0" dirty="0"/>
                  <a:t> </a:t>
                </a:r>
                <a:r>
                  <a:rPr lang="en-US" sz="2000" baseline="0" dirty="0" err="1"/>
                  <a:t>na</a:t>
                </a:r>
                <a:r>
                  <a:rPr lang="en-US" sz="2000" baseline="0" dirty="0"/>
                  <a:t> </a:t>
                </a:r>
                <a:r>
                  <a:rPr lang="en-US" sz="2000" baseline="0" dirty="0" err="1"/>
                  <a:t>slici</a:t>
                </a:r>
                <a:r>
                  <a:rPr lang="en-US" sz="2000" baseline="0" dirty="0"/>
                  <a:t>, </a:t>
                </a:r>
                <a:r>
                  <a:rPr lang="en-US" sz="2000" baseline="0" dirty="0" err="1"/>
                  <a:t>determinante</a:t>
                </a:r>
                <a:r>
                  <a:rPr lang="en-US" sz="2000" baseline="0" dirty="0"/>
                  <a:t> </a:t>
                </a:r>
                <a:r>
                  <a:rPr lang="en-US" sz="2000" baseline="0" dirty="0" err="1"/>
                  <a:t>racunaju</a:t>
                </a:r>
                <a:r>
                  <a:rPr lang="en-US" sz="2000" baseline="0" dirty="0"/>
                  <a:t> </a:t>
                </a:r>
                <a:r>
                  <a:rPr lang="en-US" sz="2000" baseline="0" dirty="0" err="1"/>
                  <a:t>kao</a:t>
                </a:r>
                <a:r>
                  <a:rPr lang="en-US" sz="2000" baseline="0" dirty="0"/>
                  <a:t> moduli. </a:t>
                </a:r>
                <a:r>
                  <a:rPr lang="en-US" sz="2000" baseline="0" dirty="0" err="1"/>
                  <a:t>Za</a:t>
                </a:r>
                <a:r>
                  <a:rPr lang="en-US" sz="2000" baseline="0" dirty="0"/>
                  <a:t> </a:t>
                </a:r>
                <a:r>
                  <a:rPr lang="en-US" sz="2000" baseline="0" dirty="0" err="1"/>
                  <a:t>kvantno</a:t>
                </a:r>
                <a:r>
                  <a:rPr lang="en-US" sz="2000" baseline="0" dirty="0"/>
                  <a:t> </a:t>
                </a:r>
                <a:r>
                  <a:rPr lang="en-US" sz="2000" baseline="0" dirty="0" err="1"/>
                  <a:t>racunrastvo</a:t>
                </a:r>
                <a:r>
                  <a:rPr lang="en-US" sz="2000" baseline="0" dirty="0"/>
                  <a:t> </a:t>
                </a:r>
                <a:r>
                  <a:rPr lang="en-US" sz="2000" baseline="0" dirty="0" err="1"/>
                  <a:t>su</a:t>
                </a:r>
                <a:r>
                  <a:rPr lang="en-US" sz="2000" baseline="0" dirty="0"/>
                  <a:t> </a:t>
                </a:r>
                <a:r>
                  <a:rPr lang="en-US" sz="2000" baseline="0" dirty="0" err="1"/>
                  <a:t>vazne</a:t>
                </a:r>
                <a:r>
                  <a:rPr lang="en-US" sz="2000" baseline="0" dirty="0"/>
                  <a:t> </a:t>
                </a:r>
                <a:r>
                  <a:rPr lang="en-US" sz="2000" baseline="0" dirty="0" err="1"/>
                  <a:t>grupe</a:t>
                </a:r>
                <a:r>
                  <a:rPr lang="en-US" sz="2000" baseline="0" dirty="0"/>
                  <a:t> </a:t>
                </a:r>
                <a:r>
                  <a:rPr lang="en-US" sz="2000" i="1" baseline="0" dirty="0"/>
                  <a:t>SU(2</a:t>
                </a:r>
                <a:r>
                  <a:rPr lang="en-US" sz="2000" i="1" baseline="30000" dirty="0"/>
                  <a:t>n</a:t>
                </a:r>
                <a:r>
                  <a:rPr lang="en-US" sz="2000" i="1" baseline="0" dirty="0"/>
                  <a:t>)</a:t>
                </a:r>
                <a:r>
                  <a:rPr lang="en-US" sz="2000" baseline="0" dirty="0"/>
                  <a:t> , </a:t>
                </a:r>
                <a:r>
                  <a:rPr lang="en-US" sz="2000" baseline="0" dirty="0" err="1"/>
                  <a:t>posebno</a:t>
                </a:r>
                <a:r>
                  <a:rPr lang="en-US" sz="2000" baseline="0" dirty="0"/>
                  <a:t> </a:t>
                </a:r>
                <a:r>
                  <a:rPr lang="en-US" sz="2000" i="1" baseline="0" dirty="0"/>
                  <a:t>SU(2)</a:t>
                </a:r>
                <a:r>
                  <a:rPr lang="en-US" sz="2000" baseline="0" dirty="0"/>
                  <a:t> I </a:t>
                </a:r>
                <a:r>
                  <a:rPr lang="en-US" sz="2000" i="1" baseline="0" dirty="0"/>
                  <a:t>SU(4)</a:t>
                </a:r>
                <a:r>
                  <a:rPr lang="en-US" sz="2000" baseline="0" dirty="0"/>
                  <a:t> . </a:t>
                </a:r>
                <a:endParaRPr lang="en-US" sz="2000" dirty="0"/>
              </a:p>
              <a:p>
                <a:pPr marL="457200" lvl="0" indent="-457200">
                  <a:buFont typeface="+mj-lt"/>
                  <a:buAutoNum type="arabicPeriod"/>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27</a:t>
            </a:fld>
            <a:endParaRPr lang="en-US"/>
          </a:p>
        </p:txBody>
      </p:sp>
    </p:spTree>
    <p:extLst>
      <p:ext uri="{BB962C8B-B14F-4D97-AF65-F5344CB8AC3E}">
        <p14:creationId xmlns:p14="http://schemas.microsoft.com/office/powerpoint/2010/main" val="6804106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algn="just"/>
                <a:r>
                  <a:rPr lang="en-ZA" b="0" dirty="0"/>
                  <a:t>Among the most important matrices in quantum computing are the Pauli matrices, which are both Hermitian and unitary. Their diagonal elements are real, and in the Pauli-Y matrix, the off-diagonal elements are complex conjugates of each other.</a:t>
                </a:r>
              </a:p>
              <a:p>
                <a:pPr algn="just"/>
                <a:endParaRPr lang="en-ZA" b="0" dirty="0"/>
              </a:p>
              <a:p>
                <a:pPr algn="just"/>
                <a:r>
                  <a:rPr lang="en-ZA" b="0" dirty="0"/>
                  <a:t>The Pauli matrices are named after physicist Wolfgang Pauli. They form a set of three </a:t>
                </a:r>
                <a14:m>
                  <m:oMath xmlns:m="http://schemas.openxmlformats.org/officeDocument/2006/math">
                    <m:r>
                      <a:rPr lang="en-US" sz="1200" b="0" i="0" smtClean="0">
                        <a:latin typeface="Cambria Math" panose="02040503050406030204" pitchFamily="18" charset="0"/>
                      </a:rPr>
                      <m:t>2</m:t>
                    </m:r>
                    <m:r>
                      <a:rPr lang="en-US" sz="1200" b="0" i="1" smtClean="0">
                        <a:latin typeface="Cambria Math" panose="02040503050406030204" pitchFamily="18" charset="0"/>
                        <a:ea typeface="Cambria Math" panose="02040503050406030204" pitchFamily="18" charset="0"/>
                      </a:rPr>
                      <m:t>×</m:t>
                    </m:r>
                    <m:r>
                      <a:rPr lang="en-US" sz="1200" b="0" i="0" smtClean="0">
                        <a:latin typeface="Cambria Math" panose="02040503050406030204" pitchFamily="18" charset="0"/>
                      </a:rPr>
                      <m:t>2</m:t>
                    </m:r>
                  </m:oMath>
                </a14:m>
                <a:r>
                  <a:rPr lang="en-ZA" b="0" dirty="0"/>
                  <a:t> matrices, often considered together with the identity matrix. In quantum physics, they are commonly denoted by the Greek letter </a:t>
                </a:r>
                <a:r>
                  <a:rPr lang="el-GR" b="0" dirty="0"/>
                  <a:t>σ</a:t>
                </a:r>
                <a:r>
                  <a:rPr lang="en-ZA" b="0" dirty="0"/>
                  <a:t>, while in quantum computing they are usually denoted by the italic capital letters </a:t>
                </a:r>
                <a:r>
                  <a:rPr lang="en-ZA" b="0" i="1" dirty="0"/>
                  <a:t>X</a:t>
                </a:r>
                <a:r>
                  <a:rPr lang="en-ZA" b="0" dirty="0"/>
                  <a:t>, </a:t>
                </a:r>
                <a:r>
                  <a:rPr lang="en-ZA" b="0" i="1" dirty="0"/>
                  <a:t>Y</a:t>
                </a:r>
                <a:r>
                  <a:rPr lang="en-ZA" b="0" dirty="0"/>
                  <a:t>, and </a:t>
                </a:r>
                <a:r>
                  <a:rPr lang="en-ZA" b="0" i="1" dirty="0"/>
                  <a:t>Z</a:t>
                </a:r>
                <a:r>
                  <a:rPr lang="en-ZA" b="0" dirty="0"/>
                  <a:t>.</a:t>
                </a:r>
              </a:p>
            </p:txBody>
          </p:sp>
        </mc:Choice>
        <mc:Fallback>
          <p:sp>
            <p:nvSpPr>
              <p:cNvPr id="3" name="Notes Placeholder 2"/>
              <p:cNvSpPr>
                <a:spLocks noGrp="1"/>
              </p:cNvSpPr>
              <p:nvPr>
                <p:ph type="body" idx="1"/>
              </p:nvPr>
            </p:nvSpPr>
            <p:spPr/>
            <p:txBody>
              <a:bodyPr/>
              <a:lstStyle/>
              <a:p>
                <a:pPr algn="just"/>
                <a:r>
                  <a:rPr lang="en-ZA" b="0" dirty="0"/>
                  <a:t>Among the most important matrices in quantum computing are the Pauli matrices, which are both Hermitian and unitary. Their diagonal elements are real, and in the Pauli-Y matrix, the off-diagonal elements are complex conjugates of each other.</a:t>
                </a:r>
              </a:p>
              <a:p>
                <a:pPr algn="just"/>
                <a:endParaRPr lang="en-ZA" b="0" dirty="0"/>
              </a:p>
              <a:p>
                <a:pPr algn="just"/>
                <a:r>
                  <a:rPr lang="en-ZA" b="0" dirty="0"/>
                  <a:t>The Pauli matrices are named after physicist Wolfgang Pauli. They form a set of three </a:t>
                </a:r>
                <a:r>
                  <a:rPr lang="en-US" sz="1200" b="0" i="0">
                    <a:latin typeface="Cambria Math" panose="02040503050406030204" pitchFamily="18" charset="0"/>
                  </a:rPr>
                  <a:t>2</a:t>
                </a:r>
                <a:r>
                  <a:rPr lang="en-US" sz="1200" b="0" i="0">
                    <a:latin typeface="Cambria Math" panose="02040503050406030204" pitchFamily="18" charset="0"/>
                    <a:ea typeface="Cambria Math" panose="02040503050406030204" pitchFamily="18" charset="0"/>
                  </a:rPr>
                  <a:t>×</a:t>
                </a:r>
                <a:r>
                  <a:rPr lang="en-US" sz="1200" b="0" i="0">
                    <a:latin typeface="Cambria Math" panose="02040503050406030204" pitchFamily="18" charset="0"/>
                  </a:rPr>
                  <a:t>2</a:t>
                </a:r>
                <a:r>
                  <a:rPr lang="en-ZA" b="0" dirty="0"/>
                  <a:t> matrices, often considered together with the identity matrix. In quantum physics, they are commonly denoted by the Greek letter </a:t>
                </a:r>
                <a:r>
                  <a:rPr lang="el-GR" b="0" dirty="0"/>
                  <a:t>σ</a:t>
                </a:r>
                <a:r>
                  <a:rPr lang="en-ZA" b="0" dirty="0"/>
                  <a:t>, while in quantum computing they are usually denoted by the italic capital letters </a:t>
                </a:r>
                <a:r>
                  <a:rPr lang="en-ZA" b="0" i="1" dirty="0"/>
                  <a:t>X</a:t>
                </a:r>
                <a:r>
                  <a:rPr lang="en-ZA" b="0" dirty="0"/>
                  <a:t>, </a:t>
                </a:r>
                <a:r>
                  <a:rPr lang="en-ZA" b="0" i="1" dirty="0"/>
                  <a:t>Y</a:t>
                </a:r>
                <a:r>
                  <a:rPr lang="en-ZA" b="0" dirty="0"/>
                  <a:t>, and </a:t>
                </a:r>
                <a:r>
                  <a:rPr lang="en-ZA" b="0" i="1" dirty="0"/>
                  <a:t>Z</a:t>
                </a:r>
                <a:r>
                  <a:rPr lang="en-ZA" b="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28</a:t>
            </a:fld>
            <a:endParaRPr lang="en-US"/>
          </a:p>
        </p:txBody>
      </p:sp>
    </p:spTree>
    <p:extLst>
      <p:ext uri="{BB962C8B-B14F-4D97-AF65-F5344CB8AC3E}">
        <p14:creationId xmlns:p14="http://schemas.microsoft.com/office/powerpoint/2010/main" val="40476078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Another important matrix in quantum computing is the Hadamard matrix, named after the French mathematician Jacques Hadamard. However, it was first discovered 26 years earlier by the English mathematician James Sylvester, though the name Hadamard matrix remained in use.</a:t>
            </a:r>
          </a:p>
          <a:p>
            <a:pPr algn="just"/>
            <a:endParaRPr lang="en-ZA" b="0" dirty="0"/>
          </a:p>
          <a:p>
            <a:pPr algn="just"/>
            <a:r>
              <a:rPr lang="en-ZA" b="0" dirty="0"/>
              <a:t>Sylvester originally referred to this matrix as an "</a:t>
            </a:r>
            <a:r>
              <a:rPr lang="en-ZA" b="0" dirty="0" err="1"/>
              <a:t>anallagmatic</a:t>
            </a:r>
            <a:r>
              <a:rPr lang="en-ZA" b="0" dirty="0"/>
              <a:t> pavement" because placing any two rows or columns side by side results in exactly half of the adjacent cells having the same sign and the other half having opposite signs. </a:t>
            </a:r>
            <a:r>
              <a:rPr lang="en-ZA" dirty="0"/>
              <a:t>If the cells with 1s are </a:t>
            </a:r>
            <a:r>
              <a:rPr lang="en-ZA" dirty="0" err="1"/>
              <a:t>colored</a:t>
            </a:r>
            <a:r>
              <a:rPr lang="en-ZA" dirty="0"/>
              <a:t> black and the cells with -1s are </a:t>
            </a:r>
            <a:r>
              <a:rPr lang="en-ZA" dirty="0" err="1"/>
              <a:t>colored</a:t>
            </a:r>
            <a:r>
              <a:rPr lang="en-ZA" dirty="0"/>
              <a:t> white, then the matrix has alternating black and white square.</a:t>
            </a:r>
          </a:p>
          <a:p>
            <a:pPr algn="just"/>
            <a:endParaRPr lang="en-ZA" b="0" dirty="0"/>
          </a:p>
          <a:p>
            <a:pPr algn="just"/>
            <a:r>
              <a:rPr lang="en-ZA" b="0" dirty="0"/>
              <a:t>This matrix is fundamental in quantum computing because many quantum algorithms begin by applying the Hadamard transform, which places a qubit into superposition.</a:t>
            </a:r>
          </a:p>
        </p:txBody>
      </p:sp>
      <p:sp>
        <p:nvSpPr>
          <p:cNvPr id="4" name="Slide Number Placeholder 3"/>
          <p:cNvSpPr>
            <a:spLocks noGrp="1"/>
          </p:cNvSpPr>
          <p:nvPr>
            <p:ph type="sldNum" sz="quarter" idx="5"/>
          </p:nvPr>
        </p:nvSpPr>
        <p:spPr/>
        <p:txBody>
          <a:bodyPr/>
          <a:lstStyle/>
          <a:p>
            <a:fld id="{1B2CE5E3-B8BD-D040-AC87-D640191DD8F1}" type="slidenum">
              <a:rPr lang="en-US" smtClean="0"/>
              <a:t>29</a:t>
            </a:fld>
            <a:endParaRPr lang="en-US"/>
          </a:p>
        </p:txBody>
      </p:sp>
    </p:spTree>
    <p:extLst>
      <p:ext uri="{BB962C8B-B14F-4D97-AF65-F5344CB8AC3E}">
        <p14:creationId xmlns:p14="http://schemas.microsoft.com/office/powerpoint/2010/main" val="3410832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sz="1200" dirty="0">
              <a:solidFill>
                <a:schemeClr val="tx1"/>
              </a:solidFill>
            </a:endParaRPr>
          </a:p>
        </p:txBody>
      </p:sp>
      <p:sp>
        <p:nvSpPr>
          <p:cNvPr id="4" name="Slide Number Placeholder 3"/>
          <p:cNvSpPr>
            <a:spLocks noGrp="1"/>
          </p:cNvSpPr>
          <p:nvPr>
            <p:ph type="sldNum" sz="quarter" idx="5"/>
          </p:nvPr>
        </p:nvSpPr>
        <p:spPr/>
        <p:txBody>
          <a:bodyPr/>
          <a:lstStyle/>
          <a:p>
            <a:fld id="{1B2CE5E3-B8BD-D040-AC87-D640191DD8F1}" type="slidenum">
              <a:rPr lang="en-US" smtClean="0"/>
              <a:t>30</a:t>
            </a:fld>
            <a:endParaRPr lang="en-US"/>
          </a:p>
        </p:txBody>
      </p:sp>
    </p:spTree>
    <p:extLst>
      <p:ext uri="{BB962C8B-B14F-4D97-AF65-F5344CB8AC3E}">
        <p14:creationId xmlns:p14="http://schemas.microsoft.com/office/powerpoint/2010/main" val="19283232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A vector in a plane (shown on the left) is described by an ordered pair of numbers representing its horizontal and vertical distance from the origin. Geometrically, a vector is depicted as an arrow starting at the origin and ending at the given coordinates. The values </a:t>
                </a:r>
                <a14:m>
                  <m:oMath xmlns:m="http://schemas.openxmlformats.org/officeDocument/2006/math">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2</m:t>
                        </m:r>
                      </m:sub>
                    </m:sSub>
                  </m:oMath>
                </a14:m>
                <a:r>
                  <a:rPr lang="en-US" dirty="0"/>
                  <a:t>)</a:t>
                </a:r>
                <a:r>
                  <a:rPr lang="en-ZA" b="0" dirty="0"/>
                  <a:t> are called the components of the vector. </a:t>
                </a:r>
                <a:r>
                  <a:rPr lang="en-ZA" dirty="0"/>
                  <a:t>A vector can be written in two equivalent forms: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dirty="0"/>
                  <a:t>As a </a:t>
                </a:r>
                <a:r>
                  <a:rPr lang="en-ZA" b="1" dirty="0"/>
                  <a:t>row vector</a:t>
                </a:r>
                <a:r>
                  <a:rPr lang="en-ZA" dirty="0"/>
                  <a:t>: </a:t>
                </a:r>
                <a14:m>
                  <m:oMath xmlns:m="http://schemas.openxmlformats.org/officeDocument/2006/math">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2</m:t>
                        </m:r>
                      </m:sub>
                    </m:sSub>
                  </m:oMath>
                </a14:m>
                <a:r>
                  <a:rPr lang="en-US" dirty="0"/>
                  <a:t>)</a:t>
                </a:r>
                <a:r>
                  <a:rPr lang="en-ZA" dirty="0"/>
                  <a:t>, where the components are arranged horizontally.</a:t>
                </a:r>
              </a:p>
              <a:p>
                <a:pPr marL="171450" indent="-171450">
                  <a:buFont typeface="Arial" panose="020B0604020202020204" pitchFamily="34" charset="0"/>
                  <a:buChar char="•"/>
                </a:pPr>
                <a:r>
                  <a:rPr lang="en-ZA" dirty="0"/>
                  <a:t>As a </a:t>
                </a:r>
                <a:r>
                  <a:rPr lang="en-ZA" b="1" dirty="0"/>
                  <a:t>column vector</a:t>
                </a:r>
                <a:r>
                  <a:rPr lang="en-ZA" dirty="0"/>
                  <a:t>: </a:t>
                </a:r>
                <a14:m>
                  <m:oMath xmlns:m="http://schemas.openxmlformats.org/officeDocument/2006/math">
                    <m:d>
                      <m:dPr>
                        <m:ctrlPr>
                          <a:rPr lang="en-US" sz="1200" b="1" i="1" smtClean="0">
                            <a:latin typeface="Cambria Math" panose="02040503050406030204" pitchFamily="18" charset="0"/>
                          </a:rPr>
                        </m:ctrlPr>
                      </m:dPr>
                      <m:e>
                        <m:m>
                          <m:mPr>
                            <m:mcs>
                              <m:mc>
                                <m:mcPr>
                                  <m:count m:val="1"/>
                                  <m:mcJc m:val="center"/>
                                </m:mcPr>
                              </m:mc>
                            </m:mcs>
                            <m:ctrlPr>
                              <a:rPr lang="en-US" sz="1200" b="1" i="1">
                                <a:latin typeface="Cambria Math" panose="02040503050406030204" pitchFamily="18" charset="0"/>
                              </a:rPr>
                            </m:ctrlPr>
                          </m:mPr>
                          <m:mr>
                            <m:e>
                              <m:sSub>
                                <m:sSubPr>
                                  <m:ctrlPr>
                                    <a:rPr lang="en-US" sz="1200" i="1">
                                      <a:latin typeface="Cambria Math" panose="02040503050406030204" pitchFamily="18" charset="0"/>
                                    </a:rPr>
                                  </m:ctrlPr>
                                </m:sSubPr>
                                <m:e>
                                  <m:r>
                                    <a:rPr lang="en-US" sz="1200" i="1">
                                      <a:latin typeface="Cambria Math" panose="02040503050406030204" pitchFamily="18" charset="0"/>
                                    </a:rPr>
                                    <m:t>𝑎</m:t>
                                  </m:r>
                                </m:e>
                                <m:sub>
                                  <m:r>
                                    <a:rPr lang="en-US" sz="1200" i="1">
                                      <a:latin typeface="Cambria Math" panose="02040503050406030204" pitchFamily="18" charset="0"/>
                                    </a:rPr>
                                    <m:t>1</m:t>
                                  </m:r>
                                </m:sub>
                              </m:sSub>
                            </m:e>
                          </m:mr>
                          <m:mr>
                            <m:e>
                              <m:sSub>
                                <m:sSubPr>
                                  <m:ctrlPr>
                                    <a:rPr lang="en-US" sz="1200" i="1">
                                      <a:latin typeface="Cambria Math" panose="02040503050406030204" pitchFamily="18" charset="0"/>
                                    </a:rPr>
                                  </m:ctrlPr>
                                </m:sSubPr>
                                <m:e>
                                  <m:r>
                                    <a:rPr lang="en-US" sz="1200" i="1">
                                      <a:latin typeface="Cambria Math" panose="02040503050406030204" pitchFamily="18" charset="0"/>
                                    </a:rPr>
                                    <m:t>𝑎</m:t>
                                  </m:r>
                                </m:e>
                                <m:sub>
                                  <m:r>
                                    <a:rPr lang="en-US" sz="1200" i="1">
                                      <a:latin typeface="Cambria Math" panose="02040503050406030204" pitchFamily="18" charset="0"/>
                                    </a:rPr>
                                    <m:t>2</m:t>
                                  </m:r>
                                </m:sub>
                              </m:sSub>
                            </m:e>
                          </m:mr>
                        </m:m>
                      </m:e>
                    </m:d>
                  </m:oMath>
                </a14:m>
                <a:r>
                  <a:rPr lang="en-ZA" dirty="0"/>
                  <a:t> where the components are arranged vertically. </a:t>
                </a:r>
                <a:endParaRPr lang="en-ZA" b="0" dirty="0"/>
              </a:p>
              <a:p>
                <a:pPr marL="171450" indent="-171450" algn="just">
                  <a:buFont typeface="Arial" panose="020B0604020202020204" pitchFamily="34" charset="0"/>
                  <a:buChar char="•"/>
                </a:pPr>
                <a:endParaRPr lang="en-ZA" b="0" dirty="0"/>
              </a:p>
              <a:p>
                <a:pPr marL="228600" indent="-228600" algn="just">
                  <a:buFont typeface="+mj-lt"/>
                  <a:buAutoNum type="arabicPeriod"/>
                </a:pPr>
                <a:r>
                  <a:rPr lang="en-ZA" b="0" dirty="0"/>
                  <a:t>Similarly, in a three-dimensional coordinate system, a vector is represented by an ordered triple of coordinates.</a:t>
                </a:r>
              </a:p>
              <a:p>
                <a:pPr marL="228600" indent="-228600" algn="just">
                  <a:buFont typeface="+mj-lt"/>
                  <a:buAutoNum type="arabicPeriod"/>
                </a:pPr>
                <a:endParaRPr lang="en-ZA" b="0" dirty="0"/>
              </a:p>
              <a:p>
                <a:pPr marL="228600" indent="-228600" algn="just">
                  <a:buFont typeface="+mj-lt"/>
                  <a:buAutoNum type="arabicPeriod"/>
                </a:pPr>
                <a:r>
                  <a:rPr lang="en-ZA" dirty="0"/>
                  <a:t>More generally, a vector is an ordered set of </a:t>
                </a:r>
                <a14:m>
                  <m:oMath xmlns:m="http://schemas.openxmlformats.org/officeDocument/2006/math">
                    <m:r>
                      <a:rPr lang="en-US" b="0" i="1" smtClean="0">
                        <a:latin typeface="Cambria Math" panose="02040503050406030204" pitchFamily="18" charset="0"/>
                      </a:rPr>
                      <m:t>𝑛</m:t>
                    </m:r>
                  </m:oMath>
                </a14:m>
                <a:r>
                  <a:rPr lang="en-ZA" dirty="0"/>
                  <a:t> numbers. The number </a:t>
                </a:r>
                <a14:m>
                  <m:oMath xmlns:m="http://schemas.openxmlformats.org/officeDocument/2006/math">
                    <m:r>
                      <a:rPr lang="en-US" b="0" i="1" smtClean="0">
                        <a:latin typeface="Cambria Math" panose="02040503050406030204" pitchFamily="18" charset="0"/>
                      </a:rPr>
                      <m:t>𝑛</m:t>
                    </m:r>
                  </m:oMath>
                </a14:m>
                <a:r>
                  <a:rPr lang="en-ZA" dirty="0"/>
                  <a:t> determines the dimension of the vector. </a:t>
                </a:r>
                <a14:m>
                  <m:oMath xmlns:m="http://schemas.openxmlformats.org/officeDocument/2006/math">
                    <m:r>
                      <a:rPr lang="en-US" b="0" i="1" smtClean="0">
                        <a:latin typeface="Cambria Math" panose="02040503050406030204" pitchFamily="18" charset="0"/>
                      </a:rPr>
                      <m:t>𝐹</m:t>
                    </m:r>
                  </m:oMath>
                </a14:m>
                <a:r>
                  <a:rPr lang="en-ZA" dirty="0"/>
                  <a:t>or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&gt;3</m:t>
                    </m:r>
                  </m:oMath>
                </a14:m>
                <a:r>
                  <a:rPr lang="en-ZA" dirty="0"/>
                  <a:t>, vectors exist in higher-dimensional spaces that cannot be directly visualized.</a:t>
                </a:r>
                <a:endParaRPr lang="en-ZA" b="0" dirty="0"/>
              </a:p>
              <a:p>
                <a:pPr marL="228600" indent="-228600" algn="just">
                  <a:buFont typeface="+mj-lt"/>
                  <a:buAutoNum type="arabicPeriod"/>
                </a:pPr>
                <a:endParaRPr lang="en-ZA" b="0" dirty="0"/>
              </a:p>
              <a:p>
                <a:pPr marL="228600" indent="-228600" algn="just">
                  <a:buFont typeface="+mj-lt"/>
                  <a:buAutoNum type="arabicPeriod"/>
                </a:pPr>
                <a:r>
                  <a:rPr lang="en-ZA" b="0" dirty="0"/>
                  <a:t>The length, norm, or magnitude of a vector is computed using a generalized version of the Pythagorean theorem. In any number of dimensions, the norm of a vector is given by the square root of the sum of the squares of its components.</a:t>
                </a:r>
              </a:p>
            </p:txBody>
          </p:sp>
        </mc:Choice>
        <mc:Fallback xmlns="">
          <p:sp>
            <p:nvSpPr>
              <p:cNvPr id="3" name="Notes Placeholder 2"/>
              <p:cNvSpPr>
                <a:spLocks noGrp="1"/>
              </p:cNvSpPr>
              <p:nvPr>
                <p:ph type="body" idx="1"/>
              </p:nvPr>
            </p:nvSpPr>
            <p:spPr/>
            <p:txBody>
              <a:bodyPr/>
              <a:lstStyle/>
              <a:p>
                <a:pPr marL="457200" indent="-457200">
                  <a:buFont typeface="Arial" panose="020B0604020202020204" pitchFamily="34" charset="0"/>
                  <a:buChar char="•"/>
                </a:pPr>
                <a:r>
                  <a:rPr lang="en-US" sz="2000" dirty="0">
                    <a:solidFill>
                      <a:schemeClr val="tx1"/>
                    </a:solidFill>
                  </a:rPr>
                  <a:t>In a plane a vector is described by two numbers </a:t>
                </a:r>
                <a:r>
                  <a:rPr lang="en-US" sz="2000" i="0">
                    <a:solidFill>
                      <a:schemeClr val="tx1"/>
                    </a:solidFill>
                    <a:latin typeface="Cambria Math" panose="02040503050406030204" pitchFamily="18" charset="0"/>
                  </a:rPr>
                  <a:t>(𝑥,𝑦)</a:t>
                </a:r>
                <a:r>
                  <a:rPr lang="en-US" sz="2000" dirty="0">
                    <a:solidFill>
                      <a:schemeClr val="tx1"/>
                    </a:solidFill>
                  </a:rPr>
                  <a:t> representing horizontal and vertical distance from the origin </a:t>
                </a:r>
                <a:r>
                  <a:rPr lang="en-US" sz="2000" i="0">
                    <a:solidFill>
                      <a:schemeClr val="tx1"/>
                    </a:solidFill>
                    <a:latin typeface="Cambria Math" panose="02040503050406030204" pitchFamily="18" charset="0"/>
                  </a:rPr>
                  <a:t>𝑂</a:t>
                </a:r>
                <a:r>
                  <a:rPr lang="en-US" sz="2000" dirty="0">
                    <a:solidFill>
                      <a:schemeClr val="tx1"/>
                    </a:solidFill>
                  </a:rPr>
                  <a:t>.</a:t>
                </a:r>
                <a:r>
                  <a:rPr lang="en-US" sz="2000" baseline="0" dirty="0">
                    <a:solidFill>
                      <a:schemeClr val="tx1"/>
                    </a:solidFill>
                  </a:rPr>
                  <a:t> </a:t>
                </a:r>
                <a:r>
                  <a:rPr lang="en-US" sz="2000" dirty="0"/>
                  <a:t>Geometrically, a vector is represented as an arrow with its tail at the origin </a:t>
                </a:r>
                <a:r>
                  <a:rPr lang="en-US" sz="2000" i="0">
                    <a:latin typeface="Cambria Math" panose="02040503050406030204" pitchFamily="18" charset="0"/>
                  </a:rPr>
                  <a:t>𝑂</a:t>
                </a:r>
                <a:r>
                  <a:rPr lang="en-US" sz="2000" dirty="0"/>
                  <a:t> and its head at a point given by coordinates </a:t>
                </a:r>
                <a:r>
                  <a:rPr lang="en-US" sz="2000" i="0">
                    <a:latin typeface="Cambria Math" panose="02040503050406030204" pitchFamily="18" charset="0"/>
                  </a:rPr>
                  <a:t>(𝑎_1,𝑎_</a:t>
                </a:r>
                <a:r>
                  <a:rPr lang="en-US" sz="2000" b="0" i="0">
                    <a:latin typeface="Cambria Math" panose="02040503050406030204" pitchFamily="18" charset="0"/>
                  </a:rPr>
                  <a:t>2</a:t>
                </a:r>
                <a:r>
                  <a:rPr lang="en-US" sz="2000" i="0">
                    <a:latin typeface="Cambria Math" panose="02040503050406030204" pitchFamily="18" charset="0"/>
                  </a:rPr>
                  <a:t>)</a:t>
                </a:r>
                <a:r>
                  <a:rPr lang="en-US" sz="2000" dirty="0"/>
                  <a:t>.</a:t>
                </a:r>
              </a:p>
              <a:p>
                <a:pPr marL="342900" indent="-342900">
                  <a:buFont typeface="Arial" panose="020B0604020202020204" pitchFamily="34" charset="0"/>
                  <a:buChar char="•"/>
                </a:pPr>
                <a:r>
                  <a:rPr lang="en-US" sz="2000" dirty="0">
                    <a:solidFill>
                      <a:schemeClr val="tx1"/>
                    </a:solidFill>
                  </a:rPr>
                  <a:t>In a thee-dimensions a vector is described by triplet </a:t>
                </a:r>
                <a:r>
                  <a:rPr lang="en-US" sz="2000" i="0">
                    <a:solidFill>
                      <a:schemeClr val="tx1"/>
                    </a:solidFill>
                    <a:latin typeface="Cambria Math" panose="02040503050406030204" pitchFamily="18" charset="0"/>
                  </a:rPr>
                  <a:t>(</a:t>
                </a:r>
                <a:r>
                  <a:rPr lang="en-US" sz="2000" i="0">
                    <a:latin typeface="Cambria Math" panose="02040503050406030204" pitchFamily="18" charset="0"/>
                  </a:rPr>
                  <a:t>𝑎_1</a:t>
                </a:r>
                <a:r>
                  <a:rPr lang="en-US" sz="2000" i="0">
                    <a:solidFill>
                      <a:schemeClr val="tx1"/>
                    </a:solidFill>
                    <a:latin typeface="Cambria Math" panose="02040503050406030204" pitchFamily="18" charset="0"/>
                  </a:rPr>
                  <a:t>,</a:t>
                </a:r>
                <a:r>
                  <a:rPr lang="en-US" sz="2000" i="0">
                    <a:latin typeface="Cambria Math" panose="02040503050406030204" pitchFamily="18" charset="0"/>
                  </a:rPr>
                  <a:t>𝑎_</a:t>
                </a:r>
                <a:r>
                  <a:rPr lang="en-US" sz="2000" b="0" i="0">
                    <a:latin typeface="Cambria Math" panose="02040503050406030204" pitchFamily="18" charset="0"/>
                  </a:rPr>
                  <a:t>2</a:t>
                </a:r>
                <a:r>
                  <a:rPr lang="en-US" sz="2000" b="0" i="0">
                    <a:solidFill>
                      <a:schemeClr val="tx1"/>
                    </a:solidFill>
                    <a:latin typeface="Cambria Math" panose="02040503050406030204" pitchFamily="18" charset="0"/>
                  </a:rPr>
                  <a:t>,</a:t>
                </a:r>
                <a:r>
                  <a:rPr lang="en-US" sz="2000" i="0">
                    <a:latin typeface="Cambria Math" panose="02040503050406030204" pitchFamily="18" charset="0"/>
                  </a:rPr>
                  <a:t>𝑎_</a:t>
                </a:r>
                <a:r>
                  <a:rPr lang="en-US" sz="2000" b="0" i="0">
                    <a:latin typeface="Cambria Math" panose="02040503050406030204" pitchFamily="18" charset="0"/>
                  </a:rPr>
                  <a:t>3</a:t>
                </a:r>
                <a:r>
                  <a:rPr lang="en-US" sz="2000" i="0">
                    <a:solidFill>
                      <a:schemeClr val="tx1"/>
                    </a:solidFill>
                    <a:latin typeface="Cambria Math" panose="02040503050406030204" pitchFamily="18" charset="0"/>
                  </a:rPr>
                  <a:t>)</a:t>
                </a:r>
                <a:r>
                  <a:rPr lang="en-US" sz="2000" dirty="0">
                    <a:solidFill>
                      <a:schemeClr val="tx1"/>
                    </a:solidFill>
                  </a:rPr>
                  <a:t> </a:t>
                </a:r>
                <a:r>
                  <a:rPr lang="en-US" sz="2000" dirty="0"/>
                  <a:t>representing distance from the origin along the </a:t>
                </a:r>
                <a:r>
                  <a:rPr lang="en-US" sz="2000" i="0">
                    <a:latin typeface="Cambria Math" panose="02040503050406030204" pitchFamily="18" charset="0"/>
                  </a:rPr>
                  <a:t>𝑥</a:t>
                </a:r>
                <a:r>
                  <a:rPr lang="en-US" sz="2000" dirty="0"/>
                  <a:t>, </a:t>
                </a:r>
                <a:r>
                  <a:rPr lang="en-US" sz="2000" b="0" i="0">
                    <a:latin typeface="Cambria Math" panose="02040503050406030204" pitchFamily="18" charset="0"/>
                  </a:rPr>
                  <a:t>y</a:t>
                </a:r>
                <a:r>
                  <a:rPr lang="en-US" sz="2000" dirty="0"/>
                  <a:t>, and </a:t>
                </a:r>
                <a:r>
                  <a:rPr lang="en-US" sz="2000" b="0" i="0">
                    <a:latin typeface="Cambria Math" panose="02040503050406030204" pitchFamily="18" charset="0"/>
                  </a:rPr>
                  <a:t>z</a:t>
                </a:r>
                <a:r>
                  <a:rPr lang="en-US" sz="2000" i="0">
                    <a:latin typeface="Cambria Math" panose="02040503050406030204" pitchFamily="18" charset="0"/>
                  </a:rPr>
                  <a:t> </a:t>
                </a:r>
                <a:r>
                  <a:rPr lang="en-US" sz="2000" dirty="0"/>
                  <a:t>–axes.</a:t>
                </a:r>
                <a:r>
                  <a:rPr lang="en-US" sz="2000" baseline="0" dirty="0">
                    <a:solidFill>
                      <a:schemeClr val="tx1"/>
                    </a:solidFill>
                  </a:rPr>
                  <a:t> </a:t>
                </a:r>
                <a:r>
                  <a:rPr lang="en-US" sz="2000" dirty="0"/>
                  <a:t>Geometrically, a vector is represented as an arrow with its tail at the origin </a:t>
                </a:r>
                <a:r>
                  <a:rPr lang="en-US" sz="2000" i="0">
                    <a:latin typeface="Cambria Math" panose="02040503050406030204" pitchFamily="18" charset="0"/>
                  </a:rPr>
                  <a:t>𝑂</a:t>
                </a:r>
                <a:r>
                  <a:rPr lang="en-US" sz="2000" dirty="0"/>
                  <a:t> and its head at a point given by coordinates </a:t>
                </a:r>
                <a:r>
                  <a:rPr lang="en-US" sz="2000" i="0">
                    <a:latin typeface="Cambria Math" panose="02040503050406030204" pitchFamily="18" charset="0"/>
                  </a:rPr>
                  <a:t>(𝑎_1,𝑎_1</a:t>
                </a:r>
                <a:r>
                  <a:rPr lang="en-US" sz="2000" b="0" i="0">
                    <a:latin typeface="Cambria Math" panose="02040503050406030204" pitchFamily="18" charset="0"/>
                  </a:rPr>
                  <a:t>,</a:t>
                </a:r>
                <a:r>
                  <a:rPr lang="en-US" sz="2000" i="0">
                    <a:latin typeface="Cambria Math" panose="02040503050406030204" pitchFamily="18" charset="0"/>
                  </a:rPr>
                  <a:t>𝑎_1)</a:t>
                </a:r>
                <a:r>
                  <a:rPr lang="en-US" sz="2000" dirty="0"/>
                  <a:t>.</a:t>
                </a:r>
              </a:p>
              <a:p>
                <a:pPr marL="342900" indent="-342900">
                  <a:buFont typeface="Arial" panose="020B0604020202020204" pitchFamily="34" charset="0"/>
                  <a:buChar char="•"/>
                </a:pPr>
                <a:r>
                  <a:rPr lang="en-US" sz="2000" dirty="0">
                    <a:solidFill>
                      <a:schemeClr val="tx1"/>
                    </a:solidFill>
                  </a:rPr>
                  <a:t>In n-dimensions a vector is described by tuple </a:t>
                </a:r>
                <a:r>
                  <a:rPr lang="en-US" sz="2000" i="0">
                    <a:solidFill>
                      <a:schemeClr val="tx1"/>
                    </a:solidFill>
                    <a:latin typeface="Cambria Math" panose="02040503050406030204" pitchFamily="18" charset="0"/>
                  </a:rPr>
                  <a:t>(𝑎_1,𝑎_</a:t>
                </a:r>
                <a:r>
                  <a:rPr lang="en-US" sz="2000" b="0" i="0">
                    <a:solidFill>
                      <a:schemeClr val="tx1"/>
                    </a:solidFill>
                    <a:latin typeface="Cambria Math" panose="02040503050406030204" pitchFamily="18" charset="0"/>
                  </a:rPr>
                  <a:t>2</a:t>
                </a:r>
                <a:r>
                  <a:rPr lang="en-US" sz="2000" i="0">
                    <a:solidFill>
                      <a:schemeClr val="tx1"/>
                    </a:solidFill>
                    <a:latin typeface="Cambria Math" panose="02040503050406030204" pitchFamily="18" charset="0"/>
                  </a:rPr>
                  <a:t>,</a:t>
                </a:r>
                <a:r>
                  <a:rPr lang="en-US" sz="2000" i="0">
                    <a:solidFill>
                      <a:schemeClr val="tx1"/>
                    </a:solidFill>
                    <a:latin typeface="Cambria Math" panose="02040503050406030204" pitchFamily="18" charset="0"/>
                    <a:ea typeface="Cambria Math" panose="02040503050406030204" pitchFamily="18" charset="0"/>
                  </a:rPr>
                  <a:t>⋯,</a:t>
                </a:r>
                <a:r>
                  <a:rPr lang="en-US" sz="2000" i="0">
                    <a:solidFill>
                      <a:schemeClr val="tx1"/>
                    </a:solidFill>
                    <a:latin typeface="Cambria Math" panose="02040503050406030204" pitchFamily="18" charset="0"/>
                  </a:rPr>
                  <a:t>𝑎_</a:t>
                </a:r>
                <a:r>
                  <a:rPr lang="en-US" sz="2000" b="0" i="0">
                    <a:solidFill>
                      <a:schemeClr val="tx1"/>
                    </a:solidFill>
                    <a:latin typeface="Cambria Math" panose="02040503050406030204" pitchFamily="18" charset="0"/>
                  </a:rPr>
                  <a:t>3 )</a:t>
                </a:r>
                <a:r>
                  <a:rPr lang="en-US" sz="2000" dirty="0">
                    <a:solidFill>
                      <a:schemeClr val="tx1"/>
                    </a:solidFill>
                  </a:rPr>
                  <a:t> representing sequence of coordinates. Such vectors cannot be geometrically visualized.</a:t>
                </a:r>
                <a:endParaRPr lang="en-US" sz="2000" dirty="0"/>
              </a:p>
              <a:p>
                <a:pPr marL="457200" indent="-457200">
                  <a:buFont typeface="Arial" panose="020B0604020202020204" pitchFamily="34" charset="0"/>
                  <a:buChar char="•"/>
                </a:pPr>
                <a:endParaRPr lang="en-US" sz="2000" dirty="0"/>
              </a:p>
              <a:p>
                <a:pPr marL="457200" indent="-457200">
                  <a:buFont typeface="Arial" panose="020B0604020202020204" pitchFamily="34" charset="0"/>
                  <a:buChar char="•"/>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31</a:t>
            </a:fld>
            <a:endParaRPr lang="en-US"/>
          </a:p>
        </p:txBody>
      </p:sp>
    </p:spTree>
    <p:extLst>
      <p:ext uri="{BB962C8B-B14F-4D97-AF65-F5344CB8AC3E}">
        <p14:creationId xmlns:p14="http://schemas.microsoft.com/office/powerpoint/2010/main" val="20547344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In the 1930s, The English physicist Paul Dirac developed a simple and elegant notation for representing complex vectors. This notation, known as Dirac or bra-ket notation, is now widely used not only in physics but also in quantum computing.</a:t>
            </a:r>
          </a:p>
          <a:p>
            <a:pPr algn="just"/>
            <a:endParaRPr lang="en-ZA" dirty="0"/>
          </a:p>
          <a:p>
            <a:pPr algn="just"/>
            <a:r>
              <a:rPr lang="en-ZA" dirty="0"/>
              <a:t>The name </a:t>
            </a:r>
            <a:r>
              <a:rPr lang="en-ZA" i="1" dirty="0"/>
              <a:t>bra-ket</a:t>
            </a:r>
            <a:r>
              <a:rPr lang="en-ZA" dirty="0"/>
              <a:t> comes from the English word </a:t>
            </a:r>
            <a:r>
              <a:rPr lang="en-ZA" i="1" dirty="0"/>
              <a:t>bracket</a:t>
            </a:r>
            <a:r>
              <a:rPr lang="en-ZA" dirty="0"/>
              <a:t> and reflects the fact that the notation uses angle brackets. </a:t>
            </a:r>
          </a:p>
        </p:txBody>
      </p:sp>
      <p:sp>
        <p:nvSpPr>
          <p:cNvPr id="4" name="Slide Number Placeholder 3"/>
          <p:cNvSpPr>
            <a:spLocks noGrp="1"/>
          </p:cNvSpPr>
          <p:nvPr>
            <p:ph type="sldNum" sz="quarter" idx="5"/>
          </p:nvPr>
        </p:nvSpPr>
        <p:spPr/>
        <p:txBody>
          <a:bodyPr/>
          <a:lstStyle/>
          <a:p>
            <a:fld id="{1B2CE5E3-B8BD-D040-AC87-D640191DD8F1}" type="slidenum">
              <a:rPr lang="en-US" smtClean="0"/>
              <a:t>32</a:t>
            </a:fld>
            <a:endParaRPr lang="en-US"/>
          </a:p>
        </p:txBody>
      </p:sp>
    </p:spTree>
    <p:extLst>
      <p:ext uri="{BB962C8B-B14F-4D97-AF65-F5344CB8AC3E}">
        <p14:creationId xmlns:p14="http://schemas.microsoft.com/office/powerpoint/2010/main" val="8544364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In Dirac notation, a </a:t>
                </a:r>
                <a:r>
                  <a:rPr lang="en-ZA" i="1" dirty="0"/>
                  <a:t>ket</a:t>
                </a:r>
                <a:r>
                  <a:rPr lang="en-ZA" dirty="0"/>
                  <a:t> vector is a column vector written between a vertical bar and a right angle bracket, denoted as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𝑎</m:t>
                        </m:r>
                      </m:e>
                    </m:d>
                  </m:oMath>
                </a14:m>
                <a:r>
                  <a:rPr lang="el-GR" dirty="0"/>
                  <a:t>, </a:t>
                </a:r>
                <a:r>
                  <a:rPr lang="en-ZA" dirty="0"/>
                  <a:t>and read as </a:t>
                </a:r>
                <a:r>
                  <a:rPr lang="en-ZA" i="1" dirty="0"/>
                  <a:t>ket a</a:t>
                </a:r>
                <a:r>
                  <a:rPr lang="en-ZA" dirty="0"/>
                  <a:t>.</a:t>
                </a:r>
              </a:p>
              <a:p>
                <a:pPr algn="just"/>
                <a:endParaRPr lang="en-ZA" dirty="0"/>
              </a:p>
              <a:p>
                <a:pPr algn="just"/>
                <a:r>
                  <a:rPr lang="en-ZA" dirty="0"/>
                  <a:t>A </a:t>
                </a:r>
                <a:r>
                  <a:rPr lang="en-ZA" i="1" dirty="0"/>
                  <a:t>bra</a:t>
                </a:r>
                <a:r>
                  <a:rPr lang="en-ZA" dirty="0"/>
                  <a:t> vector is the conjugate transpose of a ket vector. It is written between a left angle bracket and a vertical bar, denoted as </a:t>
                </a:r>
                <a14:m>
                  <m:oMath xmlns:m="http://schemas.openxmlformats.org/officeDocument/2006/math">
                    <m:r>
                      <a:rPr lang="en-US" sz="1200" smtClean="0">
                        <a:latin typeface="Cambria Math" panose="02040503050406030204" pitchFamily="18" charset="0"/>
                      </a:rPr>
                      <m:t>⟨</m:t>
                    </m:r>
                    <m:r>
                      <a:rPr lang="en-US" sz="1200" i="1">
                        <a:latin typeface="Cambria Math" panose="02040503050406030204" pitchFamily="18" charset="0"/>
                      </a:rPr>
                      <m:t>𝑎</m:t>
                    </m:r>
                    <m:r>
                      <a:rPr lang="en-US" sz="1200">
                        <a:latin typeface="Cambria Math" panose="02040503050406030204" pitchFamily="18" charset="0"/>
                      </a:rPr>
                      <m:t>|</m:t>
                    </m:r>
                  </m:oMath>
                </a14:m>
                <a:r>
                  <a:rPr lang="el-GR" dirty="0"/>
                  <a:t>, </a:t>
                </a:r>
                <a:r>
                  <a:rPr lang="en-ZA" dirty="0"/>
                  <a:t>and read as </a:t>
                </a:r>
                <a:r>
                  <a:rPr lang="en-ZA" i="1" dirty="0"/>
                  <a:t>bra a</a:t>
                </a:r>
                <a:r>
                  <a:rPr lang="en-ZA" dirty="0"/>
                  <a:t>.</a:t>
                </a:r>
              </a:p>
              <a:p>
                <a:pPr algn="just"/>
                <a:endParaRPr lang="en-ZA" dirty="0"/>
              </a:p>
              <a:p>
                <a:pPr algn="just"/>
                <a:r>
                  <a:rPr lang="en-ZA" dirty="0"/>
                  <a:t>Bra and ket vectors are mutual conjugate transposes and are called </a:t>
                </a:r>
                <a:r>
                  <a:rPr lang="en-ZA" i="1" dirty="0"/>
                  <a:t>dual vectors</a:t>
                </a:r>
                <a:r>
                  <a:rPr lang="en-ZA" dirty="0"/>
                  <a:t>. </a:t>
                </a:r>
              </a:p>
            </p:txBody>
          </p:sp>
        </mc:Choice>
        <mc:Fallback xmlns="">
          <p:sp>
            <p:nvSpPr>
              <p:cNvPr id="3" name="Notes Placeholder 2"/>
              <p:cNvSpPr>
                <a:spLocks noGrp="1"/>
              </p:cNvSpPr>
              <p:nvPr>
                <p:ph type="body" idx="1"/>
              </p:nvPr>
            </p:nvSpPr>
            <p:spPr/>
            <p:txBody>
              <a:bodyPr/>
              <a:lstStyle/>
              <a:p>
                <a:pPr algn="just"/>
                <a:r>
                  <a:rPr lang="en-ZA" dirty="0"/>
                  <a:t>In Dirac notation, a </a:t>
                </a:r>
                <a:r>
                  <a:rPr lang="en-ZA" i="1" dirty="0"/>
                  <a:t>ket</a:t>
                </a:r>
                <a:r>
                  <a:rPr lang="en-ZA" dirty="0"/>
                  <a:t> vector is a column vector written between a vertical bar and a right angle bracket, denoted as </a:t>
                </a:r>
                <a:r>
                  <a:rPr lang="en-US" sz="1200" i="0">
                    <a:latin typeface="Cambria Math" panose="02040503050406030204" pitchFamily="18" charset="0"/>
                  </a:rPr>
                  <a:t>|𝑎⟩</a:t>
                </a:r>
                <a:r>
                  <a:rPr lang="el-GR" dirty="0"/>
                  <a:t>, </a:t>
                </a:r>
                <a:r>
                  <a:rPr lang="en-ZA" dirty="0"/>
                  <a:t>and read as </a:t>
                </a:r>
                <a:r>
                  <a:rPr lang="en-ZA" i="1" dirty="0"/>
                  <a:t>ket a</a:t>
                </a:r>
                <a:r>
                  <a:rPr lang="en-ZA" dirty="0"/>
                  <a:t>.</a:t>
                </a:r>
              </a:p>
              <a:p>
                <a:pPr algn="just"/>
                <a:endParaRPr lang="en-ZA" dirty="0"/>
              </a:p>
              <a:p>
                <a:pPr algn="just"/>
                <a:r>
                  <a:rPr lang="en-ZA" dirty="0"/>
                  <a:t>A </a:t>
                </a:r>
                <a:r>
                  <a:rPr lang="en-ZA" i="1" dirty="0"/>
                  <a:t>bra</a:t>
                </a:r>
                <a:r>
                  <a:rPr lang="en-ZA" dirty="0"/>
                  <a:t> vector is the conjugate transpose of a ket vector, meaning it is a row vector. It is written between a left angle bracket and a vertical bar, denoted as </a:t>
                </a:r>
                <a:r>
                  <a:rPr lang="en-US" sz="1200" i="0">
                    <a:latin typeface="Cambria Math" panose="02040503050406030204" pitchFamily="18" charset="0"/>
                  </a:rPr>
                  <a:t>⟨𝑎|</a:t>
                </a:r>
                <a:r>
                  <a:rPr lang="el-GR" dirty="0"/>
                  <a:t>, </a:t>
                </a:r>
                <a:r>
                  <a:rPr lang="en-ZA" dirty="0"/>
                  <a:t>and read as </a:t>
                </a:r>
                <a:r>
                  <a:rPr lang="en-ZA" i="1" dirty="0"/>
                  <a:t>bra a</a:t>
                </a:r>
                <a:r>
                  <a:rPr lang="en-ZA" dirty="0"/>
                  <a:t>.</a:t>
                </a:r>
              </a:p>
              <a:p>
                <a:pPr algn="just"/>
                <a:endParaRPr lang="en-ZA" dirty="0"/>
              </a:p>
              <a:p>
                <a:pPr algn="just"/>
                <a:r>
                  <a:rPr lang="en-ZA" dirty="0"/>
                  <a:t>Bra and ket vectors are mutual conjugate transposes and are called </a:t>
                </a:r>
                <a:r>
                  <a:rPr lang="en-ZA" i="1" dirty="0"/>
                  <a:t>dual vectors</a:t>
                </a:r>
                <a:r>
                  <a:rPr lang="en-ZA" dirty="0"/>
                  <a:t>. </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33</a:t>
            </a:fld>
            <a:endParaRPr lang="en-US"/>
          </a:p>
        </p:txBody>
      </p:sp>
    </p:spTree>
    <p:extLst>
      <p:ext uri="{BB962C8B-B14F-4D97-AF65-F5344CB8AC3E}">
        <p14:creationId xmlns:p14="http://schemas.microsoft.com/office/powerpoint/2010/main" val="245286558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ZA" b="0" dirty="0"/>
                  <a:t>Multiplying a vector by a scalar means multiplying each of its components by that scalar. This operation stretches or shrinks the vector without changing its direction. If the scalar is negative, the vector also reverses direction. In the illustration, the vector ∣a⟩ is multiplied by the scalar 2, making it twice as long.</a:t>
                </a:r>
              </a:p>
              <a:p>
                <a:endParaRPr lang="en-ZA" b="0" dirty="0"/>
              </a:p>
              <a:p>
                <a:r>
                  <a:rPr lang="en-ZA" b="0" dirty="0"/>
                  <a:t>Vectors are added and subtracted by combining their corresponding components. Geometrically, in a plane, vectors can be added using the parallelogram rule: the sum of two vectors originating from the same point is given by the diagonal of the parallelogram formed by these vectors. In the illustration, the vector ∣c⟩ is obtained by adding the corresponding coordinates of the vectors ∣a⟩ and ∣b⟩.</a:t>
                </a:r>
              </a:p>
            </p:txBody>
          </p:sp>
        </mc:Choice>
        <mc:Fallback xmlns="">
          <p:sp>
            <p:nvSpPr>
              <p:cNvPr id="3" name="Notes Placeholder 2"/>
              <p:cNvSpPr>
                <a:spLocks noGrp="1"/>
              </p:cNvSpPr>
              <p:nvPr>
                <p:ph type="body" idx="1"/>
              </p:nvPr>
            </p:nvSpPr>
            <p:spPr/>
            <p:txBody>
              <a:bodyPr/>
              <a:lstStyle/>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US" sz="1200" dirty="0">
                    <a:latin typeface="+mn-lt"/>
                  </a:rPr>
                  <a:t>Množenje </a:t>
                </a:r>
                <a:r>
                  <a:rPr lang="en-US" sz="1200" dirty="0" err="1">
                    <a:latin typeface="+mn-lt"/>
                  </a:rPr>
                  <a:t>vektora</a:t>
                </a:r>
                <a:r>
                  <a:rPr lang="en-US" sz="1200" dirty="0">
                    <a:latin typeface="+mn-lt"/>
                  </a:rPr>
                  <a:t> skalarom </a:t>
                </a:r>
                <a:r>
                  <a:rPr lang="en-ZA" sz="1200" dirty="0" err="1">
                    <a:latin typeface="+mn-lt"/>
                  </a:rPr>
                  <a:t>definisano</a:t>
                </a:r>
                <a:r>
                  <a:rPr lang="en-ZA" sz="1200" dirty="0">
                    <a:latin typeface="+mn-lt"/>
                  </a:rPr>
                  <a:t> </a:t>
                </a:r>
                <a:r>
                  <a:rPr lang="en-ZA" sz="1200" dirty="0" err="1">
                    <a:latin typeface="+mn-lt"/>
                  </a:rPr>
                  <a:t>je</a:t>
                </a:r>
                <a:r>
                  <a:rPr lang="en-ZA" sz="1200" dirty="0">
                    <a:latin typeface="+mn-lt"/>
                  </a:rPr>
                  <a:t> </a:t>
                </a:r>
                <a:r>
                  <a:rPr lang="en-ZA" sz="1200" dirty="0" err="1">
                    <a:latin typeface="+mn-lt"/>
                  </a:rPr>
                  <a:t>kao</a:t>
                </a:r>
                <a:r>
                  <a:rPr lang="en-ZA" sz="1200" dirty="0">
                    <a:latin typeface="+mn-lt"/>
                  </a:rPr>
                  <a:t> </a:t>
                </a:r>
                <a:r>
                  <a:rPr lang="en-ZA" sz="1200" dirty="0" err="1">
                    <a:latin typeface="+mn-lt"/>
                  </a:rPr>
                  <a:t>množenje</a:t>
                </a:r>
                <a:r>
                  <a:rPr lang="en-ZA" sz="1200" dirty="0">
                    <a:latin typeface="+mn-lt"/>
                  </a:rPr>
                  <a:t> </a:t>
                </a:r>
                <a:r>
                  <a:rPr lang="en-ZA" sz="1200" dirty="0" err="1">
                    <a:latin typeface="+mn-lt"/>
                  </a:rPr>
                  <a:t>svake</a:t>
                </a:r>
                <a:r>
                  <a:rPr lang="en-ZA" sz="1200" dirty="0">
                    <a:latin typeface="+mn-lt"/>
                  </a:rPr>
                  <a:t> </a:t>
                </a:r>
                <a:r>
                  <a:rPr lang="en-ZA" sz="1200" dirty="0" err="1">
                    <a:latin typeface="+mn-lt"/>
                  </a:rPr>
                  <a:t>koordinate</a:t>
                </a:r>
                <a:r>
                  <a:rPr lang="en-ZA" sz="1200" dirty="0">
                    <a:latin typeface="+mn-lt"/>
                  </a:rPr>
                  <a:t> </a:t>
                </a:r>
                <a:r>
                  <a:rPr lang="en-ZA" sz="1200" dirty="0" err="1">
                    <a:latin typeface="+mn-lt"/>
                  </a:rPr>
                  <a:t>vektora</a:t>
                </a:r>
                <a:r>
                  <a:rPr lang="en-ZA" sz="1200" dirty="0">
                    <a:latin typeface="+mn-lt"/>
                  </a:rPr>
                  <a:t> skalarom </a:t>
                </a:r>
                <a:r>
                  <a:rPr lang="en-ZA" sz="1200" kern="1200" dirty="0" err="1">
                    <a:solidFill>
                      <a:schemeClr val="tx1"/>
                    </a:solidFill>
                    <a:effectLst/>
                    <a:latin typeface="+mn-lt"/>
                    <a:ea typeface="+mn-ea"/>
                    <a:cs typeface="+mn-cs"/>
                  </a:rPr>
                  <a:t>što</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dovodi</a:t>
                </a:r>
                <a:r>
                  <a:rPr lang="en-ZA" sz="1200" kern="1200" dirty="0">
                    <a:solidFill>
                      <a:schemeClr val="tx1"/>
                    </a:solidFill>
                    <a:effectLst/>
                    <a:latin typeface="+mn-lt"/>
                    <a:ea typeface="+mn-ea"/>
                    <a:cs typeface="+mn-cs"/>
                  </a:rPr>
                  <a:t> do </a:t>
                </a:r>
                <a:r>
                  <a:rPr lang="en-ZA" sz="1200" kern="1200" dirty="0" err="1">
                    <a:solidFill>
                      <a:schemeClr val="tx1"/>
                    </a:solidFill>
                    <a:effectLst/>
                    <a:latin typeface="+mn-lt"/>
                    <a:ea typeface="+mn-ea"/>
                    <a:cs typeface="+mn-cs"/>
                  </a:rPr>
                  <a:t>njegovog</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izduživanja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ili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skraćivanja</a:t>
                </a:r>
                <a:r>
                  <a:rPr lang="en-ZA" sz="1200" kern="1200" dirty="0">
                    <a:solidFill>
                      <a:schemeClr val="tx1"/>
                    </a:solidFill>
                    <a:effectLst/>
                    <a:latin typeface="+mn-lt"/>
                    <a:ea typeface="+mn-ea"/>
                    <a:cs typeface="+mn-cs"/>
                  </a:rPr>
                  <a:t> bez </a:t>
                </a:r>
                <a:r>
                  <a:rPr lang="en-ZA" sz="1200" kern="1200" dirty="0" err="1">
                    <a:solidFill>
                      <a:schemeClr val="tx1"/>
                    </a:solidFill>
                    <a:effectLst/>
                    <a:latin typeface="+mn-lt"/>
                    <a:ea typeface="+mn-ea"/>
                    <a:cs typeface="+mn-cs"/>
                  </a:rPr>
                  <a:t>promene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pravca</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Množenje</a:t>
                </a:r>
                <a:r>
                  <a:rPr lang="en-ZA" sz="1200" kern="1200" dirty="0">
                    <a:solidFill>
                      <a:schemeClr val="tx1"/>
                    </a:solidFill>
                    <a:effectLst/>
                    <a:latin typeface="+mn-lt"/>
                    <a:ea typeface="+mn-ea"/>
                    <a:cs typeface="+mn-cs"/>
                  </a:rPr>
                  <a:t> skalarom </a:t>
                </a:r>
                <a:r>
                  <a:rPr lang="en-ZA" sz="1200" kern="1200" dirty="0" err="1">
                    <a:solidFill>
                      <a:schemeClr val="tx1"/>
                    </a:solidFill>
                    <a:effectLst/>
                    <a:latin typeface="+mn-lt"/>
                    <a:ea typeface="+mn-ea"/>
                    <a:cs typeface="+mn-cs"/>
                  </a:rPr>
                  <a:t>koji</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je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negativan</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dovodi</a:t>
                </a:r>
                <a:r>
                  <a:rPr lang="en-ZA" sz="1200" kern="1200" dirty="0">
                    <a:solidFill>
                      <a:schemeClr val="tx1"/>
                    </a:solidFill>
                    <a:effectLst/>
                    <a:latin typeface="+mn-lt"/>
                    <a:ea typeface="+mn-ea"/>
                    <a:cs typeface="+mn-cs"/>
                  </a:rPr>
                  <a:t> do </a:t>
                </a:r>
                <a:r>
                  <a:rPr lang="en-ZA" sz="1200" kern="1200" dirty="0" err="1">
                    <a:solidFill>
                      <a:schemeClr val="tx1"/>
                    </a:solidFill>
                    <a:effectLst/>
                    <a:latin typeface="+mn-lt"/>
                    <a:ea typeface="+mn-ea"/>
                    <a:cs typeface="+mn-cs"/>
                  </a:rPr>
                  <a:t>promene</a:t>
                </a:r>
                <a:r>
                  <a:rPr lang="en-ZA" sz="1200" kern="1200" dirty="0">
                    <a:solidFill>
                      <a:schemeClr val="tx1"/>
                    </a:solidFill>
                    <a:effectLst/>
                    <a:latin typeface="+mn-lt"/>
                    <a:ea typeface="+mn-ea"/>
                    <a:cs typeface="+mn-cs"/>
                  </a:rPr>
                  <a:t> </a:t>
                </a:r>
                <a:r>
                  <a:rPr lang="en-ZA" sz="1200" kern="1200" dirty="0" err="1">
                    <a:solidFill>
                      <a:schemeClr val="tx1"/>
                    </a:solidFill>
                    <a:effectLst/>
                    <a:latin typeface="+mn-lt"/>
                    <a:ea typeface="+mn-ea"/>
                    <a:cs typeface="+mn-cs"/>
                  </a:rPr>
                  <a:t>smera</a:t>
                </a:r>
                <a:r>
                  <a:rPr lang="en-ZA" sz="1200" kern="1200" dirty="0">
                    <a:solidFill>
                      <a:schemeClr val="tx1"/>
                    </a:solidFill>
                    <a:effectLst/>
                    <a:latin typeface="+mn-lt"/>
                    <a:ea typeface="+mn-ea"/>
                    <a:cs typeface="+mn-cs"/>
                  </a:rPr>
                  <a:t>.</a:t>
                </a:r>
                <a:r>
                  <a:rPr lang="en-ZA" sz="1200" kern="1200" baseline="0" dirty="0">
                    <a:solidFill>
                      <a:schemeClr val="tx1"/>
                    </a:solidFill>
                    <a:effectLst/>
                    <a:latin typeface="+mn-lt"/>
                    <a:ea typeface="+mn-ea"/>
                    <a:cs typeface="+mn-cs"/>
                  </a:rPr>
                  <a:t> </a:t>
                </a:r>
                <a:br>
                  <a:rPr lang="en-ZA" sz="1200" kern="1200" baseline="0" dirty="0">
                    <a:solidFill>
                      <a:schemeClr val="tx1"/>
                    </a:solidFill>
                    <a:effectLst/>
                    <a:latin typeface="+mn-lt"/>
                    <a:ea typeface="+mn-ea"/>
                    <a:cs typeface="+mn-cs"/>
                  </a:rPr>
                </a:br>
                <a:r>
                  <a:rPr lang="en-ZA" sz="1200" dirty="0">
                    <a:latin typeface="+mn-lt"/>
                  </a:rPr>
                  <a:t>Na </a:t>
                </a:r>
                <a:r>
                  <a:rPr lang="en-ZA" sz="1200" dirty="0" err="1">
                    <a:latin typeface="+mn-lt"/>
                  </a:rPr>
                  <a:t>slici</a:t>
                </a:r>
                <a:r>
                  <a:rPr lang="en-ZA" sz="1200" dirty="0">
                    <a:latin typeface="+mn-lt"/>
                  </a:rPr>
                  <a:t> </a:t>
                </a:r>
                <a:r>
                  <a:rPr lang="en-ZA" sz="1200" dirty="0" err="1">
                    <a:latin typeface="+mn-lt"/>
                  </a:rPr>
                  <a:t>je</a:t>
                </a:r>
                <a:r>
                  <a:rPr lang="en-ZA" sz="1200" dirty="0">
                    <a:latin typeface="+mn-lt"/>
                  </a:rPr>
                  <a:t> </a:t>
                </a:r>
                <a:r>
                  <a:rPr lang="en-ZA" sz="1200" dirty="0" err="1">
                    <a:latin typeface="+mn-lt"/>
                  </a:rPr>
                  <a:t>vektor</a:t>
                </a:r>
                <a:r>
                  <a:rPr lang="en-ZA" sz="1200" dirty="0">
                    <a:latin typeface="+mn-lt"/>
                  </a:rPr>
                  <a:t> </a:t>
                </a:r>
                <a:r>
                  <a:rPr lang="en-US" sz="1200" i="0">
                    <a:latin typeface="Cambria Math" panose="02040503050406030204" pitchFamily="18" charset="0"/>
                    <a:cs typeface="Times New Roman" panose="02020603050405020304" pitchFamily="18" charset="0"/>
                  </a:rPr>
                  <a:t>|</a:t>
                </a:r>
                <a:r>
                  <a:rPr lang="en-US" sz="1200" i="0">
                    <a:latin typeface="Cambria Math" panose="02040503050406030204" pitchFamily="18" charset="0"/>
                    <a:ea typeface="Times New Roman" panose="02020603050405020304" pitchFamily="18" charset="0"/>
                    <a:cs typeface="Times New Roman" panose="02020603050405020304" pitchFamily="18" charset="0"/>
                  </a:rPr>
                  <a:t>𝑎⟩</a:t>
                </a:r>
                <a:r>
                  <a:rPr lang="en-ZA" sz="1200" dirty="0">
                    <a:latin typeface="+mn-lt"/>
                  </a:rPr>
                  <a:t> pomnožen skalarom 2.</a:t>
                </a:r>
              </a:p>
              <a:p>
                <a:pPr marL="228600" indent="-228600" algn="just">
                  <a:buFont typeface="+mj-lt"/>
                  <a:buAutoNum type="arabicPeriod"/>
                </a:pPr>
                <a:endParaRPr lang="en-US" sz="1200" dirty="0">
                  <a:latin typeface="+mn-lt"/>
                </a:endParaRPr>
              </a:p>
              <a:p>
                <a:pPr marL="228600" indent="-228600" algn="just">
                  <a:buFont typeface="+mj-lt"/>
                  <a:buAutoNum type="arabicPeriod"/>
                </a:pPr>
                <a:r>
                  <a:rPr lang="sr-Latn-RS" sz="800" kern="1200" dirty="0">
                    <a:solidFill>
                      <a:schemeClr val="tx1"/>
                    </a:solidFill>
                    <a:effectLst/>
                    <a:latin typeface="+mn-lt"/>
                    <a:ea typeface="+mn-ea"/>
                    <a:cs typeface="+mn-cs"/>
                  </a:rPr>
                  <a:t>Sabiranje i oduzimanje vektora vrši se sabiranjem ili oduzimanjem odgovarajućih komponenti vektora. U ravni se vektori mogu i geometrijski sabrati po pravilu paralelograma: zbir dva vektora sa početkom u istoj tački dat je kao dijagonala paralelograma čije su stranice ova dva vektora.</a:t>
                </a:r>
                <a:r>
                  <a:rPr lang="en-ZA" sz="800" dirty="0">
                    <a:effectLst/>
                  </a:rPr>
                  <a:t> </a:t>
                </a:r>
                <a:br>
                  <a:rPr lang="en-ZA" sz="800" dirty="0">
                    <a:effectLst/>
                  </a:rPr>
                </a:br>
                <a:r>
                  <a:rPr lang="en-ZA" sz="800" dirty="0">
                    <a:effectLst/>
                    <a:latin typeface="+mn-lt"/>
                  </a:rPr>
                  <a:t>Na </a:t>
                </a:r>
                <a:r>
                  <a:rPr lang="en-ZA" sz="800" dirty="0" err="1">
                    <a:effectLst/>
                    <a:latin typeface="+mn-lt"/>
                  </a:rPr>
                  <a:t>slici</a:t>
                </a:r>
                <a:r>
                  <a:rPr lang="en-ZA" sz="800" dirty="0">
                    <a:effectLst/>
                    <a:latin typeface="+mn-lt"/>
                  </a:rPr>
                  <a:t> </a:t>
                </a:r>
                <a:r>
                  <a:rPr lang="en-ZA" sz="800" dirty="0" err="1">
                    <a:effectLst/>
                    <a:latin typeface="+mn-lt"/>
                  </a:rPr>
                  <a:t>je</a:t>
                </a:r>
                <a:r>
                  <a:rPr lang="en-ZA" sz="800" dirty="0">
                    <a:effectLst/>
                    <a:latin typeface="+mn-lt"/>
                  </a:rPr>
                  <a:t> </a:t>
                </a:r>
                <a:r>
                  <a:rPr lang="en-ZA" sz="800" dirty="0" err="1">
                    <a:effectLst/>
                    <a:latin typeface="+mn-lt"/>
                  </a:rPr>
                  <a:t>prikazan</a:t>
                </a:r>
                <a:r>
                  <a:rPr lang="en-ZA" sz="800" dirty="0">
                    <a:effectLst/>
                    <a:latin typeface="+mn-lt"/>
                  </a:rPr>
                  <a:t> </a:t>
                </a:r>
                <a:r>
                  <a:rPr lang="en-ZA" sz="800" dirty="0" err="1">
                    <a:effectLst/>
                    <a:latin typeface="+mn-lt"/>
                  </a:rPr>
                  <a:t>vektor</a:t>
                </a:r>
                <a:r>
                  <a:rPr lang="en-ZA" sz="800" dirty="0">
                    <a:effectLst/>
                    <a:latin typeface="+mn-lt"/>
                  </a:rPr>
                  <a:t> </a:t>
                </a:r>
                <a:r>
                  <a:rPr lang="en-US" sz="800" i="0">
                    <a:latin typeface="Cambria Math" panose="02040503050406030204" pitchFamily="18" charset="0"/>
                  </a:rPr>
                  <a:t>|</a:t>
                </a:r>
                <a:r>
                  <a:rPr lang="sr-Latn-RS" sz="800" b="0" i="0">
                    <a:latin typeface="Cambria Math" panose="02040503050406030204" pitchFamily="18" charset="0"/>
                  </a:rPr>
                  <a:t>𝑐⟩</a:t>
                </a:r>
                <a:r>
                  <a:rPr lang="en-ZA" sz="800" dirty="0">
                    <a:effectLst/>
                    <a:latin typeface="+mn-lt"/>
                  </a:rPr>
                  <a:t> </a:t>
                </a:r>
                <a:r>
                  <a:rPr lang="en-ZA" sz="800" dirty="0" err="1">
                    <a:effectLst/>
                    <a:latin typeface="+mn-lt"/>
                  </a:rPr>
                  <a:t>dobijen</a:t>
                </a:r>
                <a:r>
                  <a:rPr lang="en-ZA" sz="800" dirty="0">
                    <a:effectLst/>
                    <a:latin typeface="+mn-lt"/>
                  </a:rPr>
                  <a:t> </a:t>
                </a:r>
                <a:r>
                  <a:rPr lang="en-ZA" sz="800" dirty="0" err="1">
                    <a:effectLst/>
                    <a:latin typeface="+mn-lt"/>
                  </a:rPr>
                  <a:t>sabiranjem</a:t>
                </a:r>
                <a:r>
                  <a:rPr lang="en-ZA" sz="800" dirty="0">
                    <a:effectLst/>
                    <a:latin typeface="+mn-lt"/>
                  </a:rPr>
                  <a:t> </a:t>
                </a:r>
                <a:r>
                  <a:rPr lang="en-ZA" sz="800" dirty="0" err="1">
                    <a:effectLst/>
                    <a:latin typeface="+mn-lt"/>
                  </a:rPr>
                  <a:t>odgovarajućih</a:t>
                </a:r>
                <a:r>
                  <a:rPr lang="en-ZA" sz="800" dirty="0">
                    <a:effectLst/>
                    <a:latin typeface="+mn-lt"/>
                  </a:rPr>
                  <a:t> </a:t>
                </a:r>
                <a:r>
                  <a:rPr lang="en-ZA" sz="800" dirty="0" err="1">
                    <a:effectLst/>
                    <a:latin typeface="+mn-lt"/>
                  </a:rPr>
                  <a:t>koordinata</a:t>
                </a:r>
                <a:r>
                  <a:rPr lang="en-ZA" sz="800" dirty="0">
                    <a:effectLst/>
                    <a:latin typeface="+mn-lt"/>
                  </a:rPr>
                  <a:t> </a:t>
                </a:r>
                <a:r>
                  <a:rPr lang="en-ZA" sz="800" dirty="0" err="1">
                    <a:effectLst/>
                    <a:latin typeface="+mn-lt"/>
                  </a:rPr>
                  <a:t>vektora</a:t>
                </a:r>
                <a:r>
                  <a:rPr lang="en-ZA" sz="800" dirty="0">
                    <a:effectLst/>
                    <a:latin typeface="+mn-lt"/>
                  </a:rPr>
                  <a:t> </a:t>
                </a:r>
                <a:r>
                  <a:rPr lang="en-US" sz="800" i="0">
                    <a:latin typeface="Cambria Math" panose="02040503050406030204" pitchFamily="18" charset="0"/>
                  </a:rPr>
                  <a:t>|𝑎⟩</a:t>
                </a:r>
                <a:r>
                  <a:rPr lang="en-ZA" sz="800" dirty="0">
                    <a:latin typeface="+mn-lt"/>
                  </a:rPr>
                  <a:t> i </a:t>
                </a:r>
                <a:r>
                  <a:rPr lang="en-US" sz="800" i="0">
                    <a:latin typeface="Cambria Math" panose="02040503050406030204" pitchFamily="18" charset="0"/>
                  </a:rPr>
                  <a:t>|</a:t>
                </a:r>
                <a:r>
                  <a:rPr lang="sr-Latn-RS" sz="800" b="0" i="0">
                    <a:latin typeface="Cambria Math" panose="02040503050406030204" pitchFamily="18" charset="0"/>
                  </a:rPr>
                  <a:t>𝑏⟩</a:t>
                </a:r>
                <a:r>
                  <a:rPr lang="en-ZA" sz="800" dirty="0">
                    <a:latin typeface="+mn-lt"/>
                  </a:rPr>
                  <a:t>.</a:t>
                </a:r>
              </a:p>
              <a:p>
                <a:pPr algn="just"/>
                <a:endParaRPr lang="en-ZA" sz="400" dirty="0"/>
              </a:p>
              <a:p>
                <a:pPr algn="just"/>
                <a:endParaRPr lang="en-ZA" sz="1200" dirty="0">
                  <a:latin typeface="+mn-lt"/>
                </a:endParaRPr>
              </a:p>
              <a:p>
                <a:pPr algn="just"/>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34</a:t>
            </a:fld>
            <a:endParaRPr lang="en-US"/>
          </a:p>
        </p:txBody>
      </p:sp>
    </p:spTree>
    <p:extLst>
      <p:ext uri="{BB962C8B-B14F-4D97-AF65-F5344CB8AC3E}">
        <p14:creationId xmlns:p14="http://schemas.microsoft.com/office/powerpoint/2010/main" val="30218160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l">
                  <a:spcAft>
                    <a:spcPts val="1200"/>
                  </a:spcAft>
                </a:pPr>
                <a:r>
                  <a:rPr lang="en-ZA" sz="1200" dirty="0"/>
                  <a:t>Vector addition follows several fundamental properties</a:t>
                </a:r>
                <a:r>
                  <a:rPr lang="sr-Latn-RS" sz="1200" b="1" dirty="0">
                    <a:latin typeface="Cambria" panose="02040503050406030204" pitchFamily="18" charset="0"/>
                    <a:ea typeface="Times New Roman" panose="02020603050405020304" pitchFamily="18" charset="0"/>
                    <a:cs typeface="Times New Roman" panose="02020603050405020304" pitchFamily="18" charset="0"/>
                  </a:rPr>
                  <a:t>:</a:t>
                </a:r>
              </a:p>
              <a:p>
                <a:pPr algn="l">
                  <a:spcAft>
                    <a:spcPts val="1200"/>
                  </a:spcAft>
                </a:pPr>
                <a:endParaRPr lang="en-ZA" sz="1200" b="1" dirty="0">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l">
                  <a:spcAft>
                    <a:spcPts val="800"/>
                  </a:spcAft>
                  <a:buFont typeface="+mj-lt"/>
                  <a:buAutoNum type="arabicPeriod"/>
                </a:pPr>
                <a14:m>
                  <m:oMath xmlns:m="http://schemas.openxmlformats.org/officeDocument/2006/math">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𝑏</m:t>
                        </m:r>
                      </m:e>
                    </m:d>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𝑏</m:t>
                        </m:r>
                      </m:e>
                    </m:d>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oMath>
                </a14:m>
                <a:r>
                  <a:rPr lang="sr-Latn-RS" sz="1200" dirty="0">
                    <a:latin typeface="Cambria" panose="02040503050406030204" pitchFamily="18" charset="0"/>
                    <a:ea typeface="Times New Roman" panose="02020603050405020304" pitchFamily="18" charset="0"/>
                    <a:cs typeface="Times New Roman" panose="02020603050405020304" pitchFamily="18" charset="0"/>
                  </a:rPr>
                  <a:t>			</a:t>
                </a:r>
                <a:r>
                  <a:rPr lang="en-ZA" sz="1200" kern="1200" dirty="0">
                    <a:solidFill>
                      <a:schemeClr val="tx1"/>
                    </a:solidFill>
                    <a:latin typeface="+mn-lt"/>
                    <a:ea typeface="+mn-ea"/>
                    <a:cs typeface="+mn-cs"/>
                  </a:rPr>
                  <a:t>commutativity</a:t>
                </a:r>
                <a:br>
                  <a:rPr lang="en-ZA" sz="1200" kern="1200" dirty="0">
                    <a:solidFill>
                      <a:schemeClr val="tx1"/>
                    </a:solidFill>
                    <a:latin typeface="+mn-lt"/>
                    <a:ea typeface="+mn-ea"/>
                    <a:cs typeface="+mn-cs"/>
                  </a:rPr>
                </a:br>
                <a:r>
                  <a:rPr lang="en-ZA" sz="1200" dirty="0"/>
                  <a:t>The order of addition does not change the result.</a:t>
                </a:r>
              </a:p>
              <a:p>
                <a:pPr marL="342900" lvl="0" indent="-342900" algn="l">
                  <a:spcAft>
                    <a:spcPts val="800"/>
                  </a:spcAft>
                  <a:buFont typeface="+mj-lt"/>
                  <a:buAutoNum type="arabicPeriod"/>
                </a:pPr>
                <a:endParaRPr lang="en-ZA" sz="1200" kern="1200" dirty="0">
                  <a:solidFill>
                    <a:schemeClr val="tx1"/>
                  </a:solidFill>
                  <a:latin typeface="+mn-lt"/>
                  <a:ea typeface="Times New Roman" panose="02020603050405020304" pitchFamily="18" charset="0"/>
                  <a:cs typeface="Times New Roman" panose="02020603050405020304" pitchFamily="18" charset="0"/>
                </a:endParaRPr>
              </a:p>
              <a:p>
                <a:pPr marL="342900" lvl="0" indent="-342900" algn="l">
                  <a:spcAft>
                    <a:spcPts val="800"/>
                  </a:spcAft>
                  <a:buFont typeface="+mj-lt"/>
                  <a:buAutoNum type="arabicPeriod"/>
                </a:pPr>
                <a14:m>
                  <m:oMath xmlns:m="http://schemas.openxmlformats.org/officeDocument/2006/math">
                    <m:d>
                      <m:d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dPr>
                      <m:e>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𝑏</m:t>
                            </m:r>
                          </m:e>
                        </m:d>
                      </m:e>
                    </m:d>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𝑐</m:t>
                        </m:r>
                      </m:e>
                    </m:d>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𝑏</m:t>
                        </m:r>
                      </m:e>
                    </m:d>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𝑐</m:t>
                        </m:r>
                      </m:e>
                    </m:d>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oMath>
                </a14:m>
                <a:r>
                  <a:rPr lang="sr-Latn-RS" sz="1200" dirty="0">
                    <a:latin typeface="Cambria" panose="02040503050406030204" pitchFamily="18" charset="0"/>
                    <a:ea typeface="Times New Roman" panose="02020603050405020304" pitchFamily="18" charset="0"/>
                    <a:cs typeface="Times New Roman" panose="02020603050405020304" pitchFamily="18" charset="0"/>
                  </a:rPr>
                  <a:t>	</a:t>
                </a:r>
                <a:r>
                  <a:rPr lang="en-ZA" sz="1200" kern="1200" dirty="0">
                    <a:solidFill>
                      <a:schemeClr val="tx1"/>
                    </a:solidFill>
                    <a:latin typeface="+mn-lt"/>
                    <a:ea typeface="+mn-ea"/>
                    <a:cs typeface="+mn-cs"/>
                  </a:rPr>
                  <a:t>associativity</a:t>
                </a:r>
                <a:br>
                  <a:rPr lang="en-ZA" sz="1200" kern="1200" dirty="0">
                    <a:solidFill>
                      <a:schemeClr val="tx1"/>
                    </a:solidFill>
                    <a:latin typeface="+mn-lt"/>
                    <a:ea typeface="+mn-ea"/>
                    <a:cs typeface="+mn-cs"/>
                  </a:rPr>
                </a:br>
                <a:r>
                  <a:rPr lang="en-ZA" sz="1200" dirty="0"/>
                  <a:t>Grouping does not affect the sum.</a:t>
                </a:r>
              </a:p>
              <a:p>
                <a:pPr marL="342900" lvl="0" indent="-342900" algn="l">
                  <a:spcAft>
                    <a:spcPts val="800"/>
                  </a:spcAft>
                  <a:buFont typeface="+mj-lt"/>
                  <a:buAutoNum type="arabicPeriod"/>
                </a:pPr>
                <a:endParaRPr lang="en-ZA" sz="1200" kern="1200" dirty="0">
                  <a:solidFill>
                    <a:schemeClr val="tx1"/>
                  </a:solidFill>
                  <a:latin typeface="+mn-lt"/>
                  <a:ea typeface="Times New Roman" panose="02020603050405020304" pitchFamily="18" charset="0"/>
                  <a:cs typeface="Times New Roman" panose="02020603050405020304" pitchFamily="18" charset="0"/>
                </a:endParaRPr>
              </a:p>
              <a:p>
                <a:pPr marL="342900" lvl="0" indent="-342900" algn="l">
                  <a:spcAft>
                    <a:spcPts val="800"/>
                  </a:spcAft>
                  <a:buFont typeface="+mj-lt"/>
                  <a:buAutoNum type="arabicPeriod"/>
                </a:pPr>
                <a14:m>
                  <m:oMath xmlns:m="http://schemas.openxmlformats.org/officeDocument/2006/math">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r>
                      <a:rPr lang="sr-Latn-RS" sz="1200" b="1" i="1">
                        <a:latin typeface="Cambria Math" panose="02040503050406030204" pitchFamily="18" charset="0"/>
                        <a:ea typeface="Times New Roman" panose="02020603050405020304" pitchFamily="18" charset="0"/>
                        <a:cs typeface="Times New Roman" panose="02020603050405020304" pitchFamily="18" charset="0"/>
                      </a:rPr>
                      <m:t>𝟎</m:t>
                    </m:r>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oMath>
                </a14:m>
                <a:r>
                  <a:rPr lang="sr-Latn-RS" sz="1200" dirty="0">
                    <a:latin typeface="Cambria" panose="02040503050406030204" pitchFamily="18" charset="0"/>
                    <a:ea typeface="Times New Roman" panose="02020603050405020304" pitchFamily="18" charset="0"/>
                    <a:cs typeface="Times New Roman" panose="02020603050405020304" pitchFamily="18" charset="0"/>
                  </a:rPr>
                  <a:t>			</a:t>
                </a:r>
                <a:r>
                  <a:rPr lang="en-ZA" sz="1200" b="0" dirty="0">
                    <a:latin typeface="+mn-lt"/>
                    <a:ea typeface="+mn-ea"/>
                    <a:cs typeface="+mn-cs"/>
                  </a:rPr>
                  <a:t>e</a:t>
                </a:r>
                <a:r>
                  <a:rPr lang="en-ZA" sz="1200" b="0" dirty="0"/>
                  <a:t>xistence of a Neutral Element</a:t>
                </a:r>
                <a:r>
                  <a:rPr lang="en-ZA" sz="1200" b="0" kern="1200" dirty="0">
                    <a:solidFill>
                      <a:schemeClr val="tx1"/>
                    </a:solidFill>
                    <a:latin typeface="+mn-lt"/>
                    <a:ea typeface="+mn-ea"/>
                    <a:cs typeface="+mn-cs"/>
                  </a:rPr>
                  <a:t>.</a:t>
                </a:r>
                <a:br>
                  <a:rPr lang="en-ZA" sz="1200" kern="1200" dirty="0">
                    <a:solidFill>
                      <a:schemeClr val="tx1"/>
                    </a:solidFill>
                    <a:latin typeface="+mn-lt"/>
                    <a:ea typeface="+mn-ea"/>
                    <a:cs typeface="+mn-cs"/>
                  </a:rPr>
                </a:br>
                <a:r>
                  <a:rPr lang="en-ZA" sz="1200" dirty="0"/>
                  <a:t>The zero vector </a:t>
                </a:r>
                <a14:m>
                  <m:oMath xmlns:m="http://schemas.openxmlformats.org/officeDocument/2006/math">
                    <m:r>
                      <a:rPr lang="sr-Latn-RS" sz="1200" b="1" i="1" smtClean="0">
                        <a:latin typeface="Cambria Math" panose="02040503050406030204" pitchFamily="18" charset="0"/>
                        <a:ea typeface="Times New Roman" panose="02020603050405020304" pitchFamily="18" charset="0"/>
                        <a:cs typeface="Times New Roman" panose="02020603050405020304" pitchFamily="18" charset="0"/>
                      </a:rPr>
                      <m:t>𝟎</m:t>
                    </m:r>
                  </m:oMath>
                </a14:m>
                <a:r>
                  <a:rPr lang="en-ZA" sz="1200" dirty="0"/>
                  <a:t> acts as an identity element for addition.</a:t>
                </a:r>
              </a:p>
              <a:p>
                <a:pPr marL="342900" lvl="0" indent="-342900" algn="l">
                  <a:spcAft>
                    <a:spcPts val="800"/>
                  </a:spcAft>
                  <a:buFont typeface="+mj-lt"/>
                  <a:buAutoNum type="arabicPeriod"/>
                </a:pPr>
                <a:endParaRPr lang="en-ZA" sz="1200" kern="1200" dirty="0">
                  <a:solidFill>
                    <a:schemeClr val="tx1"/>
                  </a:solidFill>
                  <a:latin typeface="+mn-lt"/>
                  <a:ea typeface="Times New Roman" panose="02020603050405020304" pitchFamily="18" charset="0"/>
                  <a:cs typeface="Times New Roman" panose="02020603050405020304" pitchFamily="18" charset="0"/>
                </a:endParaRPr>
              </a:p>
              <a:p>
                <a:pPr marL="342900" lvl="0" indent="-342900" algn="l">
                  <a:spcAft>
                    <a:spcPts val="800"/>
                  </a:spcAft>
                  <a:buFont typeface="+mj-lt"/>
                  <a:buAutoNum type="arabicPeriod"/>
                </a:pPr>
                <a14:m>
                  <m:oMath xmlns:m="http://schemas.openxmlformats.org/officeDocument/2006/math">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r>
                      <a:rPr lang="sr-Latn-RS" sz="1200" b="1" i="1">
                        <a:latin typeface="Cambria Math" panose="02040503050406030204" pitchFamily="18" charset="0"/>
                        <a:ea typeface="Times New Roman" panose="02020603050405020304" pitchFamily="18" charset="0"/>
                        <a:cs typeface="Times New Roman" panose="02020603050405020304" pitchFamily="18" charset="0"/>
                      </a:rPr>
                      <m:t>+</m:t>
                    </m:r>
                    <m:d>
                      <m:dPr>
                        <m:ctrlPr>
                          <a:rPr lang="en-ZA" sz="1200" b="1"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1200" b="1"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e>
                    </m:d>
                    <m:r>
                      <a:rPr lang="sr-Latn-RS" sz="1200" b="1" i="1">
                        <a:latin typeface="Cambria Math" panose="02040503050406030204" pitchFamily="18" charset="0"/>
                        <a:ea typeface="Times New Roman" panose="02020603050405020304" pitchFamily="18" charset="0"/>
                        <a:cs typeface="Times New Roman" panose="02020603050405020304" pitchFamily="18" charset="0"/>
                      </a:rPr>
                      <m:t>=</m:t>
                    </m:r>
                    <m:d>
                      <m:dPr>
                        <m:ctrlPr>
                          <a:rPr lang="en-ZA" sz="1200" b="1"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1200" b="1"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e>
                    </m:d>
                    <m:r>
                      <a:rPr lang="sr-Latn-RS" sz="1200" b="1"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r>
                      <a:rPr lang="sr-Latn-RS" sz="1200" b="1" i="1">
                        <a:latin typeface="Cambria Math" panose="02040503050406030204" pitchFamily="18" charset="0"/>
                        <a:ea typeface="Times New Roman" panose="02020603050405020304" pitchFamily="18" charset="0"/>
                        <a:cs typeface="Times New Roman" panose="02020603050405020304" pitchFamily="18" charset="0"/>
                      </a:rPr>
                      <m:t>=</m:t>
                    </m:r>
                    <m:r>
                      <a:rPr lang="sr-Latn-RS" sz="1200" b="1" i="1">
                        <a:latin typeface="Cambria Math" panose="02040503050406030204" pitchFamily="18" charset="0"/>
                        <a:ea typeface="Times New Roman" panose="02020603050405020304" pitchFamily="18" charset="0"/>
                        <a:cs typeface="Times New Roman" panose="02020603050405020304" pitchFamily="18" charset="0"/>
                      </a:rPr>
                      <m:t>𝟎</m:t>
                    </m:r>
                  </m:oMath>
                </a14:m>
                <a:r>
                  <a:rPr lang="sr-Latn-RS" sz="1200" dirty="0">
                    <a:latin typeface="Cambria" panose="02040503050406030204" pitchFamily="18" charset="0"/>
                    <a:ea typeface="Times New Roman" panose="02020603050405020304" pitchFamily="18" charset="0"/>
                    <a:cs typeface="Times New Roman" panose="02020603050405020304" pitchFamily="18" charset="0"/>
                  </a:rPr>
                  <a:t>		</a:t>
                </a:r>
                <a:r>
                  <a:rPr lang="en-ZA" sz="1200" kern="1200" dirty="0">
                    <a:solidFill>
                      <a:schemeClr val="tx1"/>
                    </a:solidFill>
                    <a:latin typeface="+mn-lt"/>
                    <a:ea typeface="+mn-ea"/>
                    <a:cs typeface="+mn-cs"/>
                  </a:rPr>
                  <a:t>every vector has its negative</a:t>
                </a:r>
                <a:br>
                  <a:rPr lang="en-ZA" sz="1200" kern="1200" dirty="0">
                    <a:solidFill>
                      <a:schemeClr val="tx1"/>
                    </a:solidFill>
                    <a:latin typeface="+mn-lt"/>
                    <a:ea typeface="+mn-ea"/>
                    <a:cs typeface="+mn-cs"/>
                  </a:rPr>
                </a:br>
                <a:r>
                  <a:rPr lang="en-ZA" sz="1200" dirty="0"/>
                  <a:t>Every vector has an additive inverse (its negative) that results in the zero vector.</a:t>
                </a:r>
              </a:p>
              <a:p>
                <a:pPr marL="342900" lvl="0" indent="-342900" algn="l">
                  <a:spcAft>
                    <a:spcPts val="800"/>
                  </a:spcAft>
                  <a:buFont typeface="+mj-lt"/>
                  <a:buAutoNum type="arabicPeriod"/>
                </a:pPr>
                <a:endParaRPr lang="en-ZA" sz="1200" kern="1200" dirty="0">
                  <a:solidFill>
                    <a:schemeClr val="tx1"/>
                  </a:solidFill>
                  <a:latin typeface="+mn-lt"/>
                  <a:ea typeface="Times New Roman" panose="02020603050405020304" pitchFamily="18" charset="0"/>
                  <a:cs typeface="Times New Roman" panose="02020603050405020304" pitchFamily="18" charset="0"/>
                </a:endParaRPr>
              </a:p>
              <a:p>
                <a:pPr marL="342900" lvl="0" indent="-342900" algn="l">
                  <a:spcAft>
                    <a:spcPts val="800"/>
                  </a:spcAft>
                  <a:buFont typeface="+mj-lt"/>
                  <a:buAutoNum type="arabicPeriod"/>
                </a:pPr>
                <a:r>
                  <a:rPr lang="en-ZA" sz="1200" kern="1200" dirty="0">
                    <a:solidFill>
                      <a:schemeClr val="tx1"/>
                    </a:solidFill>
                    <a:latin typeface="+mn-lt"/>
                    <a:ea typeface="+mn-ea"/>
                    <a:cs typeface="+mn-cs"/>
                  </a:rPr>
                  <a:t>If </a:t>
                </a:r>
                <a14:m>
                  <m:oMath xmlns:m="http://schemas.openxmlformats.org/officeDocument/2006/math">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oMath>
                </a14:m>
                <a:r>
                  <a:rPr lang="en-ZA" sz="1200" kern="1200" dirty="0">
                    <a:solidFill>
                      <a:schemeClr val="tx1"/>
                    </a:solidFill>
                    <a:latin typeface="+mn-lt"/>
                    <a:ea typeface="+mn-ea"/>
                    <a:cs typeface="+mn-cs"/>
                  </a:rPr>
                  <a:t> and </a:t>
                </a:r>
                <a14:m>
                  <m:oMath xmlns:m="http://schemas.openxmlformats.org/officeDocument/2006/math">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𝑏</m:t>
                        </m:r>
                      </m:e>
                    </m:d>
                  </m:oMath>
                </a14:m>
                <a:r>
                  <a:rPr lang="en-ZA" sz="1200" kern="1200" dirty="0">
                    <a:solidFill>
                      <a:schemeClr val="tx1"/>
                    </a:solidFill>
                    <a:latin typeface="+mn-lt"/>
                    <a:ea typeface="+mn-ea"/>
                    <a:cs typeface="+mn-cs"/>
                  </a:rPr>
                  <a:t> belong to a set </a:t>
                </a:r>
                <a14:m>
                  <m:oMath xmlns:m="http://schemas.openxmlformats.org/officeDocument/2006/math">
                    <m:r>
                      <a:rPr lang="sr-Latn-RS" sz="1200" i="1">
                        <a:latin typeface="Cambria Math" panose="02040503050406030204" pitchFamily="18" charset="0"/>
                        <a:ea typeface="Times New Roman" panose="02020603050405020304" pitchFamily="18" charset="0"/>
                        <a:cs typeface="Times New Roman" panose="02020603050405020304" pitchFamily="18" charset="0"/>
                      </a:rPr>
                      <m:t>𝑉</m:t>
                    </m:r>
                  </m:oMath>
                </a14:m>
                <a:r>
                  <a:rPr lang="sr-Latn-RS" sz="1200" kern="1200" dirty="0">
                    <a:solidFill>
                      <a:schemeClr val="tx1"/>
                    </a:solidFill>
                    <a:latin typeface="+mn-lt"/>
                    <a:ea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r>
                      <a:rPr lang="sr-Latn-RS" sz="1200" b="1"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𝑏</m:t>
                        </m:r>
                      </m:e>
                    </m:d>
                    <m:r>
                      <a:rPr lang="sr-Latn-RS" sz="1200" b="1" i="1">
                        <a:latin typeface="Cambria Math" panose="02040503050406030204" pitchFamily="18" charset="0"/>
                        <a:ea typeface="Times New Roman" panose="02020603050405020304" pitchFamily="18" charset="0"/>
                        <a:cs typeface="Times New Roman" panose="02020603050405020304" pitchFamily="18" charset="0"/>
                      </a:rPr>
                      <m:t>∈</m:t>
                    </m:r>
                    <m:r>
                      <a:rPr lang="sr-Latn-RS" sz="1200" i="1">
                        <a:latin typeface="Cambria Math" panose="02040503050406030204" pitchFamily="18" charset="0"/>
                        <a:ea typeface="Times New Roman" panose="02020603050405020304" pitchFamily="18" charset="0"/>
                        <a:cs typeface="Times New Roman" panose="02020603050405020304" pitchFamily="18" charset="0"/>
                      </a:rPr>
                      <m:t>𝑉</m:t>
                    </m:r>
                  </m:oMath>
                </a14:m>
                <a:r>
                  <a:rPr lang="sr-Latn-RS" sz="1200" kern="1200" dirty="0">
                    <a:solidFill>
                      <a:schemeClr val="tx1"/>
                    </a:solidFill>
                    <a:latin typeface="+mn-lt"/>
                    <a:ea typeface="Times New Roman" panose="02020603050405020304" pitchFamily="18" charset="0"/>
                    <a:cs typeface="Times New Roman" panose="02020603050405020304" pitchFamily="18" charset="0"/>
                  </a:rPr>
                  <a:t>)</a:t>
                </a:r>
                <a:r>
                  <a:rPr lang="en-ZA" sz="1200" kern="1200" dirty="0">
                    <a:solidFill>
                      <a:schemeClr val="tx1"/>
                    </a:solidFill>
                    <a:latin typeface="+mn-lt"/>
                    <a:ea typeface="+mn-ea"/>
                    <a:cs typeface="+mn-cs"/>
                  </a:rPr>
                  <a:t>, then their sum </a:t>
                </a:r>
                <a14:m>
                  <m:oMath xmlns:m="http://schemas.openxmlformats.org/officeDocument/2006/math">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𝑏</m:t>
                        </m:r>
                      </m:e>
                    </m:d>
                    <m:r>
                      <a:rPr lang="sr-Latn-RS" sz="1200" b="1" i="1">
                        <a:latin typeface="Cambria Math" panose="02040503050406030204" pitchFamily="18" charset="0"/>
                        <a:ea typeface="Times New Roman" panose="02020603050405020304" pitchFamily="18" charset="0"/>
                        <a:cs typeface="Times New Roman" panose="02020603050405020304" pitchFamily="18" charset="0"/>
                      </a:rPr>
                      <m:t>)</m:t>
                    </m:r>
                  </m:oMath>
                </a14:m>
                <a:r>
                  <a:rPr lang="en-ZA" sz="1200" kern="1200" dirty="0">
                    <a:solidFill>
                      <a:schemeClr val="tx1"/>
                    </a:solidFill>
                    <a:latin typeface="+mn-lt"/>
                    <a:ea typeface="+mn-ea"/>
                    <a:cs typeface="+mn-cs"/>
                  </a:rPr>
                  <a:t> also belongs to </a:t>
                </a:r>
                <a14:m>
                  <m:oMath xmlns:m="http://schemas.openxmlformats.org/officeDocument/2006/math">
                    <m:r>
                      <a:rPr lang="sr-Latn-RS" sz="1200" i="1">
                        <a:latin typeface="Cambria Math" panose="02040503050406030204" pitchFamily="18" charset="0"/>
                        <a:ea typeface="Times New Roman" panose="02020603050405020304" pitchFamily="18" charset="0"/>
                        <a:cs typeface="Times New Roman" panose="02020603050405020304" pitchFamily="18" charset="0"/>
                      </a:rPr>
                      <m:t>𝑉</m:t>
                    </m:r>
                  </m:oMath>
                </a14:m>
                <a:r>
                  <a:rPr lang="en-ZA" sz="1200" kern="1200" dirty="0">
                    <a:solidFill>
                      <a:schemeClr val="tx1"/>
                    </a:solidFill>
                    <a:latin typeface="+mn-lt"/>
                    <a:ea typeface="+mn-ea"/>
                    <a:cs typeface="+mn-cs"/>
                  </a:rPr>
                  <a:t>. This means vector addition is a </a:t>
                </a:r>
                <a:r>
                  <a:rPr lang="en-ZA" sz="1200" b="0" kern="1200" dirty="0">
                    <a:solidFill>
                      <a:schemeClr val="tx1"/>
                    </a:solidFill>
                    <a:latin typeface="+mn-lt"/>
                    <a:ea typeface="+mn-ea"/>
                    <a:cs typeface="+mn-cs"/>
                  </a:rPr>
                  <a:t>closed operation </a:t>
                </a:r>
                <a:r>
                  <a:rPr lang="en-ZA" sz="1200" kern="1200" dirty="0">
                    <a:solidFill>
                      <a:schemeClr val="tx1"/>
                    </a:solidFill>
                    <a:latin typeface="+mn-lt"/>
                    <a:ea typeface="+mn-ea"/>
                    <a:cs typeface="+mn-cs"/>
                  </a:rPr>
                  <a:t>within the set</a:t>
                </a:r>
                <a:r>
                  <a:rPr lang="en-ZA" sz="1200" dirty="0"/>
                  <a:t>. </a:t>
                </a:r>
              </a:p>
              <a:p>
                <a:pPr marL="342900" lvl="0" indent="-342900" algn="l">
                  <a:spcAft>
                    <a:spcPts val="800"/>
                  </a:spcAft>
                  <a:buFont typeface="+mj-lt"/>
                  <a:buAutoNum type="arabicPeriod"/>
                </a:pPr>
                <a:endParaRPr lang="en-ZA" sz="1200" dirty="0">
                  <a:latin typeface="Cambria" panose="02040503050406030204" pitchFamily="18" charset="0"/>
                  <a:ea typeface="Times New Roman" panose="02020603050405020304" pitchFamily="18" charset="0"/>
                  <a:cs typeface="Times New Roman" panose="02020603050405020304" pitchFamily="18" charset="0"/>
                </a:endParaRPr>
              </a:p>
              <a:p>
                <a:pPr algn="l">
                  <a:spcAft>
                    <a:spcPts val="1200"/>
                  </a:spcAft>
                </a:pPr>
                <a:r>
                  <a:rPr lang="en-ZA" sz="1200" dirty="0"/>
                  <a:t>Linearity: properties of scalar multiplication and vector addition</a:t>
                </a:r>
              </a:p>
              <a:p>
                <a:pPr algn="l">
                  <a:spcAft>
                    <a:spcPts val="1200"/>
                  </a:spcAft>
                </a:pPr>
                <a:endParaRPr lang="en-ZA" sz="1200" b="1" dirty="0">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l">
                  <a:spcAft>
                    <a:spcPts val="800"/>
                  </a:spcAft>
                  <a:buFont typeface="+mj-lt"/>
                  <a:buAutoNum type="arabicPeriod"/>
                </a:pPr>
                <a14:m>
                  <m:oMath xmlns:m="http://schemas.openxmlformats.org/officeDocument/2006/math">
                    <m:d>
                      <m:dPr>
                        <m:ctrlPr>
                          <a:rPr lang="en-ZA" sz="1200" b="1"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1</m:t>
                            </m:r>
                          </m:sub>
                        </m:sSub>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2</m:t>
                            </m:r>
                          </m:sub>
                        </m:sSub>
                      </m:e>
                    </m:d>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r>
                      <a:rPr lang="sr-Latn-RS" sz="1200" b="1"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1</m:t>
                        </m:r>
                      </m:sub>
                    </m:sSub>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2</m:t>
                        </m:r>
                      </m:sub>
                    </m:sSub>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oMath>
                </a14:m>
                <a:r>
                  <a:rPr lang="sr-Latn-RS" sz="1200" dirty="0">
                    <a:latin typeface="Cambria" panose="02040503050406030204" pitchFamily="18" charset="0"/>
                    <a:ea typeface="Times New Roman" panose="02020603050405020304" pitchFamily="18" charset="0"/>
                    <a:cs typeface="Times New Roman" panose="02020603050405020304" pitchFamily="18" charset="0"/>
                  </a:rPr>
                  <a:t>	</a:t>
                </a:r>
                <a:r>
                  <a:rPr lang="sr-Latn-RS" sz="1200" b="1" dirty="0">
                    <a:latin typeface="Cambria" panose="02040503050406030204" pitchFamily="18" charset="0"/>
                    <a:ea typeface="Times New Roman" panose="02020603050405020304" pitchFamily="18" charset="0"/>
                    <a:cs typeface="Times New Roman" panose="02020603050405020304" pitchFamily="18" charset="0"/>
                  </a:rPr>
                  <a:t>	</a:t>
                </a:r>
                <a:r>
                  <a:rPr lang="en-ZA" sz="1200" kern="1200" dirty="0">
                    <a:solidFill>
                      <a:schemeClr val="tx1"/>
                    </a:solidFill>
                    <a:latin typeface="+mn-lt"/>
                    <a:ea typeface="+mn-ea"/>
                    <a:cs typeface="+mn-cs"/>
                  </a:rPr>
                  <a:t>distributivity of scalar addition</a:t>
                </a:r>
                <a:br>
                  <a:rPr lang="en-ZA" sz="1200" kern="1200" dirty="0">
                    <a:solidFill>
                      <a:schemeClr val="tx1"/>
                    </a:solidFill>
                    <a:latin typeface="+mn-lt"/>
                    <a:ea typeface="+mn-ea"/>
                    <a:cs typeface="+mn-cs"/>
                  </a:rPr>
                </a:br>
                <a:r>
                  <a:rPr lang="en-ZA" sz="1200" dirty="0"/>
                  <a:t>A sum of scalars multiplying a vector distributes over the scalars.</a:t>
                </a:r>
              </a:p>
              <a:p>
                <a:pPr marL="342900" lvl="0" indent="-342900" algn="l">
                  <a:spcAft>
                    <a:spcPts val="800"/>
                  </a:spcAft>
                  <a:buFont typeface="+mj-lt"/>
                  <a:buAutoNum type="arabicPeriod"/>
                </a:pPr>
                <a:endParaRPr lang="en-ZA" sz="1200" kern="1200" dirty="0">
                  <a:solidFill>
                    <a:schemeClr val="tx1"/>
                  </a:solidFill>
                  <a:latin typeface="+mn-lt"/>
                  <a:ea typeface="Times New Roman" panose="02020603050405020304" pitchFamily="18" charset="0"/>
                  <a:cs typeface="Times New Roman" panose="02020603050405020304" pitchFamily="18" charset="0"/>
                </a:endParaRPr>
              </a:p>
              <a:p>
                <a:pPr marL="342900" lvl="0" indent="-342900" algn="l">
                  <a:spcAft>
                    <a:spcPts val="800"/>
                  </a:spcAft>
                  <a:buFont typeface="+mj-lt"/>
                  <a:buAutoNum type="arabicPeriod"/>
                </a:pPr>
                <a14:m>
                  <m:oMath xmlns:m="http://schemas.openxmlformats.org/officeDocument/2006/math">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lang="en-ZA" sz="1200" b="1" i="1">
                            <a:latin typeface="Cambria Math" panose="02040503050406030204" pitchFamily="18" charset="0"/>
                            <a:ea typeface="Times New Roman" panose="02020603050405020304" pitchFamily="18" charset="0"/>
                            <a:cs typeface="Times New Roman" panose="02020603050405020304" pitchFamily="18" charset="0"/>
                          </a:rPr>
                        </m:ctrlPr>
                      </m:dPr>
                      <m:e>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r>
                          <a:rPr lang="sr-Latn-RS" sz="1200" b="1"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𝑏</m:t>
                            </m:r>
                          </m:e>
                        </m:d>
                      </m:e>
                    </m:d>
                    <m:r>
                      <a:rPr lang="sr-Latn-RS" sz="1200" b="1"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1</m:t>
                        </m:r>
                      </m:sub>
                    </m:sSub>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r>
                      <a:rPr lang="sr-Latn-RS" sz="1200" b="1"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1</m:t>
                        </m:r>
                      </m:sub>
                    </m:sSub>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𝑏</m:t>
                        </m:r>
                      </m:e>
                    </m:d>
                  </m:oMath>
                </a14:m>
                <a:r>
                  <a:rPr lang="sr-Latn-RS" sz="1200" dirty="0">
                    <a:latin typeface="Cambria" panose="02040503050406030204" pitchFamily="18" charset="0"/>
                    <a:ea typeface="Times New Roman" panose="02020603050405020304" pitchFamily="18" charset="0"/>
                    <a:cs typeface="Times New Roman" panose="02020603050405020304" pitchFamily="18" charset="0"/>
                  </a:rPr>
                  <a:t>		</a:t>
                </a:r>
                <a:r>
                  <a:rPr lang="en-ZA" sz="1200" kern="1200" dirty="0">
                    <a:solidFill>
                      <a:schemeClr val="tx1"/>
                    </a:solidFill>
                    <a:latin typeface="+mn-lt"/>
                    <a:ea typeface="+mn-ea"/>
                    <a:cs typeface="+mn-cs"/>
                  </a:rPr>
                  <a:t>distributivity of vector addition</a:t>
                </a:r>
                <a:br>
                  <a:rPr lang="en-ZA" sz="1200" kern="1200" dirty="0">
                    <a:solidFill>
                      <a:schemeClr val="tx1"/>
                    </a:solidFill>
                    <a:latin typeface="+mn-lt"/>
                    <a:ea typeface="+mn-ea"/>
                    <a:cs typeface="+mn-cs"/>
                  </a:rPr>
                </a:br>
                <a:r>
                  <a:rPr lang="en-ZA" sz="1200" dirty="0"/>
                  <a:t>A scalar multiplying a sum of vectors distributes over the vectors.</a:t>
                </a:r>
              </a:p>
              <a:p>
                <a:pPr marL="342900" lvl="0" indent="-342900" algn="l">
                  <a:spcAft>
                    <a:spcPts val="800"/>
                  </a:spcAft>
                  <a:buFont typeface="+mj-lt"/>
                  <a:buAutoNum type="arabicPeriod"/>
                </a:pPr>
                <a:endParaRPr lang="en-ZA" sz="1200" kern="1200" dirty="0">
                  <a:solidFill>
                    <a:schemeClr val="tx1"/>
                  </a:solidFill>
                  <a:latin typeface="+mn-lt"/>
                  <a:ea typeface="Times New Roman" panose="02020603050405020304" pitchFamily="18" charset="0"/>
                  <a:cs typeface="Times New Roman" panose="02020603050405020304" pitchFamily="18" charset="0"/>
                </a:endParaRPr>
              </a:p>
              <a:p>
                <a:pPr marL="342900" lvl="0" indent="-342900" algn="l">
                  <a:spcAft>
                    <a:spcPts val="800"/>
                  </a:spcAft>
                  <a:buFont typeface="+mj-lt"/>
                  <a:buAutoNum type="arabicPeriod"/>
                </a:pPr>
                <a14:m>
                  <m:oMath xmlns:m="http://schemas.openxmlformats.org/officeDocument/2006/math">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1</m:t>
                        </m:r>
                      </m:sub>
                    </m:sSub>
                    <m:r>
                      <a:rPr lang="sr-Latn-RS" sz="1200" b="1"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2</m:t>
                        </m:r>
                      </m:sub>
                    </m:sSub>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r>
                      <a:rPr lang="sr-Latn-RS" sz="1200" b="1"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1</m:t>
                        </m:r>
                      </m:sub>
                    </m:sSub>
                    <m:sSub>
                      <m:sSubPr>
                        <m:ctrlPr>
                          <a:rPr lang="en-ZA" sz="1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1200" i="1">
                            <a:latin typeface="Cambria Math" panose="02040503050406030204" pitchFamily="18" charset="0"/>
                            <a:ea typeface="Times New Roman" panose="02020603050405020304" pitchFamily="18" charset="0"/>
                            <a:cs typeface="Times New Roman" panose="02020603050405020304" pitchFamily="18" charset="0"/>
                          </a:rPr>
                          <m:t>2</m:t>
                        </m:r>
                      </m:sub>
                    </m:sSub>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𝑎</m:t>
                        </m:r>
                      </m:e>
                    </m:d>
                  </m:oMath>
                </a14:m>
                <a:r>
                  <a:rPr lang="sr-Latn-RS" sz="1200" b="1" dirty="0">
                    <a:latin typeface="Cambria" panose="02040503050406030204" pitchFamily="18" charset="0"/>
                    <a:ea typeface="Times New Roman" panose="02020603050405020304" pitchFamily="18" charset="0"/>
                    <a:cs typeface="Times New Roman" panose="02020603050405020304" pitchFamily="18" charset="0"/>
                  </a:rPr>
                  <a:t>		</a:t>
                </a:r>
                <a:r>
                  <a:rPr lang="en-ZA" sz="1200" kern="1200" dirty="0">
                    <a:solidFill>
                      <a:schemeClr val="tx1"/>
                    </a:solidFill>
                    <a:latin typeface="+mn-lt"/>
                    <a:ea typeface="+mn-ea"/>
                    <a:cs typeface="+mn-cs"/>
                  </a:rPr>
                  <a:t>associativity of scalar multiplication</a:t>
                </a:r>
                <a:br>
                  <a:rPr lang="en-ZA" sz="1200" kern="1200" dirty="0">
                    <a:solidFill>
                      <a:schemeClr val="tx1"/>
                    </a:solidFill>
                    <a:latin typeface="+mn-lt"/>
                    <a:ea typeface="+mn-ea"/>
                    <a:cs typeface="+mn-cs"/>
                  </a:rPr>
                </a:br>
                <a:r>
                  <a:rPr lang="en-ZA" sz="1200" dirty="0"/>
                  <a:t>The order of scalar multiplication does not affect the result.</a:t>
                </a:r>
                <a:endParaRPr lang="en-ZA" sz="12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800"/>
                  </a:spcAft>
                  <a:buClrTx/>
                  <a:buSzTx/>
                  <a:buFont typeface="+mj-lt"/>
                  <a:buNone/>
                  <a:tabLst/>
                  <a:defRPr/>
                </a:pPr>
                <a:endParaRPr lang="en-ZA" sz="1200" dirty="0"/>
              </a:p>
              <a:p>
                <a:pPr marL="0" marR="0" lvl="0" indent="0" algn="l" defTabSz="914400" rtl="0" eaLnBrk="1" fontAlgn="auto" latinLnBrk="0" hangingPunct="1">
                  <a:lnSpc>
                    <a:spcPct val="100000"/>
                  </a:lnSpc>
                  <a:spcBef>
                    <a:spcPts val="0"/>
                  </a:spcBef>
                  <a:spcAft>
                    <a:spcPts val="800"/>
                  </a:spcAft>
                  <a:buClrTx/>
                  <a:buSzTx/>
                  <a:buFont typeface="+mj-lt"/>
                  <a:buNone/>
                  <a:tabLst/>
                  <a:defRPr/>
                </a:pPr>
                <a:r>
                  <a:rPr lang="en-ZA" sz="1200" b="0" dirty="0"/>
                  <a:t>These properties are fundamental in linear algebra and quantum computing, where vectors represent quantum states, and operations on them obey these algebraic rules.</a:t>
                </a:r>
              </a:p>
              <a:p>
                <a:pPr marL="342900" lvl="0" indent="-342900" algn="l">
                  <a:spcAft>
                    <a:spcPts val="800"/>
                  </a:spcAft>
                  <a:buFont typeface="+mj-lt"/>
                  <a:buAutoNum type="arabicPeriod"/>
                </a:pPr>
                <a:endParaRPr lang="en-ZA" sz="1200" kern="1200" dirty="0">
                  <a:solidFill>
                    <a:schemeClr val="tx1"/>
                  </a:solidFill>
                  <a:latin typeface="+mn-lt"/>
                  <a:ea typeface="Times New Roman" panose="02020603050405020304" pitchFamily="18" charset="0"/>
                  <a:cs typeface="Times New Roman" panose="02020603050405020304" pitchFamily="18" charset="0"/>
                </a:endParaRPr>
              </a:p>
            </p:txBody>
          </p:sp>
        </mc:Choice>
        <mc:Fallback xmlns="">
          <p:sp>
            <p:nvSpPr>
              <p:cNvPr id="3" name="Notes Placeholder 2"/>
              <p:cNvSpPr>
                <a:spLocks noGrp="1"/>
              </p:cNvSpPr>
              <p:nvPr>
                <p:ph type="body" idx="1"/>
              </p:nvPr>
            </p:nvSpPr>
            <p:spPr/>
            <p:txBody>
              <a:bodyPr/>
              <a:lstStyle/>
              <a:p>
                <a:pPr algn="just">
                  <a:spcAft>
                    <a:spcPts val="1200"/>
                  </a:spcAft>
                </a:pPr>
                <a:r>
                  <a:rPr lang="sr-Latn-RS" sz="1200" dirty="0">
                    <a:latin typeface="Cambria" panose="02040503050406030204" pitchFamily="18" charset="0"/>
                    <a:ea typeface="Times New Roman" panose="02020603050405020304" pitchFamily="18" charset="0"/>
                    <a:cs typeface="Times New Roman" panose="02020603050405020304" pitchFamily="18" charset="0"/>
                  </a:rPr>
                  <a:t>Sabiranje vektora ima sledeće osobine:</a:t>
                </a:r>
                <a:endParaRPr lang="en-ZA" sz="1200" dirty="0">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mj-lt"/>
                  <a:buAutoNum type="arabicPeriod"/>
                </a:pP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𝒂</a:t>
                </a:r>
                <a:r>
                  <a:rPr lang="sr-Latn-RS" sz="1200" i="0">
                    <a:latin typeface="Cambria Math" panose="02040503050406030204" pitchFamily="18" charset="0"/>
                    <a:ea typeface="Times New Roman" panose="02020603050405020304" pitchFamily="18" charset="0"/>
                    <a:cs typeface="Times New Roman" panose="02020603050405020304" pitchFamily="18" charset="0"/>
                  </a:rPr>
                  <a:t>+</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𝒃</a:t>
                </a:r>
                <a:r>
                  <a:rPr lang="sr-Latn-RS" sz="1200" i="0">
                    <a:latin typeface="Cambria Math" panose="02040503050406030204" pitchFamily="18" charset="0"/>
                    <a:ea typeface="Times New Roman" panose="02020603050405020304" pitchFamily="18" charset="0"/>
                    <a:cs typeface="Times New Roman" panose="02020603050405020304" pitchFamily="18" charset="0"/>
                  </a:rPr>
                  <a:t>=</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𝒃</a:t>
                </a:r>
                <a:r>
                  <a:rPr lang="sr-Latn-RS" sz="1200" i="0">
                    <a:latin typeface="Cambria Math" panose="02040503050406030204" pitchFamily="18" charset="0"/>
                    <a:ea typeface="Times New Roman" panose="02020603050405020304" pitchFamily="18" charset="0"/>
                    <a:cs typeface="Times New Roman" panose="02020603050405020304" pitchFamily="18" charset="0"/>
                  </a:rPr>
                  <a:t>+</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𝒂</a:t>
                </a:r>
                <a:r>
                  <a:rPr lang="sr-Latn-RS" sz="1200" dirty="0">
                    <a:latin typeface="Cambria" panose="02040503050406030204" pitchFamily="18" charset="0"/>
                    <a:ea typeface="Times New Roman" panose="02020603050405020304" pitchFamily="18" charset="0"/>
                    <a:cs typeface="Times New Roman" panose="02020603050405020304" pitchFamily="18" charset="0"/>
                  </a:rPr>
                  <a:t>		</a:t>
                </a:r>
                <a:r>
                  <a:rPr lang="sr-Latn-RS" sz="1200" dirty="0" err="1">
                    <a:latin typeface="Cambria" panose="02040503050406030204" pitchFamily="18" charset="0"/>
                    <a:ea typeface="Times New Roman" panose="02020603050405020304" pitchFamily="18" charset="0"/>
                    <a:cs typeface="Times New Roman" panose="02020603050405020304" pitchFamily="18" charset="0"/>
                  </a:rPr>
                  <a:t>komutativnost</a:t>
                </a:r>
                <a:endParaRPr lang="en-ZA" sz="1200" dirty="0">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mj-lt"/>
                  <a:buAutoNum type="arabicPeriod"/>
                </a:pPr>
                <a:r>
                  <a:rPr lang="en-ZA" sz="1200" i="0">
                    <a:latin typeface="Cambria Math" panose="02040503050406030204" pitchFamily="18" charset="0"/>
                    <a:cs typeface="Times New Roman" panose="02020603050405020304" pitchFamily="18" charset="0"/>
                  </a:rPr>
                  <a:t>(</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𝒂</a:t>
                </a:r>
                <a:r>
                  <a:rPr lang="sr-Latn-RS" sz="1200" i="0">
                    <a:latin typeface="Cambria Math" panose="02040503050406030204" pitchFamily="18" charset="0"/>
                    <a:ea typeface="Times New Roman" panose="02020603050405020304" pitchFamily="18" charset="0"/>
                    <a:cs typeface="Times New Roman" panose="02020603050405020304" pitchFamily="18" charset="0"/>
                  </a:rPr>
                  <a:t>+</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𝒃)</a:t>
                </a:r>
                <a:r>
                  <a:rPr lang="sr-Latn-RS" sz="1200" i="0">
                    <a:latin typeface="Cambria Math" panose="02040503050406030204" pitchFamily="18" charset="0"/>
                    <a:ea typeface="Times New Roman" panose="02020603050405020304" pitchFamily="18" charset="0"/>
                    <a:cs typeface="Times New Roman" panose="02020603050405020304" pitchFamily="18" charset="0"/>
                  </a:rPr>
                  <a:t>+</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𝒄</a:t>
                </a:r>
                <a:r>
                  <a:rPr lang="sr-Latn-RS" sz="1200" i="0">
                    <a:latin typeface="Cambria Math" panose="02040503050406030204" pitchFamily="18" charset="0"/>
                    <a:ea typeface="Times New Roman" panose="02020603050405020304" pitchFamily="18" charset="0"/>
                    <a:cs typeface="Times New Roman" panose="02020603050405020304" pitchFamily="18" charset="0"/>
                  </a:rPr>
                  <a:t>=</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𝒂</a:t>
                </a:r>
                <a:r>
                  <a:rPr lang="sr-Latn-RS" sz="1200" i="0">
                    <a:latin typeface="Cambria Math" panose="02040503050406030204" pitchFamily="18" charset="0"/>
                    <a:ea typeface="Times New Roman" panose="02020603050405020304" pitchFamily="18" charset="0"/>
                    <a:cs typeface="Times New Roman" panose="02020603050405020304" pitchFamily="18" charset="0"/>
                  </a:rPr>
                  <a:t>+(</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𝒃</a:t>
                </a:r>
                <a:r>
                  <a:rPr lang="sr-Latn-RS" sz="1200" i="0">
                    <a:latin typeface="Cambria Math" panose="02040503050406030204" pitchFamily="18" charset="0"/>
                    <a:ea typeface="Times New Roman" panose="02020603050405020304" pitchFamily="18" charset="0"/>
                    <a:cs typeface="Times New Roman" panose="02020603050405020304" pitchFamily="18" charset="0"/>
                  </a:rPr>
                  <a:t>+</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𝒄</a:t>
                </a:r>
                <a:r>
                  <a:rPr lang="sr-Latn-RS" sz="1200" i="0">
                    <a:latin typeface="Cambria Math" panose="02040503050406030204" pitchFamily="18" charset="0"/>
                    <a:ea typeface="Times New Roman" panose="02020603050405020304" pitchFamily="18" charset="0"/>
                    <a:cs typeface="Times New Roman" panose="02020603050405020304" pitchFamily="18" charset="0"/>
                  </a:rPr>
                  <a:t>)</a:t>
                </a:r>
                <a:r>
                  <a:rPr lang="sr-Latn-RS" sz="1200" dirty="0">
                    <a:latin typeface="Cambria" panose="02040503050406030204" pitchFamily="18" charset="0"/>
                    <a:ea typeface="Times New Roman" panose="02020603050405020304" pitchFamily="18" charset="0"/>
                    <a:cs typeface="Times New Roman" panose="02020603050405020304" pitchFamily="18" charset="0"/>
                  </a:rPr>
                  <a:t>	asocijativnost</a:t>
                </a:r>
                <a:endParaRPr lang="en-ZA" sz="1200" dirty="0">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mj-lt"/>
                  <a:buAutoNum type="arabicPeriod"/>
                </a:pP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𝒂</a:t>
                </a:r>
                <a:r>
                  <a:rPr lang="sr-Latn-RS" sz="1200" i="0">
                    <a:latin typeface="Cambria Math" panose="02040503050406030204" pitchFamily="18" charset="0"/>
                    <a:ea typeface="Times New Roman" panose="02020603050405020304" pitchFamily="18" charset="0"/>
                    <a:cs typeface="Times New Roman" panose="02020603050405020304" pitchFamily="18" charset="0"/>
                  </a:rPr>
                  <a:t>+</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𝟎</a:t>
                </a:r>
                <a:r>
                  <a:rPr lang="sr-Latn-RS" sz="1200" i="0">
                    <a:latin typeface="Cambria Math" panose="02040503050406030204" pitchFamily="18" charset="0"/>
                    <a:ea typeface="Times New Roman" panose="02020603050405020304" pitchFamily="18" charset="0"/>
                    <a:cs typeface="Times New Roman" panose="02020603050405020304" pitchFamily="18" charset="0"/>
                  </a:rPr>
                  <a:t>=</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𝒂</a:t>
                </a:r>
                <a:r>
                  <a:rPr lang="sr-Latn-RS" sz="1200" dirty="0">
                    <a:latin typeface="Cambria" panose="02040503050406030204" pitchFamily="18" charset="0"/>
                    <a:ea typeface="Times New Roman" panose="02020603050405020304" pitchFamily="18" charset="0"/>
                    <a:cs typeface="Times New Roman" panose="02020603050405020304" pitchFamily="18" charset="0"/>
                  </a:rPr>
                  <a:t>		</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𝟎</a:t>
                </a:r>
                <a:r>
                  <a:rPr lang="sr-Latn-RS" sz="1200" dirty="0">
                    <a:latin typeface="Cambria" panose="02040503050406030204" pitchFamily="18" charset="0"/>
                    <a:ea typeface="Times New Roman" panose="02020603050405020304" pitchFamily="18" charset="0"/>
                    <a:cs typeface="Times New Roman" panose="02020603050405020304" pitchFamily="18" charset="0"/>
                  </a:rPr>
                  <a:t>  vektor je neutralni element sabiranja</a:t>
                </a:r>
                <a:endParaRPr lang="en-ZA" sz="1200" dirty="0">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mj-lt"/>
                  <a:buAutoNum type="arabicPeriod"/>
                </a:pP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𝒂+</a:t>
                </a:r>
                <a:r>
                  <a:rPr lang="en-ZA" sz="1200" b="1" i="0">
                    <a:latin typeface="Cambria Math" panose="02040503050406030204" pitchFamily="18" charset="0"/>
                    <a:cs typeface="Times New Roman" panose="02020603050405020304" pitchFamily="18" charset="0"/>
                  </a:rPr>
                  <a:t>(</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−𝒂)=</a:t>
                </a:r>
                <a:r>
                  <a:rPr lang="en-ZA" sz="1200" b="1" i="0">
                    <a:latin typeface="Cambria Math" panose="02040503050406030204" pitchFamily="18" charset="0"/>
                    <a:cs typeface="Times New Roman" panose="02020603050405020304" pitchFamily="18" charset="0"/>
                  </a:rPr>
                  <a:t>(</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−𝒂)+𝒂=𝟎</a:t>
                </a:r>
                <a:r>
                  <a:rPr lang="sr-Latn-RS" sz="1200" dirty="0">
                    <a:latin typeface="Cambria" panose="02040503050406030204" pitchFamily="18" charset="0"/>
                    <a:ea typeface="Times New Roman" panose="02020603050405020304" pitchFamily="18" charset="0"/>
                    <a:cs typeface="Times New Roman" panose="02020603050405020304" pitchFamily="18" charset="0"/>
                  </a:rPr>
                  <a:t>	za svaki vektor postoji inverzan vektor</a:t>
                </a:r>
                <a:endParaRPr lang="en-ZA" sz="1200" dirty="0">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mj-lt"/>
                  <a:buAutoNum type="arabicPeriod"/>
                </a:pPr>
                <a:r>
                  <a:rPr lang="sr-Latn-RS" sz="1200" dirty="0">
                    <a:latin typeface="Cambria" panose="02040503050406030204" pitchFamily="18" charset="0"/>
                    <a:ea typeface="Times New Roman" panose="02020603050405020304" pitchFamily="18" charset="0"/>
                    <a:cs typeface="Times New Roman" panose="02020603050405020304" pitchFamily="18" charset="0"/>
                  </a:rPr>
                  <a:t>Ako </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𝒂</a:t>
                </a:r>
                <a:r>
                  <a:rPr lang="sr-Latn-RS" sz="1200" dirty="0">
                    <a:latin typeface="Cambria" panose="02040503050406030204" pitchFamily="18" charset="0"/>
                    <a:ea typeface="Times New Roman" panose="02020603050405020304" pitchFamily="18" charset="0"/>
                    <a:cs typeface="Times New Roman" panose="02020603050405020304" pitchFamily="18" charset="0"/>
                  </a:rPr>
                  <a:t> i </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𝒃</a:t>
                </a:r>
                <a:r>
                  <a:rPr lang="sr-Latn-RS" sz="1200" dirty="0">
                    <a:latin typeface="Cambria" panose="02040503050406030204" pitchFamily="18" charset="0"/>
                    <a:ea typeface="Times New Roman" panose="02020603050405020304" pitchFamily="18" charset="0"/>
                    <a:cs typeface="Times New Roman" panose="02020603050405020304" pitchFamily="18" charset="0"/>
                  </a:rPr>
                  <a:t> pripada nekom skupu </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𝑉</a:t>
                </a:r>
                <a:r>
                  <a:rPr lang="sr-Latn-RS" sz="1200" dirty="0">
                    <a:latin typeface="Cambria" panose="02040503050406030204" pitchFamily="18" charset="0"/>
                    <a:ea typeface="Times New Roman" panose="02020603050405020304" pitchFamily="18" charset="0"/>
                    <a:cs typeface="Times New Roman" panose="02020603050405020304" pitchFamily="18" charset="0"/>
                  </a:rPr>
                  <a:t> (</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𝒂,𝒃∈</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𝑉</a:t>
                </a:r>
                <a:r>
                  <a:rPr lang="sr-Latn-RS" sz="1200" dirty="0">
                    <a:latin typeface="Cambria" panose="02040503050406030204" pitchFamily="18" charset="0"/>
                    <a:ea typeface="Times New Roman" panose="02020603050405020304" pitchFamily="18" charset="0"/>
                    <a:cs typeface="Times New Roman" panose="02020603050405020304" pitchFamily="18" charset="0"/>
                  </a:rPr>
                  <a:t>) tada zbir </a:t>
                </a:r>
                <a:r>
                  <a:rPr lang="sr-Latn-RS" sz="1200" i="0">
                    <a:latin typeface="Cambria Math" panose="02040503050406030204" pitchFamily="18" charset="0"/>
                    <a:ea typeface="Times New Roman" panose="02020603050405020304" pitchFamily="18" charset="0"/>
                    <a:cs typeface="Times New Roman" panose="02020603050405020304" pitchFamily="18" charset="0"/>
                  </a:rPr>
                  <a:t>(</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𝒂</a:t>
                </a:r>
                <a:r>
                  <a:rPr lang="sr-Latn-RS" sz="1200" i="0">
                    <a:latin typeface="Cambria Math" panose="02040503050406030204" pitchFamily="18" charset="0"/>
                    <a:ea typeface="Times New Roman" panose="02020603050405020304" pitchFamily="18" charset="0"/>
                    <a:cs typeface="Times New Roman" panose="02020603050405020304" pitchFamily="18" charset="0"/>
                  </a:rPr>
                  <a:t>+</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𝒃)</a:t>
                </a:r>
                <a:r>
                  <a:rPr lang="sr-Latn-RS" sz="1200" dirty="0">
                    <a:latin typeface="Cambria" panose="02040503050406030204" pitchFamily="18" charset="0"/>
                    <a:ea typeface="Times New Roman" panose="02020603050405020304" pitchFamily="18" charset="0"/>
                    <a:cs typeface="Times New Roman" panose="02020603050405020304" pitchFamily="18" charset="0"/>
                  </a:rPr>
                  <a:t> takođe pripada istom skupu i kaže se da je sabiranje vektora unutrašnja operacija tog skupa. Karakteristika zatvorenosti obezbeđuje da rezultat sabiranja vektora ostaje unutar istog skupa.</a:t>
                </a:r>
              </a:p>
              <a:p>
                <a:pPr marL="342900" lvl="0" indent="-342900" algn="just">
                  <a:spcAft>
                    <a:spcPts val="800"/>
                  </a:spcAft>
                  <a:buFont typeface="+mj-lt"/>
                  <a:buAutoNum type="arabicPeriod"/>
                </a:pPr>
                <a:endParaRPr lang="en-ZA" sz="1200" dirty="0">
                  <a:latin typeface="Cambria" panose="02040503050406030204" pitchFamily="18" charset="0"/>
                  <a:ea typeface="Times New Roman" panose="02020603050405020304" pitchFamily="18" charset="0"/>
                  <a:cs typeface="Times New Roman" panose="02020603050405020304" pitchFamily="18" charset="0"/>
                </a:endParaRPr>
              </a:p>
              <a:p>
                <a:pPr algn="just">
                  <a:spcAft>
                    <a:spcPts val="1200"/>
                  </a:spcAft>
                </a:pPr>
                <a:r>
                  <a:rPr lang="sr-Latn-RS" sz="1200" dirty="0">
                    <a:latin typeface="Cambria" panose="02040503050406030204" pitchFamily="18" charset="0"/>
                    <a:ea typeface="Times New Roman" panose="02020603050405020304" pitchFamily="18" charset="0"/>
                    <a:cs typeface="Times New Roman" panose="02020603050405020304" pitchFamily="18" charset="0"/>
                  </a:rPr>
                  <a:t>Množenje skalarom i sabiranje vektora pokazuju i sledeće osobine linearnosti:</a:t>
                </a:r>
              </a:p>
              <a:p>
                <a:pPr algn="just">
                  <a:spcAft>
                    <a:spcPts val="1200"/>
                  </a:spcAft>
                </a:pPr>
                <a:endParaRPr lang="en-ZA" sz="1200" dirty="0">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mj-lt"/>
                  <a:buAutoNum type="arabicPeriod"/>
                </a:pPr>
                <a:r>
                  <a:rPr lang="en-ZA" sz="1200" b="1" i="0">
                    <a:latin typeface="Cambria Math" panose="02040503050406030204" pitchFamily="18" charset="0"/>
                    <a:cs typeface="Times New Roman" panose="02020603050405020304" pitchFamily="18" charset="0"/>
                  </a:rPr>
                  <a:t>(</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𝑘</a:t>
                </a:r>
                <a:r>
                  <a:rPr lang="en-ZA" sz="1200" i="0">
                    <a:latin typeface="Cambria Math" panose="02040503050406030204" pitchFamily="18" charset="0"/>
                    <a:ea typeface="Times New Roman" panose="02020603050405020304" pitchFamily="18" charset="0"/>
                    <a:cs typeface="Times New Roman" panose="02020603050405020304" pitchFamily="18" charset="0"/>
                  </a:rPr>
                  <a:t>_</a:t>
                </a:r>
                <a:r>
                  <a:rPr lang="sr-Latn-RS" sz="1200" i="0">
                    <a:latin typeface="Cambria Math" panose="02040503050406030204" pitchFamily="18" charset="0"/>
                    <a:ea typeface="Times New Roman" panose="02020603050405020304" pitchFamily="18" charset="0"/>
                    <a:cs typeface="Times New Roman" panose="02020603050405020304" pitchFamily="18" charset="0"/>
                  </a:rPr>
                  <a:t>1+𝑘</a:t>
                </a:r>
                <a:r>
                  <a:rPr lang="en-ZA" sz="1200" i="0">
                    <a:latin typeface="Cambria Math" panose="02040503050406030204" pitchFamily="18" charset="0"/>
                    <a:ea typeface="Times New Roman" panose="02020603050405020304" pitchFamily="18" charset="0"/>
                    <a:cs typeface="Times New Roman" panose="02020603050405020304" pitchFamily="18" charset="0"/>
                  </a:rPr>
                  <a:t>_</a:t>
                </a:r>
                <a:r>
                  <a:rPr lang="sr-Latn-RS" sz="1200" i="0">
                    <a:latin typeface="Cambria Math" panose="02040503050406030204" pitchFamily="18" charset="0"/>
                    <a:ea typeface="Times New Roman" panose="02020603050405020304" pitchFamily="18" charset="0"/>
                    <a:cs typeface="Times New Roman" panose="02020603050405020304" pitchFamily="18" charset="0"/>
                  </a:rPr>
                  <a:t>2</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 )𝒂=</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𝑘</a:t>
                </a:r>
                <a:r>
                  <a:rPr lang="en-ZA" sz="1200" i="0">
                    <a:latin typeface="Cambria Math" panose="02040503050406030204" pitchFamily="18" charset="0"/>
                    <a:ea typeface="Times New Roman" panose="02020603050405020304" pitchFamily="18" charset="0"/>
                    <a:cs typeface="Times New Roman" panose="02020603050405020304" pitchFamily="18" charset="0"/>
                  </a:rPr>
                  <a:t>_</a:t>
                </a:r>
                <a:r>
                  <a:rPr lang="sr-Latn-RS" sz="1200" i="0">
                    <a:latin typeface="Cambria Math" panose="02040503050406030204" pitchFamily="18" charset="0"/>
                    <a:ea typeface="Times New Roman" panose="02020603050405020304" pitchFamily="18" charset="0"/>
                    <a:cs typeface="Times New Roman" panose="02020603050405020304" pitchFamily="18" charset="0"/>
                  </a:rPr>
                  <a:t>1 𝑎+𝑘</a:t>
                </a:r>
                <a:r>
                  <a:rPr lang="en-ZA" sz="1200" i="0">
                    <a:latin typeface="Cambria Math" panose="02040503050406030204" pitchFamily="18" charset="0"/>
                    <a:ea typeface="Times New Roman" panose="02020603050405020304" pitchFamily="18" charset="0"/>
                    <a:cs typeface="Times New Roman" panose="02020603050405020304" pitchFamily="18" charset="0"/>
                  </a:rPr>
                  <a:t>_</a:t>
                </a:r>
                <a:r>
                  <a:rPr lang="sr-Latn-RS" sz="1200" i="0">
                    <a:latin typeface="Cambria Math" panose="02040503050406030204" pitchFamily="18" charset="0"/>
                    <a:ea typeface="Times New Roman" panose="02020603050405020304" pitchFamily="18" charset="0"/>
                    <a:cs typeface="Times New Roman" panose="02020603050405020304" pitchFamily="18" charset="0"/>
                  </a:rPr>
                  <a:t>2</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 𝒂</a:t>
                </a:r>
                <a:r>
                  <a:rPr lang="sr-Latn-RS" sz="1200" dirty="0">
                    <a:latin typeface="Cambria" panose="02040503050406030204" pitchFamily="18" charset="0"/>
                    <a:ea typeface="Times New Roman" panose="02020603050405020304" pitchFamily="18" charset="0"/>
                    <a:cs typeface="Times New Roman" panose="02020603050405020304" pitchFamily="18" charset="0"/>
                  </a:rPr>
                  <a:t>	</a:t>
                </a:r>
                <a:r>
                  <a:rPr lang="sr-Latn-RS" sz="1200" b="1" dirty="0">
                    <a:latin typeface="Cambria" panose="02040503050406030204" pitchFamily="18" charset="0"/>
                    <a:ea typeface="Times New Roman" panose="02020603050405020304" pitchFamily="18" charset="0"/>
                    <a:cs typeface="Times New Roman" panose="02020603050405020304" pitchFamily="18" charset="0"/>
                  </a:rPr>
                  <a:t>	</a:t>
                </a:r>
                <a:r>
                  <a:rPr lang="sr-Latn-RS" sz="1200" dirty="0" err="1">
                    <a:latin typeface="Cambria" panose="02040503050406030204" pitchFamily="18" charset="0"/>
                    <a:ea typeface="Times New Roman" panose="02020603050405020304" pitchFamily="18" charset="0"/>
                    <a:cs typeface="Times New Roman" panose="02020603050405020304" pitchFamily="18" charset="0"/>
                  </a:rPr>
                  <a:t>distributivnost</a:t>
                </a:r>
                <a:r>
                  <a:rPr lang="sr-Latn-RS" sz="1200" dirty="0">
                    <a:latin typeface="Cambria" panose="02040503050406030204" pitchFamily="18" charset="0"/>
                    <a:ea typeface="Times New Roman" panose="02020603050405020304" pitchFamily="18" charset="0"/>
                    <a:cs typeface="Times New Roman" panose="02020603050405020304" pitchFamily="18" charset="0"/>
                  </a:rPr>
                  <a:t> sabiranja skalara</a:t>
                </a:r>
                <a:endParaRPr lang="en-ZA" sz="1200" dirty="0">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mj-lt"/>
                  <a:buAutoNum type="arabicPeriod"/>
                </a:pPr>
                <a:r>
                  <a:rPr lang="sr-Latn-RS" sz="1200" i="0">
                    <a:latin typeface="Cambria Math" panose="02040503050406030204" pitchFamily="18" charset="0"/>
                    <a:ea typeface="Times New Roman" panose="02020603050405020304" pitchFamily="18" charset="0"/>
                    <a:cs typeface="Times New Roman" panose="02020603050405020304" pitchFamily="18" charset="0"/>
                  </a:rPr>
                  <a:t>𝑘</a:t>
                </a:r>
                <a:r>
                  <a:rPr lang="en-ZA" sz="1200" i="0">
                    <a:latin typeface="Cambria Math" panose="02040503050406030204" pitchFamily="18" charset="0"/>
                    <a:ea typeface="Times New Roman" panose="02020603050405020304" pitchFamily="18" charset="0"/>
                    <a:cs typeface="Times New Roman" panose="02020603050405020304" pitchFamily="18" charset="0"/>
                  </a:rPr>
                  <a:t>_</a:t>
                </a:r>
                <a:r>
                  <a:rPr lang="sr-Latn-RS" sz="1200" i="0">
                    <a:latin typeface="Cambria Math" panose="02040503050406030204" pitchFamily="18" charset="0"/>
                    <a:ea typeface="Times New Roman" panose="02020603050405020304" pitchFamily="18" charset="0"/>
                    <a:cs typeface="Times New Roman" panose="02020603050405020304" pitchFamily="18" charset="0"/>
                  </a:rPr>
                  <a:t>1</a:t>
                </a:r>
                <a:r>
                  <a:rPr lang="en-ZA" sz="1200" b="1" i="0">
                    <a:latin typeface="Cambria Math" panose="02040503050406030204" pitchFamily="18" charset="0"/>
                    <a:ea typeface="Times New Roman" panose="02020603050405020304" pitchFamily="18" charset="0"/>
                    <a:cs typeface="Times New Roman" panose="02020603050405020304" pitchFamily="18" charset="0"/>
                  </a:rPr>
                  <a:t> </a:t>
                </a:r>
                <a:r>
                  <a:rPr lang="en-ZA" sz="1200" b="1" i="0">
                    <a:latin typeface="Cambria Math" panose="02040503050406030204" pitchFamily="18" charset="0"/>
                    <a:cs typeface="Times New Roman" panose="02020603050405020304" pitchFamily="18" charset="0"/>
                  </a:rPr>
                  <a:t>(</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𝒂+𝒃)=</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𝑘</a:t>
                </a:r>
                <a:r>
                  <a:rPr lang="en-ZA" sz="1200" i="0">
                    <a:latin typeface="Cambria Math" panose="02040503050406030204" pitchFamily="18" charset="0"/>
                    <a:ea typeface="Times New Roman" panose="02020603050405020304" pitchFamily="18" charset="0"/>
                    <a:cs typeface="Times New Roman" panose="02020603050405020304" pitchFamily="18" charset="0"/>
                  </a:rPr>
                  <a:t>_</a:t>
                </a:r>
                <a:r>
                  <a:rPr lang="sr-Latn-RS" sz="1200" i="0">
                    <a:latin typeface="Cambria Math" panose="02040503050406030204" pitchFamily="18" charset="0"/>
                    <a:ea typeface="Times New Roman" panose="02020603050405020304" pitchFamily="18" charset="0"/>
                    <a:cs typeface="Times New Roman" panose="02020603050405020304" pitchFamily="18" charset="0"/>
                  </a:rPr>
                  <a:t>1</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 𝒂+</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𝑘</a:t>
                </a:r>
                <a:r>
                  <a:rPr lang="en-ZA" sz="1200" i="0">
                    <a:latin typeface="Cambria Math" panose="02040503050406030204" pitchFamily="18" charset="0"/>
                    <a:ea typeface="Times New Roman" panose="02020603050405020304" pitchFamily="18" charset="0"/>
                    <a:cs typeface="Times New Roman" panose="02020603050405020304" pitchFamily="18" charset="0"/>
                  </a:rPr>
                  <a:t>_</a:t>
                </a:r>
                <a:r>
                  <a:rPr lang="sr-Latn-RS" sz="1200" i="0">
                    <a:latin typeface="Cambria Math" panose="02040503050406030204" pitchFamily="18" charset="0"/>
                    <a:ea typeface="Times New Roman" panose="02020603050405020304" pitchFamily="18" charset="0"/>
                    <a:cs typeface="Times New Roman" panose="02020603050405020304" pitchFamily="18" charset="0"/>
                  </a:rPr>
                  <a:t>1</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 𝒃</a:t>
                </a:r>
                <a:r>
                  <a:rPr lang="sr-Latn-RS" sz="1200" dirty="0">
                    <a:latin typeface="Cambria" panose="02040503050406030204" pitchFamily="18" charset="0"/>
                    <a:ea typeface="Times New Roman" panose="02020603050405020304" pitchFamily="18" charset="0"/>
                    <a:cs typeface="Times New Roman" panose="02020603050405020304" pitchFamily="18" charset="0"/>
                  </a:rPr>
                  <a:t>		</a:t>
                </a:r>
                <a:r>
                  <a:rPr lang="sr-Latn-RS" sz="1200" dirty="0" err="1">
                    <a:latin typeface="Cambria" panose="02040503050406030204" pitchFamily="18" charset="0"/>
                    <a:ea typeface="Times New Roman" panose="02020603050405020304" pitchFamily="18" charset="0"/>
                    <a:cs typeface="Times New Roman" panose="02020603050405020304" pitchFamily="18" charset="0"/>
                  </a:rPr>
                  <a:t>distributivnost</a:t>
                </a:r>
                <a:r>
                  <a:rPr lang="sr-Latn-RS" sz="1200" dirty="0">
                    <a:latin typeface="Cambria" panose="02040503050406030204" pitchFamily="18" charset="0"/>
                    <a:ea typeface="Times New Roman" panose="02020603050405020304" pitchFamily="18" charset="0"/>
                    <a:cs typeface="Times New Roman" panose="02020603050405020304" pitchFamily="18" charset="0"/>
                  </a:rPr>
                  <a:t> sabiranja vektora</a:t>
                </a:r>
                <a:endParaRPr lang="en-ZA" sz="1200" dirty="0">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mj-lt"/>
                  <a:buAutoNum type="arabicPeriod"/>
                </a:pPr>
                <a:r>
                  <a:rPr lang="sr-Latn-RS" sz="1200" i="0">
                    <a:latin typeface="Cambria Math" panose="02040503050406030204" pitchFamily="18" charset="0"/>
                    <a:ea typeface="Times New Roman" panose="02020603050405020304" pitchFamily="18" charset="0"/>
                    <a:cs typeface="Times New Roman" panose="02020603050405020304" pitchFamily="18" charset="0"/>
                  </a:rPr>
                  <a:t>𝑘</a:t>
                </a:r>
                <a:r>
                  <a:rPr lang="en-ZA" sz="1200" i="0">
                    <a:latin typeface="Cambria Math" panose="02040503050406030204" pitchFamily="18" charset="0"/>
                    <a:ea typeface="Times New Roman" panose="02020603050405020304" pitchFamily="18" charset="0"/>
                    <a:cs typeface="Times New Roman" panose="02020603050405020304" pitchFamily="18" charset="0"/>
                  </a:rPr>
                  <a:t>_</a:t>
                </a:r>
                <a:r>
                  <a:rPr lang="sr-Latn-RS" sz="1200" i="0">
                    <a:latin typeface="Cambria Math" panose="02040503050406030204" pitchFamily="18" charset="0"/>
                    <a:ea typeface="Times New Roman" panose="02020603050405020304" pitchFamily="18" charset="0"/>
                    <a:cs typeface="Times New Roman" panose="02020603050405020304" pitchFamily="18" charset="0"/>
                  </a:rPr>
                  <a:t>1</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 (</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𝑘</a:t>
                </a:r>
                <a:r>
                  <a:rPr lang="en-ZA" sz="1200" i="0">
                    <a:latin typeface="Cambria Math" panose="02040503050406030204" pitchFamily="18" charset="0"/>
                    <a:ea typeface="Times New Roman" panose="02020603050405020304" pitchFamily="18" charset="0"/>
                    <a:cs typeface="Times New Roman" panose="02020603050405020304" pitchFamily="18" charset="0"/>
                  </a:rPr>
                  <a:t>_</a:t>
                </a:r>
                <a:r>
                  <a:rPr lang="sr-Latn-RS" sz="1200" i="0">
                    <a:latin typeface="Cambria Math" panose="02040503050406030204" pitchFamily="18" charset="0"/>
                    <a:ea typeface="Times New Roman" panose="02020603050405020304" pitchFamily="18" charset="0"/>
                    <a:cs typeface="Times New Roman" panose="02020603050405020304" pitchFamily="18" charset="0"/>
                  </a:rPr>
                  <a:t>2</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 𝒂)=</a:t>
                </a:r>
                <a:r>
                  <a:rPr lang="en-ZA" sz="1200" i="0">
                    <a:latin typeface="Cambria Math" panose="02040503050406030204" pitchFamily="18" charset="0"/>
                    <a:cs typeface="Times New Roman" panose="02020603050405020304" pitchFamily="18" charset="0"/>
                  </a:rPr>
                  <a:t>〖</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(𝑘</a:t>
                </a:r>
                <a:r>
                  <a:rPr lang="en-ZA" sz="1200" i="0">
                    <a:latin typeface="Cambria Math" panose="02040503050406030204" pitchFamily="18" charset="0"/>
                    <a:ea typeface="Times New Roman" panose="02020603050405020304" pitchFamily="18" charset="0"/>
                    <a:cs typeface="Times New Roman" panose="02020603050405020304" pitchFamily="18" charset="0"/>
                  </a:rPr>
                  <a:t>〗_</a:t>
                </a:r>
                <a:r>
                  <a:rPr lang="sr-Latn-RS" sz="1200" i="0">
                    <a:latin typeface="Cambria Math" panose="02040503050406030204" pitchFamily="18" charset="0"/>
                    <a:ea typeface="Times New Roman" panose="02020603050405020304" pitchFamily="18" charset="0"/>
                    <a:cs typeface="Times New Roman" panose="02020603050405020304" pitchFamily="18" charset="0"/>
                  </a:rPr>
                  <a:t>1</a:t>
                </a:r>
                <a:r>
                  <a:rPr lang="en-ZA" sz="1200" i="0">
                    <a:latin typeface="Cambria Math" panose="02040503050406030204" pitchFamily="18" charset="0"/>
                    <a:ea typeface="Times New Roman" panose="02020603050405020304" pitchFamily="18" charset="0"/>
                    <a:cs typeface="Times New Roman" panose="02020603050405020304" pitchFamily="18" charset="0"/>
                  </a:rPr>
                  <a:t> </a:t>
                </a:r>
                <a:r>
                  <a:rPr lang="sr-Latn-RS" sz="1200" i="0">
                    <a:latin typeface="Cambria Math" panose="02040503050406030204" pitchFamily="18" charset="0"/>
                    <a:ea typeface="Times New Roman" panose="02020603050405020304" pitchFamily="18" charset="0"/>
                    <a:cs typeface="Times New Roman" panose="02020603050405020304" pitchFamily="18" charset="0"/>
                  </a:rPr>
                  <a:t>𝑘</a:t>
                </a:r>
                <a:r>
                  <a:rPr lang="en-ZA" sz="1200" i="0">
                    <a:latin typeface="Cambria Math" panose="02040503050406030204" pitchFamily="18" charset="0"/>
                    <a:ea typeface="Times New Roman" panose="02020603050405020304" pitchFamily="18" charset="0"/>
                    <a:cs typeface="Times New Roman" panose="02020603050405020304" pitchFamily="18" charset="0"/>
                  </a:rPr>
                  <a:t>_</a:t>
                </a:r>
                <a:r>
                  <a:rPr lang="sr-Latn-RS" sz="1200" i="0">
                    <a:latin typeface="Cambria Math" panose="02040503050406030204" pitchFamily="18" charset="0"/>
                    <a:ea typeface="Times New Roman" panose="02020603050405020304" pitchFamily="18" charset="0"/>
                    <a:cs typeface="Times New Roman" panose="02020603050405020304" pitchFamily="18" charset="0"/>
                  </a:rPr>
                  <a:t>2)</a:t>
                </a:r>
                <a:r>
                  <a:rPr lang="sr-Latn-RS" sz="1200" b="1" i="0">
                    <a:latin typeface="Cambria Math" panose="02040503050406030204" pitchFamily="18" charset="0"/>
                    <a:ea typeface="Times New Roman" panose="02020603050405020304" pitchFamily="18" charset="0"/>
                    <a:cs typeface="Times New Roman" panose="02020603050405020304" pitchFamily="18" charset="0"/>
                  </a:rPr>
                  <a:t>𝒂</a:t>
                </a:r>
                <a:r>
                  <a:rPr lang="sr-Latn-RS" sz="1200" b="1" dirty="0">
                    <a:latin typeface="Cambria" panose="02040503050406030204" pitchFamily="18" charset="0"/>
                    <a:ea typeface="Times New Roman" panose="02020603050405020304" pitchFamily="18" charset="0"/>
                    <a:cs typeface="Times New Roman" panose="02020603050405020304" pitchFamily="18" charset="0"/>
                  </a:rPr>
                  <a:t>			</a:t>
                </a:r>
                <a:r>
                  <a:rPr lang="sr-Latn-RS" sz="1200" dirty="0">
                    <a:latin typeface="Cambria" panose="02040503050406030204" pitchFamily="18" charset="0"/>
                    <a:ea typeface="Times New Roman" panose="02020603050405020304" pitchFamily="18" charset="0"/>
                    <a:cs typeface="Times New Roman" panose="02020603050405020304" pitchFamily="18" charset="0"/>
                  </a:rPr>
                  <a:t>asocijativnost množenja</a:t>
                </a:r>
                <a:endParaRPr lang="en-ZA" sz="1200" dirty="0">
                  <a:latin typeface="Cambria" panose="02040503050406030204" pitchFamily="18" charset="0"/>
                  <a:ea typeface="Times New Roman" panose="02020603050405020304" pitchFamily="18" charset="0"/>
                  <a:cs typeface="Times New Roman" panose="02020603050405020304" pitchFamily="18" charset="0"/>
                </a:endParaRPr>
              </a:p>
              <a:p>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35</a:t>
            </a:fld>
            <a:endParaRPr lang="en-US"/>
          </a:p>
        </p:txBody>
      </p:sp>
    </p:spTree>
    <p:extLst>
      <p:ext uri="{BB962C8B-B14F-4D97-AF65-F5344CB8AC3E}">
        <p14:creationId xmlns:p14="http://schemas.microsoft.com/office/powerpoint/2010/main" val="14158602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In quantum computing, the inner product is particularly important. It is defined as the product of a bra and a ket vector. The result of the inner product is a scalar, which can be either real or complex.</a:t>
            </a:r>
          </a:p>
          <a:p>
            <a:pPr algn="just"/>
            <a:endParaRPr lang="en-ZA" b="0" dirty="0"/>
          </a:p>
          <a:p>
            <a:pPr marL="228600" indent="-228600" algn="just">
              <a:buFont typeface="+mj-lt"/>
              <a:buAutoNum type="arabicPeriod"/>
            </a:pPr>
            <a:r>
              <a:rPr lang="en-ZA" b="0" dirty="0"/>
              <a:t>Geometrically, the inner product of two vectors 𝒂 and 𝒃 equals the length of 𝒂's projection onto 𝒃 (‖𝒂‖cos</a:t>
            </a:r>
            <a:r>
              <a:rPr lang="el-GR" b="0" dirty="0"/>
              <a:t>θ) </a:t>
            </a:r>
            <a:r>
              <a:rPr lang="en-ZA" b="0" dirty="0"/>
              <a:t>multiplied by the length of 𝒃 (‖𝒃‖).</a:t>
            </a:r>
          </a:p>
          <a:p>
            <a:pPr marL="228600" indent="-228600" algn="just">
              <a:buFont typeface="+mj-lt"/>
              <a:buAutoNum type="arabicPeriod"/>
            </a:pPr>
            <a:endParaRPr lang="en-ZA" b="0" dirty="0"/>
          </a:p>
          <a:p>
            <a:pPr marL="228600" indent="-228600" algn="just">
              <a:buFont typeface="+mj-lt"/>
              <a:buAutoNum type="arabicPeriod"/>
            </a:pPr>
            <a:r>
              <a:rPr lang="en-ZA" b="0" dirty="0"/>
              <a:t>The inner product provides information about the collinearity of vectors and the magnitude of one vector's projection onto another. For parallel and anti-parallel vectors, the inner product is equal to the product of their magnitudes. Two vectors are orthogonal (perpendicular) if their inner product is zero.</a:t>
            </a:r>
          </a:p>
          <a:p>
            <a:pPr marL="228600" indent="-228600" algn="just">
              <a:buFont typeface="+mj-lt"/>
              <a:buAutoNum type="arabicPeriod"/>
            </a:pPr>
            <a:endParaRPr lang="en-ZA" b="0" dirty="0"/>
          </a:p>
          <a:p>
            <a:pPr marL="228600" indent="-228600" algn="just">
              <a:buFont typeface="+mj-lt"/>
              <a:buAutoNum type="arabicPeriod"/>
            </a:pPr>
            <a:r>
              <a:rPr lang="en-ZA" b="0" dirty="0"/>
              <a:t>It is interesting to note that t</a:t>
            </a:r>
            <a:r>
              <a:rPr lang="en-ZA" dirty="0"/>
              <a:t>he absolute value of the inner product of two vectors is always less than or equal to the product of their norms. This follows from the fact that the inner product depends on the cosine of the angle between the vectors, which can only take values between -1 and 1. This principle is known as the Cauchy-Schwarz inequality, which states that the inner product never exceeds the product of the vector norms in magnitude.</a:t>
            </a:r>
            <a:endParaRPr lang="en-ZA" b="0" dirty="0"/>
          </a:p>
          <a:p>
            <a:pPr algn="just"/>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36</a:t>
            </a:fld>
            <a:endParaRPr lang="en-US"/>
          </a:p>
        </p:txBody>
      </p:sp>
    </p:spTree>
    <p:extLst>
      <p:ext uri="{BB962C8B-B14F-4D97-AF65-F5344CB8AC3E}">
        <p14:creationId xmlns:p14="http://schemas.microsoft.com/office/powerpoint/2010/main" val="6206773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indent="0">
                  <a:buFont typeface="Arial" panose="020B0604020202020204" pitchFamily="34" charset="0"/>
                  <a:buNone/>
                </a:pPr>
                <a:r>
                  <a:rPr lang="en-ZA" dirty="0"/>
                  <a:t>The table presents several properties of the inner product that are commonly used in quantum computing.</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dirty="0"/>
                  <a:t>The norm of a vector is defined as the square root of its inner product with itself. </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dirty="0"/>
                  <a:t>A vector is considered normalized, or of unit length, if its inner product with itself equals one. In quantum computing, all state vectors must be normalized.</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dirty="0"/>
                  <a:t>Two vectors are orthogonal if their inner product is zero. The condition of orthonormality, which indicates whether vectors are both normalized and orthogonal, is particularly important. This condition is expressed using the Kronecker delta.</a:t>
                </a:r>
              </a:p>
              <a:p>
                <a:pPr marL="171450" indent="-171450">
                  <a:buFont typeface="Arial" panose="020B0604020202020204" pitchFamily="34" charset="0"/>
                  <a:buChar char="•"/>
                </a:pPr>
                <a:endParaRPr lang="en-ZA" dirty="0"/>
              </a:p>
              <a:p>
                <a:pPr marL="628650" lvl="1" indent="-171450">
                  <a:buFont typeface="Arial" panose="020B0604020202020204" pitchFamily="34" charset="0"/>
                  <a:buChar char="•"/>
                </a:pPr>
                <a:r>
                  <a:rPr lang="en-ZA" dirty="0"/>
                  <a:t>When the indices are equal, meaning we refer to the same vector, the inner product with itself must be one to confirm that the vector is normalized.</a:t>
                </a:r>
              </a:p>
              <a:p>
                <a:pPr marL="628650" lvl="1" indent="-171450">
                  <a:buFont typeface="Arial" panose="020B0604020202020204" pitchFamily="34" charset="0"/>
                  <a:buChar char="•"/>
                </a:pPr>
                <a:r>
                  <a:rPr lang="en-ZA" dirty="0"/>
                  <a:t>When the indices are different, meaning we refer to two distinct vectors, the inner product must be zero, indicating that they are orthogonal to each other.</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dirty="0"/>
                  <a:t>The property of conjugate symmetry states that swapping the order of vectors in an inner product results in the complex conjugate of the original inner product.</a:t>
                </a:r>
              </a:p>
              <a:p>
                <a:pPr marL="171450" indent="-171450">
                  <a:buFont typeface="Arial" panose="020B0604020202020204" pitchFamily="34" charset="0"/>
                  <a:buChar char="•"/>
                </a:pPr>
                <a:endParaRPr lang="en-ZA" dirty="0"/>
              </a:p>
              <a:p>
                <a:pPr marL="171450" indent="-171450">
                  <a:buFont typeface="Arial" panose="020B0604020202020204" pitchFamily="34" charset="0"/>
                  <a:buChar char="•"/>
                </a:pPr>
                <a:r>
                  <a:rPr lang="en-ZA" dirty="0"/>
                  <a:t>Linearity with respect to the ket vector means that a scalar multiplying the ket can be factored out of the inner product as is. However, if the scalar multiplies the bra vector, its complex conjugate can be factored out of the inner product.</a:t>
                </a:r>
              </a:p>
            </p:txBody>
          </p:sp>
        </mc:Choice>
        <mc:Fallback xmlns="">
          <p:sp>
            <p:nvSpPr>
              <p:cNvPr id="3" name="Notes Placeholder 2"/>
              <p:cNvSpPr>
                <a:spLocks noGrp="1"/>
              </p:cNvSpPr>
              <p:nvPr>
                <p:ph type="body" idx="1"/>
              </p:nvPr>
            </p:nvSpPr>
            <p:spPr/>
            <p:txBody>
              <a:bodyPr/>
              <a:lstStyle/>
              <a:p>
                <a:pPr algn="just"/>
                <a:r>
                  <a:rPr lang="en-US" dirty="0"/>
                  <a:t>Tabela </a:t>
                </a:r>
                <a:r>
                  <a:rPr lang="en-US" dirty="0" err="1"/>
                  <a:t>prikazuje</a:t>
                </a:r>
                <a:r>
                  <a:rPr lang="en-US" dirty="0"/>
                  <a:t> </a:t>
                </a:r>
                <a:r>
                  <a:rPr lang="en-US" dirty="0" err="1"/>
                  <a:t>nekoliko</a:t>
                </a:r>
                <a:r>
                  <a:rPr lang="en-US" dirty="0"/>
                  <a:t> </a:t>
                </a:r>
                <a:r>
                  <a:rPr lang="en-US" dirty="0" err="1"/>
                  <a:t>osobina</a:t>
                </a:r>
                <a:r>
                  <a:rPr lang="en-US" dirty="0"/>
                  <a:t> </a:t>
                </a:r>
                <a:r>
                  <a:rPr lang="en-US" dirty="0" err="1"/>
                  <a:t>unutrašnjeg</a:t>
                </a:r>
                <a:r>
                  <a:rPr lang="en-US" dirty="0"/>
                  <a:t> </a:t>
                </a:r>
                <a:r>
                  <a:rPr lang="en-US" dirty="0" err="1"/>
                  <a:t>proizvoda</a:t>
                </a:r>
                <a:r>
                  <a:rPr lang="en-US" dirty="0"/>
                  <a:t> </a:t>
                </a:r>
                <a:r>
                  <a:rPr lang="en-US" dirty="0" err="1"/>
                  <a:t>koje</a:t>
                </a:r>
                <a:r>
                  <a:rPr lang="en-US" dirty="0"/>
                  <a:t> se </a:t>
                </a:r>
                <a:r>
                  <a:rPr lang="en-US" dirty="0" err="1"/>
                  <a:t>često</a:t>
                </a:r>
                <a:r>
                  <a:rPr lang="en-US" dirty="0"/>
                  <a:t> </a:t>
                </a:r>
                <a:r>
                  <a:rPr lang="en-US" dirty="0" err="1"/>
                  <a:t>koriste</a:t>
                </a:r>
                <a:r>
                  <a:rPr lang="en-US" dirty="0"/>
                  <a:t> u </a:t>
                </a:r>
                <a:r>
                  <a:rPr lang="en-US" dirty="0" err="1"/>
                  <a:t>kvantnom</a:t>
                </a:r>
                <a:r>
                  <a:rPr lang="en-US" dirty="0"/>
                  <a:t> </a:t>
                </a:r>
                <a:r>
                  <a:rPr lang="en-US" dirty="0" err="1"/>
                  <a:t>računarstvu</a:t>
                </a:r>
                <a:r>
                  <a:rPr lang="en-US" dirty="0"/>
                  <a:t>.</a:t>
                </a:r>
              </a:p>
              <a:p>
                <a:pPr algn="just"/>
                <a:endParaRPr lang="en-US" dirty="0"/>
              </a:p>
              <a:p>
                <a:pPr marL="171450" indent="-171450" algn="just" rtl="0" eaLnBrk="1" fontAlgn="ctr" latinLnBrk="0" hangingPunct="1">
                  <a:buFont typeface="Arial" panose="020B0604020202020204" pitchFamily="34" charset="0"/>
                  <a:buChar char="•"/>
                </a:pPr>
                <a:r>
                  <a:rPr lang="en-ZA" sz="1200" b="0" i="0" u="none" strike="noStrike" kern="1200" dirty="0">
                    <a:solidFill>
                      <a:schemeClr val="tx1"/>
                    </a:solidFill>
                    <a:effectLst/>
                    <a:latin typeface="+mn-lt"/>
                    <a:ea typeface="+mn-ea"/>
                    <a:cs typeface="+mn-cs"/>
                  </a:rPr>
                  <a:t>Norma </a:t>
                </a:r>
                <a:r>
                  <a:rPr lang="en-ZA" sz="1200" b="0" i="0" u="none" strike="noStrike" kern="1200" dirty="0" err="1">
                    <a:solidFill>
                      <a:schemeClr val="tx1"/>
                    </a:solidFill>
                    <a:effectLst/>
                    <a:latin typeface="+mn-lt"/>
                    <a:ea typeface="+mn-ea"/>
                    <a:cs typeface="+mn-cs"/>
                  </a:rPr>
                  <a:t>vektora</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je</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kvadratni</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koren</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sopstvenog</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unutrašnjeg</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proizvoda</a:t>
                </a:r>
                <a:r>
                  <a:rPr lang="en-ZA" sz="1200" b="0" i="0" u="none" strike="noStrike" kern="1200" dirty="0">
                    <a:solidFill>
                      <a:schemeClr val="tx1"/>
                    </a:solidFill>
                    <a:effectLst/>
                    <a:latin typeface="+mn-lt"/>
                    <a:ea typeface="+mn-ea"/>
                    <a:cs typeface="+mn-cs"/>
                  </a:rPr>
                  <a:t>.</a:t>
                </a:r>
              </a:p>
              <a:p>
                <a:pPr marL="171450" indent="-171450" algn="just" rtl="0" eaLnBrk="1" fontAlgn="ctr" latinLnBrk="0" hangingPunct="1">
                  <a:buFont typeface="Arial" panose="020B0604020202020204" pitchFamily="34" charset="0"/>
                  <a:buChar char="•"/>
                </a:pPr>
                <a:r>
                  <a:rPr lang="en-ZA" sz="1200" b="0" i="0" u="none" strike="noStrike" kern="1200" dirty="0" err="1">
                    <a:solidFill>
                      <a:schemeClr val="tx1"/>
                    </a:solidFill>
                    <a:effectLst/>
                    <a:latin typeface="+mn-lt"/>
                    <a:ea typeface="+mn-ea"/>
                    <a:cs typeface="+mn-cs"/>
                  </a:rPr>
                  <a:t>Vektor</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je</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normalizovan</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odnosno</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jedinične</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dužine</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ako</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je</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njegov</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unutrašnji</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proizvod</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jednak</a:t>
                </a:r>
                <a:r>
                  <a:rPr lang="en-ZA" sz="1200" b="0" i="0" u="none" strike="noStrike" kern="1200" dirty="0">
                    <a:solidFill>
                      <a:schemeClr val="tx1"/>
                    </a:solidFill>
                    <a:effectLst/>
                    <a:latin typeface="+mn-lt"/>
                    <a:ea typeface="+mn-ea"/>
                    <a:cs typeface="+mn-cs"/>
                  </a:rPr>
                  <a:t> 1. U </a:t>
                </a:r>
                <a:r>
                  <a:rPr lang="en-ZA" sz="1200" b="0" i="0" u="none" strike="noStrike" kern="1200" dirty="0" err="1">
                    <a:solidFill>
                      <a:schemeClr val="tx1"/>
                    </a:solidFill>
                    <a:effectLst/>
                    <a:latin typeface="+mn-lt"/>
                    <a:ea typeface="+mn-ea"/>
                    <a:cs typeface="+mn-cs"/>
                  </a:rPr>
                  <a:t>kvantnom</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računarstvu</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svi</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vektori</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moraju</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biti</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normalizovani</a:t>
                </a:r>
                <a:r>
                  <a:rPr lang="en-ZA" sz="1200" b="0" i="0" u="none" strike="noStrike" kern="1200" dirty="0">
                    <a:solidFill>
                      <a:schemeClr val="tx1"/>
                    </a:solidFill>
                    <a:effectLst/>
                    <a:latin typeface="+mn-lt"/>
                    <a:ea typeface="+mn-ea"/>
                    <a:cs typeface="+mn-cs"/>
                  </a:rPr>
                  <a:t>.</a:t>
                </a:r>
              </a:p>
              <a:p>
                <a:pPr marL="171450" indent="-171450" algn="just" rtl="0" eaLnBrk="1" fontAlgn="ctr" latinLnBrk="0" hangingPunct="1">
                  <a:buFont typeface="Arial" panose="020B0604020202020204" pitchFamily="34" charset="0"/>
                  <a:buChar char="•"/>
                </a:pPr>
                <a:r>
                  <a:rPr lang="en-ZA" sz="1200" b="0" i="0" u="none" strike="noStrike" kern="1200" dirty="0" err="1">
                    <a:solidFill>
                      <a:schemeClr val="tx1"/>
                    </a:solidFill>
                    <a:effectLst/>
                    <a:latin typeface="+mn-lt"/>
                    <a:ea typeface="+mn-ea"/>
                    <a:cs typeface="+mn-cs"/>
                  </a:rPr>
                  <a:t>Dva</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vektora</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su</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ortogonalna</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ako</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je</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njihov</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unutrašnji</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proizvod</a:t>
                </a:r>
                <a:r>
                  <a:rPr lang="en-ZA" sz="1200" b="0" i="0" u="none" strike="noStrike" kern="1200" dirty="0">
                    <a:solidFill>
                      <a:schemeClr val="tx1"/>
                    </a:solidFill>
                    <a:effectLst/>
                    <a:latin typeface="+mn-lt"/>
                    <a:ea typeface="+mn-ea"/>
                    <a:cs typeface="+mn-cs"/>
                  </a:rPr>
                  <a:t> 0.</a:t>
                </a:r>
              </a:p>
              <a:p>
                <a:pPr marL="171450" indent="-171450" algn="just" rtl="0" eaLnBrk="1" fontAlgn="ctr" latinLnBrk="0" hangingPunct="1">
                  <a:buFont typeface="Arial" panose="020B0604020202020204" pitchFamily="34" charset="0"/>
                  <a:buChar char="•"/>
                </a:pPr>
                <a:r>
                  <a:rPr lang="en-ZA" sz="1200" b="0" i="0" u="none" strike="noStrike" kern="1200" dirty="0" err="1">
                    <a:solidFill>
                      <a:schemeClr val="tx1"/>
                    </a:solidFill>
                    <a:effectLst/>
                    <a:latin typeface="+mn-lt"/>
                    <a:ea typeface="+mn-ea"/>
                    <a:cs typeface="+mn-cs"/>
                  </a:rPr>
                  <a:t>Uslov</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ortonormalnosti</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odnosno</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uslov</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koji</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pokazuje</a:t>
                </a:r>
                <a:r>
                  <a:rPr lang="en-ZA" sz="1200" b="0" i="0" u="none" strike="noStrike" kern="1200" dirty="0">
                    <a:solidFill>
                      <a:schemeClr val="tx1"/>
                    </a:solidFill>
                    <a:effectLst/>
                    <a:latin typeface="+mn-lt"/>
                    <a:ea typeface="+mn-ea"/>
                    <a:cs typeface="+mn-cs"/>
                  </a:rPr>
                  <a:t> da li </a:t>
                </a:r>
                <a:r>
                  <a:rPr lang="en-ZA" sz="1200" b="0" i="0" u="none" strike="noStrike" kern="1200" dirty="0" err="1">
                    <a:solidFill>
                      <a:schemeClr val="tx1"/>
                    </a:solidFill>
                    <a:effectLst/>
                    <a:latin typeface="+mn-lt"/>
                    <a:ea typeface="+mn-ea"/>
                    <a:cs typeface="+mn-cs"/>
                  </a:rPr>
                  <a:t>su</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dva</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vektora</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normalizovana</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i</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ortogonalna</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je</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posebno</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značajan</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Ovaj</a:t>
                </a:r>
                <a:r>
                  <a:rPr lang="en-ZA" sz="1200" b="0" i="0" u="none" strike="noStrike" kern="1200" dirty="0">
                    <a:solidFill>
                      <a:schemeClr val="tx1"/>
                    </a:solidFill>
                    <a:effectLst/>
                    <a:latin typeface="+mn-lt"/>
                    <a:ea typeface="+mn-ea"/>
                    <a:cs typeface="+mn-cs"/>
                  </a:rPr>
                  <a:t> se </a:t>
                </a:r>
                <a:r>
                  <a:rPr lang="en-ZA" sz="1200" b="0" i="0" u="none" strike="noStrike" kern="1200" dirty="0" err="1">
                    <a:solidFill>
                      <a:schemeClr val="tx1"/>
                    </a:solidFill>
                    <a:effectLst/>
                    <a:latin typeface="+mn-lt"/>
                    <a:ea typeface="+mn-ea"/>
                    <a:cs typeface="+mn-cs"/>
                  </a:rPr>
                  <a:t>uslov</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definiše</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preko</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Kronekerove</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delte</a:t>
                </a:r>
                <a:r>
                  <a:rPr lang="en-ZA" sz="1200" b="0" i="0" u="none" strike="noStrike" kern="1200" dirty="0">
                    <a:solidFill>
                      <a:schemeClr val="tx1"/>
                    </a:solidFill>
                    <a:effectLst/>
                    <a:latin typeface="+mn-lt"/>
                    <a:ea typeface="+mn-ea"/>
                    <a:cs typeface="+mn-cs"/>
                  </a:rPr>
                  <a:t>.</a:t>
                </a:r>
              </a:p>
              <a:p>
                <a:pPr marL="628650" lvl="1" indent="-171450" algn="just" rtl="0" eaLnBrk="1" fontAlgn="ctr" latinLnBrk="0" hangingPunct="1">
                  <a:buFont typeface="Arial" panose="020B0604020202020204" pitchFamily="34" charset="0"/>
                  <a:buChar char="•"/>
                </a:pPr>
                <a:r>
                  <a:rPr lang="en-ZA" dirty="0" err="1"/>
                  <a:t>Kada</a:t>
                </a:r>
                <a:r>
                  <a:rPr lang="en-ZA" dirty="0"/>
                  <a:t> </a:t>
                </a:r>
                <a:r>
                  <a:rPr lang="en-ZA" dirty="0" err="1"/>
                  <a:t>je</a:t>
                </a:r>
                <a:r>
                  <a:rPr lang="en-ZA" dirty="0"/>
                  <a:t> </a:t>
                </a:r>
                <a:r>
                  <a:rPr lang="en-US" sz="1200" i="0">
                    <a:latin typeface="Cambria Math" panose="02040503050406030204" pitchFamily="18" charset="0"/>
                  </a:rPr>
                  <a:t>𝑖=𝑗</a:t>
                </a:r>
                <a:r>
                  <a:rPr lang="en-ZA" dirty="0"/>
                  <a:t>, </a:t>
                </a:r>
                <a:r>
                  <a:rPr lang="en-ZA" dirty="0" err="1"/>
                  <a:t>reč</a:t>
                </a:r>
                <a:r>
                  <a:rPr lang="en-ZA" dirty="0"/>
                  <a:t> </a:t>
                </a:r>
                <a:r>
                  <a:rPr lang="en-ZA" dirty="0" err="1"/>
                  <a:t>je</a:t>
                </a:r>
                <a:r>
                  <a:rPr lang="en-ZA" dirty="0"/>
                  <a:t> o </a:t>
                </a:r>
                <a:r>
                  <a:rPr lang="en-ZA" dirty="0" err="1"/>
                  <a:t>istom</a:t>
                </a:r>
                <a:r>
                  <a:rPr lang="en-ZA" dirty="0"/>
                  <a:t> </a:t>
                </a:r>
                <a:r>
                  <a:rPr lang="en-ZA" dirty="0" err="1"/>
                  <a:t>vektoru</a:t>
                </a:r>
                <a:r>
                  <a:rPr lang="en-ZA" dirty="0"/>
                  <a:t>, </a:t>
                </a:r>
                <a:r>
                  <a:rPr lang="en-ZA" dirty="0" err="1"/>
                  <a:t>i</a:t>
                </a:r>
                <a:r>
                  <a:rPr lang="en-ZA" dirty="0"/>
                  <a:t> </a:t>
                </a:r>
                <a:r>
                  <a:rPr lang="en-ZA" dirty="0" err="1"/>
                  <a:t>ako</a:t>
                </a:r>
                <a:r>
                  <a:rPr lang="en-ZA" dirty="0"/>
                  <a:t> </a:t>
                </a:r>
                <a:r>
                  <a:rPr lang="en-ZA" dirty="0" err="1"/>
                  <a:t>je</a:t>
                </a:r>
                <a:r>
                  <a:rPr lang="en-ZA" dirty="0"/>
                  <a:t> </a:t>
                </a:r>
                <a:r>
                  <a:rPr lang="en-ZA" dirty="0" err="1"/>
                  <a:t>njegov</a:t>
                </a:r>
                <a:r>
                  <a:rPr lang="en-ZA" dirty="0"/>
                  <a:t> </a:t>
                </a:r>
                <a:r>
                  <a:rPr lang="en-ZA" dirty="0" err="1"/>
                  <a:t>sopstveni</a:t>
                </a:r>
                <a:r>
                  <a:rPr lang="en-ZA" dirty="0"/>
                  <a:t> </a:t>
                </a:r>
                <a:r>
                  <a:rPr lang="en-ZA" dirty="0" err="1"/>
                  <a:t>unutrašnji</a:t>
                </a:r>
                <a:r>
                  <a:rPr lang="en-ZA" dirty="0"/>
                  <a:t> </a:t>
                </a:r>
                <a:r>
                  <a:rPr lang="en-ZA" dirty="0" err="1"/>
                  <a:t>proizvod</a:t>
                </a:r>
                <a:r>
                  <a:rPr lang="en-ZA" dirty="0"/>
                  <a:t> 1, to </a:t>
                </a:r>
                <a:r>
                  <a:rPr lang="en-ZA" dirty="0" err="1"/>
                  <a:t>znači</a:t>
                </a:r>
                <a:r>
                  <a:rPr lang="en-ZA" dirty="0"/>
                  <a:t> da </a:t>
                </a:r>
                <a:r>
                  <a:rPr lang="en-ZA" dirty="0" err="1"/>
                  <a:t>je</a:t>
                </a:r>
                <a:r>
                  <a:rPr lang="en-ZA" dirty="0"/>
                  <a:t> </a:t>
                </a:r>
                <a:r>
                  <a:rPr lang="en-ZA" dirty="0" err="1"/>
                  <a:t>vektor</a:t>
                </a:r>
                <a:r>
                  <a:rPr lang="en-ZA" dirty="0"/>
                  <a:t> </a:t>
                </a:r>
                <a:r>
                  <a:rPr lang="en-ZA" dirty="0" err="1"/>
                  <a:t>normalizovan</a:t>
                </a:r>
                <a:r>
                  <a:rPr lang="en-ZA" dirty="0"/>
                  <a:t>, </a:t>
                </a:r>
                <a:r>
                  <a:rPr lang="en-ZA" dirty="0" err="1"/>
                  <a:t>odnosno</a:t>
                </a:r>
                <a:r>
                  <a:rPr lang="en-ZA" dirty="0"/>
                  <a:t> </a:t>
                </a:r>
                <a:r>
                  <a:rPr lang="en-ZA" dirty="0" err="1"/>
                  <a:t>jedinične</a:t>
                </a:r>
                <a:r>
                  <a:rPr lang="en-ZA" dirty="0"/>
                  <a:t> </a:t>
                </a:r>
                <a:r>
                  <a:rPr lang="en-ZA" dirty="0" err="1"/>
                  <a:t>dužine</a:t>
                </a:r>
                <a:r>
                  <a:rPr lang="en-ZA" dirty="0"/>
                  <a:t>.</a:t>
                </a:r>
              </a:p>
              <a:p>
                <a:pPr marL="628650" lvl="1" indent="-171450" algn="just" rtl="0" eaLnBrk="1" fontAlgn="ctr" latinLnBrk="0" hangingPunct="1">
                  <a:buFont typeface="Arial" panose="020B0604020202020204" pitchFamily="34" charset="0"/>
                  <a:buChar char="•"/>
                </a:pPr>
                <a:r>
                  <a:rPr lang="en-ZA" dirty="0" err="1"/>
                  <a:t>Kada</a:t>
                </a:r>
                <a:r>
                  <a:rPr lang="en-ZA" dirty="0"/>
                  <a:t> </a:t>
                </a:r>
                <a:r>
                  <a:rPr lang="en-ZA" dirty="0" err="1"/>
                  <a:t>je</a:t>
                </a:r>
                <a:r>
                  <a:rPr lang="en-ZA" dirty="0"/>
                  <a:t> </a:t>
                </a:r>
                <a:r>
                  <a:rPr lang="en-US" sz="1200" i="0">
                    <a:latin typeface="Cambria Math" panose="02040503050406030204" pitchFamily="18" charset="0"/>
                  </a:rPr>
                  <a:t>𝑖≠𝑗</a:t>
                </a:r>
                <a:r>
                  <a:rPr lang="en-ZA" dirty="0"/>
                  <a:t>, </a:t>
                </a:r>
                <a:r>
                  <a:rPr lang="en-ZA" dirty="0" err="1"/>
                  <a:t>reč</a:t>
                </a:r>
                <a:r>
                  <a:rPr lang="en-ZA" dirty="0"/>
                  <a:t> </a:t>
                </a:r>
                <a:r>
                  <a:rPr lang="en-ZA" dirty="0" err="1"/>
                  <a:t>je</a:t>
                </a:r>
                <a:r>
                  <a:rPr lang="en-ZA" dirty="0"/>
                  <a:t> o </a:t>
                </a:r>
                <a:r>
                  <a:rPr lang="en-ZA" dirty="0" err="1"/>
                  <a:t>dva</a:t>
                </a:r>
                <a:r>
                  <a:rPr lang="en-ZA" dirty="0"/>
                  <a:t> </a:t>
                </a:r>
                <a:r>
                  <a:rPr lang="en-ZA" dirty="0" err="1"/>
                  <a:t>različita</a:t>
                </a:r>
                <a:r>
                  <a:rPr lang="en-ZA" dirty="0"/>
                  <a:t> </a:t>
                </a:r>
                <a:r>
                  <a:rPr lang="en-ZA" dirty="0" err="1"/>
                  <a:t>vektora</a:t>
                </a:r>
                <a:r>
                  <a:rPr lang="en-ZA" dirty="0"/>
                  <a:t>, </a:t>
                </a:r>
                <a:r>
                  <a:rPr lang="en-ZA" dirty="0" err="1"/>
                  <a:t>i</a:t>
                </a:r>
                <a:r>
                  <a:rPr lang="en-ZA" dirty="0"/>
                  <a:t> </a:t>
                </a:r>
                <a:r>
                  <a:rPr lang="en-ZA" dirty="0" err="1"/>
                  <a:t>ako</a:t>
                </a:r>
                <a:r>
                  <a:rPr lang="en-ZA" dirty="0"/>
                  <a:t> </a:t>
                </a:r>
                <a:r>
                  <a:rPr lang="en-ZA" dirty="0" err="1"/>
                  <a:t>je</a:t>
                </a:r>
                <a:r>
                  <a:rPr lang="en-ZA" dirty="0"/>
                  <a:t> </a:t>
                </a:r>
                <a:r>
                  <a:rPr lang="en-ZA" dirty="0" err="1"/>
                  <a:t>njihov</a:t>
                </a:r>
                <a:r>
                  <a:rPr lang="en-ZA" dirty="0"/>
                  <a:t> </a:t>
                </a:r>
                <a:r>
                  <a:rPr lang="en-ZA" dirty="0" err="1"/>
                  <a:t>unutrašnji</a:t>
                </a:r>
                <a:r>
                  <a:rPr lang="en-ZA" dirty="0"/>
                  <a:t> </a:t>
                </a:r>
                <a:r>
                  <a:rPr lang="en-ZA" dirty="0" err="1"/>
                  <a:t>proizvod</a:t>
                </a:r>
                <a:r>
                  <a:rPr lang="en-ZA" dirty="0"/>
                  <a:t> 0, to </a:t>
                </a:r>
                <a:r>
                  <a:rPr lang="en-ZA" dirty="0" err="1"/>
                  <a:t>znači</a:t>
                </a:r>
                <a:r>
                  <a:rPr lang="en-ZA" dirty="0"/>
                  <a:t> da </a:t>
                </a:r>
                <a:r>
                  <a:rPr lang="en-ZA" dirty="0" err="1"/>
                  <a:t>su</a:t>
                </a:r>
                <a:r>
                  <a:rPr lang="en-ZA" dirty="0"/>
                  <a:t> </a:t>
                </a:r>
                <a:r>
                  <a:rPr lang="en-ZA" dirty="0" err="1"/>
                  <a:t>međusobno</a:t>
                </a:r>
                <a:r>
                  <a:rPr lang="en-ZA" dirty="0"/>
                  <a:t> </a:t>
                </a:r>
                <a:r>
                  <a:rPr lang="en-ZA" dirty="0" err="1"/>
                  <a:t>ortogonalni</a:t>
                </a:r>
                <a:r>
                  <a:rPr lang="en-ZA" dirty="0"/>
                  <a:t>.</a:t>
                </a:r>
                <a:endParaRPr lang="en-ZA" sz="1200" b="0" i="0" u="none" strike="noStrike" kern="1200" dirty="0">
                  <a:solidFill>
                    <a:schemeClr val="tx1"/>
                  </a:solidFill>
                  <a:effectLst/>
                  <a:latin typeface="+mn-lt"/>
                  <a:ea typeface="+mn-ea"/>
                  <a:cs typeface="+mn-cs"/>
                </a:endParaRPr>
              </a:p>
              <a:p>
                <a:pPr marL="171450" indent="-171450" algn="just" rtl="0" eaLnBrk="1" fontAlgn="ctr" latinLnBrk="0" hangingPunct="1">
                  <a:buFont typeface="Arial" panose="020B0604020202020204" pitchFamily="34" charset="0"/>
                  <a:buChar char="•"/>
                </a:pPr>
                <a:r>
                  <a:rPr lang="en-ZA" sz="1200" b="0" i="0" u="none" strike="noStrike" kern="1200" dirty="0" err="1">
                    <a:solidFill>
                      <a:schemeClr val="tx1"/>
                    </a:solidFill>
                    <a:effectLst/>
                    <a:latin typeface="+mn-lt"/>
                    <a:ea typeface="+mn-ea"/>
                    <a:cs typeface="+mn-cs"/>
                  </a:rPr>
                  <a:t>Svojstvo</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konjugovane</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simetrije</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i</a:t>
                </a:r>
                <a:r>
                  <a:rPr lang="en-ZA" sz="1200" b="0" i="0" u="none" strike="noStrike" kern="1200" dirty="0">
                    <a:solidFill>
                      <a:schemeClr val="tx1"/>
                    </a:solidFill>
                    <a:effectLst/>
                    <a:latin typeface="+mn-lt"/>
                    <a:ea typeface="+mn-ea"/>
                    <a:cs typeface="+mn-cs"/>
                  </a:rPr>
                  <a:t> linearnost </a:t>
                </a:r>
                <a:r>
                  <a:rPr lang="en-ZA" sz="1200" b="0" i="0" u="none" strike="noStrike" kern="1200" dirty="0" err="1">
                    <a:solidFill>
                      <a:schemeClr val="tx1"/>
                    </a:solidFill>
                    <a:effectLst/>
                    <a:latin typeface="+mn-lt"/>
                    <a:ea typeface="+mn-ea"/>
                    <a:cs typeface="+mn-cs"/>
                  </a:rPr>
                  <a:t>po</a:t>
                </a:r>
                <a:r>
                  <a:rPr lang="en-ZA" sz="1200" b="0" i="0" u="none" strike="noStrike" kern="1200" dirty="0">
                    <a:solidFill>
                      <a:schemeClr val="tx1"/>
                    </a:solidFill>
                    <a:effectLst/>
                    <a:latin typeface="+mn-lt"/>
                    <a:ea typeface="+mn-ea"/>
                    <a:cs typeface="+mn-cs"/>
                  </a:rPr>
                  <a:t> ket </a:t>
                </a:r>
                <a:r>
                  <a:rPr lang="en-ZA" sz="1200" b="0" i="0" u="none" strike="noStrike" kern="1200" dirty="0" err="1">
                    <a:solidFill>
                      <a:schemeClr val="tx1"/>
                    </a:solidFill>
                    <a:effectLst/>
                    <a:latin typeface="+mn-lt"/>
                    <a:ea typeface="+mn-ea"/>
                    <a:cs typeface="+mn-cs"/>
                  </a:rPr>
                  <a:t>vektoru</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su</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korisne</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osobine</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tokom</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izračunavanja</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kvantnih</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stanja</a:t>
                </a:r>
                <a:r>
                  <a:rPr lang="en-ZA" sz="1200" b="0" i="0" u="none" strike="noStrike" kern="1200" dirty="0">
                    <a:solidFill>
                      <a:schemeClr val="tx1"/>
                    </a:solidFill>
                    <a:effectLst/>
                    <a:latin typeface="+mn-lt"/>
                    <a:ea typeface="+mn-ea"/>
                    <a:cs typeface="+mn-cs"/>
                  </a:rPr>
                  <a:t> </a:t>
                </a:r>
                <a:r>
                  <a:rPr lang="en-ZA" sz="1200" b="0" i="0" u="none" strike="noStrike" kern="1200" dirty="0" err="1">
                    <a:solidFill>
                      <a:schemeClr val="tx1"/>
                    </a:solidFill>
                    <a:effectLst/>
                    <a:latin typeface="+mn-lt"/>
                    <a:ea typeface="+mn-ea"/>
                    <a:cs typeface="+mn-cs"/>
                  </a:rPr>
                  <a:t>registara</a:t>
                </a:r>
                <a:r>
                  <a:rPr lang="en-ZA" sz="1200" b="0" i="0" u="none" strike="noStrike" kern="1200" dirty="0">
                    <a:solidFill>
                      <a:schemeClr val="tx1"/>
                    </a:solidFill>
                    <a:effectLst/>
                    <a:latin typeface="+mn-lt"/>
                    <a:ea typeface="+mn-ea"/>
                    <a:cs typeface="+mn-cs"/>
                  </a:rPr>
                  <a:t>.</a:t>
                </a:r>
              </a:p>
              <a:p>
                <a:pPr algn="just"/>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37</a:t>
            </a:fld>
            <a:endParaRPr lang="en-US"/>
          </a:p>
        </p:txBody>
      </p:sp>
    </p:spTree>
    <p:extLst>
      <p:ext uri="{BB962C8B-B14F-4D97-AF65-F5344CB8AC3E}">
        <p14:creationId xmlns:p14="http://schemas.microsoft.com/office/powerpoint/2010/main" val="41110153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algn="just"/>
                <a:r>
                  <a:rPr lang="en-ZA" dirty="0"/>
                  <a:t>The </a:t>
                </a:r>
                <a:r>
                  <a:rPr lang="en-ZA" b="0" dirty="0"/>
                  <a:t>outer product</a:t>
                </a:r>
                <a:r>
                  <a:rPr lang="en-ZA" dirty="0"/>
                  <a:t> is another important operation involving vectors. It is formed by multiplying a ket vector by a bra vector. Unlike the inner product, which produces a single number, the outer product produces a </a:t>
                </a:r>
                <a:r>
                  <a:rPr lang="en-ZA" b="0" dirty="0"/>
                  <a:t>matrix</a:t>
                </a:r>
                <a:r>
                  <a:rPr lang="en-ZA" dirty="0"/>
                  <a:t>.</a:t>
                </a:r>
              </a:p>
              <a:p>
                <a:pPr algn="just"/>
                <a:endParaRPr lang="en-ZA" dirty="0"/>
              </a:p>
              <a:p>
                <a:pPr algn="just"/>
                <a:r>
                  <a:rPr lang="en-ZA" dirty="0"/>
                  <a:t>For example, if the ket </a:t>
                </a:r>
                <a14:m>
                  <m:oMath xmlns:m="http://schemas.openxmlformats.org/officeDocument/2006/math">
                    <m:d>
                      <m:dPr>
                        <m:begChr m:val="|"/>
                        <m:endChr m:val="⟩"/>
                        <m:ctrlPr>
                          <a:rPr lang="en-ZA" sz="1200" i="1" smtClean="0">
                            <a:latin typeface="Cambria Math" panose="02040503050406030204" pitchFamily="18" charset="0"/>
                          </a:rPr>
                        </m:ctrlPr>
                      </m:dPr>
                      <m:e>
                        <m:r>
                          <a:rPr lang="sr-Latn-RS" sz="1200" i="1">
                            <a:latin typeface="Cambria Math" panose="02040503050406030204" pitchFamily="18" charset="0"/>
                          </a:rPr>
                          <m:t>𝑎</m:t>
                        </m:r>
                      </m:e>
                    </m:d>
                  </m:oMath>
                </a14:m>
                <a:r>
                  <a:rPr lang="en-ZA" dirty="0"/>
                  <a:t> has two components, </a:t>
                </a:r>
                <a14:m>
                  <m:oMath xmlns:m="http://schemas.openxmlformats.org/officeDocument/2006/math">
                    <m:sSub>
                      <m:sSubPr>
                        <m:ctrlPr>
                          <a:rPr lang="en-ZA" sz="1200" i="1" smtClean="0">
                            <a:latin typeface="Cambria Math" panose="02040503050406030204" pitchFamily="18" charset="0"/>
                          </a:rPr>
                        </m:ctrlPr>
                      </m:sSubPr>
                      <m:e>
                        <m:r>
                          <a:rPr lang="sr-Latn-RS" sz="1200" i="1">
                            <a:latin typeface="Cambria Math" panose="02040503050406030204" pitchFamily="18" charset="0"/>
                          </a:rPr>
                          <m:t>𝑎</m:t>
                        </m:r>
                      </m:e>
                      <m:sub>
                        <m:r>
                          <a:rPr lang="sr-Latn-RS" sz="1200" i="1">
                            <a:latin typeface="Cambria Math" panose="02040503050406030204" pitchFamily="18" charset="0"/>
                          </a:rPr>
                          <m:t>1</m:t>
                        </m:r>
                      </m:sub>
                    </m:sSub>
                  </m:oMath>
                </a14:m>
                <a:r>
                  <a:rPr lang="en-ZA" dirty="0"/>
                  <a:t> and </a:t>
                </a:r>
                <a14:m>
                  <m:oMath xmlns:m="http://schemas.openxmlformats.org/officeDocument/2006/math">
                    <m:sSub>
                      <m:sSubPr>
                        <m:ctrlPr>
                          <a:rPr lang="en-ZA" sz="1200" i="1" smtClean="0">
                            <a:latin typeface="Cambria Math" panose="02040503050406030204" pitchFamily="18" charset="0"/>
                          </a:rPr>
                        </m:ctrlPr>
                      </m:sSubPr>
                      <m:e>
                        <m:r>
                          <a:rPr lang="sr-Latn-RS" sz="1200" i="1">
                            <a:latin typeface="Cambria Math" panose="02040503050406030204" pitchFamily="18" charset="0"/>
                          </a:rPr>
                          <m:t>𝑎</m:t>
                        </m:r>
                      </m:e>
                      <m:sub>
                        <m:r>
                          <a:rPr lang="en-US" sz="1200" b="0" i="1" smtClean="0">
                            <a:latin typeface="Cambria Math" panose="02040503050406030204" pitchFamily="18" charset="0"/>
                          </a:rPr>
                          <m:t>2</m:t>
                        </m:r>
                      </m:sub>
                    </m:sSub>
                  </m:oMath>
                </a14:m>
                <a:r>
                  <a:rPr lang="en-ZA" dirty="0"/>
                  <a:t>, and the bra </a:t>
                </a:r>
                <a14:m>
                  <m:oMath xmlns:m="http://schemas.openxmlformats.org/officeDocument/2006/math">
                    <m:r>
                      <a:rPr lang="sr-Latn-RS" sz="1200" smtClean="0">
                        <a:latin typeface="Cambria Math" panose="02040503050406030204" pitchFamily="18" charset="0"/>
                      </a:rPr>
                      <m:t>⟨</m:t>
                    </m:r>
                    <m:r>
                      <m:rPr>
                        <m:sty m:val="p"/>
                      </m:rPr>
                      <a:rPr lang="en-US" sz="1200" b="0" i="0" smtClean="0">
                        <a:latin typeface="Cambria Math" panose="02040503050406030204" pitchFamily="18" charset="0"/>
                      </a:rPr>
                      <m:t>b</m:t>
                    </m:r>
                    <m:r>
                      <a:rPr lang="sr-Latn-RS" sz="1200">
                        <a:latin typeface="Cambria Math" panose="02040503050406030204" pitchFamily="18" charset="0"/>
                      </a:rPr>
                      <m:t>|</m:t>
                    </m:r>
                  </m:oMath>
                </a14:m>
                <a:r>
                  <a:rPr lang="en-ZA" dirty="0"/>
                  <a:t> has components </a:t>
                </a:r>
                <a14:m>
                  <m:oMath xmlns:m="http://schemas.openxmlformats.org/officeDocument/2006/math">
                    <m:sSubSup>
                      <m:sSubSupPr>
                        <m:ctrlPr>
                          <a:rPr lang="en-ZA" sz="1200" i="1" smtClean="0">
                            <a:latin typeface="Cambria Math" panose="02040503050406030204" pitchFamily="18" charset="0"/>
                          </a:rPr>
                        </m:ctrlPr>
                      </m:sSubSupPr>
                      <m:e>
                        <m:r>
                          <a:rPr lang="sr-Latn-RS" sz="1200" i="1">
                            <a:latin typeface="Cambria Math" panose="02040503050406030204" pitchFamily="18" charset="0"/>
                          </a:rPr>
                          <m:t>𝑏</m:t>
                        </m:r>
                      </m:e>
                      <m:sub>
                        <m:r>
                          <a:rPr lang="sr-Latn-RS" sz="1200" i="1">
                            <a:latin typeface="Cambria Math" panose="02040503050406030204" pitchFamily="18" charset="0"/>
                          </a:rPr>
                          <m:t>1</m:t>
                        </m:r>
                      </m:sub>
                      <m:sup>
                        <m:r>
                          <a:rPr lang="sr-Latn-RS" sz="1200" i="1">
                            <a:latin typeface="Cambria Math" panose="02040503050406030204" pitchFamily="18" charset="0"/>
                          </a:rPr>
                          <m:t>∗</m:t>
                        </m:r>
                      </m:sup>
                    </m:sSubSup>
                  </m:oMath>
                </a14:m>
                <a:r>
                  <a:rPr lang="en-ZA" dirty="0"/>
                  <a:t> and </a:t>
                </a:r>
                <a14:m>
                  <m:oMath xmlns:m="http://schemas.openxmlformats.org/officeDocument/2006/math">
                    <m:sSubSup>
                      <m:sSubSupPr>
                        <m:ctrlPr>
                          <a:rPr lang="en-ZA" sz="1200" i="1" smtClean="0">
                            <a:latin typeface="Cambria Math" panose="02040503050406030204" pitchFamily="18" charset="0"/>
                          </a:rPr>
                        </m:ctrlPr>
                      </m:sSubSupPr>
                      <m:e>
                        <m:r>
                          <a:rPr lang="sr-Latn-RS" sz="1200" i="1">
                            <a:latin typeface="Cambria Math" panose="02040503050406030204" pitchFamily="18" charset="0"/>
                          </a:rPr>
                          <m:t>𝑏</m:t>
                        </m:r>
                      </m:e>
                      <m:sub>
                        <m:r>
                          <a:rPr lang="en-US" sz="1200" b="0" i="1" smtClean="0">
                            <a:latin typeface="Cambria Math" panose="02040503050406030204" pitchFamily="18" charset="0"/>
                          </a:rPr>
                          <m:t>2</m:t>
                        </m:r>
                      </m:sub>
                      <m:sup>
                        <m:r>
                          <a:rPr lang="sr-Latn-RS" sz="1200" i="1">
                            <a:latin typeface="Cambria Math" panose="02040503050406030204" pitchFamily="18" charset="0"/>
                          </a:rPr>
                          <m:t>∗</m:t>
                        </m:r>
                      </m:sup>
                    </m:sSubSup>
                  </m:oMath>
                </a14:m>
                <a:r>
                  <a:rPr lang="en-ZA" dirty="0"/>
                  <a:t>, their outer product</a:t>
                </a:r>
                <a:r>
                  <a:rPr lang="en-ZA" baseline="0" dirty="0"/>
                  <a:t> </a:t>
                </a:r>
                <a14:m>
                  <m:oMath xmlns:m="http://schemas.openxmlformats.org/officeDocument/2006/math">
                    <m:d>
                      <m:dPr>
                        <m:begChr m:val="|"/>
                        <m:endChr m:val="⟩"/>
                        <m:ctrlPr>
                          <a:rPr lang="en-ZA" sz="1200" i="1" smtClean="0">
                            <a:latin typeface="Cambria Math" panose="02040503050406030204" pitchFamily="18" charset="0"/>
                          </a:rPr>
                        </m:ctrlPr>
                      </m:dPr>
                      <m:e>
                        <m:r>
                          <a:rPr lang="sr-Latn-RS" sz="1200" i="1">
                            <a:latin typeface="Cambria Math" panose="02040503050406030204" pitchFamily="18" charset="0"/>
                          </a:rPr>
                          <m:t>𝑎</m:t>
                        </m:r>
                      </m:e>
                    </m:d>
                    <m:r>
                      <a:rPr lang="sr-Latn-RS" sz="1200">
                        <a:latin typeface="Cambria Math" panose="02040503050406030204" pitchFamily="18" charset="0"/>
                      </a:rPr>
                      <m:t>⟨</m:t>
                    </m:r>
                    <m:r>
                      <a:rPr lang="sr-Latn-RS" sz="1200" i="1">
                        <a:latin typeface="Cambria Math" panose="02040503050406030204" pitchFamily="18" charset="0"/>
                      </a:rPr>
                      <m:t>𝑏</m:t>
                    </m:r>
                    <m:r>
                      <a:rPr lang="sr-Latn-RS" sz="1200">
                        <a:latin typeface="Cambria Math" panose="02040503050406030204" pitchFamily="18" charset="0"/>
                      </a:rPr>
                      <m:t>|</m:t>
                    </m:r>
                  </m:oMath>
                </a14:m>
                <a:r>
                  <a:rPr lang="en-ZA" dirty="0"/>
                  <a:t> produces a two-by-two matrix. Each element of the ket is multiplied by each element of the bra.</a:t>
                </a:r>
              </a:p>
              <a:p>
                <a:pPr algn="just"/>
                <a:endParaRPr lang="en-ZA" dirty="0"/>
              </a:p>
              <a:p>
                <a:pPr algn="just"/>
                <a:r>
                  <a:rPr lang="en-ZA" dirty="0"/>
                  <a:t>An especially important case in quantum mechanics occurs when a state vector is multiplied by its own bra. The outer product </a:t>
                </a:r>
                <a14:m>
                  <m:oMath xmlns:m="http://schemas.openxmlformats.org/officeDocument/2006/math">
                    <m:d>
                      <m:dPr>
                        <m:begChr m:val="|"/>
                        <m:endChr m:val="⟩"/>
                        <m:ctrlPr>
                          <a:rPr lang="en-ZA" sz="1200" i="1" smtClean="0">
                            <a:latin typeface="Cambria Math" panose="02040503050406030204" pitchFamily="18" charset="0"/>
                          </a:rPr>
                        </m:ctrlPr>
                      </m:dPr>
                      <m:e>
                        <m:r>
                          <a:rPr lang="sr-Latn-RS" sz="1200" i="1">
                            <a:latin typeface="Cambria Math" panose="02040503050406030204" pitchFamily="18" charset="0"/>
                          </a:rPr>
                          <m:t>𝑎</m:t>
                        </m:r>
                      </m:e>
                    </m:d>
                    <m:r>
                      <a:rPr lang="sr-Latn-RS" sz="1200">
                        <a:latin typeface="Cambria Math" panose="02040503050406030204" pitchFamily="18" charset="0"/>
                      </a:rPr>
                      <m:t>⟨</m:t>
                    </m:r>
                    <m:r>
                      <m:rPr>
                        <m:sty m:val="p"/>
                      </m:rPr>
                      <a:rPr lang="en-US" sz="1200" b="0" i="0" smtClean="0">
                        <a:latin typeface="Cambria Math" panose="02040503050406030204" pitchFamily="18" charset="0"/>
                      </a:rPr>
                      <m:t>a</m:t>
                    </m:r>
                    <m:r>
                      <a:rPr lang="sr-Latn-RS" sz="1200">
                        <a:latin typeface="Cambria Math" panose="02040503050406030204" pitchFamily="18" charset="0"/>
                      </a:rPr>
                      <m:t>|</m:t>
                    </m:r>
                  </m:oMath>
                </a14:m>
                <a:r>
                  <a:rPr lang="en-ZA" dirty="0"/>
                  <a:t> is called the </a:t>
                </a:r>
                <a:r>
                  <a:rPr lang="en-ZA" b="0" dirty="0"/>
                  <a:t>density matrix of a pure state</a:t>
                </a:r>
                <a:r>
                  <a:rPr lang="en-ZA" dirty="0"/>
                  <a:t>, usually denoted by </a:t>
                </a:r>
                <a14:m>
                  <m:oMath xmlns:m="http://schemas.openxmlformats.org/officeDocument/2006/math">
                    <m:r>
                      <a:rPr lang="en-ZA" sz="1200" i="1" smtClean="0">
                        <a:latin typeface="Cambria Math" panose="02040503050406030204" pitchFamily="18" charset="0"/>
                        <a:ea typeface="Cambria Math" panose="02040503050406030204" pitchFamily="18" charset="0"/>
                      </a:rPr>
                      <m:t>𝜌</m:t>
                    </m:r>
                  </m:oMath>
                </a14:m>
                <a:r>
                  <a:rPr lang="en-ZA" dirty="0"/>
                  <a:t>.</a:t>
                </a:r>
              </a:p>
              <a:p>
                <a:pPr algn="just"/>
                <a:endParaRPr lang="en-ZA" dirty="0"/>
              </a:p>
              <a:p>
                <a:pPr algn="just"/>
                <a:r>
                  <a:rPr lang="en-ZA" dirty="0"/>
                  <a:t>Notice that the diagonal elements of this matrix are </a:t>
                </a:r>
                <a14:m>
                  <m:oMath xmlns:m="http://schemas.openxmlformats.org/officeDocument/2006/math">
                    <m:sSup>
                      <m:sSupPr>
                        <m:ctrlPr>
                          <a:rPr lang="en-ZA" sz="1200" i="1" smtClean="0">
                            <a:latin typeface="Cambria Math" panose="02040503050406030204" pitchFamily="18" charset="0"/>
                          </a:rPr>
                        </m:ctrlPr>
                      </m:sSupPr>
                      <m:e>
                        <m:d>
                          <m:dPr>
                            <m:begChr m:val="|"/>
                            <m:endChr m:val="|"/>
                            <m:ctrlPr>
                              <a:rPr lang="en-ZA" sz="1200" i="1" smtClean="0">
                                <a:latin typeface="Cambria Math" panose="02040503050406030204" pitchFamily="18" charset="0"/>
                              </a:rPr>
                            </m:ctrlPr>
                          </m:dPr>
                          <m:e>
                            <m:sSub>
                              <m:sSubPr>
                                <m:ctrlPr>
                                  <a:rPr lang="en-ZA" sz="1200" i="1">
                                    <a:latin typeface="Cambria Math" panose="02040503050406030204" pitchFamily="18" charset="0"/>
                                  </a:rPr>
                                </m:ctrlPr>
                              </m:sSubPr>
                              <m:e>
                                <m:r>
                                  <a:rPr lang="sr-Latn-RS" sz="1200" i="1">
                                    <a:latin typeface="Cambria Math" panose="02040503050406030204" pitchFamily="18" charset="0"/>
                                  </a:rPr>
                                  <m:t>𝑎</m:t>
                                </m:r>
                              </m:e>
                              <m:sub>
                                <m:r>
                                  <a:rPr lang="sr-Latn-RS" sz="1200" i="1">
                                    <a:latin typeface="Cambria Math" panose="02040503050406030204" pitchFamily="18" charset="0"/>
                                  </a:rPr>
                                  <m:t>1</m:t>
                                </m:r>
                              </m:sub>
                            </m:sSub>
                          </m:e>
                        </m:d>
                      </m:e>
                      <m:sup>
                        <m:r>
                          <a:rPr lang="en-US" sz="1200" b="0" i="1" smtClean="0">
                            <a:latin typeface="Cambria Math" panose="02040503050406030204" pitchFamily="18" charset="0"/>
                          </a:rPr>
                          <m:t>2</m:t>
                        </m:r>
                      </m:sup>
                    </m:sSup>
                  </m:oMath>
                </a14:m>
                <a:r>
                  <a:rPr lang="en-ZA" dirty="0"/>
                  <a:t> and </a:t>
                </a:r>
                <a14:m>
                  <m:oMath xmlns:m="http://schemas.openxmlformats.org/officeDocument/2006/math">
                    <m:sSup>
                      <m:sSupPr>
                        <m:ctrlPr>
                          <a:rPr lang="en-ZA" sz="1200" i="1" smtClean="0">
                            <a:latin typeface="Cambria Math" panose="02040503050406030204" pitchFamily="18" charset="0"/>
                          </a:rPr>
                        </m:ctrlPr>
                      </m:sSupPr>
                      <m:e>
                        <m:d>
                          <m:dPr>
                            <m:begChr m:val="|"/>
                            <m:endChr m:val="|"/>
                            <m:ctrlPr>
                              <a:rPr lang="en-ZA" sz="1200" i="1" smtClean="0">
                                <a:latin typeface="Cambria Math" panose="02040503050406030204" pitchFamily="18" charset="0"/>
                              </a:rPr>
                            </m:ctrlPr>
                          </m:dPr>
                          <m:e>
                            <m:sSub>
                              <m:sSubPr>
                                <m:ctrlPr>
                                  <a:rPr lang="en-ZA" sz="1200" i="1">
                                    <a:latin typeface="Cambria Math" panose="02040503050406030204" pitchFamily="18" charset="0"/>
                                  </a:rPr>
                                </m:ctrlPr>
                              </m:sSubPr>
                              <m:e>
                                <m:r>
                                  <a:rPr lang="sr-Latn-RS" sz="1200" i="1">
                                    <a:latin typeface="Cambria Math" panose="02040503050406030204" pitchFamily="18" charset="0"/>
                                  </a:rPr>
                                  <m:t>𝑎</m:t>
                                </m:r>
                              </m:e>
                              <m:sub>
                                <m:r>
                                  <a:rPr lang="en-US" sz="1200" b="0" i="1" smtClean="0">
                                    <a:latin typeface="Cambria Math" panose="02040503050406030204" pitchFamily="18" charset="0"/>
                                  </a:rPr>
                                  <m:t>2</m:t>
                                </m:r>
                              </m:sub>
                            </m:sSub>
                          </m:e>
                        </m:d>
                      </m:e>
                      <m:sup>
                        <m:r>
                          <a:rPr lang="en-US" sz="1200" b="0" i="1" smtClean="0">
                            <a:latin typeface="Cambria Math" panose="02040503050406030204" pitchFamily="18" charset="0"/>
                          </a:rPr>
                          <m:t>2</m:t>
                        </m:r>
                      </m:sup>
                    </m:sSup>
                  </m:oMath>
                </a14:m>
                <a:r>
                  <a:rPr lang="en-ZA" dirty="0"/>
                  <a:t>. Their sum is the trace of the density matrix. For a normalized quantum state, this sum is equal to one. </a:t>
                </a:r>
                <a:endParaRPr lang="en-US" dirty="0"/>
              </a:p>
            </p:txBody>
          </p:sp>
        </mc:Choice>
        <mc:Fallback>
          <p:sp>
            <p:nvSpPr>
              <p:cNvPr id="3" name="Notes Placeholder 2"/>
              <p:cNvSpPr>
                <a:spLocks noGrp="1"/>
              </p:cNvSpPr>
              <p:nvPr>
                <p:ph type="body" idx="1"/>
              </p:nvPr>
            </p:nvSpPr>
            <p:spPr/>
            <p:txBody>
              <a:bodyPr/>
              <a:lstStyle/>
              <a:p>
                <a:pPr algn="just"/>
                <a:r>
                  <a:rPr lang="en-ZA" dirty="0"/>
                  <a:t>The </a:t>
                </a:r>
                <a:r>
                  <a:rPr lang="en-ZA" b="0" dirty="0"/>
                  <a:t>outer product</a:t>
                </a:r>
                <a:r>
                  <a:rPr lang="en-ZA" dirty="0"/>
                  <a:t> is another important operation involving vectors. It is formed by multiplying a ket vector by a bra vector. Unlike the inner product, which produces a single number, the outer product produces a </a:t>
                </a:r>
                <a:r>
                  <a:rPr lang="en-ZA" b="0" dirty="0"/>
                  <a:t>matrix</a:t>
                </a:r>
                <a:r>
                  <a:rPr lang="en-ZA" dirty="0"/>
                  <a:t>.</a:t>
                </a:r>
              </a:p>
              <a:p>
                <a:pPr algn="just"/>
                <a:endParaRPr lang="en-ZA" dirty="0"/>
              </a:p>
              <a:p>
                <a:pPr algn="just"/>
                <a:r>
                  <a:rPr lang="en-ZA" dirty="0"/>
                  <a:t>For example, if the ket </a:t>
                </a:r>
                <a:r>
                  <a:rPr lang="en-ZA" sz="1200" i="0">
                    <a:latin typeface="Cambria Math" panose="02040503050406030204" pitchFamily="18" charset="0"/>
                  </a:rPr>
                  <a:t>|</a:t>
                </a:r>
                <a:r>
                  <a:rPr lang="sr-Latn-RS" sz="1200" i="0">
                    <a:latin typeface="Cambria Math" panose="02040503050406030204" pitchFamily="18" charset="0"/>
                  </a:rPr>
                  <a:t>𝑎⟩</a:t>
                </a:r>
                <a:r>
                  <a:rPr lang="en-ZA" dirty="0"/>
                  <a:t> has two components, </a:t>
                </a:r>
                <a:r>
                  <a:rPr lang="sr-Latn-RS" sz="1200" i="0">
                    <a:latin typeface="Cambria Math" panose="02040503050406030204" pitchFamily="18" charset="0"/>
                  </a:rPr>
                  <a:t>𝑎</a:t>
                </a:r>
                <a:r>
                  <a:rPr lang="en-ZA" sz="1200" i="0">
                    <a:latin typeface="Cambria Math" panose="02040503050406030204" pitchFamily="18" charset="0"/>
                  </a:rPr>
                  <a:t>_</a:t>
                </a:r>
                <a:r>
                  <a:rPr lang="sr-Latn-RS" sz="1200" i="0">
                    <a:latin typeface="Cambria Math" panose="02040503050406030204" pitchFamily="18" charset="0"/>
                  </a:rPr>
                  <a:t>1</a:t>
                </a:r>
                <a:r>
                  <a:rPr lang="en-ZA" dirty="0"/>
                  <a:t> and </a:t>
                </a:r>
                <a:r>
                  <a:rPr lang="sr-Latn-RS" sz="1200" i="0">
                    <a:latin typeface="Cambria Math" panose="02040503050406030204" pitchFamily="18" charset="0"/>
                  </a:rPr>
                  <a:t>𝑎</a:t>
                </a:r>
                <a:r>
                  <a:rPr lang="en-ZA" sz="1200" i="0">
                    <a:latin typeface="Cambria Math" panose="02040503050406030204" pitchFamily="18" charset="0"/>
                  </a:rPr>
                  <a:t>_</a:t>
                </a:r>
                <a:r>
                  <a:rPr lang="en-US" sz="1200" b="0" i="0">
                    <a:latin typeface="Cambria Math" panose="02040503050406030204" pitchFamily="18" charset="0"/>
                  </a:rPr>
                  <a:t>2</a:t>
                </a:r>
                <a:r>
                  <a:rPr lang="en-ZA" dirty="0"/>
                  <a:t>, and the bra </a:t>
                </a:r>
                <a:r>
                  <a:rPr lang="sr-Latn-RS" sz="1200" i="0">
                    <a:latin typeface="Cambria Math" panose="02040503050406030204" pitchFamily="18" charset="0"/>
                  </a:rPr>
                  <a:t>⟨</a:t>
                </a:r>
                <a:r>
                  <a:rPr lang="en-US" sz="1200" b="0" i="0">
                    <a:latin typeface="Cambria Math" panose="02040503050406030204" pitchFamily="18" charset="0"/>
                  </a:rPr>
                  <a:t>b</a:t>
                </a:r>
                <a:r>
                  <a:rPr lang="sr-Latn-RS" sz="1200" i="0">
                    <a:latin typeface="Cambria Math" panose="02040503050406030204" pitchFamily="18" charset="0"/>
                  </a:rPr>
                  <a:t>|</a:t>
                </a:r>
                <a:r>
                  <a:rPr lang="en-ZA" dirty="0"/>
                  <a:t> has components </a:t>
                </a:r>
                <a:r>
                  <a:rPr lang="sr-Latn-RS" sz="1200" i="0">
                    <a:latin typeface="Cambria Math" panose="02040503050406030204" pitchFamily="18" charset="0"/>
                  </a:rPr>
                  <a:t>𝑏</a:t>
                </a:r>
                <a:r>
                  <a:rPr lang="en-ZA" sz="1200" i="0">
                    <a:latin typeface="Cambria Math" panose="02040503050406030204" pitchFamily="18" charset="0"/>
                  </a:rPr>
                  <a:t>_</a:t>
                </a:r>
                <a:r>
                  <a:rPr lang="sr-Latn-RS" sz="1200" i="0">
                    <a:latin typeface="Cambria Math" panose="02040503050406030204" pitchFamily="18" charset="0"/>
                  </a:rPr>
                  <a:t>1^∗</a:t>
                </a:r>
                <a:r>
                  <a:rPr lang="en-ZA" dirty="0"/>
                  <a:t> and </a:t>
                </a:r>
                <a:r>
                  <a:rPr lang="sr-Latn-RS" sz="1200" i="0">
                    <a:latin typeface="Cambria Math" panose="02040503050406030204" pitchFamily="18" charset="0"/>
                  </a:rPr>
                  <a:t>𝑏</a:t>
                </a:r>
                <a:r>
                  <a:rPr lang="en-ZA" sz="1200" i="0">
                    <a:latin typeface="Cambria Math" panose="02040503050406030204" pitchFamily="18" charset="0"/>
                  </a:rPr>
                  <a:t>_</a:t>
                </a:r>
                <a:r>
                  <a:rPr lang="en-US" sz="1200" b="0" i="0">
                    <a:latin typeface="Cambria Math" panose="02040503050406030204" pitchFamily="18" charset="0"/>
                  </a:rPr>
                  <a:t>2</a:t>
                </a:r>
                <a:r>
                  <a:rPr lang="sr-Latn-RS" sz="1200" b="0" i="0">
                    <a:latin typeface="Cambria Math" panose="02040503050406030204" pitchFamily="18" charset="0"/>
                  </a:rPr>
                  <a:t>^</a:t>
                </a:r>
                <a:r>
                  <a:rPr lang="sr-Latn-RS" sz="1200" i="0">
                    <a:latin typeface="Cambria Math" panose="02040503050406030204" pitchFamily="18" charset="0"/>
                  </a:rPr>
                  <a:t>∗</a:t>
                </a:r>
                <a:r>
                  <a:rPr lang="en-ZA" dirty="0"/>
                  <a:t>, their outer product</a:t>
                </a:r>
                <a:r>
                  <a:rPr lang="en-ZA" baseline="0" dirty="0"/>
                  <a:t> </a:t>
                </a:r>
                <a:r>
                  <a:rPr lang="en-ZA" sz="1200" i="0">
                    <a:latin typeface="Cambria Math" panose="02040503050406030204" pitchFamily="18" charset="0"/>
                  </a:rPr>
                  <a:t>|</a:t>
                </a:r>
                <a:r>
                  <a:rPr lang="sr-Latn-RS" sz="1200" i="0">
                    <a:latin typeface="Cambria Math" panose="02040503050406030204" pitchFamily="18" charset="0"/>
                  </a:rPr>
                  <a:t>𝑎⟩⟨𝑏|</a:t>
                </a:r>
                <a:r>
                  <a:rPr lang="en-ZA" dirty="0"/>
                  <a:t> produces a two-by-two matrix. Each element of the ket is multiplied by each element of the bra.</a:t>
                </a:r>
              </a:p>
              <a:p>
                <a:pPr algn="just"/>
                <a:endParaRPr lang="en-ZA" dirty="0"/>
              </a:p>
              <a:p>
                <a:pPr algn="just"/>
                <a:r>
                  <a:rPr lang="en-ZA" dirty="0"/>
                  <a:t>An especially important case in quantum mechanics occurs when a state vector is multiplied by its own bra. The outer product </a:t>
                </a:r>
                <a:r>
                  <a:rPr lang="en-ZA" sz="1200" i="0">
                    <a:latin typeface="Cambria Math" panose="02040503050406030204" pitchFamily="18" charset="0"/>
                  </a:rPr>
                  <a:t>|</a:t>
                </a:r>
                <a:r>
                  <a:rPr lang="sr-Latn-RS" sz="1200" i="0">
                    <a:latin typeface="Cambria Math" panose="02040503050406030204" pitchFamily="18" charset="0"/>
                  </a:rPr>
                  <a:t>𝑎⟩⟨</a:t>
                </a:r>
                <a:r>
                  <a:rPr lang="en-US" sz="1200" b="0" i="0">
                    <a:latin typeface="Cambria Math" panose="02040503050406030204" pitchFamily="18" charset="0"/>
                  </a:rPr>
                  <a:t>a</a:t>
                </a:r>
                <a:r>
                  <a:rPr lang="sr-Latn-RS" sz="1200" i="0">
                    <a:latin typeface="Cambria Math" panose="02040503050406030204" pitchFamily="18" charset="0"/>
                  </a:rPr>
                  <a:t>|</a:t>
                </a:r>
                <a:r>
                  <a:rPr lang="en-ZA" dirty="0"/>
                  <a:t> is called the </a:t>
                </a:r>
                <a:r>
                  <a:rPr lang="en-ZA" b="0" dirty="0"/>
                  <a:t>density matrix of a pure state</a:t>
                </a:r>
                <a:r>
                  <a:rPr lang="en-ZA" dirty="0"/>
                  <a:t>, usually denoted by </a:t>
                </a:r>
                <a:r>
                  <a:rPr lang="en-ZA" sz="1200" i="0">
                    <a:latin typeface="Cambria Math" panose="02040503050406030204" pitchFamily="18" charset="0"/>
                    <a:ea typeface="Cambria Math" panose="02040503050406030204" pitchFamily="18" charset="0"/>
                  </a:rPr>
                  <a:t>𝜌</a:t>
                </a:r>
                <a:r>
                  <a:rPr lang="en-ZA" dirty="0"/>
                  <a:t>.</a:t>
                </a:r>
              </a:p>
              <a:p>
                <a:pPr algn="just"/>
                <a:endParaRPr lang="en-ZA" dirty="0"/>
              </a:p>
              <a:p>
                <a:pPr algn="just"/>
                <a:r>
                  <a:rPr lang="en-ZA" dirty="0"/>
                  <a:t>Notice that the diagonal elements of this matrix are </a:t>
                </a:r>
                <a:r>
                  <a:rPr lang="en-ZA" sz="1200" i="0">
                    <a:latin typeface="Cambria Math" panose="02040503050406030204" pitchFamily="18" charset="0"/>
                  </a:rPr>
                  <a:t>|</a:t>
                </a:r>
                <a:r>
                  <a:rPr lang="sr-Latn-RS" sz="1200" i="0">
                    <a:latin typeface="Cambria Math" panose="02040503050406030204" pitchFamily="18" charset="0"/>
                  </a:rPr>
                  <a:t>𝑎</a:t>
                </a:r>
                <a:r>
                  <a:rPr lang="en-ZA" sz="1200" i="0">
                    <a:latin typeface="Cambria Math" panose="02040503050406030204" pitchFamily="18" charset="0"/>
                  </a:rPr>
                  <a:t>_</a:t>
                </a:r>
                <a:r>
                  <a:rPr lang="sr-Latn-RS" sz="1200" i="0">
                    <a:latin typeface="Cambria Math" panose="02040503050406030204" pitchFamily="18" charset="0"/>
                  </a:rPr>
                  <a:t>1 |</a:t>
                </a:r>
                <a:r>
                  <a:rPr lang="en-ZA" sz="1200" i="0">
                    <a:latin typeface="Cambria Math" panose="02040503050406030204" pitchFamily="18" charset="0"/>
                  </a:rPr>
                  <a:t>^</a:t>
                </a:r>
                <a:r>
                  <a:rPr lang="en-US" sz="1200" b="0" i="0">
                    <a:latin typeface="Cambria Math" panose="02040503050406030204" pitchFamily="18" charset="0"/>
                  </a:rPr>
                  <a:t>2</a:t>
                </a:r>
                <a:r>
                  <a:rPr lang="en-ZA" dirty="0"/>
                  <a:t> and </a:t>
                </a:r>
                <a:r>
                  <a:rPr lang="en-ZA" sz="1200" i="0">
                    <a:latin typeface="Cambria Math" panose="02040503050406030204" pitchFamily="18" charset="0"/>
                  </a:rPr>
                  <a:t>|</a:t>
                </a:r>
                <a:r>
                  <a:rPr lang="sr-Latn-RS" sz="1200" i="0">
                    <a:latin typeface="Cambria Math" panose="02040503050406030204" pitchFamily="18" charset="0"/>
                  </a:rPr>
                  <a:t>𝑎</a:t>
                </a:r>
                <a:r>
                  <a:rPr lang="en-ZA" sz="1200" i="0">
                    <a:latin typeface="Cambria Math" panose="02040503050406030204" pitchFamily="18" charset="0"/>
                  </a:rPr>
                  <a:t>_</a:t>
                </a:r>
                <a:r>
                  <a:rPr lang="en-US" sz="1200" b="0" i="0">
                    <a:latin typeface="Cambria Math" panose="02040503050406030204" pitchFamily="18" charset="0"/>
                  </a:rPr>
                  <a:t>2</a:t>
                </a:r>
                <a:r>
                  <a:rPr lang="sr-Latn-RS" sz="1200" b="0" i="0">
                    <a:latin typeface="Cambria Math" panose="02040503050406030204" pitchFamily="18" charset="0"/>
                  </a:rPr>
                  <a:t> |</a:t>
                </a:r>
                <a:r>
                  <a:rPr lang="en-ZA" sz="1200" b="0" i="0">
                    <a:latin typeface="Cambria Math" panose="02040503050406030204" pitchFamily="18" charset="0"/>
                  </a:rPr>
                  <a:t>^</a:t>
                </a:r>
                <a:r>
                  <a:rPr lang="en-US" sz="1200" b="0" i="0">
                    <a:latin typeface="Cambria Math" panose="02040503050406030204" pitchFamily="18" charset="0"/>
                  </a:rPr>
                  <a:t>2</a:t>
                </a:r>
                <a:r>
                  <a:rPr lang="en-ZA" dirty="0"/>
                  <a:t>. Their sum is the trace of the density matrix. For a normalized quantum state, this sum is equal to one. </a:t>
                </a: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38</a:t>
            </a:fld>
            <a:endParaRPr lang="en-US"/>
          </a:p>
        </p:txBody>
      </p:sp>
    </p:spTree>
    <p:extLst>
      <p:ext uri="{BB962C8B-B14F-4D97-AF65-F5344CB8AC3E}">
        <p14:creationId xmlns:p14="http://schemas.microsoft.com/office/powerpoint/2010/main" val="19327159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Dirac or Bra-Ket Notation:</a:t>
            </a:r>
          </a:p>
          <a:p>
            <a:endParaRPr lang="en-US" dirty="0"/>
          </a:p>
          <a:p>
            <a:pPr marL="171450" indent="-171450">
              <a:buFont typeface="Arial" panose="020B0604020202020204" pitchFamily="34" charset="0"/>
              <a:buChar char="•"/>
            </a:pPr>
            <a:r>
              <a:rPr lang="en-US" dirty="0"/>
              <a:t>A ket is a column vector, and a bra is a row vector.</a:t>
            </a:r>
          </a:p>
          <a:p>
            <a:pPr marL="171450" indent="-171450">
              <a:buFont typeface="Arial" panose="020B0604020202020204" pitchFamily="34" charset="0"/>
              <a:buChar char="•"/>
            </a:pPr>
            <a:r>
              <a:rPr lang="en-US" dirty="0"/>
              <a:t>Bra and ket are dual vectors and complex conjugates of each other.</a:t>
            </a:r>
          </a:p>
          <a:p>
            <a:pPr marL="171450" indent="-171450">
              <a:buFont typeface="Arial" panose="020B0604020202020204" pitchFamily="34" charset="0"/>
              <a:buChar char="•"/>
            </a:pPr>
            <a:r>
              <a:rPr lang="en-US" dirty="0"/>
              <a:t>A ket-ket product is the Kronecker product of two vectors. The ⨂ symbol is often omitted.</a:t>
            </a:r>
          </a:p>
          <a:p>
            <a:pPr marL="171450" indent="-171450">
              <a:buFont typeface="Arial" panose="020B0604020202020204" pitchFamily="34" charset="0"/>
              <a:buChar char="•"/>
            </a:pPr>
            <a:r>
              <a:rPr lang="en-US" dirty="0"/>
              <a:t>A bra-ket product represents the inner product.</a:t>
            </a:r>
          </a:p>
          <a:p>
            <a:pPr marL="171450" indent="-171450">
              <a:buFont typeface="Arial" panose="020B0604020202020204" pitchFamily="34" charset="0"/>
              <a:buChar char="•"/>
            </a:pPr>
            <a:r>
              <a:rPr lang="en-US" dirty="0"/>
              <a:t>A ket-bra product represents the outer product.</a:t>
            </a:r>
          </a:p>
        </p:txBody>
      </p:sp>
      <p:sp>
        <p:nvSpPr>
          <p:cNvPr id="4" name="Slide Number Placeholder 3"/>
          <p:cNvSpPr>
            <a:spLocks noGrp="1"/>
          </p:cNvSpPr>
          <p:nvPr>
            <p:ph type="sldNum" sz="quarter" idx="5"/>
          </p:nvPr>
        </p:nvSpPr>
        <p:spPr/>
        <p:txBody>
          <a:bodyPr/>
          <a:lstStyle/>
          <a:p>
            <a:fld id="{1B2CE5E3-B8BD-D040-AC87-D640191DD8F1}" type="slidenum">
              <a:rPr lang="en-US" smtClean="0"/>
              <a:t>39</a:t>
            </a:fld>
            <a:endParaRPr lang="en-US"/>
          </a:p>
        </p:txBody>
      </p:sp>
    </p:spTree>
    <p:extLst>
      <p:ext uri="{BB962C8B-B14F-4D97-AF65-F5344CB8AC3E}">
        <p14:creationId xmlns:p14="http://schemas.microsoft.com/office/powerpoint/2010/main" val="6903881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ZA" b="0" dirty="0"/>
              <a:t>A vector space is a set of vectors that can be added together and multiplied by scalars. </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A vector space over the complex numbers with a defined inner product is called a unitary space. </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Quantum computers operate in a Hilbert space, named after mathematician David Hilbert. A Hilbert space is a complete vector space with an inner product. </a:t>
            </a:r>
            <a:r>
              <a:rPr lang="en-ZA" dirty="0"/>
              <a:t>In general terms</a:t>
            </a:r>
            <a:r>
              <a:rPr lang="en-ZA" b="0" dirty="0"/>
              <a:t>, completeness means that the limit of any converging sequence of vectors remains within the space. </a:t>
            </a:r>
          </a:p>
          <a:p>
            <a:pPr marL="171450" indent="-171450">
              <a:buFont typeface="Arial" panose="020B0604020202020204" pitchFamily="34" charset="0"/>
              <a:buChar char="•"/>
            </a:pPr>
            <a:endParaRPr lang="en-ZA" b="0" dirty="0"/>
          </a:p>
          <a:p>
            <a:pPr marL="171450" indent="-171450">
              <a:buFont typeface="Arial" panose="020B0604020202020204" pitchFamily="34" charset="0"/>
              <a:buChar char="•"/>
            </a:pPr>
            <a:r>
              <a:rPr lang="en-ZA" b="0" dirty="0"/>
              <a:t>In practice, quantum computing does not require a detailed study of vector space theory. It is sufficient to know that quantum states are represented by vectors in a complex vector space with an inner product, while operations on these states are represented by unitary matrices.</a:t>
            </a:r>
          </a:p>
        </p:txBody>
      </p:sp>
      <p:sp>
        <p:nvSpPr>
          <p:cNvPr id="4" name="Slide Number Placeholder 3"/>
          <p:cNvSpPr>
            <a:spLocks noGrp="1"/>
          </p:cNvSpPr>
          <p:nvPr>
            <p:ph type="sldNum" sz="quarter" idx="5"/>
          </p:nvPr>
        </p:nvSpPr>
        <p:spPr/>
        <p:txBody>
          <a:bodyPr/>
          <a:lstStyle/>
          <a:p>
            <a:fld id="{1B2CE5E3-B8BD-D040-AC87-D640191DD8F1}" type="slidenum">
              <a:rPr lang="en-US" smtClean="0"/>
              <a:t>40</a:t>
            </a:fld>
            <a:endParaRPr lang="en-US"/>
          </a:p>
        </p:txBody>
      </p:sp>
    </p:spTree>
    <p:extLst>
      <p:ext uri="{BB962C8B-B14F-4D97-AF65-F5344CB8AC3E}">
        <p14:creationId xmlns:p14="http://schemas.microsoft.com/office/powerpoint/2010/main" val="572601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solidFill>
                      <a:schemeClr val="tx1"/>
                    </a:solidFill>
                  </a:rPr>
                  <a:t>Just as letters in an alphabet are used to form words, vectors in a vector space are constructed from basis vectors. </a:t>
                </a:r>
                <a:r>
                  <a:rPr lang="en-ZA" dirty="0">
                    <a:solidFill>
                      <a:schemeClr val="tx1"/>
                    </a:solidFill>
                  </a:rPr>
                  <a:t>A set of vectors forms a basis of a vector space if any vector in that space can be expressed as a sum of the basis vectors, each multiplied by a scalar. This sum is called a linear combination.</a:t>
                </a:r>
                <a:endParaRPr lang="en-US" sz="1200" dirty="0">
                  <a:solidFill>
                    <a:schemeClr val="tx1"/>
                  </a:solidFill>
                </a:endParaRPr>
              </a:p>
              <a:p>
                <a:pPr algn="just"/>
                <a:endParaRPr lang="en-ZA" b="0" dirty="0">
                  <a:solidFill>
                    <a:schemeClr val="tx1"/>
                  </a:solidFill>
                </a:endParaRPr>
              </a:p>
              <a:p>
                <a:pPr algn="just"/>
                <a:r>
                  <a:rPr lang="en-ZA" b="0" dirty="0">
                    <a:solidFill>
                      <a:schemeClr val="tx1"/>
                    </a:solidFill>
                  </a:rPr>
                  <a:t> In the example shown,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200" i="1">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𝑒</m:t>
                            </m:r>
                          </m:e>
                          <m:sub>
                            <m:r>
                              <a:rPr lang="en-US" sz="1200" i="1">
                                <a:solidFill>
                                  <a:schemeClr val="tx1"/>
                                </a:solidFill>
                                <a:latin typeface="Cambria Math" panose="02040503050406030204" pitchFamily="18" charset="0"/>
                                <a:cs typeface="Times New Roman" panose="02020603050405020304" pitchFamily="18" charset="0"/>
                              </a:rPr>
                              <m:t>1</m:t>
                            </m:r>
                          </m:sub>
                        </m:sSub>
                      </m:e>
                    </m:d>
                  </m:oMath>
                </a14:m>
                <a:r>
                  <a:rPr lang="en-ZA" b="0" dirty="0">
                    <a:solidFill>
                      <a:schemeClr val="tx1"/>
                    </a:solidFill>
                  </a:rPr>
                  <a:t> and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200" i="1">
                                <a:solidFill>
                                  <a:schemeClr val="tx1"/>
                                </a:solidFill>
                                <a:latin typeface="Cambria Math" panose="02040503050406030204" pitchFamily="18" charset="0"/>
                                <a:cs typeface="Times New Roman" panose="02020603050405020304" pitchFamily="18" charset="0"/>
                              </a:rPr>
                            </m:ctrlPr>
                          </m:sSubPr>
                          <m:e>
                            <m:r>
                              <a:rPr lang="en-US" sz="1200" i="1">
                                <a:solidFill>
                                  <a:schemeClr val="tx1"/>
                                </a:solidFill>
                                <a:latin typeface="Cambria Math" panose="02040503050406030204" pitchFamily="18" charset="0"/>
                                <a:cs typeface="Times New Roman" panose="02020603050405020304" pitchFamily="18" charset="0"/>
                              </a:rPr>
                              <m:t>𝑒</m:t>
                            </m:r>
                          </m:e>
                          <m:sub>
                            <m:r>
                              <a:rPr lang="en-US" sz="1200" b="0" i="1" smtClean="0">
                                <a:solidFill>
                                  <a:schemeClr val="tx1"/>
                                </a:solidFill>
                                <a:latin typeface="Cambria Math" panose="02040503050406030204" pitchFamily="18" charset="0"/>
                                <a:cs typeface="Times New Roman" panose="02020603050405020304" pitchFamily="18" charset="0"/>
                              </a:rPr>
                              <m:t>2</m:t>
                            </m:r>
                          </m:sub>
                        </m:sSub>
                      </m:e>
                    </m:d>
                  </m:oMath>
                </a14:m>
                <a:r>
                  <a:rPr lang="en-ZA" b="0" dirty="0">
                    <a:solidFill>
                      <a:schemeClr val="tx1"/>
                    </a:solidFill>
                  </a:rPr>
                  <a:t> are the basis vectors of a two-dimensional vector space. These vectors are orthogonal and have unit length. Any vector </a:t>
                </a:r>
                <a14:m>
                  <m:oMath xmlns:m="http://schemas.openxmlformats.org/officeDocument/2006/math">
                    <m:d>
                      <m:dPr>
                        <m:begChr m:val="|"/>
                        <m:endChr m:val="⟩"/>
                        <m:ctrlPr>
                          <a:rPr lang="en-US" sz="120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cs typeface="Times New Roman" panose="02020603050405020304" pitchFamily="18" charset="0"/>
                          </a:rPr>
                          <m:t>𝑣</m:t>
                        </m:r>
                      </m:e>
                    </m:d>
                  </m:oMath>
                </a14:m>
                <a:r>
                  <a:rPr lang="en-ZA" b="0" dirty="0">
                    <a:solidFill>
                      <a:schemeClr val="tx1"/>
                    </a:solidFill>
                  </a:rPr>
                  <a:t> in this space can be expressed as a linear combination of the basis vectors.</a:t>
                </a:r>
              </a:p>
              <a:p>
                <a:pPr algn="just"/>
                <a:endParaRPr lang="en-ZA" b="0" dirty="0">
                  <a:solidFill>
                    <a:schemeClr val="tx1"/>
                  </a:solidFill>
                </a:endParaRPr>
              </a:p>
              <a:p>
                <a:pPr algn="just"/>
                <a:r>
                  <a:rPr lang="en-ZA" b="0" dirty="0">
                    <a:solidFill>
                      <a:schemeClr val="tx1"/>
                    </a:solidFill>
                  </a:rPr>
                  <a:t>Basis vectors are linearly independent, meaning that none of them can be written as a linear combination of the others.</a:t>
                </a:r>
              </a:p>
              <a:p>
                <a:pPr algn="just"/>
                <a:endParaRPr lang="en-ZA" b="0" dirty="0">
                  <a:solidFill>
                    <a:schemeClr val="tx1"/>
                  </a:solidFill>
                </a:endParaRPr>
              </a:p>
              <a:p>
                <a:pPr algn="just"/>
                <a:endParaRPr lang="en-ZA" b="0" dirty="0">
                  <a:solidFill>
                    <a:schemeClr val="tx1"/>
                  </a:solidFill>
                </a:endParaRPr>
              </a:p>
            </p:txBody>
          </p:sp>
        </mc:Choice>
        <mc:Fallback xmlns="">
          <p:sp>
            <p:nvSpPr>
              <p:cNvPr id="3" name="Notes Placeholder 2"/>
              <p:cNvSpPr>
                <a:spLocks noGrp="1"/>
              </p:cNvSpPr>
              <p:nvPr>
                <p:ph type="body" idx="1"/>
              </p:nvPr>
            </p:nvSpPr>
            <p:spPr/>
            <p: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kern="1200" dirty="0">
                    <a:solidFill>
                      <a:schemeClr val="tx1"/>
                    </a:solidFill>
                    <a:effectLst/>
                    <a:latin typeface="+mn-lt"/>
                    <a:ea typeface="+mn-ea"/>
                    <a:cs typeface="+mn-cs"/>
                  </a:rPr>
                  <a:t>Slicno </a:t>
                </a:r>
                <a:r>
                  <a:rPr lang="en-US" sz="2000" kern="1200" dirty="0" err="1">
                    <a:solidFill>
                      <a:schemeClr val="tx1"/>
                    </a:solidFill>
                    <a:effectLst/>
                    <a:latin typeface="+mn-lt"/>
                    <a:ea typeface="+mn-ea"/>
                    <a:cs typeface="+mn-cs"/>
                  </a:rPr>
                  <a:t>kao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sto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koristimo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slova</a:t>
                </a:r>
                <a:r>
                  <a:rPr lang="en-US" sz="2000" kern="1200" dirty="0">
                    <a:solidFill>
                      <a:schemeClr val="tx1"/>
                    </a:solidFill>
                    <a:effectLst/>
                    <a:latin typeface="+mn-lt"/>
                    <a:ea typeface="+mn-ea"/>
                    <a:cs typeface="+mn-cs"/>
                  </a:rPr>
                  <a:t> azbuka </a:t>
                </a:r>
                <a:r>
                  <a:rPr lang="en-US" sz="2000" kern="1200" dirty="0" err="1">
                    <a:solidFill>
                      <a:schemeClr val="tx1"/>
                    </a:solidFill>
                    <a:effectLst/>
                    <a:latin typeface="+mn-lt"/>
                    <a:ea typeface="+mn-ea"/>
                    <a:cs typeface="+mn-cs"/>
                  </a:rPr>
                  <a:t>za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konstrukciju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reci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vektori</a:t>
                </a:r>
                <a:r>
                  <a:rPr lang="en-US" sz="2000" kern="1200" dirty="0">
                    <a:solidFill>
                      <a:schemeClr val="tx1"/>
                    </a:solidFill>
                    <a:effectLst/>
                    <a:latin typeface="+mn-lt"/>
                    <a:ea typeface="+mn-ea"/>
                    <a:cs typeface="+mn-cs"/>
                  </a:rPr>
                  <a:t> u </a:t>
                </a:r>
                <a:r>
                  <a:rPr lang="en-US" sz="2000" kern="1200" dirty="0" err="1">
                    <a:solidFill>
                      <a:schemeClr val="tx1"/>
                    </a:solidFill>
                    <a:effectLst/>
                    <a:latin typeface="+mn-lt"/>
                    <a:ea typeface="+mn-ea"/>
                    <a:cs typeface="+mn-cs"/>
                  </a:rPr>
                  <a:t>nekom</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vektorskom</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prostoru</a:t>
                </a:r>
                <a:r>
                  <a:rPr lang="en-US" sz="2000" kern="1200" dirty="0">
                    <a:solidFill>
                      <a:schemeClr val="tx1"/>
                    </a:solidFill>
                    <a:effectLst/>
                    <a:latin typeface="+mn-lt"/>
                    <a:ea typeface="+mn-ea"/>
                    <a:cs typeface="+mn-cs"/>
                  </a:rPr>
                  <a:t> se </a:t>
                </a:r>
                <a:r>
                  <a:rPr lang="en-US" sz="2000" kern="1200" dirty="0" err="1">
                    <a:solidFill>
                      <a:schemeClr val="tx1"/>
                    </a:solidFill>
                    <a:effectLst/>
                    <a:latin typeface="+mn-lt"/>
                    <a:ea typeface="+mn-ea"/>
                    <a:cs typeface="+mn-cs"/>
                  </a:rPr>
                  <a:t>konstruisu</a:t>
                </a:r>
                <a:r>
                  <a:rPr lang="en-US" sz="2000" kern="1200" dirty="0">
                    <a:solidFill>
                      <a:schemeClr val="tx1"/>
                    </a:solidFill>
                    <a:effectLst/>
                    <a:latin typeface="+mn-lt"/>
                    <a:ea typeface="+mn-ea"/>
                    <a:cs typeface="+mn-cs"/>
                  </a:rPr>
                  <a:t> od </a:t>
                </a:r>
                <a:r>
                  <a:rPr lang="en-US" sz="2000" kern="1200" dirty="0" err="1">
                    <a:solidFill>
                      <a:schemeClr val="tx1"/>
                    </a:solidFill>
                    <a:effectLst/>
                    <a:latin typeface="+mn-lt"/>
                    <a:ea typeface="+mn-ea"/>
                    <a:cs typeface="+mn-cs"/>
                  </a:rPr>
                  <a:t>takozvanih</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baznih</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vektora</a:t>
                </a:r>
                <a:r>
                  <a:rPr lang="en-US" sz="2000" kern="1200" dirty="0">
                    <a:solidFill>
                      <a:schemeClr val="tx1"/>
                    </a:solidFill>
                    <a:effectLst/>
                    <a:latin typeface="+mn-lt"/>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kern="1200" dirty="0" err="1">
                    <a:solidFill>
                      <a:schemeClr val="tx1"/>
                    </a:solidFill>
                    <a:effectLst/>
                    <a:latin typeface="+mn-lt"/>
                    <a:ea typeface="+mn-ea"/>
                    <a:cs typeface="+mn-cs"/>
                  </a:rPr>
                  <a:t>Skup</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vektora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čini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bazni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skup</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ili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bazu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vektorskog</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prostora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ako</a:t>
                </a:r>
                <a:r>
                  <a:rPr lang="en-US" sz="2000" kern="1200" dirty="0">
                    <a:solidFill>
                      <a:schemeClr val="tx1"/>
                    </a:solidFill>
                    <a:effectLst/>
                    <a:latin typeface="+mn-lt"/>
                    <a:ea typeface="+mn-ea"/>
                    <a:cs typeface="+mn-cs"/>
                  </a:rPr>
                  <a:t> se </a:t>
                </a:r>
                <a:r>
                  <a:rPr lang="en-US" sz="2000" kern="1200" dirty="0" err="1">
                    <a:solidFill>
                      <a:schemeClr val="tx1"/>
                    </a:solidFill>
                    <a:effectLst/>
                    <a:latin typeface="+mn-lt"/>
                    <a:ea typeface="+mn-ea"/>
                    <a:cs typeface="+mn-cs"/>
                  </a:rPr>
                  <a:t>bilo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koji</a:t>
                </a:r>
                <a:r>
                  <a:rPr lang="en-US" sz="2000" kern="1200" dirty="0">
                    <a:solidFill>
                      <a:schemeClr val="tx1"/>
                    </a:solidFill>
                    <a:effectLst/>
                    <a:latin typeface="+mn-lt"/>
                    <a:ea typeface="+mn-ea"/>
                    <a:cs typeface="+mn-cs"/>
                  </a:rPr>
                  <a:t> vector u tom </a:t>
                </a:r>
                <a:r>
                  <a:rPr lang="en-US" sz="2000" kern="1200" dirty="0" err="1">
                    <a:solidFill>
                      <a:schemeClr val="tx1"/>
                    </a:solidFill>
                    <a:effectLst/>
                    <a:latin typeface="+mn-lt"/>
                    <a:ea typeface="+mn-ea"/>
                    <a:cs typeface="+mn-cs"/>
                  </a:rPr>
                  <a:t>prostoru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može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izraziti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kao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suma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vektora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baze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množene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skalarima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Linearna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kombinacija</a:t>
                </a:r>
                <a:r>
                  <a:rPr lang="en-US" sz="2000" kern="1200" dirty="0">
                    <a:solidFill>
                      <a:schemeClr val="tx1"/>
                    </a:solidFill>
                    <a:effectLst/>
                    <a:latin typeface="+mn-lt"/>
                    <a:ea typeface="+mn-ea"/>
                    <a:cs typeface="+mn-cs"/>
                  </a:rPr>
                  <a:t> se </a:t>
                </a:r>
                <a:r>
                  <a:rPr lang="en-US" sz="2000" kern="1200" dirty="0" err="1">
                    <a:solidFill>
                      <a:schemeClr val="tx1"/>
                    </a:solidFill>
                    <a:effectLst/>
                    <a:latin typeface="+mn-lt"/>
                    <a:ea typeface="+mn-ea"/>
                    <a:cs typeface="+mn-cs"/>
                  </a:rPr>
                  <a:t>moze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predstaviti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kao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suma</a:t>
                </a:r>
                <a:r>
                  <a:rPr lang="en-US" sz="2000" kern="1200" dirty="0">
                    <a:solidFill>
                      <a:schemeClr val="tx1"/>
                    </a:solidFill>
                    <a:effectLst/>
                    <a:latin typeface="+mn-lt"/>
                    <a:ea typeface="+mn-ea"/>
                    <a:cs typeface="+mn-cs"/>
                  </a:rPr>
                  <a:t> coordinate </a:t>
                </a:r>
                <a:r>
                  <a:rPr lang="en-US" sz="2000" kern="1200" dirty="0" err="1">
                    <a:solidFill>
                      <a:schemeClr val="tx1"/>
                    </a:solidFill>
                    <a:effectLst/>
                    <a:latin typeface="+mn-lt"/>
                    <a:ea typeface="+mn-ea"/>
                    <a:cs typeface="+mn-cs"/>
                  </a:rPr>
                  <a:t>nekog</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vektora</a:t>
                </a:r>
                <a:r>
                  <a:rPr lang="en-US" sz="2000" kern="1200" dirty="0">
                    <a:solidFill>
                      <a:schemeClr val="tx1"/>
                    </a:solidFill>
                    <a:effectLst/>
                    <a:latin typeface="+mn-lt"/>
                    <a:ea typeface="+mn-ea"/>
                    <a:cs typeface="+mn-cs"/>
                  </a:rPr>
                  <a:t> x </a:t>
                </a:r>
                <a:r>
                  <a:rPr lang="en-US" sz="2000" kern="1200" dirty="0" err="1">
                    <a:solidFill>
                      <a:schemeClr val="tx1"/>
                    </a:solidFill>
                    <a:effectLst/>
                    <a:latin typeface="+mn-lt"/>
                    <a:ea typeface="+mn-ea"/>
                    <a:cs typeface="+mn-cs"/>
                  </a:rPr>
                  <a:t>svaka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pomnozena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skalarom</a:t>
                </a:r>
                <a:r>
                  <a:rPr lang="en-US" sz="2000" kern="1200" dirty="0">
                    <a:solidFill>
                      <a:schemeClr val="tx1"/>
                    </a:solidFill>
                    <a:effectLst/>
                    <a:latin typeface="+mn-lt"/>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kern="1200" dirty="0" err="1">
                    <a:solidFill>
                      <a:schemeClr val="tx1"/>
                    </a:solidFill>
                    <a:effectLst/>
                    <a:latin typeface="+mn-lt"/>
                    <a:ea typeface="+mn-ea"/>
                    <a:cs typeface="+mn-cs"/>
                  </a:rPr>
                  <a:t>Ukvantnom</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racunarstvu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koristimo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vektore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baze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koji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ortogonalni</a:t>
                </a:r>
                <a:r>
                  <a:rPr lang="en-US" sz="2000" kern="1200" dirty="0">
                    <a:solidFill>
                      <a:schemeClr val="tx1"/>
                    </a:solidFill>
                    <a:effectLst/>
                    <a:latin typeface="+mn-lt"/>
                    <a:ea typeface="+mn-ea"/>
                    <a:cs typeface="+mn-cs"/>
                  </a:rPr>
                  <a:t> I </a:t>
                </a:r>
                <a:r>
                  <a:rPr lang="en-US" sz="2000" kern="1200" dirty="0" err="1">
                    <a:solidFill>
                      <a:schemeClr val="tx1"/>
                    </a:solidFill>
                    <a:effectLst/>
                    <a:latin typeface="+mn-lt"/>
                    <a:ea typeface="+mn-ea"/>
                    <a:cs typeface="+mn-cs"/>
                  </a:rPr>
                  <a:t>linearno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nezavisni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znaci</a:t>
                </a:r>
                <a:r>
                  <a:rPr lang="en-US" sz="2000" kern="1200" dirty="0">
                    <a:solidFill>
                      <a:schemeClr val="tx1"/>
                    </a:solidFill>
                    <a:effectLst/>
                    <a:latin typeface="+mn-lt"/>
                    <a:ea typeface="+mn-ea"/>
                    <a:cs typeface="+mn-cs"/>
                  </a:rPr>
                  <a:t> ne </a:t>
                </a:r>
                <a:r>
                  <a:rPr lang="en-US" sz="2000" kern="1200" dirty="0" err="1">
                    <a:solidFill>
                      <a:schemeClr val="tx1"/>
                    </a:solidFill>
                    <a:effectLst/>
                    <a:latin typeface="+mn-lt"/>
                    <a:ea typeface="+mn-ea"/>
                    <a:cs typeface="+mn-cs"/>
                  </a:rPr>
                  <a:t>mogu</a:t>
                </a:r>
                <a:r>
                  <a:rPr lang="en-US" sz="2000" kern="1200" dirty="0">
                    <a:solidFill>
                      <a:schemeClr val="tx1"/>
                    </a:solidFill>
                    <a:effectLst/>
                    <a:latin typeface="+mn-lt"/>
                    <a:ea typeface="+mn-ea"/>
                    <a:cs typeface="+mn-cs"/>
                  </a:rPr>
                  <a:t> se </a:t>
                </a:r>
                <a:r>
                  <a:rPr lang="en-US" sz="2000" kern="1200" dirty="0" err="1">
                    <a:solidFill>
                      <a:schemeClr val="tx1"/>
                    </a:solidFill>
                    <a:effectLst/>
                    <a:latin typeface="+mn-lt"/>
                    <a:ea typeface="+mn-ea"/>
                    <a:cs typeface="+mn-cs"/>
                  </a:rPr>
                  <a:t>predstavili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linearnom</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kombinacijom</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drugih</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vektora</a:t>
                </a:r>
                <a:r>
                  <a:rPr lang="en-US" sz="2000" kern="1200" dirty="0">
                    <a:solidFill>
                      <a:schemeClr val="tx1"/>
                    </a:solidFill>
                    <a:effectLst/>
                    <a:latin typeface="+mn-lt"/>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kern="1200" dirty="0">
                    <a:solidFill>
                      <a:schemeClr val="tx1"/>
                    </a:solidFill>
                    <a:effectLst/>
                    <a:latin typeface="+mn-lt"/>
                    <a:ea typeface="+mn-ea"/>
                    <a:cs typeface="+mn-cs"/>
                  </a:rPr>
                  <a:t>Na </a:t>
                </a:r>
                <a:r>
                  <a:rPr lang="en-US" sz="2000" kern="1200" dirty="0" err="1">
                    <a:solidFill>
                      <a:schemeClr val="tx1"/>
                    </a:solidFill>
                    <a:effectLst/>
                    <a:latin typeface="+mn-lt"/>
                    <a:ea typeface="+mn-ea"/>
                    <a:cs typeface="+mn-cs"/>
                  </a:rPr>
                  <a:t>primeru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slike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levo</a:t>
                </a:r>
                <a:r>
                  <a:rPr lang="en-US" sz="2000" kern="1200" dirty="0">
                    <a:solidFill>
                      <a:schemeClr val="tx1"/>
                    </a:solidFill>
                    <a:effectLst/>
                    <a:latin typeface="+mn-lt"/>
                    <a:ea typeface="+mn-ea"/>
                    <a:cs typeface="+mn-cs"/>
                  </a:rPr>
                  <a:t>, </a:t>
                </a:r>
                <a:r>
                  <a:rPr lang="en-US" sz="2000" b="1" i="0">
                    <a:latin typeface="Cambria Math" panose="02040503050406030204" pitchFamily="18" charset="0"/>
                  </a:rPr>
                  <a:t>𝒆_</a:t>
                </a:r>
                <a:r>
                  <a:rPr lang="en-US" sz="2000" b="0" i="0">
                    <a:latin typeface="Cambria Math" panose="02040503050406030204" pitchFamily="18" charset="0"/>
                  </a:rPr>
                  <a:t>1</a:t>
                </a:r>
                <a:r>
                  <a:rPr lang="en-US" sz="2000" kern="1200" dirty="0">
                    <a:solidFill>
                      <a:schemeClr val="tx1"/>
                    </a:solidFill>
                    <a:effectLst/>
                    <a:latin typeface="+mn-lt"/>
                    <a:ea typeface="+mn-ea"/>
                    <a:cs typeface="+mn-cs"/>
                  </a:rPr>
                  <a:t> I </a:t>
                </a:r>
                <a:r>
                  <a:rPr lang="en-US" sz="2000" b="1" i="0">
                    <a:latin typeface="Cambria Math" panose="02040503050406030204" pitchFamily="18" charset="0"/>
                  </a:rPr>
                  <a:t>𝒆_</a:t>
                </a:r>
                <a:r>
                  <a:rPr lang="en-US" sz="2000" b="0" i="0">
                    <a:latin typeface="Cambria Math" panose="02040503050406030204" pitchFamily="18" charset="0"/>
                  </a:rPr>
                  <a:t>2</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vektori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baze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dvodimenzionalnog</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vektorskog</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prostora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Ovo</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su</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ortogonalni</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vektori</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jedinicne</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duzine</a:t>
                </a:r>
                <a:r>
                  <a:rPr lang="en-US" sz="2000" kern="1200" baseline="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Vektor</a:t>
                </a:r>
                <a:r>
                  <a:rPr lang="en-US" sz="2000" kern="1200" dirty="0">
                    <a:solidFill>
                      <a:schemeClr val="tx1"/>
                    </a:solidFill>
                    <a:effectLst/>
                    <a:latin typeface="+mn-lt"/>
                    <a:ea typeface="+mn-ea"/>
                    <a:cs typeface="+mn-cs"/>
                  </a:rPr>
                  <a:t> </a:t>
                </a:r>
                <a:r>
                  <a:rPr lang="en-US" sz="2000" b="1" i="1" kern="1200" dirty="0">
                    <a:solidFill>
                      <a:schemeClr val="tx1"/>
                    </a:solidFill>
                    <a:effectLst/>
                    <a:latin typeface="+mn-lt"/>
                    <a:ea typeface="+mn-ea"/>
                    <a:cs typeface="+mn-cs"/>
                  </a:rPr>
                  <a:t>a</a:t>
                </a:r>
                <a:r>
                  <a:rPr lang="en-US" sz="2000" kern="1200" dirty="0">
                    <a:solidFill>
                      <a:schemeClr val="tx1"/>
                    </a:solidFill>
                    <a:effectLst/>
                    <a:latin typeface="+mn-lt"/>
                    <a:ea typeface="+mn-ea"/>
                    <a:cs typeface="+mn-cs"/>
                  </a:rPr>
                  <a:t> se</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moze</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predstaviti</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kao</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linerana</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kobinacija</a:t>
                </a:r>
                <a:r>
                  <a:rPr lang="en-US" sz="2000" kern="1200" baseline="0" dirty="0">
                    <a:solidFill>
                      <a:schemeClr val="tx1"/>
                    </a:solidFill>
                    <a:effectLst/>
                    <a:latin typeface="+mn-lt"/>
                    <a:ea typeface="+mn-ea"/>
                    <a:cs typeface="+mn-cs"/>
                  </a:rPr>
                  <a:t> </a:t>
                </a:r>
                <a:r>
                  <a:rPr lang="en-US" sz="2000" kern="1200" baseline="0" dirty="0" err="1">
                    <a:solidFill>
                      <a:schemeClr val="tx1"/>
                    </a:solidFill>
                    <a:effectLst/>
                    <a:latin typeface="+mn-lt"/>
                    <a:ea typeface="+mn-ea"/>
                    <a:cs typeface="+mn-cs"/>
                  </a:rPr>
                  <a:t>vektora</a:t>
                </a:r>
                <a:r>
                  <a:rPr lang="en-US" sz="2000" kern="1200" baseline="0" dirty="0">
                    <a:solidFill>
                      <a:schemeClr val="tx1"/>
                    </a:solidFill>
                    <a:effectLst/>
                    <a:latin typeface="+mn-lt"/>
                    <a:ea typeface="+mn-ea"/>
                    <a:cs typeface="+mn-cs"/>
                  </a:rPr>
                  <a:t> </a:t>
                </a:r>
                <a:r>
                  <a:rPr lang="en-US" sz="2000" b="1" i="0">
                    <a:latin typeface="Cambria Math" panose="02040503050406030204" pitchFamily="18" charset="0"/>
                  </a:rPr>
                  <a:t>𝒆_</a:t>
                </a:r>
                <a:r>
                  <a:rPr lang="en-US" sz="2000" b="0" i="0">
                    <a:latin typeface="Cambria Math" panose="02040503050406030204" pitchFamily="18" charset="0"/>
                  </a:rPr>
                  <a:t>1</a:t>
                </a:r>
                <a:r>
                  <a:rPr lang="en-US" sz="2000" kern="1200" dirty="0">
                    <a:solidFill>
                      <a:schemeClr val="tx1"/>
                    </a:solidFill>
                    <a:effectLst/>
                    <a:latin typeface="+mn-lt"/>
                    <a:ea typeface="+mn-ea"/>
                    <a:cs typeface="+mn-cs"/>
                  </a:rPr>
                  <a:t> i</a:t>
                </a:r>
                <a:r>
                  <a:rPr lang="en-US" sz="2000" kern="1200" baseline="0" dirty="0">
                    <a:solidFill>
                      <a:schemeClr val="tx1"/>
                    </a:solidFill>
                    <a:effectLst/>
                    <a:latin typeface="+mn-lt"/>
                    <a:ea typeface="+mn-ea"/>
                    <a:cs typeface="+mn-cs"/>
                  </a:rPr>
                  <a:t> </a:t>
                </a:r>
                <a:r>
                  <a:rPr lang="en-US" sz="2000" b="1" i="0">
                    <a:latin typeface="Cambria Math" panose="02040503050406030204" pitchFamily="18" charset="0"/>
                  </a:rPr>
                  <a:t>𝒆_</a:t>
                </a:r>
                <a:r>
                  <a:rPr lang="en-US" sz="2000" b="0" i="0">
                    <a:latin typeface="Cambria Math" panose="02040503050406030204" pitchFamily="18" charset="0"/>
                  </a:rPr>
                  <a:t>2</a:t>
                </a:r>
                <a:r>
                  <a:rPr lang="en-US" sz="2000" kern="1200" dirty="0">
                    <a:solidFill>
                      <a:schemeClr val="tx1"/>
                    </a:solidFill>
                    <a:effectLst/>
                    <a:latin typeface="+mn-lt"/>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kern="1200" dirty="0" err="1">
                    <a:solidFill>
                      <a:schemeClr val="tx1"/>
                    </a:solidFill>
                    <a:effectLst/>
                    <a:latin typeface="+mn-lt"/>
                    <a:ea typeface="+mn-ea"/>
                    <a:cs typeface="+mn-cs"/>
                  </a:rPr>
                  <a:t>Slicno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je</a:t>
                </a:r>
                <a:r>
                  <a:rPr lang="en-US" sz="2000" kern="1200" dirty="0">
                    <a:solidFill>
                      <a:schemeClr val="tx1"/>
                    </a:solidFill>
                    <a:effectLst/>
                    <a:latin typeface="+mn-lt"/>
                    <a:ea typeface="+mn-ea"/>
                    <a:cs typeface="+mn-cs"/>
                  </a:rPr>
                  <a:t> I u </a:t>
                </a:r>
                <a:r>
                  <a:rPr lang="en-US" sz="2000" kern="1200" dirty="0" err="1">
                    <a:solidFill>
                      <a:schemeClr val="tx1"/>
                    </a:solidFill>
                    <a:effectLst/>
                    <a:latin typeface="+mn-lt"/>
                    <a:ea typeface="+mn-ea"/>
                    <a:cs typeface="+mn-cs"/>
                  </a:rPr>
                  <a:t>trodimenzionalnom</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vektorskom</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prostoru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gde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imamo</a:t>
                </a:r>
                <a:r>
                  <a:rPr lang="en-US" sz="2000" kern="1200" dirty="0">
                    <a:solidFill>
                      <a:schemeClr val="tx1"/>
                    </a:solidFill>
                    <a:effectLst/>
                    <a:latin typeface="+mn-lt"/>
                    <a:ea typeface="+mn-ea"/>
                    <a:cs typeface="+mn-cs"/>
                  </a:rPr>
                  <a:t> tri </a:t>
                </a:r>
                <a:r>
                  <a:rPr lang="en-US" sz="2000" kern="1200" dirty="0" err="1">
                    <a:solidFill>
                      <a:schemeClr val="tx1"/>
                    </a:solidFill>
                    <a:effectLst/>
                    <a:latin typeface="+mn-lt"/>
                    <a:ea typeface="+mn-ea"/>
                    <a:cs typeface="+mn-cs"/>
                  </a:rPr>
                  <a:t>ortogonalna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vektora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jedinicne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duzine</a:t>
                </a:r>
                <a:r>
                  <a:rPr lang="en-US" sz="2000" kern="1200" dirty="0">
                    <a:solidFill>
                      <a:schemeClr val="tx1"/>
                    </a:solidFill>
                    <a:effectLst/>
                    <a:latin typeface="+mn-lt"/>
                    <a:ea typeface="+mn-ea"/>
                    <a:cs typeface="+mn-cs"/>
                  </a:rPr>
                  <a: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kern="1200" dirty="0" err="1">
                    <a:solidFill>
                      <a:schemeClr val="tx1"/>
                    </a:solidFill>
                    <a:effectLst/>
                    <a:latin typeface="+mn-lt"/>
                    <a:ea typeface="+mn-ea"/>
                    <a:cs typeface="+mn-cs"/>
                  </a:rPr>
                  <a:t>Jedinicni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vektori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koji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ortogonalni</a:t>
                </a:r>
                <a:r>
                  <a:rPr lang="en-US" sz="2000" kern="1200" dirty="0">
                    <a:solidFill>
                      <a:schemeClr val="tx1"/>
                    </a:solidFill>
                    <a:effectLst/>
                    <a:latin typeface="+mn-lt"/>
                    <a:ea typeface="+mn-ea"/>
                    <a:cs typeface="+mn-cs"/>
                  </a:rPr>
                  <a:t> se </a:t>
                </a:r>
                <a:r>
                  <a:rPr lang="en-US" sz="2000" kern="1200" dirty="0" err="1">
                    <a:solidFill>
                      <a:schemeClr val="tx1"/>
                    </a:solidFill>
                    <a:effectLst/>
                    <a:latin typeface="+mn-lt"/>
                    <a:ea typeface="+mn-ea"/>
                    <a:cs typeface="+mn-cs"/>
                  </a:rPr>
                  <a:t>nazivaju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ortonormalni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Ovo</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je</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vazno</a:t>
                </a:r>
                <a:r>
                  <a:rPr lang="en-US" sz="2000" kern="1200" dirty="0">
                    <a:solidFill>
                      <a:schemeClr val="tx1"/>
                    </a:solidFill>
                    <a:effectLst/>
                    <a:latin typeface="+mn-lt"/>
                    <a:ea typeface="+mn-ea"/>
                    <a:cs typeface="+mn-cs"/>
                  </a:rPr>
                  <a:t> u </a:t>
                </a:r>
                <a:r>
                  <a:rPr lang="en-US" sz="2000" kern="1200" dirty="0" err="1">
                    <a:solidFill>
                      <a:schemeClr val="tx1"/>
                    </a:solidFill>
                    <a:effectLst/>
                    <a:latin typeface="+mn-lt"/>
                    <a:ea typeface="+mn-ea"/>
                    <a:cs typeface="+mn-cs"/>
                  </a:rPr>
                  <a:t>kvanntom</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racunrastvu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jer</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su</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bazna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stanja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kubita</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ortonormalni</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vektori</a:t>
                </a:r>
                <a:r>
                  <a:rPr lang="en-US" sz="2000" kern="1200" dirty="0">
                    <a:solidFill>
                      <a:schemeClr val="tx1"/>
                    </a:solidFill>
                    <a:effectLst/>
                    <a:latin typeface="+mn-lt"/>
                    <a:ea typeface="+mn-ea"/>
                    <a:cs typeface="+mn-cs"/>
                  </a:rPr>
                  <a:t> u </a:t>
                </a:r>
                <a:r>
                  <a:rPr lang="en-US" sz="2000" kern="1200" dirty="0" err="1">
                    <a:solidFill>
                      <a:schemeClr val="tx1"/>
                    </a:solidFill>
                    <a:effectLst/>
                    <a:latin typeface="+mn-lt"/>
                    <a:ea typeface="+mn-ea"/>
                    <a:cs typeface="+mn-cs"/>
                  </a:rPr>
                  <a:t>Hilbertovom</a:t>
                </a:r>
                <a:r>
                  <a:rPr lang="en-US" sz="2000" kern="1200" dirty="0">
                    <a:solidFill>
                      <a:schemeClr val="tx1"/>
                    </a:solidFill>
                    <a:effectLst/>
                    <a:latin typeface="+mn-lt"/>
                    <a:ea typeface="+mn-ea"/>
                    <a:cs typeface="+mn-cs"/>
                  </a:rPr>
                  <a:t> </a:t>
                </a:r>
                <a:r>
                  <a:rPr lang="en-US" sz="2000" kern="1200" dirty="0" err="1">
                    <a:solidFill>
                      <a:schemeClr val="tx1"/>
                    </a:solidFill>
                    <a:effectLst/>
                    <a:latin typeface="+mn-lt"/>
                    <a:ea typeface="+mn-ea"/>
                    <a:cs typeface="+mn-cs"/>
                  </a:rPr>
                  <a:t>prostoru</a:t>
                </a:r>
                <a:r>
                  <a:rPr lang="en-US" sz="2000" kern="1200" dirty="0">
                    <a:solidFill>
                      <a:schemeClr val="tx1"/>
                    </a:solidFill>
                    <a:effectLst/>
                    <a:latin typeface="+mn-lt"/>
                    <a:ea typeface="+mn-ea"/>
                    <a:cs typeface="+mn-cs"/>
                  </a:rPr>
                  <a:t>.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41</a:t>
            </a:fld>
            <a:endParaRPr lang="en-US"/>
          </a:p>
        </p:txBody>
      </p:sp>
    </p:spTree>
    <p:extLst>
      <p:ext uri="{BB962C8B-B14F-4D97-AF65-F5344CB8AC3E}">
        <p14:creationId xmlns:p14="http://schemas.microsoft.com/office/powerpoint/2010/main" val="27898165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Basis vectors also exist in higher-dimensional spaces. Vectors in higher-dimensional spaces are also determined by a </a:t>
                </a:r>
                <a:r>
                  <a:rPr lang="en-ZA" b="1" dirty="0"/>
                  <a:t>linear combination</a:t>
                </a:r>
                <a:r>
                  <a:rPr lang="en-ZA" dirty="0"/>
                  <a:t> of the basis vectors of these spaces.</a:t>
                </a:r>
              </a:p>
              <a:p>
                <a:pPr algn="just"/>
                <a:endParaRPr lang="en-ZA" dirty="0"/>
              </a:p>
              <a:p>
                <a:pPr algn="just"/>
                <a:r>
                  <a:rPr lang="en-ZA" dirty="0"/>
                  <a:t>Notice that a basis vector with index </a:t>
                </a:r>
                <a14:m>
                  <m:oMath xmlns:m="http://schemas.openxmlformats.org/officeDocument/2006/math">
                    <m:r>
                      <a:rPr lang="en-US" sz="1200" b="0" i="1" smtClean="0">
                        <a:latin typeface="Cambria Math" panose="02040503050406030204" pitchFamily="18" charset="0"/>
                      </a:rPr>
                      <m:t>𝑖</m:t>
                    </m:r>
                  </m:oMath>
                </a14:m>
                <a:r>
                  <a:rPr lang="en-ZA" dirty="0"/>
                  <a:t> has a 1 in the </a:t>
                </a:r>
                <a14:m>
                  <m:oMath xmlns:m="http://schemas.openxmlformats.org/officeDocument/2006/math">
                    <m:r>
                      <a:rPr lang="en-US" sz="1200" b="0" i="1" smtClean="0">
                        <a:latin typeface="Cambria Math" panose="02040503050406030204" pitchFamily="18" charset="0"/>
                      </a:rPr>
                      <m:t>𝑖</m:t>
                    </m:r>
                  </m:oMath>
                </a14:m>
                <a:r>
                  <a:rPr lang="en-ZA" dirty="0"/>
                  <a:t>-</a:t>
                </a:r>
                <a:r>
                  <a:rPr lang="en-ZA" dirty="0" err="1"/>
                  <a:t>th</a:t>
                </a:r>
                <a:r>
                  <a:rPr lang="en-ZA" dirty="0"/>
                  <a:t> position, while all other elements are zero.</a:t>
                </a:r>
              </a:p>
              <a:p>
                <a:pPr algn="just"/>
                <a:endParaRPr lang="en-US" sz="1200" b="0" i="0" dirty="0"/>
              </a:p>
            </p:txBody>
          </p:sp>
        </mc:Choice>
        <mc:Fallback xmlns="">
          <p:sp>
            <p:nvSpPr>
              <p:cNvPr id="3" name="Notes Placeholder 2"/>
              <p:cNvSpPr>
                <a:spLocks noGrp="1"/>
              </p:cNvSpPr>
              <p:nvPr>
                <p:ph type="body" idx="1"/>
              </p:nvPr>
            </p:nvSpPr>
            <p:spPr/>
            <p:txBody>
              <a:bodyPr/>
              <a:lstStyle/>
              <a:p>
                <a:r>
                  <a:rPr lang="en-US" sz="2000" dirty="0"/>
                  <a:t>Kvantni </a:t>
                </a:r>
                <a:r>
                  <a:rPr lang="en-US" sz="2000" dirty="0" err="1"/>
                  <a:t>racunari</a:t>
                </a:r>
                <a:r>
                  <a:rPr lang="en-US" sz="2000" dirty="0"/>
                  <a:t> </a:t>
                </a:r>
                <a:r>
                  <a:rPr lang="en-US" sz="2000" dirty="0" err="1"/>
                  <a:t>operisu</a:t>
                </a:r>
                <a:r>
                  <a:rPr lang="en-US" sz="2000" dirty="0"/>
                  <a:t> u </a:t>
                </a:r>
                <a:r>
                  <a:rPr lang="en-US" sz="2000" dirty="0" err="1"/>
                  <a:t>visedimenzionalnim</a:t>
                </a:r>
                <a:r>
                  <a:rPr lang="en-US" sz="2000" dirty="0"/>
                  <a:t> </a:t>
                </a:r>
                <a:r>
                  <a:rPr lang="en-US" sz="2000" dirty="0" err="1"/>
                  <a:t>prostorima</a:t>
                </a:r>
                <a:r>
                  <a:rPr lang="en-US" sz="2000" dirty="0"/>
                  <a:t> </a:t>
                </a:r>
                <a:r>
                  <a:rPr lang="en-US" sz="2000" dirty="0" err="1"/>
                  <a:t>koji</a:t>
                </a:r>
                <a:r>
                  <a:rPr lang="en-US" sz="2000" dirty="0"/>
                  <a:t> </a:t>
                </a:r>
                <a:r>
                  <a:rPr lang="en-US" sz="2000" dirty="0" err="1"/>
                  <a:t>su</a:t>
                </a:r>
                <a:r>
                  <a:rPr lang="en-US" sz="2000" dirty="0"/>
                  <a:t> </a:t>
                </a:r>
                <a:r>
                  <a:rPr lang="en-US" sz="2000" dirty="0" err="1"/>
                  <a:t>dati</a:t>
                </a:r>
                <a:r>
                  <a:rPr lang="en-US" sz="2000" dirty="0"/>
                  <a:t> </a:t>
                </a:r>
                <a:r>
                  <a:rPr lang="en-US" sz="2000" dirty="0" err="1"/>
                  <a:t>kvadratima</a:t>
                </a:r>
                <a:r>
                  <a:rPr lang="en-US" sz="2000" dirty="0"/>
                  <a:t> </a:t>
                </a:r>
                <a:r>
                  <a:rPr lang="en-US" sz="2000" dirty="0" err="1"/>
                  <a:t>dvojke</a:t>
                </a:r>
                <a:r>
                  <a:rPr lang="en-US" sz="2000" dirty="0"/>
                  <a:t>. </a:t>
                </a:r>
                <a:r>
                  <a:rPr lang="en-US" sz="2000" dirty="0" err="1"/>
                  <a:t>Dakle</a:t>
                </a:r>
                <a:r>
                  <a:rPr lang="en-US" sz="2000" dirty="0"/>
                  <a:t>, </a:t>
                </a:r>
                <a:r>
                  <a:rPr lang="en-US" sz="2000" dirty="0" err="1"/>
                  <a:t>dvodimenzionalni</a:t>
                </a:r>
                <a:r>
                  <a:rPr lang="en-US" sz="2000" dirty="0"/>
                  <a:t>, </a:t>
                </a:r>
                <a:r>
                  <a:rPr lang="en-US" sz="2000" dirty="0" err="1"/>
                  <a:t>cetvorodimensionalni</a:t>
                </a:r>
                <a:r>
                  <a:rPr lang="en-US" sz="2000" dirty="0"/>
                  <a:t>, </a:t>
                </a:r>
                <a:r>
                  <a:rPr lang="en-US" sz="2000" dirty="0" err="1"/>
                  <a:t>osmodimenzionalni</a:t>
                </a:r>
                <a:r>
                  <a:rPr lang="en-US" sz="2000" dirty="0"/>
                  <a:t> I </a:t>
                </a:r>
                <a:r>
                  <a:rPr lang="en-US" sz="2000" dirty="0" err="1"/>
                  <a:t>tako</a:t>
                </a:r>
                <a:r>
                  <a:rPr lang="en-US" sz="2000" dirty="0"/>
                  <a:t> </a:t>
                </a:r>
                <a:r>
                  <a:rPr lang="en-US" sz="2000" dirty="0" err="1"/>
                  <a:t>dalje</a:t>
                </a:r>
                <a:r>
                  <a:rPr lang="en-US" sz="2000" dirty="0"/>
                  <a:t>. U </a:t>
                </a:r>
                <a:r>
                  <a:rPr lang="en-US" sz="2000" dirty="0" err="1"/>
                  <a:t>uvodnom</a:t>
                </a:r>
                <a:r>
                  <a:rPr lang="en-US" sz="2000" dirty="0"/>
                  <a:t> </a:t>
                </a:r>
                <a:r>
                  <a:rPr lang="en-US" sz="2000" dirty="0" err="1"/>
                  <a:t>predavanju</a:t>
                </a:r>
                <a:r>
                  <a:rPr lang="en-US" sz="2000" dirty="0"/>
                  <a:t> </a:t>
                </a:r>
                <a:r>
                  <a:rPr lang="en-US" sz="2000" dirty="0" err="1"/>
                  <a:t>spomenuli</a:t>
                </a:r>
                <a:r>
                  <a:rPr lang="en-US" sz="2000" dirty="0"/>
                  <a:t> </a:t>
                </a:r>
                <a:r>
                  <a:rPr lang="en-US" sz="2000" dirty="0" err="1"/>
                  <a:t>smo</a:t>
                </a:r>
                <a:r>
                  <a:rPr lang="en-US" sz="2000" dirty="0"/>
                  <a:t> da </a:t>
                </a:r>
                <a:r>
                  <a:rPr lang="en-US" sz="2000" dirty="0" err="1"/>
                  <a:t>samo</a:t>
                </a:r>
                <a:r>
                  <a:rPr lang="en-US" sz="2000" dirty="0"/>
                  <a:t> 300 </a:t>
                </a:r>
                <a:r>
                  <a:rPr lang="en-US" sz="2000" dirty="0" err="1"/>
                  <a:t>kubita</a:t>
                </a:r>
                <a:r>
                  <a:rPr lang="en-US" sz="2000" dirty="0"/>
                  <a:t> </a:t>
                </a:r>
                <a:r>
                  <a:rPr lang="en-US" sz="2000" dirty="0" err="1"/>
                  <a:t>ima</a:t>
                </a:r>
                <a:r>
                  <a:rPr lang="en-US" sz="2000" dirty="0"/>
                  <a:t> vise </a:t>
                </a:r>
                <a:r>
                  <a:rPr lang="en-US" sz="2000" dirty="0" err="1"/>
                  <a:t>dimenzija</a:t>
                </a:r>
                <a:r>
                  <a:rPr lang="en-US" sz="2000" dirty="0"/>
                  <a:t> </a:t>
                </a:r>
                <a:r>
                  <a:rPr lang="en-US" sz="2000" dirty="0" err="1"/>
                  <a:t>nego</a:t>
                </a:r>
                <a:r>
                  <a:rPr lang="en-US" sz="2000" dirty="0"/>
                  <a:t> </a:t>
                </a:r>
                <a:r>
                  <a:rPr lang="en-US" sz="2000" dirty="0" err="1"/>
                  <a:t>sto</a:t>
                </a:r>
                <a:r>
                  <a:rPr lang="en-US" sz="2000" dirty="0"/>
                  <a:t> </a:t>
                </a:r>
                <a:r>
                  <a:rPr lang="en-US" sz="2000" dirty="0" err="1"/>
                  <a:t>je</a:t>
                </a:r>
                <a:r>
                  <a:rPr lang="en-US" sz="2000" dirty="0"/>
                  <a:t> to </a:t>
                </a:r>
                <a:r>
                  <a:rPr lang="en-US" sz="2000" dirty="0" err="1"/>
                  <a:t>broj</a:t>
                </a:r>
                <a:r>
                  <a:rPr lang="en-US" sz="2000" dirty="0"/>
                  <a:t> </a:t>
                </a:r>
                <a:r>
                  <a:rPr lang="en-US" sz="2000" dirty="0" err="1"/>
                  <a:t>atoma</a:t>
                </a:r>
                <a:r>
                  <a:rPr lang="en-US" sz="2000" dirty="0"/>
                  <a:t> u </a:t>
                </a:r>
                <a:r>
                  <a:rPr lang="en-US" sz="2000" dirty="0" err="1"/>
                  <a:t>svemriu</a:t>
                </a:r>
                <a:r>
                  <a:rPr lang="en-US" sz="2000" dirty="0"/>
                  <a:t>.</a:t>
                </a:r>
              </a:p>
              <a:p>
                <a:r>
                  <a:rPr lang="en-US" sz="2000" dirty="0"/>
                  <a:t>Na </a:t>
                </a:r>
                <a:r>
                  <a:rPr lang="en-US" sz="2000" dirty="0" err="1"/>
                  <a:t>visedimenzionalne</a:t>
                </a:r>
                <a:r>
                  <a:rPr lang="en-US" sz="2000" dirty="0"/>
                  <a:t> </a:t>
                </a:r>
                <a:r>
                  <a:rPr lang="en-US" sz="2000" dirty="0" err="1"/>
                  <a:t>prostore</a:t>
                </a:r>
                <a:r>
                  <a:rPr lang="en-US" sz="2000" dirty="0"/>
                  <a:t> </a:t>
                </a:r>
                <a:r>
                  <a:rPr lang="en-US" sz="2000" dirty="0" err="1"/>
                  <a:t>primenjujemo</a:t>
                </a:r>
                <a:r>
                  <a:rPr lang="en-US" sz="2000" dirty="0"/>
                  <a:t> </a:t>
                </a:r>
                <a:r>
                  <a:rPr lang="en-US" sz="2000" dirty="0" err="1"/>
                  <a:t>istu</a:t>
                </a:r>
                <a:r>
                  <a:rPr lang="en-US" sz="2000" dirty="0"/>
                  <a:t> </a:t>
                </a:r>
                <a:r>
                  <a:rPr lang="en-US" sz="2000" dirty="0" err="1"/>
                  <a:t>logiku</a:t>
                </a:r>
                <a:r>
                  <a:rPr lang="en-US" sz="2000" dirty="0"/>
                  <a:t> </a:t>
                </a:r>
                <a:r>
                  <a:rPr lang="en-US" sz="2000" dirty="0" err="1"/>
                  <a:t>kao</a:t>
                </a:r>
                <a:r>
                  <a:rPr lang="en-US" sz="2000" dirty="0"/>
                  <a:t> I </a:t>
                </a:r>
                <a:r>
                  <a:rPr lang="en-US" sz="2000" dirty="0" err="1"/>
                  <a:t>na</a:t>
                </a:r>
                <a:r>
                  <a:rPr lang="en-US" sz="2000" dirty="0"/>
                  <a:t> </a:t>
                </a:r>
                <a:r>
                  <a:rPr lang="en-US" sz="2000" dirty="0" err="1"/>
                  <a:t>dvodimenzionale</a:t>
                </a:r>
                <a:r>
                  <a:rPr lang="en-US" sz="2000" dirty="0"/>
                  <a:t>, </a:t>
                </a:r>
                <a:r>
                  <a:rPr lang="en-US" sz="2000" dirty="0" err="1"/>
                  <a:t>ili</a:t>
                </a:r>
                <a:r>
                  <a:rPr lang="en-US" sz="2000" dirty="0"/>
                  <a:t> </a:t>
                </a:r>
                <a:r>
                  <a:rPr lang="en-US" sz="2000" dirty="0" err="1"/>
                  <a:t>trodimenzionalne</a:t>
                </a:r>
                <a:r>
                  <a:rPr lang="en-US" sz="2000" dirty="0"/>
                  <a:t>, </a:t>
                </a:r>
                <a:r>
                  <a:rPr lang="en-US" sz="2000" dirty="0" err="1"/>
                  <a:t>dakle</a:t>
                </a:r>
                <a:r>
                  <a:rPr lang="en-US" sz="2000" dirty="0"/>
                  <a:t> </a:t>
                </a:r>
                <a:r>
                  <a:rPr lang="en-US" sz="2000" dirty="0" err="1"/>
                  <a:t>bilo</a:t>
                </a:r>
                <a:r>
                  <a:rPr lang="en-US" sz="2000" dirty="0"/>
                  <a:t> </a:t>
                </a:r>
                <a:r>
                  <a:rPr lang="en-US" sz="2000" dirty="0" err="1"/>
                  <a:t>koji</a:t>
                </a:r>
                <a:r>
                  <a:rPr lang="en-US" sz="2000" dirty="0"/>
                  <a:t> vector u </a:t>
                </a:r>
                <a:r>
                  <a:rPr lang="en-US" sz="2000" dirty="0" err="1"/>
                  <a:t>visedimenzionalnom</a:t>
                </a:r>
                <a:r>
                  <a:rPr lang="en-US" sz="2000" dirty="0"/>
                  <a:t> </a:t>
                </a:r>
                <a:r>
                  <a:rPr lang="en-US" sz="2000" dirty="0" err="1"/>
                  <a:t>prostoru</a:t>
                </a:r>
                <a:r>
                  <a:rPr lang="en-US" sz="2000" dirty="0"/>
                  <a:t> </a:t>
                </a:r>
                <a:r>
                  <a:rPr lang="en-US" sz="2000" dirty="0" err="1"/>
                  <a:t>odredjen</a:t>
                </a:r>
                <a:r>
                  <a:rPr lang="en-US" sz="2000" dirty="0"/>
                  <a:t> </a:t>
                </a:r>
                <a:r>
                  <a:rPr lang="en-US" sz="2000" dirty="0" err="1"/>
                  <a:t>je</a:t>
                </a:r>
                <a:r>
                  <a:rPr lang="en-US" sz="2000" dirty="0"/>
                  <a:t> </a:t>
                </a:r>
                <a:r>
                  <a:rPr lang="en-US" sz="2000" dirty="0" err="1"/>
                  <a:t>linearnom</a:t>
                </a:r>
                <a:r>
                  <a:rPr lang="en-US" sz="2000" dirty="0"/>
                  <a:t> </a:t>
                </a:r>
                <a:r>
                  <a:rPr lang="en-US" sz="2000" dirty="0" err="1"/>
                  <a:t>kombinacijom</a:t>
                </a:r>
                <a:r>
                  <a:rPr lang="en-US" sz="2000" dirty="0"/>
                  <a:t> </a:t>
                </a:r>
                <a:r>
                  <a:rPr lang="en-US" sz="2000" dirty="0" err="1"/>
                  <a:t>vektora</a:t>
                </a:r>
                <a:r>
                  <a:rPr lang="en-US" sz="2000" dirty="0"/>
                  <a:t> </a:t>
                </a:r>
                <a:r>
                  <a:rPr lang="en-US" sz="2000" dirty="0" err="1"/>
                  <a:t>baze</a:t>
                </a:r>
                <a:r>
                  <a:rPr lang="en-US" sz="2000" dirty="0"/>
                  <a:t>. </a:t>
                </a:r>
                <a:r>
                  <a:rPr lang="en-US" sz="2000" dirty="0" err="1"/>
                  <a:t>Primetite</a:t>
                </a:r>
                <a:r>
                  <a:rPr lang="en-US" sz="2000" dirty="0"/>
                  <a:t> da </a:t>
                </a:r>
                <a:r>
                  <a:rPr lang="en-US" sz="2000" dirty="0" err="1"/>
                  <a:t>neki</a:t>
                </a:r>
                <a:r>
                  <a:rPr lang="en-US" sz="2000" dirty="0"/>
                  <a:t> vector </a:t>
                </a:r>
                <a:r>
                  <a:rPr lang="en-US" sz="2000" dirty="0" err="1"/>
                  <a:t>baze</a:t>
                </a:r>
                <a:r>
                  <a:rPr lang="en-US" sz="2000" dirty="0"/>
                  <a:t> se </a:t>
                </a:r>
                <a:r>
                  <a:rPr lang="en-US" sz="2000" dirty="0" err="1"/>
                  <a:t>indeksom</a:t>
                </a:r>
                <a:r>
                  <a:rPr lang="en-US" sz="2000" dirty="0"/>
                  <a:t> </a:t>
                </a:r>
                <a:r>
                  <a:rPr lang="en-US" sz="2000" b="0" i="0">
                    <a:latin typeface="Cambria Math" panose="02040503050406030204" pitchFamily="18" charset="0"/>
                  </a:rPr>
                  <a:t>𝑖</a:t>
                </a:r>
                <a:r>
                  <a:rPr lang="en-US" sz="2000" i="1" dirty="0"/>
                  <a:t> </a:t>
                </a:r>
                <a:r>
                  <a:rPr lang="en-US" sz="2000" i="0" dirty="0" err="1"/>
                  <a:t>ima</a:t>
                </a:r>
                <a:r>
                  <a:rPr lang="en-US" sz="2000" i="0" dirty="0"/>
                  <a:t> </a:t>
                </a:r>
                <a:r>
                  <a:rPr lang="en-US" sz="2000" i="0" dirty="0" err="1"/>
                  <a:t>jedinicu</a:t>
                </a:r>
                <a:r>
                  <a:rPr lang="en-US" sz="2000" i="0" dirty="0"/>
                  <a:t> u</a:t>
                </a:r>
                <a:r>
                  <a:rPr lang="en-US" sz="2000" i="1" dirty="0"/>
                  <a:t> </a:t>
                </a:r>
                <a:r>
                  <a:rPr lang="en-US" sz="2000" b="0" i="0">
                    <a:latin typeface="Cambria Math" panose="02040503050406030204" pitchFamily="18" charset="0"/>
                  </a:rPr>
                  <a:t>𝑖</a:t>
                </a:r>
                <a:r>
                  <a:rPr lang="en-US" sz="2000" i="1" dirty="0"/>
                  <a:t>-</a:t>
                </a:r>
                <a:r>
                  <a:rPr lang="en-US" sz="2000" i="1" dirty="0" err="1"/>
                  <a:t>toj</a:t>
                </a:r>
                <a:r>
                  <a:rPr lang="en-US" sz="2000" i="1" dirty="0"/>
                  <a:t> </a:t>
                </a:r>
                <a:r>
                  <a:rPr lang="en-US" sz="2000" i="0" dirty="0" err="1"/>
                  <a:t>vrsti</a:t>
                </a:r>
                <a:r>
                  <a:rPr lang="en-US" sz="2000" i="0" dirty="0"/>
                  <a:t> </a:t>
                </a:r>
                <a:r>
                  <a:rPr lang="en-US" sz="2000" i="0" dirty="0" err="1"/>
                  <a:t>dok</a:t>
                </a:r>
                <a:r>
                  <a:rPr lang="en-US" sz="2000" i="0" dirty="0"/>
                  <a:t> </a:t>
                </a:r>
                <a:r>
                  <a:rPr lang="en-US" sz="2000" i="0" dirty="0" err="1"/>
                  <a:t>su</a:t>
                </a:r>
                <a:r>
                  <a:rPr lang="en-US" sz="2000" i="0" dirty="0"/>
                  <a:t> </a:t>
                </a:r>
                <a:r>
                  <a:rPr lang="en-US" sz="2000" i="0" dirty="0" err="1"/>
                  <a:t>ostali</a:t>
                </a:r>
                <a:r>
                  <a:rPr lang="en-US" sz="2000" i="0" dirty="0"/>
                  <a:t> </a:t>
                </a:r>
                <a:r>
                  <a:rPr lang="en-US" sz="2000" i="0" dirty="0" err="1"/>
                  <a:t>elementi</a:t>
                </a:r>
                <a:r>
                  <a:rPr lang="en-US" sz="2000" i="0" dirty="0"/>
                  <a:t> </a:t>
                </a:r>
                <a:r>
                  <a:rPr lang="en-US" sz="2000" i="0" dirty="0" err="1"/>
                  <a:t>nule</a:t>
                </a:r>
                <a:r>
                  <a:rPr lang="en-US" sz="2000" i="0" dirty="0"/>
                  <a:t>. </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42</a:t>
            </a:fld>
            <a:endParaRPr lang="en-US"/>
          </a:p>
        </p:txBody>
      </p:sp>
    </p:spTree>
    <p:extLst>
      <p:ext uri="{BB962C8B-B14F-4D97-AF65-F5344CB8AC3E}">
        <p14:creationId xmlns:p14="http://schemas.microsoft.com/office/powerpoint/2010/main" val="275803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In quantum computing, data processing is based on linear transformations of quantum states. These transformations are described by linear operators, which are represented by matrices.</a:t>
            </a:r>
            <a:endParaRPr lang="en-US" b="0" dirty="0"/>
          </a:p>
        </p:txBody>
      </p:sp>
      <p:sp>
        <p:nvSpPr>
          <p:cNvPr id="4" name="Slide Number Placeholder 3"/>
          <p:cNvSpPr>
            <a:spLocks noGrp="1"/>
          </p:cNvSpPr>
          <p:nvPr>
            <p:ph type="sldNum" sz="quarter" idx="5"/>
          </p:nvPr>
        </p:nvSpPr>
        <p:spPr/>
        <p:txBody>
          <a:bodyPr/>
          <a:lstStyle/>
          <a:p>
            <a:fld id="{1B2CE5E3-B8BD-D040-AC87-D640191DD8F1}" type="slidenum">
              <a:rPr lang="en-US" smtClean="0"/>
              <a:t>43</a:t>
            </a:fld>
            <a:endParaRPr lang="en-US"/>
          </a:p>
        </p:txBody>
      </p:sp>
    </p:spTree>
    <p:extLst>
      <p:ext uri="{BB962C8B-B14F-4D97-AF65-F5344CB8AC3E}">
        <p14:creationId xmlns:p14="http://schemas.microsoft.com/office/powerpoint/2010/main" val="115414349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b="0" dirty="0">
                    <a:solidFill>
                      <a:schemeClr val="tx1"/>
                    </a:solidFill>
                  </a:rPr>
                  <a:t>An equation of the form </a:t>
                </a:r>
                <a14:m>
                  <m:oMath xmlns:m="http://schemas.openxmlformats.org/officeDocument/2006/math">
                    <m:r>
                      <a:rPr lang="en-US" sz="1200" b="0" i="1" smtClean="0">
                        <a:solidFill>
                          <a:schemeClr val="tx1"/>
                        </a:solidFill>
                        <a:latin typeface="Cambria Math" panose="02040503050406030204" pitchFamily="18" charset="0"/>
                      </a:rPr>
                      <m:t>𝐴𝑥</m:t>
                    </m:r>
                    <m:r>
                      <a:rPr lang="en-US" sz="1200" b="0" i="1">
                        <a:solidFill>
                          <a:schemeClr val="tx1"/>
                        </a:solidFill>
                        <a:latin typeface="Cambria Math" panose="02040503050406030204" pitchFamily="18" charset="0"/>
                      </a:rPr>
                      <m:t>=</m:t>
                    </m:r>
                    <m:r>
                      <a:rPr lang="sr-Latn-RS" sz="1200" b="0" i="1" smtClean="0">
                        <a:solidFill>
                          <a:schemeClr val="tx1"/>
                        </a:solidFill>
                        <a:latin typeface="Cambria Math" panose="02040503050406030204" pitchFamily="18" charset="0"/>
                      </a:rPr>
                      <m:t>𝑦</m:t>
                    </m:r>
                  </m:oMath>
                </a14:m>
                <a:r>
                  <a:rPr lang="en-ZA" b="0" dirty="0">
                    <a:solidFill>
                      <a:schemeClr val="tx1"/>
                    </a:solidFill>
                  </a:rPr>
                  <a:t>, where </a:t>
                </a:r>
                <a14:m>
                  <m:oMath xmlns:m="http://schemas.openxmlformats.org/officeDocument/2006/math">
                    <m:r>
                      <a:rPr lang="en-US" sz="1200" b="0" i="1" smtClean="0">
                        <a:solidFill>
                          <a:schemeClr val="tx1"/>
                        </a:solidFill>
                        <a:latin typeface="Cambria Math" panose="02040503050406030204" pitchFamily="18" charset="0"/>
                      </a:rPr>
                      <m:t>𝐴</m:t>
                    </m:r>
                  </m:oMath>
                </a14:m>
                <a:r>
                  <a:rPr lang="en-ZA" b="0" dirty="0">
                    <a:solidFill>
                      <a:schemeClr val="tx1"/>
                    </a:solidFill>
                  </a:rPr>
                  <a:t> is a matrix and </a:t>
                </a:r>
                <a14:m>
                  <m:oMath xmlns:m="http://schemas.openxmlformats.org/officeDocument/2006/math">
                    <m:r>
                      <a:rPr lang="en-US" sz="1200" b="0" i="1" smtClean="0">
                        <a:solidFill>
                          <a:schemeClr val="tx1"/>
                        </a:solidFill>
                        <a:latin typeface="Cambria Math" panose="02040503050406030204" pitchFamily="18" charset="0"/>
                      </a:rPr>
                      <m:t>𝑥</m:t>
                    </m:r>
                  </m:oMath>
                </a14:m>
                <a:r>
                  <a:rPr lang="en-ZA" b="0" dirty="0">
                    <a:solidFill>
                      <a:schemeClr val="tx1"/>
                    </a:solidFill>
                  </a:rPr>
                  <a:t> is a vector, is typically viewed as either a matrix equation or a matrix-vector product. When a matrix multiplies a vector, the result is another vector.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ZA" b="0" dirty="0">
                  <a:solidFill>
                    <a:schemeClr val="tx1"/>
                  </a:solidFill>
                </a:endParaRPr>
              </a:p>
              <a:p>
                <a:pPr marL="228600" indent="-228600" algn="l">
                  <a:buFont typeface="+mj-lt"/>
                  <a:buAutoNum type="arabicPeriod"/>
                </a:pPr>
                <a:r>
                  <a:rPr lang="en-ZA" dirty="0"/>
                  <a:t>For example, when the matrix </a:t>
                </a:r>
                <a14:m>
                  <m:oMath xmlns:m="http://schemas.openxmlformats.org/officeDocument/2006/math">
                    <m:r>
                      <a:rPr lang="en-US" sz="1200" b="0" i="1" smtClean="0">
                        <a:solidFill>
                          <a:schemeClr val="tx1"/>
                        </a:solidFill>
                        <a:latin typeface="Cambria Math" panose="02040503050406030204" pitchFamily="18" charset="0"/>
                      </a:rPr>
                      <m:t>𝐴</m:t>
                    </m:r>
                  </m:oMath>
                </a14:m>
                <a:r>
                  <a:rPr lang="en-ZA" dirty="0"/>
                  <a:t> multiplies a vector </a:t>
                </a:r>
                <a14:m>
                  <m:oMath xmlns:m="http://schemas.openxmlformats.org/officeDocument/2006/math">
                    <m:d>
                      <m:dPr>
                        <m:begChr m:val="|"/>
                        <m:endChr m:val="⟩"/>
                        <m:ctrlPr>
                          <a:rPr lang="en-US" sz="1200" i="1" smtClean="0">
                            <a:latin typeface="Cambria Math" panose="02040503050406030204" pitchFamily="18" charset="0"/>
                            <a:ea typeface="Times New Roman" panose="02020603050405020304" pitchFamily="18" charset="0"/>
                            <a:cs typeface="Times New Roman" panose="02020603050405020304" pitchFamily="18" charset="0"/>
                          </a:rPr>
                        </m:ctrlPr>
                      </m:dPr>
                      <m:e>
                        <m:r>
                          <a:rPr lang="sr-Latn-RS" sz="1200" b="0" i="1" smtClean="0">
                            <a:latin typeface="Cambria Math" panose="02040503050406030204" pitchFamily="18" charset="0"/>
                            <a:ea typeface="Times New Roman" panose="02020603050405020304" pitchFamily="18" charset="0"/>
                            <a:cs typeface="Times New Roman" panose="02020603050405020304" pitchFamily="18" charset="0"/>
                          </a:rPr>
                          <m:t>𝑥</m:t>
                        </m:r>
                      </m:e>
                    </m:d>
                  </m:oMath>
                </a14:m>
                <a:r>
                  <a:rPr lang="en-ZA" dirty="0"/>
                  <a:t>.</a:t>
                </a:r>
              </a:p>
              <a:p>
                <a:pPr marL="228600" indent="-228600" algn="l">
                  <a:buFont typeface="+mj-lt"/>
                  <a:buAutoNum type="arabicPeriod"/>
                </a:pPr>
                <a:endParaRPr lang="en-ZA" dirty="0"/>
              </a:p>
              <a:p>
                <a:pPr marL="228600" indent="-228600" algn="l">
                  <a:buFont typeface="+mj-lt"/>
                  <a:buAutoNum type="arabicPeriod"/>
                </a:pPr>
                <a:r>
                  <a:rPr lang="en-ZA" dirty="0"/>
                  <a:t>the result is a rotation of this vector by </a:t>
                </a:r>
                <a:r>
                  <a:rPr lang="el-GR" dirty="0"/>
                  <a:t>π/2.</a:t>
                </a:r>
                <a:r>
                  <a:rPr lang="el-GR" b="0" dirty="0">
                    <a:solidFill>
                      <a:schemeClr val="tx1"/>
                    </a:solidFill>
                  </a:rPr>
                  <a:t> </a:t>
                </a:r>
                <a:r>
                  <a:rPr lang="en-ZA" b="0" dirty="0">
                    <a:solidFill>
                      <a:schemeClr val="tx1"/>
                    </a:solidFill>
                  </a:rPr>
                  <a:t>We say that the matrix</a:t>
                </a:r>
                <a:r>
                  <a:rPr lang="en-ZA" b="0" baseline="0" dirty="0">
                    <a:solidFill>
                      <a:schemeClr val="tx1"/>
                    </a:solidFill>
                  </a:rPr>
                  <a:t> </a:t>
                </a:r>
                <a14:m>
                  <m:oMath xmlns:m="http://schemas.openxmlformats.org/officeDocument/2006/math">
                    <m:r>
                      <a:rPr lang="en-US" sz="1200" b="0" i="1" smtClean="0">
                        <a:solidFill>
                          <a:schemeClr val="tx1"/>
                        </a:solidFill>
                        <a:latin typeface="Cambria Math" panose="02040503050406030204" pitchFamily="18" charset="0"/>
                      </a:rPr>
                      <m:t>𝐴</m:t>
                    </m:r>
                  </m:oMath>
                </a14:m>
                <a:r>
                  <a:rPr lang="en-ZA" b="0" dirty="0">
                    <a:solidFill>
                      <a:schemeClr val="tx1"/>
                    </a:solidFill>
                  </a:rPr>
                  <a:t> has performed a linear transformation, and such a matrix is called an operator.</a:t>
                </a:r>
              </a:p>
              <a:p>
                <a:pPr marL="228600" indent="-228600" algn="l">
                  <a:buFont typeface="+mj-lt"/>
                  <a:buAutoNum type="arabicPeriod"/>
                </a:pPr>
                <a:endParaRPr lang="en-ZA" b="0" dirty="0">
                  <a:solidFill>
                    <a:schemeClr val="tx1"/>
                  </a:solidFill>
                </a:endParaRPr>
              </a:p>
              <a:p>
                <a:pPr marL="228600" indent="-228600" algn="l">
                  <a:buFont typeface="+mj-lt"/>
                  <a:buAutoNum type="arabicPeriod"/>
                </a:pPr>
                <a:r>
                  <a:rPr lang="en-ZA" b="0" dirty="0">
                    <a:solidFill>
                      <a:schemeClr val="tx1"/>
                    </a:solidFill>
                  </a:rPr>
                  <a:t>In general, a linear transformation maps vectors from one vector space to another (or to itself) while preserving vector addition and scalar multiplication. This means that for a transformation </a:t>
                </a:r>
                <a14:m>
                  <m:oMath xmlns:m="http://schemas.openxmlformats.org/officeDocument/2006/math">
                    <m:r>
                      <a:rPr lang="en-US" sz="12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𝑇</m:t>
                    </m:r>
                  </m:oMath>
                </a14:m>
                <a:r>
                  <a:rPr lang="en-ZA" b="0" dirty="0">
                    <a:solidFill>
                      <a:schemeClr val="tx1"/>
                    </a:solidFill>
                  </a:rPr>
                  <a:t>, vectors </a:t>
                </a:r>
                <a14:m>
                  <m:oMath xmlns:m="http://schemas.openxmlformats.org/officeDocument/2006/math">
                    <m:d>
                      <m:dPr>
                        <m:begChr m:val="|"/>
                        <m:endChr m:val="⟩"/>
                        <m:ctrlPr>
                          <a:rPr lang="en-US" sz="12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𝑎</m:t>
                        </m:r>
                      </m:e>
                    </m:d>
                  </m:oMath>
                </a14:m>
                <a:r>
                  <a:rPr lang="en-ZA" b="0" dirty="0">
                    <a:solidFill>
                      <a:schemeClr val="tx1"/>
                    </a:solidFill>
                  </a:rPr>
                  <a:t> and </a:t>
                </a:r>
                <a14:m>
                  <m:oMath xmlns:m="http://schemas.openxmlformats.org/officeDocument/2006/math">
                    <m:d>
                      <m:dPr>
                        <m:begChr m:val="|"/>
                        <m:endChr m:val="⟩"/>
                        <m:ctrlPr>
                          <a:rPr lang="en-US" sz="12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sz="12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𝑏</m:t>
                        </m:r>
                      </m:e>
                    </m:d>
                  </m:oMath>
                </a14:m>
                <a:r>
                  <a:rPr lang="en-ZA" b="0" dirty="0">
                    <a:solidFill>
                      <a:schemeClr val="tx1"/>
                    </a:solidFill>
                  </a:rPr>
                  <a:t>, and a scalar </a:t>
                </a:r>
                <a14:m>
                  <m:oMath xmlns:m="http://schemas.openxmlformats.org/officeDocument/2006/math">
                    <m:r>
                      <a:rPr lang="en-US" sz="12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𝑐</m:t>
                    </m:r>
                  </m:oMath>
                </a14:m>
                <a:r>
                  <a:rPr lang="en-ZA" b="0" dirty="0">
                    <a:solidFill>
                      <a:schemeClr val="tx1"/>
                    </a:solidFill>
                  </a:rPr>
                  <a:t>, the following properties hold:</a:t>
                </a:r>
              </a:p>
              <a:p>
                <a:pPr marL="0" indent="0" algn="l">
                  <a:buFont typeface="Arial" panose="020B0604020202020204" pitchFamily="34" charset="0"/>
                  <a:buNone/>
                </a:pPr>
                <a:endParaRPr lang="en-ZA" b="0" dirty="0">
                  <a:solidFill>
                    <a:schemeClr val="tx1"/>
                  </a:solidFill>
                </a:endParaRPr>
              </a:p>
              <a:p>
                <a:pPr marL="628650" lvl="1" indent="-171450" algn="l">
                  <a:buFont typeface="Arial" panose="020B0604020202020204" pitchFamily="34" charset="0"/>
                  <a:buChar char="•"/>
                </a:pPr>
                <a:r>
                  <a:rPr lang="en-ZA" b="0" dirty="0">
                    <a:solidFill>
                      <a:schemeClr val="tx1"/>
                    </a:solidFill>
                  </a:rPr>
                  <a:t>Additivity: Applying a transformation to the sum of two vectors gives the same result as transforming each vector separately and then adding the results.</a:t>
                </a:r>
              </a:p>
              <a:p>
                <a:pPr marL="628650" lvl="1" indent="-171450" algn="l">
                  <a:buFont typeface="Arial" panose="020B0604020202020204" pitchFamily="34" charset="0"/>
                  <a:buChar char="•"/>
                </a:pPr>
                <a:r>
                  <a:rPr lang="en-ZA" b="0" dirty="0">
                    <a:solidFill>
                      <a:schemeClr val="tx1"/>
                    </a:solidFill>
                  </a:rPr>
                  <a:t>Homogeneity: Scaling a vector before transformation gives the same result as transforming the vector first and then scaling it.</a:t>
                </a:r>
                <a:br>
                  <a:rPr lang="en-ZA" b="0" dirty="0">
                    <a:solidFill>
                      <a:schemeClr val="tx1"/>
                    </a:solidFill>
                  </a:rPr>
                </a:br>
                <a:r>
                  <a:rPr lang="en-ZA" b="0" dirty="0">
                    <a:solidFill>
                      <a:schemeClr val="tx1"/>
                    </a:solidFill>
                  </a:rPr>
                  <a:t>These properties ensure that the transformation maintains the relationships between vectors in the vector space.</a:t>
                </a:r>
              </a:p>
              <a:p>
                <a:pPr marL="0" indent="0" algn="l">
                  <a:buFont typeface="Arial" panose="020B0604020202020204" pitchFamily="34" charset="0"/>
                  <a:buNone/>
                </a:pPr>
                <a:endParaRPr lang="en-ZA" b="0" dirty="0">
                  <a:solidFill>
                    <a:schemeClr val="tx1"/>
                  </a:solidFill>
                </a:endParaRPr>
              </a:p>
              <a:p>
                <a:pPr marL="0" indent="0" algn="l">
                  <a:buFont typeface="Arial" panose="020B0604020202020204" pitchFamily="34" charset="0"/>
                  <a:buNone/>
                </a:pPr>
                <a:endParaRPr lang="en-US" b="0" dirty="0">
                  <a:solidFill>
                    <a:schemeClr val="tx1"/>
                  </a:solidFill>
                </a:endParaRPr>
              </a:p>
            </p:txBody>
          </p:sp>
        </mc:Choice>
        <mc:Fallback xmlns="">
          <p:sp>
            <p:nvSpPr>
              <p:cNvPr id="3" name="Notes Placeholder 2"/>
              <p:cNvSpPr>
                <a:spLocks noGrp="1"/>
              </p:cNvSpPr>
              <p:nvPr>
                <p:ph type="body" idx="1"/>
              </p:nvPr>
            </p:nvSpPr>
            <p:spPr/>
            <p:txBody>
              <a:bodyPr/>
              <a:lstStyle/>
              <a:p>
                <a:pPr algn="just"/>
                <a:r>
                  <a:rPr lang="en-US" dirty="0"/>
                  <a:t>Izraz </a:t>
                </a:r>
                <a:r>
                  <a:rPr lang="en-US" dirty="0" err="1"/>
                  <a:t>tipa</a:t>
                </a:r>
                <a:r>
                  <a:rPr lang="en-US" dirty="0"/>
                  <a:t> </a:t>
                </a:r>
                <a:r>
                  <a:rPr lang="en-US" sz="1200" b="0" i="0">
                    <a:latin typeface="Cambria Math" panose="02040503050406030204" pitchFamily="18" charset="0"/>
                  </a:rPr>
                  <a:t>𝐴</a:t>
                </a:r>
                <a:r>
                  <a:rPr lang="en-US" sz="1200" b="1" i="0">
                    <a:latin typeface="Cambria Math" panose="02040503050406030204" pitchFamily="18" charset="0"/>
                  </a:rPr>
                  <a:t>𝒙</a:t>
                </a:r>
                <a:r>
                  <a:rPr lang="en-US" sz="1200" b="0" i="0">
                    <a:latin typeface="Cambria Math" panose="02040503050406030204" pitchFamily="18" charset="0"/>
                  </a:rPr>
                  <a:t>=</a:t>
                </a:r>
                <a:r>
                  <a:rPr lang="en-US" sz="1200" b="1" i="0">
                    <a:latin typeface="Cambria Math" panose="02040503050406030204" pitchFamily="18" charset="0"/>
                  </a:rPr>
                  <a:t>𝒚</a:t>
                </a:r>
                <a:r>
                  <a:rPr lang="en-US" sz="1200" dirty="0"/>
                  <a:t>, </a:t>
                </a:r>
                <a:r>
                  <a:rPr lang="en-US" sz="1200" dirty="0" err="1"/>
                  <a:t>gde</a:t>
                </a:r>
                <a:r>
                  <a:rPr lang="en-US" sz="1200" dirty="0"/>
                  <a:t> </a:t>
                </a:r>
                <a:r>
                  <a:rPr lang="en-US" sz="1200" dirty="0" err="1"/>
                  <a:t>je</a:t>
                </a:r>
                <a:r>
                  <a:rPr lang="en-US" sz="1200" dirty="0"/>
                  <a:t> </a:t>
                </a:r>
                <a:r>
                  <a:rPr lang="en-US" sz="1200" b="1" i="0">
                    <a:latin typeface="Cambria Math" panose="02040503050406030204" pitchFamily="18" charset="0"/>
                  </a:rPr>
                  <a:t>𝑨</a:t>
                </a:r>
                <a:r>
                  <a:rPr lang="en-US" sz="1200" dirty="0"/>
                  <a:t> matrica, a </a:t>
                </a:r>
                <a:r>
                  <a:rPr lang="en-US" sz="1200" b="1" i="0">
                    <a:latin typeface="Cambria Math" panose="02040503050406030204" pitchFamily="18" charset="0"/>
                  </a:rPr>
                  <a:t>𝒙</a:t>
                </a:r>
                <a:r>
                  <a:rPr lang="en-US" sz="1200" dirty="0"/>
                  <a:t> </a:t>
                </a:r>
                <a:r>
                  <a:rPr lang="en-US" sz="1200" baseline="0" dirty="0"/>
                  <a:t>vektor </a:t>
                </a:r>
                <a:r>
                  <a:rPr lang="en-US" sz="1200" baseline="0" dirty="0" err="1"/>
                  <a:t>obično</a:t>
                </a:r>
                <a:r>
                  <a:rPr lang="en-US" sz="1200" baseline="0" dirty="0"/>
                  <a:t> se </a:t>
                </a:r>
                <a:r>
                  <a:rPr lang="en-US" sz="1200" baseline="0" dirty="0" err="1"/>
                  <a:t>posmatra</a:t>
                </a:r>
                <a:r>
                  <a:rPr lang="en-US" sz="1200" baseline="0" dirty="0"/>
                  <a:t> </a:t>
                </a:r>
                <a:r>
                  <a:rPr lang="en-US" sz="1200" baseline="0" dirty="0" err="1"/>
                  <a:t>ili</a:t>
                </a:r>
                <a:r>
                  <a:rPr lang="en-US" sz="1200" baseline="0" dirty="0"/>
                  <a:t> </a:t>
                </a:r>
                <a:r>
                  <a:rPr lang="en-US" sz="1200" baseline="0" dirty="0" err="1"/>
                  <a:t>kao</a:t>
                </a:r>
                <a:r>
                  <a:rPr lang="en-US" sz="1200" baseline="0" dirty="0"/>
                  <a:t> </a:t>
                </a:r>
                <a:r>
                  <a:rPr lang="en-US" sz="1200" baseline="0" dirty="0" err="1"/>
                  <a:t>proizvod</a:t>
                </a:r>
                <a:r>
                  <a:rPr lang="en-US" sz="1200" baseline="0" dirty="0"/>
                  <a:t> </a:t>
                </a:r>
                <a:r>
                  <a:rPr lang="en-US" sz="1200" baseline="0" dirty="0" err="1"/>
                  <a:t>ili</a:t>
                </a:r>
                <a:r>
                  <a:rPr lang="en-US" sz="1200" baseline="0" dirty="0"/>
                  <a:t> </a:t>
                </a:r>
                <a:r>
                  <a:rPr lang="en-US" sz="1200" baseline="0" dirty="0" err="1"/>
                  <a:t>kao</a:t>
                </a:r>
                <a:r>
                  <a:rPr lang="en-US" sz="1200" baseline="0" dirty="0"/>
                  <a:t> </a:t>
                </a:r>
                <a:r>
                  <a:rPr lang="en-US" sz="1200" baseline="0" dirty="0" err="1"/>
                  <a:t>matrična</a:t>
                </a:r>
                <a:r>
                  <a:rPr lang="en-US" sz="1200" baseline="0" dirty="0"/>
                  <a:t> </a:t>
                </a:r>
                <a:r>
                  <a:rPr lang="en-US" sz="1200" baseline="0" dirty="0" err="1"/>
                  <a:t>jednačina</a:t>
                </a:r>
                <a:r>
                  <a:rPr lang="en-US" sz="1200" baseline="0" dirty="0"/>
                  <a:t>. </a:t>
                </a:r>
              </a:p>
              <a:p>
                <a:pPr marL="0" indent="0" algn="just">
                  <a:buFont typeface="Arial" panose="020B0604020202020204" pitchFamily="34" charset="0"/>
                  <a:buNone/>
                </a:pPr>
                <a:endParaRPr lang="en-US" sz="1200" baseline="0" dirty="0"/>
              </a:p>
              <a:p>
                <a:pPr marL="0" indent="0" algn="just">
                  <a:buFont typeface="Arial" panose="020B0604020202020204" pitchFamily="34" charset="0"/>
                  <a:buNone/>
                </a:pPr>
                <a:r>
                  <a:rPr lang="en-US" dirty="0" err="1"/>
                  <a:t>Međutim</a:t>
                </a:r>
                <a:r>
                  <a:rPr lang="en-US" dirty="0"/>
                  <a:t>, </a:t>
                </a:r>
                <a:r>
                  <a:rPr lang="en-US" dirty="0" err="1"/>
                  <a:t>ako</a:t>
                </a:r>
                <a:r>
                  <a:rPr lang="en-US" dirty="0"/>
                  <a:t> se </a:t>
                </a:r>
                <a:r>
                  <a:rPr lang="en-US" dirty="0" err="1"/>
                  <a:t>matrica</a:t>
                </a:r>
                <a:r>
                  <a:rPr lang="en-US" dirty="0"/>
                  <a:t> </a:t>
                </a:r>
                <a:r>
                  <a:rPr lang="en-US" dirty="0" err="1"/>
                  <a:t>pomnoži</a:t>
                </a:r>
                <a:r>
                  <a:rPr lang="en-US" dirty="0"/>
                  <a:t> </a:t>
                </a:r>
                <a:r>
                  <a:rPr lang="en-US" dirty="0" err="1"/>
                  <a:t>sa</a:t>
                </a:r>
                <a:r>
                  <a:rPr lang="en-US" dirty="0"/>
                  <a:t> </a:t>
                </a:r>
                <a:r>
                  <a:rPr lang="en-US" dirty="0" err="1"/>
                  <a:t>vektorom</a:t>
                </a:r>
                <a:r>
                  <a:rPr lang="en-US" dirty="0"/>
                  <a:t>, </a:t>
                </a:r>
                <a:r>
                  <a:rPr lang="en-US" dirty="0" err="1"/>
                  <a:t>rezultat</a:t>
                </a:r>
                <a:r>
                  <a:rPr lang="en-US" dirty="0"/>
                  <a:t> </a:t>
                </a:r>
                <a:r>
                  <a:rPr lang="en-US" dirty="0" err="1"/>
                  <a:t>je</a:t>
                </a:r>
                <a:r>
                  <a:rPr lang="en-US" dirty="0"/>
                  <a:t> </a:t>
                </a:r>
                <a:r>
                  <a:rPr lang="en-US" dirty="0" err="1"/>
                  <a:t>novi</a:t>
                </a:r>
                <a:r>
                  <a:rPr lang="en-US" dirty="0"/>
                  <a:t> </a:t>
                </a:r>
                <a:r>
                  <a:rPr lang="en-US" dirty="0" err="1"/>
                  <a:t>vektor</a:t>
                </a:r>
                <a:r>
                  <a:rPr lang="en-US" dirty="0"/>
                  <a:t>, u </a:t>
                </a:r>
                <a:r>
                  <a:rPr lang="en-US" dirty="0" err="1"/>
                  <a:t>ovom</a:t>
                </a:r>
                <a:r>
                  <a:rPr lang="en-US" dirty="0"/>
                  <a:t> </a:t>
                </a:r>
                <a:r>
                  <a:rPr lang="en-US" dirty="0" err="1"/>
                  <a:t>slučaju</a:t>
                </a:r>
                <a:r>
                  <a:rPr lang="en-US" dirty="0"/>
                  <a:t>, </a:t>
                </a:r>
                <a:r>
                  <a:rPr lang="en-US" dirty="0" err="1"/>
                  <a:t>originalni</a:t>
                </a:r>
                <a:r>
                  <a:rPr lang="en-US" dirty="0"/>
                  <a:t> </a:t>
                </a:r>
                <a:r>
                  <a:rPr lang="en-US" dirty="0" err="1"/>
                  <a:t>vektor</a:t>
                </a:r>
                <a:r>
                  <a:rPr lang="en-US" dirty="0"/>
                  <a:t> </a:t>
                </a:r>
                <a:r>
                  <a:rPr lang="en-US" dirty="0" err="1"/>
                  <a:t>rotiran</a:t>
                </a:r>
                <a:r>
                  <a:rPr lang="en-US" dirty="0"/>
                  <a:t> </a:t>
                </a:r>
                <a:r>
                  <a:rPr lang="en-US" dirty="0" err="1"/>
                  <a:t>za</a:t>
                </a:r>
                <a:r>
                  <a:rPr lang="en-US" dirty="0"/>
                  <a:t> </a:t>
                </a:r>
                <a:r>
                  <a:rPr lang="en-ZA" dirty="0"/>
                  <a:t>π/2. </a:t>
                </a:r>
                <a:r>
                  <a:rPr lang="en-ZA" dirty="0" err="1"/>
                  <a:t>Kažemo</a:t>
                </a:r>
                <a:r>
                  <a:rPr lang="en-ZA" dirty="0"/>
                  <a:t> da </a:t>
                </a:r>
                <a:r>
                  <a:rPr lang="en-ZA" dirty="0" err="1"/>
                  <a:t>je</a:t>
                </a:r>
                <a:r>
                  <a:rPr lang="en-ZA" dirty="0"/>
                  <a:t> </a:t>
                </a:r>
                <a:r>
                  <a:rPr lang="en-ZA" dirty="0" err="1"/>
                  <a:t>matrica</a:t>
                </a:r>
                <a:r>
                  <a:rPr lang="en-ZA" dirty="0"/>
                  <a:t> </a:t>
                </a:r>
                <a:r>
                  <a:rPr lang="en-ZA" dirty="0" err="1"/>
                  <a:t>izvršila</a:t>
                </a:r>
                <a:r>
                  <a:rPr lang="en-ZA" dirty="0"/>
                  <a:t> </a:t>
                </a:r>
                <a:r>
                  <a:rPr lang="en-ZA" dirty="0" err="1"/>
                  <a:t>lineranu</a:t>
                </a:r>
                <a:r>
                  <a:rPr lang="en-ZA" dirty="0"/>
                  <a:t> </a:t>
                </a:r>
                <a:r>
                  <a:rPr lang="en-ZA" dirty="0" err="1"/>
                  <a:t>transformaciju</a:t>
                </a:r>
                <a:r>
                  <a:rPr lang="en-ZA" dirty="0"/>
                  <a:t> </a:t>
                </a:r>
                <a:r>
                  <a:rPr lang="en-ZA" dirty="0" err="1"/>
                  <a:t>vektora</a:t>
                </a:r>
                <a:r>
                  <a:rPr lang="en-ZA" dirty="0"/>
                  <a:t> I </a:t>
                </a:r>
                <a:r>
                  <a:rPr lang="en-ZA" dirty="0" err="1"/>
                  <a:t>ovakvu</a:t>
                </a:r>
                <a:r>
                  <a:rPr lang="en-ZA" dirty="0"/>
                  <a:t> </a:t>
                </a:r>
                <a:r>
                  <a:rPr lang="en-ZA" dirty="0" err="1"/>
                  <a:t>matricu</a:t>
                </a:r>
                <a:r>
                  <a:rPr lang="en-ZA" dirty="0"/>
                  <a:t> </a:t>
                </a:r>
                <a:r>
                  <a:rPr lang="en-ZA" dirty="0" err="1"/>
                  <a:t>nazivamo</a:t>
                </a:r>
                <a:r>
                  <a:rPr lang="en-ZA" dirty="0"/>
                  <a:t> operator.</a:t>
                </a:r>
              </a:p>
              <a:p>
                <a:pPr marL="0" indent="0" algn="just">
                  <a:buFont typeface="Arial" panose="020B0604020202020204" pitchFamily="34" charset="0"/>
                  <a:buNone/>
                </a:pPr>
                <a:endParaRPr lang="en-ZA" dirty="0"/>
              </a:p>
              <a:p>
                <a:pPr marL="0" indent="0" algn="just">
                  <a:buFont typeface="Arial" panose="020B0604020202020204" pitchFamily="34" charset="0"/>
                  <a:buNone/>
                </a:pPr>
                <a:r>
                  <a:rPr lang="en-ZA" dirty="0" err="1"/>
                  <a:t>Uopšteno</a:t>
                </a:r>
                <a:r>
                  <a:rPr lang="en-ZA" dirty="0"/>
                  <a:t> </a:t>
                </a:r>
                <a:r>
                  <a:rPr lang="en-ZA" dirty="0" err="1"/>
                  <a:t>govoreći</a:t>
                </a:r>
                <a:r>
                  <a:rPr lang="en-ZA" dirty="0"/>
                  <a:t>, </a:t>
                </a:r>
                <a:r>
                  <a:rPr lang="en-ZA" dirty="0" err="1"/>
                  <a:t>linearna</a:t>
                </a:r>
                <a:r>
                  <a:rPr lang="en-ZA" dirty="0"/>
                  <a:t> </a:t>
                </a:r>
                <a:r>
                  <a:rPr lang="en-ZA" dirty="0" err="1"/>
                  <a:t>transformacija</a:t>
                </a:r>
                <a:r>
                  <a:rPr lang="en-ZA" dirty="0"/>
                  <a:t> </a:t>
                </a:r>
                <a:r>
                  <a:rPr lang="en-ZA" dirty="0" err="1"/>
                  <a:t>je</a:t>
                </a:r>
                <a:r>
                  <a:rPr lang="en-ZA" dirty="0"/>
                  <a:t> </a:t>
                </a:r>
                <a:r>
                  <a:rPr lang="en-ZA" dirty="0" err="1"/>
                  <a:t>operacija</a:t>
                </a:r>
                <a:r>
                  <a:rPr lang="en-ZA" dirty="0"/>
                  <a:t> </a:t>
                </a:r>
                <a:r>
                  <a:rPr lang="en-ZA" dirty="0" err="1"/>
                  <a:t>koja</a:t>
                </a:r>
                <a:r>
                  <a:rPr lang="en-ZA" dirty="0"/>
                  <a:t> </a:t>
                </a:r>
                <a:r>
                  <a:rPr lang="en-ZA" dirty="0" err="1"/>
                  <a:t>preslikava</a:t>
                </a:r>
                <a:r>
                  <a:rPr lang="en-ZA" dirty="0"/>
                  <a:t> </a:t>
                </a:r>
                <a:r>
                  <a:rPr lang="en-ZA" dirty="0" err="1"/>
                  <a:t>vektore</a:t>
                </a:r>
                <a:r>
                  <a:rPr lang="en-ZA" dirty="0"/>
                  <a:t> </a:t>
                </a:r>
                <a:r>
                  <a:rPr lang="en-ZA" dirty="0" err="1"/>
                  <a:t>iz</a:t>
                </a:r>
                <a:r>
                  <a:rPr lang="en-ZA" dirty="0"/>
                  <a:t> </a:t>
                </a:r>
                <a:r>
                  <a:rPr lang="en-ZA" dirty="0" err="1"/>
                  <a:t>jednog</a:t>
                </a:r>
                <a:r>
                  <a:rPr lang="en-ZA" dirty="0"/>
                  <a:t> </a:t>
                </a:r>
                <a:r>
                  <a:rPr lang="en-ZA" dirty="0" err="1"/>
                  <a:t>prostora</a:t>
                </a:r>
                <a:r>
                  <a:rPr lang="en-ZA" dirty="0"/>
                  <a:t> u </a:t>
                </a:r>
                <a:r>
                  <a:rPr lang="en-ZA" dirty="0" err="1"/>
                  <a:t>isti</a:t>
                </a:r>
                <a:r>
                  <a:rPr lang="en-ZA" dirty="0"/>
                  <a:t> </a:t>
                </a:r>
                <a:r>
                  <a:rPr lang="en-ZA" dirty="0" err="1"/>
                  <a:t>ili</a:t>
                </a:r>
                <a:r>
                  <a:rPr lang="en-ZA" dirty="0"/>
                  <a:t> u </a:t>
                </a:r>
                <a:r>
                  <a:rPr lang="en-ZA" dirty="0" err="1"/>
                  <a:t>drugi</a:t>
                </a:r>
                <a:r>
                  <a:rPr lang="en-ZA" dirty="0"/>
                  <a:t> </a:t>
                </a:r>
                <a:r>
                  <a:rPr lang="en-ZA" dirty="0" err="1"/>
                  <a:t>vektorski</a:t>
                </a:r>
                <a:r>
                  <a:rPr lang="en-ZA" dirty="0"/>
                  <a:t> </a:t>
                </a:r>
                <a:r>
                  <a:rPr lang="en-ZA" dirty="0" err="1"/>
                  <a:t>prostor</a:t>
                </a:r>
                <a:r>
                  <a:rPr lang="en-ZA" dirty="0"/>
                  <a:t> </a:t>
                </a:r>
                <a:r>
                  <a:rPr lang="en-ZA" dirty="0" err="1"/>
                  <a:t>zadržavajući</a:t>
                </a:r>
                <a:r>
                  <a:rPr lang="en-ZA" dirty="0"/>
                  <a:t> </a:t>
                </a:r>
                <a:r>
                  <a:rPr lang="en-ZA" dirty="0" err="1"/>
                  <a:t>osobine</a:t>
                </a:r>
                <a:r>
                  <a:rPr lang="en-ZA" dirty="0"/>
                  <a:t> </a:t>
                </a:r>
                <a:r>
                  <a:rPr lang="en-ZA" dirty="0" err="1"/>
                  <a:t>sabiranja</a:t>
                </a:r>
                <a:r>
                  <a:rPr lang="en-ZA" dirty="0"/>
                  <a:t> </a:t>
                </a:r>
                <a:r>
                  <a:rPr lang="en-ZA" dirty="0" err="1"/>
                  <a:t>vektora</a:t>
                </a:r>
                <a:r>
                  <a:rPr lang="en-ZA" dirty="0"/>
                  <a:t> </a:t>
                </a:r>
                <a:r>
                  <a:rPr lang="en-ZA" dirty="0" err="1"/>
                  <a:t>i</a:t>
                </a:r>
                <a:r>
                  <a:rPr lang="en-ZA" dirty="0"/>
                  <a:t> </a:t>
                </a:r>
                <a:r>
                  <a:rPr lang="en-ZA" dirty="0" err="1"/>
                  <a:t>množenja</a:t>
                </a:r>
                <a:r>
                  <a:rPr lang="en-ZA" dirty="0"/>
                  <a:t> skalarom. </a:t>
                </a:r>
                <a:r>
                  <a:rPr lang="en-ZA" dirty="0" err="1"/>
                  <a:t>Ovo</a:t>
                </a:r>
                <a:r>
                  <a:rPr lang="en-ZA" dirty="0"/>
                  <a:t> </a:t>
                </a:r>
                <a:r>
                  <a:rPr lang="en-ZA" dirty="0" err="1"/>
                  <a:t>znači</a:t>
                </a:r>
                <a:r>
                  <a:rPr lang="en-ZA" dirty="0"/>
                  <a:t> da </a:t>
                </a:r>
                <a:r>
                  <a:rPr lang="en-ZA" dirty="0" err="1"/>
                  <a:t>za</a:t>
                </a:r>
                <a:r>
                  <a:rPr lang="en-ZA" dirty="0"/>
                  <a:t> </a:t>
                </a:r>
                <a:r>
                  <a:rPr lang="en-ZA" dirty="0" err="1"/>
                  <a:t>transformaciju</a:t>
                </a:r>
                <a:r>
                  <a:rPr lang="en-ZA" dirty="0"/>
                  <a:t> 𝑇, </a:t>
                </a:r>
                <a:r>
                  <a:rPr lang="en-ZA" dirty="0" err="1"/>
                  <a:t>vektore</a:t>
                </a:r>
                <a:r>
                  <a:rPr lang="en-ZA" dirty="0"/>
                  <a:t> |𝑎⟩ </a:t>
                </a:r>
                <a:r>
                  <a:rPr lang="en-ZA" dirty="0" err="1"/>
                  <a:t>i</a:t>
                </a:r>
                <a:r>
                  <a:rPr lang="en-ZA" dirty="0"/>
                  <a:t> |𝑏⟩ </a:t>
                </a:r>
                <a:r>
                  <a:rPr lang="en-ZA" dirty="0" err="1"/>
                  <a:t>i</a:t>
                </a:r>
                <a:r>
                  <a:rPr lang="en-ZA" dirty="0"/>
                  <a:t> </a:t>
                </a:r>
                <a:r>
                  <a:rPr lang="en-ZA" dirty="0" err="1"/>
                  <a:t>sklar</a:t>
                </a:r>
                <a:r>
                  <a:rPr lang="en-ZA" dirty="0"/>
                  <a:t> </a:t>
                </a:r>
                <a:r>
                  <a:rPr lang="en-US" sz="1200" i="0">
                    <a:latin typeface="Cambria Math" panose="02040503050406030204" pitchFamily="18" charset="0"/>
                    <a:ea typeface="Times New Roman" panose="02020603050405020304" pitchFamily="18" charset="0"/>
                    <a:cs typeface="Times New Roman" panose="02020603050405020304" pitchFamily="18" charset="0"/>
                  </a:rPr>
                  <a:t>𝑐</a:t>
                </a:r>
                <a:r>
                  <a:rPr lang="en-ZA" dirty="0"/>
                  <a:t>, važi:</a:t>
                </a:r>
              </a:p>
              <a:p>
                <a:pPr marL="0" indent="0" algn="just">
                  <a:buFont typeface="Arial" panose="020B0604020202020204" pitchFamily="34" charset="0"/>
                  <a:buNone/>
                </a:pPr>
                <a:endParaRPr lang="en-ZA" dirty="0"/>
              </a:p>
              <a:p>
                <a:pPr marL="171450" indent="-171450" algn="just">
                  <a:buFont typeface="Arial" panose="020B0604020202020204" pitchFamily="34" charset="0"/>
                  <a:buChar char="•"/>
                </a:pPr>
                <a:r>
                  <a:rPr lang="en-ZA" dirty="0" err="1"/>
                  <a:t>Transformacija</a:t>
                </a:r>
                <a:r>
                  <a:rPr lang="en-ZA" dirty="0"/>
                  <a:t> </a:t>
                </a:r>
                <a:r>
                  <a:rPr lang="en-ZA" dirty="0" err="1"/>
                  <a:t>zbira</a:t>
                </a:r>
                <a:r>
                  <a:rPr lang="en-ZA" dirty="0"/>
                  <a:t> </a:t>
                </a:r>
                <a:r>
                  <a:rPr lang="en-ZA" dirty="0" err="1"/>
                  <a:t>dva</a:t>
                </a:r>
                <a:r>
                  <a:rPr lang="en-ZA" dirty="0"/>
                  <a:t> </a:t>
                </a:r>
                <a:r>
                  <a:rPr lang="en-ZA" dirty="0" err="1"/>
                  <a:t>vektora</a:t>
                </a:r>
                <a:r>
                  <a:rPr lang="en-ZA" dirty="0"/>
                  <a:t> </a:t>
                </a:r>
                <a:r>
                  <a:rPr lang="en-ZA" dirty="0" err="1"/>
                  <a:t>jednaka</a:t>
                </a:r>
                <a:r>
                  <a:rPr lang="en-ZA" dirty="0"/>
                  <a:t> </a:t>
                </a:r>
                <a:r>
                  <a:rPr lang="en-ZA" dirty="0" err="1"/>
                  <a:t>je</a:t>
                </a:r>
                <a:r>
                  <a:rPr lang="en-ZA" dirty="0"/>
                  <a:t> </a:t>
                </a:r>
                <a:r>
                  <a:rPr lang="en-ZA" dirty="0" err="1"/>
                  <a:t>zbiru</a:t>
                </a:r>
                <a:r>
                  <a:rPr lang="en-ZA" dirty="0"/>
                  <a:t> </a:t>
                </a:r>
                <a:r>
                  <a:rPr lang="en-ZA" dirty="0" err="1"/>
                  <a:t>transformacija</a:t>
                </a:r>
                <a:r>
                  <a:rPr lang="en-ZA" dirty="0"/>
                  <a:t> </a:t>
                </a:r>
                <a:r>
                  <a:rPr lang="en-ZA" dirty="0" err="1"/>
                  <a:t>pojedinačnih</a:t>
                </a:r>
                <a:r>
                  <a:rPr lang="en-ZA" dirty="0"/>
                  <a:t> </a:t>
                </a:r>
                <a:r>
                  <a:rPr lang="en-ZA" dirty="0" err="1"/>
                  <a:t>vektora</a:t>
                </a:r>
                <a:r>
                  <a:rPr lang="en-ZA" dirty="0"/>
                  <a:t>.</a:t>
                </a:r>
              </a:p>
              <a:p>
                <a:pPr marL="171450" indent="-171450" algn="just">
                  <a:buFont typeface="Arial" panose="020B0604020202020204" pitchFamily="34" charset="0"/>
                  <a:buChar char="•"/>
                </a:pPr>
                <a:r>
                  <a:rPr lang="en-ZA" dirty="0" err="1"/>
                  <a:t>Transformacija</a:t>
                </a:r>
                <a:r>
                  <a:rPr lang="en-ZA" dirty="0"/>
                  <a:t> </a:t>
                </a:r>
                <a:r>
                  <a:rPr lang="en-ZA" dirty="0" err="1"/>
                  <a:t>vektora</a:t>
                </a:r>
                <a:r>
                  <a:rPr lang="en-ZA" dirty="0"/>
                  <a:t> </a:t>
                </a:r>
                <a:r>
                  <a:rPr lang="en-ZA" dirty="0" err="1"/>
                  <a:t>pomnoženog</a:t>
                </a:r>
                <a:r>
                  <a:rPr lang="en-ZA" dirty="0"/>
                  <a:t> skalarom </a:t>
                </a:r>
                <a:r>
                  <a:rPr lang="en-ZA" dirty="0" err="1"/>
                  <a:t>jednaka</a:t>
                </a:r>
                <a:r>
                  <a:rPr lang="en-ZA" dirty="0"/>
                  <a:t> </a:t>
                </a:r>
                <a:r>
                  <a:rPr lang="en-ZA" dirty="0" err="1"/>
                  <a:t>je</a:t>
                </a:r>
                <a:r>
                  <a:rPr lang="en-ZA" dirty="0"/>
                  <a:t> </a:t>
                </a:r>
                <a:r>
                  <a:rPr lang="en-ZA" dirty="0" err="1"/>
                  <a:t>skalaru</a:t>
                </a:r>
                <a:r>
                  <a:rPr lang="en-ZA" dirty="0"/>
                  <a:t> </a:t>
                </a:r>
                <a:r>
                  <a:rPr lang="en-ZA" dirty="0" err="1"/>
                  <a:t>pomnoženom</a:t>
                </a:r>
                <a:r>
                  <a:rPr lang="en-ZA" dirty="0"/>
                  <a:t> </a:t>
                </a:r>
                <a:r>
                  <a:rPr lang="en-ZA" dirty="0" err="1"/>
                  <a:t>transformacijom</a:t>
                </a:r>
                <a:r>
                  <a:rPr lang="en-ZA" dirty="0"/>
                  <a:t> tog </a:t>
                </a:r>
                <a:r>
                  <a:rPr lang="en-ZA" dirty="0" err="1"/>
                  <a:t>vektora</a:t>
                </a:r>
                <a:r>
                  <a:rPr lang="en-ZA" dirty="0"/>
                  <a:t>.</a:t>
                </a:r>
                <a:endParaRPr lang="en-US" sz="1200" dirty="0"/>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ZA" dirty="0"/>
              </a:p>
              <a:p>
                <a:pPr algn="just"/>
                <a:r>
                  <a:rPr lang="en-ZA" dirty="0"/>
                  <a:t>Ova </a:t>
                </a:r>
                <a:r>
                  <a:rPr lang="en-ZA" dirty="0" err="1"/>
                  <a:t>svojstva</a:t>
                </a:r>
                <a:r>
                  <a:rPr lang="en-ZA" dirty="0"/>
                  <a:t> </a:t>
                </a:r>
                <a:r>
                  <a:rPr lang="en-ZA" dirty="0" err="1"/>
                  <a:t>garantuju</a:t>
                </a:r>
                <a:r>
                  <a:rPr lang="en-ZA" dirty="0"/>
                  <a:t> da </a:t>
                </a:r>
                <a:r>
                  <a:rPr lang="en-ZA" dirty="0" err="1"/>
                  <a:t>transformacija</a:t>
                </a:r>
                <a:r>
                  <a:rPr lang="en-ZA" dirty="0"/>
                  <a:t> ne </a:t>
                </a:r>
                <a:r>
                  <a:rPr lang="en-ZA" dirty="0" err="1"/>
                  <a:t>menja</a:t>
                </a:r>
                <a:r>
                  <a:rPr lang="en-ZA" dirty="0"/>
                  <a:t> </a:t>
                </a:r>
                <a:r>
                  <a:rPr lang="en-ZA" dirty="0" err="1"/>
                  <a:t>odnose</a:t>
                </a:r>
                <a:r>
                  <a:rPr lang="en-ZA" dirty="0"/>
                  <a:t> </a:t>
                </a:r>
                <a:r>
                  <a:rPr lang="en-ZA" dirty="0" err="1"/>
                  <a:t>između</a:t>
                </a:r>
                <a:r>
                  <a:rPr lang="en-ZA" dirty="0"/>
                  <a:t> </a:t>
                </a:r>
                <a:r>
                  <a:rPr lang="en-ZA" dirty="0" err="1"/>
                  <a:t>vektora</a:t>
                </a:r>
                <a:r>
                  <a:rPr lang="en-ZA" dirty="0"/>
                  <a:t> u </a:t>
                </a:r>
                <a:r>
                  <a:rPr lang="en-ZA" dirty="0" err="1"/>
                  <a:t>prostoru</a:t>
                </a:r>
                <a:r>
                  <a:rPr lang="en-ZA" dirty="0"/>
                  <a:t>.</a:t>
                </a:r>
              </a:p>
              <a:p>
                <a:pPr marL="0" indent="0" algn="just">
                  <a:buFont typeface="Arial" panose="020B0604020202020204" pitchFamily="34" charset="0"/>
                  <a:buNone/>
                </a:pP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44</a:t>
            </a:fld>
            <a:endParaRPr lang="en-US"/>
          </a:p>
        </p:txBody>
      </p:sp>
    </p:spTree>
    <p:extLst>
      <p:ext uri="{BB962C8B-B14F-4D97-AF65-F5344CB8AC3E}">
        <p14:creationId xmlns:p14="http://schemas.microsoft.com/office/powerpoint/2010/main" val="326719204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solidFill>
                      <a:schemeClr val="tx1"/>
                    </a:solidFill>
                  </a:rPr>
                  <a:t>One of the key operations in quantum computing is rotation, as it enables precise control over a qubit’s state. For this reason, it is important to understand how a rotation operator functions.</a:t>
                </a:r>
              </a:p>
              <a:p>
                <a:pPr algn="just"/>
                <a:r>
                  <a:rPr lang="en-ZA" b="0" dirty="0">
                    <a:solidFill>
                      <a:schemeClr val="tx1"/>
                    </a:solidFill>
                  </a:rPr>
                  <a:t>Consider a vector </a:t>
                </a:r>
                <a14:m>
                  <m:oMath xmlns:m="http://schemas.openxmlformats.org/officeDocument/2006/math">
                    <m:d>
                      <m:dPr>
                        <m:begChr m:val="|"/>
                        <m:endChr m:val="⟩"/>
                        <m:ctrlPr>
                          <a:rPr lang="en-US" sz="12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r>
                          <a:rPr lang="sr-Latn-RS" sz="12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𝑣</m:t>
                        </m:r>
                      </m:e>
                    </m:d>
                  </m:oMath>
                </a14:m>
                <a:r>
                  <a:rPr lang="en-US" b="0" dirty="0">
                    <a:solidFill>
                      <a:schemeClr val="tx1"/>
                    </a:solidFill>
                  </a:rPr>
                  <a:t> and</a:t>
                </a:r>
                <a:r>
                  <a:rPr lang="en-ZA" b="0" dirty="0">
                    <a:solidFill>
                      <a:schemeClr val="tx1"/>
                    </a:solidFill>
                  </a:rPr>
                  <a:t> suppose we want to rotate this vector by an angle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𝜃</m:t>
                    </m:r>
                  </m:oMath>
                </a14:m>
                <a:r>
                  <a:rPr lang="el-GR" b="0" dirty="0">
                    <a:solidFill>
                      <a:schemeClr val="tx1"/>
                    </a:solidFill>
                  </a:rPr>
                  <a:t>.</a:t>
                </a:r>
                <a:endParaRPr lang="en-US" b="0" dirty="0">
                  <a:solidFill>
                    <a:schemeClr val="tx1"/>
                  </a:solidFill>
                </a:endParaRPr>
              </a:p>
              <a:p>
                <a:pPr algn="just"/>
                <a:endParaRPr lang="el-GR" b="0" dirty="0">
                  <a:solidFill>
                    <a:schemeClr val="tx1"/>
                  </a:solidFill>
                </a:endParaRPr>
              </a:p>
              <a:p>
                <a:pPr marL="228600" indent="-228600" algn="just">
                  <a:buFont typeface="+mj-lt"/>
                  <a:buAutoNum type="arabicPeriod"/>
                </a:pPr>
                <a:r>
                  <a:rPr lang="en-ZA" dirty="0"/>
                  <a:t>Since a vector is defined relative to its basis, we can rotate the basis vectors and then express the same vector in this new basis.</a:t>
                </a:r>
                <a:endParaRPr lang="en-ZA" b="0" dirty="0">
                  <a:solidFill>
                    <a:schemeClr val="tx1"/>
                  </a:solidFill>
                </a:endParaRPr>
              </a:p>
              <a:p>
                <a:pPr marL="228600" indent="-228600" algn="just">
                  <a:buFont typeface="+mj-lt"/>
                  <a:buAutoNum type="arabicPeriod"/>
                </a:pPr>
                <a:endParaRPr lang="en-ZA" b="0" dirty="0">
                  <a:solidFill>
                    <a:schemeClr val="tx1"/>
                  </a:solidFill>
                </a:endParaRPr>
              </a:p>
              <a:p>
                <a:pPr marL="228600" indent="-228600" algn="just">
                  <a:buFont typeface="+mj-lt"/>
                  <a:buAutoNum type="arabicPeriod"/>
                </a:pPr>
                <a:r>
                  <a:rPr lang="en-ZA" b="0" dirty="0">
                    <a:solidFill>
                      <a:schemeClr val="tx1"/>
                    </a:solidFill>
                  </a:rPr>
                  <a:t>In the first step, we rotate the basis vectors and determine their new coordinates:</a:t>
                </a:r>
              </a:p>
              <a:p>
                <a:pPr marL="628650" lvl="1" indent="-171450" algn="just">
                  <a:buFont typeface="Arial" panose="020B0604020202020204" pitchFamily="34" charset="0"/>
                  <a:buChar char="•"/>
                </a:pPr>
                <a:r>
                  <a:rPr lang="en-ZA" b="0" dirty="0">
                    <a:solidFill>
                      <a:schemeClr val="tx1"/>
                    </a:solidFill>
                  </a:rPr>
                  <a:t>The coordinates</a:t>
                </a:r>
                <a:r>
                  <a:rPr lang="en-ZA" b="0" baseline="0" dirty="0">
                    <a:solidFill>
                      <a:schemeClr val="tx1"/>
                    </a:solidFill>
                  </a:rPr>
                  <a:t> of the </a:t>
                </a:r>
                <a:r>
                  <a:rPr lang="en-ZA" b="0" dirty="0">
                    <a:solidFill>
                      <a:schemeClr val="tx1"/>
                    </a:solidFill>
                  </a:rPr>
                  <a:t>vector </a:t>
                </a:r>
                <a14:m>
                  <m:oMath xmlns:m="http://schemas.openxmlformats.org/officeDocument/2006/math">
                    <m:d>
                      <m:dPr>
                        <m:begChr m:val="|"/>
                        <m:endChr m:val="⟩"/>
                        <m:ctrlPr>
                          <a:rPr lang="en-US" sz="12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200" b="0" i="1">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𝑒</m:t>
                            </m:r>
                          </m:e>
                          <m:sub>
                            <m:r>
                              <a:rPr lang="en-US" sz="1200" b="0" i="1" smtClean="0">
                                <a:solidFill>
                                  <a:schemeClr val="tx1"/>
                                </a:solidFill>
                                <a:latin typeface="Cambria Math" panose="02040503050406030204" pitchFamily="18" charset="0"/>
                              </a:rPr>
                              <m:t>1</m:t>
                            </m:r>
                          </m:sub>
                        </m:sSub>
                      </m:e>
                    </m:d>
                  </m:oMath>
                </a14:m>
                <a:r>
                  <a:rPr lang="en-ZA" b="0" dirty="0">
                    <a:solidFill>
                      <a:schemeClr val="tx1"/>
                    </a:solidFill>
                  </a:rPr>
                  <a:t> transforms to </a:t>
                </a:r>
                <a14:m>
                  <m:oMath xmlns:m="http://schemas.openxmlformats.org/officeDocument/2006/math">
                    <m:func>
                      <m:funcPr>
                        <m:ctrlPr>
                          <a:rPr lang="en-US" sz="1200" b="0" i="1" smtClean="0">
                            <a:solidFill>
                              <a:schemeClr val="tx1"/>
                            </a:solidFill>
                            <a:latin typeface="Cambria Math" panose="02040503050406030204" pitchFamily="18" charset="0"/>
                            <a:ea typeface="Cambria Math" panose="02040503050406030204" pitchFamily="18" charset="0"/>
                          </a:rPr>
                        </m:ctrlPr>
                      </m:funcPr>
                      <m:fName>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𝑐𝑜𝑠</m:t>
                        </m:r>
                      </m:fName>
                      <m:e>
                        <m:r>
                          <a:rPr lang="en-US" sz="1200" b="0" i="1" smtClean="0">
                            <a:solidFill>
                              <a:schemeClr val="tx1"/>
                            </a:solidFill>
                            <a:latin typeface="Cambria Math" panose="02040503050406030204" pitchFamily="18" charset="0"/>
                            <a:ea typeface="Cambria Math" panose="02040503050406030204" pitchFamily="18" charset="0"/>
                          </a:rPr>
                          <m:t>𝜃</m:t>
                        </m:r>
                      </m:e>
                    </m:func>
                    <m:r>
                      <a:rPr lang="en-US" sz="1200" b="0" i="1" smtClean="0">
                        <a:solidFill>
                          <a:schemeClr val="tx1"/>
                        </a:solidFill>
                        <a:latin typeface="Cambria Math" panose="02040503050406030204" pitchFamily="18" charset="0"/>
                        <a:ea typeface="Cambria Math" panose="02040503050406030204" pitchFamily="18" charset="0"/>
                      </a:rPr>
                      <m:t>,</m:t>
                    </m:r>
                    <m:func>
                      <m:funcPr>
                        <m:ctrlPr>
                          <a:rPr lang="en-US" sz="1200" b="0" i="1" smtClean="0">
                            <a:solidFill>
                              <a:schemeClr val="tx1"/>
                            </a:solidFill>
                            <a:latin typeface="Cambria Math" panose="02040503050406030204" pitchFamily="18" charset="0"/>
                            <a:ea typeface="Cambria Math" panose="02040503050406030204" pitchFamily="18" charset="0"/>
                          </a:rPr>
                        </m:ctrlPr>
                      </m:funcPr>
                      <m:fName>
                        <m:r>
                          <a:rPr lang="en-US" sz="1200" b="0" i="1" smtClean="0">
                            <a:solidFill>
                              <a:schemeClr val="tx1"/>
                            </a:solidFill>
                            <a:latin typeface="Cambria Math" panose="02040503050406030204" pitchFamily="18" charset="0"/>
                            <a:ea typeface="Cambria Math" panose="02040503050406030204" pitchFamily="18" charset="0"/>
                          </a:rPr>
                          <m:t>𝑠𝑖𝑛</m:t>
                        </m:r>
                        <m:r>
                          <a:rPr lang="en-US" sz="1200" b="0" i="1" smtClean="0">
                            <a:solidFill>
                              <a:schemeClr val="tx1"/>
                            </a:solidFill>
                            <a:latin typeface="Cambria Math" panose="02040503050406030204" pitchFamily="18" charset="0"/>
                            <a:ea typeface="Cambria Math" panose="02040503050406030204" pitchFamily="18" charset="0"/>
                          </a:rPr>
                          <m:t> </m:t>
                        </m:r>
                      </m:fName>
                      <m:e>
                        <m:r>
                          <a:rPr lang="en-US" sz="1200" b="0" i="1" smtClean="0">
                            <a:solidFill>
                              <a:schemeClr val="tx1"/>
                            </a:solidFill>
                            <a:latin typeface="Cambria Math" panose="02040503050406030204" pitchFamily="18" charset="0"/>
                            <a:ea typeface="Cambria Math" panose="02040503050406030204" pitchFamily="18" charset="0"/>
                          </a:rPr>
                          <m:t>𝜃</m:t>
                        </m:r>
                      </m:e>
                    </m:func>
                    <m:r>
                      <a:rPr lang="en-US" sz="1200" b="0" i="1" smtClean="0">
                        <a:solidFill>
                          <a:schemeClr val="tx1"/>
                        </a:solidFill>
                        <a:latin typeface="Cambria Math" panose="02040503050406030204" pitchFamily="18" charset="0"/>
                        <a:ea typeface="Cambria Math" panose="02040503050406030204" pitchFamily="18" charset="0"/>
                      </a:rPr>
                      <m:t>)</m:t>
                    </m:r>
                  </m:oMath>
                </a14:m>
                <a:r>
                  <a:rPr lang="el-GR" b="0" dirty="0">
                    <a:solidFill>
                      <a:schemeClr val="tx1"/>
                    </a:solidFill>
                  </a:rPr>
                  <a:t>.</a:t>
                </a:r>
                <a:endParaRPr lang="en-US" b="0" dirty="0">
                  <a:solidFill>
                    <a:schemeClr val="tx1"/>
                  </a:solidFill>
                </a:endParaRPr>
              </a:p>
              <a:p>
                <a:pPr marL="628650" marR="0" lvl="1"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b="0" dirty="0">
                    <a:solidFill>
                      <a:schemeClr val="tx1"/>
                    </a:solidFill>
                  </a:rPr>
                  <a:t>The coordinates</a:t>
                </a:r>
                <a:r>
                  <a:rPr lang="en-ZA" b="0" baseline="0" dirty="0">
                    <a:solidFill>
                      <a:schemeClr val="tx1"/>
                    </a:solidFill>
                  </a:rPr>
                  <a:t> of the </a:t>
                </a:r>
                <a:r>
                  <a:rPr lang="en-ZA" b="0" dirty="0">
                    <a:solidFill>
                      <a:schemeClr val="tx1"/>
                    </a:solidFill>
                  </a:rPr>
                  <a:t>vector </a:t>
                </a:r>
                <a14:m>
                  <m:oMath xmlns:m="http://schemas.openxmlformats.org/officeDocument/2006/math">
                    <m:d>
                      <m:dPr>
                        <m:begChr m:val="|"/>
                        <m:endChr m:val="⟩"/>
                        <m:ctrlPr>
                          <a:rPr lang="en-US" sz="12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200" b="0" i="1">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𝑒</m:t>
                            </m:r>
                          </m:e>
                          <m:sub>
                            <m:r>
                              <a:rPr lang="en-US" sz="1200" b="0" i="1" smtClean="0">
                                <a:solidFill>
                                  <a:schemeClr val="tx1"/>
                                </a:solidFill>
                                <a:latin typeface="Cambria Math" panose="02040503050406030204" pitchFamily="18" charset="0"/>
                              </a:rPr>
                              <m:t>2</m:t>
                            </m:r>
                          </m:sub>
                        </m:sSub>
                      </m:e>
                    </m:d>
                  </m:oMath>
                </a14:m>
                <a:r>
                  <a:rPr lang="en-ZA" b="0" dirty="0">
                    <a:solidFill>
                      <a:schemeClr val="tx1"/>
                    </a:solidFill>
                  </a:rPr>
                  <a:t> transforms to </a:t>
                </a:r>
                <a14:m>
                  <m:oMath xmlns:m="http://schemas.openxmlformats.org/officeDocument/2006/math">
                    <m:func>
                      <m:funcPr>
                        <m:ctrlPr>
                          <a:rPr lang="en-US" sz="1200" b="0" i="1" smtClean="0">
                            <a:solidFill>
                              <a:schemeClr val="tx1"/>
                            </a:solidFill>
                            <a:latin typeface="Cambria Math" panose="02040503050406030204" pitchFamily="18" charset="0"/>
                            <a:ea typeface="Cambria Math" panose="02040503050406030204" pitchFamily="18" charset="0"/>
                          </a:rPr>
                        </m:ctrlPr>
                      </m:funcPr>
                      <m:fName>
                        <m:r>
                          <a:rPr lang="en-US" sz="1200" b="0" i="1" smtClean="0">
                            <a:solidFill>
                              <a:schemeClr val="tx1"/>
                            </a:solidFill>
                            <a:latin typeface="Cambria Math" panose="02040503050406030204" pitchFamily="18" charset="0"/>
                            <a:ea typeface="Cambria Math" panose="02040503050406030204" pitchFamily="18" charset="0"/>
                          </a:rPr>
                          <m:t>(−</m:t>
                        </m:r>
                        <m:r>
                          <a:rPr lang="en-US" sz="1200" b="0" i="1" smtClean="0">
                            <a:solidFill>
                              <a:schemeClr val="tx1"/>
                            </a:solidFill>
                            <a:latin typeface="Cambria Math" panose="02040503050406030204" pitchFamily="18" charset="0"/>
                            <a:ea typeface="Cambria Math" panose="02040503050406030204" pitchFamily="18" charset="0"/>
                          </a:rPr>
                          <m:t>𝑠𝑖𝑛</m:t>
                        </m:r>
                      </m:fName>
                      <m:e>
                        <m:r>
                          <a:rPr lang="en-US" sz="1200" b="0" i="1" smtClean="0">
                            <a:solidFill>
                              <a:schemeClr val="tx1"/>
                            </a:solidFill>
                            <a:latin typeface="Cambria Math" panose="02040503050406030204" pitchFamily="18" charset="0"/>
                            <a:ea typeface="Cambria Math" panose="02040503050406030204" pitchFamily="18" charset="0"/>
                          </a:rPr>
                          <m:t>𝜃</m:t>
                        </m:r>
                      </m:e>
                    </m:func>
                    <m:r>
                      <a:rPr lang="en-US" sz="1200" b="0" i="1" smtClean="0">
                        <a:solidFill>
                          <a:schemeClr val="tx1"/>
                        </a:solidFill>
                        <a:latin typeface="Cambria Math" panose="02040503050406030204" pitchFamily="18" charset="0"/>
                        <a:ea typeface="Cambria Math" panose="02040503050406030204" pitchFamily="18" charset="0"/>
                      </a:rPr>
                      <m:t>,</m:t>
                    </m:r>
                    <m:func>
                      <m:funcPr>
                        <m:ctrlPr>
                          <a:rPr lang="en-US" sz="1200" b="0" i="1" smtClean="0">
                            <a:solidFill>
                              <a:schemeClr val="tx1"/>
                            </a:solidFill>
                            <a:latin typeface="Cambria Math" panose="02040503050406030204" pitchFamily="18" charset="0"/>
                            <a:ea typeface="Cambria Math" panose="02040503050406030204" pitchFamily="18" charset="0"/>
                          </a:rPr>
                        </m:ctrlPr>
                      </m:funcPr>
                      <m:fName>
                        <m:r>
                          <a:rPr lang="en-US" sz="1200" b="0" i="1" smtClean="0">
                            <a:solidFill>
                              <a:schemeClr val="tx1"/>
                            </a:solidFill>
                            <a:latin typeface="Cambria Math" panose="02040503050406030204" pitchFamily="18" charset="0"/>
                            <a:ea typeface="Cambria Math" panose="02040503050406030204" pitchFamily="18" charset="0"/>
                          </a:rPr>
                          <m:t>𝑐𝑜𝑠</m:t>
                        </m:r>
                        <m:r>
                          <a:rPr lang="en-US" sz="1200" b="0" i="1" smtClean="0">
                            <a:solidFill>
                              <a:schemeClr val="tx1"/>
                            </a:solidFill>
                            <a:latin typeface="Cambria Math" panose="02040503050406030204" pitchFamily="18" charset="0"/>
                            <a:ea typeface="Cambria Math" panose="02040503050406030204" pitchFamily="18" charset="0"/>
                          </a:rPr>
                          <m:t> </m:t>
                        </m:r>
                      </m:fName>
                      <m:e>
                        <m:r>
                          <a:rPr lang="en-US" sz="1200" b="0" i="1" smtClean="0">
                            <a:solidFill>
                              <a:schemeClr val="tx1"/>
                            </a:solidFill>
                            <a:latin typeface="Cambria Math" panose="02040503050406030204" pitchFamily="18" charset="0"/>
                            <a:ea typeface="Cambria Math" panose="02040503050406030204" pitchFamily="18" charset="0"/>
                          </a:rPr>
                          <m:t>𝜃</m:t>
                        </m:r>
                      </m:e>
                    </m:func>
                    <m:r>
                      <a:rPr lang="en-US" sz="1200" b="0" i="1" smtClean="0">
                        <a:solidFill>
                          <a:schemeClr val="tx1"/>
                        </a:solidFill>
                        <a:latin typeface="Cambria Math" panose="02040503050406030204" pitchFamily="18" charset="0"/>
                        <a:ea typeface="Cambria Math" panose="02040503050406030204" pitchFamily="18" charset="0"/>
                      </a:rPr>
                      <m:t>)</m:t>
                    </m:r>
                  </m:oMath>
                </a14:m>
                <a:r>
                  <a:rPr lang="el-GR" b="0" dirty="0">
                    <a:solidFill>
                      <a:schemeClr val="tx1"/>
                    </a:solidFill>
                  </a:rPr>
                  <a:t>.</a:t>
                </a:r>
                <a:endParaRPr lang="en-US" b="0" dirty="0">
                  <a:solidFill>
                    <a:schemeClr val="tx1"/>
                  </a:solidFill>
                </a:endParaRP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en-US" b="0" dirty="0">
                  <a:solidFill>
                    <a:schemeClr val="tx1"/>
                  </a:solidFill>
                </a:endParaRP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b="0" dirty="0">
                    <a:solidFill>
                      <a:schemeClr val="tx1"/>
                    </a:solidFill>
                  </a:rPr>
                  <a:t>By arranging these transformed basis vectors as columns, we construct the rotation matrix (or rotation operator) </a:t>
                </a:r>
                <a14:m>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𝑅</m:t>
                        </m:r>
                      </m:e>
                      <m:sub>
                        <m:r>
                          <a:rPr lang="en-US" sz="1200" b="0" i="1" smtClean="0">
                            <a:solidFill>
                              <a:schemeClr val="tx1"/>
                            </a:solidFill>
                            <a:latin typeface="Cambria Math" panose="02040503050406030204" pitchFamily="18" charset="0"/>
                            <a:ea typeface="Cambria Math" panose="02040503050406030204" pitchFamily="18" charset="0"/>
                          </a:rPr>
                          <m:t>𝜃</m:t>
                        </m:r>
                      </m:sub>
                    </m:sSub>
                  </m:oMath>
                </a14:m>
                <a:r>
                  <a:rPr lang="en-US" b="0" dirty="0">
                    <a:solidFill>
                      <a:schemeClr val="tx1"/>
                    </a:solidFill>
                  </a:rPr>
                  <a:t>. </a:t>
                </a:r>
                <a:r>
                  <a:rPr lang="en-ZA" b="0" dirty="0">
                    <a:solidFill>
                      <a:schemeClr val="tx1"/>
                    </a:solidFill>
                  </a:rPr>
                  <a:t>The first column of </a:t>
                </a:r>
                <a14:m>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𝑅</m:t>
                        </m:r>
                      </m:e>
                      <m:sub>
                        <m:r>
                          <a:rPr lang="en-US" sz="1200" b="0" i="1" smtClean="0">
                            <a:solidFill>
                              <a:schemeClr val="tx1"/>
                            </a:solidFill>
                            <a:latin typeface="Cambria Math" panose="02040503050406030204" pitchFamily="18" charset="0"/>
                            <a:ea typeface="Cambria Math" panose="02040503050406030204" pitchFamily="18" charset="0"/>
                          </a:rPr>
                          <m:t>𝜃</m:t>
                        </m:r>
                      </m:sub>
                    </m:sSub>
                  </m:oMath>
                </a14:m>
                <a:r>
                  <a:rPr lang="el-GR" b="0" dirty="0">
                    <a:solidFill>
                      <a:schemeClr val="tx1"/>
                    </a:solidFill>
                  </a:rPr>
                  <a:t>​ </a:t>
                </a:r>
                <a:r>
                  <a:rPr lang="en-ZA" b="0" dirty="0">
                    <a:solidFill>
                      <a:schemeClr val="tx1"/>
                    </a:solidFill>
                  </a:rPr>
                  <a:t>represents the new coordinates of </a:t>
                </a:r>
                <a14:m>
                  <m:oMath xmlns:m="http://schemas.openxmlformats.org/officeDocument/2006/math">
                    <m:d>
                      <m:dPr>
                        <m:begChr m:val="|"/>
                        <m:endChr m:val="⟩"/>
                        <m:ctrlPr>
                          <a:rPr lang="en-US" sz="12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200" b="0" i="1">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𝑒</m:t>
                            </m:r>
                          </m:e>
                          <m:sub>
                            <m:r>
                              <a:rPr lang="en-US" sz="1200" b="0" i="1" smtClean="0">
                                <a:solidFill>
                                  <a:schemeClr val="tx1"/>
                                </a:solidFill>
                                <a:latin typeface="Cambria Math" panose="02040503050406030204" pitchFamily="18" charset="0"/>
                              </a:rPr>
                              <m:t>1</m:t>
                            </m:r>
                          </m:sub>
                        </m:sSub>
                      </m:e>
                    </m:d>
                  </m:oMath>
                </a14:m>
                <a:r>
                  <a:rPr lang="en-ZA" b="0" dirty="0">
                    <a:solidFill>
                      <a:schemeClr val="tx1"/>
                    </a:solidFill>
                  </a:rPr>
                  <a:t>.The second column represents the new coordinates of </a:t>
                </a:r>
                <a14:m>
                  <m:oMath xmlns:m="http://schemas.openxmlformats.org/officeDocument/2006/math">
                    <m:d>
                      <m:dPr>
                        <m:begChr m:val="|"/>
                        <m:endChr m:val="⟩"/>
                        <m:ctrlPr>
                          <a:rPr lang="en-US" sz="12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1200" b="0" i="1">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𝑒</m:t>
                            </m:r>
                          </m:e>
                          <m:sub>
                            <m:r>
                              <a:rPr lang="en-US" sz="1200" b="0" i="1" smtClean="0">
                                <a:solidFill>
                                  <a:schemeClr val="tx1"/>
                                </a:solidFill>
                                <a:latin typeface="Cambria Math" panose="02040503050406030204" pitchFamily="18" charset="0"/>
                              </a:rPr>
                              <m:t>2</m:t>
                            </m:r>
                          </m:sub>
                        </m:sSub>
                      </m:e>
                    </m:d>
                  </m:oMath>
                </a14:m>
                <a:r>
                  <a:rPr lang="en-ZA" b="0" dirty="0">
                    <a:solidFill>
                      <a:schemeClr val="tx1"/>
                    </a:solidFill>
                  </a:rPr>
                  <a:t>. </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en-ZA" b="0" dirty="0">
                  <a:solidFill>
                    <a:schemeClr val="tx1"/>
                  </a:solidFill>
                </a:endParaRP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dirty="0"/>
                  <a:t>This rotation matrix, when multiplied by a vector, changes the vector’s direction while keeping its length the same</a:t>
                </a:r>
                <a:r>
                  <a:rPr lang="en-ZA" b="0" dirty="0">
                    <a:solidFill>
                      <a:schemeClr val="tx1"/>
                    </a:solidFill>
                  </a:rPr>
                  <a:t>.</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en-ZA" b="0" dirty="0">
                  <a:solidFill>
                    <a:schemeClr val="tx1"/>
                  </a:solidFill>
                </a:endParaRP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en-ZA" b="0" dirty="0">
                    <a:solidFill>
                      <a:schemeClr val="tx1"/>
                    </a:solidFill>
                  </a:rPr>
                  <a:t>By multiplying </a:t>
                </a:r>
                <a14:m>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𝑅</m:t>
                        </m:r>
                      </m:e>
                      <m:sub>
                        <m:r>
                          <a:rPr lang="en-US" sz="1200" b="0" i="1" smtClean="0">
                            <a:solidFill>
                              <a:schemeClr val="tx1"/>
                            </a:solidFill>
                            <a:latin typeface="Cambria Math" panose="02040503050406030204" pitchFamily="18" charset="0"/>
                          </a:rPr>
                          <m:t>𝜃</m:t>
                        </m:r>
                      </m:sub>
                    </m:sSub>
                  </m:oMath>
                </a14:m>
                <a:r>
                  <a:rPr lang="el-GR" b="0" dirty="0">
                    <a:solidFill>
                      <a:schemeClr val="tx1"/>
                    </a:solidFill>
                  </a:rPr>
                  <a:t>​ </a:t>
                </a:r>
                <a:r>
                  <a:rPr lang="en-ZA" b="0" dirty="0">
                    <a:solidFill>
                      <a:schemeClr val="tx1"/>
                    </a:solidFill>
                  </a:rPr>
                  <a:t>with its conjugate transpose </a:t>
                </a:r>
                <a14:m>
                  <m:oMath xmlns:m="http://schemas.openxmlformats.org/officeDocument/2006/math">
                    <m:sSubSup>
                      <m:sSubSupPr>
                        <m:ctrlPr>
                          <a:rPr lang="en-US" sz="1200" b="0" i="1" smtClean="0">
                            <a:solidFill>
                              <a:schemeClr val="tx1"/>
                            </a:solidFill>
                            <a:latin typeface="Cambria Math" panose="02040503050406030204" pitchFamily="18" charset="0"/>
                          </a:rPr>
                        </m:ctrlPr>
                      </m:sSubSupPr>
                      <m:e>
                        <m:r>
                          <a:rPr lang="en-US" sz="1200" b="0" i="1" smtClean="0">
                            <a:solidFill>
                              <a:schemeClr val="tx1"/>
                            </a:solidFill>
                            <a:latin typeface="Cambria Math" panose="02040503050406030204" pitchFamily="18" charset="0"/>
                          </a:rPr>
                          <m:t>𝑅</m:t>
                        </m:r>
                      </m:e>
                      <m:sub>
                        <m:r>
                          <a:rPr lang="en-US" sz="1200" b="0" i="1" smtClean="0">
                            <a:solidFill>
                              <a:schemeClr val="tx1"/>
                            </a:solidFill>
                            <a:latin typeface="Cambria Math" panose="02040503050406030204" pitchFamily="18" charset="0"/>
                          </a:rPr>
                          <m:t>𝜃</m:t>
                        </m:r>
                      </m:sub>
                      <m:sup>
                        <m:r>
                          <a:rPr lang="en-US" sz="1200" b="0" i="1" smtClean="0">
                            <a:solidFill>
                              <a:schemeClr val="tx1"/>
                            </a:solidFill>
                            <a:latin typeface="Cambria Math" panose="02040503050406030204" pitchFamily="18" charset="0"/>
                          </a:rPr>
                          <m:t>†</m:t>
                        </m:r>
                        <m:r>
                          <m:rPr>
                            <m:nor/>
                          </m:rPr>
                          <a:rPr lang="en-US" sz="1200" b="0">
                            <a:solidFill>
                              <a:schemeClr val="tx1"/>
                            </a:solidFill>
                          </a:rPr>
                          <m:t> </m:t>
                        </m:r>
                      </m:sup>
                    </m:sSubSup>
                  </m:oMath>
                </a14:m>
                <a:r>
                  <a:rPr lang="el-GR" b="0" dirty="0">
                    <a:solidFill>
                      <a:schemeClr val="tx1"/>
                    </a:solidFill>
                  </a:rPr>
                  <a:t>​, </a:t>
                </a:r>
                <a:r>
                  <a:rPr lang="en-ZA" b="0" dirty="0">
                    <a:solidFill>
                      <a:schemeClr val="tx1"/>
                    </a:solidFill>
                  </a:rPr>
                  <a:t>we obtain the identity matrix. i.e. </a:t>
                </a:r>
                <a14:m>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𝑅</m:t>
                        </m:r>
                      </m:e>
                      <m:sub>
                        <m:r>
                          <a:rPr lang="en-US" sz="1200" b="0" i="1" smtClean="0">
                            <a:solidFill>
                              <a:schemeClr val="tx1"/>
                            </a:solidFill>
                            <a:latin typeface="Cambria Math" panose="02040503050406030204" pitchFamily="18" charset="0"/>
                          </a:rPr>
                          <m:t>𝜃</m:t>
                        </m:r>
                      </m:sub>
                    </m:sSub>
                    <m:sSubSup>
                      <m:sSubSupPr>
                        <m:ctrlPr>
                          <a:rPr lang="en-US" sz="1200" b="0" i="1">
                            <a:solidFill>
                              <a:schemeClr val="tx1"/>
                            </a:solidFill>
                            <a:latin typeface="Cambria Math" panose="02040503050406030204" pitchFamily="18" charset="0"/>
                          </a:rPr>
                        </m:ctrlPr>
                      </m:sSubSupPr>
                      <m:e>
                        <m:r>
                          <a:rPr lang="en-US" sz="1200" b="0" i="1" smtClean="0">
                            <a:solidFill>
                              <a:schemeClr val="tx1"/>
                            </a:solidFill>
                            <a:latin typeface="Cambria Math" panose="02040503050406030204" pitchFamily="18" charset="0"/>
                          </a:rPr>
                          <m:t>𝑅</m:t>
                        </m:r>
                      </m:e>
                      <m:sub>
                        <m:r>
                          <a:rPr lang="en-US" sz="1200" b="0" i="1" smtClean="0">
                            <a:solidFill>
                              <a:schemeClr val="tx1"/>
                            </a:solidFill>
                            <a:latin typeface="Cambria Math" panose="02040503050406030204" pitchFamily="18" charset="0"/>
                          </a:rPr>
                          <m:t>𝜃</m:t>
                        </m:r>
                      </m:sub>
                      <m:sup>
                        <m:r>
                          <a:rPr lang="en-US" sz="1200" b="0" i="1" smtClean="0">
                            <a:solidFill>
                              <a:schemeClr val="tx1"/>
                            </a:solidFill>
                            <a:latin typeface="Cambria Math" panose="02040503050406030204" pitchFamily="18" charset="0"/>
                          </a:rPr>
                          <m:t>†</m:t>
                        </m:r>
                        <m:r>
                          <m:rPr>
                            <m:nor/>
                          </m:rPr>
                          <a:rPr lang="en-US" sz="1200" b="0">
                            <a:solidFill>
                              <a:schemeClr val="tx1"/>
                            </a:solidFill>
                          </a:rPr>
                          <m:t> </m:t>
                        </m:r>
                      </m:sup>
                    </m:sSubSup>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𝐼</m:t>
                    </m:r>
                  </m:oMath>
                </a14:m>
                <a:r>
                  <a:rPr lang="en-ZA" b="0" dirty="0">
                    <a:solidFill>
                      <a:schemeClr val="tx1"/>
                    </a:solidFill>
                  </a:rPr>
                  <a:t>. </a:t>
                </a:r>
                <a:r>
                  <a:rPr lang="en-ZA" dirty="0"/>
                  <a:t>In other words, the transformation matrix is unitary. This means that applying </a:t>
                </a:r>
                <a14:m>
                  <m:oMath xmlns:m="http://schemas.openxmlformats.org/officeDocument/2006/math">
                    <m:sSub>
                      <m:sSubPr>
                        <m:ctrlPr>
                          <a:rPr lang="en-US" sz="1200" b="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𝑅</m:t>
                        </m:r>
                      </m:e>
                      <m:sub>
                        <m:r>
                          <a:rPr lang="en-US" sz="1200" b="0" i="1" smtClean="0">
                            <a:solidFill>
                              <a:schemeClr val="tx1"/>
                            </a:solidFill>
                            <a:latin typeface="Cambria Math" panose="02040503050406030204" pitchFamily="18" charset="0"/>
                          </a:rPr>
                          <m:t>𝜃</m:t>
                        </m:r>
                      </m:sub>
                    </m:sSub>
                  </m:oMath>
                </a14:m>
                <a:r>
                  <a:rPr lang="en-ZA" dirty="0"/>
                  <a:t> followed by </a:t>
                </a:r>
                <a14:m>
                  <m:oMath xmlns:m="http://schemas.openxmlformats.org/officeDocument/2006/math">
                    <m:sSubSup>
                      <m:sSubSupPr>
                        <m:ctrlPr>
                          <a:rPr lang="en-US" sz="1200" b="0" i="1" smtClean="0">
                            <a:solidFill>
                              <a:schemeClr val="tx1"/>
                            </a:solidFill>
                            <a:latin typeface="Cambria Math" panose="02040503050406030204" pitchFamily="18" charset="0"/>
                          </a:rPr>
                        </m:ctrlPr>
                      </m:sSubSupPr>
                      <m:e>
                        <m:r>
                          <a:rPr lang="en-US" sz="1200" b="0" i="1" smtClean="0">
                            <a:solidFill>
                              <a:schemeClr val="tx1"/>
                            </a:solidFill>
                            <a:latin typeface="Cambria Math" panose="02040503050406030204" pitchFamily="18" charset="0"/>
                          </a:rPr>
                          <m:t>𝑅</m:t>
                        </m:r>
                      </m:e>
                      <m:sub>
                        <m:r>
                          <a:rPr lang="en-US" sz="1200" b="0" i="1" smtClean="0">
                            <a:solidFill>
                              <a:schemeClr val="tx1"/>
                            </a:solidFill>
                            <a:latin typeface="Cambria Math" panose="02040503050406030204" pitchFamily="18" charset="0"/>
                          </a:rPr>
                          <m:t>𝜃</m:t>
                        </m:r>
                      </m:sub>
                      <m:sup>
                        <m:r>
                          <a:rPr lang="en-US" sz="1200" b="0" i="1" smtClean="0">
                            <a:solidFill>
                              <a:schemeClr val="tx1"/>
                            </a:solidFill>
                            <a:latin typeface="Cambria Math" panose="02040503050406030204" pitchFamily="18" charset="0"/>
                          </a:rPr>
                          <m:t>†</m:t>
                        </m:r>
                        <m:r>
                          <m:rPr>
                            <m:nor/>
                          </m:rPr>
                          <a:rPr lang="en-US" sz="1200" b="0">
                            <a:solidFill>
                              <a:schemeClr val="tx1"/>
                            </a:solidFill>
                          </a:rPr>
                          <m:t> </m:t>
                        </m:r>
                      </m:sup>
                    </m:sSubSup>
                  </m:oMath>
                </a14:m>
                <a:r>
                  <a:rPr lang="en-ZA" dirty="0"/>
                  <a:t> returns any vector to its original state, showing that the transformation is reversible. This implies that quantum computing operations are also reversible.</a:t>
                </a:r>
                <a:endParaRPr lang="en-ZA" b="0" dirty="0">
                  <a:solidFill>
                    <a:schemeClr val="tx1"/>
                  </a:solidFill>
                </a:endParaRPr>
              </a:p>
            </p:txBody>
          </p:sp>
        </mc:Choice>
        <mc:Fallback xmlns="">
          <p:sp>
            <p:nvSpPr>
              <p:cNvPr id="3" name="Notes Placeholder 2"/>
              <p:cNvSpPr>
                <a:spLocks noGrp="1"/>
              </p:cNvSpPr>
              <p:nvPr>
                <p:ph type="body" idx="1"/>
              </p:nvPr>
            </p:nvSpPr>
            <p:spPr/>
            <p: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On the left we can see that a linear expression of a vector as a sum of scaled basis vectors we can be </a:t>
                </a:r>
                <a:r>
                  <a:rPr lang="en-US" sz="2000" dirty="0" err="1"/>
                  <a:t>writen</a:t>
                </a:r>
                <a:r>
                  <a:rPr lang="en-US" sz="2000" dirty="0"/>
                  <a:t> in a matrix form. Columns on this matrix are coordinates of basis vectors</a:t>
                </a:r>
                <a:r>
                  <a:rPr lang="en-US" sz="2000" baseline="0" dirty="0"/>
                  <a:t> and the matrix itself is an identity matrix</a:t>
                </a:r>
                <a:r>
                  <a:rPr lang="en-US" sz="2000" dirty="0"/>
                  <a:t>. This matrix is called the transformation matrix and in this case it transforms a vector to itself.</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dirty="0"/>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Let’s now rotate our vector </a:t>
                </a:r>
                <a:r>
                  <a:rPr lang="en-US" sz="2000" b="1" i="0">
                    <a:solidFill>
                      <a:schemeClr val="bg1">
                        <a:lumMod val="50000"/>
                      </a:schemeClr>
                    </a:solidFill>
                    <a:latin typeface="Cambria Math" panose="02040503050406030204" pitchFamily="18" charset="0"/>
                  </a:rPr>
                  <a:t>𝒗</a:t>
                </a:r>
                <a:r>
                  <a:rPr lang="en-US" sz="2000" b="0" i="0">
                    <a:solidFill>
                      <a:schemeClr val="bg1">
                        <a:lumMod val="50000"/>
                      </a:schemeClr>
                    </a:solidFill>
                    <a:latin typeface="Cambria Math" panose="02040503050406030204" pitchFamily="18" charset="0"/>
                  </a:rPr>
                  <a:t> </a:t>
                </a:r>
                <a:r>
                  <a:rPr lang="en-US" sz="2000" dirty="0"/>
                  <a:t>together with basis vectors anticlockwise for an angle </a:t>
                </a:r>
                <a:r>
                  <a:rPr lang="en-US" sz="2000" i="0">
                    <a:solidFill>
                      <a:srgbClr val="00B050"/>
                    </a:solidFill>
                    <a:latin typeface="Cambria Math" panose="02040503050406030204" pitchFamily="18" charset="0"/>
                    <a:ea typeface="Cambria Math" panose="02040503050406030204" pitchFamily="18" charset="0"/>
                  </a:rPr>
                  <a:t>𝜃</a:t>
                </a:r>
                <a:r>
                  <a:rPr lang="en-US" sz="2000" dirty="0">
                    <a:solidFill>
                      <a:srgbClr val="00B050"/>
                    </a:solidFill>
                  </a:rPr>
                  <a:t> as shown on the right. All three vectors retained their relative positions,</a:t>
                </a:r>
                <a:r>
                  <a:rPr lang="en-US" sz="2000" baseline="0" dirty="0">
                    <a:solidFill>
                      <a:srgbClr val="00B050"/>
                    </a:solidFill>
                  </a:rPr>
                  <a:t> so the vector </a:t>
                </a:r>
                <a:r>
                  <a:rPr lang="en-US" sz="2000" b="1" i="0">
                    <a:solidFill>
                      <a:schemeClr val="bg1">
                        <a:lumMod val="50000"/>
                      </a:schemeClr>
                    </a:solidFill>
                    <a:latin typeface="Cambria Math" panose="02040503050406030204" pitchFamily="18" charset="0"/>
                  </a:rPr>
                  <a:t>𝒗</a:t>
                </a:r>
                <a:r>
                  <a:rPr lang="en-US" sz="2000" dirty="0">
                    <a:solidFill>
                      <a:srgbClr val="00B050"/>
                    </a:solidFill>
                  </a:rPr>
                  <a:t> is still the linear combination of basis vectors. Since basis vectors now have different coordinates</a:t>
                </a:r>
                <a:r>
                  <a:rPr lang="en-US" sz="2000" baseline="0" dirty="0">
                    <a:solidFill>
                      <a:srgbClr val="00B050"/>
                    </a:solidFill>
                  </a:rPr>
                  <a:t>, </a:t>
                </a:r>
                <a:r>
                  <a:rPr lang="en-US" sz="2000" dirty="0">
                    <a:solidFill>
                      <a:srgbClr val="00B050"/>
                    </a:solidFill>
                  </a:rPr>
                  <a:t>to obtain the new position of the vector </a:t>
                </a:r>
                <a:r>
                  <a:rPr lang="en-US" sz="2000" b="1" i="0">
                    <a:solidFill>
                      <a:schemeClr val="bg1">
                        <a:lumMod val="50000"/>
                      </a:schemeClr>
                    </a:solidFill>
                    <a:latin typeface="Cambria Math" panose="02040503050406030204" pitchFamily="18" charset="0"/>
                  </a:rPr>
                  <a:t>𝒗</a:t>
                </a:r>
                <a:r>
                  <a:rPr lang="en-US" sz="2000" dirty="0">
                    <a:solidFill>
                      <a:srgbClr val="00B050"/>
                    </a:solidFill>
                  </a:rPr>
                  <a:t> we simply replace coordinates in the identity matrix with the new ones. Because</a:t>
                </a:r>
                <a:r>
                  <a:rPr lang="en-US" sz="2000" baseline="0" dirty="0">
                    <a:solidFill>
                      <a:srgbClr val="00B050"/>
                    </a:solidFill>
                  </a:rPr>
                  <a:t> of the linearity principle, the rotation matrix </a:t>
                </a:r>
                <a:r>
                  <a:rPr lang="en-US" sz="2000" b="0" i="0">
                    <a:latin typeface="Cambria Math" panose="02040503050406030204" pitchFamily="18" charset="0"/>
                  </a:rPr>
                  <a:t>𝑅_</a:t>
                </a:r>
                <a:r>
                  <a:rPr lang="en-US" sz="2000" b="0" i="0">
                    <a:latin typeface="Cambria Math" panose="02040503050406030204" pitchFamily="18" charset="0"/>
                    <a:ea typeface="Cambria Math" panose="02040503050406030204" pitchFamily="18" charset="0"/>
                  </a:rPr>
                  <a:t>𝜃</a:t>
                </a:r>
                <a:r>
                  <a:rPr lang="en-US" sz="2000" dirty="0"/>
                  <a:t>, we created can be applied to any vector.</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dirty="0"/>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t>This is important result because quantum computing is performed by qubit rotation. Since rotations are reversible (we simply rotate vector in the opposite direction), quantum computing is also reversible. It is easy to show that rotation in the opposite direction is performed by a matrix which is transpose of </a:t>
                </a:r>
                <a:r>
                  <a:rPr lang="en-US" sz="2000" b="0" i="0">
                    <a:latin typeface="Cambria Math" panose="02040503050406030204" pitchFamily="18" charset="0"/>
                  </a:rPr>
                  <a:t>𝑅_</a:t>
                </a:r>
                <a:r>
                  <a:rPr lang="en-US" sz="2000" b="0" i="0">
                    <a:latin typeface="Cambria Math" panose="02040503050406030204" pitchFamily="18" charset="0"/>
                    <a:ea typeface="Cambria Math" panose="02040503050406030204" pitchFamily="18" charset="0"/>
                  </a:rPr>
                  <a:t>𝜃</a:t>
                </a:r>
                <a:r>
                  <a:rPr lang="en-US" sz="2000" dirty="0"/>
                  <a:t>. Since</a:t>
                </a:r>
                <a:r>
                  <a:rPr lang="en-US" sz="2000" baseline="0" dirty="0"/>
                  <a:t> those two rotations cancel each other the product of these matrices must be the identity matrix.  Two matrices that are conjugate transpose of each other and their product is identity matrix we defined as unitary matrices. Operations performed by unitary matrices are called unitary operations. All quantum computing operations are </a:t>
                </a:r>
                <a:r>
                  <a:rPr lang="en-US" sz="2000" baseline="0" dirty="0" err="1"/>
                  <a:t>untitary</a:t>
                </a:r>
                <a:r>
                  <a:rPr lang="en-US" sz="2000" baseline="0" dirty="0"/>
                  <a:t>.</a:t>
                </a:r>
                <a:endParaRPr lang="en-US" sz="20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45</a:t>
            </a:fld>
            <a:endParaRPr lang="en-US"/>
          </a:p>
        </p:txBody>
      </p:sp>
    </p:spTree>
    <p:extLst>
      <p:ext uri="{BB962C8B-B14F-4D97-AF65-F5344CB8AC3E}">
        <p14:creationId xmlns:p14="http://schemas.microsoft.com/office/powerpoint/2010/main" val="25164495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28600" indent="-228600" algn="just">
                  <a:buFont typeface="+mj-lt"/>
                  <a:buAutoNum type="arabicPeriod"/>
                </a:pPr>
                <a:r>
                  <a:rPr lang="en-ZA" b="0" dirty="0"/>
                  <a:t>In Dirac notation, an operator </a:t>
                </a:r>
                <a14:m>
                  <m:oMath xmlns:m="http://schemas.openxmlformats.org/officeDocument/2006/math">
                    <m:r>
                      <a:rPr lang="en-US" sz="1200" i="1" smtClean="0">
                        <a:solidFill>
                          <a:srgbClr val="0000FF"/>
                        </a:solidFill>
                        <a:latin typeface="Cambria Math" panose="02040503050406030204" pitchFamily="18" charset="0"/>
                      </a:rPr>
                      <m:t>𝑈</m:t>
                    </m:r>
                  </m:oMath>
                </a14:m>
                <a:r>
                  <a:rPr lang="en-ZA" b="0" dirty="0"/>
                  <a:t> acts on a ket vector from the right while its conjugate transpose (also called the adjoint or Hermitian conjugate) acts on a bra vector from the left.</a:t>
                </a:r>
              </a:p>
              <a:p>
                <a:pPr marL="228600" indent="-228600" algn="just">
                  <a:buFont typeface="+mj-lt"/>
                  <a:buAutoNum type="arabicPeriod"/>
                </a:pPr>
                <a:endParaRPr lang="en-ZA" b="0" dirty="0"/>
              </a:p>
              <a:p>
                <a:pPr marL="228600" indent="-228600" algn="just">
                  <a:buFont typeface="+mj-lt"/>
                  <a:buAutoNum type="arabicPeriod"/>
                </a:pPr>
                <a:r>
                  <a:rPr lang="en-ZA" b="0" dirty="0"/>
                  <a:t>Operators are applied from right to left, starting with the operator closest to the vector. If multiple operators are applied, the one nearest the vector acts first.</a:t>
                </a:r>
              </a:p>
              <a:p>
                <a:pPr marL="228600" indent="-228600" algn="just">
                  <a:buFont typeface="+mj-lt"/>
                  <a:buAutoNum type="arabicPeriod"/>
                </a:pPr>
                <a:endParaRPr lang="en-ZA" b="0" dirty="0"/>
              </a:p>
              <a:p>
                <a:pPr marL="228600" indent="-228600" algn="just">
                  <a:buFont typeface="+mj-lt"/>
                  <a:buAutoNum type="arabicPeriod"/>
                </a:pPr>
                <a:r>
                  <a:rPr lang="en-ZA" b="0" dirty="0"/>
                  <a:t>When an operator is applied to a vector, it acts on all components of the vector.</a:t>
                </a:r>
              </a:p>
              <a:p>
                <a:pPr marL="228600" indent="-228600" algn="just">
                  <a:buFont typeface="+mj-lt"/>
                  <a:buAutoNum type="arabicPeriod"/>
                </a:pPr>
                <a:endParaRPr lang="en-ZA" b="0" dirty="0"/>
              </a:p>
              <a:p>
                <a:pPr marL="228600" indent="-228600" algn="just">
                  <a:buFont typeface="+mj-lt"/>
                  <a:buAutoNum type="arabicPeriod"/>
                </a:pPr>
                <a:r>
                  <a:rPr lang="en-ZA" b="0" dirty="0"/>
                  <a:t>The expression</a:t>
                </a:r>
                <a:r>
                  <a:rPr lang="en-ZA" b="0" baseline="0" dirty="0"/>
                  <a:t> </a:t>
                </a:r>
                <a14:m>
                  <m:oMath xmlns:m="http://schemas.openxmlformats.org/officeDocument/2006/math">
                    <m:r>
                      <a:rPr lang="en-US" sz="1200" smtClean="0">
                        <a:latin typeface="Cambria Math" panose="02040503050406030204" pitchFamily="18" charset="0"/>
                      </a:rPr>
                      <m:t>⟨</m:t>
                    </m:r>
                    <m:r>
                      <a:rPr lang="en-US" sz="1200" i="1">
                        <a:latin typeface="Cambria Math" panose="02040503050406030204" pitchFamily="18" charset="0"/>
                      </a:rPr>
                      <m:t>𝑎</m:t>
                    </m:r>
                    <m:d>
                      <m:dPr>
                        <m:begChr m:val="|"/>
                        <m:endChr m:val="⟩"/>
                        <m:ctrlPr>
                          <a:rPr lang="en-US" sz="1200" i="1">
                            <a:latin typeface="Cambria Math" panose="02040503050406030204" pitchFamily="18" charset="0"/>
                          </a:rPr>
                        </m:ctrlPr>
                      </m:dPr>
                      <m:e>
                        <m:r>
                          <a:rPr lang="en-US" sz="1200" i="1">
                            <a:solidFill>
                              <a:srgbClr val="0000FF"/>
                            </a:solidFill>
                            <a:latin typeface="Cambria Math" panose="02040503050406030204" pitchFamily="18" charset="0"/>
                          </a:rPr>
                          <m:t>𝑈</m:t>
                        </m:r>
                        <m:r>
                          <a:rPr lang="en-US" sz="1200" i="1">
                            <a:latin typeface="Cambria Math" panose="02040503050406030204" pitchFamily="18" charset="0"/>
                          </a:rPr>
                          <m:t>|</m:t>
                        </m:r>
                        <m:r>
                          <a:rPr lang="en-US" sz="1200" i="1">
                            <a:latin typeface="Cambria Math" panose="02040503050406030204" pitchFamily="18" charset="0"/>
                          </a:rPr>
                          <m:t>𝑏</m:t>
                        </m:r>
                      </m:e>
                    </m:d>
                  </m:oMath>
                </a14:m>
                <a:r>
                  <a:rPr lang="en-US" sz="1200" b="0" dirty="0"/>
                  <a:t> </a:t>
                </a:r>
                <a:r>
                  <a:rPr lang="en-ZA" b="0" dirty="0"/>
                  <a:t>represents the inner product between the vector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𝑎</m:t>
                        </m:r>
                      </m:e>
                    </m:d>
                  </m:oMath>
                </a14:m>
                <a:r>
                  <a:rPr lang="en-ZA" b="0" dirty="0"/>
                  <a:t> and the transformed vector </a:t>
                </a:r>
                <a14:m>
                  <m:oMath xmlns:m="http://schemas.openxmlformats.org/officeDocument/2006/math">
                    <m:r>
                      <a:rPr lang="en-US" sz="1200" i="1" smtClean="0">
                        <a:solidFill>
                          <a:srgbClr val="0000FF"/>
                        </a:solidFill>
                        <a:latin typeface="Cambria Math" panose="02040503050406030204" pitchFamily="18" charset="0"/>
                      </a:rPr>
                      <m:t>𝑈</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𝑏</m:t>
                        </m:r>
                      </m:e>
                    </m:d>
                  </m:oMath>
                </a14:m>
                <a:r>
                  <a:rPr lang="en-ZA" b="0" dirty="0"/>
                  <a:t> , meaning </a:t>
                </a:r>
                <a14:m>
                  <m:oMath xmlns:m="http://schemas.openxmlformats.org/officeDocument/2006/math">
                    <m:d>
                      <m:dPr>
                        <m:begChr m:val="|"/>
                        <m:endChr m:val="⟩"/>
                        <m:ctrlPr>
                          <a:rPr lang="en-US" sz="1200" i="1" smtClean="0">
                            <a:latin typeface="Cambria Math" panose="02040503050406030204" pitchFamily="18" charset="0"/>
                          </a:rPr>
                        </m:ctrlPr>
                      </m:dPr>
                      <m:e>
                        <m:r>
                          <a:rPr lang="en-US" sz="1200" b="0" i="1" smtClean="0">
                            <a:latin typeface="Cambria Math" panose="02040503050406030204" pitchFamily="18" charset="0"/>
                          </a:rPr>
                          <m:t>𝑏</m:t>
                        </m:r>
                      </m:e>
                    </m:d>
                  </m:oMath>
                </a14:m>
                <a:r>
                  <a:rPr lang="en-ZA" b="0" dirty="0"/>
                  <a:t> is first modified by </a:t>
                </a:r>
                <a14:m>
                  <m:oMath xmlns:m="http://schemas.openxmlformats.org/officeDocument/2006/math">
                    <m:r>
                      <a:rPr lang="en-US" sz="1200" i="1" smtClean="0">
                        <a:solidFill>
                          <a:srgbClr val="0000FF"/>
                        </a:solidFill>
                        <a:latin typeface="Cambria Math" panose="02040503050406030204" pitchFamily="18" charset="0"/>
                      </a:rPr>
                      <m:t>𝑈</m:t>
                    </m:r>
                  </m:oMath>
                </a14:m>
                <a:r>
                  <a:rPr lang="en-ZA" b="0" dirty="0"/>
                  <a:t> before taking the inner product. </a:t>
                </a:r>
                <a:r>
                  <a:rPr lang="en-ZA" dirty="0"/>
                  <a:t>Depending on the choice of vectors and the operator, </a:t>
                </a:r>
                <a14:m>
                  <m:oMath xmlns:m="http://schemas.openxmlformats.org/officeDocument/2006/math">
                    <m:r>
                      <a:rPr lang="en-US" sz="1200" smtClean="0">
                        <a:latin typeface="Cambria Math" panose="02040503050406030204" pitchFamily="18" charset="0"/>
                      </a:rPr>
                      <m:t>⟨</m:t>
                    </m:r>
                    <m:r>
                      <a:rPr lang="en-US" sz="1200" i="1">
                        <a:latin typeface="Cambria Math" panose="02040503050406030204" pitchFamily="18" charset="0"/>
                      </a:rPr>
                      <m:t>𝑎</m:t>
                    </m:r>
                    <m:d>
                      <m:dPr>
                        <m:begChr m:val="|"/>
                        <m:endChr m:val="⟩"/>
                        <m:ctrlPr>
                          <a:rPr lang="en-US" sz="1200" i="1">
                            <a:latin typeface="Cambria Math" panose="02040503050406030204" pitchFamily="18" charset="0"/>
                          </a:rPr>
                        </m:ctrlPr>
                      </m:dPr>
                      <m:e>
                        <m:r>
                          <a:rPr lang="en-US" sz="1200" i="1">
                            <a:solidFill>
                              <a:srgbClr val="0000FF"/>
                            </a:solidFill>
                            <a:latin typeface="Cambria Math" panose="02040503050406030204" pitchFamily="18" charset="0"/>
                          </a:rPr>
                          <m:t>𝑈</m:t>
                        </m:r>
                        <m:r>
                          <a:rPr lang="en-US" sz="1200" i="1">
                            <a:latin typeface="Cambria Math" panose="02040503050406030204" pitchFamily="18" charset="0"/>
                          </a:rPr>
                          <m:t>|</m:t>
                        </m:r>
                        <m:r>
                          <a:rPr lang="en-US" sz="1200" i="1">
                            <a:latin typeface="Cambria Math" panose="02040503050406030204" pitchFamily="18" charset="0"/>
                          </a:rPr>
                          <m:t>𝑏</m:t>
                        </m:r>
                      </m:e>
                    </m:d>
                  </m:oMath>
                </a14:m>
                <a:r>
                  <a:rPr lang="en-ZA" dirty="0"/>
                  <a:t> can represent different quantities. </a:t>
                </a:r>
                <a:endParaRPr lang="en-ZA" b="0" dirty="0"/>
              </a:p>
            </p:txBody>
          </p:sp>
        </mc:Choice>
        <mc:Fallback xmlns="">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2000" dirty="0"/>
                  <a:t>A matrix is a linear operator acting on the vector space of column vectors.</a:t>
                </a:r>
              </a:p>
              <a:p>
                <a:pPr marL="342900" indent="-342900">
                  <a:buFont typeface="Arial" panose="020B0604020202020204" pitchFamily="34" charset="0"/>
                  <a:buChar char="•"/>
                </a:pPr>
                <a:r>
                  <a:rPr lang="en-US" sz="2000" dirty="0"/>
                  <a:t>Operator acts on a </a:t>
                </a:r>
                <a:r>
                  <a:rPr lang="en-US" sz="2000" dirty="0" err="1"/>
                  <a:t>ket</a:t>
                </a:r>
                <a:r>
                  <a:rPr lang="en-US" sz="2000" dirty="0"/>
                  <a:t> vector to its right. </a:t>
                </a:r>
              </a:p>
              <a:p>
                <a:pPr marL="342900" indent="-342900">
                  <a:buFont typeface="Arial" panose="020B0604020202020204" pitchFamily="34" charset="0"/>
                  <a:buChar char="•"/>
                </a:pPr>
                <a:r>
                  <a:rPr lang="en-US" sz="2000" dirty="0"/>
                  <a:t>Conjugate transpose of an operator  acts on a bra vector to its left. </a:t>
                </a:r>
              </a:p>
              <a:p>
                <a:pPr marL="342900" indent="-342900">
                  <a:buFont typeface="Arial" panose="020B0604020202020204" pitchFamily="34" charset="0"/>
                  <a:buChar char="•"/>
                </a:pPr>
                <a:r>
                  <a:rPr lang="en-US" sz="2000" kern="1200" dirty="0">
                    <a:solidFill>
                      <a:schemeClr val="tx1"/>
                    </a:solidFill>
                    <a:effectLst/>
                    <a:latin typeface="+mn-lt"/>
                    <a:ea typeface="+mn-ea"/>
                    <a:cs typeface="+mn-cs"/>
                  </a:rPr>
                  <a:t>Operators are applied from right to left: The operator </a:t>
                </a:r>
                <a:r>
                  <a:rPr lang="en-US" sz="2000" i="0" kern="1200">
                    <a:solidFill>
                      <a:schemeClr val="tx1"/>
                    </a:solidFill>
                    <a:effectLst/>
                    <a:latin typeface="+mn-lt"/>
                    <a:ea typeface="+mn-ea"/>
                    <a:cs typeface="+mn-cs"/>
                  </a:rPr>
                  <a:t>𝑉</a:t>
                </a:r>
                <a:r>
                  <a:rPr lang="en-US" sz="2000" kern="1200" dirty="0">
                    <a:solidFill>
                      <a:schemeClr val="tx1"/>
                    </a:solidFill>
                    <a:effectLst/>
                    <a:latin typeface="+mn-lt"/>
                    <a:ea typeface="+mn-ea"/>
                    <a:cs typeface="+mn-cs"/>
                  </a:rPr>
                  <a:t> acts on </a:t>
                </a:r>
                <a:r>
                  <a:rPr lang="en-US" sz="2000" i="0" kern="1200">
                    <a:solidFill>
                      <a:schemeClr val="tx1"/>
                    </a:solidFill>
                    <a:effectLst/>
                    <a:latin typeface="+mn-lt"/>
                    <a:ea typeface="+mn-ea"/>
                    <a:cs typeface="+mn-cs"/>
                  </a:rPr>
                  <a:t>|𝑎⟩</a:t>
                </a:r>
                <a:r>
                  <a:rPr lang="en-US" sz="2000" kern="1200" dirty="0">
                    <a:solidFill>
                      <a:schemeClr val="tx1"/>
                    </a:solidFill>
                    <a:effectLst/>
                    <a:latin typeface="+mn-lt"/>
                    <a:ea typeface="+mn-ea"/>
                    <a:cs typeface="+mn-cs"/>
                  </a:rPr>
                  <a:t> and then the operator </a:t>
                </a:r>
                <a:r>
                  <a:rPr lang="en-US" sz="2000" i="0" kern="1200">
                    <a:solidFill>
                      <a:schemeClr val="tx1"/>
                    </a:solidFill>
                    <a:effectLst/>
                    <a:latin typeface="+mn-lt"/>
                    <a:ea typeface="+mn-ea"/>
                    <a:cs typeface="+mn-cs"/>
                  </a:rPr>
                  <a:t>𝑈</a:t>
                </a:r>
                <a:r>
                  <a:rPr lang="en-US" sz="2000" kern="1200" dirty="0">
                    <a:solidFill>
                      <a:schemeClr val="tx1"/>
                    </a:solidFill>
                    <a:effectLst/>
                    <a:latin typeface="+mn-lt"/>
                    <a:ea typeface="+mn-ea"/>
                    <a:cs typeface="+mn-cs"/>
                  </a:rPr>
                  <a:t> acts on the product of </a:t>
                </a:r>
                <a:r>
                  <a:rPr lang="en-US" sz="2000" i="0" kern="1200">
                    <a:solidFill>
                      <a:schemeClr val="tx1"/>
                    </a:solidFill>
                    <a:effectLst/>
                    <a:latin typeface="+mn-lt"/>
                    <a:ea typeface="+mn-ea"/>
                    <a:cs typeface="+mn-cs"/>
                  </a:rPr>
                  <a:t>𝑉|𝑎⟩</a:t>
                </a:r>
                <a:r>
                  <a:rPr lang="en-US" sz="2000" dirty="0">
                    <a:effectLst/>
                  </a:rPr>
                  <a:t> </a:t>
                </a:r>
                <a:endParaRPr lang="en-US" sz="2000" dirty="0">
                  <a:effectLst/>
                  <a:latin typeface="+mn-lt"/>
                  <a:ea typeface="+mn-ea"/>
                  <a:cs typeface="+mn-cs"/>
                </a:endParaRPr>
              </a:p>
              <a:p>
                <a:pPr marL="342900" indent="-342900">
                  <a:buFont typeface="Arial" panose="020B0604020202020204" pitchFamily="34" charset="0"/>
                  <a:buChar char="•"/>
                </a:pPr>
                <a:r>
                  <a:rPr lang="en-US" sz="2000" dirty="0">
                    <a:effectLst/>
                    <a:latin typeface="+mn-lt"/>
                    <a:ea typeface="+mn-ea"/>
                    <a:cs typeface="+mn-cs"/>
                  </a:rPr>
                  <a:t>According to superposition principle, </a:t>
                </a:r>
                <a:r>
                  <a:rPr lang="en-US" sz="2000" dirty="0">
                    <a:effectLst/>
                    <a:latin typeface="Cambria" panose="02040503050406030204" pitchFamily="18" charset="0"/>
                    <a:ea typeface="+mn-ea"/>
                    <a:cs typeface="Times New Roman" panose="02020603050405020304" pitchFamily="18" charset="0"/>
                  </a:rPr>
                  <a:t>o</a:t>
                </a:r>
                <a:r>
                  <a:rPr lang="en-US" sz="2000" dirty="0">
                    <a:latin typeface="Cambria" panose="02040503050406030204" pitchFamily="18" charset="0"/>
                    <a:ea typeface="Times New Roman" panose="02020603050405020304" pitchFamily="18" charset="0"/>
                    <a:cs typeface="Times New Roman" panose="02020603050405020304" pitchFamily="18" charset="0"/>
                  </a:rPr>
                  <a:t>perator applied to a vector is acting on all its components individually.</a:t>
                </a:r>
                <a:endParaRPr lang="en-US" sz="2000" dirty="0"/>
              </a:p>
              <a:p>
                <a:pPr marL="342900" indent="-342900">
                  <a:buFont typeface="Arial" panose="020B0604020202020204" pitchFamily="34" charset="0"/>
                  <a:buChar char="•"/>
                </a:pPr>
                <a:endParaRPr lang="en-US" sz="20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46</a:t>
            </a:fld>
            <a:endParaRPr lang="en-US"/>
          </a:p>
        </p:txBody>
      </p:sp>
    </p:spTree>
    <p:extLst>
      <p:ext uri="{BB962C8B-B14F-4D97-AF65-F5344CB8AC3E}">
        <p14:creationId xmlns:p14="http://schemas.microsoft.com/office/powerpoint/2010/main" val="25869244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Projectors are special operators used to extract specific components of a vector. A projector acts like a light that casts a shadow of a vector onto a chosen basis, revealing the component of the vector along that basis.</a:t>
                </a:r>
                <a:endParaRPr lang="en-ZA" dirty="0">
                  <a:solidFill>
                    <a:schemeClr val="tx1"/>
                  </a:solidFill>
                </a:endParaRPr>
              </a:p>
              <a:p>
                <a:pPr algn="just"/>
                <a:endParaRPr lang="en-ZA" b="0" dirty="0">
                  <a:solidFill>
                    <a:schemeClr val="tx1"/>
                  </a:solidFill>
                </a:endParaRPr>
              </a:p>
              <a:p>
                <a:pPr algn="just"/>
                <a:r>
                  <a:rPr lang="en-ZA" b="0" dirty="0">
                    <a:solidFill>
                      <a:schemeClr val="tx1"/>
                    </a:solidFill>
                  </a:rPr>
                  <a:t>In the illustration, the projector </a:t>
                </a:r>
                <a14:m>
                  <m:oMath xmlns:m="http://schemas.openxmlformats.org/officeDocument/2006/math">
                    <m:sSub>
                      <m:sSubPr>
                        <m:ctrlPr>
                          <a:rPr lang="en-US" sz="120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𝑃</m:t>
                        </m:r>
                      </m:e>
                      <m:sub>
                        <m:r>
                          <a:rPr lang="en-US" sz="1200" b="0" i="1" smtClean="0">
                            <a:solidFill>
                              <a:schemeClr val="tx1"/>
                            </a:solidFill>
                            <a:latin typeface="Cambria Math" panose="02040503050406030204" pitchFamily="18" charset="0"/>
                          </a:rPr>
                          <m:t>1</m:t>
                        </m:r>
                      </m:sub>
                    </m:sSub>
                  </m:oMath>
                </a14:m>
                <a:r>
                  <a:rPr lang="en-ZA" b="0" dirty="0">
                    <a:solidFill>
                      <a:schemeClr val="tx1"/>
                    </a:solidFill>
                  </a:rPr>
                  <a:t>​ "illuminates" the vector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𝑣</m:t>
                        </m:r>
                      </m:e>
                    </m:d>
                  </m:oMath>
                </a14:m>
                <a:r>
                  <a:rPr lang="en-ZA" b="0" dirty="0">
                    <a:solidFill>
                      <a:schemeClr val="tx1"/>
                    </a:solidFill>
                  </a:rPr>
                  <a:t>, revealing its </a:t>
                </a:r>
                <a14:m>
                  <m:oMath xmlns:m="http://schemas.openxmlformats.org/officeDocument/2006/math">
                    <m:sSub>
                      <m:sSubPr>
                        <m:ctrlPr>
                          <a:rPr lang="en-US" sz="1200" i="1" smtClean="0">
                            <a:solidFill>
                              <a:schemeClr val="tx1"/>
                            </a:solidFill>
                            <a:latin typeface="Cambria Math" panose="02040503050406030204" pitchFamily="18" charset="0"/>
                          </a:rPr>
                        </m:ctrlPr>
                      </m:sSubPr>
                      <m:e>
                        <m:r>
                          <a:rPr lang="en-US" sz="1200" i="1">
                            <a:solidFill>
                              <a:schemeClr val="tx1"/>
                            </a:solidFill>
                            <a:latin typeface="Cambria Math" panose="02040503050406030204" pitchFamily="18" charset="0"/>
                          </a:rPr>
                          <m:t>𝑎</m:t>
                        </m:r>
                      </m:e>
                      <m:sub>
                        <m:r>
                          <a:rPr lang="en-US" sz="1200">
                            <a:solidFill>
                              <a:schemeClr val="tx1"/>
                            </a:solidFill>
                            <a:latin typeface="Cambria Math" panose="02040503050406030204" pitchFamily="18" charset="0"/>
                          </a:rPr>
                          <m:t>1</m:t>
                        </m:r>
                      </m:sub>
                    </m:sSub>
                  </m:oMath>
                </a14:m>
                <a:r>
                  <a:rPr lang="en-ZA" b="0" dirty="0">
                    <a:solidFill>
                      <a:schemeClr val="tx1"/>
                    </a:solidFill>
                  </a:rPr>
                  <a:t>​ component.</a:t>
                </a:r>
              </a:p>
              <a:p>
                <a:pPr algn="just"/>
                <a:endParaRPr lang="en-ZA" b="0" dirty="0">
                  <a:solidFill>
                    <a:schemeClr val="tx1"/>
                  </a:solidFill>
                </a:endParaRPr>
              </a:p>
              <a:p>
                <a:pPr marL="228600" indent="-228600" algn="just">
                  <a:buFont typeface="+mj-lt"/>
                  <a:buAutoNum type="arabicPeriod"/>
                </a:pPr>
                <a:r>
                  <a:rPr lang="en-ZA" dirty="0">
                    <a:solidFill>
                      <a:schemeClr val="tx1"/>
                    </a:solidFill>
                  </a:rPr>
                  <a:t>Let the vector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𝑣</m:t>
                        </m:r>
                      </m:e>
                    </m:d>
                  </m:oMath>
                </a14:m>
                <a:r>
                  <a:rPr lang="en-ZA" dirty="0">
                    <a:solidFill>
                      <a:schemeClr val="tx1"/>
                    </a:solidFill>
                  </a:rPr>
                  <a:t> be expressed as a linear combination of basis vectors.</a:t>
                </a:r>
              </a:p>
              <a:p>
                <a:pPr marL="228600" indent="-228600" algn="just">
                  <a:buFont typeface="+mj-lt"/>
                  <a:buAutoNum type="arabicPeriod"/>
                </a:pPr>
                <a:endParaRPr lang="en-ZA" dirty="0">
                  <a:solidFill>
                    <a:schemeClr val="tx1"/>
                  </a:solidFill>
                </a:endParaRPr>
              </a:p>
              <a:p>
                <a:pPr marL="228600" indent="-228600" algn="just">
                  <a:buFont typeface="+mj-lt"/>
                  <a:buAutoNum type="arabicPeriod"/>
                </a:pPr>
                <a:r>
                  <a:rPr lang="en-ZA" dirty="0">
                    <a:solidFill>
                      <a:schemeClr val="tx1"/>
                    </a:solidFill>
                  </a:rPr>
                  <a:t>Applying the projector </a:t>
                </a:r>
                <a14:m>
                  <m:oMath xmlns:m="http://schemas.openxmlformats.org/officeDocument/2006/math">
                    <m:sSub>
                      <m:sSubPr>
                        <m:ctrlPr>
                          <a:rPr lang="en-US" sz="1200" i="1" smtClean="0">
                            <a:solidFill>
                              <a:schemeClr val="tx1"/>
                            </a:solidFill>
                            <a:latin typeface="Cambria Math" panose="02040503050406030204" pitchFamily="18" charset="0"/>
                          </a:rPr>
                        </m:ctrlPr>
                      </m:sSubPr>
                      <m:e>
                        <m:r>
                          <a:rPr lang="en-US" sz="1200" b="0" i="1" smtClean="0">
                            <a:solidFill>
                              <a:schemeClr val="tx1"/>
                            </a:solidFill>
                            <a:latin typeface="Cambria Math" panose="02040503050406030204" pitchFamily="18" charset="0"/>
                          </a:rPr>
                          <m:t>𝑃</m:t>
                        </m:r>
                      </m:e>
                      <m:sub>
                        <m:r>
                          <a:rPr lang="en-US" sz="1200" b="0" i="1" smtClean="0">
                            <a:solidFill>
                              <a:schemeClr val="tx1"/>
                            </a:solidFill>
                            <a:latin typeface="Cambria Math" panose="02040503050406030204" pitchFamily="18" charset="0"/>
                          </a:rPr>
                          <m:t>1</m:t>
                        </m:r>
                      </m:sub>
                    </m:sSub>
                  </m:oMath>
                </a14:m>
                <a:r>
                  <a:rPr lang="en-ZA" dirty="0">
                    <a:solidFill>
                      <a:schemeClr val="tx1"/>
                    </a:solidFill>
                  </a:rPr>
                  <a:t>​ to both sides of this equation results in a new expression.</a:t>
                </a:r>
              </a:p>
              <a:p>
                <a:pPr marL="228600" indent="-228600" algn="just">
                  <a:buFont typeface="+mj-lt"/>
                  <a:buAutoNum type="arabicPeriod"/>
                </a:pPr>
                <a:endParaRPr lang="en-ZA" dirty="0">
                  <a:solidFill>
                    <a:schemeClr val="tx1"/>
                  </a:solidFill>
                </a:endParaRPr>
              </a:p>
              <a:p>
                <a:pPr marL="228600" indent="-228600" algn="just">
                  <a:buFont typeface="+mj-lt"/>
                  <a:buAutoNum type="arabicPeriod"/>
                </a:pPr>
                <a:r>
                  <a:rPr lang="en-ZA" dirty="0"/>
                  <a:t>We can now use the properties of the inner product to remove the orthogonal terms.</a:t>
                </a:r>
                <a:endParaRPr lang="en-ZA" baseline="0" dirty="0">
                  <a:solidFill>
                    <a:schemeClr val="tx1"/>
                  </a:solidFill>
                </a:endParaRPr>
              </a:p>
              <a:p>
                <a:pPr marL="228600" indent="-228600" algn="just">
                  <a:buFont typeface="+mj-lt"/>
                  <a:buAutoNum type="arabicPeriod"/>
                </a:pPr>
                <a:endParaRPr lang="en-ZA" dirty="0">
                  <a:solidFill>
                    <a:schemeClr val="tx1"/>
                  </a:solidFill>
                </a:endParaRPr>
              </a:p>
              <a:p>
                <a:pPr marL="228600" indent="-228600" algn="just">
                  <a:buFont typeface="+mj-lt"/>
                  <a:buAutoNum type="arabicPeriod"/>
                </a:pPr>
                <a:r>
                  <a:rPr lang="en-ZA" dirty="0">
                    <a:solidFill>
                      <a:schemeClr val="tx1"/>
                    </a:solidFill>
                  </a:rPr>
                  <a:t>As a result, the projector extracts the part of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𝑣</m:t>
                        </m:r>
                      </m:e>
                    </m:d>
                  </m:oMath>
                </a14:m>
                <a:r>
                  <a:rPr lang="en-ZA" dirty="0">
                    <a:solidFill>
                      <a:schemeClr val="tx1"/>
                    </a:solidFill>
                  </a:rPr>
                  <a:t> that lies along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sSub>
                          <m:sSubPr>
                            <m:ctrlPr>
                              <a:rPr lang="en-US" sz="1200" i="1">
                                <a:solidFill>
                                  <a:schemeClr val="tx1"/>
                                </a:solidFill>
                                <a:latin typeface="Cambria Math" panose="02040503050406030204" pitchFamily="18" charset="0"/>
                              </a:rPr>
                            </m:ctrlPr>
                          </m:sSubPr>
                          <m:e>
                            <m:r>
                              <a:rPr lang="en-US" sz="1200" i="1">
                                <a:solidFill>
                                  <a:schemeClr val="tx1"/>
                                </a:solidFill>
                                <a:latin typeface="Cambria Math" panose="02040503050406030204" pitchFamily="18" charset="0"/>
                              </a:rPr>
                              <m:t>𝑒</m:t>
                            </m:r>
                          </m:e>
                          <m:sub>
                            <m:r>
                              <a:rPr lang="en-US" sz="1200" i="1">
                                <a:solidFill>
                                  <a:schemeClr val="tx1"/>
                                </a:solidFill>
                                <a:latin typeface="Cambria Math" panose="02040503050406030204" pitchFamily="18" charset="0"/>
                              </a:rPr>
                              <m:t>1</m:t>
                            </m:r>
                          </m:sub>
                        </m:sSub>
                      </m:e>
                    </m:d>
                  </m:oMath>
                </a14:m>
                <a:r>
                  <a:rPr lang="en-ZA" dirty="0">
                    <a:solidFill>
                      <a:schemeClr val="tx1"/>
                    </a:solidFill>
                  </a:rPr>
                  <a:t>.</a:t>
                </a:r>
              </a:p>
              <a:p>
                <a:pPr marL="0" indent="0" algn="just">
                  <a:buFont typeface="Arial" panose="020B0604020202020204" pitchFamily="34" charset="0"/>
                  <a:buNone/>
                </a:pPr>
                <a:endParaRPr lang="en-US" sz="1200" b="0" dirty="0">
                  <a:solidFill>
                    <a:schemeClr val="tx1"/>
                  </a:solidFill>
                </a:endParaRPr>
              </a:p>
            </p:txBody>
          </p:sp>
        </mc:Choice>
        <mc:Fallback xmlns="">
          <p:sp>
            <p:nvSpPr>
              <p:cNvPr id="3" name="Notes Placeholder 2"/>
              <p:cNvSpPr>
                <a:spLocks noGrp="1"/>
              </p:cNvSpPr>
              <p:nvPr>
                <p:ph type="body" idx="1"/>
              </p:nvPr>
            </p:nvSpPr>
            <p:spPr/>
            <p:txBody>
              <a:bodyPr/>
              <a:lstStyle/>
              <a:p>
                <a:r>
                  <a:rPr lang="en-US" sz="2000" dirty="0"/>
                  <a:t>A projector in quantum computing is an operator defined as a </a:t>
                </a:r>
                <a:r>
                  <a:rPr lang="en-US" sz="2000" dirty="0" err="1"/>
                  <a:t>ket</a:t>
                </a:r>
                <a:r>
                  <a:rPr lang="en-US" sz="2000" dirty="0"/>
                  <a:t>-bra product of a basis vector. A projection operator can be visualized as a flashlight that casts a shadow for the vector it ‘illuminates’. </a:t>
                </a:r>
              </a:p>
              <a:p>
                <a:r>
                  <a:rPr lang="en-US" sz="2000" dirty="0"/>
                  <a:t>The shadow reveals the the basis component of the projected vector.</a:t>
                </a:r>
              </a:p>
              <a:p>
                <a:r>
                  <a:rPr lang="en-US" sz="2000" dirty="0"/>
                  <a:t>Since the length od the basis vector is 1, it retrieves the value of the associated coefficient, in this case </a:t>
                </a:r>
                <a:r>
                  <a:rPr lang="en-US" sz="2000" i="0">
                    <a:latin typeface="Cambria Math" panose="02040503050406030204" pitchFamily="18" charset="0"/>
                  </a:rPr>
                  <a:t>𝑎_1</a:t>
                </a:r>
                <a:r>
                  <a:rPr lang="en-US" sz="200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47</a:t>
            </a:fld>
            <a:endParaRPr lang="en-US"/>
          </a:p>
        </p:txBody>
      </p:sp>
    </p:spTree>
    <p:extLst>
      <p:ext uri="{BB962C8B-B14F-4D97-AF65-F5344CB8AC3E}">
        <p14:creationId xmlns:p14="http://schemas.microsoft.com/office/powerpoint/2010/main" val="15361653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b="0" dirty="0"/>
                  <a:t>The completeness relation states that the sum of the outer products of a complete set of orthonormal basis vectors is equal to the identity matrix.</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en-ZA" b="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b="0" dirty="0"/>
                  <a:t>For example, summing the outer products of the basis vectors in a two-dimensional space results in the identity matrix.</a:t>
                </a:r>
                <a:br>
                  <a:rPr lang="en-ZA" b="0" dirty="0"/>
                </a:br>
                <a:r>
                  <a:rPr lang="en-ZA" b="0" dirty="0"/>
                  <a:t>In quantum computing, the completeness relation is useful because it allows various expressions to be expanded using the identity matrix. This can help in simplifying expressions or rearranging terms.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ZA" b="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ZA" dirty="0"/>
                  <a:t>For example, if we multiply the vector </a:t>
                </a:r>
                <a14:m>
                  <m:oMath xmlns:m="http://schemas.openxmlformats.org/officeDocument/2006/math">
                    <m:d>
                      <m:dPr>
                        <m:begChr m:val="|"/>
                        <m:endChr m:val="⟩"/>
                        <m:ctrlPr>
                          <a:rPr lang="en-US" sz="1200" b="0" i="1" smtClean="0">
                            <a:latin typeface="Cambria Math" panose="02040503050406030204" pitchFamily="18" charset="0"/>
                          </a:rPr>
                        </m:ctrlPr>
                      </m:dPr>
                      <m:e>
                        <m:r>
                          <a:rPr lang="sr-Latn-RS" sz="1200" b="0" i="1" smtClean="0">
                            <a:latin typeface="Cambria Math" panose="02040503050406030204" pitchFamily="18" charset="0"/>
                          </a:rPr>
                          <m:t>𝑎</m:t>
                        </m:r>
                      </m:e>
                    </m:d>
                  </m:oMath>
                </a14:m>
                <a:r>
                  <a:rPr lang="en-ZA" dirty="0"/>
                  <a:t> by the completeness relation, we get a sum of inner products that represent the projections of the vector onto the basis vectors </a:t>
                </a:r>
                <a14:m>
                  <m:oMath xmlns:m="http://schemas.openxmlformats.org/officeDocument/2006/math">
                    <m:d>
                      <m:dPr>
                        <m:begChr m:val="|"/>
                        <m:endChr m:val="⟩"/>
                        <m:ctrlPr>
                          <a:rPr lang="en-US" sz="1200" b="0" i="1" smtClean="0">
                            <a:latin typeface="Cambria Math" panose="02040503050406030204" pitchFamily="18" charset="0"/>
                            <a:ea typeface="Cambria Math" panose="02040503050406030204" pitchFamily="18" charset="0"/>
                          </a:rPr>
                        </m:ctrlPr>
                      </m:dPr>
                      <m:e>
                        <m:sSub>
                          <m:sSubPr>
                            <m:ctrlPr>
                              <a:rPr lang="en-US" sz="1200" b="0" i="1">
                                <a:latin typeface="Cambria Math" panose="02040503050406030204" pitchFamily="18" charset="0"/>
                              </a:rPr>
                            </m:ctrlPr>
                          </m:sSubPr>
                          <m:e>
                            <m:r>
                              <a:rPr lang="en-US" sz="1200" b="0" i="1" smtClean="0">
                                <a:latin typeface="Cambria Math" panose="02040503050406030204" pitchFamily="18" charset="0"/>
                              </a:rPr>
                              <m:t>𝑒</m:t>
                            </m:r>
                          </m:e>
                          <m:sub>
                            <m:r>
                              <a:rPr lang="en-US" sz="1200" b="0" i="1" smtClean="0">
                                <a:latin typeface="Cambria Math" panose="02040503050406030204" pitchFamily="18" charset="0"/>
                              </a:rPr>
                              <m:t>𝑖</m:t>
                            </m:r>
                          </m:sub>
                        </m:sSub>
                      </m:e>
                    </m:d>
                  </m:oMath>
                </a14:m>
                <a:r>
                  <a:rPr lang="en-ZA" dirty="0"/>
                  <a:t>.</a:t>
                </a:r>
                <a:r>
                  <a:rPr lang="en-ZA" b="0" baseline="0" dirty="0"/>
                  <a:t> </a:t>
                </a:r>
                <a:r>
                  <a:rPr lang="en-ZA" dirty="0"/>
                  <a:t>The result of this operation is the decomposition of the vector </a:t>
                </a:r>
                <a14:m>
                  <m:oMath xmlns:m="http://schemas.openxmlformats.org/officeDocument/2006/math">
                    <m:d>
                      <m:dPr>
                        <m:begChr m:val="|"/>
                        <m:endChr m:val="⟩"/>
                        <m:ctrlPr>
                          <a:rPr lang="en-US" sz="1200" b="0" i="1" smtClean="0">
                            <a:latin typeface="Cambria Math" panose="02040503050406030204" pitchFamily="18" charset="0"/>
                          </a:rPr>
                        </m:ctrlPr>
                      </m:dPr>
                      <m:e>
                        <m:r>
                          <a:rPr lang="sr-Latn-RS" sz="1200" b="0" i="1" smtClean="0">
                            <a:latin typeface="Cambria Math" panose="02040503050406030204" pitchFamily="18" charset="0"/>
                          </a:rPr>
                          <m:t>𝑎</m:t>
                        </m:r>
                      </m:e>
                    </m:d>
                  </m:oMath>
                </a14:m>
                <a:r>
                  <a:rPr lang="en-ZA" dirty="0"/>
                  <a:t> in terms of the basis vectors.</a:t>
                </a:r>
                <a:endParaRPr lang="en-ZA" b="0" dirty="0">
                  <a:solidFill>
                    <a:schemeClr val="tx1"/>
                  </a:solidFill>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sr-Latn-RS" sz="1200" b="0" kern="1200" dirty="0">
                  <a:solidFill>
                    <a:schemeClr val="tx1"/>
                  </a:solidFill>
                  <a:effectLst/>
                  <a:latin typeface="+mn-lt"/>
                  <a:ea typeface="+mn-ea"/>
                  <a:cs typeface="+mn-cs"/>
                </a:endParaRPr>
              </a:p>
            </p:txBody>
          </p:sp>
        </mc:Choice>
        <mc:Fallback xmlns="">
          <p:sp>
            <p:nvSpPr>
              <p:cNvPr id="3" name="Notes Placeholder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ZA" dirty="0">
                    <a:solidFill>
                      <a:schemeClr val="tx1"/>
                    </a:solidFill>
                  </a:rPr>
                  <a:t>Relacija </a:t>
                </a:r>
                <a:r>
                  <a:rPr lang="en-ZA" dirty="0" err="1">
                    <a:solidFill>
                      <a:schemeClr val="tx1"/>
                    </a:solidFill>
                  </a:rPr>
                  <a:t>potpunosti</a:t>
                </a:r>
                <a:r>
                  <a:rPr lang="en-ZA" dirty="0">
                    <a:solidFill>
                      <a:schemeClr val="tx1"/>
                    </a:solidFill>
                  </a:rPr>
                  <a:t> </a:t>
                </a:r>
                <a:r>
                  <a:rPr lang="en-ZA" dirty="0" err="1">
                    <a:solidFill>
                      <a:schemeClr val="tx1"/>
                    </a:solidFill>
                  </a:rPr>
                  <a:t>kaže</a:t>
                </a:r>
                <a:r>
                  <a:rPr lang="en-ZA" dirty="0">
                    <a:solidFill>
                      <a:schemeClr val="tx1"/>
                    </a:solidFill>
                  </a:rPr>
                  <a:t> da se </a:t>
                </a:r>
                <a:r>
                  <a:rPr lang="en-ZA" dirty="0" err="1">
                    <a:solidFill>
                      <a:schemeClr val="tx1"/>
                    </a:solidFill>
                  </a:rPr>
                  <a:t>jedinični</a:t>
                </a:r>
                <a:r>
                  <a:rPr lang="en-ZA" dirty="0">
                    <a:solidFill>
                      <a:schemeClr val="tx1"/>
                    </a:solidFill>
                  </a:rPr>
                  <a:t> operator, </a:t>
                </a:r>
                <a:r>
                  <a:rPr lang="en-ZA" dirty="0" err="1">
                    <a:solidFill>
                      <a:schemeClr val="tx1"/>
                    </a:solidFill>
                  </a:rPr>
                  <a:t>odnosno</a:t>
                </a:r>
                <a:r>
                  <a:rPr lang="en-ZA" dirty="0">
                    <a:solidFill>
                      <a:schemeClr val="tx1"/>
                    </a:solidFill>
                  </a:rPr>
                  <a:t> </a:t>
                </a:r>
                <a:r>
                  <a:rPr lang="en-ZA" dirty="0" err="1">
                    <a:solidFill>
                      <a:schemeClr val="tx1"/>
                    </a:solidFill>
                  </a:rPr>
                  <a:t>jedinična</a:t>
                </a:r>
                <a:r>
                  <a:rPr lang="en-ZA" baseline="0" dirty="0">
                    <a:solidFill>
                      <a:schemeClr val="tx1"/>
                    </a:solidFill>
                  </a:rPr>
                  <a:t> </a:t>
                </a:r>
                <a:r>
                  <a:rPr lang="en-ZA" baseline="0" dirty="0" err="1">
                    <a:solidFill>
                      <a:schemeClr val="tx1"/>
                    </a:solidFill>
                  </a:rPr>
                  <a:t>matrica</a:t>
                </a:r>
                <a:r>
                  <a:rPr lang="en-ZA" dirty="0">
                    <a:solidFill>
                      <a:schemeClr val="tx1"/>
                    </a:solidFill>
                  </a:rPr>
                  <a:t> </a:t>
                </a:r>
                <a:r>
                  <a:rPr lang="en-US" sz="1200" i="0">
                    <a:solidFill>
                      <a:schemeClr val="tx1"/>
                    </a:solidFill>
                    <a:latin typeface="Cambria Math" panose="02040503050406030204" pitchFamily="18" charset="0"/>
                    <a:ea typeface="Cambria Math" panose="02040503050406030204" pitchFamily="18" charset="0"/>
                  </a:rPr>
                  <a:t>𝐼</a:t>
                </a:r>
                <a:r>
                  <a:rPr lang="en-ZA" dirty="0">
                    <a:solidFill>
                      <a:schemeClr val="tx1"/>
                    </a:solidFill>
                  </a:rPr>
                  <a:t> </a:t>
                </a:r>
                <a:r>
                  <a:rPr lang="en-ZA" dirty="0" err="1">
                    <a:solidFill>
                      <a:schemeClr val="tx1"/>
                    </a:solidFill>
                  </a:rPr>
                  <a:t>unutar</a:t>
                </a:r>
                <a:r>
                  <a:rPr lang="en-ZA" dirty="0">
                    <a:solidFill>
                      <a:schemeClr val="tx1"/>
                    </a:solidFill>
                  </a:rPr>
                  <a:t> </a:t>
                </a:r>
                <a:r>
                  <a:rPr lang="en-ZA" dirty="0" err="1">
                    <a:solidFill>
                      <a:schemeClr val="tx1"/>
                    </a:solidFill>
                  </a:rPr>
                  <a:t>vektorskog</a:t>
                </a:r>
                <a:r>
                  <a:rPr lang="en-ZA" dirty="0">
                    <a:solidFill>
                      <a:schemeClr val="tx1"/>
                    </a:solidFill>
                  </a:rPr>
                  <a:t> </a:t>
                </a:r>
                <a:r>
                  <a:rPr lang="en-ZA" dirty="0" err="1">
                    <a:solidFill>
                      <a:schemeClr val="tx1"/>
                    </a:solidFill>
                  </a:rPr>
                  <a:t>prostora</a:t>
                </a:r>
                <a:r>
                  <a:rPr lang="en-ZA" dirty="0">
                    <a:solidFill>
                      <a:schemeClr val="tx1"/>
                    </a:solidFill>
                  </a:rPr>
                  <a:t> može </a:t>
                </a:r>
                <a:r>
                  <a:rPr lang="en-ZA" dirty="0" err="1">
                    <a:solidFill>
                      <a:schemeClr val="tx1"/>
                    </a:solidFill>
                  </a:rPr>
                  <a:t>izraziti</a:t>
                </a:r>
                <a:r>
                  <a:rPr lang="en-ZA" dirty="0">
                    <a:solidFill>
                      <a:schemeClr val="tx1"/>
                    </a:solidFill>
                  </a:rPr>
                  <a:t> </a:t>
                </a:r>
                <a:r>
                  <a:rPr lang="en-ZA" dirty="0" err="1">
                    <a:solidFill>
                      <a:schemeClr val="tx1"/>
                    </a:solidFill>
                  </a:rPr>
                  <a:t>kao</a:t>
                </a:r>
                <a:r>
                  <a:rPr lang="en-ZA" dirty="0">
                    <a:solidFill>
                      <a:schemeClr val="tx1"/>
                    </a:solidFill>
                  </a:rPr>
                  <a:t> </a:t>
                </a:r>
                <a:r>
                  <a:rPr lang="en-ZA" dirty="0" err="1">
                    <a:solidFill>
                      <a:schemeClr val="tx1"/>
                    </a:solidFill>
                  </a:rPr>
                  <a:t>zbir</a:t>
                </a:r>
                <a:r>
                  <a:rPr lang="en-ZA" dirty="0">
                    <a:solidFill>
                      <a:schemeClr val="tx1"/>
                    </a:solidFill>
                  </a:rPr>
                  <a:t> </a:t>
                </a:r>
                <a:r>
                  <a:rPr lang="en-ZA" dirty="0" err="1">
                    <a:solidFill>
                      <a:schemeClr val="tx1"/>
                    </a:solidFill>
                  </a:rPr>
                  <a:t>spoljašnjih</a:t>
                </a:r>
                <a:r>
                  <a:rPr lang="en-ZA" dirty="0">
                    <a:solidFill>
                      <a:schemeClr val="tx1"/>
                    </a:solidFill>
                  </a:rPr>
                  <a:t> </a:t>
                </a:r>
                <a:r>
                  <a:rPr lang="en-ZA" dirty="0" err="1">
                    <a:solidFill>
                      <a:schemeClr val="tx1"/>
                    </a:solidFill>
                  </a:rPr>
                  <a:t>proizvoda</a:t>
                </a:r>
                <a:r>
                  <a:rPr lang="en-ZA" dirty="0">
                    <a:solidFill>
                      <a:schemeClr val="tx1"/>
                    </a:solidFill>
                  </a:rPr>
                  <a:t> </a:t>
                </a:r>
                <a:r>
                  <a:rPr lang="en-ZA" dirty="0" err="1">
                    <a:solidFill>
                      <a:schemeClr val="tx1"/>
                    </a:solidFill>
                  </a:rPr>
                  <a:t>kompletnog</a:t>
                </a:r>
                <a:r>
                  <a:rPr lang="en-ZA" dirty="0">
                    <a:solidFill>
                      <a:schemeClr val="tx1"/>
                    </a:solidFill>
                  </a:rPr>
                  <a:t> </a:t>
                </a:r>
                <a:r>
                  <a:rPr lang="en-ZA" dirty="0" err="1">
                    <a:solidFill>
                      <a:schemeClr val="tx1"/>
                    </a:solidFill>
                  </a:rPr>
                  <a:t>skupa</a:t>
                </a:r>
                <a:r>
                  <a:rPr lang="en-ZA" dirty="0">
                    <a:solidFill>
                      <a:schemeClr val="tx1"/>
                    </a:solidFill>
                  </a:rPr>
                  <a:t> </a:t>
                </a:r>
                <a:r>
                  <a:rPr lang="en-ZA" dirty="0" err="1">
                    <a:solidFill>
                      <a:schemeClr val="tx1"/>
                    </a:solidFill>
                  </a:rPr>
                  <a:t>ortonormiranih</a:t>
                </a:r>
                <a:r>
                  <a:rPr lang="en-ZA" dirty="0">
                    <a:solidFill>
                      <a:schemeClr val="tx1"/>
                    </a:solidFill>
                  </a:rPr>
                  <a:t> </a:t>
                </a:r>
                <a:r>
                  <a:rPr lang="en-ZA" dirty="0" err="1">
                    <a:solidFill>
                      <a:schemeClr val="tx1"/>
                    </a:solidFill>
                  </a:rPr>
                  <a:t>vektora</a:t>
                </a:r>
                <a:r>
                  <a:rPr lang="en-ZA" dirty="0">
                    <a:solidFill>
                      <a:schemeClr val="tx1"/>
                    </a:solidFill>
                  </a:rPr>
                  <a:t> </a:t>
                </a:r>
                <a:r>
                  <a:rPr lang="en-ZA" dirty="0" err="1">
                    <a:solidFill>
                      <a:schemeClr val="tx1"/>
                    </a:solidFill>
                  </a:rPr>
                  <a:t>baze</a:t>
                </a:r>
                <a:r>
                  <a:rPr lang="en-ZA" dirty="0">
                    <a:solidFill>
                      <a:schemeClr val="tx1"/>
                    </a:solidFill>
                  </a:rPr>
                  <a:t>.</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sr-Latn-RS" sz="1200" kern="1200" dirty="0">
                  <a:solidFill>
                    <a:schemeClr val="tx1"/>
                  </a:solidFill>
                  <a:effectLst/>
                  <a:latin typeface="+mn-lt"/>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lang="sr-Latn-RS" sz="1200" kern="1200" dirty="0">
                  <a:solidFill>
                    <a:schemeClr val="tx1"/>
                  </a:solidFill>
                  <a:effectLst/>
                  <a:latin typeface="+mn-lt"/>
                  <a:ea typeface="+mn-ea"/>
                  <a:cs typeface="+mn-cs"/>
                </a:endParaRP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sr-Latn-RS" sz="1200" kern="1200" dirty="0">
                    <a:solidFill>
                      <a:schemeClr val="tx1"/>
                    </a:solidFill>
                    <a:effectLst/>
                    <a:latin typeface="+mn-lt"/>
                    <a:ea typeface="+mn-ea"/>
                    <a:cs typeface="+mn-cs"/>
                  </a:rPr>
                  <a:t>Na primer, sabiranjem spoljašnjih proizvoda vektora baze dvodimenzionalnog prostora u matričnom obliku, dobija se jedinična matrica.</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endParaRPr lang="sr-Latn-RS" sz="1200" kern="1200" dirty="0">
                  <a:solidFill>
                    <a:schemeClr val="tx1"/>
                  </a:solidFill>
                  <a:effectLst/>
                  <a:latin typeface="+mn-lt"/>
                  <a:ea typeface="+mn-ea"/>
                  <a:cs typeface="+mn-cs"/>
                </a:endParaRP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sr-Latn-RS" sz="1200" kern="1200" dirty="0">
                    <a:solidFill>
                      <a:schemeClr val="tx1"/>
                    </a:solidFill>
                    <a:effectLst/>
                    <a:latin typeface="+mn-lt"/>
                    <a:ea typeface="+mn-ea"/>
                    <a:cs typeface="+mn-cs"/>
                  </a:rPr>
                  <a:t>Relacija </a:t>
                </a:r>
                <a:r>
                  <a:rPr lang="en-ZA" dirty="0" err="1">
                    <a:solidFill>
                      <a:schemeClr val="tx1"/>
                    </a:solidFill>
                  </a:rPr>
                  <a:t>potpunosti</a:t>
                </a:r>
                <a:r>
                  <a:rPr lang="sr-Latn-RS" sz="1200" kern="1200" dirty="0">
                    <a:solidFill>
                      <a:schemeClr val="tx1"/>
                    </a:solidFill>
                    <a:effectLst/>
                    <a:latin typeface="+mn-lt"/>
                    <a:ea typeface="+mn-ea"/>
                    <a:cs typeface="+mn-cs"/>
                  </a:rPr>
                  <a:t> je korisna u kvantnom računarstvu, jer dozvoljava jednostavno proširivanje matematičkih izraza jediničnom matricom, u cilju njihovog pojednostavljivanja, ili pregrupisavanja članova.</a:t>
                </a:r>
                <a:r>
                  <a:rPr lang="sr-Latn-RS" sz="1200" kern="1200" baseline="0" dirty="0">
                    <a:solidFill>
                      <a:schemeClr val="tx1"/>
                    </a:solidFill>
                    <a:effectLst/>
                    <a:latin typeface="+mn-lt"/>
                    <a:ea typeface="+mn-ea"/>
                    <a:cs typeface="+mn-cs"/>
                  </a:rPr>
                  <a:t> Na primer, pomnožimo </a:t>
                </a:r>
                <a:r>
                  <a:rPr lang="sr-Latn-RS" sz="1200" kern="1200" dirty="0">
                    <a:solidFill>
                      <a:schemeClr val="tx1"/>
                    </a:solidFill>
                    <a:effectLst/>
                    <a:latin typeface="+mn-lt"/>
                    <a:ea typeface="+mn-ea"/>
                    <a:cs typeface="+mn-cs"/>
                  </a:rPr>
                  <a:t>vektor </a:t>
                </a:r>
                <a:r>
                  <a:rPr lang="en-US" sz="1200" i="0">
                    <a:solidFill>
                      <a:schemeClr val="tx1"/>
                    </a:solidFill>
                    <a:latin typeface="Cambria Math" panose="02040503050406030204" pitchFamily="18" charset="0"/>
                  </a:rPr>
                  <a:t>|</a:t>
                </a:r>
                <a:r>
                  <a:rPr lang="sr-Latn-RS" sz="1200" b="0" i="0">
                    <a:solidFill>
                      <a:schemeClr val="tx1"/>
                    </a:solidFill>
                    <a:latin typeface="Cambria Math" panose="02040503050406030204" pitchFamily="18" charset="0"/>
                  </a:rPr>
                  <a:t>𝑎⟩</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relacijom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potpunosti</a:t>
                </a:r>
                <a:r>
                  <a:rPr lang="en-US" sz="1200" kern="1200" dirty="0">
                    <a:solidFill>
                      <a:schemeClr val="tx1"/>
                    </a:solidFill>
                    <a:effectLst/>
                    <a:latin typeface="+mn-lt"/>
                    <a:ea typeface="+mn-ea"/>
                    <a:cs typeface="+mn-cs"/>
                  </a:rPr>
                  <a:t>.</a:t>
                </a:r>
                <a:r>
                  <a:rPr lang="en-US" sz="1200" kern="1200" baseline="0" dirty="0">
                    <a:solidFill>
                      <a:schemeClr val="tx1"/>
                    </a:solidFill>
                    <a:effectLst/>
                    <a:latin typeface="+mn-lt"/>
                    <a:ea typeface="+mn-ea"/>
                    <a:cs typeface="+mn-cs"/>
                  </a:rPr>
                  <a:t> </a:t>
                </a:r>
                <a:r>
                  <a:rPr lang="en-ZA" dirty="0">
                    <a:solidFill>
                      <a:schemeClr val="tx1"/>
                    </a:solidFill>
                  </a:rPr>
                  <a:t>U</a:t>
                </a:r>
                <a:r>
                  <a:rPr lang="en-ZA" baseline="0" dirty="0">
                    <a:solidFill>
                      <a:schemeClr val="tx1"/>
                    </a:solidFill>
                  </a:rPr>
                  <a:t> </a:t>
                </a:r>
                <a:r>
                  <a:rPr lang="en-ZA" dirty="0" err="1">
                    <a:solidFill>
                      <a:schemeClr val="tx1"/>
                    </a:solidFill>
                  </a:rPr>
                  <a:t>dobijenom</a:t>
                </a:r>
                <a:r>
                  <a:rPr lang="en-ZA" dirty="0">
                    <a:solidFill>
                      <a:schemeClr val="tx1"/>
                    </a:solidFill>
                  </a:rPr>
                  <a:t> </a:t>
                </a:r>
                <a:r>
                  <a:rPr lang="en-ZA" dirty="0" err="1">
                    <a:solidFill>
                      <a:schemeClr val="tx1"/>
                    </a:solidFill>
                  </a:rPr>
                  <a:t>izrazu</a:t>
                </a:r>
                <a:r>
                  <a:rPr lang="en-ZA" dirty="0">
                    <a:solidFill>
                      <a:schemeClr val="tx1"/>
                    </a:solidFill>
                  </a:rPr>
                  <a:t>, </a:t>
                </a:r>
                <a:r>
                  <a:rPr lang="en-ZA" dirty="0" err="1">
                    <a:solidFill>
                      <a:schemeClr val="tx1"/>
                    </a:solidFill>
                  </a:rPr>
                  <a:t>unutrašnji</a:t>
                </a:r>
                <a:r>
                  <a:rPr lang="en-ZA" dirty="0">
                    <a:solidFill>
                      <a:schemeClr val="tx1"/>
                    </a:solidFill>
                  </a:rPr>
                  <a:t> </a:t>
                </a:r>
                <a:r>
                  <a:rPr lang="en-ZA" dirty="0" err="1">
                    <a:solidFill>
                      <a:schemeClr val="tx1"/>
                    </a:solidFill>
                  </a:rPr>
                  <a:t>proizvodi</a:t>
                </a:r>
                <a:r>
                  <a:rPr lang="en-ZA" dirty="0">
                    <a:solidFill>
                      <a:schemeClr val="tx1"/>
                    </a:solidFill>
                  </a:rPr>
                  <a:t> </a:t>
                </a:r>
                <a:r>
                  <a:rPr lang="en-US" sz="1200" i="0">
                    <a:solidFill>
                      <a:schemeClr val="tx1"/>
                    </a:solidFill>
                    <a:latin typeface="Cambria Math" panose="02040503050406030204" pitchFamily="18" charset="0"/>
                  </a:rPr>
                  <a:t>⟨𝑒_𝑖 |</a:t>
                </a:r>
                <a:r>
                  <a:rPr lang="sr-Latn-RS" sz="1200" b="0" i="0">
                    <a:solidFill>
                      <a:schemeClr val="tx1"/>
                    </a:solidFill>
                    <a:latin typeface="Cambria Math" panose="02040503050406030204" pitchFamily="18" charset="0"/>
                  </a:rPr>
                  <a:t>𝑎⟩</a:t>
                </a:r>
                <a:r>
                  <a:rPr lang="en-ZA" dirty="0">
                    <a:solidFill>
                      <a:schemeClr val="tx1"/>
                    </a:solidFill>
                  </a:rPr>
                  <a:t> </a:t>
                </a:r>
                <a:r>
                  <a:rPr lang="en-ZA" dirty="0" err="1">
                    <a:solidFill>
                      <a:schemeClr val="tx1"/>
                    </a:solidFill>
                  </a:rPr>
                  <a:t>su</a:t>
                </a:r>
                <a:r>
                  <a:rPr lang="en-ZA" dirty="0">
                    <a:solidFill>
                      <a:schemeClr val="tx1"/>
                    </a:solidFill>
                  </a:rPr>
                  <a:t> </a:t>
                </a:r>
                <a:r>
                  <a:rPr lang="en-ZA" dirty="0" err="1">
                    <a:solidFill>
                      <a:schemeClr val="tx1"/>
                    </a:solidFill>
                  </a:rPr>
                  <a:t>koeficijenti</a:t>
                </a:r>
                <a:r>
                  <a:rPr lang="en-ZA" dirty="0">
                    <a:solidFill>
                      <a:schemeClr val="tx1"/>
                    </a:solidFill>
                  </a:rPr>
                  <a:t> </a:t>
                </a:r>
                <a:r>
                  <a:rPr lang="en-ZA" dirty="0" err="1">
                    <a:solidFill>
                      <a:schemeClr val="tx1"/>
                    </a:solidFill>
                  </a:rPr>
                  <a:t>linearne</a:t>
                </a:r>
                <a:r>
                  <a:rPr lang="en-ZA" dirty="0">
                    <a:solidFill>
                      <a:schemeClr val="tx1"/>
                    </a:solidFill>
                  </a:rPr>
                  <a:t> </a:t>
                </a:r>
                <a:r>
                  <a:rPr lang="en-ZA" dirty="0" err="1">
                    <a:solidFill>
                      <a:schemeClr val="tx1"/>
                    </a:solidFill>
                  </a:rPr>
                  <a:t>kombinacije</a:t>
                </a:r>
                <a:r>
                  <a:rPr lang="en-ZA" dirty="0">
                    <a:solidFill>
                      <a:schemeClr val="tx1"/>
                    </a:solidFill>
                  </a:rPr>
                  <a:t> </a:t>
                </a:r>
                <a:r>
                  <a:rPr lang="en-ZA" dirty="0" err="1">
                    <a:solidFill>
                      <a:schemeClr val="tx1"/>
                    </a:solidFill>
                  </a:rPr>
                  <a:t>koji</a:t>
                </a:r>
                <a:r>
                  <a:rPr lang="en-ZA" dirty="0">
                    <a:solidFill>
                      <a:schemeClr val="tx1"/>
                    </a:solidFill>
                  </a:rPr>
                  <a:t> </a:t>
                </a:r>
                <a:r>
                  <a:rPr lang="en-ZA" dirty="0" err="1">
                    <a:solidFill>
                      <a:schemeClr val="tx1"/>
                    </a:solidFill>
                  </a:rPr>
                  <a:t>projektuju</a:t>
                </a:r>
                <a:r>
                  <a:rPr lang="en-ZA" dirty="0">
                    <a:solidFill>
                      <a:schemeClr val="tx1"/>
                    </a:solidFill>
                  </a:rPr>
                  <a:t> </a:t>
                </a:r>
                <a:r>
                  <a:rPr lang="en-ZA" dirty="0" err="1">
                    <a:solidFill>
                      <a:schemeClr val="tx1"/>
                    </a:solidFill>
                  </a:rPr>
                  <a:t>vektor</a:t>
                </a:r>
                <a:r>
                  <a:rPr lang="en-ZA" dirty="0">
                    <a:solidFill>
                      <a:schemeClr val="tx1"/>
                    </a:solidFill>
                  </a:rPr>
                  <a:t> </a:t>
                </a:r>
                <a:r>
                  <a:rPr lang="en-US" sz="1200" i="0">
                    <a:solidFill>
                      <a:schemeClr val="tx1"/>
                    </a:solidFill>
                    <a:latin typeface="Cambria Math" panose="02040503050406030204" pitchFamily="18" charset="0"/>
                  </a:rPr>
                  <a:t>|</a:t>
                </a:r>
                <a:r>
                  <a:rPr lang="sr-Latn-RS" sz="1200" b="0" i="0">
                    <a:solidFill>
                      <a:schemeClr val="tx1"/>
                    </a:solidFill>
                    <a:latin typeface="Cambria Math" panose="02040503050406030204" pitchFamily="18" charset="0"/>
                  </a:rPr>
                  <a:t>𝑎⟩</a:t>
                </a:r>
                <a:r>
                  <a:rPr lang="en-ZA" dirty="0">
                    <a:solidFill>
                      <a:schemeClr val="tx1"/>
                    </a:solidFill>
                  </a:rPr>
                  <a:t> </a:t>
                </a:r>
                <a:r>
                  <a:rPr lang="en-ZA" dirty="0" err="1">
                    <a:solidFill>
                      <a:schemeClr val="tx1"/>
                    </a:solidFill>
                  </a:rPr>
                  <a:t>na</a:t>
                </a:r>
                <a:r>
                  <a:rPr lang="en-ZA" dirty="0">
                    <a:solidFill>
                      <a:schemeClr val="tx1"/>
                    </a:solidFill>
                  </a:rPr>
                  <a:t> </a:t>
                </a:r>
                <a:r>
                  <a:rPr lang="en-ZA" dirty="0" err="1">
                    <a:solidFill>
                      <a:schemeClr val="tx1"/>
                    </a:solidFill>
                  </a:rPr>
                  <a:t>vektore</a:t>
                </a:r>
                <a:r>
                  <a:rPr lang="en-ZA" dirty="0">
                    <a:solidFill>
                      <a:schemeClr val="tx1"/>
                    </a:solidFill>
                  </a:rPr>
                  <a:t> </a:t>
                </a:r>
                <a:r>
                  <a:rPr lang="en-ZA" dirty="0" err="1">
                    <a:solidFill>
                      <a:schemeClr val="tx1"/>
                    </a:solidFill>
                  </a:rPr>
                  <a:t>baze</a:t>
                </a:r>
                <a:r>
                  <a:rPr lang="en-ZA" dirty="0">
                    <a:solidFill>
                      <a:schemeClr val="tx1"/>
                    </a:solidFill>
                  </a:rPr>
                  <a:t> </a:t>
                </a:r>
                <a:r>
                  <a:rPr lang="en-US" sz="1200" i="0">
                    <a:solidFill>
                      <a:schemeClr val="tx1"/>
                    </a:solidFill>
                    <a:latin typeface="Cambria Math" panose="02040503050406030204" pitchFamily="18" charset="0"/>
                    <a:ea typeface="Cambria Math" panose="02040503050406030204" pitchFamily="18" charset="0"/>
                  </a:rPr>
                  <a:t>|</a:t>
                </a:r>
                <a:r>
                  <a:rPr lang="en-US" sz="1200" i="0">
                    <a:solidFill>
                      <a:schemeClr val="tx1"/>
                    </a:solidFill>
                    <a:latin typeface="Cambria Math" panose="02040503050406030204" pitchFamily="18" charset="0"/>
                  </a:rPr>
                  <a:t>𝑒_𝑖 ⟩</a:t>
                </a:r>
                <a:r>
                  <a:rPr lang="en-ZA" dirty="0">
                    <a:solidFill>
                      <a:schemeClr val="tx1"/>
                    </a:solidFill>
                  </a:rPr>
                  <a:t>. </a:t>
                </a:r>
                <a:r>
                  <a:rPr lang="en-ZA" b="0" dirty="0" err="1">
                    <a:solidFill>
                      <a:schemeClr val="tx1"/>
                    </a:solidFill>
                  </a:rPr>
                  <a:t>Dakle</a:t>
                </a:r>
                <a:r>
                  <a:rPr lang="en-ZA" b="0" dirty="0">
                    <a:solidFill>
                      <a:schemeClr val="tx1"/>
                    </a:solidFill>
                  </a:rPr>
                  <a:t>, </a:t>
                </a:r>
                <a:r>
                  <a:rPr lang="en-ZA" b="0" dirty="0" err="1">
                    <a:solidFill>
                      <a:schemeClr val="tx1"/>
                    </a:solidFill>
                  </a:rPr>
                  <a:t>rezultat</a:t>
                </a:r>
                <a:r>
                  <a:rPr lang="en-ZA" b="0" dirty="0">
                    <a:solidFill>
                      <a:schemeClr val="tx1"/>
                    </a:solidFill>
                  </a:rPr>
                  <a:t> </a:t>
                </a:r>
                <a:r>
                  <a:rPr lang="en-ZA" b="0" dirty="0" err="1">
                    <a:solidFill>
                      <a:schemeClr val="tx1"/>
                    </a:solidFill>
                  </a:rPr>
                  <a:t>ove</a:t>
                </a:r>
                <a:r>
                  <a:rPr lang="en-ZA" b="0" dirty="0">
                    <a:solidFill>
                      <a:schemeClr val="tx1"/>
                    </a:solidFill>
                  </a:rPr>
                  <a:t> </a:t>
                </a:r>
                <a:r>
                  <a:rPr lang="en-ZA" b="0" dirty="0" err="1">
                    <a:solidFill>
                      <a:schemeClr val="tx1"/>
                    </a:solidFill>
                  </a:rPr>
                  <a:t>operacije</a:t>
                </a:r>
                <a:r>
                  <a:rPr lang="en-ZA" b="0" dirty="0">
                    <a:solidFill>
                      <a:schemeClr val="tx1"/>
                    </a:solidFill>
                  </a:rPr>
                  <a:t> </a:t>
                </a:r>
                <a:r>
                  <a:rPr lang="en-ZA" b="0" dirty="0" err="1">
                    <a:solidFill>
                      <a:schemeClr val="tx1"/>
                    </a:solidFill>
                  </a:rPr>
                  <a:t>je</a:t>
                </a:r>
                <a:r>
                  <a:rPr lang="en-ZA" b="0" dirty="0">
                    <a:solidFill>
                      <a:schemeClr val="tx1"/>
                    </a:solidFill>
                  </a:rPr>
                  <a:t> </a:t>
                </a:r>
                <a:r>
                  <a:rPr lang="en-ZA" b="0" dirty="0" err="1">
                    <a:solidFill>
                      <a:schemeClr val="tx1"/>
                    </a:solidFill>
                  </a:rPr>
                  <a:t>dekompozicija</a:t>
                </a:r>
                <a:r>
                  <a:rPr lang="en-ZA" b="0" dirty="0">
                    <a:solidFill>
                      <a:schemeClr val="tx1"/>
                    </a:solidFill>
                  </a:rPr>
                  <a:t> </a:t>
                </a:r>
                <a:r>
                  <a:rPr lang="en-ZA" b="0" dirty="0" err="1">
                    <a:solidFill>
                      <a:schemeClr val="tx1"/>
                    </a:solidFill>
                  </a:rPr>
                  <a:t>vektora</a:t>
                </a:r>
                <a:r>
                  <a:rPr lang="en-ZA" b="0" dirty="0">
                    <a:solidFill>
                      <a:schemeClr val="tx1"/>
                    </a:solidFill>
                  </a:rPr>
                  <a:t> </a:t>
                </a:r>
                <a:r>
                  <a:rPr lang="en-US" sz="1200" i="0">
                    <a:solidFill>
                      <a:schemeClr val="tx1"/>
                    </a:solidFill>
                    <a:latin typeface="Cambria Math" panose="02040503050406030204" pitchFamily="18" charset="0"/>
                  </a:rPr>
                  <a:t>|</a:t>
                </a:r>
                <a:r>
                  <a:rPr lang="sr-Latn-RS" sz="1200" b="0" i="0">
                    <a:solidFill>
                      <a:schemeClr val="tx1"/>
                    </a:solidFill>
                    <a:latin typeface="Cambria Math" panose="02040503050406030204" pitchFamily="18" charset="0"/>
                  </a:rPr>
                  <a:t>𝑎⟩</a:t>
                </a:r>
                <a:r>
                  <a:rPr lang="en-ZA" b="0" dirty="0">
                    <a:solidFill>
                      <a:schemeClr val="tx1"/>
                    </a:solidFill>
                  </a:rPr>
                  <a:t> u </a:t>
                </a:r>
                <a:r>
                  <a:rPr lang="en-ZA" b="0" dirty="0" err="1">
                    <a:solidFill>
                      <a:schemeClr val="tx1"/>
                    </a:solidFill>
                  </a:rPr>
                  <a:t>terminima</a:t>
                </a:r>
                <a:r>
                  <a:rPr lang="en-ZA" b="0" dirty="0">
                    <a:solidFill>
                      <a:schemeClr val="tx1"/>
                    </a:solidFill>
                  </a:rPr>
                  <a:t> </a:t>
                </a:r>
                <a:r>
                  <a:rPr lang="en-ZA" b="0" dirty="0" err="1">
                    <a:solidFill>
                      <a:schemeClr val="tx1"/>
                    </a:solidFill>
                  </a:rPr>
                  <a:t>vektora</a:t>
                </a:r>
                <a:r>
                  <a:rPr lang="en-ZA" b="0" dirty="0">
                    <a:solidFill>
                      <a:schemeClr val="tx1"/>
                    </a:solidFill>
                  </a:rPr>
                  <a:t> </a:t>
                </a:r>
                <a:r>
                  <a:rPr lang="en-ZA" b="0" dirty="0" err="1">
                    <a:solidFill>
                      <a:schemeClr val="tx1"/>
                    </a:solidFill>
                  </a:rPr>
                  <a:t>baze</a:t>
                </a:r>
                <a:r>
                  <a:rPr lang="en-ZA" b="0" dirty="0">
                    <a:solidFill>
                      <a:schemeClr val="tx1"/>
                    </a:solidFill>
                  </a:rPr>
                  <a:t> </a:t>
                </a:r>
                <a:r>
                  <a:rPr lang="en-US" sz="1200" i="0">
                    <a:solidFill>
                      <a:schemeClr val="tx1"/>
                    </a:solidFill>
                    <a:latin typeface="Cambria Math" panose="02040503050406030204" pitchFamily="18" charset="0"/>
                    <a:ea typeface="Cambria Math" panose="02040503050406030204" pitchFamily="18" charset="0"/>
                  </a:rPr>
                  <a:t>|</a:t>
                </a:r>
                <a:r>
                  <a:rPr lang="en-US" sz="1200" i="0">
                    <a:solidFill>
                      <a:schemeClr val="tx1"/>
                    </a:solidFill>
                    <a:latin typeface="Cambria Math" panose="02040503050406030204" pitchFamily="18" charset="0"/>
                  </a:rPr>
                  <a:t>𝑒_𝑖 ⟩</a:t>
                </a:r>
                <a:r>
                  <a:rPr lang="en-ZA" b="0" dirty="0">
                    <a:solidFill>
                      <a:schemeClr val="tx1"/>
                    </a:solidFill>
                  </a:rPr>
                  <a:t>, </a:t>
                </a:r>
                <a:r>
                  <a:rPr lang="en-ZA" b="0" dirty="0" err="1">
                    <a:solidFill>
                      <a:schemeClr val="tx1"/>
                    </a:solidFill>
                  </a:rPr>
                  <a:t>sa</a:t>
                </a:r>
                <a:r>
                  <a:rPr lang="en-ZA" b="0" dirty="0">
                    <a:solidFill>
                      <a:schemeClr val="tx1"/>
                    </a:solidFill>
                  </a:rPr>
                  <a:t> </a:t>
                </a:r>
                <a:r>
                  <a:rPr lang="en-ZA" b="0" dirty="0" err="1">
                    <a:solidFill>
                      <a:schemeClr val="tx1"/>
                    </a:solidFill>
                  </a:rPr>
                  <a:t>odgovarajućim</a:t>
                </a:r>
                <a:r>
                  <a:rPr lang="en-ZA" b="0" dirty="0">
                    <a:solidFill>
                      <a:schemeClr val="tx1"/>
                    </a:solidFill>
                  </a:rPr>
                  <a:t> </a:t>
                </a:r>
                <a:r>
                  <a:rPr lang="en-ZA" b="0" dirty="0" err="1">
                    <a:solidFill>
                      <a:schemeClr val="tx1"/>
                    </a:solidFill>
                  </a:rPr>
                  <a:t>projekcijama</a:t>
                </a:r>
                <a:r>
                  <a:rPr lang="en-ZA" b="0" dirty="0">
                    <a:solidFill>
                      <a:schemeClr val="tx1"/>
                    </a:solidFill>
                  </a:rPr>
                  <a:t> </a:t>
                </a:r>
                <a:r>
                  <a:rPr lang="en-ZA" b="0" dirty="0" err="1">
                    <a:solidFill>
                      <a:schemeClr val="tx1"/>
                    </a:solidFill>
                  </a:rPr>
                  <a:t>na</a:t>
                </a:r>
                <a:r>
                  <a:rPr lang="en-ZA" b="0" dirty="0">
                    <a:solidFill>
                      <a:schemeClr val="tx1"/>
                    </a:solidFill>
                  </a:rPr>
                  <a:t> </a:t>
                </a:r>
                <a:r>
                  <a:rPr lang="en-ZA" b="0" dirty="0" err="1">
                    <a:solidFill>
                      <a:schemeClr val="tx1"/>
                    </a:solidFill>
                  </a:rPr>
                  <a:t>te</a:t>
                </a:r>
                <a:r>
                  <a:rPr lang="en-ZA" b="0" dirty="0">
                    <a:solidFill>
                      <a:schemeClr val="tx1"/>
                    </a:solidFill>
                  </a:rPr>
                  <a:t> </a:t>
                </a:r>
                <a:r>
                  <a:rPr lang="en-ZA" b="0" dirty="0" err="1">
                    <a:solidFill>
                      <a:schemeClr val="tx1"/>
                    </a:solidFill>
                  </a:rPr>
                  <a:t>vektore</a:t>
                </a:r>
                <a:r>
                  <a:rPr lang="en-ZA" b="0" dirty="0">
                    <a:solidFill>
                      <a:schemeClr val="tx1"/>
                    </a:solidFill>
                  </a:rPr>
                  <a:t>.</a:t>
                </a:r>
                <a:endParaRPr lang="sr-Latn-RS" sz="1200" b="0" kern="1200" dirty="0">
                  <a:solidFill>
                    <a:schemeClr val="tx1"/>
                  </a:solidFill>
                  <a:effectLst/>
                  <a:latin typeface="+mn-lt"/>
                  <a:ea typeface="+mn-ea"/>
                  <a:cs typeface="+mn-cs"/>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48</a:t>
            </a:fld>
            <a:endParaRPr lang="en-US"/>
          </a:p>
        </p:txBody>
      </p:sp>
    </p:spTree>
    <p:extLst>
      <p:ext uri="{BB962C8B-B14F-4D97-AF65-F5344CB8AC3E}">
        <p14:creationId xmlns:p14="http://schemas.microsoft.com/office/powerpoint/2010/main" val="40262458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Let </a:t>
                </a:r>
                <a14:m>
                  <m:oMath xmlns:m="http://schemas.openxmlformats.org/officeDocument/2006/math">
                    <m:r>
                      <a:rPr lang="en-US" sz="1200" b="0" i="1" smtClean="0">
                        <a:latin typeface="Cambria Math" panose="02040503050406030204" pitchFamily="18" charset="0"/>
                      </a:rPr>
                      <m:t>𝐴</m:t>
                    </m:r>
                  </m:oMath>
                </a14:m>
                <a:r>
                  <a:rPr lang="en-ZA" b="0" dirty="0"/>
                  <a:t> be a linear operator acting on a Hilbert space, and let ∣S⟩ be a normalized vector in that space. The expectation value of </a:t>
                </a:r>
                <a14:m>
                  <m:oMath xmlns:m="http://schemas.openxmlformats.org/officeDocument/2006/math">
                    <m:r>
                      <a:rPr lang="en-US" sz="1200" b="0" i="1" smtClean="0">
                        <a:latin typeface="Cambria Math" panose="02040503050406030204" pitchFamily="18" charset="0"/>
                      </a:rPr>
                      <m:t>𝐴</m:t>
                    </m:r>
                  </m:oMath>
                </a14:m>
                <a:r>
                  <a:rPr lang="en-ZA" b="0" dirty="0"/>
                  <a:t> in the state ∣S⟩</a:t>
                </a:r>
                <a:r>
                  <a:rPr lang="en-ZA" b="0" baseline="0" dirty="0"/>
                  <a:t> </a:t>
                </a:r>
                <a:r>
                  <a:rPr lang="en-ZA" b="0" dirty="0"/>
                  <a:t>is defined as ⟨A⟩=⟨S∣A∣S⟩.</a:t>
                </a:r>
              </a:p>
              <a:p>
                <a:pPr algn="just"/>
                <a:endParaRPr lang="en-ZA" b="0" dirty="0"/>
              </a:p>
              <a:p>
                <a:pPr algn="just"/>
                <a:r>
                  <a:rPr lang="en-ZA" b="0" dirty="0"/>
                  <a:t>In other words, the expectation value is a single number obtained by applying the operator </a:t>
                </a:r>
                <a14:m>
                  <m:oMath xmlns:m="http://schemas.openxmlformats.org/officeDocument/2006/math">
                    <m:r>
                      <a:rPr lang="en-US" sz="1200" b="0" i="1" smtClean="0">
                        <a:latin typeface="Cambria Math" panose="02040503050406030204" pitchFamily="18" charset="0"/>
                      </a:rPr>
                      <m:t>𝐴</m:t>
                    </m:r>
                  </m:oMath>
                </a14:m>
                <a:r>
                  <a:rPr lang="en-ZA" b="0" dirty="0"/>
                  <a:t> to the state ∣S⟩</a:t>
                </a:r>
                <a:r>
                  <a:rPr lang="en-ZA" b="0" baseline="0" dirty="0"/>
                  <a:t> </a:t>
                </a:r>
                <a:r>
                  <a:rPr lang="en-ZA" b="0" dirty="0"/>
                  <a:t>and then taking the inner product of the resulting vector with the original state. In general, this number describes the relationship between the original state and the state obtained after applying the operator.</a:t>
                </a:r>
              </a:p>
              <a:p>
                <a:pPr algn="just"/>
                <a:endParaRPr lang="en-ZA" b="0" dirty="0"/>
              </a:p>
              <a:p>
                <a:pPr algn="just"/>
                <a:r>
                  <a:rPr lang="en-ZA" b="0" dirty="0"/>
                  <a:t>For example, the expectation value of the Pauli-Z operator in the ∣+⟩ state is calculated by first applying Z to the state ∣+⟩, and then taking the inner product with ⟨+∣. In this case, </a:t>
                </a:r>
                <a14:m>
                  <m:oMath xmlns:m="http://schemas.openxmlformats.org/officeDocument/2006/math">
                    <m:r>
                      <a:rPr lang="en-US" sz="1200" smtClean="0">
                        <a:latin typeface="Cambria Math" panose="02040503050406030204" pitchFamily="18" charset="0"/>
                      </a:rPr>
                      <m:t>⟨</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𝑍</m:t>
                        </m:r>
                      </m:e>
                    </m:d>
                    <m:r>
                      <a:rPr lang="en-US" sz="1200" b="0" i="1" smtClean="0">
                        <a:latin typeface="Cambria Math" panose="02040503050406030204" pitchFamily="18" charset="0"/>
                      </a:rPr>
                      <m:t>=</m:t>
                    </m:r>
                    <m:d>
                      <m:dPr>
                        <m:begChr m:val="⟨"/>
                        <m:endChr m:val="⟩"/>
                        <m:ctrlPr>
                          <a:rPr lang="en-US" sz="1200" b="0" i="1" smtClean="0">
                            <a:latin typeface="Cambria Math" panose="02040503050406030204" pitchFamily="18" charset="0"/>
                          </a:rPr>
                        </m:ctrlPr>
                      </m:dPr>
                      <m:e>
                        <m:r>
                          <a:rPr lang="en-US" sz="1200" b="0" i="1" smtClean="0">
                            <a:latin typeface="Cambria Math" panose="02040503050406030204" pitchFamily="18" charset="0"/>
                          </a:rPr>
                          <m:t>+</m:t>
                        </m:r>
                      </m:e>
                      <m:e>
                        <m:r>
                          <a:rPr lang="en-US" sz="1200" b="0" i="1" smtClean="0">
                            <a:latin typeface="Cambria Math" panose="02040503050406030204" pitchFamily="18" charset="0"/>
                          </a:rPr>
                          <m:t>𝑍</m:t>
                        </m:r>
                      </m:e>
                      <m:e>
                        <m:r>
                          <a:rPr lang="en-US" sz="1200" b="0" i="1" smtClean="0">
                            <a:latin typeface="Cambria Math" panose="02040503050406030204" pitchFamily="18" charset="0"/>
                          </a:rPr>
                          <m:t>+</m:t>
                        </m:r>
                      </m:e>
                    </m:d>
                    <m:r>
                      <a:rPr lang="en-US" sz="1200" b="0" i="1" smtClean="0">
                        <a:latin typeface="Cambria Math" panose="02040503050406030204" pitchFamily="18" charset="0"/>
                      </a:rPr>
                      <m:t>=0</m:t>
                    </m:r>
                  </m:oMath>
                </a14:m>
                <a:r>
                  <a:rPr lang="en-ZA" b="0" dirty="0"/>
                  <a:t>.</a:t>
                </a:r>
              </a:p>
              <a:p>
                <a:pPr algn="just"/>
                <a:endParaRPr lang="en-ZA" b="0" dirty="0"/>
              </a:p>
              <a:p>
                <a:pPr algn="just"/>
                <a:r>
                  <a:rPr lang="en-ZA" b="0" dirty="0"/>
                  <a:t>Expectation values are widely used in quantum computing to extract useful numerical information from quantum states and to evaluate the results of quantum computations.</a:t>
                </a:r>
                <a:endParaRPr lang="en-US" b="0" dirty="0"/>
              </a:p>
            </p:txBody>
          </p:sp>
        </mc:Choice>
        <mc:Fallback xmlns="">
          <p:sp>
            <p:nvSpPr>
              <p:cNvPr id="3" name="Notes Placeholder 2"/>
              <p:cNvSpPr>
                <a:spLocks noGrp="1"/>
              </p:cNvSpPr>
              <p:nvPr>
                <p:ph type="body" idx="1"/>
              </p:nvPr>
            </p:nvSpPr>
            <p:spPr/>
            <p:txBody>
              <a:bodyPr/>
              <a:lstStyle/>
              <a:p>
                <a:pPr algn="just"/>
                <a:r>
                  <a:rPr lang="en-ZA" b="0" dirty="0"/>
                  <a:t>Let </a:t>
                </a:r>
                <a:r>
                  <a:rPr lang="en-US" sz="1200" b="0" i="0">
                    <a:latin typeface="Cambria Math" panose="02040503050406030204" pitchFamily="18" charset="0"/>
                  </a:rPr>
                  <a:t>𝐴</a:t>
                </a:r>
                <a:r>
                  <a:rPr lang="en-ZA" b="0" dirty="0"/>
                  <a:t> be a linear operator acting on a Hilbert space, and let </a:t>
                </a:r>
                <a:r>
                  <a:rPr lang="en-US" sz="1200" b="0" i="0">
                    <a:latin typeface="Cambria Math" panose="02040503050406030204" pitchFamily="18" charset="0"/>
                  </a:rPr>
                  <a:t>|𝑆⟩</a:t>
                </a:r>
                <a:r>
                  <a:rPr lang="en-ZA" b="0" dirty="0"/>
                  <a:t> be a normalized vector in that space. Then the expectation value of </a:t>
                </a:r>
                <a:r>
                  <a:rPr lang="en-US" sz="1200" b="0" i="0">
                    <a:latin typeface="Cambria Math" panose="02040503050406030204" pitchFamily="18" charset="0"/>
                  </a:rPr>
                  <a:t>𝐴</a:t>
                </a:r>
                <a:r>
                  <a:rPr lang="en-ZA" b="0" dirty="0"/>
                  <a:t>  in the state </a:t>
                </a:r>
                <a:r>
                  <a:rPr lang="en-US" sz="1200" b="0" i="0">
                    <a:latin typeface="Cambria Math" panose="02040503050406030204" pitchFamily="18" charset="0"/>
                  </a:rPr>
                  <a:t>|𝑆⟩</a:t>
                </a:r>
                <a:r>
                  <a:rPr lang="en-ZA" b="0" dirty="0"/>
                  <a:t> is defined as</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0" i="0">
                    <a:latin typeface="Cambria Math" panose="02040503050406030204" pitchFamily="18" charset="0"/>
                  </a:rPr>
                  <a:t>⟨├ 𝐴⟩=⟨𝑆│𝐴│𝑆⟩</a:t>
                </a:r>
                <a:endParaRPr lang="en-ZA" b="0" dirty="0"/>
              </a:p>
              <a:p>
                <a:pPr algn="just"/>
                <a:r>
                  <a:rPr lang="en-US" sz="1200" b="0" i="0">
                    <a:latin typeface="Cambria Math" panose="02040503050406030204" pitchFamily="18" charset="0"/>
                  </a:rPr>
                  <a:t>⟨𝑆│𝐴│𝑆⟩</a:t>
                </a:r>
                <a:r>
                  <a:rPr lang="el-GR" b="0" dirty="0"/>
                  <a:t> </a:t>
                </a:r>
                <a:r>
                  <a:rPr lang="en-ZA" b="0" dirty="0"/>
                  <a:t>is a complex scalar, and if </a:t>
                </a:r>
                <a:r>
                  <a:rPr lang="en-US" sz="1200" b="0" i="0">
                    <a:latin typeface="Cambria Math" panose="02040503050406030204" pitchFamily="18" charset="0"/>
                  </a:rPr>
                  <a:t>𝐴</a:t>
                </a:r>
                <a:r>
                  <a:rPr lang="en-ZA" b="0" dirty="0"/>
                  <a:t> is Hermitian, the value is real.</a:t>
                </a:r>
              </a:p>
              <a:p>
                <a:pPr algn="just"/>
                <a:endParaRPr lang="en-ZA" b="0" dirty="0"/>
              </a:p>
              <a:p>
                <a:pPr algn="just"/>
                <a:r>
                  <a:rPr lang="en-ZA" b="0" dirty="0"/>
                  <a:t>The expectation value represents the average result you would obtain by preparing a quantum state, applying an operator to it, and repeating this process on many identical copies of the state.</a:t>
                </a:r>
              </a:p>
              <a:p>
                <a:pPr algn="just"/>
                <a:endParaRPr lang="en-ZA" b="0" dirty="0"/>
              </a:p>
              <a:p>
                <a:pPr algn="just"/>
                <a:r>
                  <a:rPr lang="en-ZA" b="0" dirty="0"/>
                  <a:t>In quantum machine learning the expectation value becomes the output of the quantum circuit — a real number used as the cost function, prediction score, etc.</a:t>
                </a:r>
              </a:p>
              <a:p>
                <a:pPr algn="just"/>
                <a:endParaRPr lang="en-US"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49</a:t>
            </a:fld>
            <a:endParaRPr lang="en-US"/>
          </a:p>
        </p:txBody>
      </p:sp>
    </p:spTree>
    <p:extLst>
      <p:ext uri="{BB962C8B-B14F-4D97-AF65-F5344CB8AC3E}">
        <p14:creationId xmlns:p14="http://schemas.microsoft.com/office/powerpoint/2010/main" val="372436538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The word </a:t>
            </a:r>
            <a:r>
              <a:rPr lang="en-ZA" i="1" dirty="0"/>
              <a:t>eigen</a:t>
            </a:r>
            <a:r>
              <a:rPr lang="en-ZA" dirty="0"/>
              <a:t> comes from German and means "own" or "characteristic," while </a:t>
            </a:r>
            <a:r>
              <a:rPr lang="en-ZA" i="1" dirty="0"/>
              <a:t>value</a:t>
            </a:r>
            <a:r>
              <a:rPr lang="en-ZA" dirty="0"/>
              <a:t> and </a:t>
            </a:r>
            <a:r>
              <a:rPr lang="en-ZA" i="1" dirty="0"/>
              <a:t>vector</a:t>
            </a:r>
            <a:r>
              <a:rPr lang="en-ZA" dirty="0"/>
              <a:t> are English words. Eigenvalues and eigenvectors are fundamental in quantum mechanics and quantum computing.</a:t>
            </a:r>
            <a:endParaRPr lang="en-ZA" b="0" dirty="0"/>
          </a:p>
        </p:txBody>
      </p:sp>
      <p:sp>
        <p:nvSpPr>
          <p:cNvPr id="4" name="Slide Number Placeholder 3"/>
          <p:cNvSpPr>
            <a:spLocks noGrp="1"/>
          </p:cNvSpPr>
          <p:nvPr>
            <p:ph type="sldNum" sz="quarter" idx="5"/>
          </p:nvPr>
        </p:nvSpPr>
        <p:spPr/>
        <p:txBody>
          <a:bodyPr/>
          <a:lstStyle/>
          <a:p>
            <a:fld id="{1B2CE5E3-B8BD-D040-AC87-D640191DD8F1}" type="slidenum">
              <a:rPr lang="en-US" smtClean="0"/>
              <a:t>50</a:t>
            </a:fld>
            <a:endParaRPr lang="en-US"/>
          </a:p>
        </p:txBody>
      </p:sp>
    </p:spTree>
    <p:extLst>
      <p:ext uri="{BB962C8B-B14F-4D97-AF65-F5344CB8AC3E}">
        <p14:creationId xmlns:p14="http://schemas.microsoft.com/office/powerpoint/2010/main" val="415034529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If an operator </a:t>
                </a:r>
                <a14:m>
                  <m:oMath xmlns:m="http://schemas.openxmlformats.org/officeDocument/2006/math">
                    <m:r>
                      <a:rPr lang="en-US" sz="1200" b="0" i="1" smtClean="0">
                        <a:latin typeface="Cambria Math" panose="02040503050406030204" pitchFamily="18" charset="0"/>
                        <a:ea typeface="Cambria Math" panose="02040503050406030204" pitchFamily="18" charset="0"/>
                      </a:rPr>
                      <m:t>𝐴</m:t>
                    </m:r>
                  </m:oMath>
                </a14:m>
                <a:r>
                  <a:rPr lang="en-ZA" dirty="0"/>
                  <a:t> acts on a nonzero vector ∣x⟩ and simply scales it by a factor </a:t>
                </a:r>
                <a14:m>
                  <m:oMath xmlns:m="http://schemas.openxmlformats.org/officeDocument/2006/math">
                    <m:r>
                      <a:rPr lang="en-US" sz="1200" b="0" i="1" smtClean="0">
                        <a:latin typeface="Cambria Math" panose="02040503050406030204" pitchFamily="18" charset="0"/>
                        <a:ea typeface="Cambria Math" panose="02040503050406030204" pitchFamily="18" charset="0"/>
                      </a:rPr>
                      <m:t>𝜆</m:t>
                    </m:r>
                  </m:oMath>
                </a14:m>
                <a:r>
                  <a:rPr lang="el-GR" dirty="0"/>
                  <a:t> </a:t>
                </a:r>
                <a:r>
                  <a:rPr lang="en-ZA" dirty="0"/>
                  <a:t>without changing its direction, then </a:t>
                </a:r>
                <a14:m>
                  <m:oMath xmlns:m="http://schemas.openxmlformats.org/officeDocument/2006/math">
                    <m:r>
                      <a:rPr lang="en-US" sz="1200" b="0" i="1" smtClean="0">
                        <a:latin typeface="Cambria Math" panose="02040503050406030204" pitchFamily="18" charset="0"/>
                        <a:ea typeface="Cambria Math" panose="02040503050406030204" pitchFamily="18" charset="0"/>
                      </a:rPr>
                      <m:t>𝜆</m:t>
                    </m:r>
                  </m:oMath>
                </a14:m>
                <a:r>
                  <a:rPr lang="el-GR" dirty="0"/>
                  <a:t> </a:t>
                </a:r>
                <a:r>
                  <a:rPr lang="en-ZA" dirty="0"/>
                  <a:t>is called an </a:t>
                </a:r>
                <a:r>
                  <a:rPr lang="en-ZA" b="1" dirty="0"/>
                  <a:t>eigenvalue</a:t>
                </a:r>
                <a:r>
                  <a:rPr lang="en-ZA" dirty="0"/>
                  <a:t>, and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𝑥</m:t>
                        </m:r>
                      </m:e>
                    </m:d>
                  </m:oMath>
                </a14:m>
                <a:r>
                  <a:rPr lang="en-ZA" dirty="0"/>
                  <a:t> is called an </a:t>
                </a:r>
                <a:r>
                  <a:rPr lang="en-ZA" b="1" dirty="0"/>
                  <a:t>eigenvector</a:t>
                </a:r>
                <a:r>
                  <a:rPr lang="en-ZA" dirty="0"/>
                  <a:t> of </a:t>
                </a:r>
                <a14:m>
                  <m:oMath xmlns:m="http://schemas.openxmlformats.org/officeDocument/2006/math">
                    <m:r>
                      <a:rPr lang="en-US" sz="1200" b="0" i="1" smtClean="0">
                        <a:latin typeface="Cambria Math" panose="02040503050406030204" pitchFamily="18" charset="0"/>
                        <a:ea typeface="Cambria Math" panose="02040503050406030204" pitchFamily="18" charset="0"/>
                      </a:rPr>
                      <m:t>𝐴</m:t>
                    </m:r>
                  </m:oMath>
                </a14:m>
                <a:r>
                  <a:rPr lang="en-ZA" dirty="0"/>
                  <a:t>. In simple terms, applying the operator to an eigenvector has the same effect as multiplying that vector by a scalar. This is expressed by the </a:t>
                </a:r>
                <a:r>
                  <a:rPr lang="en-ZA" b="1" dirty="0"/>
                  <a:t>eigenvalue equation</a:t>
                </a:r>
              </a:p>
              <a:p>
                <a:pPr algn="just"/>
                <a14:m>
                  <m:oMathPara xmlns:m="http://schemas.openxmlformats.org/officeDocument/2006/math">
                    <m:oMathParaPr>
                      <m:jc m:val="centerGroup"/>
                    </m:oMathParaPr>
                    <m:oMath xmlns:m="http://schemas.openxmlformats.org/officeDocument/2006/math">
                      <m:r>
                        <a:rPr lang="en-US" sz="1200" i="1" smtClean="0">
                          <a:latin typeface="Cambria Math" panose="02040503050406030204" pitchFamily="18" charset="0"/>
                        </a:rPr>
                        <m:t>𝐴</m:t>
                      </m:r>
                      <m:d>
                        <m:dPr>
                          <m:begChr m:val="|"/>
                          <m:endChr m:val="⟩"/>
                          <m:ctrlPr>
                            <a:rPr lang="en-US" sz="1200" i="1">
                              <a:latin typeface="Cambria Math" panose="02040503050406030204" pitchFamily="18" charset="0"/>
                            </a:rPr>
                          </m:ctrlPr>
                        </m:dPr>
                        <m:e>
                          <m:r>
                            <a:rPr lang="en-US" sz="1200" b="0" i="1" smtClean="0">
                              <a:latin typeface="Cambria Math" panose="02040503050406030204" pitchFamily="18" charset="0"/>
                            </a:rPr>
                            <m:t>𝑥</m:t>
                          </m:r>
                        </m:e>
                      </m:d>
                      <m:r>
                        <a:rPr lang="en-US" sz="1200" b="0" i="1" smtClean="0">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𝜆</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𝑥</m:t>
                          </m:r>
                        </m:e>
                      </m:d>
                    </m:oMath>
                  </m:oMathPara>
                </a14:m>
                <a:endParaRPr lang="en-ZA" b="1" dirty="0"/>
              </a:p>
              <a:p>
                <a:pPr algn="just"/>
                <a:endParaRPr lang="en-ZA" dirty="0"/>
              </a:p>
              <a:p>
                <a:pPr algn="just"/>
                <a:r>
                  <a:rPr lang="en-ZA" dirty="0"/>
                  <a:t>For example, applying the identity operator </a:t>
                </a:r>
                <a14:m>
                  <m:oMath xmlns:m="http://schemas.openxmlformats.org/officeDocument/2006/math">
                    <m:r>
                      <a:rPr lang="en-US" sz="1200" b="0" i="1" smtClean="0">
                        <a:latin typeface="Cambria Math" panose="02040503050406030204" pitchFamily="18" charset="0"/>
                      </a:rPr>
                      <m:t>𝐼</m:t>
                    </m:r>
                  </m:oMath>
                </a14:m>
                <a:r>
                  <a:rPr lang="en-ZA" dirty="0"/>
                  <a:t> to any vector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𝑥</m:t>
                        </m:r>
                      </m:e>
                    </m:d>
                  </m:oMath>
                </a14:m>
                <a:r>
                  <a:rPr lang="en-ZA" dirty="0"/>
                  <a:t> gives the same vector: </a:t>
                </a:r>
              </a:p>
              <a:p>
                <a:pPr algn="just"/>
                <a14:m>
                  <m:oMath xmlns:m="http://schemas.openxmlformats.org/officeDocument/2006/math">
                    <m:r>
                      <a:rPr lang="sr-Latn-RS" sz="1200" b="0" i="1" smtClean="0">
                        <a:latin typeface="Cambria Math" panose="02040503050406030204" pitchFamily="18" charset="0"/>
                      </a:rPr>
                      <m:t>𝐼</m:t>
                    </m:r>
                    <m:d>
                      <m:dPr>
                        <m:begChr m:val="|"/>
                        <m:endChr m:val="⟩"/>
                        <m:ctrlPr>
                          <a:rPr lang="en-US" sz="1200" b="0" i="1">
                            <a:latin typeface="Cambria Math" panose="02040503050406030204" pitchFamily="18" charset="0"/>
                          </a:rPr>
                        </m:ctrlPr>
                      </m:dPr>
                      <m:e>
                        <m:r>
                          <a:rPr lang="en-US" sz="1200" b="0" i="1">
                            <a:latin typeface="Cambria Math" panose="02040503050406030204" pitchFamily="18" charset="0"/>
                          </a:rPr>
                          <m:t>𝑥</m:t>
                        </m:r>
                      </m:e>
                    </m:d>
                    <m:r>
                      <a:rPr lang="en-US" sz="1200" b="0" i="1" smtClean="0">
                        <a:latin typeface="Cambria Math" panose="02040503050406030204" pitchFamily="18" charset="0"/>
                      </a:rPr>
                      <m:t>=</m:t>
                    </m:r>
                    <m:d>
                      <m:dPr>
                        <m:begChr m:val="|"/>
                        <m:endChr m:val="⟩"/>
                        <m:ctrlPr>
                          <a:rPr lang="en-US" sz="1200" b="0" i="1">
                            <a:latin typeface="Cambria Math" panose="02040503050406030204" pitchFamily="18" charset="0"/>
                          </a:rPr>
                        </m:ctrlPr>
                      </m:dPr>
                      <m:e>
                        <m:r>
                          <a:rPr lang="en-US" sz="1200" b="0" i="1">
                            <a:latin typeface="Cambria Math" panose="02040503050406030204" pitchFamily="18" charset="0"/>
                          </a:rPr>
                          <m:t>𝑥</m:t>
                        </m:r>
                      </m:e>
                    </m:d>
                  </m:oMath>
                </a14:m>
                <a:r>
                  <a:rPr lang="en-ZA" dirty="0"/>
                  <a:t>. Therefore, the eigenvalue is </a:t>
                </a:r>
                <a14:m>
                  <m:oMath xmlns:m="http://schemas.openxmlformats.org/officeDocument/2006/math">
                    <m:r>
                      <a:rPr lang="en-US" sz="1200" b="0" i="1" smtClean="0">
                        <a:latin typeface="Cambria Math" panose="02040503050406030204" pitchFamily="18" charset="0"/>
                        <a:ea typeface="Cambria Math" panose="02040503050406030204" pitchFamily="18" charset="0"/>
                      </a:rPr>
                      <m:t>𝜆</m:t>
                    </m:r>
                  </m:oMath>
                </a14:m>
                <a:r>
                  <a:rPr lang="en-US" sz="1200" dirty="0"/>
                  <a:t>=1</a:t>
                </a:r>
                <a:r>
                  <a:rPr lang="el-GR" dirty="0"/>
                  <a:t>, </a:t>
                </a:r>
                <a:r>
                  <a:rPr lang="en-ZA" dirty="0"/>
                  <a:t>and every nonzero vector is an eigenvector of the identity operator.</a:t>
                </a:r>
              </a:p>
            </p:txBody>
          </p:sp>
        </mc:Choice>
        <mc:Fallback xmlns="">
          <p:sp>
            <p:nvSpPr>
              <p:cNvPr id="3" name="Notes Placeholder 2"/>
              <p:cNvSpPr>
                <a:spLocks noGrp="1"/>
              </p:cNvSpPr>
              <p:nvPr>
                <p:ph type="body" idx="1"/>
              </p:nvPr>
            </p:nvSpPr>
            <p:spPr/>
            <p:txBody>
              <a:bodyPr/>
              <a:lstStyle/>
              <a:p>
                <a:pPr marL="457200" indent="-457200">
                  <a:buFont typeface="+mj-lt"/>
                  <a:buAutoNum type="arabicPeriod"/>
                </a:pPr>
                <a:r>
                  <a:rPr lang="en-US" sz="2200" b="0" dirty="0">
                    <a:latin typeface="+mn-lt"/>
                  </a:rPr>
                  <a:t>If a matrix </a:t>
                </a:r>
                <a:r>
                  <a:rPr lang="en-US" sz="2200" b="0" i="1" dirty="0">
                    <a:latin typeface="+mn-lt"/>
                  </a:rPr>
                  <a:t>A</a:t>
                </a:r>
                <a:r>
                  <a:rPr lang="en-US" sz="2200" b="0" dirty="0">
                    <a:latin typeface="+mn-lt"/>
                  </a:rPr>
                  <a:t> acts on vector x by stretching it, without changing its direction, then the vector x is an eigenvector for</a:t>
                </a:r>
                <a:r>
                  <a:rPr lang="en-US" sz="2200" b="0" baseline="0" dirty="0">
                    <a:latin typeface="+mn-lt"/>
                  </a:rPr>
                  <a:t> transformation A</a:t>
                </a:r>
                <a:r>
                  <a:rPr lang="en-US" sz="2200" b="0" dirty="0">
                    <a:latin typeface="+mn-lt"/>
                  </a:rPr>
                  <a:t> and scalar </a:t>
                </a:r>
                <a:r>
                  <a:rPr lang="en-US" sz="2200" b="0" i="0">
                    <a:latin typeface="+mn-lt"/>
                    <a:ea typeface="Cambria Math" panose="02040503050406030204" pitchFamily="18" charset="0"/>
                  </a:rPr>
                  <a:t>𝜆</a:t>
                </a:r>
                <a:r>
                  <a:rPr lang="en-US" sz="2200" b="0" i="0" dirty="0">
                    <a:latin typeface="+mn-lt"/>
                  </a:rPr>
                  <a:t> is an eigenvalue. Eigenvector and eigenvalue are also</a:t>
                </a:r>
                <a:r>
                  <a:rPr lang="en-US" sz="2200" b="0" i="0" baseline="0" dirty="0">
                    <a:latin typeface="+mn-lt"/>
                  </a:rPr>
                  <a:t> called characteristic vector and characteristic value since </a:t>
                </a:r>
                <a:r>
                  <a:rPr lang="en-US" sz="2200" b="0" dirty="0">
                    <a:latin typeface="+mn-lt"/>
                  </a:rPr>
                  <a:t>the German word ‘eigen’ means ‘characteristic’. </a:t>
                </a:r>
              </a:p>
              <a:p>
                <a:pPr marL="457200" indent="-457200">
                  <a:buFont typeface="+mj-lt"/>
                  <a:buAutoNum type="arabicPeriod"/>
                </a:pPr>
                <a:r>
                  <a:rPr lang="en-US" sz="2200" b="0" i="0" dirty="0">
                    <a:latin typeface="+mn-lt"/>
                  </a:rPr>
                  <a:t>For example, for the identity matrix I, vector x is an eigenvector and +1 is an eigenvalue.</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51</a:t>
            </a:fld>
            <a:endParaRPr lang="en-US"/>
          </a:p>
        </p:txBody>
      </p:sp>
    </p:spTree>
    <p:extLst>
      <p:ext uri="{BB962C8B-B14F-4D97-AF65-F5344CB8AC3E}">
        <p14:creationId xmlns:p14="http://schemas.microsoft.com/office/powerpoint/2010/main" val="282243945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Some concepts closely related to eigenvalues and eigenvectors are eigenspaces, spectra, and degeneracy.</a:t>
                </a:r>
              </a:p>
              <a:p>
                <a:pPr algn="just"/>
                <a:endParaRPr lang="en-ZA" b="0" dirty="0"/>
              </a:p>
              <a:p>
                <a:pPr marL="171450" indent="-171450" algn="just">
                  <a:buFont typeface="Arial" panose="020B0604020202020204" pitchFamily="34" charset="0"/>
                  <a:buChar char="•"/>
                </a:pPr>
                <a:r>
                  <a:rPr lang="en-ZA" b="0" dirty="0"/>
                  <a:t>The eigenspace corresponding to an eigenvalue </a:t>
                </a:r>
                <a14:m>
                  <m:oMath xmlns:m="http://schemas.openxmlformats.org/officeDocument/2006/math">
                    <m:r>
                      <a:rPr lang="en-US" sz="1200" i="1" smtClean="0">
                        <a:latin typeface="Cambria Math" panose="02040503050406030204" pitchFamily="18" charset="0"/>
                        <a:ea typeface="Cambria Math" panose="02040503050406030204" pitchFamily="18" charset="0"/>
                      </a:rPr>
                      <m:t>𝜆</m:t>
                    </m:r>
                  </m:oMath>
                </a14:m>
                <a:r>
                  <a:rPr lang="en-ZA" b="0" dirty="0"/>
                  <a:t> of an operator </a:t>
                </a:r>
                <a14:m>
                  <m:oMath xmlns:m="http://schemas.openxmlformats.org/officeDocument/2006/math">
                    <m:r>
                      <a:rPr lang="sr-Latn-RS" sz="1200" b="0" i="1" smtClean="0">
                        <a:latin typeface="Cambria Math" panose="02040503050406030204" pitchFamily="18" charset="0"/>
                        <a:ea typeface="Cambria Math" panose="02040503050406030204" pitchFamily="18" charset="0"/>
                      </a:rPr>
                      <m:t>𝐴</m:t>
                    </m:r>
                  </m:oMath>
                </a14:m>
                <a:r>
                  <a:rPr lang="en-ZA" b="0" dirty="0"/>
                  <a:t> is the set of all vectors satisfying the eigenvalue equation for that eigenvalue, together with the zero vector. </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The set of all eigenvalues of an operator is called its spectrum. </a:t>
                </a:r>
              </a:p>
              <a:p>
                <a:pPr marL="171450" indent="-171450" algn="just">
                  <a:buFont typeface="Arial" panose="020B0604020202020204" pitchFamily="34" charset="0"/>
                  <a:buChar char="•"/>
                </a:pPr>
                <a:endParaRPr lang="en-ZA" b="0" dirty="0"/>
              </a:p>
              <a:p>
                <a:pPr marL="171450" indent="-171450" algn="just">
                  <a:buFont typeface="Arial" panose="020B0604020202020204" pitchFamily="34" charset="0"/>
                  <a:buChar char="•"/>
                </a:pPr>
                <a:r>
                  <a:rPr lang="en-ZA" b="0" dirty="0"/>
                  <a:t>An eigenvalue </a:t>
                </a:r>
                <a14:m>
                  <m:oMath xmlns:m="http://schemas.openxmlformats.org/officeDocument/2006/math">
                    <m:r>
                      <a:rPr lang="en-US" sz="1200" i="1" smtClean="0">
                        <a:latin typeface="Cambria Math" panose="02040503050406030204" pitchFamily="18" charset="0"/>
                        <a:ea typeface="Cambria Math" panose="02040503050406030204" pitchFamily="18" charset="0"/>
                      </a:rPr>
                      <m:t>𝜆</m:t>
                    </m:r>
                  </m:oMath>
                </a14:m>
                <a:r>
                  <a:rPr lang="en-ZA" b="0" dirty="0"/>
                  <a:t> of an operator </a:t>
                </a:r>
                <a14:m>
                  <m:oMath xmlns:m="http://schemas.openxmlformats.org/officeDocument/2006/math">
                    <m:r>
                      <a:rPr lang="sr-Latn-RS" sz="1200" b="0" i="1" smtClean="0">
                        <a:latin typeface="Cambria Math" panose="02040503050406030204" pitchFamily="18" charset="0"/>
                        <a:ea typeface="Cambria Math" panose="02040503050406030204" pitchFamily="18" charset="0"/>
                      </a:rPr>
                      <m:t>𝐴</m:t>
                    </m:r>
                  </m:oMath>
                </a14:m>
                <a:r>
                  <a:rPr lang="en-ZA" b="0" dirty="0"/>
                  <a:t> is degenerate if there are two or more linearly independent eigenvectors corresponding to the same eigenvalue.</a:t>
                </a:r>
              </a:p>
            </p:txBody>
          </p:sp>
        </mc:Choice>
        <mc:Fallback xmlns="">
          <p:sp>
            <p:nvSpPr>
              <p:cNvPr id="3" name="Notes Placeholder 2"/>
              <p:cNvSpPr>
                <a:spLocks noGrp="1"/>
              </p:cNvSpPr>
              <p:nvPr>
                <p:ph type="body" idx="1"/>
              </p:nvPr>
            </p:nvSpPr>
            <p:spPr/>
            <p:txBody>
              <a:bodyPr/>
              <a:lstStyle/>
              <a:p>
                <a:pPr marL="457200" indent="-457200">
                  <a:buFont typeface="+mj-lt"/>
                  <a:buAutoNum type="arabicPeriod"/>
                </a:pPr>
                <a:r>
                  <a:rPr lang="en-US" sz="2200" b="0" dirty="0">
                    <a:latin typeface="+mn-lt"/>
                  </a:rPr>
                  <a:t>If a matrix </a:t>
                </a:r>
                <a:r>
                  <a:rPr lang="en-US" sz="2200" b="0" i="1" dirty="0">
                    <a:latin typeface="+mn-lt"/>
                  </a:rPr>
                  <a:t>A</a:t>
                </a:r>
                <a:r>
                  <a:rPr lang="en-US" sz="2200" b="0" dirty="0">
                    <a:latin typeface="+mn-lt"/>
                  </a:rPr>
                  <a:t> acts on vector x by stretching it, without changing its direction, then the vector x is an eigenvector for</a:t>
                </a:r>
                <a:r>
                  <a:rPr lang="en-US" sz="2200" b="0" baseline="0" dirty="0">
                    <a:latin typeface="+mn-lt"/>
                  </a:rPr>
                  <a:t> transformation A</a:t>
                </a:r>
                <a:r>
                  <a:rPr lang="en-US" sz="2200" b="0" dirty="0">
                    <a:latin typeface="+mn-lt"/>
                  </a:rPr>
                  <a:t> and scalar </a:t>
                </a:r>
                <a:r>
                  <a:rPr lang="en-US" sz="2200" b="0" i="0">
                    <a:latin typeface="+mn-lt"/>
                    <a:ea typeface="Cambria Math" panose="02040503050406030204" pitchFamily="18" charset="0"/>
                  </a:rPr>
                  <a:t>𝜆</a:t>
                </a:r>
                <a:r>
                  <a:rPr lang="en-US" sz="2200" b="0" i="0" dirty="0">
                    <a:latin typeface="+mn-lt"/>
                  </a:rPr>
                  <a:t> is an eigenvalue. Eigenvector and eigenvalue are also</a:t>
                </a:r>
                <a:r>
                  <a:rPr lang="en-US" sz="2200" b="0" i="0" baseline="0" dirty="0">
                    <a:latin typeface="+mn-lt"/>
                  </a:rPr>
                  <a:t> called characteristic vector and characteristic value since </a:t>
                </a:r>
                <a:r>
                  <a:rPr lang="en-US" sz="2200" b="0" dirty="0">
                    <a:latin typeface="+mn-lt"/>
                  </a:rPr>
                  <a:t>the German word ‘eigen’ means ‘characteristic’. </a:t>
                </a:r>
              </a:p>
              <a:p>
                <a:pPr marL="457200" indent="-457200">
                  <a:buFont typeface="+mj-lt"/>
                  <a:buAutoNum type="arabicPeriod"/>
                </a:pPr>
                <a:r>
                  <a:rPr lang="en-US" sz="2200" b="0" i="0" dirty="0">
                    <a:latin typeface="+mn-lt"/>
                  </a:rPr>
                  <a:t>For example, for the identity matrix I, vector x is an eigenvector and +1 is an eigenvalue.</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52</a:t>
            </a:fld>
            <a:endParaRPr lang="en-US"/>
          </a:p>
        </p:txBody>
      </p:sp>
    </p:spTree>
    <p:extLst>
      <p:ext uri="{BB962C8B-B14F-4D97-AF65-F5344CB8AC3E}">
        <p14:creationId xmlns:p14="http://schemas.microsoft.com/office/powerpoint/2010/main" val="30691347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solidFill>
                      <a:schemeClr val="tx1"/>
                    </a:solidFill>
                    <a:latin typeface="+mn-lt"/>
                  </a:rPr>
                  <a:t>The eigenvalues of an operator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𝐴</m:t>
                    </m:r>
                  </m:oMath>
                </a14:m>
                <a:r>
                  <a:rPr lang="el-GR" b="0" dirty="0">
                    <a:solidFill>
                      <a:schemeClr val="tx1"/>
                    </a:solidFill>
                    <a:latin typeface="+mn-lt"/>
                  </a:rPr>
                  <a:t> </a:t>
                </a:r>
                <a:r>
                  <a:rPr lang="en-ZA" b="0" dirty="0">
                    <a:solidFill>
                      <a:schemeClr val="tx1"/>
                    </a:solidFill>
                    <a:latin typeface="+mn-lt"/>
                  </a:rPr>
                  <a:t>are determined by solving the characteristic equation:</a:t>
                </a:r>
              </a:p>
              <a:p>
                <a:pPr algn="just"/>
                <a14:m>
                  <m:oMath xmlns:m="http://schemas.openxmlformats.org/officeDocument/2006/math">
                    <m:r>
                      <a:rPr lang="en-US" sz="1200" b="0" i="1" smtClean="0">
                        <a:latin typeface="Cambria Math" panose="02040503050406030204" pitchFamily="18" charset="0"/>
                      </a:rPr>
                      <m:t>𝑑𝑒𝑡</m:t>
                    </m:r>
                    <m:r>
                      <a:rPr lang="en-US" sz="1200" b="0" i="1" smtClean="0">
                        <a:latin typeface="Cambria Math" panose="02040503050406030204" pitchFamily="18" charset="0"/>
                      </a:rPr>
                      <m:t> </m:t>
                    </m:r>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𝐴</m:t>
                        </m:r>
                        <m:r>
                          <a:rPr lang="en-US" sz="1200" b="0" i="1" smtClean="0">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𝜆</m:t>
                        </m:r>
                        <m:r>
                          <a:rPr lang="en-US" sz="1200" b="0" i="1" smtClean="0">
                            <a:latin typeface="Cambria Math" panose="02040503050406030204" pitchFamily="18" charset="0"/>
                            <a:ea typeface="Cambria Math" panose="02040503050406030204" pitchFamily="18" charset="0"/>
                          </a:rPr>
                          <m:t>𝐼</m:t>
                        </m:r>
                      </m:e>
                    </m:d>
                    <m:r>
                      <a:rPr lang="en-US" sz="1200" b="0" i="1" smtClean="0">
                        <a:latin typeface="Cambria Math" panose="02040503050406030204" pitchFamily="18" charset="0"/>
                        <a:ea typeface="Cambria Math" panose="02040503050406030204" pitchFamily="18" charset="0"/>
                      </a:rPr>
                      <m:t>=0</m:t>
                    </m:r>
                  </m:oMath>
                </a14:m>
                <a:r>
                  <a:rPr lang="en-ZA" b="0" dirty="0">
                    <a:solidFill>
                      <a:schemeClr val="tx1"/>
                    </a:solidFill>
                    <a:latin typeface="+mn-lt"/>
                  </a:rPr>
                  <a:t>. Once the eigenvalues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𝜆</m:t>
                    </m:r>
                  </m:oMath>
                </a14:m>
                <a:r>
                  <a:rPr lang="el-GR" b="0" dirty="0">
                    <a:solidFill>
                      <a:schemeClr val="tx1"/>
                    </a:solidFill>
                    <a:latin typeface="+mn-lt"/>
                  </a:rPr>
                  <a:t> </a:t>
                </a:r>
                <a:r>
                  <a:rPr lang="en-ZA" b="0" dirty="0">
                    <a:solidFill>
                      <a:schemeClr val="tx1"/>
                    </a:solidFill>
                    <a:latin typeface="+mn-lt"/>
                  </a:rPr>
                  <a:t>are found, they are substituted into the eigenvalue equation to determine the corresponding eigenvectors.</a:t>
                </a:r>
              </a:p>
              <a:p>
                <a:pPr algn="just"/>
                <a:endParaRPr lang="en-ZA" b="0" dirty="0">
                  <a:solidFill>
                    <a:schemeClr val="tx1"/>
                  </a:solidFill>
                  <a:latin typeface="+mn-lt"/>
                </a:endParaRPr>
              </a:p>
              <a:p>
                <a:pPr marL="228600" indent="-228600" algn="just">
                  <a:buFont typeface="+mj-lt"/>
                  <a:buAutoNum type="arabicPeriod"/>
                </a:pPr>
                <a:r>
                  <a:rPr lang="en-ZA" b="0" dirty="0">
                    <a:solidFill>
                      <a:schemeClr val="tx1"/>
                    </a:solidFill>
                    <a:latin typeface="+mn-lt"/>
                  </a:rPr>
                  <a:t>As an example, consider the eigenvalues of the Pauli </a:t>
                </a:r>
                <a14:m>
                  <m:oMath xmlns:m="http://schemas.openxmlformats.org/officeDocument/2006/math">
                    <m:r>
                      <a:rPr lang="en-US" sz="1200" b="0" i="1" smtClean="0">
                        <a:solidFill>
                          <a:schemeClr val="tx1"/>
                        </a:solidFill>
                        <a:latin typeface="Cambria Math" panose="02040503050406030204" pitchFamily="18" charset="0"/>
                        <a:ea typeface="Cambria Math" panose="02040503050406030204" pitchFamily="18" charset="0"/>
                      </a:rPr>
                      <m:t>𝑋</m:t>
                    </m:r>
                  </m:oMath>
                </a14:m>
                <a:r>
                  <a:rPr lang="en-ZA" b="0" dirty="0">
                    <a:solidFill>
                      <a:schemeClr val="tx1"/>
                    </a:solidFill>
                    <a:latin typeface="+mn-lt"/>
                  </a:rPr>
                  <a:t> matrix. </a:t>
                </a:r>
              </a:p>
              <a:p>
                <a:pPr marL="228600" indent="-228600" algn="just">
                  <a:buFont typeface="+mj-lt"/>
                  <a:buAutoNum type="arabicPeriod"/>
                </a:pPr>
                <a:endParaRPr lang="en-ZA" b="0" dirty="0">
                  <a:solidFill>
                    <a:schemeClr val="tx1"/>
                  </a:solidFill>
                  <a:latin typeface="+mn-lt"/>
                </a:endParaRPr>
              </a:p>
              <a:p>
                <a:pPr marL="228600" indent="-228600" algn="just">
                  <a:buFont typeface="+mj-lt"/>
                  <a:buAutoNum type="arabicPeriod"/>
                </a:pPr>
                <a:r>
                  <a:rPr lang="en-ZA" b="0" dirty="0">
                    <a:solidFill>
                      <a:schemeClr val="tx1"/>
                    </a:solidFill>
                    <a:latin typeface="+mn-lt"/>
                  </a:rPr>
                  <a:t>The first step is to write the characteristic equation:</a:t>
                </a:r>
                <a:r>
                  <a:rPr lang="en-ZA" b="0" baseline="0" dirty="0">
                    <a:solidFill>
                      <a:schemeClr val="tx1"/>
                    </a:solidFill>
                    <a:latin typeface="+mn-lt"/>
                  </a:rPr>
                  <a:t> </a:t>
                </a:r>
                <a14:m>
                  <m:oMath xmlns:m="http://schemas.openxmlformats.org/officeDocument/2006/math">
                    <m:r>
                      <a:rPr lang="en-US" sz="1200" b="0" i="1" smtClean="0">
                        <a:solidFill>
                          <a:schemeClr val="tx1"/>
                        </a:solidFill>
                        <a:latin typeface="Cambria Math" panose="02040503050406030204" pitchFamily="18" charset="0"/>
                      </a:rPr>
                      <m:t>𝑑𝑒𝑡</m:t>
                    </m:r>
                    <m:r>
                      <a:rPr lang="en-US" sz="1200" b="0" i="1" smtClean="0">
                        <a:solidFill>
                          <a:schemeClr val="tx1"/>
                        </a:solidFill>
                        <a:latin typeface="Cambria Math" panose="02040503050406030204" pitchFamily="18" charset="0"/>
                      </a:rPr>
                      <m:t> (</m:t>
                    </m:r>
                    <m:r>
                      <a:rPr lang="en-US" sz="1200" b="0" i="1" smtClean="0">
                        <a:solidFill>
                          <a:schemeClr val="tx1"/>
                        </a:solidFill>
                        <a:latin typeface="Cambria Math" panose="02040503050406030204" pitchFamily="18" charset="0"/>
                      </a:rPr>
                      <m:t>𝐴</m:t>
                    </m:r>
                    <m:r>
                      <a:rPr lang="en-US" sz="1200" b="0" i="1" smtClean="0">
                        <a:solidFill>
                          <a:schemeClr val="tx1"/>
                        </a:solidFill>
                        <a:latin typeface="Cambria Math" panose="02040503050406030204" pitchFamily="18" charset="0"/>
                      </a:rPr>
                      <m:t>−</m:t>
                    </m:r>
                    <m:r>
                      <a:rPr lang="en-US" sz="1200" i="1">
                        <a:solidFill>
                          <a:schemeClr val="tx1"/>
                        </a:solidFill>
                        <a:latin typeface="Cambria Math" panose="02040503050406030204" pitchFamily="18" charset="0"/>
                        <a:ea typeface="Cambria Math" panose="02040503050406030204" pitchFamily="18" charset="0"/>
                      </a:rPr>
                      <m:t>𝜆</m:t>
                    </m:r>
                  </m:oMath>
                </a14:m>
                <a:r>
                  <a:rPr lang="en-US" sz="1200" i="1" dirty="0">
                    <a:solidFill>
                      <a:schemeClr val="tx1"/>
                    </a:solidFill>
                  </a:rPr>
                  <a:t>I)</a:t>
                </a:r>
                <a:r>
                  <a:rPr lang="en-ZA" b="0" dirty="0">
                    <a:solidFill>
                      <a:schemeClr val="tx1"/>
                    </a:solidFill>
                    <a:latin typeface="+mn-lt"/>
                  </a:rPr>
                  <a:t>. Computing the determinant results in the equation:</a:t>
                </a:r>
                <a:r>
                  <a:rPr lang="en-ZA" b="0" baseline="0" dirty="0">
                    <a:solidFill>
                      <a:schemeClr val="tx1"/>
                    </a:solidFill>
                    <a:latin typeface="+mn-lt"/>
                  </a:rPr>
                  <a:t> </a:t>
                </a:r>
                <a14:m>
                  <m:oMath xmlns:m="http://schemas.openxmlformats.org/officeDocument/2006/math">
                    <m:sSup>
                      <m:sSupPr>
                        <m:ctrlPr>
                          <a:rPr lang="en-US" sz="1200" b="0" i="1" smtClean="0">
                            <a:solidFill>
                              <a:schemeClr val="tx1"/>
                            </a:solidFill>
                            <a:latin typeface="Cambria Math" panose="02040503050406030204" pitchFamily="18" charset="0"/>
                            <a:ea typeface="Cambria Math" panose="02040503050406030204" pitchFamily="18" charset="0"/>
                          </a:rPr>
                        </m:ctrlPr>
                      </m:sSupPr>
                      <m:e>
                        <m:r>
                          <a:rPr lang="en-US" sz="1200" b="0" i="1" smtClean="0">
                            <a:solidFill>
                              <a:schemeClr val="tx1"/>
                            </a:solidFill>
                            <a:latin typeface="Cambria Math" panose="02040503050406030204" pitchFamily="18" charset="0"/>
                            <a:ea typeface="Cambria Math" panose="02040503050406030204" pitchFamily="18" charset="0"/>
                          </a:rPr>
                          <m:t>𝜆</m:t>
                        </m:r>
                      </m:e>
                      <m:sup>
                        <m:r>
                          <a:rPr lang="en-US" sz="1200" b="0" i="1" smtClean="0">
                            <a:solidFill>
                              <a:schemeClr val="tx1"/>
                            </a:solidFill>
                            <a:latin typeface="Cambria Math" panose="02040503050406030204" pitchFamily="18" charset="0"/>
                            <a:ea typeface="Cambria Math" panose="02040503050406030204" pitchFamily="18" charset="0"/>
                          </a:rPr>
                          <m:t>2</m:t>
                        </m:r>
                      </m:sup>
                    </m:sSup>
                    <m:r>
                      <a:rPr lang="en-US" sz="1200" b="0" i="1" smtClean="0">
                        <a:solidFill>
                          <a:schemeClr val="tx1"/>
                        </a:solidFill>
                        <a:latin typeface="Cambria Math" panose="02040503050406030204" pitchFamily="18" charset="0"/>
                        <a:ea typeface="Cambria Math" panose="02040503050406030204" pitchFamily="18" charset="0"/>
                      </a:rPr>
                      <m:t>−1=0</m:t>
                    </m:r>
                  </m:oMath>
                </a14:m>
                <a:r>
                  <a:rPr lang="el-GR" b="0" dirty="0">
                    <a:solidFill>
                      <a:schemeClr val="tx1"/>
                    </a:solidFill>
                    <a:latin typeface="+mn-lt"/>
                  </a:rPr>
                  <a:t>,</a:t>
                </a:r>
                <a:r>
                  <a:rPr lang="en-US" b="0" dirty="0">
                    <a:solidFill>
                      <a:schemeClr val="tx1"/>
                    </a:solidFill>
                    <a:latin typeface="+mn-lt"/>
                  </a:rPr>
                  <a:t> </a:t>
                </a:r>
                <a:r>
                  <a:rPr lang="en-ZA" b="0" dirty="0">
                    <a:solidFill>
                      <a:schemeClr val="tx1"/>
                    </a:solidFill>
                    <a:latin typeface="+mn-lt"/>
                  </a:rPr>
                  <a:t>which has the solutions:</a:t>
                </a:r>
                <a:r>
                  <a:rPr lang="en-ZA" b="0" baseline="0" dirty="0">
                    <a:solidFill>
                      <a:schemeClr val="tx1"/>
                    </a:solidFill>
                    <a:latin typeface="+mn-lt"/>
                  </a:rPr>
                  <a:t> </a:t>
                </a:r>
                <a14:m>
                  <m:oMath xmlns:m="http://schemas.openxmlformats.org/officeDocument/2006/math">
                    <m:sSub>
                      <m:sSubPr>
                        <m:ctrlPr>
                          <a:rPr lang="en-US" sz="1200" b="0" i="1" smtClean="0">
                            <a:solidFill>
                              <a:schemeClr val="tx1"/>
                            </a:solidFill>
                            <a:latin typeface="Cambria Math" panose="02040503050406030204" pitchFamily="18" charset="0"/>
                            <a:ea typeface="Cambria Math" panose="02040503050406030204" pitchFamily="18" charset="0"/>
                          </a:rPr>
                        </m:ctrlPr>
                      </m:sSubPr>
                      <m:e>
                        <m:r>
                          <a:rPr lang="en-US" sz="1200" b="0" i="1" smtClean="0">
                            <a:solidFill>
                              <a:schemeClr val="tx1"/>
                            </a:solidFill>
                            <a:latin typeface="Cambria Math" panose="02040503050406030204" pitchFamily="18" charset="0"/>
                            <a:ea typeface="Cambria Math" panose="02040503050406030204" pitchFamily="18" charset="0"/>
                          </a:rPr>
                          <m:t>𝜆</m:t>
                        </m:r>
                      </m:e>
                      <m:sub>
                        <m:r>
                          <a:rPr lang="en-US" sz="1200" b="0" i="1" smtClean="0">
                            <a:solidFill>
                              <a:schemeClr val="tx1"/>
                            </a:solidFill>
                            <a:latin typeface="Cambria Math" panose="02040503050406030204" pitchFamily="18" charset="0"/>
                            <a:ea typeface="Cambria Math" panose="02040503050406030204" pitchFamily="18" charset="0"/>
                          </a:rPr>
                          <m:t>1,2</m:t>
                        </m:r>
                      </m:sub>
                    </m:sSub>
                    <m:r>
                      <a:rPr lang="en-US" sz="1200" b="0" i="1" smtClean="0">
                        <a:solidFill>
                          <a:schemeClr val="tx1"/>
                        </a:solidFill>
                        <a:latin typeface="Cambria Math" panose="02040503050406030204" pitchFamily="18" charset="0"/>
                        <a:ea typeface="Cambria Math" panose="02040503050406030204" pitchFamily="18" charset="0"/>
                      </a:rPr>
                      <m:t>=±1</m:t>
                    </m:r>
                  </m:oMath>
                </a14:m>
                <a:r>
                  <a:rPr lang="el-GR" b="0" dirty="0">
                    <a:solidFill>
                      <a:schemeClr val="tx1"/>
                    </a:solidFill>
                    <a:latin typeface="+mn-lt"/>
                  </a:rPr>
                  <a:t>.</a:t>
                </a:r>
                <a:r>
                  <a:rPr lang="en-US" b="0" dirty="0">
                    <a:solidFill>
                      <a:schemeClr val="tx1"/>
                    </a:solidFill>
                    <a:latin typeface="+mn-lt"/>
                  </a:rPr>
                  <a:t> </a:t>
                </a:r>
              </a:p>
              <a:p>
                <a:pPr marL="228600" indent="-228600" algn="just">
                  <a:buFont typeface="+mj-lt"/>
                  <a:buAutoNum type="arabicPeriod"/>
                </a:pPr>
                <a:endParaRPr lang="en-US" b="0" dirty="0">
                  <a:solidFill>
                    <a:schemeClr val="tx1"/>
                  </a:solidFill>
                  <a:latin typeface="+mn-lt"/>
                </a:endParaRPr>
              </a:p>
              <a:p>
                <a:pPr marL="228600" indent="-228600" algn="l">
                  <a:buFont typeface="+mj-lt"/>
                  <a:buAutoNum type="arabicPeriod"/>
                </a:pPr>
                <a:r>
                  <a:rPr lang="en-ZA" dirty="0"/>
                  <a:t>To find the first eigenvector </a:t>
                </a:r>
                <a14:m>
                  <m:oMath xmlns:m="http://schemas.openxmlformats.org/officeDocument/2006/math">
                    <m:d>
                      <m:dPr>
                        <m:begChr m:val="|"/>
                        <m:endChr m:val="⟩"/>
                        <m:ctrlPr>
                          <a:rPr lang="en-US" sz="1200" i="1" smtClean="0">
                            <a:solidFill>
                              <a:schemeClr val="tx1"/>
                            </a:solidFill>
                            <a:latin typeface="Cambria Math" panose="02040503050406030204" pitchFamily="18" charset="0"/>
                          </a:rPr>
                        </m:ctrlPr>
                      </m:dPr>
                      <m:e>
                        <m:r>
                          <a:rPr lang="en-US" sz="1200" i="1">
                            <a:solidFill>
                              <a:schemeClr val="tx1"/>
                            </a:solidFill>
                            <a:latin typeface="Cambria Math" panose="02040503050406030204" pitchFamily="18" charset="0"/>
                          </a:rPr>
                          <m:t>𝑥</m:t>
                        </m:r>
                      </m:e>
                    </m:d>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𝑎</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𝑏</m:t>
                    </m:r>
                    <m:r>
                      <a:rPr lang="en-US" sz="1200" b="0" i="1" smtClean="0">
                        <a:solidFill>
                          <a:schemeClr val="tx1"/>
                        </a:solidFill>
                        <a:latin typeface="Cambria Math" panose="02040503050406030204" pitchFamily="18" charset="0"/>
                      </a:rPr>
                      <m:t>)</m:t>
                    </m:r>
                  </m:oMath>
                </a14:m>
                <a:r>
                  <a:rPr lang="en-ZA" dirty="0"/>
                  <a:t> we substitute </a:t>
                </a:r>
                <a14:m>
                  <m:oMath xmlns:m="http://schemas.openxmlformats.org/officeDocument/2006/math">
                    <m:sSub>
                      <m:sSubPr>
                        <m:ctrlPr>
                          <a:rPr lang="en-US" sz="1200" b="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𝜆</m:t>
                        </m:r>
                      </m:e>
                      <m:sub>
                        <m:r>
                          <a:rPr lang="en-US" sz="1200" b="0" i="1" smtClean="0">
                            <a:latin typeface="Cambria Math" panose="02040503050406030204" pitchFamily="18" charset="0"/>
                            <a:ea typeface="Cambria Math" panose="02040503050406030204" pitchFamily="18" charset="0"/>
                          </a:rPr>
                          <m:t>1</m:t>
                        </m:r>
                      </m:sub>
                    </m:sSub>
                  </m:oMath>
                </a14:m>
                <a:r>
                  <a:rPr lang="el-GR" dirty="0"/>
                  <a:t> </a:t>
                </a:r>
                <a:r>
                  <a:rPr lang="en-ZA" dirty="0"/>
                  <a:t>into the eigenvalue equation: </a:t>
                </a:r>
                <a:r>
                  <a:rPr lang="en-US" sz="1200" i="1" dirty="0"/>
                  <a:t>X</a:t>
                </a:r>
                <a14:m>
                  <m:oMath xmlns:m="http://schemas.openxmlformats.org/officeDocument/2006/math">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b="1" i="1">
                        <a:latin typeface="Cambria Math" panose="02040503050406030204" pitchFamily="18" charset="0"/>
                      </a:rPr>
                      <m:t>=</m:t>
                    </m:r>
                    <m:r>
                      <a:rPr lang="en-US" sz="1200" i="1">
                        <a:latin typeface="Cambria Math" panose="02040503050406030204" pitchFamily="18" charset="0"/>
                        <a:ea typeface="Cambria Math" panose="02040503050406030204" pitchFamily="18" charset="0"/>
                      </a:rPr>
                      <m:t>𝜆</m:t>
                    </m:r>
                    <m:d>
                      <m:dPr>
                        <m:begChr m:val="|"/>
                        <m:endChr m:val="⟩"/>
                        <m:ctrlPr>
                          <a:rPr lang="en-US" sz="1200" i="1">
                            <a:latin typeface="Cambria Math" panose="02040503050406030204" pitchFamily="18" charset="0"/>
                          </a:rPr>
                        </m:ctrlPr>
                      </m:dPr>
                      <m:e>
                        <m:r>
                          <a:rPr lang="en-US" sz="1200" i="1">
                            <a:latin typeface="Cambria Math" panose="02040503050406030204" pitchFamily="18" charset="0"/>
                          </a:rPr>
                          <m:t>𝑥</m:t>
                        </m:r>
                      </m:e>
                    </m:d>
                  </m:oMath>
                </a14:m>
                <a:r>
                  <a:rPr lang="en-ZA" dirty="0"/>
                  <a:t>.</a:t>
                </a:r>
                <a:r>
                  <a:rPr lang="en-ZA" baseline="0" dirty="0"/>
                  <a:t> </a:t>
                </a:r>
                <a:r>
                  <a:rPr lang="en-ZA" dirty="0"/>
                  <a:t>From this equation, we find that </a:t>
                </a:r>
                <a14:m>
                  <m:oMath xmlns:m="http://schemas.openxmlformats.org/officeDocument/2006/math">
                    <m:r>
                      <a:rPr lang="en-US" sz="1200" b="0" i="1" smtClean="0">
                        <a:solidFill>
                          <a:schemeClr val="tx1"/>
                        </a:solidFill>
                        <a:latin typeface="Cambria Math" panose="02040503050406030204" pitchFamily="18" charset="0"/>
                      </a:rPr>
                      <m:t>𝑎</m:t>
                    </m:r>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𝑏</m:t>
                    </m:r>
                  </m:oMath>
                </a14:m>
                <a:r>
                  <a:rPr lang="en-ZA" dirty="0"/>
                  <a:t>. Since state vectors must be normalized, their norm must be 1:</a:t>
                </a:r>
                <a:br>
                  <a:rPr lang="en-ZA" dirty="0"/>
                </a:br>
                <a14:m>
                  <m:oMath xmlns:m="http://schemas.openxmlformats.org/officeDocument/2006/math">
                    <m:sSup>
                      <m:sSupPr>
                        <m:ctrlPr>
                          <a:rPr lang="en-US" sz="120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𝑎</m:t>
                        </m:r>
                        <m:r>
                          <a:rPr lang="en-US" sz="1200" b="0" i="1" smtClean="0">
                            <a:solidFill>
                              <a:schemeClr val="tx1"/>
                            </a:solidFill>
                            <a:latin typeface="Cambria Math" panose="02040503050406030204" pitchFamily="18" charset="0"/>
                          </a:rPr>
                          <m:t>|</m:t>
                        </m:r>
                      </m:e>
                      <m:sup>
                        <m:r>
                          <a:rPr lang="en-US" sz="1200" b="0" i="1" smtClean="0">
                            <a:solidFill>
                              <a:schemeClr val="tx1"/>
                            </a:solidFill>
                            <a:latin typeface="Cambria Math" panose="02040503050406030204" pitchFamily="18" charset="0"/>
                          </a:rPr>
                          <m:t>2</m:t>
                        </m:r>
                      </m:sup>
                    </m:sSup>
                    <m:r>
                      <a:rPr lang="en-US" sz="1200" b="0" i="1" smtClean="0">
                        <a:solidFill>
                          <a:schemeClr val="tx1"/>
                        </a:solidFill>
                        <a:latin typeface="Cambria Math" panose="02040503050406030204" pitchFamily="18" charset="0"/>
                      </a:rPr>
                      <m:t>+</m:t>
                    </m:r>
                    <m:sSup>
                      <m:sSupPr>
                        <m:ctrlPr>
                          <a:rPr lang="en-US" sz="1200" i="1" smtClean="0">
                            <a:solidFill>
                              <a:schemeClr val="tx1"/>
                            </a:solidFill>
                            <a:latin typeface="Cambria Math" panose="02040503050406030204" pitchFamily="18" charset="0"/>
                          </a:rPr>
                        </m:ctrlPr>
                      </m:sSupPr>
                      <m:e>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𝑏</m:t>
                        </m:r>
                        <m:r>
                          <a:rPr lang="en-US" sz="1200" b="0" i="1" smtClean="0">
                            <a:solidFill>
                              <a:schemeClr val="tx1"/>
                            </a:solidFill>
                            <a:latin typeface="Cambria Math" panose="02040503050406030204" pitchFamily="18" charset="0"/>
                          </a:rPr>
                          <m:t>|</m:t>
                        </m:r>
                      </m:e>
                      <m:sup>
                        <m:r>
                          <a:rPr lang="en-US" sz="1200" b="0" i="1" smtClean="0">
                            <a:solidFill>
                              <a:schemeClr val="tx1"/>
                            </a:solidFill>
                            <a:latin typeface="Cambria Math" panose="02040503050406030204" pitchFamily="18" charset="0"/>
                          </a:rPr>
                          <m:t>2</m:t>
                        </m:r>
                      </m:sup>
                    </m:sSup>
                    <m:r>
                      <a:rPr lang="en-US" sz="1200" b="0" i="1" smtClean="0">
                        <a:solidFill>
                          <a:schemeClr val="tx1"/>
                        </a:solidFill>
                        <a:latin typeface="Cambria Math" panose="02040503050406030204" pitchFamily="18" charset="0"/>
                      </a:rPr>
                      <m:t>=1</m:t>
                    </m:r>
                  </m:oMath>
                </a14:m>
                <a:r>
                  <a:rPr lang="en-ZA" dirty="0"/>
                  <a:t>. This condition is satisfied only when both coefficients are:</a:t>
                </a:r>
                <a:r>
                  <a:rPr lang="en-ZA" baseline="0" dirty="0"/>
                  <a:t> </a:t>
                </a:r>
                <a14:m>
                  <m:oMath xmlns:m="http://schemas.openxmlformats.org/officeDocument/2006/math">
                    <m:r>
                      <a:rPr lang="en-US" sz="1200" i="1" smtClean="0">
                        <a:solidFill>
                          <a:schemeClr val="tx1"/>
                        </a:solidFill>
                        <a:latin typeface="Cambria Math" panose="02040503050406030204" pitchFamily="18" charset="0"/>
                        <a:ea typeface="Cambria Math" panose="02040503050406030204" pitchFamily="18" charset="0"/>
                      </a:rPr>
                      <m:t>𝑎</m:t>
                    </m:r>
                    <m:r>
                      <a:rPr lang="en-US" sz="1200" i="1" smtClean="0">
                        <a:solidFill>
                          <a:schemeClr val="tx1"/>
                        </a:solidFill>
                        <a:latin typeface="Cambria Math" panose="02040503050406030204" pitchFamily="18" charset="0"/>
                        <a:ea typeface="Cambria Math" panose="02040503050406030204" pitchFamily="18" charset="0"/>
                      </a:rPr>
                      <m:t>=</m:t>
                    </m:r>
                    <m:r>
                      <a:rPr lang="en-US" sz="1200" i="1" smtClean="0">
                        <a:solidFill>
                          <a:schemeClr val="tx1"/>
                        </a:solidFill>
                        <a:latin typeface="Cambria Math" panose="02040503050406030204" pitchFamily="18" charset="0"/>
                        <a:ea typeface="Cambria Math" panose="02040503050406030204" pitchFamily="18" charset="0"/>
                      </a:rPr>
                      <m:t>𝑏</m:t>
                    </m:r>
                    <m:r>
                      <a:rPr lang="en-US" sz="1200" i="1" smtClean="0">
                        <a:solidFill>
                          <a:schemeClr val="tx1"/>
                        </a:solidFill>
                        <a:latin typeface="Cambria Math" panose="02040503050406030204" pitchFamily="18" charset="0"/>
                        <a:ea typeface="Cambria Math" panose="02040503050406030204" pitchFamily="18" charset="0"/>
                      </a:rPr>
                      <m:t>=</m:t>
                    </m:r>
                    <m:f>
                      <m:fPr>
                        <m:type m:val="lin"/>
                        <m:ctrlPr>
                          <a:rPr lang="en-US" sz="1200" i="1" smtClean="0">
                            <a:solidFill>
                              <a:schemeClr val="tx1"/>
                            </a:solidFill>
                            <a:latin typeface="Cambria Math" panose="02040503050406030204" pitchFamily="18" charset="0"/>
                            <a:ea typeface="Cambria Math" panose="02040503050406030204" pitchFamily="18" charset="0"/>
                          </a:rPr>
                        </m:ctrlPr>
                      </m:fPr>
                      <m:num>
                        <m:r>
                          <a:rPr lang="en-US" sz="1200" b="0" i="1" smtClean="0">
                            <a:solidFill>
                              <a:schemeClr val="tx1"/>
                            </a:solidFill>
                            <a:latin typeface="Cambria Math" panose="02040503050406030204" pitchFamily="18" charset="0"/>
                            <a:ea typeface="Cambria Math" panose="02040503050406030204" pitchFamily="18" charset="0"/>
                          </a:rPr>
                          <m:t>1</m:t>
                        </m:r>
                      </m:num>
                      <m:den>
                        <m:rad>
                          <m:radPr>
                            <m:degHide m:val="on"/>
                            <m:ctrlPr>
                              <a:rPr lang="en-US" sz="1200" i="1" smtClean="0">
                                <a:solidFill>
                                  <a:schemeClr val="tx1"/>
                                </a:solidFill>
                                <a:latin typeface="Cambria Math" panose="02040503050406030204" pitchFamily="18" charset="0"/>
                                <a:ea typeface="Cambria Math" panose="02040503050406030204" pitchFamily="18" charset="0"/>
                              </a:rPr>
                            </m:ctrlPr>
                          </m:radPr>
                          <m:deg/>
                          <m:e>
                            <m:r>
                              <a:rPr lang="en-US" sz="1200" b="0" i="1" smtClean="0">
                                <a:solidFill>
                                  <a:schemeClr val="tx1"/>
                                </a:solidFill>
                                <a:latin typeface="Cambria Math" panose="02040503050406030204" pitchFamily="18" charset="0"/>
                                <a:ea typeface="Cambria Math" panose="02040503050406030204" pitchFamily="18" charset="0"/>
                              </a:rPr>
                              <m:t>2</m:t>
                            </m:r>
                          </m:e>
                        </m:rad>
                      </m:den>
                    </m:f>
                  </m:oMath>
                </a14:m>
                <a:r>
                  <a:rPr lang="en-ZA" dirty="0"/>
                  <a:t>. So, the eigenvector corresponding to </a:t>
                </a:r>
                <a14:m>
                  <m:oMath xmlns:m="http://schemas.openxmlformats.org/officeDocument/2006/math">
                    <m:sSub>
                      <m:sSubPr>
                        <m:ctrlPr>
                          <a:rPr lang="en-US" sz="1200" b="0" i="1" smtClean="0">
                            <a:latin typeface="Cambria Math" panose="02040503050406030204" pitchFamily="18" charset="0"/>
                            <a:ea typeface="Cambria Math" panose="02040503050406030204" pitchFamily="18" charset="0"/>
                          </a:rPr>
                        </m:ctrlPr>
                      </m:sSubPr>
                      <m:e>
                        <m:r>
                          <a:rPr lang="en-US" sz="1200" i="1">
                            <a:latin typeface="Cambria Math" panose="02040503050406030204" pitchFamily="18" charset="0"/>
                            <a:ea typeface="Cambria Math" panose="02040503050406030204" pitchFamily="18" charset="0"/>
                          </a:rPr>
                          <m:t>𝜆</m:t>
                        </m:r>
                      </m:e>
                      <m:sub>
                        <m:r>
                          <a:rPr lang="en-US" sz="1200" b="0" i="1" smtClean="0">
                            <a:latin typeface="Cambria Math" panose="02040503050406030204" pitchFamily="18" charset="0"/>
                            <a:ea typeface="Cambria Math" panose="02040503050406030204" pitchFamily="18" charset="0"/>
                          </a:rPr>
                          <m:t>1</m:t>
                        </m:r>
                      </m:sub>
                    </m:sSub>
                  </m:oMath>
                </a14:m>
                <a:r>
                  <a:rPr lang="el-GR" dirty="0"/>
                  <a:t> </a:t>
                </a:r>
                <a:r>
                  <a:rPr lang="en-ZA" dirty="0"/>
                  <a:t>is: </a:t>
                </a:r>
                <a14:m>
                  <m:oMath xmlns:m="http://schemas.openxmlformats.org/officeDocument/2006/math">
                    <m:d>
                      <m:dPr>
                        <m:begChr m:val="|"/>
                        <m:endChr m:val="⟩"/>
                        <m:ctrlPr>
                          <a:rPr lang="en-US" sz="1200" i="1" smtClean="0">
                            <a:latin typeface="Cambria Math" panose="02040503050406030204" pitchFamily="18" charset="0"/>
                          </a:rPr>
                        </m:ctrlPr>
                      </m:dPr>
                      <m:e>
                        <m:r>
                          <a:rPr lang="en-US" sz="1200" i="1">
                            <a:latin typeface="Cambria Math" panose="02040503050406030204" pitchFamily="18" charset="0"/>
                          </a:rPr>
                          <m:t>𝑥</m:t>
                        </m:r>
                      </m:e>
                    </m:d>
                    <m:r>
                      <a:rPr lang="en-US" sz="1200" b="0" i="1" smtClean="0">
                        <a:latin typeface="Cambria Math" panose="02040503050406030204" pitchFamily="18" charset="0"/>
                      </a:rPr>
                      <m:t>=(</m:t>
                    </m:r>
                    <m:f>
                      <m:fPr>
                        <m:type m:val="lin"/>
                        <m:ctrlPr>
                          <a:rPr lang="en-US" sz="1200" i="1" smtClean="0">
                            <a:latin typeface="Cambria Math" panose="02040503050406030204" pitchFamily="18" charset="0"/>
                            <a:ea typeface="Cambria Math" panose="02040503050406030204" pitchFamily="18" charset="0"/>
                          </a:rPr>
                        </m:ctrlPr>
                      </m:fPr>
                      <m:num>
                        <m:r>
                          <a:rPr lang="en-US" sz="1200" b="0" i="1" smtClean="0">
                            <a:latin typeface="Cambria Math" panose="02040503050406030204" pitchFamily="18" charset="0"/>
                            <a:ea typeface="Cambria Math" panose="02040503050406030204" pitchFamily="18" charset="0"/>
                          </a:rPr>
                          <m:t>1</m:t>
                        </m:r>
                      </m:num>
                      <m:den>
                        <m:rad>
                          <m:radPr>
                            <m:degHide m:val="on"/>
                            <m:ctrlPr>
                              <a:rPr lang="en-US" sz="1200" i="1">
                                <a:latin typeface="Cambria Math" panose="02040503050406030204" pitchFamily="18" charset="0"/>
                                <a:ea typeface="Cambria Math" panose="02040503050406030204" pitchFamily="18" charset="0"/>
                              </a:rPr>
                            </m:ctrlPr>
                          </m:radPr>
                          <m:deg/>
                          <m:e>
                            <m:r>
                              <a:rPr lang="en-US" sz="1200" i="1">
                                <a:latin typeface="Cambria Math" panose="02040503050406030204" pitchFamily="18" charset="0"/>
                                <a:ea typeface="Cambria Math" panose="02040503050406030204" pitchFamily="18" charset="0"/>
                              </a:rPr>
                              <m:t>2</m:t>
                            </m:r>
                          </m:e>
                        </m:rad>
                      </m:den>
                    </m:f>
                    <m:r>
                      <a:rPr lang="en-US" sz="1200" b="0" i="1" smtClean="0">
                        <a:latin typeface="Cambria Math" panose="02040503050406030204" pitchFamily="18" charset="0"/>
                        <a:ea typeface="Cambria Math" panose="02040503050406030204" pitchFamily="18" charset="0"/>
                      </a:rPr>
                      <m:t>,</m:t>
                    </m:r>
                    <m:f>
                      <m:fPr>
                        <m:type m:val="lin"/>
                        <m:ctrlPr>
                          <a:rPr lang="en-US" sz="1200" i="1" smtClean="0">
                            <a:latin typeface="Cambria Math" panose="02040503050406030204" pitchFamily="18" charset="0"/>
                            <a:ea typeface="Cambria Math" panose="02040503050406030204" pitchFamily="18" charset="0"/>
                          </a:rPr>
                        </m:ctrlPr>
                      </m:fPr>
                      <m:num>
                        <m:r>
                          <a:rPr lang="en-US" sz="1200" b="0" i="1" smtClean="0">
                            <a:latin typeface="Cambria Math" panose="02040503050406030204" pitchFamily="18" charset="0"/>
                            <a:ea typeface="Cambria Math" panose="02040503050406030204" pitchFamily="18" charset="0"/>
                          </a:rPr>
                          <m:t>1</m:t>
                        </m:r>
                      </m:num>
                      <m:den>
                        <m:rad>
                          <m:radPr>
                            <m:degHide m:val="on"/>
                            <m:ctrlPr>
                              <a:rPr lang="en-US" sz="1200" i="1">
                                <a:latin typeface="Cambria Math" panose="02040503050406030204" pitchFamily="18" charset="0"/>
                                <a:ea typeface="Cambria Math" panose="02040503050406030204" pitchFamily="18" charset="0"/>
                              </a:rPr>
                            </m:ctrlPr>
                          </m:radPr>
                          <m:deg/>
                          <m:e>
                            <m:r>
                              <a:rPr lang="en-US" sz="1200" i="1">
                                <a:latin typeface="Cambria Math" panose="02040503050406030204" pitchFamily="18" charset="0"/>
                                <a:ea typeface="Cambria Math" panose="02040503050406030204" pitchFamily="18" charset="0"/>
                              </a:rPr>
                              <m:t>2</m:t>
                            </m:r>
                          </m:e>
                        </m:rad>
                      </m:den>
                    </m:f>
                    <m:r>
                      <a:rPr lang="en-US" sz="1200" b="0" i="1" smtClean="0">
                        <a:latin typeface="Cambria Math" panose="02040503050406030204" pitchFamily="18" charset="0"/>
                      </a:rPr>
                      <m:t>)</m:t>
                    </m:r>
                  </m:oMath>
                </a14:m>
                <a:r>
                  <a:rPr lang="en-US" sz="1200" b="0" i="0" dirty="0">
                    <a:solidFill>
                      <a:schemeClr val="tx1"/>
                    </a:solidFill>
                    <a:latin typeface="+mn-lt"/>
                  </a:rPr>
                  <a:t>. </a:t>
                </a:r>
                <a:br>
                  <a:rPr lang="en-US" sz="1200" b="0" i="0" dirty="0">
                    <a:solidFill>
                      <a:schemeClr val="tx1"/>
                    </a:solidFill>
                    <a:latin typeface="+mn-lt"/>
                  </a:rPr>
                </a:br>
                <a:r>
                  <a:rPr lang="en-ZA" dirty="0"/>
                  <a:t>The second eigenvector is obtained in a similar way.</a:t>
                </a:r>
                <a:endParaRPr lang="en-US" sz="1200" b="0" i="0" dirty="0">
                  <a:solidFill>
                    <a:schemeClr val="tx1"/>
                  </a:solidFill>
                  <a:latin typeface="+mn-lt"/>
                </a:endParaRPr>
              </a:p>
            </p:txBody>
          </p:sp>
        </mc:Choice>
        <mc:Fallback xmlns="">
          <p:sp>
            <p:nvSpPr>
              <p:cNvPr id="3" name="Notes Placeholder 2"/>
              <p:cNvSpPr>
                <a:spLocks noGrp="1"/>
              </p:cNvSpPr>
              <p:nvPr>
                <p:ph type="body" idx="1"/>
              </p:nvPr>
            </p:nvSpPr>
            <p:spPr/>
            <p:txBody>
              <a:bodyPr/>
              <a:lstStyle/>
              <a:p>
                <a:pPr marL="457200" indent="-457200">
                  <a:buFont typeface="+mj-lt"/>
                  <a:buAutoNum type="arabicPeriod"/>
                </a:pPr>
                <a:r>
                  <a:rPr lang="en-US" sz="2200" b="0" i="0" dirty="0">
                    <a:latin typeface="+mn-lt"/>
                  </a:rPr>
                  <a:t>In the context of quantum computing, linear operators are matrices that acts on </a:t>
                </a:r>
                <a:r>
                  <a:rPr lang="en-US" sz="2200" b="0" dirty="0"/>
                  <a:t>quantum states represented as vectors. This can be written as A-</a:t>
                </a:r>
                <a:r>
                  <a:rPr lang="en-US" sz="2200" b="0" dirty="0" err="1"/>
                  <a:t>ket</a:t>
                </a:r>
                <a:r>
                  <a:rPr lang="en-US" sz="2200" b="0" dirty="0"/>
                  <a:t>-x = lambda</a:t>
                </a:r>
                <a:r>
                  <a:rPr lang="en-US" sz="2200" b="0" baseline="0" dirty="0"/>
                  <a:t> </a:t>
                </a:r>
                <a:r>
                  <a:rPr lang="en-US" sz="2200" b="0" baseline="0" dirty="0" err="1"/>
                  <a:t>ket</a:t>
                </a:r>
                <a:r>
                  <a:rPr lang="en-US" sz="2200" b="0" baseline="0" dirty="0"/>
                  <a:t>-x. </a:t>
                </a:r>
                <a:r>
                  <a:rPr lang="en-US" sz="2200" b="0" dirty="0"/>
                  <a:t>To find eigenvalues </a:t>
                </a:r>
                <a:r>
                  <a:rPr lang="en-US" sz="2200" b="0" i="0">
                    <a:latin typeface="Cambria Math" panose="02040503050406030204" pitchFamily="18" charset="0"/>
                    <a:ea typeface="Cambria Math" panose="02040503050406030204" pitchFamily="18" charset="0"/>
                  </a:rPr>
                  <a:t>𝜆</a:t>
                </a:r>
                <a:r>
                  <a:rPr lang="en-US" sz="2200" b="0" dirty="0"/>
                  <a:t> for the given matrix we need to solve so called ‘characteristic equation’ which says that determinant of </a:t>
                </a:r>
                <a:r>
                  <a:rPr lang="en-US" sz="2200" b="0" i="0">
                    <a:latin typeface="Cambria Math" panose="02040503050406030204" pitchFamily="18" charset="0"/>
                  </a:rPr>
                  <a:t>A−</a:t>
                </a:r>
                <a:r>
                  <a:rPr lang="en-US" sz="2200" i="0">
                    <a:latin typeface="Cambria Math" panose="02040503050406030204" pitchFamily="18" charset="0"/>
                    <a:ea typeface="Cambria Math" panose="02040503050406030204" pitchFamily="18" charset="0"/>
                  </a:rPr>
                  <a:t>𝜆</a:t>
                </a:r>
                <a:r>
                  <a:rPr lang="en-US" sz="2200" i="1" dirty="0"/>
                  <a:t>I </a:t>
                </a:r>
                <a:r>
                  <a:rPr lang="en-US" sz="2200" i="0" dirty="0"/>
                  <a:t>must be zero. W</a:t>
                </a:r>
                <a:r>
                  <a:rPr lang="en-US" sz="2200" dirty="0"/>
                  <a:t>e then plug each value of </a:t>
                </a:r>
                <a:r>
                  <a:rPr lang="el-GR" sz="2200" dirty="0">
                    <a:effectLst/>
                  </a:rPr>
                  <a:t>λ</a:t>
                </a:r>
                <a:r>
                  <a:rPr lang="el-GR" sz="2200" dirty="0"/>
                  <a:t> </a:t>
                </a:r>
                <a:r>
                  <a:rPr lang="en-US" sz="2200" dirty="0"/>
                  <a:t>back into the original equation to get the eigenvectors. </a:t>
                </a:r>
                <a:endParaRPr lang="en-US" sz="2200" i="0" dirty="0"/>
              </a:p>
              <a:p>
                <a:pPr marL="457200" indent="-457200">
                  <a:buFont typeface="+mj-lt"/>
                  <a:buAutoNum type="arabicPeriod"/>
                </a:pPr>
                <a:r>
                  <a:rPr lang="en-US" sz="2200" b="0" i="0" dirty="0">
                    <a:latin typeface="+mn-lt"/>
                  </a:rPr>
                  <a:t>For example, let’s find </a:t>
                </a:r>
                <a:r>
                  <a:rPr lang="en-US" sz="2200" dirty="0"/>
                  <a:t>the eigenvectors/eigenvalues of the Pauli-X matrix</a:t>
                </a:r>
              </a:p>
              <a:p>
                <a:pPr marL="457200" indent="-457200">
                  <a:buFont typeface="+mj-lt"/>
                  <a:buAutoNum type="arabicPeriod"/>
                </a:pPr>
                <a:r>
                  <a:rPr lang="en-US" sz="2200" b="0" i="0" dirty="0">
                    <a:latin typeface="+mn-lt"/>
                  </a:rPr>
                  <a:t>A straightforward calculation give us eigenvalues of </a:t>
                </a:r>
                <a:r>
                  <a:rPr lang="en-US" sz="2000" b="0" i="0">
                    <a:latin typeface="Cambria Math" panose="02040503050406030204" pitchFamily="18" charset="0"/>
                    <a:ea typeface="Cambria Math" panose="02040503050406030204" pitchFamily="18" charset="0"/>
                  </a:rPr>
                  <a:t>±1</a:t>
                </a:r>
                <a:r>
                  <a:rPr lang="en-US" sz="2200" b="0" i="0" dirty="0">
                    <a:latin typeface="+mn-lt"/>
                  </a:rPr>
                  <a:t>.</a:t>
                </a:r>
              </a:p>
              <a:p>
                <a:pPr marL="457200" indent="-457200">
                  <a:buFont typeface="+mj-lt"/>
                  <a:buAutoNum type="arabicPeriod"/>
                </a:pPr>
                <a:r>
                  <a:rPr lang="en-US" sz="2200" b="0" i="0" dirty="0">
                    <a:latin typeface="+mn-lt"/>
                  </a:rPr>
                  <a:t>To find eigenvector for +1, we use the first equation which</a:t>
                </a:r>
                <a:r>
                  <a:rPr lang="en-US" sz="2200" b="0" i="0" baseline="0" dirty="0">
                    <a:latin typeface="+mn-lt"/>
                  </a:rPr>
                  <a:t> can be satisfied only </a:t>
                </a:r>
                <a:r>
                  <a:rPr lang="en-US" sz="2200" b="0" i="0" dirty="0">
                    <a:latin typeface="+mn-lt"/>
                  </a:rPr>
                  <a:t>if a=b. Taking into the account normalization constraint, we get that</a:t>
                </a:r>
                <a:r>
                  <a:rPr lang="en-US" sz="2200" b="0" i="0" baseline="0" dirty="0">
                    <a:latin typeface="+mn-lt"/>
                  </a:rPr>
                  <a:t> a and be must be equal to 1 over the square root of 2. This gives the eigenvector in the green box. </a:t>
                </a:r>
                <a:r>
                  <a:rPr lang="en-US" sz="2200" dirty="0">
                    <a:effectLst/>
                  </a:rPr>
                  <a:t>Similarly, for </a:t>
                </a:r>
                <a:r>
                  <a:rPr lang="en-US" sz="2200" i="0">
                    <a:latin typeface="Cambria Math" panose="02040503050406030204" pitchFamily="18" charset="0"/>
                    <a:ea typeface="Cambria Math" panose="02040503050406030204" pitchFamily="18" charset="0"/>
                  </a:rPr>
                  <a:t>𝜆</a:t>
                </a:r>
                <a:r>
                  <a:rPr lang="en-US" sz="2200" b="0" i="0" dirty="0">
                    <a:latin typeface="+mn-lt"/>
                  </a:rPr>
                  <a:t>=-1, we</a:t>
                </a:r>
                <a:r>
                  <a:rPr lang="en-US" sz="2200" b="0" i="0" baseline="0" dirty="0">
                    <a:latin typeface="+mn-lt"/>
                  </a:rPr>
                  <a:t> get the eigenvector with the minus sign.</a:t>
                </a:r>
                <a:endParaRPr lang="en-US" sz="2200" b="0" i="0" dirty="0">
                  <a:latin typeface="+mn-lt"/>
                </a:endParaRPr>
              </a:p>
              <a:p>
                <a:pPr marL="0" indent="0">
                  <a:buFont typeface="+mj-lt"/>
                  <a:buNone/>
                </a:pPr>
                <a:endParaRPr lang="en-US" sz="2200" dirty="0">
                  <a:effectLst/>
                </a:endParaRPr>
              </a:p>
              <a:p>
                <a:pPr marL="0" indent="0">
                  <a:buFont typeface="+mj-lt"/>
                  <a:buNone/>
                </a:pPr>
                <a:r>
                  <a:rPr lang="en-US" sz="2200" dirty="0">
                    <a:effectLst/>
                  </a:rPr>
                  <a:t>https://</a:t>
                </a:r>
                <a:r>
                  <a:rPr lang="en-US" sz="2200" dirty="0" err="1">
                    <a:effectLst/>
                  </a:rPr>
                  <a:t>quantumcomputing.stackexchange.com</a:t>
                </a:r>
                <a:r>
                  <a:rPr lang="en-US" sz="2200" dirty="0">
                    <a:effectLst/>
                  </a:rPr>
                  <a:t>/questions/9577/how-to-find-eigenvalues-and-eigenvector-for-a-quantum-gate</a:t>
                </a:r>
              </a:p>
              <a:p>
                <a:pPr marL="0" indent="0">
                  <a:buFont typeface="+mj-lt"/>
                  <a:buNone/>
                </a:pPr>
                <a:r>
                  <a:rPr lang="en-US" sz="2200" b="0" i="0" dirty="0">
                    <a:latin typeface="+mn-lt"/>
                  </a:rPr>
                  <a:t>https://</a:t>
                </a:r>
                <a:r>
                  <a:rPr lang="en-US" sz="2200" b="0" i="0" dirty="0" err="1">
                    <a:latin typeface="+mn-lt"/>
                  </a:rPr>
                  <a:t>qiskit.org</a:t>
                </a:r>
                <a:r>
                  <a:rPr lang="en-US" sz="2200" b="0" i="0" dirty="0">
                    <a:latin typeface="+mn-lt"/>
                  </a:rPr>
                  <a:t>/textbook/</a:t>
                </a:r>
                <a:r>
                  <a:rPr lang="en-US" sz="2200" b="0" i="0" dirty="0" err="1">
                    <a:latin typeface="+mn-lt"/>
                  </a:rPr>
                  <a:t>ch</a:t>
                </a:r>
                <a:r>
                  <a:rPr lang="en-US" sz="2200" b="0" i="0" dirty="0">
                    <a:latin typeface="+mn-lt"/>
                  </a:rPr>
                  <a:t>-states/single-qubit-</a:t>
                </a:r>
                <a:r>
                  <a:rPr lang="en-US" sz="2200" b="0" i="0" dirty="0" err="1">
                    <a:latin typeface="+mn-lt"/>
                  </a:rPr>
                  <a:t>gates.html</a:t>
                </a:r>
                <a:endParaRPr lang="en-US" sz="2200" b="0" i="0" dirty="0">
                  <a:latin typeface="+mn-lt"/>
                </a:endParaRP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53</a:t>
            </a:fld>
            <a:endParaRPr lang="en-US"/>
          </a:p>
        </p:txBody>
      </p:sp>
    </p:spTree>
    <p:extLst>
      <p:ext uri="{BB962C8B-B14F-4D97-AF65-F5344CB8AC3E}">
        <p14:creationId xmlns:p14="http://schemas.microsoft.com/office/powerpoint/2010/main" val="161458713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The Spectral Decomposition Theorem allows an operator to be expressed in a simpler form using its eigenvalues and eigenvectors.</a:t>
                </a:r>
              </a:p>
              <a:p>
                <a:pPr algn="just"/>
                <a:endParaRPr lang="en-ZA" dirty="0"/>
              </a:p>
              <a:p>
                <a:r>
                  <a:rPr lang="en-ZA" dirty="0"/>
                  <a:t>The theorem states that a normal operator in a Hilbert space can be expressed as a sum of its eigenvalues multiplied by the corresponding projectors onto its eigenspaces.</a:t>
                </a:r>
              </a:p>
              <a:p>
                <a:endParaRPr lang="en-ZA" dirty="0"/>
              </a:p>
              <a:p>
                <a:r>
                  <a:rPr lang="en-ZA" dirty="0"/>
                  <a:t>Eigenvectors corresponding to different eigenvalues are mutually orthogonal, and normal operators satisfy the condition </a:t>
                </a:r>
                <a14:m>
                  <m:oMath xmlns:m="http://schemas.openxmlformats.org/officeDocument/2006/math">
                    <m:r>
                      <a:rPr lang="sr-Latn-RS" sz="1200" i="1" smtClean="0">
                        <a:latin typeface="Cambria Math" panose="02040503050406030204" pitchFamily="18" charset="0"/>
                        <a:ea typeface="Times New Roman" panose="02020603050405020304" pitchFamily="18" charset="0"/>
                        <a:cs typeface="Times New Roman" panose="02020603050405020304" pitchFamily="18" charset="0"/>
                      </a:rPr>
                      <m:t>𝐴</m:t>
                    </m:r>
                    <m:sSup>
                      <m:sSupPr>
                        <m:ctrlPr>
                          <a:rPr lang="en-ZA" sz="1200" i="1">
                            <a:latin typeface="Cambria Math" panose="02040503050406030204" pitchFamily="18" charset="0"/>
                          </a:rPr>
                        </m:ctrlPr>
                      </m:sSup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𝐴</m:t>
                        </m:r>
                      </m:e>
                      <m:sup>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sup>
                    </m:sSup>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ZA" sz="1200" i="1">
                            <a:latin typeface="Cambria Math" panose="02040503050406030204" pitchFamily="18" charset="0"/>
                          </a:rPr>
                        </m:ctrlPr>
                      </m:sSupPr>
                      <m:e>
                        <m:r>
                          <a:rPr lang="sr-Latn-RS" sz="1200" i="1">
                            <a:latin typeface="Cambria Math" panose="02040503050406030204" pitchFamily="18" charset="0"/>
                            <a:ea typeface="Times New Roman" panose="02020603050405020304" pitchFamily="18" charset="0"/>
                            <a:cs typeface="Times New Roman" panose="02020603050405020304" pitchFamily="18" charset="0"/>
                          </a:rPr>
                          <m:t>𝐴</m:t>
                        </m:r>
                      </m:e>
                      <m:sup>
                        <m:r>
                          <a:rPr lang="sr-Latn-RS" sz="1200" i="1">
                            <a:latin typeface="Cambria Math" panose="02040503050406030204" pitchFamily="18" charset="0"/>
                            <a:ea typeface="Times New Roman" panose="02020603050405020304" pitchFamily="18" charset="0"/>
                            <a:cs typeface="Times New Roman" panose="02020603050405020304" pitchFamily="18" charset="0"/>
                          </a:rPr>
                          <m:t>†</m:t>
                        </m:r>
                      </m:sup>
                    </m:sSup>
                    <m:r>
                      <a:rPr lang="sr-Latn-RS" sz="1200" i="1">
                        <a:latin typeface="Cambria Math" panose="02040503050406030204" pitchFamily="18" charset="0"/>
                        <a:ea typeface="Times New Roman" panose="02020603050405020304" pitchFamily="18" charset="0"/>
                        <a:cs typeface="Times New Roman" panose="02020603050405020304" pitchFamily="18" charset="0"/>
                      </a:rPr>
                      <m:t>𝐴</m:t>
                    </m:r>
                  </m:oMath>
                </a14:m>
                <a:r>
                  <a:rPr lang="en-ZA" dirty="0"/>
                  <a:t>. Thus, a normal operator commutes with its conjugate transpose and has an orthonormal basis of eigenvectors. Consequently, its action can be completely described in terms of its eigenvalues and the corresponding projectors.</a:t>
                </a:r>
              </a:p>
            </p:txBody>
          </p:sp>
        </mc:Choice>
        <mc:Fallback xmlns="">
          <p:sp>
            <p:nvSpPr>
              <p:cNvPr id="3" name="Notes Placeholder 2"/>
              <p:cNvSpPr>
                <a:spLocks noGrp="1"/>
              </p:cNvSpPr>
              <p:nvPr>
                <p:ph type="body" idx="1"/>
              </p:nvPr>
            </p:nvSpPr>
            <p:spPr/>
            <p:txBody>
              <a:bodyPr/>
              <a:lstStyle/>
              <a:p>
                <a:pPr algn="just"/>
                <a:r>
                  <a:rPr lang="sr-Latn-RS" sz="1200" b="0" kern="1200" dirty="0">
                    <a:solidFill>
                      <a:schemeClr val="tx1"/>
                    </a:solidFill>
                    <a:effectLst/>
                    <a:latin typeface="+mn-lt"/>
                    <a:ea typeface="+mn-ea"/>
                    <a:cs typeface="+mn-cs"/>
                  </a:rPr>
                  <a:t>Teorema o spektralnoj dekompoziciji omogućava predstavljanje operatora preko </a:t>
                </a:r>
                <a:r>
                  <a:rPr lang="sr-Latn-RS" sz="1200" b="0" kern="1200" dirty="0" err="1">
                    <a:solidFill>
                      <a:schemeClr val="tx1"/>
                    </a:solidFill>
                    <a:effectLst/>
                    <a:latin typeface="+mn-lt"/>
                    <a:ea typeface="+mn-ea"/>
                    <a:cs typeface="+mn-cs"/>
                  </a:rPr>
                  <a:t>spektra</a:t>
                </a:r>
                <a:r>
                  <a:rPr lang="sr-Latn-RS" sz="1200" b="0" kern="1200" dirty="0">
                    <a:solidFill>
                      <a:schemeClr val="tx1"/>
                    </a:solidFill>
                    <a:effectLst/>
                    <a:latin typeface="+mn-lt"/>
                    <a:ea typeface="+mn-ea"/>
                    <a:cs typeface="+mn-cs"/>
                  </a:rPr>
                  <a:t> sopstvenih vrednosti i sopstvenih vektora. </a:t>
                </a:r>
                <a:r>
                  <a:rPr lang="en-ZA" b="0" dirty="0" err="1">
                    <a:solidFill>
                      <a:schemeClr val="tx1"/>
                    </a:solidFill>
                  </a:rPr>
                  <a:t>Dakle</a:t>
                </a:r>
                <a:r>
                  <a:rPr lang="en-ZA" b="0" dirty="0">
                    <a:solidFill>
                      <a:schemeClr val="tx1"/>
                    </a:solidFill>
                  </a:rPr>
                  <a:t>, operator </a:t>
                </a:r>
                <a:r>
                  <a:rPr lang="en-ZA" b="0" dirty="0" err="1">
                    <a:solidFill>
                      <a:schemeClr val="tx1"/>
                    </a:solidFill>
                  </a:rPr>
                  <a:t>razlaže</a:t>
                </a:r>
                <a:r>
                  <a:rPr lang="en-ZA" b="0" dirty="0">
                    <a:solidFill>
                      <a:schemeClr val="tx1"/>
                    </a:solidFill>
                  </a:rPr>
                  <a:t> </a:t>
                </a:r>
                <a:r>
                  <a:rPr lang="en-ZA" b="0" dirty="0" err="1">
                    <a:solidFill>
                      <a:schemeClr val="tx1"/>
                    </a:solidFill>
                  </a:rPr>
                  <a:t>na</a:t>
                </a:r>
                <a:r>
                  <a:rPr lang="en-ZA" b="0" dirty="0">
                    <a:solidFill>
                      <a:schemeClr val="tx1"/>
                    </a:solidFill>
                  </a:rPr>
                  <a:t> </a:t>
                </a:r>
                <a:r>
                  <a:rPr lang="en-ZA" b="0" dirty="0" err="1">
                    <a:solidFill>
                      <a:schemeClr val="tx1"/>
                    </a:solidFill>
                  </a:rPr>
                  <a:t>proizvode</a:t>
                </a:r>
                <a:r>
                  <a:rPr lang="en-ZA" b="0" dirty="0">
                    <a:solidFill>
                      <a:schemeClr val="tx1"/>
                    </a:solidFill>
                  </a:rPr>
                  <a:t> </a:t>
                </a:r>
                <a:r>
                  <a:rPr lang="en-ZA" b="0" dirty="0" err="1">
                    <a:solidFill>
                      <a:schemeClr val="tx1"/>
                    </a:solidFill>
                  </a:rPr>
                  <a:t>sopstvenih</a:t>
                </a:r>
                <a:r>
                  <a:rPr lang="en-ZA" b="0" dirty="0">
                    <a:solidFill>
                      <a:schemeClr val="tx1"/>
                    </a:solidFill>
                  </a:rPr>
                  <a:t> </a:t>
                </a:r>
                <a:r>
                  <a:rPr lang="en-ZA" b="0" dirty="0" err="1">
                    <a:solidFill>
                      <a:schemeClr val="tx1"/>
                    </a:solidFill>
                  </a:rPr>
                  <a:t>vrednosti</a:t>
                </a:r>
                <a:r>
                  <a:rPr lang="en-ZA" b="0" dirty="0">
                    <a:solidFill>
                      <a:schemeClr val="tx1"/>
                    </a:solidFill>
                  </a:rPr>
                  <a:t> </a:t>
                </a:r>
                <a:r>
                  <a:rPr lang="en-ZA" b="0" dirty="0" err="1">
                    <a:solidFill>
                      <a:schemeClr val="tx1"/>
                    </a:solidFill>
                  </a:rPr>
                  <a:t>i</a:t>
                </a:r>
                <a:r>
                  <a:rPr lang="en-ZA" b="0" dirty="0">
                    <a:solidFill>
                      <a:schemeClr val="tx1"/>
                    </a:solidFill>
                  </a:rPr>
                  <a:t> </a:t>
                </a:r>
                <a:r>
                  <a:rPr lang="en-ZA" b="0" dirty="0" err="1">
                    <a:solidFill>
                      <a:schemeClr val="tx1"/>
                    </a:solidFill>
                  </a:rPr>
                  <a:t>odgovarajućih</a:t>
                </a:r>
                <a:r>
                  <a:rPr lang="en-ZA" b="0" dirty="0">
                    <a:solidFill>
                      <a:schemeClr val="tx1"/>
                    </a:solidFill>
                  </a:rPr>
                  <a:t> </a:t>
                </a:r>
                <a:r>
                  <a:rPr lang="en-ZA" b="0" dirty="0" err="1">
                    <a:solidFill>
                      <a:schemeClr val="tx1"/>
                    </a:solidFill>
                  </a:rPr>
                  <a:t>sopstvenih</a:t>
                </a:r>
                <a:r>
                  <a:rPr lang="en-ZA" b="0" dirty="0">
                    <a:solidFill>
                      <a:schemeClr val="tx1"/>
                    </a:solidFill>
                  </a:rPr>
                  <a:t> </a:t>
                </a:r>
                <a:r>
                  <a:rPr lang="en-ZA" b="0" dirty="0" err="1">
                    <a:solidFill>
                      <a:schemeClr val="tx1"/>
                    </a:solidFill>
                  </a:rPr>
                  <a:t>vektora</a:t>
                </a:r>
                <a:r>
                  <a:rPr lang="en-ZA" b="0" dirty="0">
                    <a:solidFill>
                      <a:schemeClr val="tx1"/>
                    </a:solidFill>
                  </a:rPr>
                  <a:t>. </a:t>
                </a:r>
              </a:p>
              <a:p>
                <a:pPr algn="just"/>
                <a:endParaRPr lang="en-ZA" sz="1200" b="0" kern="1200" dirty="0">
                  <a:solidFill>
                    <a:schemeClr val="tx1"/>
                  </a:solidFill>
                  <a:effectLst/>
                  <a:latin typeface="+mn-lt"/>
                  <a:ea typeface="+mn-ea"/>
                  <a:cs typeface="+mn-cs"/>
                </a:endParaRPr>
              </a:p>
              <a:p>
                <a:pPr algn="just"/>
                <a:r>
                  <a:rPr lang="en-ZA" b="0" dirty="0" err="1">
                    <a:solidFill>
                      <a:schemeClr val="tx1"/>
                    </a:solidFill>
                  </a:rPr>
                  <a:t>Teorema</a:t>
                </a:r>
                <a:r>
                  <a:rPr lang="en-ZA" b="0" dirty="0">
                    <a:solidFill>
                      <a:schemeClr val="tx1"/>
                    </a:solidFill>
                  </a:rPr>
                  <a:t> </a:t>
                </a:r>
                <a:r>
                  <a:rPr lang="en-ZA" b="0" dirty="0" err="1">
                    <a:solidFill>
                      <a:schemeClr val="tx1"/>
                    </a:solidFill>
                  </a:rPr>
                  <a:t>kaže</a:t>
                </a:r>
                <a:r>
                  <a:rPr lang="en-ZA" b="0" dirty="0">
                    <a:solidFill>
                      <a:schemeClr val="tx1"/>
                    </a:solidFill>
                  </a:rPr>
                  <a:t> da se </a:t>
                </a:r>
                <a:r>
                  <a:rPr lang="en-ZA" b="0" dirty="0" err="1">
                    <a:solidFill>
                      <a:schemeClr val="tx1"/>
                    </a:solidFill>
                  </a:rPr>
                  <a:t>svaki</a:t>
                </a:r>
                <a:r>
                  <a:rPr lang="en-ZA" b="0" dirty="0">
                    <a:solidFill>
                      <a:schemeClr val="tx1"/>
                    </a:solidFill>
                  </a:rPr>
                  <a:t> operator </a:t>
                </a:r>
                <a:r>
                  <a:rPr lang="en-ZA" b="0" dirty="0" err="1">
                    <a:solidFill>
                      <a:schemeClr val="tx1"/>
                    </a:solidFill>
                  </a:rPr>
                  <a:t>predstavljen</a:t>
                </a:r>
                <a:r>
                  <a:rPr lang="en-ZA" b="0" dirty="0">
                    <a:solidFill>
                      <a:schemeClr val="tx1"/>
                    </a:solidFill>
                  </a:rPr>
                  <a:t> </a:t>
                </a:r>
                <a:r>
                  <a:rPr lang="en-ZA" b="0" dirty="0" err="1">
                    <a:solidFill>
                      <a:schemeClr val="tx1"/>
                    </a:solidFill>
                  </a:rPr>
                  <a:t>normalnom</a:t>
                </a:r>
                <a:r>
                  <a:rPr lang="en-ZA" b="0" dirty="0">
                    <a:solidFill>
                      <a:schemeClr val="tx1"/>
                    </a:solidFill>
                  </a:rPr>
                  <a:t> </a:t>
                </a:r>
                <a:r>
                  <a:rPr lang="en-ZA" b="0" dirty="0" err="1">
                    <a:solidFill>
                      <a:schemeClr val="tx1"/>
                    </a:solidFill>
                  </a:rPr>
                  <a:t>matricom</a:t>
                </a:r>
                <a:r>
                  <a:rPr lang="en-ZA" b="0" dirty="0">
                    <a:solidFill>
                      <a:schemeClr val="tx1"/>
                    </a:solidFill>
                  </a:rPr>
                  <a:t>, </a:t>
                </a:r>
                <a:r>
                  <a:rPr lang="en-ZA" b="0" dirty="0" err="1">
                    <a:solidFill>
                      <a:schemeClr val="tx1"/>
                    </a:solidFill>
                  </a:rPr>
                  <a:t>dakle</a:t>
                </a:r>
                <a:r>
                  <a:rPr lang="en-ZA" b="0" dirty="0">
                    <a:solidFill>
                      <a:schemeClr val="tx1"/>
                    </a:solidFill>
                  </a:rPr>
                  <a:t> operator </a:t>
                </a:r>
                <a:r>
                  <a:rPr lang="en-ZA" b="0" dirty="0" err="1">
                    <a:solidFill>
                      <a:schemeClr val="tx1"/>
                    </a:solidFill>
                  </a:rPr>
                  <a:t>koji</a:t>
                </a:r>
                <a:r>
                  <a:rPr lang="en-ZA" b="0" dirty="0">
                    <a:solidFill>
                      <a:schemeClr val="tx1"/>
                    </a:solidFill>
                  </a:rPr>
                  <a:t> </a:t>
                </a:r>
                <a:r>
                  <a:rPr lang="en-ZA" b="0" dirty="0" err="1">
                    <a:solidFill>
                      <a:schemeClr val="tx1"/>
                    </a:solidFill>
                  </a:rPr>
                  <a:t>zadovoljava</a:t>
                </a:r>
                <a:r>
                  <a:rPr lang="en-ZA" b="0" dirty="0">
                    <a:solidFill>
                      <a:schemeClr val="tx1"/>
                    </a:solidFill>
                  </a:rPr>
                  <a:t> </a:t>
                </a:r>
                <a:r>
                  <a:rPr lang="en-ZA" b="0" dirty="0" err="1">
                    <a:solidFill>
                      <a:schemeClr val="tx1"/>
                    </a:solidFill>
                  </a:rPr>
                  <a:t>uslov</a:t>
                </a:r>
                <a:r>
                  <a:rPr lang="en-ZA" b="0" dirty="0">
                    <a:solidFill>
                      <a:schemeClr val="tx1"/>
                    </a:solidFill>
                  </a:rPr>
                  <a:t> </a:t>
                </a:r>
                <a:r>
                  <a:rPr lang="sr-Latn-RS" sz="1200" b="0" i="0" kern="1200">
                    <a:solidFill>
                      <a:schemeClr val="tx1"/>
                    </a:solidFill>
                    <a:effectLst/>
                    <a:latin typeface="Cambria Math" panose="02040503050406030204" pitchFamily="18" charset="0"/>
                    <a:ea typeface="+mn-ea"/>
                    <a:cs typeface="+mn-cs"/>
                  </a:rPr>
                  <a:t>𝐴𝐴</a:t>
                </a:r>
                <a:r>
                  <a:rPr lang="en-ZA" sz="1200" b="0" i="0" kern="1200">
                    <a:solidFill>
                      <a:schemeClr val="tx1"/>
                    </a:solidFill>
                    <a:effectLst/>
                    <a:latin typeface="Cambria Math" panose="02040503050406030204" pitchFamily="18" charset="0"/>
                    <a:ea typeface="+mn-ea"/>
                    <a:cs typeface="+mn-cs"/>
                  </a:rPr>
                  <a:t>^</a:t>
                </a:r>
                <a:r>
                  <a:rPr lang="sr-Latn-RS" sz="1200" b="0" i="0" kern="1200">
                    <a:solidFill>
                      <a:schemeClr val="tx1"/>
                    </a:solidFill>
                    <a:effectLst/>
                    <a:latin typeface="Cambria Math" panose="02040503050406030204" pitchFamily="18" charset="0"/>
                    <a:ea typeface="+mn-ea"/>
                    <a:cs typeface="+mn-cs"/>
                  </a:rPr>
                  <a:t>†=𝐴</a:t>
                </a:r>
                <a:r>
                  <a:rPr lang="en-ZA" sz="1200" b="0" i="0" kern="1200">
                    <a:solidFill>
                      <a:schemeClr val="tx1"/>
                    </a:solidFill>
                    <a:effectLst/>
                    <a:latin typeface="Cambria Math" panose="02040503050406030204" pitchFamily="18" charset="0"/>
                    <a:ea typeface="+mn-ea"/>
                    <a:cs typeface="+mn-cs"/>
                  </a:rPr>
                  <a:t>^</a:t>
                </a:r>
                <a:r>
                  <a:rPr lang="sr-Latn-RS" sz="1200" b="0" i="0" kern="1200">
                    <a:solidFill>
                      <a:schemeClr val="tx1"/>
                    </a:solidFill>
                    <a:effectLst/>
                    <a:latin typeface="Cambria Math" panose="02040503050406030204" pitchFamily="18" charset="0"/>
                    <a:ea typeface="+mn-ea"/>
                    <a:cs typeface="+mn-cs"/>
                  </a:rPr>
                  <a:t>† 𝐴</a:t>
                </a:r>
                <a:r>
                  <a:rPr lang="en-ZA" b="0" dirty="0">
                    <a:solidFill>
                      <a:schemeClr val="tx1"/>
                    </a:solidFill>
                  </a:rPr>
                  <a:t>, </a:t>
                </a:r>
                <a:r>
                  <a:rPr lang="en-ZA" b="0" dirty="0" err="1">
                    <a:solidFill>
                      <a:schemeClr val="tx1"/>
                    </a:solidFill>
                  </a:rPr>
                  <a:t>može</a:t>
                </a:r>
                <a:r>
                  <a:rPr lang="en-ZA" b="0" dirty="0">
                    <a:solidFill>
                      <a:schemeClr val="tx1"/>
                    </a:solidFill>
                  </a:rPr>
                  <a:t> </a:t>
                </a:r>
                <a:r>
                  <a:rPr lang="en-ZA" b="0" dirty="0" err="1">
                    <a:solidFill>
                      <a:schemeClr val="tx1"/>
                    </a:solidFill>
                  </a:rPr>
                  <a:t>razložiti</a:t>
                </a:r>
                <a:r>
                  <a:rPr lang="en-ZA" b="0" dirty="0">
                    <a:solidFill>
                      <a:schemeClr val="tx1"/>
                    </a:solidFill>
                  </a:rPr>
                  <a:t> </a:t>
                </a:r>
                <a:r>
                  <a:rPr lang="en-ZA" b="0" dirty="0" err="1">
                    <a:solidFill>
                      <a:schemeClr val="tx1"/>
                    </a:solidFill>
                  </a:rPr>
                  <a:t>na</a:t>
                </a:r>
                <a:r>
                  <a:rPr lang="en-ZA" b="0" dirty="0">
                    <a:solidFill>
                      <a:schemeClr val="tx1"/>
                    </a:solidFill>
                  </a:rPr>
                  <a:t> </a:t>
                </a:r>
                <a:r>
                  <a:rPr lang="en-ZA" b="0" dirty="0" err="1">
                    <a:solidFill>
                      <a:schemeClr val="tx1"/>
                    </a:solidFill>
                  </a:rPr>
                  <a:t>proizvod</a:t>
                </a:r>
                <a:r>
                  <a:rPr lang="en-ZA" b="0" dirty="0">
                    <a:solidFill>
                      <a:schemeClr val="tx1"/>
                    </a:solidFill>
                  </a:rPr>
                  <a:t> </a:t>
                </a:r>
                <a:r>
                  <a:rPr lang="en-ZA" b="0" dirty="0" err="1">
                    <a:solidFill>
                      <a:schemeClr val="tx1"/>
                    </a:solidFill>
                  </a:rPr>
                  <a:t>sopstvenih</a:t>
                </a:r>
                <a:r>
                  <a:rPr lang="en-ZA" b="0" dirty="0">
                    <a:solidFill>
                      <a:schemeClr val="tx1"/>
                    </a:solidFill>
                  </a:rPr>
                  <a:t> </a:t>
                </a:r>
                <a:r>
                  <a:rPr lang="en-ZA" b="0" dirty="0" err="1">
                    <a:solidFill>
                      <a:schemeClr val="tx1"/>
                    </a:solidFill>
                  </a:rPr>
                  <a:t>vrednosti</a:t>
                </a:r>
                <a:r>
                  <a:rPr lang="en-ZA" b="0" dirty="0">
                    <a:solidFill>
                      <a:schemeClr val="tx1"/>
                    </a:solidFill>
                  </a:rPr>
                  <a:t> </a:t>
                </a:r>
                <a:r>
                  <a:rPr lang="en-ZA" b="0" dirty="0" err="1">
                    <a:solidFill>
                      <a:schemeClr val="tx1"/>
                    </a:solidFill>
                  </a:rPr>
                  <a:t>sa</a:t>
                </a:r>
                <a:r>
                  <a:rPr lang="en-ZA" b="0" dirty="0">
                    <a:solidFill>
                      <a:schemeClr val="tx1"/>
                    </a:solidFill>
                  </a:rPr>
                  <a:t> </a:t>
                </a:r>
                <a:r>
                  <a:rPr lang="en-ZA" b="0" dirty="0" err="1">
                    <a:solidFill>
                      <a:schemeClr val="tx1"/>
                    </a:solidFill>
                  </a:rPr>
                  <a:t>projekcionim</a:t>
                </a:r>
                <a:r>
                  <a:rPr lang="en-ZA" b="0" dirty="0">
                    <a:solidFill>
                      <a:schemeClr val="tx1"/>
                    </a:solidFill>
                  </a:rPr>
                  <a:t> </a:t>
                </a:r>
                <a:r>
                  <a:rPr lang="en-ZA" b="0" dirty="0" err="1">
                    <a:solidFill>
                      <a:schemeClr val="tx1"/>
                    </a:solidFill>
                  </a:rPr>
                  <a:t>operatorima</a:t>
                </a:r>
                <a:r>
                  <a:rPr lang="en-ZA" b="0" dirty="0">
                    <a:solidFill>
                      <a:schemeClr val="tx1"/>
                    </a:solidFill>
                  </a:rPr>
                  <a:t> </a:t>
                </a:r>
                <a:r>
                  <a:rPr lang="en-ZA" b="0" dirty="0" err="1">
                    <a:solidFill>
                      <a:schemeClr val="tx1"/>
                    </a:solidFill>
                  </a:rPr>
                  <a:t>koji</a:t>
                </a:r>
                <a:r>
                  <a:rPr lang="en-ZA" b="0" dirty="0">
                    <a:solidFill>
                      <a:schemeClr val="tx1"/>
                    </a:solidFill>
                  </a:rPr>
                  <a:t> </a:t>
                </a:r>
                <a:r>
                  <a:rPr lang="en-ZA" b="0" dirty="0" err="1">
                    <a:solidFill>
                      <a:schemeClr val="tx1"/>
                    </a:solidFill>
                  </a:rPr>
                  <a:t>izdvajaju</a:t>
                </a:r>
                <a:r>
                  <a:rPr lang="en-ZA" b="0" dirty="0">
                    <a:solidFill>
                      <a:schemeClr val="tx1"/>
                    </a:solidFill>
                  </a:rPr>
                  <a:t> </a:t>
                </a:r>
                <a:r>
                  <a:rPr lang="en-ZA" b="0" dirty="0" err="1">
                    <a:solidFill>
                      <a:schemeClr val="tx1"/>
                    </a:solidFill>
                  </a:rPr>
                  <a:t>komponente</a:t>
                </a:r>
                <a:r>
                  <a:rPr lang="en-ZA" b="0" dirty="0">
                    <a:solidFill>
                      <a:schemeClr val="tx1"/>
                    </a:solidFill>
                  </a:rPr>
                  <a:t> </a:t>
                </a:r>
                <a:r>
                  <a:rPr lang="en-ZA" b="0" dirty="0" err="1">
                    <a:solidFill>
                      <a:schemeClr val="tx1"/>
                    </a:solidFill>
                  </a:rPr>
                  <a:t>vektora</a:t>
                </a:r>
                <a:r>
                  <a:rPr lang="en-ZA" b="0" dirty="0">
                    <a:solidFill>
                      <a:schemeClr val="tx1"/>
                    </a:solidFill>
                  </a:rPr>
                  <a:t> u </a:t>
                </a:r>
                <a:r>
                  <a:rPr lang="en-ZA" b="0" dirty="0" err="1">
                    <a:solidFill>
                      <a:schemeClr val="tx1"/>
                    </a:solidFill>
                  </a:rPr>
                  <a:t>pravcu</a:t>
                </a:r>
                <a:r>
                  <a:rPr lang="en-ZA" b="0" dirty="0">
                    <a:solidFill>
                      <a:schemeClr val="tx1"/>
                    </a:solidFill>
                  </a:rPr>
                  <a:t> </a:t>
                </a:r>
                <a:r>
                  <a:rPr lang="en-ZA" b="0" dirty="0" err="1">
                    <a:solidFill>
                      <a:schemeClr val="tx1"/>
                    </a:solidFill>
                  </a:rPr>
                  <a:t>odgovarajućih</a:t>
                </a:r>
                <a:r>
                  <a:rPr lang="en-ZA" b="0" dirty="0">
                    <a:solidFill>
                      <a:schemeClr val="tx1"/>
                    </a:solidFill>
                  </a:rPr>
                  <a:t> </a:t>
                </a:r>
                <a:r>
                  <a:rPr lang="en-ZA" b="0" dirty="0" err="1">
                    <a:solidFill>
                      <a:schemeClr val="tx1"/>
                    </a:solidFill>
                  </a:rPr>
                  <a:t>sopstvenih</a:t>
                </a:r>
                <a:r>
                  <a:rPr lang="en-ZA" b="0" dirty="0">
                    <a:solidFill>
                      <a:schemeClr val="tx1"/>
                    </a:solidFill>
                  </a:rPr>
                  <a:t> </a:t>
                </a:r>
                <a:r>
                  <a:rPr lang="en-ZA" b="0" dirty="0" err="1">
                    <a:solidFill>
                      <a:schemeClr val="tx1"/>
                    </a:solidFill>
                  </a:rPr>
                  <a:t>vektora</a:t>
                </a:r>
                <a:r>
                  <a:rPr lang="en-ZA" b="0" dirty="0">
                    <a:solidFill>
                      <a:schemeClr val="tx1"/>
                    </a:solidFill>
                  </a:rPr>
                  <a:t>. </a:t>
                </a:r>
              </a:p>
              <a:p>
                <a:pPr algn="just"/>
                <a:endParaRPr lang="en-ZA" b="0" dirty="0">
                  <a:solidFill>
                    <a:schemeClr val="tx1"/>
                  </a:solidFill>
                </a:endParaRPr>
              </a:p>
              <a:p>
                <a:pPr algn="just"/>
                <a:r>
                  <a:rPr lang="en-ZA" b="0" dirty="0">
                    <a:solidFill>
                      <a:schemeClr val="tx1"/>
                    </a:solidFill>
                  </a:rPr>
                  <a:t>U </a:t>
                </a:r>
                <a:r>
                  <a:rPr lang="en-ZA" b="0" dirty="0" err="1">
                    <a:solidFill>
                      <a:schemeClr val="tx1"/>
                    </a:solidFill>
                  </a:rPr>
                  <a:t>suštini</a:t>
                </a:r>
                <a:r>
                  <a:rPr lang="en-ZA" b="0" dirty="0">
                    <a:solidFill>
                      <a:schemeClr val="tx1"/>
                    </a:solidFill>
                  </a:rPr>
                  <a:t>, </a:t>
                </a:r>
                <a:r>
                  <a:rPr lang="en-ZA" b="0" dirty="0" err="1">
                    <a:solidFill>
                      <a:schemeClr val="tx1"/>
                    </a:solidFill>
                  </a:rPr>
                  <a:t>teorema</a:t>
                </a:r>
                <a:r>
                  <a:rPr lang="en-ZA" b="0" dirty="0">
                    <a:solidFill>
                      <a:schemeClr val="tx1"/>
                    </a:solidFill>
                  </a:rPr>
                  <a:t> </a:t>
                </a:r>
                <a:r>
                  <a:rPr lang="en-ZA" b="0" dirty="0" err="1">
                    <a:solidFill>
                      <a:schemeClr val="tx1"/>
                    </a:solidFill>
                  </a:rPr>
                  <a:t>pomaže</a:t>
                </a:r>
                <a:r>
                  <a:rPr lang="en-ZA" b="0" dirty="0">
                    <a:solidFill>
                      <a:schemeClr val="tx1"/>
                    </a:solidFill>
                  </a:rPr>
                  <a:t> da se </a:t>
                </a:r>
                <a:r>
                  <a:rPr lang="en-ZA" b="0" dirty="0" err="1">
                    <a:solidFill>
                      <a:schemeClr val="tx1"/>
                    </a:solidFill>
                  </a:rPr>
                  <a:t>kompleksni</a:t>
                </a:r>
                <a:r>
                  <a:rPr lang="en-ZA" b="0" dirty="0">
                    <a:solidFill>
                      <a:schemeClr val="tx1"/>
                    </a:solidFill>
                  </a:rPr>
                  <a:t> </a:t>
                </a:r>
                <a:r>
                  <a:rPr lang="en-ZA" b="0" dirty="0" err="1">
                    <a:solidFill>
                      <a:schemeClr val="tx1"/>
                    </a:solidFill>
                  </a:rPr>
                  <a:t>operatori</a:t>
                </a:r>
                <a:r>
                  <a:rPr lang="en-ZA" b="0" dirty="0">
                    <a:solidFill>
                      <a:schemeClr val="tx1"/>
                    </a:solidFill>
                  </a:rPr>
                  <a:t> </a:t>
                </a:r>
                <a:r>
                  <a:rPr lang="en-ZA" b="0" dirty="0" err="1">
                    <a:solidFill>
                      <a:schemeClr val="tx1"/>
                    </a:solidFill>
                  </a:rPr>
                  <a:t>svedu</a:t>
                </a:r>
                <a:r>
                  <a:rPr lang="en-ZA" b="0" dirty="0">
                    <a:solidFill>
                      <a:schemeClr val="tx1"/>
                    </a:solidFill>
                  </a:rPr>
                  <a:t> </a:t>
                </a:r>
                <a:r>
                  <a:rPr lang="en-ZA" b="0" dirty="0" err="1">
                    <a:solidFill>
                      <a:schemeClr val="tx1"/>
                    </a:solidFill>
                  </a:rPr>
                  <a:t>na</a:t>
                </a:r>
                <a:r>
                  <a:rPr lang="en-ZA" b="0" dirty="0">
                    <a:solidFill>
                      <a:schemeClr val="tx1"/>
                    </a:solidFill>
                  </a:rPr>
                  <a:t> </a:t>
                </a:r>
                <a:r>
                  <a:rPr lang="en-ZA" b="0" dirty="0" err="1">
                    <a:solidFill>
                      <a:schemeClr val="tx1"/>
                    </a:solidFill>
                  </a:rPr>
                  <a:t>jednostavne</a:t>
                </a:r>
                <a:r>
                  <a:rPr lang="en-ZA" b="0" dirty="0">
                    <a:solidFill>
                      <a:schemeClr val="tx1"/>
                    </a:solidFill>
                  </a:rPr>
                  <a:t> </a:t>
                </a:r>
                <a:r>
                  <a:rPr lang="en-ZA" b="0" dirty="0" err="1">
                    <a:solidFill>
                      <a:schemeClr val="tx1"/>
                    </a:solidFill>
                  </a:rPr>
                  <a:t>komponente</a:t>
                </a:r>
                <a:r>
                  <a:rPr lang="en-ZA" b="0" dirty="0">
                    <a:solidFill>
                      <a:schemeClr val="tx1"/>
                    </a:solidFill>
                  </a:rPr>
                  <a:t>, </a:t>
                </a:r>
                <a:r>
                  <a:rPr lang="en-ZA" b="0" dirty="0" err="1">
                    <a:solidFill>
                      <a:schemeClr val="tx1"/>
                    </a:solidFill>
                  </a:rPr>
                  <a:t>omogućavajući</a:t>
                </a:r>
                <a:r>
                  <a:rPr lang="en-ZA" b="0" dirty="0">
                    <a:solidFill>
                      <a:schemeClr val="tx1"/>
                    </a:solidFill>
                  </a:rPr>
                  <a:t> </a:t>
                </a:r>
                <a:r>
                  <a:rPr lang="en-ZA" b="0" dirty="0" err="1">
                    <a:solidFill>
                      <a:schemeClr val="tx1"/>
                    </a:solidFill>
                  </a:rPr>
                  <a:t>efikasnije</a:t>
                </a:r>
                <a:r>
                  <a:rPr lang="en-ZA" b="0" dirty="0">
                    <a:solidFill>
                      <a:schemeClr val="tx1"/>
                    </a:solidFill>
                  </a:rPr>
                  <a:t> </a:t>
                </a:r>
                <a:r>
                  <a:rPr lang="en-ZA" b="0" dirty="0" err="1">
                    <a:solidFill>
                      <a:schemeClr val="tx1"/>
                    </a:solidFill>
                  </a:rPr>
                  <a:t>računanje</a:t>
                </a:r>
                <a:r>
                  <a:rPr lang="en-ZA" b="0" dirty="0">
                    <a:solidFill>
                      <a:schemeClr val="tx1"/>
                    </a:solidFill>
                  </a:rPr>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54</a:t>
            </a:fld>
            <a:endParaRPr lang="en-US"/>
          </a:p>
        </p:txBody>
      </p:sp>
    </p:spTree>
    <p:extLst>
      <p:ext uri="{BB962C8B-B14F-4D97-AF65-F5344CB8AC3E}">
        <p14:creationId xmlns:p14="http://schemas.microsoft.com/office/powerpoint/2010/main" val="387613421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For example, if we know an operator Z together with its eigenvalues and eigenvectors, we can find its decomposition by simply using the formula. Each eigenvalue is multiplied by the ket-bra of its matching eigenvector, and the results are added together, giving us the sum of two simpler matrices.</a:t>
                </a:r>
                <a:endParaRPr lang="en-ZA" b="0" dirty="0"/>
              </a:p>
            </p:txBody>
          </p:sp>
        </mc:Choice>
        <mc:Fallback xmlns="">
          <p:sp>
            <p:nvSpPr>
              <p:cNvPr id="3" name="Notes Placeholder 2"/>
              <p:cNvSpPr>
                <a:spLocks noGrp="1"/>
              </p:cNvSpPr>
              <p:nvPr>
                <p:ph type="body" idx="1"/>
              </p:nvPr>
            </p:nvSpPr>
            <p:spPr/>
            <p:txBody>
              <a:bodyPr/>
              <a:lstStyle/>
              <a:p>
                <a:r>
                  <a:rPr lang="en-US" dirty="0"/>
                  <a:t>Na primer, </a:t>
                </a:r>
                <a:r>
                  <a:rPr lang="en-US" dirty="0" err="1"/>
                  <a:t>ako</a:t>
                </a:r>
                <a:r>
                  <a:rPr lang="en-US" dirty="0"/>
                  <a:t> </a:t>
                </a:r>
                <a:r>
                  <a:rPr lang="en-US" dirty="0" err="1"/>
                  <a:t>je</a:t>
                </a:r>
                <a:r>
                  <a:rPr lang="en-US" dirty="0"/>
                  <a:t> </a:t>
                </a:r>
                <a:r>
                  <a:rPr lang="en-US" dirty="0" err="1"/>
                  <a:t>dat</a:t>
                </a:r>
                <a:r>
                  <a:rPr lang="en-US" dirty="0"/>
                  <a:t> operator </a:t>
                </a:r>
                <a:r>
                  <a:rPr lang="sr-Latn-RS" sz="1200" i="0">
                    <a:latin typeface="Cambria Math" panose="02040503050406030204" pitchFamily="18" charset="0"/>
                  </a:rPr>
                  <a:t>𝑋</a:t>
                </a:r>
                <a:r>
                  <a:rPr lang="en-US" dirty="0"/>
                  <a:t>, </a:t>
                </a:r>
                <a:r>
                  <a:rPr lang="en-US" dirty="0" err="1"/>
                  <a:t>zajedno</a:t>
                </a:r>
                <a:r>
                  <a:rPr lang="en-US" dirty="0"/>
                  <a:t> </a:t>
                </a:r>
                <a:r>
                  <a:rPr lang="en-US" dirty="0" err="1"/>
                  <a:t>sa</a:t>
                </a:r>
                <a:r>
                  <a:rPr lang="en-US" dirty="0"/>
                  <a:t> </a:t>
                </a:r>
                <a:r>
                  <a:rPr lang="en-US" dirty="0" err="1"/>
                  <a:t>sopstvenim</a:t>
                </a:r>
                <a:r>
                  <a:rPr lang="en-US" dirty="0"/>
                  <a:t> </a:t>
                </a:r>
                <a:r>
                  <a:rPr lang="en-US" dirty="0" err="1"/>
                  <a:t>vrednostima</a:t>
                </a:r>
                <a:r>
                  <a:rPr lang="en-US" dirty="0"/>
                  <a:t> </a:t>
                </a:r>
                <a:r>
                  <a:rPr lang="en-US" dirty="0" err="1"/>
                  <a:t>i</a:t>
                </a:r>
                <a:r>
                  <a:rPr lang="en-US" dirty="0"/>
                  <a:t> </a:t>
                </a:r>
                <a:r>
                  <a:rPr lang="en-US" dirty="0" err="1"/>
                  <a:t>sopstvenim</a:t>
                </a:r>
                <a:r>
                  <a:rPr lang="en-US" dirty="0"/>
                  <a:t> </a:t>
                </a:r>
                <a:r>
                  <a:rPr lang="en-US" dirty="0" err="1"/>
                  <a:t>vektorima</a:t>
                </a:r>
                <a:r>
                  <a:rPr lang="en-US" dirty="0"/>
                  <a:t>, </a:t>
                </a:r>
                <a:r>
                  <a:rPr lang="en-US" dirty="0" err="1"/>
                  <a:t>razlaganje</a:t>
                </a:r>
                <a:r>
                  <a:rPr lang="en-US" dirty="0"/>
                  <a:t> </a:t>
                </a:r>
                <a:r>
                  <a:rPr lang="en-US" dirty="0" err="1"/>
                  <a:t>operatora</a:t>
                </a:r>
                <a:r>
                  <a:rPr lang="en-US" dirty="0"/>
                  <a:t> se </a:t>
                </a:r>
                <a:r>
                  <a:rPr lang="en-US" dirty="0" err="1"/>
                  <a:t>vrši</a:t>
                </a:r>
                <a:r>
                  <a:rPr lang="en-US" dirty="0"/>
                  <a:t> </a:t>
                </a:r>
                <a:r>
                  <a:rPr lang="en-US" dirty="0" err="1"/>
                  <a:t>direktnom</a:t>
                </a:r>
                <a:r>
                  <a:rPr lang="en-US" dirty="0"/>
                  <a:t> </a:t>
                </a:r>
                <a:r>
                  <a:rPr lang="en-US" dirty="0" err="1"/>
                  <a:t>primenom</a:t>
                </a:r>
                <a:r>
                  <a:rPr lang="en-US" dirty="0"/>
                  <a:t> </a:t>
                </a:r>
                <a:r>
                  <a:rPr lang="en-US" dirty="0" err="1"/>
                  <a:t>formule</a:t>
                </a:r>
                <a:r>
                  <a:rPr lang="en-US"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55</a:t>
            </a:fld>
            <a:endParaRPr lang="en-US"/>
          </a:p>
        </p:txBody>
      </p:sp>
    </p:spTree>
    <p:extLst>
      <p:ext uri="{BB962C8B-B14F-4D97-AF65-F5344CB8AC3E}">
        <p14:creationId xmlns:p14="http://schemas.microsoft.com/office/powerpoint/2010/main" val="56420540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b="0" dirty="0"/>
              <a:t>Boolean algebra is the study of logical operations. It was founded by George Boole, after whom it is named.</a:t>
            </a:r>
          </a:p>
          <a:p>
            <a:endParaRPr lang="en-ZA" b="0" dirty="0"/>
          </a:p>
          <a:p>
            <a:r>
              <a:rPr lang="en-ZA" b="0" dirty="0"/>
              <a:t>In quantum computing, Boolean algebra does not play as central a role as it does in classical computing, but it is still essential for working with logical expressions and certain computational tasks.</a:t>
            </a:r>
          </a:p>
        </p:txBody>
      </p:sp>
      <p:sp>
        <p:nvSpPr>
          <p:cNvPr id="4" name="Slide Number Placeholder 3"/>
          <p:cNvSpPr>
            <a:spLocks noGrp="1"/>
          </p:cNvSpPr>
          <p:nvPr>
            <p:ph type="sldNum" sz="quarter" idx="5"/>
          </p:nvPr>
        </p:nvSpPr>
        <p:spPr/>
        <p:txBody>
          <a:bodyPr/>
          <a:lstStyle/>
          <a:p>
            <a:fld id="{1B2CE5E3-B8BD-D040-AC87-D640191DD8F1}" type="slidenum">
              <a:rPr lang="en-US" smtClean="0"/>
              <a:t>56</a:t>
            </a:fld>
            <a:endParaRPr lang="en-US"/>
          </a:p>
        </p:txBody>
      </p:sp>
    </p:spTree>
    <p:extLst>
      <p:ext uri="{BB962C8B-B14F-4D97-AF65-F5344CB8AC3E}">
        <p14:creationId xmlns:p14="http://schemas.microsoft.com/office/powerpoint/2010/main" val="37110554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in Boolean algebra, variables can only have two values: true or false. In programming languages, these are typically represented as constants True (1) and False (0).</a:t>
                </a:r>
              </a:p>
              <a:p>
                <a:pPr algn="just"/>
                <a:endParaRPr lang="en-ZA" b="0" dirty="0"/>
              </a:p>
              <a:p>
                <a:pPr algn="just"/>
                <a:r>
                  <a:rPr lang="en-ZA" b="0" dirty="0"/>
                  <a:t>The fundamental Boolean operators are:</a:t>
                </a:r>
              </a:p>
              <a:p>
                <a:pPr algn="just"/>
                <a:endParaRPr lang="en-ZA" b="0" dirty="0"/>
              </a:p>
              <a:p>
                <a:pPr algn="just"/>
                <a:r>
                  <a:rPr lang="en-ZA" b="0" dirty="0"/>
                  <a:t>AND – True if both inputs are true.</a:t>
                </a:r>
              </a:p>
              <a:p>
                <a:pPr algn="just"/>
                <a:r>
                  <a:rPr lang="en-ZA" b="0" dirty="0"/>
                  <a:t>OR – True if at least one input is true.</a:t>
                </a:r>
              </a:p>
              <a:p>
                <a:pPr algn="just"/>
                <a:r>
                  <a:rPr lang="en-ZA" b="0" dirty="0"/>
                  <a:t>NOT – Inverts the truth value.</a:t>
                </a:r>
              </a:p>
              <a:p>
                <a:pPr algn="just"/>
                <a:r>
                  <a:rPr lang="en-ZA" b="0" dirty="0"/>
                  <a:t>XOR (exclusive OR – True if exactly one input is true.</a:t>
                </a:r>
              </a:p>
              <a:p>
                <a:pPr algn="just"/>
                <a:endParaRPr lang="en-ZA" b="0" dirty="0"/>
              </a:p>
              <a:p>
                <a:pPr algn="just"/>
                <a:r>
                  <a:rPr lang="en-ZA" b="0" dirty="0"/>
                  <a:t>Basic logical operations involve a single operator and one or two operands from the set {0,1}. More complex logical expressions are formed by combining Boolean variables and operators.</a:t>
                </a:r>
              </a:p>
              <a:p>
                <a:pPr algn="just"/>
                <a:endParaRPr lang="en-ZA" b="0" dirty="0"/>
              </a:p>
              <a:p>
                <a:pPr algn="just"/>
                <a:r>
                  <a:rPr lang="en-ZA" dirty="0"/>
                  <a:t>A Boolean expression is a logical statement that always evaluates to either true or false. It consists of logical operators and literals, where a literal is a variable or its negation.</a:t>
                </a:r>
                <a:endParaRPr lang="en-ZA" sz="1200" dirty="0"/>
              </a:p>
            </p:txBody>
          </p:sp>
        </mc:Choice>
        <mc:Fallback xmlns="">
          <p:sp>
            <p:nvSpPr>
              <p:cNvPr id="3" name="Notes Placeholder 2"/>
              <p:cNvSpPr>
                <a:spLocks noGrp="1"/>
              </p:cNvSpPr>
              <p:nvPr>
                <p:ph type="body" idx="1"/>
              </p:nvPr>
            </p:nvSpPr>
            <p:spPr/>
            <p:txBody>
              <a:bodyPr/>
              <a:lstStyle/>
              <a:p>
                <a:r>
                  <a:rPr lang="en-US" dirty="0" err="1"/>
                  <a:t>Za</a:t>
                </a:r>
                <a:r>
                  <a:rPr lang="en-US" dirty="0"/>
                  <a:t> </a:t>
                </a:r>
                <a:r>
                  <a:rPr lang="en-US" dirty="0" err="1"/>
                  <a:t>razliku</a:t>
                </a:r>
                <a:r>
                  <a:rPr lang="en-US" dirty="0"/>
                  <a:t> od </a:t>
                </a:r>
                <a:r>
                  <a:rPr lang="en-US" dirty="0" err="1"/>
                  <a:t>elementarne</a:t>
                </a:r>
                <a:r>
                  <a:rPr lang="en-US" dirty="0"/>
                  <a:t> </a:t>
                </a:r>
                <a:r>
                  <a:rPr lang="en-US" dirty="0" err="1"/>
                  <a:t>algebre</a:t>
                </a:r>
                <a:r>
                  <a:rPr lang="en-US" dirty="0"/>
                  <a:t>, </a:t>
                </a:r>
                <a:r>
                  <a:rPr lang="en-US" dirty="0" err="1"/>
                  <a:t>gde</a:t>
                </a:r>
                <a:r>
                  <a:rPr lang="en-US" dirty="0"/>
                  <a:t> </a:t>
                </a:r>
                <a:r>
                  <a:rPr lang="en-US" dirty="0" err="1"/>
                  <a:t>promenljive</a:t>
                </a:r>
                <a:r>
                  <a:rPr lang="en-US" dirty="0"/>
                  <a:t> </a:t>
                </a:r>
                <a:r>
                  <a:rPr lang="en-US" dirty="0" err="1"/>
                  <a:t>za</a:t>
                </a:r>
                <a:r>
                  <a:rPr lang="en-US" dirty="0"/>
                  <a:t> </a:t>
                </a:r>
                <a:r>
                  <a:rPr lang="en-US" dirty="0" err="1"/>
                  <a:t>vrednosti</a:t>
                </a:r>
                <a:r>
                  <a:rPr lang="en-US" dirty="0"/>
                  <a:t> </a:t>
                </a:r>
                <a:r>
                  <a:rPr lang="en-US" dirty="0" err="1"/>
                  <a:t>imaju</a:t>
                </a:r>
                <a:r>
                  <a:rPr lang="en-US" dirty="0"/>
                  <a:t> </a:t>
                </a:r>
                <a:r>
                  <a:rPr lang="en-US" dirty="0" err="1"/>
                  <a:t>brojeve</a:t>
                </a:r>
                <a:r>
                  <a:rPr lang="en-US" dirty="0"/>
                  <a:t>, u </a:t>
                </a:r>
                <a:r>
                  <a:rPr lang="en-US" dirty="0" err="1"/>
                  <a:t>Bulovoj</a:t>
                </a:r>
                <a:r>
                  <a:rPr lang="en-US" dirty="0"/>
                  <a:t> </a:t>
                </a:r>
                <a:r>
                  <a:rPr lang="en-US" dirty="0" err="1"/>
                  <a:t>algebri</a:t>
                </a:r>
                <a:r>
                  <a:rPr lang="en-US" dirty="0"/>
                  <a:t> </a:t>
                </a:r>
                <a:r>
                  <a:rPr lang="en-US" dirty="0" err="1"/>
                  <a:t>vrednosti</a:t>
                </a:r>
                <a:r>
                  <a:rPr lang="en-US" dirty="0"/>
                  <a:t> </a:t>
                </a:r>
                <a:r>
                  <a:rPr lang="en-US" dirty="0" err="1"/>
                  <a:t>promenljivih</a:t>
                </a:r>
                <a:r>
                  <a:rPr lang="en-US" dirty="0"/>
                  <a:t> </a:t>
                </a:r>
                <a:r>
                  <a:rPr lang="en-US" dirty="0" err="1"/>
                  <a:t>mogu</a:t>
                </a:r>
                <a:r>
                  <a:rPr lang="en-US" dirty="0"/>
                  <a:t> </a:t>
                </a:r>
                <a:r>
                  <a:rPr lang="en-US" dirty="0" err="1"/>
                  <a:t>biti</a:t>
                </a:r>
                <a:r>
                  <a:rPr lang="en-US" dirty="0"/>
                  <a:t> </a:t>
                </a:r>
                <a:r>
                  <a:rPr lang="en-US" dirty="0" err="1"/>
                  <a:t>samo</a:t>
                </a:r>
                <a:r>
                  <a:rPr lang="en-US" dirty="0"/>
                  <a:t> </a:t>
                </a:r>
                <a:r>
                  <a:rPr lang="en-US" dirty="0" err="1"/>
                  <a:t>tačno</a:t>
                </a:r>
                <a:r>
                  <a:rPr lang="en-US" dirty="0"/>
                  <a:t> </a:t>
                </a:r>
                <a:r>
                  <a:rPr lang="en-US" dirty="0" err="1"/>
                  <a:t>i</a:t>
                </a:r>
                <a:r>
                  <a:rPr lang="en-US" dirty="0"/>
                  <a:t> </a:t>
                </a:r>
                <a:r>
                  <a:rPr lang="en-US" dirty="0" err="1"/>
                  <a:t>netačno</a:t>
                </a:r>
                <a:r>
                  <a:rPr lang="en-US" dirty="0"/>
                  <a:t>. U </a:t>
                </a:r>
                <a:r>
                  <a:rPr lang="en-US" dirty="0" err="1"/>
                  <a:t>programskim</a:t>
                </a:r>
                <a:r>
                  <a:rPr lang="en-US" dirty="0"/>
                  <a:t> </a:t>
                </a:r>
                <a:r>
                  <a:rPr lang="en-US" dirty="0" err="1"/>
                  <a:t>jezicima</a:t>
                </a:r>
                <a:r>
                  <a:rPr lang="en-US" dirty="0"/>
                  <a:t>, </a:t>
                </a:r>
                <a:r>
                  <a:rPr lang="en-US" dirty="0" err="1"/>
                  <a:t>tačno</a:t>
                </a:r>
                <a:r>
                  <a:rPr lang="en-US" dirty="0"/>
                  <a:t> se </a:t>
                </a:r>
                <a:r>
                  <a:rPr lang="en-US" dirty="0" err="1"/>
                  <a:t>označava</a:t>
                </a:r>
                <a:r>
                  <a:rPr lang="en-US" dirty="0"/>
                  <a:t> </a:t>
                </a:r>
                <a:r>
                  <a:rPr lang="en-US" dirty="0" err="1"/>
                  <a:t>kao</a:t>
                </a:r>
                <a:r>
                  <a:rPr lang="en-US" dirty="0"/>
                  <a:t> True </a:t>
                </a:r>
                <a:r>
                  <a:rPr lang="en-US" dirty="0" err="1"/>
                  <a:t>ili</a:t>
                </a:r>
                <a:r>
                  <a:rPr lang="en-US" dirty="0"/>
                  <a:t> 1, a </a:t>
                </a:r>
                <a:r>
                  <a:rPr lang="en-US" dirty="0" err="1"/>
                  <a:t>netačno</a:t>
                </a:r>
                <a:r>
                  <a:rPr lang="en-US" dirty="0"/>
                  <a:t> </a:t>
                </a:r>
                <a:r>
                  <a:rPr lang="en-US" dirty="0" err="1"/>
                  <a:t>kao</a:t>
                </a:r>
                <a:r>
                  <a:rPr lang="en-US" dirty="0"/>
                  <a:t> False </a:t>
                </a:r>
                <a:r>
                  <a:rPr lang="en-US" dirty="0" err="1"/>
                  <a:t>ili</a:t>
                </a:r>
                <a:r>
                  <a:rPr lang="en-US" dirty="0"/>
                  <a:t> 0.</a:t>
                </a:r>
              </a:p>
              <a:p>
                <a:endParaRPr lang="en-US" dirty="0"/>
              </a:p>
              <a:p>
                <a:r>
                  <a:rPr lang="en-ZA" dirty="0" err="1"/>
                  <a:t>Operatori</a:t>
                </a:r>
                <a:r>
                  <a:rPr lang="en-ZA" dirty="0"/>
                  <a:t> </a:t>
                </a:r>
                <a:r>
                  <a:rPr lang="en-ZA" dirty="0" err="1"/>
                  <a:t>Bulove</a:t>
                </a:r>
                <a:r>
                  <a:rPr lang="en-ZA" dirty="0"/>
                  <a:t> </a:t>
                </a:r>
                <a:r>
                  <a:rPr lang="en-ZA" dirty="0" err="1"/>
                  <a:t>algebre</a:t>
                </a:r>
                <a:r>
                  <a:rPr lang="en-ZA" dirty="0"/>
                  <a:t> </a:t>
                </a:r>
                <a:r>
                  <a:rPr lang="en-ZA" dirty="0" err="1"/>
                  <a:t>su</a:t>
                </a:r>
                <a:r>
                  <a:rPr lang="en-ZA" dirty="0"/>
                  <a:t>: I (AND), ILI (OR), NE (NOT) </a:t>
                </a:r>
                <a:r>
                  <a:rPr lang="en-ZA" dirty="0" err="1"/>
                  <a:t>i</a:t>
                </a:r>
                <a:r>
                  <a:rPr lang="en-ZA" dirty="0"/>
                  <a:t> ISKLJUČIVO ILI (XOR).</a:t>
                </a:r>
              </a:p>
              <a:p>
                <a:endParaRPr lang="en-ZA" sz="1200" kern="1200" dirty="0">
                  <a:solidFill>
                    <a:schemeClr val="tx1"/>
                  </a:solidFill>
                  <a:effectLst/>
                  <a:latin typeface="+mn-lt"/>
                  <a:ea typeface="+mn-ea"/>
                  <a:cs typeface="+mn-cs"/>
                </a:endParaRPr>
              </a:p>
              <a:p>
                <a:r>
                  <a:rPr lang="sr-Latn-RS" sz="1200" kern="1200" dirty="0">
                    <a:solidFill>
                      <a:schemeClr val="tx1"/>
                    </a:solidFill>
                    <a:effectLst/>
                    <a:latin typeface="+mn-lt"/>
                    <a:ea typeface="+mn-ea"/>
                    <a:cs typeface="+mn-cs"/>
                  </a:rPr>
                  <a:t>Osnovne logičke operacije se sastoje od jednog operatora  i jednog ili dva </a:t>
                </a:r>
                <a:r>
                  <a:rPr lang="sr-Latn-RS" sz="1200" kern="1200" dirty="0" err="1">
                    <a:solidFill>
                      <a:schemeClr val="tx1"/>
                    </a:solidFill>
                    <a:effectLst/>
                    <a:latin typeface="+mn-lt"/>
                    <a:ea typeface="+mn-ea"/>
                    <a:cs typeface="+mn-cs"/>
                  </a:rPr>
                  <a:t>operanda</a:t>
                </a:r>
                <a:r>
                  <a:rPr lang="sr-Latn-RS" sz="1200" kern="1200" dirty="0">
                    <a:solidFill>
                      <a:schemeClr val="tx1"/>
                    </a:solidFill>
                    <a:effectLst/>
                    <a:latin typeface="+mn-lt"/>
                    <a:ea typeface="+mn-ea"/>
                    <a:cs typeface="+mn-cs"/>
                  </a:rPr>
                  <a:t> iz skupa vrednosti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0,1}</a:t>
                </a:r>
                <a:r>
                  <a:rPr lang="sr-Latn-RS" sz="1200" kern="1200" dirty="0">
                    <a:solidFill>
                      <a:schemeClr val="tx1"/>
                    </a:solidFill>
                    <a:effectLst/>
                    <a:latin typeface="+mn-lt"/>
                    <a:ea typeface="+mn-ea"/>
                    <a:cs typeface="+mn-cs"/>
                  </a:rPr>
                  <a:t>. Složeniji logički izrazi se dobijaju kombinovanjem logičkih promenljivih i operatora. </a:t>
                </a: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57</a:t>
            </a:fld>
            <a:endParaRPr lang="en-US"/>
          </a:p>
        </p:txBody>
      </p:sp>
    </p:spTree>
    <p:extLst>
      <p:ext uri="{BB962C8B-B14F-4D97-AF65-F5344CB8AC3E}">
        <p14:creationId xmlns:p14="http://schemas.microsoft.com/office/powerpoint/2010/main" val="56945470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The table shows the truth table for logical operations, where the logical variables </a:t>
                </a:r>
                <a14:m>
                  <m:oMath xmlns:m="http://schemas.openxmlformats.org/officeDocument/2006/math">
                    <m:r>
                      <a:rPr lang="en-US" sz="1200" b="0" i="1" smtClean="0">
                        <a:effectLst/>
                        <a:latin typeface="Cambria Math" panose="02040503050406030204" pitchFamily="18" charset="0"/>
                      </a:rPr>
                      <m:t>𝑎</m:t>
                    </m:r>
                  </m:oMath>
                </a14:m>
                <a:r>
                  <a:rPr lang="en-ZA" b="0" dirty="0"/>
                  <a:t> and </a:t>
                </a:r>
                <a14:m>
                  <m:oMath xmlns:m="http://schemas.openxmlformats.org/officeDocument/2006/math">
                    <m:r>
                      <a:rPr lang="en-US" sz="1200" b="0" i="1" smtClean="0">
                        <a:effectLst/>
                        <a:latin typeface="Cambria Math" panose="02040503050406030204" pitchFamily="18" charset="0"/>
                      </a:rPr>
                      <m:t>𝑏</m:t>
                    </m:r>
                  </m:oMath>
                </a14:m>
                <a:r>
                  <a:rPr lang="en-ZA" b="0" dirty="0"/>
                  <a:t> take values from the set {0,1}.</a:t>
                </a:r>
              </a:p>
              <a:p>
                <a:pPr algn="just"/>
                <a:endParaRPr lang="en-ZA" b="0" dirty="0"/>
              </a:p>
              <a:p>
                <a:pPr algn="just"/>
                <a:r>
                  <a:rPr lang="en-ZA" b="0" dirty="0"/>
                  <a:t>In quantum computing, the exclusive OR (XOR) operation is of particular interest because it is reversible. This means that, given the result and one operand, the same operation can be used to determine the other operand.</a:t>
                </a:r>
              </a:p>
              <a:p>
                <a:pPr algn="just"/>
                <a:endParaRPr lang="en-ZA" b="0" dirty="0"/>
              </a:p>
              <a:p>
                <a:pPr algn="just"/>
                <a:r>
                  <a:rPr lang="en-ZA" b="0" dirty="0"/>
                  <a:t>For future reference, the slide gives some key properties of the XOR operation.</a:t>
                </a:r>
              </a:p>
            </p:txBody>
          </p:sp>
        </mc:Choice>
        <mc:Fallback xmlns="">
          <p:sp>
            <p:nvSpPr>
              <p:cNvPr id="3" name="Notes Placeholder 2"/>
              <p:cNvSpPr>
                <a:spLocks noGrp="1"/>
              </p:cNvSpPr>
              <p:nvPr>
                <p:ph type="body" idx="1"/>
              </p:nvPr>
            </p:nvSpPr>
            <p:spPr/>
            <p:txBody>
              <a:bodyPr/>
              <a:lstStyle/>
              <a:p>
                <a:pPr algn="just"/>
                <a:r>
                  <a:rPr lang="sr-Latn-RS" sz="1200" kern="1200" dirty="0">
                    <a:solidFill>
                      <a:schemeClr val="tx1"/>
                    </a:solidFill>
                    <a:effectLst/>
                    <a:latin typeface="+mn-lt"/>
                    <a:ea typeface="+mn-ea"/>
                    <a:cs typeface="+mn-cs"/>
                  </a:rPr>
                  <a:t>Tabela prikazuje tablicu istinitosti logičkih operacija, gde logičke promenljive </a:t>
                </a:r>
                <a:r>
                  <a:rPr lang="sr-Latn-RS" sz="1200" i="0" kern="1200">
                    <a:solidFill>
                      <a:schemeClr val="tx1"/>
                    </a:solidFill>
                    <a:effectLst/>
                    <a:latin typeface="+mn-lt"/>
                    <a:ea typeface="+mn-ea"/>
                    <a:cs typeface="+mn-cs"/>
                  </a:rPr>
                  <a:t>𝑎</a:t>
                </a:r>
                <a:r>
                  <a:rPr lang="sr-Latn-RS" sz="1200" kern="1200" dirty="0">
                    <a:solidFill>
                      <a:schemeClr val="tx1"/>
                    </a:solidFill>
                    <a:effectLst/>
                    <a:latin typeface="+mn-lt"/>
                    <a:ea typeface="+mn-ea"/>
                    <a:cs typeface="+mn-cs"/>
                  </a:rPr>
                  <a:t> i </a:t>
                </a:r>
                <a:r>
                  <a:rPr lang="sr-Latn-RS" sz="1200" i="0" kern="1200">
                    <a:solidFill>
                      <a:schemeClr val="tx1"/>
                    </a:solidFill>
                    <a:effectLst/>
                    <a:latin typeface="+mn-lt"/>
                    <a:ea typeface="+mn-ea"/>
                    <a:cs typeface="+mn-cs"/>
                  </a:rPr>
                  <a:t>𝑏</a:t>
                </a:r>
                <a:r>
                  <a:rPr lang="sr-Latn-RS" sz="1200" kern="1200" dirty="0">
                    <a:solidFill>
                      <a:schemeClr val="tx1"/>
                    </a:solidFill>
                    <a:effectLst/>
                    <a:latin typeface="+mn-lt"/>
                    <a:ea typeface="+mn-ea"/>
                    <a:cs typeface="+mn-cs"/>
                  </a:rPr>
                  <a:t> uzimaju vrednosti iz skupa </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0,1}</a:t>
                </a:r>
                <a:r>
                  <a:rPr lang="sr-Latn-RS" sz="1200" kern="1200" dirty="0">
                    <a:solidFill>
                      <a:schemeClr val="tx1"/>
                    </a:solidFill>
                    <a:effectLst/>
                    <a:latin typeface="+mn-lt"/>
                    <a:ea typeface="+mn-ea"/>
                    <a:cs typeface="+mn-cs"/>
                  </a:rPr>
                  <a:t>.</a:t>
                </a:r>
                <a:r>
                  <a:rPr lang="en-ZA" dirty="0">
                    <a:effectLst/>
                  </a:rPr>
                  <a:t> </a:t>
                </a:r>
              </a:p>
              <a:p>
                <a:pPr algn="just"/>
                <a:endParaRPr lang="en-ZA" dirty="0">
                  <a:effectLst/>
                </a:endParaRPr>
              </a:p>
              <a:p>
                <a:pPr algn="just"/>
                <a:r>
                  <a:rPr lang="sr-Latn-RS" sz="1200" kern="1200" dirty="0">
                    <a:solidFill>
                      <a:schemeClr val="tx1"/>
                    </a:solidFill>
                    <a:effectLst/>
                    <a:latin typeface="+mn-lt"/>
                    <a:ea typeface="+mn-ea"/>
                    <a:cs typeface="+mn-cs"/>
                  </a:rPr>
                  <a:t>U kvantnom računarstvu od posebnog je interesa isključivo ILI operacija, jer je </a:t>
                </a:r>
                <a:r>
                  <a:rPr lang="sr-Latn-RS" sz="1200" kern="1200" dirty="0" err="1">
                    <a:solidFill>
                      <a:schemeClr val="tx1"/>
                    </a:solidFill>
                    <a:effectLst/>
                    <a:latin typeface="+mn-lt"/>
                    <a:ea typeface="+mn-ea"/>
                    <a:cs typeface="+mn-cs"/>
                  </a:rPr>
                  <a:t>reverzibilna</a:t>
                </a:r>
                <a:r>
                  <a:rPr lang="sr-Latn-RS" sz="1200" kern="1200" dirty="0">
                    <a:solidFill>
                      <a:schemeClr val="tx1"/>
                    </a:solidFill>
                    <a:effectLst/>
                    <a:latin typeface="+mn-lt"/>
                    <a:ea typeface="+mn-ea"/>
                    <a:cs typeface="+mn-cs"/>
                  </a:rPr>
                  <a:t>, odnosno, znajući rezultat i jedan </a:t>
                </a:r>
                <a:r>
                  <a:rPr lang="sr-Latn-RS" sz="1200" kern="1200" dirty="0" err="1">
                    <a:solidFill>
                      <a:schemeClr val="tx1"/>
                    </a:solidFill>
                    <a:effectLst/>
                    <a:latin typeface="+mn-lt"/>
                    <a:ea typeface="+mn-ea"/>
                    <a:cs typeface="+mn-cs"/>
                  </a:rPr>
                  <a:t>operand</a:t>
                </a:r>
                <a:r>
                  <a:rPr lang="sr-Latn-RS" sz="1200" kern="1200" dirty="0">
                    <a:solidFill>
                      <a:schemeClr val="tx1"/>
                    </a:solidFill>
                    <a:effectLst/>
                    <a:latin typeface="+mn-lt"/>
                    <a:ea typeface="+mn-ea"/>
                    <a:cs typeface="+mn-cs"/>
                  </a:rPr>
                  <a:t>, istom operacijom se dobija drugi </a:t>
                </a:r>
                <a:r>
                  <a:rPr lang="sr-Latn-RS" sz="1200" kern="1200" dirty="0" err="1">
                    <a:solidFill>
                      <a:schemeClr val="tx1"/>
                    </a:solidFill>
                    <a:effectLst/>
                    <a:latin typeface="+mn-lt"/>
                    <a:ea typeface="+mn-ea"/>
                    <a:cs typeface="+mn-cs"/>
                  </a:rPr>
                  <a:t>operand</a:t>
                </a:r>
                <a:r>
                  <a:rPr lang="sr-Latn-RS" sz="1200" kern="1200" dirty="0">
                    <a:solidFill>
                      <a:schemeClr val="tx1"/>
                    </a:solidFill>
                    <a:effectLst/>
                    <a:latin typeface="+mn-lt"/>
                    <a:ea typeface="+mn-ea"/>
                    <a:cs typeface="+mn-cs"/>
                  </a:rPr>
                  <a:t>. Kao buduću referencu, slika prikazuje nekoliko svojstava XOR operacije.</a:t>
                </a:r>
                <a:endParaRPr lang="en-US"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58</a:t>
            </a:fld>
            <a:endParaRPr lang="en-US"/>
          </a:p>
        </p:txBody>
      </p:sp>
    </p:spTree>
    <p:extLst>
      <p:ext uri="{BB962C8B-B14F-4D97-AF65-F5344CB8AC3E}">
        <p14:creationId xmlns:p14="http://schemas.microsoft.com/office/powerpoint/2010/main" val="423003165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b="0" dirty="0"/>
              <a:t>Boolean expressions can be reduced to simpler forms using De Morgan’s laws, named after the British mathematician Augustus De Morgan.</a:t>
            </a:r>
          </a:p>
          <a:p>
            <a:pPr algn="just"/>
            <a:endParaRPr lang="en-ZA" b="0" dirty="0"/>
          </a:p>
          <a:p>
            <a:pPr algn="just"/>
            <a:r>
              <a:rPr lang="en-ZA" b="0" dirty="0"/>
              <a:t>De Morgan’s laws describe the relationship between the logical operations AND, OR, and NOT. They show how the negation of a logical expression can be distributed over its individual parts.</a:t>
            </a:r>
          </a:p>
          <a:p>
            <a:pPr algn="just"/>
            <a:endParaRPr lang="en-ZA" b="0" dirty="0"/>
          </a:p>
          <a:p>
            <a:pPr algn="just"/>
            <a:r>
              <a:rPr lang="en-ZA" b="0" dirty="0"/>
              <a:t>When an expression involving AND is negated, AND changes to OR, and each part of the expression is individually negated. Similarly, when an expression involving OR is negated, OR changes to AND, with each part again being negated.</a:t>
            </a:r>
          </a:p>
          <a:p>
            <a:pPr algn="just"/>
            <a:endParaRPr lang="en-ZA" b="0" dirty="0"/>
          </a:p>
          <a:p>
            <a:pPr algn="just"/>
            <a:r>
              <a:rPr lang="en-ZA" b="0" dirty="0"/>
              <a:t>In simple terms, when a negation is moved through a logical expression, AND and OR interchange.</a:t>
            </a:r>
          </a:p>
        </p:txBody>
      </p:sp>
      <p:sp>
        <p:nvSpPr>
          <p:cNvPr id="4" name="Slide Number Placeholder 3"/>
          <p:cNvSpPr>
            <a:spLocks noGrp="1"/>
          </p:cNvSpPr>
          <p:nvPr>
            <p:ph type="sldNum" sz="quarter" idx="5"/>
          </p:nvPr>
        </p:nvSpPr>
        <p:spPr/>
        <p:txBody>
          <a:bodyPr/>
          <a:lstStyle/>
          <a:p>
            <a:fld id="{1B2CE5E3-B8BD-D040-AC87-D640191DD8F1}" type="slidenum">
              <a:rPr lang="en-US" smtClean="0"/>
              <a:t>59</a:t>
            </a:fld>
            <a:endParaRPr lang="en-US"/>
          </a:p>
        </p:txBody>
      </p:sp>
    </p:spTree>
    <p:extLst>
      <p:ext uri="{BB962C8B-B14F-4D97-AF65-F5344CB8AC3E}">
        <p14:creationId xmlns:p14="http://schemas.microsoft.com/office/powerpoint/2010/main" val="185468578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sz="1200" b="0" dirty="0"/>
                  <a:t>Conjunctive Normal Form (CNF) is a Boolean expression represented as a conjunction of multiple clauses</a:t>
                </a:r>
                <a:r>
                  <a:rPr lang="en-US" sz="200" b="0" i="1" dirty="0">
                    <a:latin typeface="Cambria Math" panose="02040503050406030204" pitchFamily="18" charset="0"/>
                  </a:rPr>
                  <a:t>, </a:t>
                </a:r>
                <a:r>
                  <a:rPr lang="en-ZA" sz="1200" b="0" dirty="0"/>
                  <a:t>where each clause</a:t>
                </a:r>
                <a:r>
                  <a:rPr lang="en-US" sz="1200" b="0" baseline="0" dirty="0"/>
                  <a:t> </a:t>
                </a:r>
                <a:r>
                  <a:rPr lang="en-ZA" sz="1200" b="0" dirty="0"/>
                  <a:t>is a disjunction of literals.</a:t>
                </a:r>
                <a:endParaRPr lang="en-US" sz="1200" b="0" dirty="0"/>
              </a:p>
              <a:p>
                <a:pPr algn="just"/>
                <a:endParaRPr lang="en-ZA" b="0" dirty="0"/>
              </a:p>
              <a:p>
                <a:pPr algn="just"/>
                <a:r>
                  <a:rPr lang="en-ZA" b="0" dirty="0"/>
                  <a:t>To represent Boolean expressions in a computer, they are commonly written in the DIMACS CNF format. The DIMACS CNF format is widely used for encoding Boolean formulas in Conjunctive Normal Form (CNF), especially in SAT (satisfiability) problems.</a:t>
                </a:r>
              </a:p>
              <a:p>
                <a:pPr algn="just"/>
                <a:endParaRPr lang="en-ZA" b="0" dirty="0"/>
              </a:p>
              <a:p>
                <a:pPr algn="just"/>
                <a:r>
                  <a:rPr lang="en-ZA" b="0" dirty="0"/>
                  <a:t>A DIMACS CNF file typically follows this structure:</a:t>
                </a:r>
              </a:p>
              <a:p>
                <a:pPr marL="171450" indent="-171450">
                  <a:buFont typeface="Arial" panose="020B0604020202020204" pitchFamily="34" charset="0"/>
                  <a:buChar char="•"/>
                </a:pPr>
                <a:r>
                  <a:rPr lang="en-ZA" b="0" dirty="0"/>
                  <a:t>The first line begins with the letter c, indicating a comment. </a:t>
                </a:r>
              </a:p>
              <a:p>
                <a:pPr marL="171450" indent="-171450">
                  <a:buFont typeface="Arial" panose="020B0604020202020204" pitchFamily="34" charset="0"/>
                  <a:buChar char="•"/>
                </a:pPr>
                <a:r>
                  <a:rPr lang="en-ZA" b="0" dirty="0"/>
                  <a:t>The second line starts with p, followed by the keyword </a:t>
                </a:r>
                <a:r>
                  <a:rPr lang="en-ZA" b="0" dirty="0" err="1"/>
                  <a:t>cnf</a:t>
                </a:r>
                <a:r>
                  <a:rPr lang="en-ZA" b="0" dirty="0"/>
                  <a:t>, the number of variables, and the number of clauses.</a:t>
                </a:r>
              </a:p>
              <a:p>
                <a:pPr marL="171450" indent="-171450">
                  <a:buFont typeface="Arial" panose="020B0604020202020204" pitchFamily="34" charset="0"/>
                  <a:buChar char="•"/>
                </a:pPr>
                <a:r>
                  <a:rPr lang="en-ZA" b="0" dirty="0"/>
                  <a:t>Each subsequent line represents a clause, written as a sequence of integers (representing literals), ending with 0 to mark the end of the clause.</a:t>
                </a:r>
              </a:p>
              <a:p>
                <a:pPr marL="171450" indent="-171450">
                  <a:buFont typeface="Arial" panose="020B0604020202020204" pitchFamily="34" charset="0"/>
                  <a:buChar char="•"/>
                </a:pPr>
                <a:r>
                  <a:rPr lang="en-ZA" b="0" dirty="0"/>
                  <a:t>Variables are represented by positive integers:</a:t>
                </a:r>
                <a:r>
                  <a:rPr lang="en-ZA" b="0" baseline="0" dirty="0"/>
                  <a:t> </a:t>
                </a:r>
                <a:r>
                  <a:rPr lang="sr-Latn-RS" sz="1200" kern="1200" dirty="0">
                    <a:solidFill>
                      <a:schemeClr val="tx1"/>
                    </a:solidFill>
                    <a:effectLst/>
                    <a:latin typeface="+mn-lt"/>
                    <a:ea typeface="+mn-ea"/>
                    <a:cs typeface="+mn-cs"/>
                  </a:rPr>
                  <a:t>(</a:t>
                </a:r>
                <a14:m>
                  <m:oMath xmlns:m="http://schemas.openxmlformats.org/officeDocument/2006/math">
                    <m:sSub>
                      <m:sSubPr>
                        <m:ctrlPr>
                          <a:rPr lang="en-ZA"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panose="02040503050406030204" pitchFamily="18" charset="0"/>
                            <a:ea typeface="+mn-ea"/>
                            <a:cs typeface="+mn-cs"/>
                          </a:rPr>
                          <m:t>𝑥</m:t>
                        </m:r>
                      </m:e>
                      <m:sub>
                        <m:r>
                          <a:rPr lang="sr-Latn-RS" sz="1200" i="1" kern="1200">
                            <a:solidFill>
                              <a:schemeClr val="tx1"/>
                            </a:solidFill>
                            <a:effectLst/>
                            <a:latin typeface="Cambria Math" panose="02040503050406030204" pitchFamily="18" charset="0"/>
                            <a:ea typeface="+mn-ea"/>
                            <a:cs typeface="+mn-cs"/>
                          </a:rPr>
                          <m:t>1</m:t>
                        </m:r>
                      </m:sub>
                    </m:sSub>
                    <m:r>
                      <a:rPr lang="sr-Latn-RS" sz="1200" kern="1200">
                        <a:solidFill>
                          <a:schemeClr val="tx1"/>
                        </a:solidFill>
                        <a:effectLst/>
                        <a:latin typeface="Cambria Math" panose="02040503050406030204" pitchFamily="18" charset="0"/>
                        <a:ea typeface="+mn-ea"/>
                        <a:cs typeface="+mn-cs"/>
                      </a:rPr>
                      <m:t>=1,</m:t>
                    </m:r>
                    <m:sSub>
                      <m:sSubPr>
                        <m:ctrlPr>
                          <a:rPr lang="en-ZA"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panose="02040503050406030204" pitchFamily="18" charset="0"/>
                            <a:ea typeface="+mn-ea"/>
                            <a:cs typeface="+mn-cs"/>
                          </a:rPr>
                          <m:t>𝑥</m:t>
                        </m:r>
                      </m:e>
                      <m:sub>
                        <m:r>
                          <a:rPr lang="sr-Latn-RS" sz="1200" i="1" kern="1200">
                            <a:solidFill>
                              <a:schemeClr val="tx1"/>
                            </a:solidFill>
                            <a:effectLst/>
                            <a:latin typeface="Cambria Math" panose="02040503050406030204" pitchFamily="18" charset="0"/>
                            <a:ea typeface="+mn-ea"/>
                            <a:cs typeface="+mn-cs"/>
                          </a:rPr>
                          <m:t>2</m:t>
                        </m:r>
                      </m:sub>
                    </m:sSub>
                    <m:r>
                      <a:rPr lang="sr-Latn-RS" sz="1200" kern="1200">
                        <a:solidFill>
                          <a:schemeClr val="tx1"/>
                        </a:solidFill>
                        <a:effectLst/>
                        <a:latin typeface="Cambria Math" panose="02040503050406030204" pitchFamily="18" charset="0"/>
                        <a:ea typeface="+mn-ea"/>
                        <a:cs typeface="+mn-cs"/>
                      </a:rPr>
                      <m:t>=2,</m:t>
                    </m:r>
                    <m:sSub>
                      <m:sSubPr>
                        <m:ctrlPr>
                          <a:rPr lang="en-ZA" sz="1200" i="1" kern="1200">
                            <a:solidFill>
                              <a:schemeClr val="tx1"/>
                            </a:solidFill>
                            <a:effectLst/>
                            <a:latin typeface="Cambria Math" panose="02040503050406030204" pitchFamily="18" charset="0"/>
                            <a:ea typeface="+mn-ea"/>
                            <a:cs typeface="+mn-cs"/>
                          </a:rPr>
                        </m:ctrlPr>
                      </m:sSubPr>
                      <m:e>
                        <m:r>
                          <a:rPr lang="sr-Latn-RS" sz="1200" i="1" kern="1200">
                            <a:solidFill>
                              <a:schemeClr val="tx1"/>
                            </a:solidFill>
                            <a:effectLst/>
                            <a:latin typeface="Cambria Math" panose="02040503050406030204" pitchFamily="18" charset="0"/>
                            <a:ea typeface="+mn-ea"/>
                            <a:cs typeface="+mn-cs"/>
                          </a:rPr>
                          <m:t>𝑥</m:t>
                        </m:r>
                      </m:e>
                      <m:sub>
                        <m:r>
                          <a:rPr lang="sr-Latn-RS" sz="1200" i="1" kern="1200">
                            <a:solidFill>
                              <a:schemeClr val="tx1"/>
                            </a:solidFill>
                            <a:effectLst/>
                            <a:latin typeface="Cambria Math" panose="02040503050406030204" pitchFamily="18" charset="0"/>
                            <a:ea typeface="+mn-ea"/>
                            <a:cs typeface="+mn-cs"/>
                          </a:rPr>
                          <m:t>3</m:t>
                        </m:r>
                      </m:sub>
                    </m:sSub>
                    <m:r>
                      <a:rPr lang="sr-Latn-RS" sz="1200" kern="1200">
                        <a:solidFill>
                          <a:schemeClr val="tx1"/>
                        </a:solidFill>
                        <a:effectLst/>
                        <a:latin typeface="Cambria Math" panose="02040503050406030204" pitchFamily="18" charset="0"/>
                        <a:ea typeface="+mn-ea"/>
                        <a:cs typeface="+mn-cs"/>
                      </a:rPr>
                      <m:t>=3</m:t>
                    </m:r>
                  </m:oMath>
                </a14:m>
                <a:r>
                  <a:rPr lang="sr-Latn-RS" sz="1200" kern="1200" dirty="0">
                    <a:solidFill>
                      <a:schemeClr val="tx1"/>
                    </a:solidFill>
                    <a:effectLst/>
                    <a:latin typeface="+mn-lt"/>
                    <a:ea typeface="+mn-ea"/>
                    <a:cs typeface="+mn-cs"/>
                  </a:rPr>
                  <a:t>)</a:t>
                </a:r>
                <a:r>
                  <a:rPr lang="en-ZA" dirty="0">
                    <a:effectLst/>
                  </a:rPr>
                  <a:t> </a:t>
                </a:r>
                <a:r>
                  <a:rPr lang="en-ZA" b="0" dirty="0"/>
                  <a:t> etc.</a:t>
                </a:r>
                <a:r>
                  <a:rPr lang="en-ZA" b="0" baseline="0" dirty="0"/>
                  <a:t> </a:t>
                </a:r>
                <a:r>
                  <a:rPr lang="en-ZA" b="0" dirty="0"/>
                  <a:t>A negated variable is indicated with a minus sign.</a:t>
                </a:r>
              </a:p>
              <a:p>
                <a:pPr marL="171450" indent="-171450">
                  <a:buFont typeface="Arial" panose="020B0604020202020204" pitchFamily="34" charset="0"/>
                  <a:buChar char="•"/>
                </a:pPr>
                <a:r>
                  <a:rPr lang="en-ZA" b="0" dirty="0"/>
                  <a:t>Within a clause, literals are implicitly combined by OR (∨), and the clauses themselves are implicitly combined by AND (∧) across lines.</a:t>
                </a:r>
              </a:p>
              <a:p>
                <a:pPr algn="just"/>
                <a:endParaRPr lang="en-ZA" b="0" dirty="0"/>
              </a:p>
            </p:txBody>
          </p:sp>
        </mc:Choice>
        <mc:Fallback xmlns="">
          <p:sp>
            <p:nvSpPr>
              <p:cNvPr id="3" name="Notes Placeholder 2"/>
              <p:cNvSpPr>
                <a:spLocks noGrp="1"/>
              </p:cNvSpPr>
              <p:nvPr>
                <p:ph type="body" idx="1"/>
              </p:nvPr>
            </p:nvSpPr>
            <p:spPr/>
            <p:txBody>
              <a:bodyPr/>
              <a:lstStyle/>
              <a:p>
                <a:pPr algn="just"/>
                <a:r>
                  <a:rPr lang="en-ZA" sz="1200" b="0" dirty="0"/>
                  <a:t>Conjunctive Normal Form (CNF) is a Boolean expression represented as a conjunction of multiple clauses</a:t>
                </a:r>
                <a:r>
                  <a:rPr lang="en-US" sz="200" b="0" i="1" dirty="0">
                    <a:latin typeface="Cambria Math" panose="02040503050406030204" pitchFamily="18" charset="0"/>
                  </a:rPr>
                  <a:t>, </a:t>
                </a:r>
                <a:r>
                  <a:rPr lang="en-ZA" sz="1200" b="0" dirty="0"/>
                  <a:t>where each clause</a:t>
                </a:r>
                <a:r>
                  <a:rPr lang="en-US" sz="1200" b="0" baseline="0" dirty="0"/>
                  <a:t> </a:t>
                </a:r>
                <a:r>
                  <a:rPr lang="en-ZA" sz="1200" b="0" dirty="0"/>
                  <a:t>is a disjunction of literals.</a:t>
                </a:r>
                <a:endParaRPr lang="en-US" sz="1200" b="0" dirty="0"/>
              </a:p>
              <a:p>
                <a:pPr algn="just"/>
                <a:endParaRPr lang="en-ZA" b="0" dirty="0"/>
              </a:p>
              <a:p>
                <a:pPr algn="just"/>
                <a:r>
                  <a:rPr lang="en-ZA" b="0" dirty="0"/>
                  <a:t>To represent Boolean expressions in a computer, they are commonly written in the DIMACS CNF format. The DIMACS CNF format is widely used for encoding Boolean formulas in Conjunctive Normal Form (CNF), especially in SAT (satisfiability) problems.</a:t>
                </a:r>
              </a:p>
              <a:p>
                <a:pPr algn="just"/>
                <a:endParaRPr lang="en-ZA" b="0" dirty="0"/>
              </a:p>
              <a:p>
                <a:pPr algn="just"/>
                <a:r>
                  <a:rPr lang="en-ZA" b="0" dirty="0"/>
                  <a:t>A DIMACS CNF file typically follows this structure:</a:t>
                </a:r>
              </a:p>
              <a:p>
                <a:pPr marL="171450" indent="-171450">
                  <a:buFont typeface="Arial" panose="020B0604020202020204" pitchFamily="34" charset="0"/>
                  <a:buChar char="•"/>
                </a:pPr>
                <a:r>
                  <a:rPr lang="en-ZA" b="0" dirty="0"/>
                  <a:t>The first line begins with the letter c, indicating a comment. </a:t>
                </a:r>
              </a:p>
              <a:p>
                <a:pPr marL="171450" indent="-171450">
                  <a:buFont typeface="Arial" panose="020B0604020202020204" pitchFamily="34" charset="0"/>
                  <a:buChar char="•"/>
                </a:pPr>
                <a:r>
                  <a:rPr lang="en-ZA" b="0" dirty="0"/>
                  <a:t>The second line starts with p, followed by the keyword </a:t>
                </a:r>
                <a:r>
                  <a:rPr lang="en-ZA" b="0" dirty="0" err="1"/>
                  <a:t>cnf</a:t>
                </a:r>
                <a:r>
                  <a:rPr lang="en-ZA" b="0" dirty="0"/>
                  <a:t>, the number of variables, and the number of clauses.</a:t>
                </a:r>
              </a:p>
              <a:p>
                <a:pPr marL="171450" indent="-171450">
                  <a:buFont typeface="Arial" panose="020B0604020202020204" pitchFamily="34" charset="0"/>
                  <a:buChar char="•"/>
                </a:pPr>
                <a:r>
                  <a:rPr lang="en-ZA" b="0" dirty="0"/>
                  <a:t>Each subsequent line represents a clause, written as a sequence of integers (representing literals), ending with 0 to mark the end of the clause.</a:t>
                </a:r>
              </a:p>
              <a:p>
                <a:pPr marL="171450" indent="-171450">
                  <a:buFont typeface="Arial" panose="020B0604020202020204" pitchFamily="34" charset="0"/>
                  <a:buChar char="•"/>
                </a:pPr>
                <a:r>
                  <a:rPr lang="en-ZA" b="0" dirty="0"/>
                  <a:t>Variables are represented by positive integers:</a:t>
                </a:r>
                <a:r>
                  <a:rPr lang="en-ZA" b="0" baseline="0" dirty="0"/>
                  <a:t> </a:t>
                </a:r>
                <a:r>
                  <a:rPr lang="sr-Latn-RS" sz="1200" kern="1200" dirty="0">
                    <a:solidFill>
                      <a:schemeClr val="tx1"/>
                    </a:solidFill>
                    <a:effectLst/>
                    <a:latin typeface="+mn-lt"/>
                    <a:ea typeface="+mn-ea"/>
                    <a:cs typeface="+mn-cs"/>
                  </a:rPr>
                  <a:t>(</a:t>
                </a:r>
                <a:r>
                  <a:rPr lang="sr-Latn-RS" sz="1200" i="0" kern="1200">
                    <a:solidFill>
                      <a:schemeClr val="tx1"/>
                    </a:solidFill>
                    <a:effectLst/>
                    <a:latin typeface="+mn-lt"/>
                    <a:ea typeface="+mn-ea"/>
                    <a:cs typeface="+mn-cs"/>
                  </a:rPr>
                  <a:t>𝑥</a:t>
                </a:r>
                <a:r>
                  <a:rPr lang="en-ZA"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1=1,𝑥</a:t>
                </a:r>
                <a:r>
                  <a:rPr lang="en-ZA"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2=2,𝑥</a:t>
                </a:r>
                <a:r>
                  <a:rPr lang="en-ZA" sz="1200" i="0" kern="1200">
                    <a:solidFill>
                      <a:schemeClr val="tx1"/>
                    </a:solidFill>
                    <a:effectLst/>
                    <a:latin typeface="+mn-lt"/>
                    <a:ea typeface="+mn-ea"/>
                    <a:cs typeface="+mn-cs"/>
                  </a:rPr>
                  <a:t>_</a:t>
                </a:r>
                <a:r>
                  <a:rPr lang="sr-Latn-RS" sz="1200" i="0" kern="1200">
                    <a:solidFill>
                      <a:schemeClr val="tx1"/>
                    </a:solidFill>
                    <a:effectLst/>
                    <a:latin typeface="+mn-lt"/>
                    <a:ea typeface="+mn-ea"/>
                    <a:cs typeface="+mn-cs"/>
                  </a:rPr>
                  <a:t>3=3</a:t>
                </a:r>
                <a:r>
                  <a:rPr lang="sr-Latn-RS" sz="1200" kern="1200" dirty="0">
                    <a:solidFill>
                      <a:schemeClr val="tx1"/>
                    </a:solidFill>
                    <a:effectLst/>
                    <a:latin typeface="+mn-lt"/>
                    <a:ea typeface="+mn-ea"/>
                    <a:cs typeface="+mn-cs"/>
                  </a:rPr>
                  <a:t>)</a:t>
                </a:r>
                <a:r>
                  <a:rPr lang="en-ZA" dirty="0">
                    <a:effectLst/>
                  </a:rPr>
                  <a:t> </a:t>
                </a:r>
                <a:r>
                  <a:rPr lang="en-ZA" b="0" dirty="0"/>
                  <a:t> etc.</a:t>
                </a:r>
                <a:r>
                  <a:rPr lang="en-ZA" b="0" baseline="0" dirty="0"/>
                  <a:t> </a:t>
                </a:r>
                <a:r>
                  <a:rPr lang="en-ZA" b="0" dirty="0"/>
                  <a:t>A negated variable is indicated with a minus sign.</a:t>
                </a:r>
              </a:p>
              <a:p>
                <a:pPr marL="171450" indent="-171450">
                  <a:buFont typeface="Arial" panose="020B0604020202020204" pitchFamily="34" charset="0"/>
                  <a:buChar char="•"/>
                </a:pPr>
                <a:r>
                  <a:rPr lang="en-ZA" b="0" dirty="0"/>
                  <a:t>Within a clause, literals are implicitly combined by OR (∨), and the clauses themselves are implicitly combined by AND (∧) across lines.</a:t>
                </a:r>
              </a:p>
              <a:p>
                <a:pPr algn="just"/>
                <a:endParaRPr lang="en-ZA"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60</a:t>
            </a:fld>
            <a:endParaRPr lang="en-US"/>
          </a:p>
        </p:txBody>
      </p:sp>
    </p:spTree>
    <p:extLst>
      <p:ext uri="{BB962C8B-B14F-4D97-AF65-F5344CB8AC3E}">
        <p14:creationId xmlns:p14="http://schemas.microsoft.com/office/powerpoint/2010/main" val="132538449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228600" indent="-228600" algn="just">
                  <a:buFont typeface="+mj-lt"/>
                  <a:buAutoNum type="arabicPeriod"/>
                </a:pPr>
                <a:r>
                  <a:rPr lang="en-ZA" b="0" dirty="0"/>
                  <a:t>A Boolean vector is an ordered </a:t>
                </a:r>
                <a:r>
                  <a:rPr lang="en-US" sz="1200" b="0" dirty="0"/>
                  <a:t>n</a:t>
                </a:r>
                <a:r>
                  <a:rPr lang="en-ZA" b="0" dirty="0"/>
                  <a:t>-tuple of binary values (0s and 1s), for example, </a:t>
                </a:r>
                <a14:m>
                  <m:oMath xmlns:m="http://schemas.openxmlformats.org/officeDocument/2006/math">
                    <m:r>
                      <a:rPr lang="sr-Latn-RS" sz="1200" b="0" i="1" kern="1200" smtClean="0">
                        <a:solidFill>
                          <a:schemeClr val="tx1"/>
                        </a:solidFill>
                        <a:effectLst/>
                        <a:latin typeface="Cambria Math" panose="02040503050406030204" pitchFamily="18" charset="0"/>
                        <a:ea typeface="+mn-ea"/>
                        <a:cs typeface="+mn-cs"/>
                      </a:rPr>
                      <m:t>𝑣</m:t>
                    </m:r>
                    <m:r>
                      <a:rPr lang="sr-Latn-RS" sz="1200" b="0" i="1" kern="1200" smtClean="0">
                        <a:solidFill>
                          <a:schemeClr val="tx1"/>
                        </a:solidFill>
                        <a:effectLst/>
                        <a:latin typeface="Cambria Math" panose="02040503050406030204" pitchFamily="18" charset="0"/>
                        <a:ea typeface="+mn-ea"/>
                        <a:cs typeface="+mn-cs"/>
                      </a:rPr>
                      <m:t>=(1,01,1)</m:t>
                    </m:r>
                  </m:oMath>
                </a14:m>
                <a:r>
                  <a:rPr lang="sr-Latn-RS" sz="1200" b="0" kern="1200" dirty="0">
                    <a:solidFill>
                      <a:schemeClr val="tx1"/>
                    </a:solidFill>
                    <a:effectLst/>
                    <a:latin typeface="+mn-lt"/>
                    <a:ea typeface="+mn-ea"/>
                    <a:cs typeface="+mn-cs"/>
                  </a:rPr>
                  <a:t>.</a:t>
                </a:r>
              </a:p>
              <a:p>
                <a:pPr marL="228600" indent="-228600" algn="just">
                  <a:buFont typeface="+mj-lt"/>
                  <a:buAutoNum type="arabicPeriod"/>
                </a:pPr>
                <a:r>
                  <a:rPr lang="en-ZA" b="0" dirty="0"/>
                  <a:t>Boolean vectors, along with the operations of vector addition (⊕) and scalar multiplication (∧,∨ /  AND/OR), form a Boolean vector space. The choice of the multiplication operator (∧ or ∨) depends on the specific problem being solved.</a:t>
                </a:r>
              </a:p>
              <a:p>
                <a:pPr marL="228600" indent="-228600" algn="just">
                  <a:buFont typeface="+mj-lt"/>
                  <a:buAutoNum type="arabicPeriod"/>
                </a:pPr>
                <a:r>
                  <a:rPr lang="en-ZA" b="0" dirty="0"/>
                  <a:t>In a Boolean vector space, just like in a general vector space, a set of linearly independent vectors forms a basis for the space.</a:t>
                </a:r>
              </a:p>
              <a:p>
                <a:pPr marL="228600" indent="-228600" algn="just">
                  <a:buFont typeface="+mj-lt"/>
                  <a:buAutoNum type="arabicPeriod"/>
                </a:pPr>
                <a:r>
                  <a:rPr lang="en-ZA" b="0" dirty="0"/>
                  <a:t>A set of Boolean vectors is linearly independent if no vector in the set can be represented as the modular sum (XOR) of the other vectors in the set. In this case, the coefficients </a:t>
                </a:r>
                <a14:m>
                  <m:oMath xmlns:m="http://schemas.openxmlformats.org/officeDocument/2006/math">
                    <m:sSub>
                      <m:sSubPr>
                        <m:ctrlPr>
                          <a:rPr lang="en-ZA" sz="1200" b="0" i="1" smtClean="0">
                            <a:latin typeface="Cambria Math" panose="02040503050406030204" pitchFamily="18" charset="0"/>
                          </a:rPr>
                        </m:ctrlPr>
                      </m:sSubPr>
                      <m:e>
                        <m:r>
                          <a:rPr lang="sr-Latn-RS" sz="1200" b="0" i="1">
                            <a:latin typeface="Cambria Math" panose="02040503050406030204" pitchFamily="18" charset="0"/>
                          </a:rPr>
                          <m:t>𝑎</m:t>
                        </m:r>
                      </m:e>
                      <m:sub>
                        <m:r>
                          <a:rPr lang="sr-Latn-RS" sz="1200" b="0" i="1" smtClean="0">
                            <a:latin typeface="Cambria Math" panose="02040503050406030204" pitchFamily="18" charset="0"/>
                          </a:rPr>
                          <m:t>𝑖</m:t>
                        </m:r>
                      </m:sub>
                    </m:sSub>
                  </m:oMath>
                </a14:m>
                <a:r>
                  <a:rPr lang="en-ZA" b="0" dirty="0"/>
                  <a:t> are either 0 or 1, meaning that each vector is either included or excluded in the sum, without any scalar scaling.</a:t>
                </a:r>
              </a:p>
              <a:p>
                <a:pPr marL="228600" indent="-228600" algn="just">
                  <a:buFont typeface="+mj-lt"/>
                  <a:buAutoNum type="arabicPeriod"/>
                </a:pPr>
                <a:r>
                  <a:rPr lang="en-ZA" b="0" dirty="0"/>
                  <a:t>Every vector in a Boolean vector space can be expressed as a linear combination of the basis vectors.</a:t>
                </a:r>
              </a:p>
              <a:p>
                <a:pPr marL="228600" indent="-228600" algn="just">
                  <a:buFont typeface="+mj-lt"/>
                  <a:buAutoNum type="arabicPeriod"/>
                </a:pPr>
                <a:r>
                  <a:rPr lang="en-ZA" b="0" dirty="0"/>
                  <a:t>The inner product (dot product) of two Boolean vectors is defined as the modular sum (XOR) of the component-wise products obtained using the logical AND (∧) operation.</a:t>
                </a:r>
              </a:p>
              <a:p>
                <a:pPr marL="228600" indent="-228600" algn="just">
                  <a:buFont typeface="+mj-lt"/>
                  <a:buAutoNum type="arabicPeriod"/>
                </a:pPr>
                <a:r>
                  <a:rPr lang="en-ZA" b="0" dirty="0"/>
                  <a:t>Two vectors are orthogonal if their inner product is 0.</a:t>
                </a:r>
              </a:p>
              <a:p>
                <a:pPr marL="228600" indent="-228600" algn="just">
                  <a:buFont typeface="+mj-lt"/>
                  <a:buAutoNum type="arabicPeriod"/>
                </a:pPr>
                <a:r>
                  <a:rPr lang="en-ZA" b="0" dirty="0"/>
                  <a:t>A Boolean function is a mapping from a binary sequence to either 0 or 1. In other words, </a:t>
                </a:r>
                <a:r>
                  <a:rPr lang="en-ZA" dirty="0"/>
                  <a:t>A Boolean function is a function </a:t>
                </a:r>
                <a14:m>
                  <m:oMath xmlns:m="http://schemas.openxmlformats.org/officeDocument/2006/math">
                    <m:r>
                      <a:rPr lang="sr-Latn-RS" sz="1200" i="1" smtClean="0">
                        <a:latin typeface="Cambria Math" panose="02040503050406030204" pitchFamily="18" charset="0"/>
                      </a:rPr>
                      <m:t>𝑓</m:t>
                    </m:r>
                    <m:r>
                      <a:rPr lang="sr-Latn-RS" sz="1200" i="1" smtClean="0">
                        <a:latin typeface="Cambria Math" panose="02040503050406030204" pitchFamily="18" charset="0"/>
                      </a:rPr>
                      <m:t>:</m:t>
                    </m:r>
                    <m:sSup>
                      <m:sSupPr>
                        <m:ctrlPr>
                          <a:rPr lang="en-ZA" sz="1200" i="1">
                            <a:latin typeface="Cambria Math" panose="02040503050406030204" pitchFamily="18" charset="0"/>
                          </a:rPr>
                        </m:ctrlPr>
                      </m:sSupPr>
                      <m:e>
                        <m:d>
                          <m:dPr>
                            <m:begChr m:val="{"/>
                            <m:endChr m:val="}"/>
                            <m:ctrlPr>
                              <a:rPr lang="en-ZA" sz="1200" i="1">
                                <a:latin typeface="Cambria Math" panose="02040503050406030204" pitchFamily="18" charset="0"/>
                              </a:rPr>
                            </m:ctrlPr>
                          </m:dPr>
                          <m:e>
                            <m:r>
                              <a:rPr lang="sr-Latn-RS" sz="1200" i="1">
                                <a:latin typeface="Cambria Math" panose="02040503050406030204" pitchFamily="18" charset="0"/>
                              </a:rPr>
                              <m:t>0,1</m:t>
                            </m:r>
                          </m:e>
                        </m:d>
                      </m:e>
                      <m:sup>
                        <m:r>
                          <a:rPr lang="sr-Latn-RS" sz="1200" i="1">
                            <a:latin typeface="Cambria Math" panose="02040503050406030204" pitchFamily="18" charset="0"/>
                          </a:rPr>
                          <m:t>𝑛</m:t>
                        </m:r>
                      </m:sup>
                    </m:sSup>
                    <m:r>
                      <a:rPr lang="sr-Latn-RS" sz="1200" i="1">
                        <a:latin typeface="Cambria Math" panose="02040503050406030204" pitchFamily="18" charset="0"/>
                      </a:rPr>
                      <m:t>→</m:t>
                    </m:r>
                    <m:d>
                      <m:dPr>
                        <m:begChr m:val="{"/>
                        <m:endChr m:val="}"/>
                        <m:ctrlPr>
                          <a:rPr lang="en-ZA" sz="1200" i="1">
                            <a:latin typeface="Cambria Math" panose="02040503050406030204" pitchFamily="18" charset="0"/>
                          </a:rPr>
                        </m:ctrlPr>
                      </m:dPr>
                      <m:e>
                        <m:r>
                          <a:rPr lang="sr-Latn-RS" sz="1200" i="1">
                            <a:latin typeface="Cambria Math" panose="02040503050406030204" pitchFamily="18" charset="0"/>
                          </a:rPr>
                          <m:t>0,1</m:t>
                        </m:r>
                      </m:e>
                    </m:d>
                  </m:oMath>
                </a14:m>
                <a:r>
                  <a:rPr lang="en-ZA" dirty="0"/>
                  <a:t> that maps an n-bit binary input to either 0 or 1.</a:t>
                </a:r>
                <a:endParaRPr lang="en-ZA" b="0" dirty="0"/>
              </a:p>
              <a:p>
                <a:pPr marL="228600" indent="-228600" algn="just">
                  <a:buFont typeface="+mj-lt"/>
                  <a:buAutoNum type="arabicPeriod"/>
                </a:pPr>
                <a:r>
                  <a:rPr lang="en-ZA" dirty="0"/>
                  <a:t>A vector Boolean function maps a binary sequence to another binary sequence. In other words, A vector Boolean function is a function </a:t>
                </a:r>
                <a14:m>
                  <m:oMath xmlns:m="http://schemas.openxmlformats.org/officeDocument/2006/math">
                    <m:r>
                      <a:rPr lang="sr-Latn-RS" sz="1200" i="1" smtClean="0">
                        <a:latin typeface="Cambria Math" panose="02040503050406030204" pitchFamily="18" charset="0"/>
                      </a:rPr>
                      <m:t>𝑓</m:t>
                    </m:r>
                    <m:r>
                      <a:rPr lang="sr-Latn-RS" sz="1200" i="1" smtClean="0">
                        <a:latin typeface="Cambria Math" panose="02040503050406030204" pitchFamily="18" charset="0"/>
                      </a:rPr>
                      <m:t>:</m:t>
                    </m:r>
                    <m:sSup>
                      <m:sSupPr>
                        <m:ctrlPr>
                          <a:rPr lang="en-ZA" sz="1200" i="1">
                            <a:latin typeface="Cambria Math" panose="02040503050406030204" pitchFamily="18" charset="0"/>
                          </a:rPr>
                        </m:ctrlPr>
                      </m:sSupPr>
                      <m:e>
                        <m:d>
                          <m:dPr>
                            <m:begChr m:val="{"/>
                            <m:endChr m:val="}"/>
                            <m:ctrlPr>
                              <a:rPr lang="en-ZA" sz="1200" i="1">
                                <a:latin typeface="Cambria Math" panose="02040503050406030204" pitchFamily="18" charset="0"/>
                              </a:rPr>
                            </m:ctrlPr>
                          </m:dPr>
                          <m:e>
                            <m:r>
                              <a:rPr lang="sr-Latn-RS" sz="1200" i="1">
                                <a:latin typeface="Cambria Math" panose="02040503050406030204" pitchFamily="18" charset="0"/>
                              </a:rPr>
                              <m:t>0,1</m:t>
                            </m:r>
                          </m:e>
                        </m:d>
                      </m:e>
                      <m:sup>
                        <m:r>
                          <a:rPr lang="sr-Latn-RS" sz="1200" i="1">
                            <a:latin typeface="Cambria Math" panose="02040503050406030204" pitchFamily="18" charset="0"/>
                          </a:rPr>
                          <m:t>𝑛</m:t>
                        </m:r>
                      </m:sup>
                    </m:sSup>
                    <m:r>
                      <a:rPr lang="sr-Latn-RS" sz="1200" i="1">
                        <a:latin typeface="Cambria Math" panose="02040503050406030204" pitchFamily="18" charset="0"/>
                      </a:rPr>
                      <m:t>→</m:t>
                    </m:r>
                    <m:sSup>
                      <m:sSupPr>
                        <m:ctrlPr>
                          <a:rPr lang="en-ZA" sz="1200" i="1">
                            <a:latin typeface="Cambria Math" panose="02040503050406030204" pitchFamily="18" charset="0"/>
                          </a:rPr>
                        </m:ctrlPr>
                      </m:sSupPr>
                      <m:e>
                        <m:d>
                          <m:dPr>
                            <m:begChr m:val="{"/>
                            <m:endChr m:val="}"/>
                            <m:ctrlPr>
                              <a:rPr lang="en-ZA" sz="1200" i="1">
                                <a:latin typeface="Cambria Math" panose="02040503050406030204" pitchFamily="18" charset="0"/>
                              </a:rPr>
                            </m:ctrlPr>
                          </m:dPr>
                          <m:e>
                            <m:r>
                              <a:rPr lang="sr-Latn-RS" sz="1200" i="1">
                                <a:latin typeface="Cambria Math" panose="02040503050406030204" pitchFamily="18" charset="0"/>
                              </a:rPr>
                              <m:t>0,1</m:t>
                            </m:r>
                          </m:e>
                        </m:d>
                      </m:e>
                      <m:sup>
                        <m:r>
                          <a:rPr lang="sr-Latn-RS" sz="1200" i="1">
                            <a:latin typeface="Cambria Math" panose="02040503050406030204" pitchFamily="18" charset="0"/>
                          </a:rPr>
                          <m:t>𝑚</m:t>
                        </m:r>
                      </m:sup>
                    </m:sSup>
                  </m:oMath>
                </a14:m>
                <a:r>
                  <a:rPr lang="en-ZA" dirty="0"/>
                  <a:t> that maps an n-bit binary input to an m-bit binary output.</a:t>
                </a:r>
                <a:endParaRPr lang="sr-Latn-RS" sz="1200" b="0" dirty="0"/>
              </a:p>
              <a:p>
                <a:pPr marL="228600" indent="-228600" algn="just">
                  <a:buFont typeface="+mj-lt"/>
                  <a:buAutoNum type="arabicPeriod"/>
                </a:pPr>
                <a:endParaRPr lang="en-US" b="0" dirty="0"/>
              </a:p>
            </p:txBody>
          </p:sp>
        </mc:Choice>
        <mc:Fallback xmlns="">
          <p:sp>
            <p:nvSpPr>
              <p:cNvPr id="3" name="Notes Placeholder 2"/>
              <p:cNvSpPr>
                <a:spLocks noGrp="1"/>
              </p:cNvSpPr>
              <p:nvPr>
                <p:ph type="body" idx="1"/>
              </p:nvPr>
            </p:nvSpPr>
            <p:spPr/>
            <p:txBody>
              <a:bodyPr/>
              <a:lstStyle/>
              <a:p>
                <a:pPr marL="228600" indent="-228600" algn="just">
                  <a:buFont typeface="+mj-lt"/>
                  <a:buAutoNum type="arabicPeriod"/>
                </a:pPr>
                <a:r>
                  <a:rPr lang="sr-Latn-RS" sz="1200" b="0" kern="1200" dirty="0" err="1">
                    <a:solidFill>
                      <a:schemeClr val="tx1"/>
                    </a:solidFill>
                    <a:effectLst/>
                    <a:latin typeface="+mn-lt"/>
                    <a:ea typeface="+mn-ea"/>
                    <a:cs typeface="+mn-cs"/>
                  </a:rPr>
                  <a:t>Bulov</a:t>
                </a:r>
                <a:r>
                  <a:rPr lang="sr-Latn-RS" sz="1200" b="0" kern="1200" dirty="0">
                    <a:solidFill>
                      <a:schemeClr val="tx1"/>
                    </a:solidFill>
                    <a:effectLst/>
                    <a:latin typeface="+mn-lt"/>
                    <a:ea typeface="+mn-ea"/>
                    <a:cs typeface="+mn-cs"/>
                  </a:rPr>
                  <a:t> vektor je uređena </a:t>
                </a:r>
                <a:r>
                  <a:rPr lang="sr-Latn-RS" sz="1200" b="0" i="0" kern="1200">
                    <a:solidFill>
                      <a:schemeClr val="tx1"/>
                    </a:solidFill>
                    <a:effectLst/>
                    <a:latin typeface="+mn-lt"/>
                    <a:ea typeface="+mn-ea"/>
                    <a:cs typeface="+mn-cs"/>
                  </a:rPr>
                  <a:t>𝑛</a:t>
                </a:r>
                <a:r>
                  <a:rPr lang="sr-Latn-RS" sz="1200" b="0" kern="1200" dirty="0">
                    <a:solidFill>
                      <a:schemeClr val="tx1"/>
                    </a:solidFill>
                    <a:effectLst/>
                    <a:latin typeface="+mn-lt"/>
                    <a:ea typeface="+mn-ea"/>
                    <a:cs typeface="+mn-cs"/>
                  </a:rPr>
                  <a:t>–</a:t>
                </a:r>
                <a:r>
                  <a:rPr lang="sr-Latn-RS" sz="1200" b="0" kern="1200" dirty="0" err="1">
                    <a:solidFill>
                      <a:schemeClr val="tx1"/>
                    </a:solidFill>
                    <a:effectLst/>
                    <a:latin typeface="+mn-lt"/>
                    <a:ea typeface="+mn-ea"/>
                    <a:cs typeface="+mn-cs"/>
                  </a:rPr>
                  <a:t>torka</a:t>
                </a:r>
                <a:r>
                  <a:rPr lang="sr-Latn-RS" sz="1200" b="0" kern="1200" dirty="0">
                    <a:solidFill>
                      <a:schemeClr val="tx1"/>
                    </a:solidFill>
                    <a:effectLst/>
                    <a:latin typeface="+mn-lt"/>
                    <a:ea typeface="+mn-ea"/>
                    <a:cs typeface="+mn-cs"/>
                  </a:rPr>
                  <a:t> binarnih vrednosti (nula i jedinica). Na primer </a:t>
                </a:r>
                <a:r>
                  <a:rPr lang="sr-Latn-RS" sz="1200" b="0" i="0" kern="1200">
                    <a:solidFill>
                      <a:schemeClr val="tx1"/>
                    </a:solidFill>
                    <a:effectLst/>
                    <a:latin typeface="+mn-lt"/>
                    <a:ea typeface="+mn-ea"/>
                    <a:cs typeface="+mn-cs"/>
                  </a:rPr>
                  <a:t>𝑣=(1,01,1)</a:t>
                </a:r>
                <a:r>
                  <a:rPr lang="sr-Latn-RS" sz="1200" b="0" kern="1200" dirty="0">
                    <a:solidFill>
                      <a:schemeClr val="tx1"/>
                    </a:solidFill>
                    <a:effectLst/>
                    <a:latin typeface="+mn-lt"/>
                    <a:ea typeface="+mn-ea"/>
                    <a:cs typeface="+mn-cs"/>
                  </a:rPr>
                  <a:t>. </a:t>
                </a:r>
              </a:p>
              <a:p>
                <a:pPr marL="228600" indent="-228600" algn="just">
                  <a:buFont typeface="+mj-lt"/>
                  <a:buAutoNum type="arabicPeriod"/>
                </a:pPr>
                <a:r>
                  <a:rPr lang="sr-Latn-RS" sz="1200" b="0" kern="1200" dirty="0" err="1">
                    <a:solidFill>
                      <a:schemeClr val="tx1"/>
                    </a:solidFill>
                    <a:effectLst/>
                    <a:latin typeface="+mn-lt"/>
                    <a:ea typeface="+mn-ea"/>
                    <a:cs typeface="+mn-cs"/>
                  </a:rPr>
                  <a:t>Bulovi</a:t>
                </a:r>
                <a:r>
                  <a:rPr lang="sr-Latn-RS" sz="1200" b="0" kern="1200" dirty="0">
                    <a:solidFill>
                      <a:schemeClr val="tx1"/>
                    </a:solidFill>
                    <a:effectLst/>
                    <a:latin typeface="+mn-lt"/>
                    <a:ea typeface="+mn-ea"/>
                    <a:cs typeface="+mn-cs"/>
                  </a:rPr>
                  <a:t> vektori zajedno sa operacijama vektorskog sabiranja (</a:t>
                </a:r>
                <a:r>
                  <a:rPr lang="sr-Latn-RS" sz="1200" b="0" i="0" kern="1200">
                    <a:solidFill>
                      <a:schemeClr val="tx1"/>
                    </a:solidFill>
                    <a:effectLst/>
                    <a:latin typeface="+mn-lt"/>
                    <a:ea typeface="+mn-ea"/>
                    <a:cs typeface="+mn-cs"/>
                  </a:rPr>
                  <a:t>⨁</a:t>
                </a:r>
                <a:r>
                  <a:rPr lang="sr-Latn-RS" sz="1200" b="0" kern="1200" dirty="0">
                    <a:solidFill>
                      <a:schemeClr val="tx1"/>
                    </a:solidFill>
                    <a:effectLst/>
                    <a:latin typeface="+mn-lt"/>
                    <a:ea typeface="+mn-ea"/>
                    <a:cs typeface="+mn-cs"/>
                  </a:rPr>
                  <a:t>) i množenja skalarima ( </a:t>
                </a:r>
                <a:r>
                  <a:rPr lang="sr-Latn-RS" sz="1200" b="0" i="0" kern="1200">
                    <a:solidFill>
                      <a:schemeClr val="tx1"/>
                    </a:solidFill>
                    <a:effectLst/>
                    <a:latin typeface="+mn-lt"/>
                    <a:ea typeface="+mn-ea"/>
                    <a:cs typeface="+mn-cs"/>
                  </a:rPr>
                  <a:t>∧,∨</a:t>
                </a:r>
                <a:r>
                  <a:rPr lang="sr-Latn-RS" sz="1200" b="0" kern="1200" dirty="0">
                    <a:solidFill>
                      <a:schemeClr val="tx1"/>
                    </a:solidFill>
                    <a:effectLst/>
                    <a:latin typeface="+mn-lt"/>
                    <a:ea typeface="+mn-ea"/>
                    <a:cs typeface="+mn-cs"/>
                  </a:rPr>
                  <a:t> ) čine </a:t>
                </a:r>
                <a:r>
                  <a:rPr lang="sr-Latn-RS" sz="1200" b="0" kern="1200" dirty="0" err="1">
                    <a:solidFill>
                      <a:schemeClr val="tx1"/>
                    </a:solidFill>
                    <a:effectLst/>
                    <a:latin typeface="+mn-lt"/>
                    <a:ea typeface="+mn-ea"/>
                    <a:cs typeface="+mn-cs"/>
                  </a:rPr>
                  <a:t>Bulov</a:t>
                </a:r>
                <a:r>
                  <a:rPr lang="sr-Latn-RS" sz="1200" b="0" kern="1200" dirty="0">
                    <a:solidFill>
                      <a:schemeClr val="tx1"/>
                    </a:solidFill>
                    <a:effectLst/>
                    <a:latin typeface="+mn-lt"/>
                    <a:ea typeface="+mn-ea"/>
                    <a:cs typeface="+mn-cs"/>
                  </a:rPr>
                  <a:t> vektorski prostor. Izbor operatora „množenja", </a:t>
                </a:r>
                <a:r>
                  <a:rPr lang="sr-Latn-RS" sz="1200" b="0" i="0" kern="1200">
                    <a:solidFill>
                      <a:schemeClr val="tx1"/>
                    </a:solidFill>
                    <a:effectLst/>
                    <a:latin typeface="+mn-lt"/>
                    <a:ea typeface="+mn-ea"/>
                    <a:cs typeface="+mn-cs"/>
                  </a:rPr>
                  <a:t>∧</a:t>
                </a:r>
                <a:r>
                  <a:rPr lang="sr-Latn-RS" sz="1200" b="0" kern="1200" dirty="0">
                    <a:solidFill>
                      <a:schemeClr val="tx1"/>
                    </a:solidFill>
                    <a:effectLst/>
                    <a:latin typeface="+mn-lt"/>
                    <a:ea typeface="+mn-ea"/>
                    <a:cs typeface="+mn-cs"/>
                  </a:rPr>
                  <a:t> ili </a:t>
                </a:r>
                <a:r>
                  <a:rPr lang="sr-Latn-RS" sz="1200" b="0" i="0" kern="1200">
                    <a:solidFill>
                      <a:schemeClr val="tx1"/>
                    </a:solidFill>
                    <a:effectLst/>
                    <a:latin typeface="+mn-lt"/>
                    <a:ea typeface="+mn-ea"/>
                    <a:cs typeface="+mn-cs"/>
                  </a:rPr>
                  <a:t>∨</a:t>
                </a:r>
                <a:r>
                  <a:rPr lang="sr-Latn-RS" sz="1200" b="0" kern="1200" dirty="0">
                    <a:solidFill>
                      <a:schemeClr val="tx1"/>
                    </a:solidFill>
                    <a:effectLst/>
                    <a:latin typeface="+mn-lt"/>
                    <a:ea typeface="+mn-ea"/>
                    <a:cs typeface="+mn-cs"/>
                  </a:rPr>
                  <a:t>, zavisi od specifičnih potreba problema koji se rešava.</a:t>
                </a:r>
                <a:r>
                  <a:rPr lang="en-ZA" b="0" dirty="0">
                    <a:effectLst/>
                  </a:rPr>
                  <a:t> </a:t>
                </a:r>
              </a:p>
              <a:p>
                <a:pPr marL="228600" indent="-228600" algn="just">
                  <a:buFont typeface="+mj-lt"/>
                  <a:buAutoNum type="arabicPeriod"/>
                </a:pPr>
                <a:r>
                  <a:rPr lang="sr-Latn-RS" sz="1200" b="0" kern="1200" dirty="0">
                    <a:solidFill>
                      <a:schemeClr val="tx1"/>
                    </a:solidFill>
                    <a:effectLst/>
                    <a:latin typeface="+mn-lt"/>
                    <a:ea typeface="+mn-ea"/>
                    <a:cs typeface="+mn-cs"/>
                  </a:rPr>
                  <a:t>U </a:t>
                </a:r>
                <a:r>
                  <a:rPr lang="sr-Latn-RS" sz="1200" b="0" kern="1200" dirty="0" err="1">
                    <a:solidFill>
                      <a:schemeClr val="tx1"/>
                    </a:solidFill>
                    <a:effectLst/>
                    <a:latin typeface="+mn-lt"/>
                    <a:ea typeface="+mn-ea"/>
                    <a:cs typeface="+mn-cs"/>
                  </a:rPr>
                  <a:t>Bulovom</a:t>
                </a:r>
                <a:r>
                  <a:rPr lang="sr-Latn-RS" sz="1200" b="0" kern="1200" dirty="0">
                    <a:solidFill>
                      <a:schemeClr val="tx1"/>
                    </a:solidFill>
                    <a:effectLst/>
                    <a:latin typeface="+mn-lt"/>
                    <a:ea typeface="+mn-ea"/>
                    <a:cs typeface="+mn-cs"/>
                  </a:rPr>
                  <a:t> vektorskom prostoru, kao i u opštem vektorskom prostoru, važi da skup linearno nezavisnih vektora čini bazu prostora. </a:t>
                </a:r>
              </a:p>
              <a:p>
                <a:pPr marL="228600" indent="-228600" algn="just">
                  <a:buFont typeface="+mj-lt"/>
                  <a:buAutoNum type="arabicPeriod"/>
                </a:pPr>
                <a:r>
                  <a:rPr lang="en-ZA" b="0" dirty="0" err="1"/>
                  <a:t>Skup</a:t>
                </a:r>
                <a:r>
                  <a:rPr lang="en-ZA" b="0" dirty="0"/>
                  <a:t> </a:t>
                </a:r>
                <a:r>
                  <a:rPr lang="en-ZA" b="0" dirty="0" err="1"/>
                  <a:t>Bulovih</a:t>
                </a:r>
                <a:r>
                  <a:rPr lang="en-ZA" b="0" dirty="0"/>
                  <a:t> </a:t>
                </a:r>
                <a:r>
                  <a:rPr lang="en-ZA" b="0" dirty="0" err="1"/>
                  <a:t>vektora</a:t>
                </a:r>
                <a:r>
                  <a:rPr lang="en-ZA" b="0" dirty="0"/>
                  <a:t> </a:t>
                </a:r>
                <a:r>
                  <a:rPr lang="en-ZA" b="0" dirty="0" err="1"/>
                  <a:t>je</a:t>
                </a:r>
                <a:r>
                  <a:rPr lang="en-ZA" b="0" dirty="0"/>
                  <a:t> </a:t>
                </a:r>
                <a:r>
                  <a:rPr lang="en-ZA" b="0" dirty="0" err="1"/>
                  <a:t>linearno</a:t>
                </a:r>
                <a:r>
                  <a:rPr lang="en-ZA" b="0" dirty="0"/>
                  <a:t> </a:t>
                </a:r>
                <a:r>
                  <a:rPr lang="en-ZA" b="0" dirty="0" err="1"/>
                  <a:t>nezavisan</a:t>
                </a:r>
                <a:r>
                  <a:rPr lang="en-ZA" b="0" dirty="0"/>
                  <a:t> </a:t>
                </a:r>
                <a:r>
                  <a:rPr lang="en-ZA" b="0" dirty="0" err="1"/>
                  <a:t>ako</a:t>
                </a:r>
                <a:r>
                  <a:rPr lang="en-ZA" b="0" dirty="0"/>
                  <a:t> ne </a:t>
                </a:r>
                <a:r>
                  <a:rPr lang="en-ZA" b="0" dirty="0" err="1"/>
                  <a:t>postoji</a:t>
                </a:r>
                <a:r>
                  <a:rPr lang="en-ZA" b="0" dirty="0"/>
                  <a:t> </a:t>
                </a:r>
                <a:r>
                  <a:rPr lang="en-ZA" b="0" dirty="0" err="1"/>
                  <a:t>način</a:t>
                </a:r>
                <a:r>
                  <a:rPr lang="en-ZA" b="0" dirty="0"/>
                  <a:t> da se </a:t>
                </a:r>
                <a:r>
                  <a:rPr lang="en-ZA" b="0" dirty="0" err="1"/>
                  <a:t>bilo</a:t>
                </a:r>
                <a:r>
                  <a:rPr lang="en-ZA" b="0" dirty="0"/>
                  <a:t> </a:t>
                </a:r>
                <a:r>
                  <a:rPr lang="en-ZA" b="0" dirty="0" err="1"/>
                  <a:t>koji</a:t>
                </a:r>
                <a:r>
                  <a:rPr lang="en-ZA" b="0" dirty="0"/>
                  <a:t> </a:t>
                </a:r>
                <a:r>
                  <a:rPr lang="en-ZA" b="0" dirty="0" err="1"/>
                  <a:t>vektor</a:t>
                </a:r>
                <a:r>
                  <a:rPr lang="en-ZA" b="0" dirty="0"/>
                  <a:t> </a:t>
                </a:r>
                <a:r>
                  <a:rPr lang="en-ZA" b="0" dirty="0" err="1"/>
                  <a:t>iz</a:t>
                </a:r>
                <a:r>
                  <a:rPr lang="en-ZA" b="0" dirty="0"/>
                  <a:t> </a:t>
                </a:r>
                <a:r>
                  <a:rPr lang="en-ZA" b="0" dirty="0" err="1"/>
                  <a:t>skupa</a:t>
                </a:r>
                <a:r>
                  <a:rPr lang="en-ZA" b="0" dirty="0"/>
                  <a:t> </a:t>
                </a:r>
                <a:r>
                  <a:rPr lang="en-ZA" b="0" dirty="0" err="1"/>
                  <a:t>predstavi</a:t>
                </a:r>
                <a:r>
                  <a:rPr lang="en-ZA" b="0" dirty="0"/>
                  <a:t> </a:t>
                </a:r>
                <a:r>
                  <a:rPr lang="en-ZA" b="0" dirty="0" err="1"/>
                  <a:t>kao</a:t>
                </a:r>
                <a:r>
                  <a:rPr lang="en-ZA" b="0" dirty="0"/>
                  <a:t> </a:t>
                </a:r>
                <a:r>
                  <a:rPr lang="en-ZA" b="0" dirty="0" err="1"/>
                  <a:t>modularni</a:t>
                </a:r>
                <a:r>
                  <a:rPr lang="en-ZA" b="0" dirty="0"/>
                  <a:t> </a:t>
                </a:r>
                <a:r>
                  <a:rPr lang="en-ZA" b="0" dirty="0" err="1"/>
                  <a:t>zbir</a:t>
                </a:r>
                <a:r>
                  <a:rPr lang="en-ZA" b="0" dirty="0"/>
                  <a:t> (XOR) </a:t>
                </a:r>
                <a:r>
                  <a:rPr lang="en-ZA" b="0" dirty="0" err="1"/>
                  <a:t>drugih</a:t>
                </a:r>
                <a:r>
                  <a:rPr lang="en-ZA" b="0" dirty="0"/>
                  <a:t> </a:t>
                </a:r>
                <a:r>
                  <a:rPr lang="en-ZA" b="0" dirty="0" err="1"/>
                  <a:t>vektora</a:t>
                </a:r>
                <a:r>
                  <a:rPr lang="en-ZA" b="0" dirty="0"/>
                  <a:t> </a:t>
                </a:r>
                <a:r>
                  <a:rPr lang="en-ZA" b="0" dirty="0" err="1"/>
                  <a:t>iz</a:t>
                </a:r>
                <a:r>
                  <a:rPr lang="en-ZA" b="0" dirty="0"/>
                  <a:t> tog </a:t>
                </a:r>
                <a:r>
                  <a:rPr lang="en-ZA" b="0" dirty="0" err="1"/>
                  <a:t>skupa</a:t>
                </a:r>
                <a:r>
                  <a:rPr lang="en-ZA" b="0" dirty="0"/>
                  <a:t>.</a:t>
                </a:r>
              </a:p>
              <a:p>
                <a:pPr marL="228600" indent="-228600" algn="just">
                  <a:buFont typeface="+mj-lt"/>
                  <a:buAutoNum type="arabicPeriod"/>
                </a:pPr>
                <a:r>
                  <a:rPr lang="sr-Latn-RS" sz="1200" b="0" kern="1200" dirty="0">
                    <a:solidFill>
                      <a:schemeClr val="tx1"/>
                    </a:solidFill>
                    <a:effectLst/>
                    <a:latin typeface="+mn-lt"/>
                    <a:ea typeface="+mn-ea"/>
                    <a:cs typeface="+mn-cs"/>
                  </a:rPr>
                  <a:t>Svaki vektor u </a:t>
                </a:r>
                <a:r>
                  <a:rPr lang="sr-Latn-RS" sz="1200" b="0" kern="1200" dirty="0" err="1">
                    <a:solidFill>
                      <a:schemeClr val="tx1"/>
                    </a:solidFill>
                    <a:effectLst/>
                    <a:latin typeface="+mn-lt"/>
                    <a:ea typeface="+mn-ea"/>
                    <a:cs typeface="+mn-cs"/>
                  </a:rPr>
                  <a:t>Bulovom</a:t>
                </a:r>
                <a:r>
                  <a:rPr lang="sr-Latn-RS" sz="1200" b="0" kern="1200" dirty="0">
                    <a:solidFill>
                      <a:schemeClr val="tx1"/>
                    </a:solidFill>
                    <a:effectLst/>
                    <a:latin typeface="+mn-lt"/>
                    <a:ea typeface="+mn-ea"/>
                    <a:cs typeface="+mn-cs"/>
                  </a:rPr>
                  <a:t> vektorskom prostoru se može prikazati kao linearna kombinacija vektora baze. </a:t>
                </a:r>
              </a:p>
              <a:p>
                <a:pPr marL="228600" indent="-228600" algn="just">
                  <a:buFont typeface="+mj-lt"/>
                  <a:buAutoNum type="arabicPeriod"/>
                </a:pPr>
                <a:r>
                  <a:rPr lang="sr-Latn-RS" sz="1200" b="0" dirty="0"/>
                  <a:t>U vektorskom prostoru se definiše i </a:t>
                </a:r>
                <a:r>
                  <a:rPr lang="en-ZA" b="0" dirty="0" err="1"/>
                  <a:t>unutrašnji</a:t>
                </a:r>
                <a:r>
                  <a:rPr lang="en-ZA" b="0" dirty="0"/>
                  <a:t> </a:t>
                </a:r>
                <a:r>
                  <a:rPr lang="en-ZA" b="0" dirty="0" err="1"/>
                  <a:t>proizvod</a:t>
                </a:r>
                <a:r>
                  <a:rPr lang="en-ZA" b="0" dirty="0"/>
                  <a:t> </a:t>
                </a:r>
                <a:r>
                  <a:rPr lang="en-ZA" b="0" dirty="0" err="1"/>
                  <a:t>dva</a:t>
                </a:r>
                <a:r>
                  <a:rPr lang="en-ZA" b="0" dirty="0"/>
                  <a:t> </a:t>
                </a:r>
                <a:r>
                  <a:rPr lang="en-ZA" b="0" dirty="0" err="1"/>
                  <a:t>vektora</a:t>
                </a:r>
                <a:r>
                  <a:rPr lang="en-ZA" b="0" dirty="0"/>
                  <a:t> </a:t>
                </a:r>
                <a:r>
                  <a:rPr lang="en-ZA" b="0" dirty="0" err="1"/>
                  <a:t>kao</a:t>
                </a:r>
                <a:r>
                  <a:rPr lang="en-ZA" b="0" dirty="0"/>
                  <a:t>  </a:t>
                </a:r>
                <a:r>
                  <a:rPr lang="en-ZA" b="0" dirty="0" err="1"/>
                  <a:t>modularni</a:t>
                </a:r>
                <a:r>
                  <a:rPr lang="en-ZA" b="0" dirty="0"/>
                  <a:t> </a:t>
                </a:r>
                <a:r>
                  <a:rPr lang="en-ZA" b="0" dirty="0" err="1"/>
                  <a:t>zbir</a:t>
                </a:r>
                <a:r>
                  <a:rPr lang="en-ZA" b="0" dirty="0"/>
                  <a:t> (XOR) </a:t>
                </a:r>
                <a:r>
                  <a:rPr lang="en-ZA" b="0" dirty="0" err="1"/>
                  <a:t>proizvoda</a:t>
                </a:r>
                <a:r>
                  <a:rPr lang="en-ZA" b="0" dirty="0"/>
                  <a:t> </a:t>
                </a:r>
                <a:r>
                  <a:rPr lang="en-ZA" b="0" dirty="0" err="1"/>
                  <a:t>svih</a:t>
                </a:r>
                <a:r>
                  <a:rPr lang="en-ZA" b="0" dirty="0"/>
                  <a:t> </a:t>
                </a:r>
                <a:r>
                  <a:rPr lang="en-ZA" b="0" dirty="0" err="1"/>
                  <a:t>komponenti</a:t>
                </a:r>
                <a:r>
                  <a:rPr lang="en-ZA" b="0" dirty="0"/>
                  <a:t> </a:t>
                </a:r>
                <a:r>
                  <a:rPr lang="en-ZA" b="0" dirty="0" err="1"/>
                  <a:t>dobijenih</a:t>
                </a:r>
                <a:r>
                  <a:rPr lang="en-ZA" b="0" dirty="0"/>
                  <a:t> </a:t>
                </a:r>
                <a:r>
                  <a:rPr lang="en-ZA" b="0" dirty="0" err="1"/>
                  <a:t>logičkom</a:t>
                </a:r>
                <a:r>
                  <a:rPr lang="en-ZA" b="0" dirty="0"/>
                  <a:t> </a:t>
                </a:r>
                <a:r>
                  <a:rPr lang="en-ZA" b="0" dirty="0" err="1"/>
                  <a:t>i</a:t>
                </a:r>
                <a:r>
                  <a:rPr lang="en-ZA" b="0" dirty="0"/>
                  <a:t> </a:t>
                </a:r>
                <a:r>
                  <a:rPr lang="en-ZA" b="0" dirty="0" err="1"/>
                  <a:t>operacijom</a:t>
                </a:r>
                <a:r>
                  <a:rPr lang="en-ZA" b="0" dirty="0"/>
                  <a:t>.</a:t>
                </a:r>
              </a:p>
              <a:p>
                <a:pPr marL="228600" indent="-228600" algn="just">
                  <a:buFont typeface="+mj-lt"/>
                  <a:buAutoNum type="arabicPeriod"/>
                </a:pPr>
                <a:r>
                  <a:rPr lang="en-ZA" sz="1200" b="0" dirty="0" err="1"/>
                  <a:t>Vektori</a:t>
                </a:r>
                <a:r>
                  <a:rPr lang="en-ZA" sz="1200" b="0" dirty="0"/>
                  <a:t> se </a:t>
                </a:r>
                <a:r>
                  <a:rPr lang="en-ZA" sz="1200" b="0" dirty="0" err="1"/>
                  <a:t>smatraju</a:t>
                </a:r>
                <a:r>
                  <a:rPr lang="en-ZA" sz="1200" b="0" dirty="0"/>
                  <a:t> </a:t>
                </a:r>
                <a:r>
                  <a:rPr lang="en-ZA" sz="1200" b="0" dirty="0" err="1"/>
                  <a:t>ortogonalnim</a:t>
                </a:r>
                <a:r>
                  <a:rPr lang="en-ZA" sz="1200" b="0" dirty="0"/>
                  <a:t> </a:t>
                </a:r>
                <a:r>
                  <a:rPr lang="en-ZA" sz="1200" b="0" dirty="0" err="1"/>
                  <a:t>ako</a:t>
                </a:r>
                <a:r>
                  <a:rPr lang="en-ZA" sz="1200" b="0" dirty="0"/>
                  <a:t> </a:t>
                </a:r>
                <a:r>
                  <a:rPr lang="en-ZA" sz="1200" b="0" dirty="0" err="1"/>
                  <a:t>je</a:t>
                </a:r>
                <a:r>
                  <a:rPr lang="en-ZA" sz="1200" b="0" dirty="0"/>
                  <a:t> </a:t>
                </a:r>
                <a:r>
                  <a:rPr lang="en-ZA" sz="1200" b="0" dirty="0" err="1"/>
                  <a:t>njihov</a:t>
                </a:r>
                <a:r>
                  <a:rPr lang="en-ZA" sz="1200" b="0" dirty="0"/>
                  <a:t> </a:t>
                </a:r>
                <a:r>
                  <a:rPr lang="en-ZA" sz="1200" b="0" dirty="0" err="1"/>
                  <a:t>unutrašnji</a:t>
                </a:r>
                <a:r>
                  <a:rPr lang="en-ZA" sz="1200" b="0" dirty="0"/>
                  <a:t> </a:t>
                </a:r>
                <a:r>
                  <a:rPr lang="en-ZA" sz="1200" b="0" dirty="0" err="1"/>
                  <a:t>proizvod</a:t>
                </a:r>
                <a:r>
                  <a:rPr lang="en-ZA" sz="1200" b="0" dirty="0"/>
                  <a:t> 1.</a:t>
                </a:r>
                <a:endParaRPr lang="sr-Latn-RS" sz="1200" b="0" dirty="0"/>
              </a:p>
              <a:p>
                <a:pPr marL="228600" indent="-228600" algn="just">
                  <a:buFont typeface="+mj-lt"/>
                  <a:buAutoNum type="arabicPeriod"/>
                </a:pPr>
                <a:r>
                  <a:rPr lang="sr-Latn-RS" sz="1200" b="0" dirty="0"/>
                  <a:t>Preslikavanje binarnog niza na 0 ili 1 naziva se </a:t>
                </a:r>
                <a:r>
                  <a:rPr lang="sr-Latn-RS" sz="1200" b="0" dirty="0" err="1"/>
                  <a:t>Bulova</a:t>
                </a:r>
                <a:r>
                  <a:rPr lang="sr-Latn-RS" sz="1200" b="0" dirty="0"/>
                  <a:t> funkcija.</a:t>
                </a:r>
              </a:p>
              <a:p>
                <a:pPr marL="228600" marR="0" lvl="0" indent="-228600" algn="just" defTabSz="914400" rtl="0" eaLnBrk="1" fontAlgn="auto" latinLnBrk="0" hangingPunct="1">
                  <a:lnSpc>
                    <a:spcPct val="100000"/>
                  </a:lnSpc>
                  <a:spcBef>
                    <a:spcPts val="0"/>
                  </a:spcBef>
                  <a:spcAft>
                    <a:spcPts val="0"/>
                  </a:spcAft>
                  <a:buClrTx/>
                  <a:buSzTx/>
                  <a:buFont typeface="+mj-lt"/>
                  <a:buAutoNum type="arabicPeriod"/>
                  <a:tabLst/>
                  <a:defRPr/>
                </a:pPr>
                <a:r>
                  <a:rPr lang="sr-Latn-RS" sz="1200" b="0" dirty="0"/>
                  <a:t>Preslikavanje jednog binarnog niza na drugi binarni niz naziva se vektor </a:t>
                </a:r>
                <a:r>
                  <a:rPr lang="sr-Latn-RS" sz="1200" b="0" dirty="0" err="1"/>
                  <a:t>Bulova</a:t>
                </a:r>
                <a:r>
                  <a:rPr lang="sr-Latn-RS" sz="1200" b="0" dirty="0"/>
                  <a:t> funkcija.</a:t>
                </a:r>
              </a:p>
              <a:p>
                <a:pPr marL="228600" indent="-228600" algn="just">
                  <a:buFont typeface="+mj-lt"/>
                  <a:buAutoNum type="arabicPeriod"/>
                </a:pPr>
                <a:endParaRPr lang="en-US" b="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61</a:t>
            </a:fld>
            <a:endParaRPr lang="en-US"/>
          </a:p>
        </p:txBody>
      </p:sp>
    </p:spTree>
    <p:extLst>
      <p:ext uri="{BB962C8B-B14F-4D97-AF65-F5344CB8AC3E}">
        <p14:creationId xmlns:p14="http://schemas.microsoft.com/office/powerpoint/2010/main" val="81076592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ZA" b="0" dirty="0"/>
                  <a:t>A function that maps a bit string to a single bit is called a Boolean function.</a:t>
                </a:r>
              </a:p>
              <a:p>
                <a:pPr marL="171450" indent="-171450">
                  <a:buFont typeface="Arial" panose="020B0604020202020204" pitchFamily="34" charset="0"/>
                  <a:buChar char="•"/>
                </a:pPr>
                <a:r>
                  <a:rPr lang="en-ZA" b="0" dirty="0"/>
                  <a:t>A function that maps a bit string to another bit string of the same or different length is called a </a:t>
                </a:r>
                <a:r>
                  <a:rPr lang="en-ZA" b="0" dirty="0" err="1"/>
                  <a:t>vectorial</a:t>
                </a:r>
                <a:r>
                  <a:rPr lang="en-ZA" b="0" dirty="0"/>
                  <a:t> Boolean function. </a:t>
                </a:r>
              </a:p>
              <a:p>
                <a:pPr marL="171450" indent="-171450">
                  <a:buFont typeface="Arial" panose="020B0604020202020204" pitchFamily="34" charset="0"/>
                  <a:buChar char="•"/>
                </a:pPr>
                <a:r>
                  <a:rPr lang="en-ZA" b="0" dirty="0"/>
                  <a:t>A linear Boolean function can be expressed as an XOR combination of its input variables. If a constant term is included, the function is called an affine Boolean function. </a:t>
                </a:r>
              </a:p>
              <a:p>
                <a:pPr marL="171450" indent="-171450">
                  <a:buFont typeface="Arial" panose="020B0604020202020204" pitchFamily="34" charset="0"/>
                  <a:buChar char="•"/>
                </a:pPr>
                <a:r>
                  <a:rPr lang="en-ZA" b="0" dirty="0"/>
                  <a:t>A Boolean function is constant if it always produces the same output, 0 or 1, regardless of the input. </a:t>
                </a:r>
              </a:p>
              <a:p>
                <a:pPr marL="171450" indent="-171450">
                  <a:buFont typeface="Arial" panose="020B0604020202020204" pitchFamily="34" charset="0"/>
                  <a:buChar char="•"/>
                </a:pPr>
                <a:r>
                  <a:rPr lang="en-ZA" b="0" dirty="0"/>
                  <a:t>A Boolean function is balanced if it produces 0 for half of all possible inputs and 1 for the other half.</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ZA" sz="1200" dirty="0"/>
                  <a:t>Every linear Boolean function is either constant or balanced.</a:t>
                </a:r>
                <a:endParaRPr lang="en-US" sz="1200" dirty="0"/>
              </a:p>
            </p:txBody>
          </p:sp>
        </mc:Choice>
        <mc:Fallback xmlns="">
          <p:sp>
            <p:nvSpPr>
              <p:cNvPr id="3" name="Notes Placeholder 2"/>
              <p:cNvSpPr>
                <a:spLocks noGrp="1"/>
              </p:cNvSpPr>
              <p:nvPr>
                <p:ph type="body" idx="1"/>
              </p:nvPr>
            </p:nvSpPr>
            <p:spPr/>
            <p:txBody>
              <a:bodyPr/>
              <a:lstStyle/>
              <a:p>
                <a:r>
                  <a:rPr lang="sr-Latn-RS" sz="1200" dirty="0"/>
                  <a:t>A </a:t>
                </a:r>
                <a:r>
                  <a:rPr lang="sr-Latn-RS" sz="1200" dirty="0" err="1"/>
                  <a:t>mapping</a:t>
                </a:r>
                <a:r>
                  <a:rPr lang="sr-Latn-RS" sz="1200" kern="1200" dirty="0">
                    <a:solidFill>
                      <a:schemeClr val="tx1"/>
                    </a:solidFill>
                    <a:effectLst/>
                    <a:latin typeface="+mn-lt"/>
                    <a:ea typeface="+mn-ea"/>
                    <a:cs typeface="+mn-cs"/>
                  </a:rPr>
                  <a:t>  </a:t>
                </a:r>
                <a:r>
                  <a:rPr lang="sr-Latn-RS" sz="1200" i="0" kern="1200">
                    <a:solidFill>
                      <a:schemeClr val="tx1"/>
                    </a:solidFill>
                    <a:effectLst/>
                    <a:latin typeface="+mn-lt"/>
                    <a:ea typeface="+mn-ea"/>
                    <a:cs typeface="+mn-cs"/>
                  </a:rPr>
                  <a:t>𝑓:</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0,1}</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𝑛→</a:t>
                </a:r>
                <a:r>
                  <a:rPr lang="en-ZA" sz="1200" i="0" kern="1200">
                    <a:solidFill>
                      <a:schemeClr val="tx1"/>
                    </a:solidFill>
                    <a:effectLst/>
                    <a:latin typeface="+mn-lt"/>
                    <a:ea typeface="+mn-ea"/>
                    <a:cs typeface="+mn-cs"/>
                  </a:rPr>
                  <a:t>{</a:t>
                </a:r>
                <a:r>
                  <a:rPr lang="sr-Latn-RS" sz="1200" i="0" kern="1200">
                    <a:solidFill>
                      <a:schemeClr val="tx1"/>
                    </a:solidFill>
                    <a:effectLst/>
                    <a:latin typeface="+mn-lt"/>
                    <a:ea typeface="+mn-ea"/>
                    <a:cs typeface="+mn-cs"/>
                  </a:rPr>
                  <a:t>0,1}</a:t>
                </a:r>
                <a:r>
                  <a:rPr lang="sr-Latn-RS" sz="1200" kern="1200" dirty="0">
                    <a:solidFill>
                      <a:schemeClr val="tx1"/>
                    </a:solidFill>
                    <a:effectLst/>
                    <a:latin typeface="+mn-lt"/>
                    <a:ea typeface="+mn-ea"/>
                    <a:cs typeface="+mn-cs"/>
                  </a:rPr>
                  <a:t> </a:t>
                </a:r>
                <a:r>
                  <a:rPr lang="sr-Latn-RS" sz="1200" dirty="0"/>
                  <a:t>is called a Boolean </a:t>
                </a:r>
                <a:r>
                  <a:rPr lang="sr-Latn-RS" sz="1200" dirty="0" err="1"/>
                  <a:t>function</a:t>
                </a:r>
                <a:r>
                  <a:rPr lang="sr-Latn-RS" sz="1200" dirty="0"/>
                  <a:t>. </a:t>
                </a:r>
              </a:p>
              <a:p>
                <a:endParaRPr lang="sr-Latn-RS" sz="1200" dirty="0"/>
              </a:p>
              <a:p>
                <a:r>
                  <a:rPr lang="en-ZA" b="0" dirty="0"/>
                  <a:t>The function is said to be linear if the value of the function on the sum (bitwise XOR) of inputs is equal to the sum (XOR) of the function values on each input individually</a:t>
                </a:r>
                <a:r>
                  <a:rPr lang="sr-Latn-RS" sz="1200" kern="1200" dirty="0">
                    <a:solidFill>
                      <a:schemeClr val="tx1"/>
                    </a:solidFill>
                    <a:effectLst/>
                    <a:latin typeface="+mn-lt"/>
                    <a:ea typeface="+mn-ea"/>
                    <a:cs typeface="+mn-cs"/>
                  </a:rPr>
                  <a:t>. </a:t>
                </a:r>
                <a:r>
                  <a:rPr lang="sr-Latn-RS" sz="1200" kern="1200" dirty="0" err="1">
                    <a:solidFill>
                      <a:schemeClr val="tx1"/>
                    </a:solidFill>
                    <a:effectLst/>
                    <a:latin typeface="+mn-lt"/>
                    <a:ea typeface="+mn-ea"/>
                    <a:cs typeface="+mn-cs"/>
                  </a:rPr>
                  <a:t>Also</a:t>
                </a:r>
                <a:r>
                  <a:rPr lang="sr-Latn-RS" sz="1200" kern="1200" dirty="0">
                    <a:solidFill>
                      <a:schemeClr val="tx1"/>
                    </a:solidFill>
                    <a:effectLst/>
                    <a:latin typeface="+mn-lt"/>
                    <a:ea typeface="+mn-ea"/>
                    <a:cs typeface="+mn-cs"/>
                  </a:rPr>
                  <a:t>, </a:t>
                </a:r>
                <a:r>
                  <a:rPr lang="en-ZA" sz="1200" kern="1200" dirty="0">
                    <a:solidFill>
                      <a:schemeClr val="tx1"/>
                    </a:solidFill>
                    <a:effectLst/>
                    <a:latin typeface="+mn-lt"/>
                    <a:ea typeface="+mn-ea"/>
                    <a:cs typeface="+mn-cs"/>
                  </a:rPr>
                  <a:t>i</a:t>
                </a:r>
                <a:r>
                  <a:rPr lang="en-ZA" dirty="0"/>
                  <a:t>f you scale the input vector by a scalar </a:t>
                </a:r>
                <a:r>
                  <a:rPr lang="sr-Latn-RS" sz="1200" i="0">
                    <a:latin typeface="Cambria Math" panose="02040503050406030204" pitchFamily="18" charset="0"/>
                  </a:rPr>
                  <a:t>𝑎</a:t>
                </a:r>
                <a:r>
                  <a:rPr lang="en-ZA" dirty="0"/>
                  <a:t>, the output of the function is also scaled by the same scalar.</a:t>
                </a:r>
                <a:endParaRPr lang="sr-Latn-RS" sz="1200" kern="1200" dirty="0">
                  <a:solidFill>
                    <a:schemeClr val="tx1"/>
                  </a:solidFill>
                  <a:effectLst/>
                  <a:latin typeface="+mn-lt"/>
                  <a:ea typeface="+mn-ea"/>
                  <a:cs typeface="+mn-cs"/>
                </a:endParaRPr>
              </a:p>
              <a:p>
                <a:endParaRPr lang="sr-Latn-RS" sz="1200" kern="1200" dirty="0">
                  <a:solidFill>
                    <a:schemeClr val="tx1"/>
                  </a:solidFill>
                  <a:effectLst/>
                  <a:latin typeface="+mn-lt"/>
                  <a:ea typeface="+mn-ea"/>
                  <a:cs typeface="+mn-cs"/>
                </a:endParaRPr>
              </a:p>
              <a:p>
                <a:pPr marL="171450" indent="-171450">
                  <a:buFont typeface="Arial" panose="020B0604020202020204" pitchFamily="34" charset="0"/>
                  <a:buChar char="•"/>
                </a:pPr>
                <a:r>
                  <a:rPr lang="en-ZA" b="0" dirty="0"/>
                  <a:t>A linear function is constant if all its coefficients are zero and its output is 0 for all inputs.</a:t>
                </a:r>
              </a:p>
              <a:p>
                <a:pPr marL="171450" indent="-171450">
                  <a:buFont typeface="Arial" panose="020B0604020202020204" pitchFamily="34" charset="0"/>
                  <a:buChar char="•"/>
                </a:pPr>
                <a:r>
                  <a:rPr lang="en-ZA" b="0" dirty="0"/>
                  <a:t>A linear function is balanced if at least one of its coefficients is 1, in which case the function outputs an equal number of 0s and 1s over all possible inputs.</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62</a:t>
            </a:fld>
            <a:endParaRPr lang="en-US"/>
          </a:p>
        </p:txBody>
      </p:sp>
    </p:spTree>
    <p:extLst>
      <p:ext uri="{BB962C8B-B14F-4D97-AF65-F5344CB8AC3E}">
        <p14:creationId xmlns:p14="http://schemas.microsoft.com/office/powerpoint/2010/main" val="393320507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ZA" dirty="0"/>
              <a:t>Modular arithmetic plays an important role in quantum computing because it enables efficient computation with periodic patterns and large numbers. Modular arithmetic is used in many quantum algorithms, particularly in cryptography, error correction, and the quantum Fourier transform.</a:t>
            </a:r>
            <a:endParaRPr lang="en-US" dirty="0"/>
          </a:p>
        </p:txBody>
      </p:sp>
      <p:sp>
        <p:nvSpPr>
          <p:cNvPr id="4" name="Slide Number Placeholder 3"/>
          <p:cNvSpPr>
            <a:spLocks noGrp="1"/>
          </p:cNvSpPr>
          <p:nvPr>
            <p:ph type="sldNum" sz="quarter" idx="5"/>
          </p:nvPr>
        </p:nvSpPr>
        <p:spPr/>
        <p:txBody>
          <a:bodyPr/>
          <a:lstStyle/>
          <a:p>
            <a:fld id="{1B2CE5E3-B8BD-D040-AC87-D640191DD8F1}" type="slidenum">
              <a:rPr lang="en-US" smtClean="0"/>
              <a:t>63</a:t>
            </a:fld>
            <a:endParaRPr lang="en-US"/>
          </a:p>
        </p:txBody>
      </p:sp>
    </p:spTree>
    <p:extLst>
      <p:ext uri="{BB962C8B-B14F-4D97-AF65-F5344CB8AC3E}">
        <p14:creationId xmlns:p14="http://schemas.microsoft.com/office/powerpoint/2010/main" val="122937362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dirty="0"/>
                  <a:t>Quantum computing makes extensive use of modular arithmetic.</a:t>
                </a:r>
                <a:r>
                  <a:rPr lang="en-ZA" b="0" dirty="0"/>
                  <a:t> </a:t>
                </a:r>
                <a:r>
                  <a:rPr lang="en-ZA" dirty="0"/>
                  <a:t>It is a type of arithmetic in which integers “wrap around” after reaching a certain value called the modulus.</a:t>
                </a:r>
                <a:endParaRPr lang="en-ZA" b="0" dirty="0"/>
              </a:p>
              <a:p>
                <a:pPr algn="just"/>
                <a:endParaRPr lang="en-ZA" b="0" dirty="0"/>
              </a:p>
              <a:p>
                <a:pPr algn="just"/>
                <a:r>
                  <a:rPr lang="en-ZA" b="0" dirty="0"/>
                  <a:t>A simple example is a 12-hour clock: after 12, we return to 1 again. Here, 12 is the modulus. This illustrates the periodic nature of modular arithmetic, where values repeat after a fixed interval.</a:t>
                </a:r>
              </a:p>
              <a:p>
                <a:pPr algn="just"/>
                <a:endParaRPr lang="en-ZA" b="0" dirty="0"/>
              </a:p>
              <a:p>
                <a:r>
                  <a:rPr lang="en-ZA" b="0" dirty="0"/>
                  <a:t>In mathematics, modular arithmetic is described using a congruence relation</a:t>
                </a:r>
              </a:p>
              <a:p>
                <a:endParaRPr lang="en-ZA" b="0" dirty="0"/>
              </a:p>
              <a:p>
                <a:pPr/>
                <a14:m>
                  <m:oMathPara xmlns:m="http://schemas.openxmlformats.org/officeDocument/2006/math">
                    <m:oMathParaPr>
                      <m:jc m:val="centerGroup"/>
                    </m:oMathParaPr>
                    <m:oMath xmlns:m="http://schemas.openxmlformats.org/officeDocument/2006/math">
                      <m:d>
                        <m:dPr>
                          <m:begChr m:val=""/>
                          <m:ctrlPr>
                            <a:rPr lang="en-US" sz="1200" i="1" smtClean="0">
                              <a:latin typeface="Cambria Math" panose="02040503050406030204" pitchFamily="18" charset="0"/>
                            </a:rPr>
                          </m:ctrlPr>
                        </m:dPr>
                        <m:e>
                          <m:r>
                            <a:rPr lang="en-US" sz="1200" i="1">
                              <a:latin typeface="Cambria Math" panose="02040503050406030204" pitchFamily="18" charset="0"/>
                            </a:rPr>
                            <m:t>𝑎</m:t>
                          </m:r>
                          <m:r>
                            <a:rPr lang="en-US" sz="1200" i="0">
                              <a:latin typeface="Cambria Math" panose="02040503050406030204" pitchFamily="18" charset="0"/>
                            </a:rPr>
                            <m:t>≡</m:t>
                          </m:r>
                          <m:r>
                            <a:rPr lang="en-US" sz="1200" i="1">
                              <a:latin typeface="Cambria Math" panose="02040503050406030204" pitchFamily="18" charset="0"/>
                            </a:rPr>
                            <m:t>𝑏</m:t>
                          </m:r>
                          <m:r>
                            <a:rPr lang="en-US" sz="1200" i="0">
                              <a:latin typeface="Cambria Math" panose="02040503050406030204" pitchFamily="18" charset="0"/>
                            </a:rPr>
                            <m:t> (</m:t>
                          </m:r>
                          <m:r>
                            <m:rPr>
                              <m:sty m:val="p"/>
                            </m:rPr>
                            <a:rPr lang="en-US" sz="1200" i="0">
                              <a:latin typeface="Cambria Math" panose="02040503050406030204" pitchFamily="18" charset="0"/>
                            </a:rPr>
                            <m:t>mod</m:t>
                          </m:r>
                          <m:r>
                            <a:rPr lang="en-US" sz="1200" i="0">
                              <a:latin typeface="Cambria Math" panose="02040503050406030204" pitchFamily="18" charset="0"/>
                            </a:rPr>
                            <m:t> </m:t>
                          </m:r>
                          <m:r>
                            <a:rPr lang="en-US" sz="1200" i="1">
                              <a:latin typeface="Cambria Math" panose="02040503050406030204" pitchFamily="18" charset="0"/>
                            </a:rPr>
                            <m:t>𝑛</m:t>
                          </m:r>
                        </m:e>
                      </m:d>
                      <m:r>
                        <a:rPr lang="en-U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𝑛</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𝑎</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𝑏</m:t>
                      </m:r>
                      <m:r>
                        <a:rPr lang="en-US" sz="1200" b="0" i="1" smtClean="0">
                          <a:latin typeface="Cambria Math" panose="02040503050406030204" pitchFamily="18" charset="0"/>
                          <a:ea typeface="Cambria Math" panose="02040503050406030204" pitchFamily="18" charset="0"/>
                        </a:rPr>
                        <m:t>)</m:t>
                      </m:r>
                    </m:oMath>
                  </m:oMathPara>
                </a14:m>
                <a:endParaRPr lang="en-ZA" b="0" dirty="0"/>
              </a:p>
              <a:p>
                <a:r>
                  <a:rPr lang="en-ZA" dirty="0"/>
                  <a:t>It means:</a:t>
                </a:r>
                <a:endParaRPr lang="en-ZA" b="0" dirty="0"/>
              </a:p>
              <a:p>
                <a14:m>
                  <m:oMath xmlns:m="http://schemas.openxmlformats.org/officeDocument/2006/math">
                    <m:r>
                      <a:rPr lang="en-US" sz="1200" b="0" i="1" smtClean="0">
                        <a:latin typeface="Cambria Math" panose="02040503050406030204" pitchFamily="18" charset="0"/>
                      </a:rPr>
                      <m:t>𝑎</m:t>
                    </m:r>
                  </m:oMath>
                </a14:m>
                <a:r>
                  <a:rPr lang="en-ZA" b="0" dirty="0"/>
                  <a:t> is congruent to </a:t>
                </a:r>
                <a14:m>
                  <m:oMath xmlns:m="http://schemas.openxmlformats.org/officeDocument/2006/math">
                    <m:r>
                      <a:rPr lang="en-US" sz="1200" b="0" i="1" smtClean="0">
                        <a:latin typeface="Cambria Math" panose="02040503050406030204" pitchFamily="18" charset="0"/>
                      </a:rPr>
                      <m:t>𝑏</m:t>
                    </m:r>
                  </m:oMath>
                </a14:m>
                <a:r>
                  <a:rPr lang="en-ZA" b="0" dirty="0"/>
                  <a:t> modulo </a:t>
                </a:r>
                <a14:m>
                  <m:oMath xmlns:m="http://schemas.openxmlformats.org/officeDocument/2006/math">
                    <m:r>
                      <a:rPr lang="en-US" sz="1200" b="0" i="1" smtClean="0">
                        <a:latin typeface="Cambria Math" panose="02040503050406030204" pitchFamily="18" charset="0"/>
                      </a:rPr>
                      <m:t>𝑛</m:t>
                    </m:r>
                  </m:oMath>
                </a14:m>
                <a:r>
                  <a:rPr lang="en-ZA" b="0" dirty="0"/>
                  <a:t> if and only if </a:t>
                </a:r>
                <a14:m>
                  <m:oMath xmlns:m="http://schemas.openxmlformats.org/officeDocument/2006/math">
                    <m:r>
                      <a:rPr lang="en-US" sz="1200" b="0" i="1" smtClean="0">
                        <a:latin typeface="Cambria Math" panose="02040503050406030204" pitchFamily="18" charset="0"/>
                      </a:rPr>
                      <m:t>𝑛</m:t>
                    </m:r>
                  </m:oMath>
                </a14:m>
                <a:r>
                  <a:rPr lang="en-ZA" b="0" dirty="0"/>
                  <a:t> divides </a:t>
                </a:r>
                <a14:m>
                  <m:oMath xmlns:m="http://schemas.openxmlformats.org/officeDocument/2006/math">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𝑎</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𝑏</m:t>
                    </m:r>
                    <m:r>
                      <a:rPr lang="en-US" sz="1200" b="0" i="1" smtClean="0">
                        <a:latin typeface="Cambria Math" panose="02040503050406030204" pitchFamily="18" charset="0"/>
                        <a:ea typeface="Cambria Math" panose="02040503050406030204" pitchFamily="18" charset="0"/>
                      </a:rPr>
                      <m:t>)</m:t>
                    </m:r>
                  </m:oMath>
                </a14:m>
                <a:r>
                  <a:rPr lang="en-ZA" b="0" dirty="0"/>
                  <a:t>. Equivalently, </a:t>
                </a:r>
                <a14:m>
                  <m:oMath xmlns:m="http://schemas.openxmlformats.org/officeDocument/2006/math">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𝑎</m:t>
                    </m:r>
                    <m:r>
                      <a:rPr lang="en-US" sz="1200" b="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𝑏</m:t>
                    </m:r>
                    <m:r>
                      <a:rPr lang="en-US" sz="1200" b="0" i="1" smtClean="0">
                        <a:latin typeface="Cambria Math" panose="02040503050406030204" pitchFamily="18" charset="0"/>
                        <a:ea typeface="Cambria Math" panose="02040503050406030204" pitchFamily="18" charset="0"/>
                      </a:rPr>
                      <m:t>)</m:t>
                    </m:r>
                  </m:oMath>
                </a14:m>
                <a:r>
                  <a:rPr lang="en-ZA" b="0" dirty="0"/>
                  <a:t> is divisible by </a:t>
                </a:r>
                <a14:m>
                  <m:oMath xmlns:m="http://schemas.openxmlformats.org/officeDocument/2006/math">
                    <m:r>
                      <a:rPr lang="en-US" sz="1200" b="0" i="1" smtClean="0">
                        <a:latin typeface="Cambria Math" panose="02040503050406030204" pitchFamily="18" charset="0"/>
                      </a:rPr>
                      <m:t>𝑛</m:t>
                    </m:r>
                  </m:oMath>
                </a14:m>
                <a:r>
                  <a:rPr lang="en-ZA" b="0" dirty="0"/>
                  <a:t>.</a:t>
                </a:r>
              </a:p>
            </p:txBody>
          </p:sp>
        </mc:Choice>
        <mc:Fallback xmlns="">
          <p:sp>
            <p:nvSpPr>
              <p:cNvPr id="3" name="Notes Placeholder 2"/>
              <p:cNvSpPr>
                <a:spLocks noGrp="1"/>
              </p:cNvSpPr>
              <p:nvPr>
                <p:ph type="body" idx="1"/>
              </p:nvPr>
            </p:nvSpPr>
            <p:spPr/>
            <p:txBody>
              <a:bodyPr/>
              <a:lstStyle/>
              <a:p>
                <a:pPr algn="just"/>
                <a:r>
                  <a:rPr lang="en-ZA" b="0" dirty="0"/>
                  <a:t>Quantum computing, in addition to linear algebra and matrix calculations, frequently utilizes modular arithmetic. Modular arithmetic is the arithmetic of integers in which numbers "wrap around" upon reaching a certain value, known as the modulus.</a:t>
                </a:r>
              </a:p>
              <a:p>
                <a:pPr algn="just"/>
                <a:endParaRPr lang="en-ZA" b="0" dirty="0"/>
              </a:p>
              <a:p>
                <a:pPr algn="just"/>
                <a:r>
                  <a:rPr lang="en-ZA" b="0" dirty="0"/>
                  <a:t>For example, consider a 12-hour clock: once the number 12 is reached, the sequence resets and continues from 1 onward. In this scenario, 12 acts as the modulus. This demonstrates intuitively that modular arithmetic is periodic, meaning functions defined using modular arithmetic repeat their values at regular intervals or periods.</a:t>
                </a:r>
              </a:p>
              <a:p>
                <a:pPr algn="just"/>
                <a:endParaRPr lang="en-ZA" b="0" dirty="0"/>
              </a:p>
              <a:p>
                <a:pPr algn="just"/>
                <a:r>
                  <a:rPr lang="en-ZA" b="0" dirty="0"/>
                  <a:t>Mathematically, modular arithmetic defines an equivalence relationship:</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b="0" i="0">
                    <a:latin typeface="Cambria Math" panose="02040503050406030204" pitchFamily="18" charset="0"/>
                  </a:rPr>
                  <a:t>├ 𝑎≡𝑏 (𝑚𝑜𝑑 𝑛)</a:t>
                </a:r>
                <a:endParaRPr lang="en-US" sz="1200" b="0" dirty="0"/>
              </a:p>
              <a:p>
                <a:pPr algn="just"/>
                <a:r>
                  <a:rPr lang="en-ZA" b="0" dirty="0"/>
                  <a:t>This congruence indicates that both numbers </a:t>
                </a:r>
                <a:r>
                  <a:rPr lang="en-US" sz="1200" b="0" i="0">
                    <a:latin typeface="Cambria Math" panose="02040503050406030204" pitchFamily="18" charset="0"/>
                  </a:rPr>
                  <a:t>𝑎</a:t>
                </a:r>
                <a:r>
                  <a:rPr lang="en-ZA" b="0" dirty="0"/>
                  <a:t> and </a:t>
                </a:r>
                <a:r>
                  <a:rPr lang="en-US" sz="1200" b="0" i="0">
                    <a:latin typeface="Cambria Math" panose="02040503050406030204" pitchFamily="18" charset="0"/>
                  </a:rPr>
                  <a:t>𝑏</a:t>
                </a:r>
                <a:r>
                  <a:rPr lang="en-ZA" b="0" dirty="0"/>
                  <a:t> leave the same remainder upon division by </a:t>
                </a:r>
                <a:r>
                  <a:rPr lang="en-US" sz="1200" b="0" i="0">
                    <a:latin typeface="Cambria Math" panose="02040503050406030204" pitchFamily="18" charset="0"/>
                  </a:rPr>
                  <a:t>𝑛</a:t>
                </a:r>
                <a:r>
                  <a:rPr lang="en-ZA" b="0" dirty="0"/>
                  <a:t>. It is important not to confuse this equivalence relation with the modulo operator (often written as </a:t>
                </a:r>
                <a:r>
                  <a:rPr lang="en-US" sz="1200" b="0" i="0">
                    <a:latin typeface="Cambria Math" panose="02040503050406030204" pitchFamily="18" charset="0"/>
                  </a:rPr>
                  <a:t>𝑎%𝑛</a:t>
                </a:r>
                <a:r>
                  <a:rPr lang="en-ZA" b="0" dirty="0"/>
                  <a:t>), which explicitly computes the remainder when </a:t>
                </a:r>
                <a:r>
                  <a:rPr lang="en-ZA" b="0" dirty="0" err="1"/>
                  <a:t>aaa</a:t>
                </a:r>
                <a:r>
                  <a:rPr lang="en-ZA" b="0" dirty="0"/>
                  <a:t> is divided by </a:t>
                </a:r>
                <a:r>
                  <a:rPr lang="en-US" sz="1200" b="0" i="0">
                    <a:latin typeface="Cambria Math" panose="02040503050406030204" pitchFamily="18" charset="0"/>
                  </a:rPr>
                  <a:t>𝑛</a:t>
                </a:r>
                <a:r>
                  <a:rPr lang="en-ZA" b="0" dirty="0"/>
                  <a:t>.</a:t>
                </a:r>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64</a:t>
            </a:fld>
            <a:endParaRPr lang="en-US"/>
          </a:p>
        </p:txBody>
      </p:sp>
    </p:spTree>
    <p:extLst>
      <p:ext uri="{BB962C8B-B14F-4D97-AF65-F5344CB8AC3E}">
        <p14:creationId xmlns:p14="http://schemas.microsoft.com/office/powerpoint/2010/main" val="240387490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just"/>
                <a:r>
                  <a:rPr lang="en-ZA" b="0" dirty="0"/>
                  <a:t>In cryptography and quantum computing, modular exponential functions are particularly important. A modular exponential function computes the exponent of a base </a:t>
                </a:r>
                <a14:m>
                  <m:oMath xmlns:m="http://schemas.openxmlformats.org/officeDocument/2006/math">
                    <m:r>
                      <a:rPr lang="en-US" i="1" smtClean="0">
                        <a:latin typeface="Cambria Math" panose="02040503050406030204" pitchFamily="18" charset="0"/>
                      </a:rPr>
                      <m:t>𝑎</m:t>
                    </m:r>
                  </m:oMath>
                </a14:m>
                <a:r>
                  <a:rPr lang="en-ZA" b="0" dirty="0"/>
                  <a:t>, then divides the result by a given modulus </a:t>
                </a:r>
                <a14:m>
                  <m:oMath xmlns:m="http://schemas.openxmlformats.org/officeDocument/2006/math">
                    <m:r>
                      <a:rPr lang="en-US" b="0" i="1" smtClean="0">
                        <a:latin typeface="Cambria Math" panose="02040503050406030204" pitchFamily="18" charset="0"/>
                      </a:rPr>
                      <m:t>𝑁</m:t>
                    </m:r>
                  </m:oMath>
                </a14:m>
                <a:r>
                  <a:rPr lang="en-ZA" b="0" dirty="0"/>
                  <a:t>, returning the remainder. This process is performed strictly within the set of integers.</a:t>
                </a:r>
              </a:p>
              <a:p>
                <a:pPr algn="just"/>
                <a:endParaRPr lang="en-ZA" b="0" dirty="0"/>
              </a:p>
              <a:p>
                <a:pPr algn="just"/>
                <a:r>
                  <a:rPr lang="en-ZA" b="0" dirty="0"/>
                  <a:t>Since modular functions are periodic, their values repeat at regular intervals. A classical method for finding the period of the function </a:t>
                </a:r>
                <a14:m>
                  <m:oMath xmlns:m="http://schemas.openxmlformats.org/officeDocument/2006/math">
                    <m:sSup>
                      <m:sSupPr>
                        <m:ctrlPr>
                          <a:rPr lang="en-US" sz="1200" i="1" smtClean="0">
                            <a:solidFill>
                              <a:schemeClr val="tx1"/>
                            </a:solidFill>
                            <a:latin typeface="Cambria Math" panose="02040503050406030204" pitchFamily="18" charset="0"/>
                          </a:rPr>
                        </m:ctrlPr>
                      </m:sSupPr>
                      <m:e>
                        <m:r>
                          <a:rPr lang="en-US" sz="1200" i="1" smtClean="0">
                            <a:latin typeface="Cambria Math" panose="02040503050406030204" pitchFamily="18" charset="0"/>
                          </a:rPr>
                          <m:t>𝑓</m:t>
                        </m:r>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r>
                          <a:rPr lang="en-US" sz="1200" b="0" i="1" smtClean="0">
                            <a:solidFill>
                              <a:schemeClr val="tx1"/>
                            </a:solidFill>
                            <a:latin typeface="Cambria Math" panose="02040503050406030204" pitchFamily="18" charset="0"/>
                          </a:rPr>
                          <m:t>𝑎</m:t>
                        </m:r>
                      </m:e>
                      <m:sup>
                        <m:r>
                          <a:rPr lang="en-US" sz="1200" b="0" i="1" smtClean="0">
                            <a:solidFill>
                              <a:schemeClr val="tx1"/>
                            </a:solidFill>
                            <a:latin typeface="Cambria Math" panose="02040503050406030204" pitchFamily="18" charset="0"/>
                          </a:rPr>
                          <m:t>𝑥</m:t>
                        </m:r>
                      </m:sup>
                    </m:sSup>
                    <m:r>
                      <a:rPr lang="en-US" sz="1200" b="0" i="1" smtClean="0">
                        <a:solidFill>
                          <a:schemeClr val="tx1"/>
                        </a:solidFill>
                        <a:latin typeface="Cambria Math" panose="02040503050406030204" pitchFamily="18" charset="0"/>
                      </a:rPr>
                      <m:t>(</m:t>
                    </m:r>
                    <m:r>
                      <a:rPr lang="en-US" sz="1200" b="0" i="1" smtClean="0">
                        <a:solidFill>
                          <a:schemeClr val="tx1"/>
                        </a:solidFill>
                        <a:latin typeface="Cambria Math" panose="02040503050406030204" pitchFamily="18" charset="0"/>
                      </a:rPr>
                      <m:t>𝑚𝑜𝑑</m:t>
                    </m:r>
                    <m:r>
                      <a:rPr lang="en-US" sz="1200" b="0" i="1" smtClean="0">
                        <a:solidFill>
                          <a:schemeClr val="tx1"/>
                        </a:solidFill>
                        <a:latin typeface="Cambria Math" panose="02040503050406030204" pitchFamily="18" charset="0"/>
                      </a:rPr>
                      <m:t> </m:t>
                    </m:r>
                    <m:r>
                      <a:rPr lang="sr-Latn-RS" sz="1200" b="0" i="1" smtClean="0">
                        <a:solidFill>
                          <a:schemeClr val="tx1"/>
                        </a:solidFill>
                        <a:latin typeface="Cambria Math" panose="02040503050406030204" pitchFamily="18" charset="0"/>
                      </a:rPr>
                      <m:t>𝑛</m:t>
                    </m:r>
                    <m:r>
                      <a:rPr lang="en-US" sz="1200" b="0" i="1" smtClean="0">
                        <a:solidFill>
                          <a:schemeClr val="tx1"/>
                        </a:solidFill>
                        <a:latin typeface="Cambria Math" panose="02040503050406030204" pitchFamily="18" charset="0"/>
                      </a:rPr>
                      <m:t>)</m:t>
                    </m:r>
                  </m:oMath>
                </a14:m>
                <a:r>
                  <a:rPr lang="en-ZA" b="0" dirty="0"/>
                  <a:t> is to compute function values incrementally until a repeated value is found. Since </a:t>
                </a:r>
                <a14:m>
                  <m:oMath xmlns:m="http://schemas.openxmlformats.org/officeDocument/2006/math">
                    <m:r>
                      <a:rPr lang="en-US" sz="1200" b="0" i="1" smtClean="0">
                        <a:solidFill>
                          <a:schemeClr val="tx1"/>
                        </a:solidFill>
                        <a:latin typeface="Cambria Math" panose="02040503050406030204" pitchFamily="18" charset="0"/>
                      </a:rPr>
                      <m:t>𝑓</m:t>
                    </m:r>
                    <m:d>
                      <m:dPr>
                        <m:ctrlPr>
                          <a:rPr lang="en-US" sz="1200" b="0" i="1" smtClean="0">
                            <a:solidFill>
                              <a:schemeClr val="tx1"/>
                            </a:solidFill>
                            <a:latin typeface="Cambria Math" panose="02040503050406030204" pitchFamily="18" charset="0"/>
                          </a:rPr>
                        </m:ctrlPr>
                      </m:dPr>
                      <m:e>
                        <m:r>
                          <a:rPr lang="sr-Latn-RS" sz="1200" b="0" i="1" smtClean="0">
                            <a:solidFill>
                              <a:schemeClr val="tx1"/>
                            </a:solidFill>
                            <a:latin typeface="Cambria Math" panose="02040503050406030204" pitchFamily="18" charset="0"/>
                          </a:rPr>
                          <m:t>0</m:t>
                        </m:r>
                      </m:e>
                    </m:d>
                    <m:r>
                      <a:rPr lang="en-US" sz="1200" b="0" i="1" smtClean="0">
                        <a:solidFill>
                          <a:schemeClr val="tx1"/>
                        </a:solidFill>
                        <a:latin typeface="Cambria Math" panose="02040503050406030204" pitchFamily="18" charset="0"/>
                      </a:rPr>
                      <m:t>=1</m:t>
                    </m:r>
                  </m:oMath>
                </a14:m>
                <a:r>
                  <a:rPr lang="en-ZA" b="0" dirty="0"/>
                  <a:t>, the function is evaluated step by step by increasing </a:t>
                </a:r>
                <a14:m>
                  <m:oMath xmlns:m="http://schemas.openxmlformats.org/officeDocument/2006/math">
                    <m:r>
                      <a:rPr lang="en-US" b="0" i="1" smtClean="0">
                        <a:latin typeface="Cambria Math" panose="02040503050406030204" pitchFamily="18" charset="0"/>
                      </a:rPr>
                      <m:t>𝑥</m:t>
                    </m:r>
                  </m:oMath>
                </a14:m>
                <a:r>
                  <a:rPr lang="en-ZA" b="0" dirty="0"/>
                  <a:t> until it returns to 1.</a:t>
                </a:r>
              </a:p>
              <a:p>
                <a:pPr algn="just"/>
                <a:endParaRPr lang="en-ZA" b="0" dirty="0"/>
              </a:p>
              <a:p>
                <a:pPr algn="just"/>
                <a:r>
                  <a:rPr lang="en-ZA" b="0" dirty="0"/>
                  <a:t>The example demonstrates how to find the period of the function </a:t>
                </a:r>
                <a14:m>
                  <m:oMath xmlns:m="http://schemas.openxmlformats.org/officeDocument/2006/math">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7</m:t>
                        </m:r>
                      </m:e>
                      <m:sup>
                        <m:r>
                          <a:rPr lang="en-US" sz="1200" i="1">
                            <a:latin typeface="Cambria Math" panose="02040503050406030204" pitchFamily="18" charset="0"/>
                          </a:rPr>
                          <m:t>𝑥</m:t>
                        </m:r>
                      </m:sup>
                    </m:sSup>
                    <m:r>
                      <a:rPr lang="en-US" sz="1200" b="0" i="1" smtClean="0">
                        <a:latin typeface="Cambria Math" panose="02040503050406030204" pitchFamily="18" charset="0"/>
                      </a:rPr>
                      <m:t> </m:t>
                    </m:r>
                    <m:r>
                      <a:rPr lang="en-US" sz="1200" i="1">
                        <a:latin typeface="Cambria Math" panose="02040503050406030204" pitchFamily="18" charset="0"/>
                      </a:rPr>
                      <m:t>𝑚𝑜𝑑</m:t>
                    </m:r>
                    <m:r>
                      <a:rPr lang="en-US" sz="1200" i="1">
                        <a:latin typeface="Cambria Math" panose="02040503050406030204" pitchFamily="18" charset="0"/>
                      </a:rPr>
                      <m:t> 15</m:t>
                    </m:r>
                  </m:oMath>
                </a14:m>
                <a:r>
                  <a:rPr lang="en-US" sz="1200" dirty="0">
                    <a:latin typeface="+mn-lt"/>
                  </a:rPr>
                  <a:t> </a:t>
                </a:r>
                <a:r>
                  <a:rPr lang="en-ZA" b="0" dirty="0"/>
                  <a:t>using this simple algorithm. From both the table and the graph, it is evident that the period of the function is 4, meaning the values repeat every four steps.</a:t>
                </a:r>
              </a:p>
            </p:txBody>
          </p:sp>
        </mc:Choice>
        <mc:Fallback xmlns="">
          <p:sp>
            <p:nvSpPr>
              <p:cNvPr id="3" name="Notes Placeholder 2"/>
              <p:cNvSpPr>
                <a:spLocks noGrp="1"/>
              </p:cNvSpPr>
              <p:nvPr>
                <p:ph type="body" idx="1"/>
              </p:nvPr>
            </p:nvSpPr>
            <p:spPr/>
            <p:txBody>
              <a:bodyPr/>
              <a:lstStyle/>
              <a:p>
                <a:r>
                  <a:rPr lang="en-US" sz="2200" dirty="0"/>
                  <a:t>The</a:t>
                </a:r>
                <a:r>
                  <a:rPr lang="en-US" sz="2200" baseline="0" dirty="0"/>
                  <a:t> simplest way to find the period of the </a:t>
                </a:r>
                <a:r>
                  <a:rPr lang="en-US" sz="2200" dirty="0"/>
                  <a:t>modular exponential function </a:t>
                </a:r>
                <a:r>
                  <a:rPr lang="en-US" sz="2200" b="0" i="0">
                    <a:latin typeface="Cambria Math" panose="02040503050406030204" pitchFamily="18" charset="0"/>
                  </a:rPr>
                  <a:t>𝑎^𝑥 (𝑚𝑜𝑑 𝑁)</a:t>
                </a:r>
                <a:r>
                  <a:rPr lang="en-US" sz="2200" dirty="0"/>
                  <a:t>  </a:t>
                </a:r>
                <a:r>
                  <a:rPr lang="en-US" sz="2200" baseline="0" dirty="0"/>
                  <a:t>is to calculate function values and observe at which input value function starts repeating. For x=0 the function value is 1, so we need to find the next x for which function value will be 1 again.</a:t>
                </a:r>
              </a:p>
              <a:p>
                <a:endParaRPr lang="en-US" sz="2200" baseline="0" dirty="0"/>
              </a:p>
              <a:p>
                <a:r>
                  <a:rPr lang="en-US" sz="2200" baseline="0" dirty="0"/>
                  <a:t>In our example, for a=7 and N=15, we can make a table of function’s input and output values and draw the function graph. The table and the graph shows that distance between repetition is 4, so the period </a:t>
                </a:r>
                <a:r>
                  <a:rPr lang="en-US" sz="2200" b="1" i="1" baseline="0" dirty="0"/>
                  <a:t>r</a:t>
                </a:r>
                <a:r>
                  <a:rPr lang="en-US" sz="2200" baseline="0" dirty="0"/>
                  <a:t> which we need for the algorithm, is 4.</a:t>
                </a:r>
              </a:p>
              <a:p>
                <a:r>
                  <a:rPr lang="en-US" sz="2200" baseline="0" dirty="0"/>
                  <a:t>In general, for large </a:t>
                </a:r>
                <a:r>
                  <a:rPr lang="en-US" sz="2200" b="0" i="0">
                    <a:latin typeface="Cambria Math" panose="02040503050406030204" pitchFamily="18" charset="0"/>
                  </a:rPr>
                  <a:t>𝑁</a:t>
                </a:r>
                <a:r>
                  <a:rPr lang="en-US" sz="2200" baseline="0" dirty="0"/>
                  <a:t>, the period finding is the most time consuming part of the algorithm and it cannot be done on classical computer in the reasonable time. </a:t>
                </a:r>
                <a:endParaRPr lang="en-US" sz="2200" dirty="0"/>
              </a:p>
            </p:txBody>
          </p:sp>
        </mc:Fallback>
      </mc:AlternateContent>
      <p:sp>
        <p:nvSpPr>
          <p:cNvPr id="4" name="Slide Number Placeholder 3"/>
          <p:cNvSpPr>
            <a:spLocks noGrp="1"/>
          </p:cNvSpPr>
          <p:nvPr>
            <p:ph type="sldNum" sz="quarter" idx="5"/>
          </p:nvPr>
        </p:nvSpPr>
        <p:spPr/>
        <p:txBody>
          <a:bodyPr/>
          <a:lstStyle/>
          <a:p>
            <a:fld id="{1B2CE5E3-B8BD-D040-AC87-D640191DD8F1}" type="slidenum">
              <a:rPr lang="en-US" smtClean="0"/>
              <a:t>65</a:t>
            </a:fld>
            <a:endParaRPr lang="en-US"/>
          </a:p>
        </p:txBody>
      </p:sp>
    </p:spTree>
    <p:extLst>
      <p:ext uri="{BB962C8B-B14F-4D97-AF65-F5344CB8AC3E}">
        <p14:creationId xmlns:p14="http://schemas.microsoft.com/office/powerpoint/2010/main" val="114429056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i="0" dirty="0"/>
          </a:p>
        </p:txBody>
      </p:sp>
      <p:sp>
        <p:nvSpPr>
          <p:cNvPr id="4" name="Slide Number Placeholder 3"/>
          <p:cNvSpPr>
            <a:spLocks noGrp="1"/>
          </p:cNvSpPr>
          <p:nvPr>
            <p:ph type="sldNum" sz="quarter" idx="5"/>
          </p:nvPr>
        </p:nvSpPr>
        <p:spPr/>
        <p:txBody>
          <a:bodyPr/>
          <a:lstStyle/>
          <a:p>
            <a:fld id="{1B2CE5E3-B8BD-D040-AC87-D640191DD8F1}" type="slidenum">
              <a:rPr lang="en-US" smtClean="0"/>
              <a:t>66</a:t>
            </a:fld>
            <a:endParaRPr lang="en-US"/>
          </a:p>
        </p:txBody>
      </p:sp>
    </p:spTree>
    <p:extLst>
      <p:ext uri="{BB962C8B-B14F-4D97-AF65-F5344CB8AC3E}">
        <p14:creationId xmlns:p14="http://schemas.microsoft.com/office/powerpoint/2010/main" val="3945379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11120-9110-E347-8B54-7933DF290C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838A87D-FAB6-A743-817E-0C56F6336C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A45607F-58DF-3447-9656-78BB1B0938F5}"/>
              </a:ext>
            </a:extLst>
          </p:cNvPr>
          <p:cNvSpPr>
            <a:spLocks noGrp="1"/>
          </p:cNvSpPr>
          <p:nvPr>
            <p:ph type="dt" sz="half" idx="10"/>
          </p:nvPr>
        </p:nvSpPr>
        <p:spPr/>
        <p:txBody>
          <a:bodyPr/>
          <a:lstStyle/>
          <a:p>
            <a:fld id="{1AE4839D-35CE-5948-991C-06BCC079A7B9}" type="datetime1">
              <a:rPr lang="en-US" smtClean="0"/>
              <a:t>9/26/26</a:t>
            </a:fld>
            <a:endParaRPr lang="en-US"/>
          </a:p>
        </p:txBody>
      </p:sp>
      <p:sp>
        <p:nvSpPr>
          <p:cNvPr id="5" name="Footer Placeholder 4">
            <a:extLst>
              <a:ext uri="{FF2B5EF4-FFF2-40B4-BE49-F238E27FC236}">
                <a16:creationId xmlns:a16="http://schemas.microsoft.com/office/drawing/2014/main" id="{82A11268-6971-7845-B2B0-61769F249F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F5C93A-6955-DE48-9E72-AE2BF1040520}"/>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001636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49746-6A3A-2B40-897A-7771C9BE0A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0F0087-4B92-3E48-919C-B0DEFF5CA0F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605ED7-6A7E-B041-83E1-E1139884EF7E}"/>
              </a:ext>
            </a:extLst>
          </p:cNvPr>
          <p:cNvSpPr>
            <a:spLocks noGrp="1"/>
          </p:cNvSpPr>
          <p:nvPr>
            <p:ph type="dt" sz="half" idx="10"/>
          </p:nvPr>
        </p:nvSpPr>
        <p:spPr/>
        <p:txBody>
          <a:bodyPr/>
          <a:lstStyle/>
          <a:p>
            <a:fld id="{D21D1071-0E96-A240-8E9B-50D7576025E5}" type="datetime1">
              <a:rPr lang="en-US" smtClean="0"/>
              <a:t>9/26/26</a:t>
            </a:fld>
            <a:endParaRPr lang="en-US"/>
          </a:p>
        </p:txBody>
      </p:sp>
      <p:sp>
        <p:nvSpPr>
          <p:cNvPr id="5" name="Footer Placeholder 4">
            <a:extLst>
              <a:ext uri="{FF2B5EF4-FFF2-40B4-BE49-F238E27FC236}">
                <a16:creationId xmlns:a16="http://schemas.microsoft.com/office/drawing/2014/main" id="{234862D4-B653-154B-9F00-B29F8A9904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7E1DDB-ECC2-6440-8F64-6FF7043B62E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1758381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7889-5E26-9F4B-ABC5-46737412E6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3A11A0-B651-1246-A031-2EB34FAAA2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9A7FBDE-56A4-544F-9E46-A8B3D22162DA}"/>
              </a:ext>
            </a:extLst>
          </p:cNvPr>
          <p:cNvSpPr>
            <a:spLocks noGrp="1"/>
          </p:cNvSpPr>
          <p:nvPr>
            <p:ph type="dt" sz="half" idx="10"/>
          </p:nvPr>
        </p:nvSpPr>
        <p:spPr/>
        <p:txBody>
          <a:bodyPr/>
          <a:lstStyle/>
          <a:p>
            <a:fld id="{D17CBCF1-D7CE-2C41-A8FB-9348FB41C55E}" type="datetime1">
              <a:rPr lang="en-US" smtClean="0"/>
              <a:t>9/26/26</a:t>
            </a:fld>
            <a:endParaRPr lang="en-US"/>
          </a:p>
        </p:txBody>
      </p:sp>
      <p:sp>
        <p:nvSpPr>
          <p:cNvPr id="5" name="Footer Placeholder 4">
            <a:extLst>
              <a:ext uri="{FF2B5EF4-FFF2-40B4-BE49-F238E27FC236}">
                <a16:creationId xmlns:a16="http://schemas.microsoft.com/office/drawing/2014/main" id="{4C68709F-B42E-EC48-8FBC-6974B5FDAC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719095-1014-2C44-87B5-A279D4057E2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668994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EE1EC-CE7B-C74E-BB21-04FB5F3ADE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AAE6E3-FAA8-2941-97DF-C2CE1A284D4F}"/>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D50239-C5D9-A146-B025-534BB867B58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14A720-AF7F-EC4C-B90A-F4581F526266}"/>
              </a:ext>
            </a:extLst>
          </p:cNvPr>
          <p:cNvSpPr>
            <a:spLocks noGrp="1"/>
          </p:cNvSpPr>
          <p:nvPr>
            <p:ph type="dt" sz="half" idx="10"/>
          </p:nvPr>
        </p:nvSpPr>
        <p:spPr/>
        <p:txBody>
          <a:bodyPr/>
          <a:lstStyle/>
          <a:p>
            <a:fld id="{7BA27735-2371-C441-A5A3-C9F11F72EF2A}" type="datetime1">
              <a:rPr lang="en-US" smtClean="0"/>
              <a:t>9/26/26</a:t>
            </a:fld>
            <a:endParaRPr lang="en-US"/>
          </a:p>
        </p:txBody>
      </p:sp>
      <p:sp>
        <p:nvSpPr>
          <p:cNvPr id="6" name="Footer Placeholder 5">
            <a:extLst>
              <a:ext uri="{FF2B5EF4-FFF2-40B4-BE49-F238E27FC236}">
                <a16:creationId xmlns:a16="http://schemas.microsoft.com/office/drawing/2014/main" id="{B28DF675-B48C-E044-8D49-6F0458C801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9C3209-5E9C-C54A-ABFE-731C23683AB9}"/>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56011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392F6-6148-FE46-8B76-9B81927A05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B4AF60-1528-9842-ADC9-963520FD630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AAE9EEE-9501-B048-A51B-B54F83A8075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756781-36D8-E34C-82CC-C088F79BE9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8D179DE-69E1-4745-A19E-ECA22982DB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0C8571-69A9-E54B-9D56-71E69986D26C}"/>
              </a:ext>
            </a:extLst>
          </p:cNvPr>
          <p:cNvSpPr>
            <a:spLocks noGrp="1"/>
          </p:cNvSpPr>
          <p:nvPr>
            <p:ph type="dt" sz="half" idx="10"/>
          </p:nvPr>
        </p:nvSpPr>
        <p:spPr/>
        <p:txBody>
          <a:bodyPr/>
          <a:lstStyle/>
          <a:p>
            <a:fld id="{AD956192-B3CA-E648-8D9D-A184E038D705}" type="datetime1">
              <a:rPr lang="en-US" smtClean="0"/>
              <a:t>9/26/26</a:t>
            </a:fld>
            <a:endParaRPr lang="en-US"/>
          </a:p>
        </p:txBody>
      </p:sp>
      <p:sp>
        <p:nvSpPr>
          <p:cNvPr id="8" name="Footer Placeholder 7">
            <a:extLst>
              <a:ext uri="{FF2B5EF4-FFF2-40B4-BE49-F238E27FC236}">
                <a16:creationId xmlns:a16="http://schemas.microsoft.com/office/drawing/2014/main" id="{F2999DD5-63CC-1D40-B3C1-B72C788C35E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B02FEF-EE56-D249-961E-050212908867}"/>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522638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0" y="6492875"/>
            <a:ext cx="735980" cy="365125"/>
          </a:xfrm>
        </p:spPr>
        <p:txBody>
          <a:bodyPr/>
          <a:lstStyle>
            <a:lvl1pPr algn="l">
              <a:defRPr/>
            </a:lvl1pPr>
          </a:lstStyle>
          <a:p>
            <a:fld id="{591A223C-FA10-BC46-A853-03BA373D023C}" type="slidenum">
              <a:rPr lang="en-US" smtClean="0"/>
              <a:pPr/>
              <a:t>‹#›</a:t>
            </a:fld>
            <a:endParaRPr lang="en-US"/>
          </a:p>
        </p:txBody>
      </p:sp>
      <p:sp>
        <p:nvSpPr>
          <p:cNvPr id="7" name="Title 1">
            <a:extLst>
              <a:ext uri="{FF2B5EF4-FFF2-40B4-BE49-F238E27FC236}">
                <a16:creationId xmlns:a16="http://schemas.microsoft.com/office/drawing/2014/main" id="{3752325E-5EA1-5C41-89AF-C27EE4BF7512}"/>
              </a:ext>
            </a:extLst>
          </p:cNvPr>
          <p:cNvSpPr>
            <a:spLocks noGrp="1"/>
          </p:cNvSpPr>
          <p:nvPr>
            <p:ph type="title"/>
          </p:nvPr>
        </p:nvSpPr>
        <p:spPr>
          <a:xfrm>
            <a:off x="0" y="0"/>
            <a:ext cx="12192000" cy="928688"/>
          </a:xfrm>
          <a:noFill/>
          <a:ln>
            <a:noFill/>
          </a:ln>
        </p:spPr>
        <p:txBody>
          <a:bodyPr>
            <a:normAutofit/>
          </a:bodyPr>
          <a:lstStyle>
            <a:lvl1pPr>
              <a:defRPr sz="3200" baseline="0">
                <a:latin typeface="+mj-lt"/>
                <a:cs typeface="Arial" panose="020B0604020202020204" pitchFamily="34" charset="0"/>
              </a:defRPr>
            </a:lvl1pPr>
          </a:lstStyle>
          <a:p>
            <a:r>
              <a:rPr lang="en-US" dirty="0"/>
              <a:t>Click to edit Master title style</a:t>
            </a:r>
          </a:p>
        </p:txBody>
      </p:sp>
      <p:pic>
        <p:nvPicPr>
          <p:cNvPr id="8" name="Picture 7">
            <a:extLst>
              <a:ext uri="{FF2B5EF4-FFF2-40B4-BE49-F238E27FC236}">
                <a16:creationId xmlns:a16="http://schemas.microsoft.com/office/drawing/2014/main" id="{E5AB8B1A-AFD3-BE4F-9FF5-84615FE89CBA}"/>
              </a:ext>
            </a:extLst>
          </p:cNvPr>
          <p:cNvPicPr>
            <a:picLocks noChangeAspect="1"/>
          </p:cNvPicPr>
          <p:nvPr userDrawn="1"/>
        </p:nvPicPr>
        <p:blipFill>
          <a:blip r:embed="rId2"/>
          <a:stretch>
            <a:fillRect/>
          </a:stretch>
        </p:blipFill>
        <p:spPr>
          <a:xfrm>
            <a:off x="121919" y="675316"/>
            <a:ext cx="5083823" cy="182718"/>
          </a:xfrm>
          <a:prstGeom prst="rect">
            <a:avLst/>
          </a:prstGeom>
        </p:spPr>
      </p:pic>
      <p:pic>
        <p:nvPicPr>
          <p:cNvPr id="6" name="Picture 5">
            <a:extLst>
              <a:ext uri="{FF2B5EF4-FFF2-40B4-BE49-F238E27FC236}">
                <a16:creationId xmlns:a16="http://schemas.microsoft.com/office/drawing/2014/main" id="{3AAA6DC7-588E-724F-B820-4ADD87A66103}"/>
              </a:ext>
            </a:extLst>
          </p:cNvPr>
          <p:cNvPicPr>
            <a:picLocks noChangeAspect="1"/>
          </p:cNvPicPr>
          <p:nvPr userDrawn="1"/>
        </p:nvPicPr>
        <p:blipFill>
          <a:blip r:embed="rId3">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18425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2EC4A4-C438-1440-90F8-B7184BF7E717}"/>
              </a:ext>
            </a:extLst>
          </p:cNvPr>
          <p:cNvSpPr>
            <a:spLocks noGrp="1"/>
          </p:cNvSpPr>
          <p:nvPr>
            <p:ph type="dt" sz="half" idx="10"/>
          </p:nvPr>
        </p:nvSpPr>
        <p:spPr/>
        <p:txBody>
          <a:bodyPr/>
          <a:lstStyle/>
          <a:p>
            <a:fld id="{EF3CDC91-E022-1D4D-9256-A5140D3F2EA2}" type="datetime1">
              <a:rPr lang="en-US" smtClean="0"/>
              <a:t>9/26/26</a:t>
            </a:fld>
            <a:endParaRPr lang="en-US"/>
          </a:p>
        </p:txBody>
      </p:sp>
      <p:sp>
        <p:nvSpPr>
          <p:cNvPr id="3" name="Footer Placeholder 2">
            <a:extLst>
              <a:ext uri="{FF2B5EF4-FFF2-40B4-BE49-F238E27FC236}">
                <a16:creationId xmlns:a16="http://schemas.microsoft.com/office/drawing/2014/main" id="{6DCE2C64-B28C-7345-B51A-24E9603897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ECAFA2F-918F-1F42-B0AE-E302BEBE934B}"/>
              </a:ext>
            </a:extLst>
          </p:cNvPr>
          <p:cNvSpPr>
            <a:spLocks noGrp="1"/>
          </p:cNvSpPr>
          <p:nvPr>
            <p:ph type="sldNum" sz="quarter" idx="12"/>
          </p:nvPr>
        </p:nvSpPr>
        <p:spPr/>
        <p:txBody>
          <a:bodyPr/>
          <a:lstStyle/>
          <a:p>
            <a:fld id="{591A223C-FA10-BC46-A853-03BA373D023C}" type="slidenum">
              <a:rPr lang="en-US" smtClean="0"/>
              <a:t>‹#›</a:t>
            </a:fld>
            <a:endParaRPr lang="en-US"/>
          </a:p>
        </p:txBody>
      </p:sp>
      <p:pic>
        <p:nvPicPr>
          <p:cNvPr id="5" name="Picture 4">
            <a:extLst>
              <a:ext uri="{FF2B5EF4-FFF2-40B4-BE49-F238E27FC236}">
                <a16:creationId xmlns:a16="http://schemas.microsoft.com/office/drawing/2014/main" id="{36179426-BFEA-9441-9DE8-BEB6F6DF5204}"/>
              </a:ext>
            </a:extLst>
          </p:cNvPr>
          <p:cNvPicPr>
            <a:picLocks noChangeAspect="1"/>
          </p:cNvPicPr>
          <p:nvPr userDrawn="1"/>
        </p:nvPicPr>
        <p:blipFill>
          <a:blip r:embed="rId2">
            <a:alphaModFix amt="50000"/>
          </a:blip>
          <a:stretch>
            <a:fillRect/>
          </a:stretch>
        </p:blipFill>
        <p:spPr>
          <a:xfrm>
            <a:off x="10886028" y="6598341"/>
            <a:ext cx="1264619" cy="240382"/>
          </a:xfrm>
          <a:prstGeom prst="rect">
            <a:avLst/>
          </a:prstGeom>
        </p:spPr>
      </p:pic>
    </p:spTree>
    <p:extLst>
      <p:ext uri="{BB962C8B-B14F-4D97-AF65-F5344CB8AC3E}">
        <p14:creationId xmlns:p14="http://schemas.microsoft.com/office/powerpoint/2010/main" val="37436369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440A5-589B-1341-A678-0A459F7E8C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CB40E1-21E4-9045-A9A4-3429D73162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4D75D2E-7C69-5C4D-9A6E-CC4654B472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84A6CC8-26C5-7448-ADC5-2749D941F84E}"/>
              </a:ext>
            </a:extLst>
          </p:cNvPr>
          <p:cNvSpPr>
            <a:spLocks noGrp="1"/>
          </p:cNvSpPr>
          <p:nvPr>
            <p:ph type="dt" sz="half" idx="10"/>
          </p:nvPr>
        </p:nvSpPr>
        <p:spPr/>
        <p:txBody>
          <a:bodyPr/>
          <a:lstStyle/>
          <a:p>
            <a:fld id="{67A6211D-AE56-974B-984B-C110E12B29A2}" type="datetime1">
              <a:rPr lang="en-US" smtClean="0"/>
              <a:t>9/26/26</a:t>
            </a:fld>
            <a:endParaRPr lang="en-US"/>
          </a:p>
        </p:txBody>
      </p:sp>
      <p:sp>
        <p:nvSpPr>
          <p:cNvPr id="6" name="Footer Placeholder 5">
            <a:extLst>
              <a:ext uri="{FF2B5EF4-FFF2-40B4-BE49-F238E27FC236}">
                <a16:creationId xmlns:a16="http://schemas.microsoft.com/office/drawing/2014/main" id="{5AADDA07-5AA1-B34C-B309-62DD4C1D43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378A32-B7C4-F842-87A7-D1CD1758A2A1}"/>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6445385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F7726-1F76-544A-8680-3C1AB544BA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98CB2FB-2F4A-A74A-A759-A58010D3DD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D38E96-E545-AC4A-8D98-95FD19B67A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669DA82-266B-CC41-B1D2-F7AA15C5075D}"/>
              </a:ext>
            </a:extLst>
          </p:cNvPr>
          <p:cNvSpPr>
            <a:spLocks noGrp="1"/>
          </p:cNvSpPr>
          <p:nvPr>
            <p:ph type="dt" sz="half" idx="10"/>
          </p:nvPr>
        </p:nvSpPr>
        <p:spPr/>
        <p:txBody>
          <a:bodyPr/>
          <a:lstStyle/>
          <a:p>
            <a:fld id="{AE5A7FFF-10B1-4343-8D17-406DC86E5FAA}" type="datetime1">
              <a:rPr lang="en-US" smtClean="0"/>
              <a:t>9/26/26</a:t>
            </a:fld>
            <a:endParaRPr lang="en-US"/>
          </a:p>
        </p:txBody>
      </p:sp>
      <p:sp>
        <p:nvSpPr>
          <p:cNvPr id="6" name="Footer Placeholder 5">
            <a:extLst>
              <a:ext uri="{FF2B5EF4-FFF2-40B4-BE49-F238E27FC236}">
                <a16:creationId xmlns:a16="http://schemas.microsoft.com/office/drawing/2014/main" id="{4C5952A7-DE1B-CD46-B203-BA6A17F7F3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6A02E3-794B-DA46-8CF3-5708E566E7B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31296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65BAA-57A4-C143-ABF5-35ABB2AF44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E9F01E-C4CF-6A43-99EC-53F5681F6DA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413C5E-E003-A247-9E6F-436CAA7B14F4}"/>
              </a:ext>
            </a:extLst>
          </p:cNvPr>
          <p:cNvSpPr>
            <a:spLocks noGrp="1"/>
          </p:cNvSpPr>
          <p:nvPr>
            <p:ph type="dt" sz="half" idx="10"/>
          </p:nvPr>
        </p:nvSpPr>
        <p:spPr/>
        <p:txBody>
          <a:bodyPr/>
          <a:lstStyle/>
          <a:p>
            <a:fld id="{DF3C6696-8618-644E-B4E1-FA4689759F24}" type="datetime1">
              <a:rPr lang="en-US" smtClean="0"/>
              <a:t>9/26/26</a:t>
            </a:fld>
            <a:endParaRPr lang="en-US"/>
          </a:p>
        </p:txBody>
      </p:sp>
      <p:sp>
        <p:nvSpPr>
          <p:cNvPr id="5" name="Footer Placeholder 4">
            <a:extLst>
              <a:ext uri="{FF2B5EF4-FFF2-40B4-BE49-F238E27FC236}">
                <a16:creationId xmlns:a16="http://schemas.microsoft.com/office/drawing/2014/main" id="{27380A45-DDA9-4C4B-830C-9D0D289275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F086D7-D0B1-6F43-A1F7-4D436CC2BE0D}"/>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065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AA87F1-769D-CC47-ABF4-393B691AD5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46D245-448B-7B4E-9643-1A0962794CC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8926CF-5171-4D44-9CE6-7B7960534FE4}"/>
              </a:ext>
            </a:extLst>
          </p:cNvPr>
          <p:cNvSpPr>
            <a:spLocks noGrp="1"/>
          </p:cNvSpPr>
          <p:nvPr>
            <p:ph type="dt" sz="half" idx="10"/>
          </p:nvPr>
        </p:nvSpPr>
        <p:spPr/>
        <p:txBody>
          <a:bodyPr/>
          <a:lstStyle/>
          <a:p>
            <a:fld id="{D4DB5934-BE72-FB4C-902A-D10164A603D2}" type="datetime1">
              <a:rPr lang="en-US" smtClean="0"/>
              <a:t>9/26/26</a:t>
            </a:fld>
            <a:endParaRPr lang="en-US"/>
          </a:p>
        </p:txBody>
      </p:sp>
      <p:sp>
        <p:nvSpPr>
          <p:cNvPr id="5" name="Footer Placeholder 4">
            <a:extLst>
              <a:ext uri="{FF2B5EF4-FFF2-40B4-BE49-F238E27FC236}">
                <a16:creationId xmlns:a16="http://schemas.microsoft.com/office/drawing/2014/main" id="{79ED5D8F-44E4-964B-BE01-CF913802E6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7266BE-E226-064D-8963-7A1D7859CC52}"/>
              </a:ext>
            </a:extLst>
          </p:cNvPr>
          <p:cNvSpPr>
            <a:spLocks noGrp="1"/>
          </p:cNvSpPr>
          <p:nvPr>
            <p:ph type="sldNum" sz="quarter" idx="12"/>
          </p:nvPr>
        </p:nvSpPr>
        <p:spPr/>
        <p:txBody>
          <a:bodyPr/>
          <a:lstStyle/>
          <a:p>
            <a:fld id="{591A223C-FA10-BC46-A853-03BA373D023C}" type="slidenum">
              <a:rPr lang="en-US" smtClean="0"/>
              <a:t>‹#›</a:t>
            </a:fld>
            <a:endParaRPr lang="en-US"/>
          </a:p>
        </p:txBody>
      </p:sp>
    </p:spTree>
    <p:extLst>
      <p:ext uri="{BB962C8B-B14F-4D97-AF65-F5344CB8AC3E}">
        <p14:creationId xmlns:p14="http://schemas.microsoft.com/office/powerpoint/2010/main" val="2723492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MathBox">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8ED0569-BC0E-AC4B-9956-A0130DBE7C14}"/>
              </a:ext>
            </a:extLst>
          </p:cNvPr>
          <p:cNvSpPr>
            <a:spLocks noGrp="1"/>
          </p:cNvSpPr>
          <p:nvPr>
            <p:ph type="title"/>
          </p:nvPr>
        </p:nvSpPr>
        <p:spPr>
          <a:xfrm>
            <a:off x="0" y="0"/>
            <a:ext cx="12192000" cy="928688"/>
          </a:xfrm>
          <a:gradFill>
            <a:gsLst>
              <a:gs pos="0">
                <a:schemeClr val="accent1">
                  <a:lumMod val="5000"/>
                  <a:lumOff val="95000"/>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txBody>
          <a:bodyPr>
            <a:normAutofit/>
          </a:bodyPr>
          <a:lstStyle>
            <a:lvl1pPr>
              <a:defRPr sz="3400" baseline="0">
                <a:latin typeface="+mj-lt"/>
                <a:cs typeface="Arial" panose="020B0604020202020204" pitchFamily="34" charset="0"/>
              </a:defRPr>
            </a:lvl1pPr>
          </a:lstStyle>
          <a:p>
            <a:r>
              <a:rPr lang="en-US" dirty="0"/>
              <a:t>Click to edit Master title style</a:t>
            </a:r>
          </a:p>
        </p:txBody>
      </p:sp>
      <p:sp>
        <p:nvSpPr>
          <p:cNvPr id="5" name="Slide Number Placeholder 4">
            <a:extLst>
              <a:ext uri="{FF2B5EF4-FFF2-40B4-BE49-F238E27FC236}">
                <a16:creationId xmlns:a16="http://schemas.microsoft.com/office/drawing/2014/main" id="{91093C0F-96B2-6F4C-8B66-4B0CDB2D2C9A}"/>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a:t>
            </a:fld>
            <a:endParaRPr lang="en-US"/>
          </a:p>
        </p:txBody>
      </p:sp>
      <p:pic>
        <p:nvPicPr>
          <p:cNvPr id="8" name="Picture 7">
            <a:extLst>
              <a:ext uri="{FF2B5EF4-FFF2-40B4-BE49-F238E27FC236}">
                <a16:creationId xmlns:a16="http://schemas.microsoft.com/office/drawing/2014/main" id="{B8F61E55-DA3C-CB48-9696-F88E7D4421DD}"/>
              </a:ext>
            </a:extLst>
          </p:cNvPr>
          <p:cNvPicPr>
            <a:picLocks noChangeAspect="1"/>
          </p:cNvPicPr>
          <p:nvPr userDrawn="1"/>
        </p:nvPicPr>
        <p:blipFill>
          <a:blip r:embed="rId2"/>
          <a:stretch>
            <a:fillRect/>
          </a:stretch>
        </p:blipFill>
        <p:spPr>
          <a:xfrm>
            <a:off x="121919" y="675316"/>
            <a:ext cx="5083823" cy="182718"/>
          </a:xfrm>
          <a:prstGeom prst="rect">
            <a:avLst/>
          </a:prstGeom>
        </p:spPr>
      </p:pic>
      <p:sp>
        <p:nvSpPr>
          <p:cNvPr id="2" name="Rounded Rectangle 1">
            <a:extLst>
              <a:ext uri="{FF2B5EF4-FFF2-40B4-BE49-F238E27FC236}">
                <a16:creationId xmlns:a16="http://schemas.microsoft.com/office/drawing/2014/main" id="{87EDEA9E-CC9F-D844-A9C8-5F5279A644DD}"/>
              </a:ext>
            </a:extLst>
          </p:cNvPr>
          <p:cNvSpPr/>
          <p:nvPr userDrawn="1"/>
        </p:nvSpPr>
        <p:spPr>
          <a:xfrm>
            <a:off x="0" y="928688"/>
            <a:ext cx="12192000" cy="5929312"/>
          </a:xfrm>
          <a:prstGeom prst="roundRect">
            <a:avLst>
              <a:gd name="adj" fmla="val 3550"/>
            </a:avLst>
          </a:prstGeom>
          <a:noFill/>
          <a:ln w="50800">
            <a:solidFill>
              <a:schemeClr val="accent5">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8C2906A7-A8EA-B04A-894C-1B7ACB284541}"/>
              </a:ext>
            </a:extLst>
          </p:cNvPr>
          <p:cNvSpPr/>
          <p:nvPr userDrawn="1"/>
        </p:nvSpPr>
        <p:spPr>
          <a:xfrm>
            <a:off x="10603707" y="0"/>
            <a:ext cx="1588293" cy="461665"/>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MathBox</a:t>
            </a:r>
            <a:endParaRPr lang="en-US" sz="2400" dirty="0">
              <a:solidFill>
                <a:schemeClr val="tx1"/>
              </a:solidFill>
            </a:endParaRPr>
          </a:p>
        </p:txBody>
      </p:sp>
    </p:spTree>
    <p:extLst>
      <p:ext uri="{BB962C8B-B14F-4D97-AF65-F5344CB8AC3E}">
        <p14:creationId xmlns:p14="http://schemas.microsoft.com/office/powerpoint/2010/main" val="1311374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A8E703-F9A8-0441-A9C1-970176EA14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D3E870-AE9A-814D-8F1C-424E01F68B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CDA625-67E6-FC41-AE05-BDF6D62186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95C081-EA16-A444-838F-7A9CF60C5F71}" type="datetime1">
              <a:rPr lang="en-US" smtClean="0"/>
              <a:t>9/26/26</a:t>
            </a:fld>
            <a:endParaRPr lang="en-US"/>
          </a:p>
        </p:txBody>
      </p:sp>
      <p:sp>
        <p:nvSpPr>
          <p:cNvPr id="5" name="Footer Placeholder 4">
            <a:extLst>
              <a:ext uri="{FF2B5EF4-FFF2-40B4-BE49-F238E27FC236}">
                <a16:creationId xmlns:a16="http://schemas.microsoft.com/office/drawing/2014/main" id="{C2CC2541-8D10-844A-AACF-A9080B4FC7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7ED89E2-F822-BE4F-A114-8B2AC36CD9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1A223C-FA10-BC46-A853-03BA373D023C}" type="slidenum">
              <a:rPr lang="en-US" smtClean="0"/>
              <a:t>‹#›</a:t>
            </a:fld>
            <a:endParaRPr lang="en-US"/>
          </a:p>
        </p:txBody>
      </p:sp>
    </p:spTree>
    <p:extLst>
      <p:ext uri="{BB962C8B-B14F-4D97-AF65-F5344CB8AC3E}">
        <p14:creationId xmlns:p14="http://schemas.microsoft.com/office/powerpoint/2010/main" val="4111587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3" Type="http://schemas.openxmlformats.org/officeDocument/2006/relationships/image" Target="../media/image5.pn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diagramColors" Target="../diagrams/colors2.xml"/><Relationship Id="rId11" Type="http://schemas.openxmlformats.org/officeDocument/2006/relationships/image" Target="../media/image480.png"/><Relationship Id="rId5" Type="http://schemas.openxmlformats.org/officeDocument/2006/relationships/diagramQuickStyle" Target="../diagrams/quickStyle2.xml"/><Relationship Id="rId10" Type="http://schemas.openxmlformats.org/officeDocument/2006/relationships/image" Target="../media/image470.png"/><Relationship Id="rId4" Type="http://schemas.openxmlformats.org/officeDocument/2006/relationships/diagramLayout" Target="../diagrams/layout2.xml"/><Relationship Id="rId9" Type="http://schemas.openxmlformats.org/officeDocument/2006/relationships/image" Target="../media/image460.png"/></Relationships>
</file>

<file path=ppt/slides/_rels/slide4.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6.tiff"/><Relationship Id="rId7" Type="http://schemas.openxmlformats.org/officeDocument/2006/relationships/image" Target="../media/image52.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51.pn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7.png"/><Relationship Id="rId9" Type="http://schemas.openxmlformats.org/officeDocument/2006/relationships/image" Target="../media/image54.png"/></Relationships>
</file>

<file path=ppt/slides/_rels/slide5.xml.rels><?xml version="1.0" encoding="UTF-8" standalone="yes"?>
<Relationships xmlns="http://schemas.openxmlformats.org/package/2006/relationships"><Relationship Id="rId8" Type="http://schemas.openxmlformats.org/officeDocument/2006/relationships/image" Target="../media/image912.png"/><Relationship Id="rId13" Type="http://schemas.openxmlformats.org/officeDocument/2006/relationships/image" Target="../media/image13.png"/><Relationship Id="rId3" Type="http://schemas.openxmlformats.org/officeDocument/2006/relationships/image" Target="../media/image109.png"/><Relationship Id="rId7" Type="http://schemas.openxmlformats.org/officeDocument/2006/relationships/image" Target="../media/image1210.png"/><Relationship Id="rId12" Type="http://schemas.openxmlformats.org/officeDocument/2006/relationships/image" Target="../media/image1211.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710.png"/><Relationship Id="rId11" Type="http://schemas.openxmlformats.org/officeDocument/2006/relationships/image" Target="../media/image8.emf"/><Relationship Id="rId15" Type="http://schemas.openxmlformats.org/officeDocument/2006/relationships/image" Target="../media/image1311.png"/><Relationship Id="rId10" Type="http://schemas.openxmlformats.org/officeDocument/2006/relationships/image" Target="../media/image1110.png"/><Relationship Id="rId4" Type="http://schemas.openxmlformats.org/officeDocument/2006/relationships/image" Target="../media/image11.png"/><Relationship Id="rId9" Type="http://schemas.openxmlformats.org/officeDocument/2006/relationships/image" Target="../media/image1010.png"/><Relationship Id="rId14" Type="http://schemas.openxmlformats.org/officeDocument/2006/relationships/image" Target="../media/image1310.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9.emf"/><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2010.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1.tiff"/><Relationship Id="rId5"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19.tiff"/><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500.png"/><Relationship Id="rId13" Type="http://schemas.openxmlformats.org/officeDocument/2006/relationships/image" Target="../media/image550.png"/><Relationship Id="rId18" Type="http://schemas.openxmlformats.org/officeDocument/2006/relationships/image" Target="../media/image60.png"/><Relationship Id="rId3" Type="http://schemas.openxmlformats.org/officeDocument/2006/relationships/image" Target="../media/image45.png"/><Relationship Id="rId21" Type="http://schemas.openxmlformats.org/officeDocument/2006/relationships/image" Target="../media/image63.png"/><Relationship Id="rId7" Type="http://schemas.openxmlformats.org/officeDocument/2006/relationships/image" Target="../media/image49.png"/><Relationship Id="rId12" Type="http://schemas.openxmlformats.org/officeDocument/2006/relationships/image" Target="../media/image540.png"/><Relationship Id="rId17" Type="http://schemas.openxmlformats.org/officeDocument/2006/relationships/image" Target="../media/image59.png"/><Relationship Id="rId2" Type="http://schemas.openxmlformats.org/officeDocument/2006/relationships/notesSlide" Target="../notesSlides/notesSlide10.xml"/><Relationship Id="rId16" Type="http://schemas.openxmlformats.org/officeDocument/2006/relationships/image" Target="../media/image58.png"/><Relationship Id="rId20" Type="http://schemas.openxmlformats.org/officeDocument/2006/relationships/image" Target="../media/image62.png"/><Relationship Id="rId1" Type="http://schemas.openxmlformats.org/officeDocument/2006/relationships/slideLayout" Target="../slideLayouts/slideLayout6.xml"/><Relationship Id="rId6" Type="http://schemas.openxmlformats.org/officeDocument/2006/relationships/image" Target="../media/image48.png"/><Relationship Id="rId11" Type="http://schemas.openxmlformats.org/officeDocument/2006/relationships/image" Target="../media/image530.png"/><Relationship Id="rId5" Type="http://schemas.openxmlformats.org/officeDocument/2006/relationships/image" Target="../media/image47.png"/><Relationship Id="rId15" Type="http://schemas.openxmlformats.org/officeDocument/2006/relationships/image" Target="../media/image57.png"/><Relationship Id="rId23" Type="http://schemas.openxmlformats.org/officeDocument/2006/relationships/image" Target="../media/image65.png"/><Relationship Id="rId10" Type="http://schemas.openxmlformats.org/officeDocument/2006/relationships/image" Target="../media/image520.png"/><Relationship Id="rId19" Type="http://schemas.openxmlformats.org/officeDocument/2006/relationships/image" Target="../media/image61.png"/><Relationship Id="rId4" Type="http://schemas.openxmlformats.org/officeDocument/2006/relationships/image" Target="../media/image46.png"/><Relationship Id="rId9" Type="http://schemas.openxmlformats.org/officeDocument/2006/relationships/image" Target="../media/image510.png"/><Relationship Id="rId14" Type="http://schemas.openxmlformats.org/officeDocument/2006/relationships/image" Target="../media/image560.png"/><Relationship Id="rId22" Type="http://schemas.openxmlformats.org/officeDocument/2006/relationships/image" Target="../media/image64.png"/></Relationships>
</file>

<file path=ppt/slides/_rels/slide11.xml.rels><?xml version="1.0" encoding="UTF-8" standalone="yes"?>
<Relationships xmlns="http://schemas.openxmlformats.org/package/2006/relationships"><Relationship Id="rId8" Type="http://schemas.openxmlformats.org/officeDocument/2006/relationships/image" Target="../media/image71.png"/><Relationship Id="rId13" Type="http://schemas.openxmlformats.org/officeDocument/2006/relationships/image" Target="../media/image2012.png"/><Relationship Id="rId18" Type="http://schemas.openxmlformats.org/officeDocument/2006/relationships/image" Target="../media/image81.png"/><Relationship Id="rId26" Type="http://schemas.openxmlformats.org/officeDocument/2006/relationships/image" Target="../media/image89.png"/><Relationship Id="rId3" Type="http://schemas.openxmlformats.org/officeDocument/2006/relationships/image" Target="../media/image1811.png"/><Relationship Id="rId21" Type="http://schemas.openxmlformats.org/officeDocument/2006/relationships/image" Target="../media/image84.png"/><Relationship Id="rId7" Type="http://schemas.openxmlformats.org/officeDocument/2006/relationships/image" Target="../media/image70.png"/><Relationship Id="rId12" Type="http://schemas.openxmlformats.org/officeDocument/2006/relationships/image" Target="../media/image75.png"/><Relationship Id="rId17" Type="http://schemas.openxmlformats.org/officeDocument/2006/relationships/image" Target="../media/image80.png"/><Relationship Id="rId25" Type="http://schemas.openxmlformats.org/officeDocument/2006/relationships/image" Target="../media/image88.png"/><Relationship Id="rId2" Type="http://schemas.openxmlformats.org/officeDocument/2006/relationships/notesSlide" Target="../notesSlides/notesSlide11.xml"/><Relationship Id="rId16" Type="http://schemas.openxmlformats.org/officeDocument/2006/relationships/image" Target="../media/image790.png"/><Relationship Id="rId20" Type="http://schemas.openxmlformats.org/officeDocument/2006/relationships/image" Target="../media/image83.png"/><Relationship Id="rId29" Type="http://schemas.openxmlformats.org/officeDocument/2006/relationships/image" Target="../media/image92.png"/><Relationship Id="rId1" Type="http://schemas.openxmlformats.org/officeDocument/2006/relationships/slideLayout" Target="../slideLayouts/slideLayout6.xml"/><Relationship Id="rId6" Type="http://schemas.openxmlformats.org/officeDocument/2006/relationships/image" Target="../media/image69.png"/><Relationship Id="rId11" Type="http://schemas.openxmlformats.org/officeDocument/2006/relationships/image" Target="../media/image74.png"/><Relationship Id="rId24" Type="http://schemas.openxmlformats.org/officeDocument/2006/relationships/image" Target="../media/image87.png"/><Relationship Id="rId5" Type="http://schemas.openxmlformats.org/officeDocument/2006/relationships/image" Target="../media/image19.png"/><Relationship Id="rId15" Type="http://schemas.openxmlformats.org/officeDocument/2006/relationships/image" Target="../media/image78.png"/><Relationship Id="rId23" Type="http://schemas.openxmlformats.org/officeDocument/2006/relationships/image" Target="../media/image86.png"/><Relationship Id="rId28" Type="http://schemas.openxmlformats.org/officeDocument/2006/relationships/image" Target="../media/image91.png"/><Relationship Id="rId10" Type="http://schemas.openxmlformats.org/officeDocument/2006/relationships/image" Target="../media/image73.png"/><Relationship Id="rId19" Type="http://schemas.openxmlformats.org/officeDocument/2006/relationships/image" Target="../media/image82.png"/><Relationship Id="rId4" Type="http://schemas.openxmlformats.org/officeDocument/2006/relationships/image" Target="../media/image20.tiff"/><Relationship Id="rId9" Type="http://schemas.openxmlformats.org/officeDocument/2006/relationships/image" Target="../media/image72.png"/><Relationship Id="rId14" Type="http://schemas.openxmlformats.org/officeDocument/2006/relationships/image" Target="../media/image77.png"/><Relationship Id="rId22" Type="http://schemas.openxmlformats.org/officeDocument/2006/relationships/image" Target="../media/image85.png"/><Relationship Id="rId27" Type="http://schemas.openxmlformats.org/officeDocument/2006/relationships/image" Target="../media/image90.png"/><Relationship Id="rId30" Type="http://schemas.openxmlformats.org/officeDocument/2006/relationships/image" Target="../media/image93.png"/></Relationships>
</file>

<file path=ppt/slides/_rels/slide12.xml.rels><?xml version="1.0" encoding="UTF-8" standalone="yes"?>
<Relationships xmlns="http://schemas.openxmlformats.org/package/2006/relationships"><Relationship Id="rId8" Type="http://schemas.openxmlformats.org/officeDocument/2006/relationships/image" Target="../media/image31.png"/><Relationship Id="rId18" Type="http://schemas.openxmlformats.org/officeDocument/2006/relationships/image" Target="../media/image38.png"/><Relationship Id="rId3" Type="http://schemas.openxmlformats.org/officeDocument/2006/relationships/image" Target="../media/image25.png"/><Relationship Id="rId21" Type="http://schemas.openxmlformats.org/officeDocument/2006/relationships/image" Target="../media/image42.png"/><Relationship Id="rId7" Type="http://schemas.openxmlformats.org/officeDocument/2006/relationships/image" Target="../media/image30.png"/><Relationship Id="rId12" Type="http://schemas.openxmlformats.org/officeDocument/2006/relationships/image" Target="../media/image35.png"/><Relationship Id="rId17" Type="http://schemas.openxmlformats.org/officeDocument/2006/relationships/image" Target="../media/image36.png"/><Relationship Id="rId2" Type="http://schemas.openxmlformats.org/officeDocument/2006/relationships/notesSlide" Target="../notesSlides/notesSlide12.xml"/><Relationship Id="rId20" Type="http://schemas.openxmlformats.org/officeDocument/2006/relationships/image" Target="../media/image302.png"/><Relationship Id="rId1" Type="http://schemas.openxmlformats.org/officeDocument/2006/relationships/slideLayout" Target="../slideLayouts/slideLayout6.xml"/><Relationship Id="rId6" Type="http://schemas.openxmlformats.org/officeDocument/2006/relationships/image" Target="../media/image29.png"/><Relationship Id="rId11" Type="http://schemas.openxmlformats.org/officeDocument/2006/relationships/image" Target="../media/image34.png"/><Relationship Id="rId24" Type="http://schemas.openxmlformats.org/officeDocument/2006/relationships/image" Target="../media/image37.png"/><Relationship Id="rId5" Type="http://schemas.openxmlformats.org/officeDocument/2006/relationships/image" Target="../media/image28.png"/><Relationship Id="rId23" Type="http://schemas.openxmlformats.org/officeDocument/2006/relationships/image" Target="../media/image44.png"/><Relationship Id="rId10" Type="http://schemas.openxmlformats.org/officeDocument/2006/relationships/image" Target="../media/image33.png"/><Relationship Id="rId19" Type="http://schemas.openxmlformats.org/officeDocument/2006/relationships/image" Target="../media/image291.png"/><Relationship Id="rId4" Type="http://schemas.openxmlformats.org/officeDocument/2006/relationships/image" Target="../media/image27.png"/><Relationship Id="rId9" Type="http://schemas.openxmlformats.org/officeDocument/2006/relationships/image" Target="../media/image32.png"/><Relationship Id="rId22" Type="http://schemas.openxmlformats.org/officeDocument/2006/relationships/image" Target="../media/image43.png"/></Relationships>
</file>

<file path=ppt/slides/_rels/slide13.xml.rels><?xml version="1.0" encoding="UTF-8" standalone="yes"?>
<Relationships xmlns="http://schemas.openxmlformats.org/package/2006/relationships"><Relationship Id="rId8" Type="http://schemas.openxmlformats.org/officeDocument/2006/relationships/image" Target="../media/image570.png"/><Relationship Id="rId13" Type="http://schemas.openxmlformats.org/officeDocument/2006/relationships/image" Target="../media/image620.png"/><Relationship Id="rId26" Type="http://schemas.openxmlformats.org/officeDocument/2006/relationships/image" Target="../media/image680.png"/><Relationship Id="rId3" Type="http://schemas.openxmlformats.org/officeDocument/2006/relationships/image" Target="../media/image450.png"/><Relationship Id="rId21" Type="http://schemas.openxmlformats.org/officeDocument/2006/relationships/image" Target="../media/image660.png"/><Relationship Id="rId7" Type="http://schemas.openxmlformats.org/officeDocument/2006/relationships/image" Target="../media/image490.png"/><Relationship Id="rId12" Type="http://schemas.openxmlformats.org/officeDocument/2006/relationships/image" Target="../media/image280.png"/><Relationship Id="rId17" Type="http://schemas.openxmlformats.org/officeDocument/2006/relationships/image" Target="../media/image750.png"/><Relationship Id="rId25" Type="http://schemas.openxmlformats.org/officeDocument/2006/relationships/image" Target="../media/image670.png"/><Relationship Id="rId2" Type="http://schemas.openxmlformats.org/officeDocument/2006/relationships/notesSlide" Target="../notesSlides/notesSlide13.xml"/><Relationship Id="rId16" Type="http://schemas.openxmlformats.org/officeDocument/2006/relationships/image" Target="../media/image740.png"/><Relationship Id="rId20" Type="http://schemas.openxmlformats.org/officeDocument/2006/relationships/image" Target="../media/image650.png"/><Relationship Id="rId1" Type="http://schemas.openxmlformats.org/officeDocument/2006/relationships/slideLayout" Target="../slideLayouts/slideLayout6.xml"/><Relationship Id="rId6" Type="http://schemas.openxmlformats.org/officeDocument/2006/relationships/image" Target="../media/image482.png"/><Relationship Id="rId11" Type="http://schemas.openxmlformats.org/officeDocument/2006/relationships/image" Target="../media/image600.png"/><Relationship Id="rId24" Type="http://schemas.openxmlformats.org/officeDocument/2006/relationships/image" Target="../media/image611.png"/><Relationship Id="rId5" Type="http://schemas.openxmlformats.org/officeDocument/2006/relationships/image" Target="../media/image472.png"/><Relationship Id="rId15" Type="http://schemas.openxmlformats.org/officeDocument/2006/relationships/image" Target="../media/image651.png"/><Relationship Id="rId23" Type="http://schemas.openxmlformats.org/officeDocument/2006/relationships/image" Target="../media/image571.png"/><Relationship Id="rId10" Type="http://schemas.openxmlformats.org/officeDocument/2006/relationships/image" Target="../media/image590.png"/><Relationship Id="rId19" Type="http://schemas.openxmlformats.org/officeDocument/2006/relationships/image" Target="../media/image640.png"/><Relationship Id="rId4" Type="http://schemas.openxmlformats.org/officeDocument/2006/relationships/image" Target="../media/image461.png"/><Relationship Id="rId9" Type="http://schemas.openxmlformats.org/officeDocument/2006/relationships/image" Target="../media/image580.png"/><Relationship Id="rId14" Type="http://schemas.openxmlformats.org/officeDocument/2006/relationships/image" Target="../media/image630.png"/><Relationship Id="rId22" Type="http://schemas.openxmlformats.org/officeDocument/2006/relationships/image" Target="../media/image370.png"/></Relationships>
</file>

<file path=ppt/slides/_rels/slide1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011.png"/><Relationship Id="rId7" Type="http://schemas.openxmlformats.org/officeDocument/2006/relationships/image" Target="../media/image313.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282.png"/><Relationship Id="rId5" Type="http://schemas.openxmlformats.org/officeDocument/2006/relationships/image" Target="../media/image272.png"/><Relationship Id="rId4" Type="http://schemas.openxmlformats.org/officeDocument/2006/relationships/image" Target="../media/image251.png"/><Relationship Id="rId9" Type="http://schemas.openxmlformats.org/officeDocument/2006/relationships/image" Target="../media/image330.png"/></Relationships>
</file>

<file path=ppt/slides/_rels/slide15.xml.rels><?xml version="1.0" encoding="UTF-8" standalone="yes"?>
<Relationships xmlns="http://schemas.openxmlformats.org/package/2006/relationships"><Relationship Id="rId3" Type="http://schemas.openxmlformats.org/officeDocument/2006/relationships/image" Target="../media/image340.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39.png"/><Relationship Id="rId5" Type="http://schemas.openxmlformats.org/officeDocument/2006/relationships/image" Target="../media/image770.png"/><Relationship Id="rId10" Type="http://schemas.openxmlformats.org/officeDocument/2006/relationships/image" Target="../media/image40.png"/><Relationship Id="rId4" Type="http://schemas.openxmlformats.org/officeDocument/2006/relationships/image" Target="../media/image760.png"/><Relationship Id="rId9" Type="http://schemas.openxmlformats.org/officeDocument/2006/relationships/image" Target="../media/image780.png"/></Relationships>
</file>

<file path=ppt/slides/_rels/slide16.xml.rels><?xml version="1.0" encoding="UTF-8" standalone="yes"?>
<Relationships xmlns="http://schemas.openxmlformats.org/package/2006/relationships"><Relationship Id="rId8" Type="http://schemas.openxmlformats.org/officeDocument/2006/relationships/image" Target="../media/image840.png"/><Relationship Id="rId13" Type="http://schemas.openxmlformats.org/officeDocument/2006/relationships/image" Target="../media/image890.png"/><Relationship Id="rId3" Type="http://schemas.openxmlformats.org/officeDocument/2006/relationships/image" Target="../media/image270.png"/><Relationship Id="rId7" Type="http://schemas.openxmlformats.org/officeDocument/2006/relationships/image" Target="../media/image831.png"/><Relationship Id="rId12" Type="http://schemas.openxmlformats.org/officeDocument/2006/relationships/image" Target="../media/image880.png"/><Relationship Id="rId2" Type="http://schemas.openxmlformats.org/officeDocument/2006/relationships/notesSlide" Target="../notesSlides/notesSlide16.xml"/><Relationship Id="rId16" Type="http://schemas.openxmlformats.org/officeDocument/2006/relationships/image" Target="../media/image920.png"/><Relationship Id="rId1" Type="http://schemas.openxmlformats.org/officeDocument/2006/relationships/slideLayout" Target="../slideLayouts/slideLayout6.xml"/><Relationship Id="rId6" Type="http://schemas.openxmlformats.org/officeDocument/2006/relationships/image" Target="../media/image820.png"/><Relationship Id="rId11" Type="http://schemas.openxmlformats.org/officeDocument/2006/relationships/image" Target="../media/image870.png"/><Relationship Id="rId5" Type="http://schemas.openxmlformats.org/officeDocument/2006/relationships/image" Target="../media/image811.png"/><Relationship Id="rId15" Type="http://schemas.openxmlformats.org/officeDocument/2006/relationships/image" Target="../media/image911.png"/><Relationship Id="rId10" Type="http://schemas.openxmlformats.org/officeDocument/2006/relationships/image" Target="../media/image860.png"/><Relationship Id="rId4" Type="http://schemas.openxmlformats.org/officeDocument/2006/relationships/image" Target="../media/image800.png"/><Relationship Id="rId9" Type="http://schemas.openxmlformats.org/officeDocument/2006/relationships/image" Target="../media/image850.png"/><Relationship Id="rId14" Type="http://schemas.openxmlformats.org/officeDocument/2006/relationships/image" Target="../media/image900.png"/></Relationships>
</file>

<file path=ppt/slides/_rels/slide17.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97.png"/><Relationship Id="rId18" Type="http://schemas.openxmlformats.org/officeDocument/2006/relationships/image" Target="../media/image102.png"/><Relationship Id="rId3" Type="http://schemas.openxmlformats.org/officeDocument/2006/relationships/image" Target="../media/image300.png"/><Relationship Id="rId21" Type="http://schemas.openxmlformats.org/officeDocument/2006/relationships/image" Target="../media/image250.png"/><Relationship Id="rId7" Type="http://schemas.openxmlformats.org/officeDocument/2006/relationships/image" Target="../media/image910.png"/><Relationship Id="rId12" Type="http://schemas.openxmlformats.org/officeDocument/2006/relationships/image" Target="../media/image96.png"/><Relationship Id="rId17" Type="http://schemas.openxmlformats.org/officeDocument/2006/relationships/image" Target="../media/image101.png"/><Relationship Id="rId2" Type="http://schemas.openxmlformats.org/officeDocument/2006/relationships/notesSlide" Target="../notesSlides/notesSlide17.xml"/><Relationship Id="rId16" Type="http://schemas.openxmlformats.org/officeDocument/2006/relationships/image" Target="../media/image100.png"/><Relationship Id="rId20" Type="http://schemas.openxmlformats.org/officeDocument/2006/relationships/image" Target="../media/image104.png"/><Relationship Id="rId1" Type="http://schemas.openxmlformats.org/officeDocument/2006/relationships/slideLayout" Target="../slideLayouts/slideLayout6.xml"/><Relationship Id="rId6" Type="http://schemas.openxmlformats.org/officeDocument/2006/relationships/image" Target="../media/image921.png"/><Relationship Id="rId11" Type="http://schemas.openxmlformats.org/officeDocument/2006/relationships/image" Target="../media/image95.png"/><Relationship Id="rId15" Type="http://schemas.openxmlformats.org/officeDocument/2006/relationships/image" Target="../media/image99.png"/><Relationship Id="rId10" Type="http://schemas.openxmlformats.org/officeDocument/2006/relationships/image" Target="../media/image94.png"/><Relationship Id="rId19" Type="http://schemas.openxmlformats.org/officeDocument/2006/relationships/image" Target="../media/image103.png"/><Relationship Id="rId9" Type="http://schemas.openxmlformats.org/officeDocument/2006/relationships/image" Target="../media/image67.png"/><Relationship Id="rId14" Type="http://schemas.openxmlformats.org/officeDocument/2006/relationships/image" Target="../media/image98.png"/><Relationship Id="rId22" Type="http://schemas.openxmlformats.org/officeDocument/2006/relationships/image" Target="../media/image106.png"/></Relationships>
</file>

<file path=ppt/slides/_rels/slide1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8" Type="http://schemas.openxmlformats.org/officeDocument/2006/relationships/image" Target="../media/image21.tiff"/><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22.tiff"/><Relationship Id="rId7"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810.png"/><Relationship Id="rId5" Type="http://schemas.openxmlformats.org/officeDocument/2006/relationships/image" Target="../media/image79.png"/><Relationship Id="rId4" Type="http://schemas.openxmlformats.org/officeDocument/2006/relationships/image" Target="../media/image8.png"/><Relationship Id="rId9" Type="http://schemas.openxmlformats.org/officeDocument/2006/relationships/image" Target="../media/image41.png"/></Relationships>
</file>

<file path=ppt/slides/_rels/slide2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106.tiff"/><Relationship Id="rId4" Type="http://schemas.openxmlformats.org/officeDocument/2006/relationships/image" Target="../media/image105.png"/></Relationships>
</file>

<file path=ppt/slides/_rels/slide2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114.png"/><Relationship Id="rId5" Type="http://schemas.openxmlformats.org/officeDocument/2006/relationships/image" Target="../media/image107.png"/><Relationship Id="rId4" Type="http://schemas.openxmlformats.org/officeDocument/2006/relationships/image" Target="../media/image112.png"/></Relationships>
</file>

<file path=ppt/slides/_rels/slide2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07.emf"/><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117.png"/></Relationships>
</file>

<file path=ppt/slides/_rels/slide25.xml.rels><?xml version="1.0" encoding="UTF-8" standalone="yes"?>
<Relationships xmlns="http://schemas.openxmlformats.org/package/2006/relationships"><Relationship Id="rId3" Type="http://schemas.openxmlformats.org/officeDocument/2006/relationships/image" Target="../media/image1131.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113.png"/></Relationships>
</file>

<file path=ppt/slides/_rels/slide26.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diagramColors" Target="../diagrams/colors4.xml"/><Relationship Id="rId11" Type="http://schemas.openxmlformats.org/officeDocument/2006/relationships/diagramColors" Target="../diagrams/colors4.xml"/><Relationship Id="rId5" Type="http://schemas.openxmlformats.org/officeDocument/2006/relationships/diagramQuickStyle" Target="../diagrams/quickStyle4.xml"/><Relationship Id="rId10"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diagramLayout" Target="../diagrams/layout4.xml"/></Relationships>
</file>

<file path=ppt/slides/_rels/slide27.xml.rels><?xml version="1.0" encoding="UTF-8" standalone="yes"?>
<Relationships xmlns="http://schemas.openxmlformats.org/package/2006/relationships"><Relationship Id="rId8" Type="http://schemas.openxmlformats.org/officeDocument/2006/relationships/image" Target="../media/image1100.png"/><Relationship Id="rId3" Type="http://schemas.openxmlformats.org/officeDocument/2006/relationships/image" Target="../media/image1151.png"/><Relationship Id="rId7" Type="http://schemas.openxmlformats.org/officeDocument/2006/relationships/image" Target="../media/image1091.png"/><Relationship Id="rId2" Type="http://schemas.openxmlformats.org/officeDocument/2006/relationships/notesSlide" Target="../notesSlides/notesSlide27.xml"/><Relationship Id="rId1" Type="http://schemas.openxmlformats.org/officeDocument/2006/relationships/slideLayout" Target="../slideLayouts/slideLayout6.xml"/><Relationship Id="rId6" Type="http://schemas.openxmlformats.org/officeDocument/2006/relationships/image" Target="../media/image1071.png"/><Relationship Id="rId5" Type="http://schemas.openxmlformats.org/officeDocument/2006/relationships/image" Target="../media/image1061.png"/><Relationship Id="rId10" Type="http://schemas.openxmlformats.org/officeDocument/2006/relationships/image" Target="../media/image118.png"/><Relationship Id="rId4" Type="http://schemas.openxmlformats.org/officeDocument/2006/relationships/image" Target="../media/image116.png"/><Relationship Id="rId9" Type="http://schemas.openxmlformats.org/officeDocument/2006/relationships/image" Target="../media/image830.png"/></Relationships>
</file>

<file path=ppt/slides/_rels/slide28.xml.rels><?xml version="1.0" encoding="UTF-8" standalone="yes"?>
<Relationships xmlns="http://schemas.openxmlformats.org/package/2006/relationships"><Relationship Id="rId3" Type="http://schemas.openxmlformats.org/officeDocument/2006/relationships/image" Target="../media/image281.png"/><Relationship Id="rId7" Type="http://schemas.openxmlformats.org/officeDocument/2006/relationships/image" Target="../media/image108.tiff"/><Relationship Id="rId2" Type="http://schemas.openxmlformats.org/officeDocument/2006/relationships/notesSlide" Target="../notesSlides/notesSlide28.xml"/><Relationship Id="rId1" Type="http://schemas.openxmlformats.org/officeDocument/2006/relationships/slideLayout" Target="../slideLayouts/slideLayout6.xml"/><Relationship Id="rId6" Type="http://schemas.openxmlformats.org/officeDocument/2006/relationships/image" Target="../media/image119.png"/><Relationship Id="rId5" Type="http://schemas.openxmlformats.org/officeDocument/2006/relationships/image" Target="../media/image613.png"/><Relationship Id="rId4" Type="http://schemas.openxmlformats.org/officeDocument/2006/relationships/image" Target="../media/image312.png"/></Relationships>
</file>

<file path=ppt/slides/_rels/slide29.xml.rels><?xml version="1.0" encoding="UTF-8" standalone="yes"?>
<Relationships xmlns="http://schemas.openxmlformats.org/package/2006/relationships"><Relationship Id="rId7" Type="http://schemas.openxmlformats.org/officeDocument/2006/relationships/image" Target="../media/image111.tiff"/><Relationship Id="rId2" Type="http://schemas.openxmlformats.org/officeDocument/2006/relationships/notesSlide" Target="../notesSlides/notesSlide29.xml"/><Relationship Id="rId1" Type="http://schemas.openxmlformats.org/officeDocument/2006/relationships/slideLayout" Target="../slideLayouts/slideLayout6.xml"/><Relationship Id="rId6" Type="http://schemas.openxmlformats.org/officeDocument/2006/relationships/image" Target="../media/image110.tiff"/><Relationship Id="rId5" Type="http://schemas.openxmlformats.org/officeDocument/2006/relationships/image" Target="../media/image109.tiff"/><Relationship Id="rId4" Type="http://schemas.openxmlformats.org/officeDocument/2006/relationships/image" Target="../media/image1190.png"/></Relationships>
</file>

<file path=ppt/slides/_rels/slide30.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121.tiff"/></Relationships>
</file>

<file path=ppt/slides/_rels/slide31.xml.rels><?xml version="1.0" encoding="UTF-8" standalone="yes"?>
<Relationships xmlns="http://schemas.openxmlformats.org/package/2006/relationships"><Relationship Id="rId13" Type="http://schemas.openxmlformats.org/officeDocument/2006/relationships/image" Target="../media/image730.png"/><Relationship Id="rId18" Type="http://schemas.openxmlformats.org/officeDocument/2006/relationships/image" Target="../media/image1192.png"/><Relationship Id="rId3" Type="http://schemas.openxmlformats.org/officeDocument/2006/relationships/image" Target="../media/image122.png"/><Relationship Id="rId21" Type="http://schemas.openxmlformats.org/officeDocument/2006/relationships/image" Target="../media/image123.png"/><Relationship Id="rId7" Type="http://schemas.openxmlformats.org/officeDocument/2006/relationships/image" Target="../media/image126.png"/><Relationship Id="rId12" Type="http://schemas.openxmlformats.org/officeDocument/2006/relationships/image" Target="../media/image720.png"/><Relationship Id="rId17" Type="http://schemas.openxmlformats.org/officeDocument/2006/relationships/image" Target="../media/image108.png"/><Relationship Id="rId2" Type="http://schemas.openxmlformats.org/officeDocument/2006/relationships/notesSlide" Target="../notesSlides/notesSlide31.xml"/><Relationship Id="rId16" Type="http://schemas.openxmlformats.org/officeDocument/2006/relationships/image" Target="../media/image1070.png"/><Relationship Id="rId20" Type="http://schemas.openxmlformats.org/officeDocument/2006/relationships/image" Target="../media/image121.png"/><Relationship Id="rId1" Type="http://schemas.openxmlformats.org/officeDocument/2006/relationships/slideLayout" Target="../slideLayouts/slideLayout6.xml"/><Relationship Id="rId6" Type="http://schemas.openxmlformats.org/officeDocument/2006/relationships/image" Target="../media/image125.png"/><Relationship Id="rId11" Type="http://schemas.openxmlformats.org/officeDocument/2006/relationships/image" Target="../media/image711.png"/><Relationship Id="rId5" Type="http://schemas.openxmlformats.org/officeDocument/2006/relationships/image" Target="../media/image1240.png"/><Relationship Id="rId15" Type="http://schemas.openxmlformats.org/officeDocument/2006/relationships/image" Target="../media/image1050.png"/><Relationship Id="rId23" Type="http://schemas.openxmlformats.org/officeDocument/2006/relationships/image" Target="../media/image127.png"/><Relationship Id="rId10" Type="http://schemas.openxmlformats.org/officeDocument/2006/relationships/image" Target="../media/image129.png"/><Relationship Id="rId19" Type="http://schemas.openxmlformats.org/officeDocument/2006/relationships/image" Target="../media/image1202.png"/><Relationship Id="rId4" Type="http://schemas.openxmlformats.org/officeDocument/2006/relationships/image" Target="../media/image1232.png"/><Relationship Id="rId9" Type="http://schemas.openxmlformats.org/officeDocument/2006/relationships/image" Target="../media/image128.png"/><Relationship Id="rId14" Type="http://schemas.openxmlformats.org/officeDocument/2006/relationships/image" Target="../media/image930.png"/><Relationship Id="rId22" Type="http://schemas.openxmlformats.org/officeDocument/2006/relationships/image" Target="../media/image1241.png"/></Relationships>
</file>

<file path=ppt/slides/_rels/slide32.xml.rels><?xml version="1.0" encoding="UTF-8" standalone="yes"?>
<Relationships xmlns="http://schemas.openxmlformats.org/package/2006/relationships"><Relationship Id="rId3" Type="http://schemas.openxmlformats.org/officeDocument/2006/relationships/image" Target="../media/image122.tiff"/><Relationship Id="rId2" Type="http://schemas.openxmlformats.org/officeDocument/2006/relationships/notesSlide" Target="../notesSlides/notesSlide32.xml"/><Relationship Id="rId1" Type="http://schemas.openxmlformats.org/officeDocument/2006/relationships/slideLayout" Target="../slideLayouts/slideLayout6.xml"/><Relationship Id="rId5" Type="http://schemas.openxmlformats.org/officeDocument/2006/relationships/image" Target="../media/image124.tiff"/><Relationship Id="rId4" Type="http://schemas.openxmlformats.org/officeDocument/2006/relationships/image" Target="../media/image123.tiff"/></Relationships>
</file>

<file path=ppt/slides/_rels/slide33.xml.rels><?xml version="1.0" encoding="UTF-8" standalone="yes"?>
<Relationships xmlns="http://schemas.openxmlformats.org/package/2006/relationships"><Relationship Id="rId3" Type="http://schemas.openxmlformats.org/officeDocument/2006/relationships/image" Target="../media/image1371.png"/><Relationship Id="rId2" Type="http://schemas.openxmlformats.org/officeDocument/2006/relationships/notesSlide" Target="../notesSlides/notesSlide33.xml"/><Relationship Id="rId1" Type="http://schemas.openxmlformats.org/officeDocument/2006/relationships/slideLayout" Target="../slideLayouts/slideLayout6.xml"/><Relationship Id="rId5" Type="http://schemas.openxmlformats.org/officeDocument/2006/relationships/image" Target="../media/image139.png"/><Relationship Id="rId4" Type="http://schemas.openxmlformats.org/officeDocument/2006/relationships/image" Target="../media/image1380.png"/></Relationships>
</file>

<file path=ppt/slides/_rels/slide34.xml.rels><?xml version="1.0" encoding="UTF-8" standalone="yes"?>
<Relationships xmlns="http://schemas.openxmlformats.org/package/2006/relationships"><Relationship Id="rId8" Type="http://schemas.openxmlformats.org/officeDocument/2006/relationships/image" Target="../media/image145.png"/><Relationship Id="rId13" Type="http://schemas.openxmlformats.org/officeDocument/2006/relationships/image" Target="../media/image150.png"/><Relationship Id="rId3" Type="http://schemas.openxmlformats.org/officeDocument/2006/relationships/image" Target="../media/image140.png"/><Relationship Id="rId7" Type="http://schemas.openxmlformats.org/officeDocument/2006/relationships/image" Target="../media/image144.png"/><Relationship Id="rId12" Type="http://schemas.openxmlformats.org/officeDocument/2006/relationships/image" Target="../media/image149.png"/><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image" Target="../media/image143.png"/><Relationship Id="rId11" Type="http://schemas.openxmlformats.org/officeDocument/2006/relationships/image" Target="../media/image148.png"/><Relationship Id="rId5" Type="http://schemas.openxmlformats.org/officeDocument/2006/relationships/image" Target="../media/image142.png"/><Relationship Id="rId15" Type="http://schemas.openxmlformats.org/officeDocument/2006/relationships/image" Target="../media/image152.png"/><Relationship Id="rId10" Type="http://schemas.openxmlformats.org/officeDocument/2006/relationships/image" Target="../media/image147.png"/><Relationship Id="rId4" Type="http://schemas.openxmlformats.org/officeDocument/2006/relationships/image" Target="../media/image141.png"/><Relationship Id="rId9" Type="http://schemas.openxmlformats.org/officeDocument/2006/relationships/image" Target="../media/image146.png"/><Relationship Id="rId14" Type="http://schemas.openxmlformats.org/officeDocument/2006/relationships/image" Target="../media/image151.png"/></Relationships>
</file>

<file path=ppt/slides/_rels/slide35.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8" Type="http://schemas.openxmlformats.org/officeDocument/2006/relationships/image" Target="../media/image159.png"/><Relationship Id="rId3" Type="http://schemas.openxmlformats.org/officeDocument/2006/relationships/image" Target="../media/image154.png"/><Relationship Id="rId7" Type="http://schemas.openxmlformats.org/officeDocument/2006/relationships/image" Target="../media/image158.png"/><Relationship Id="rId2" Type="http://schemas.openxmlformats.org/officeDocument/2006/relationships/notesSlide" Target="../notesSlides/notesSlide36.xml"/><Relationship Id="rId1" Type="http://schemas.openxmlformats.org/officeDocument/2006/relationships/slideLayout" Target="../slideLayouts/slideLayout6.xml"/><Relationship Id="rId6" Type="http://schemas.openxmlformats.org/officeDocument/2006/relationships/image" Target="../media/image157.png"/><Relationship Id="rId5" Type="http://schemas.openxmlformats.org/officeDocument/2006/relationships/image" Target="../media/image156.png"/><Relationship Id="rId10" Type="http://schemas.openxmlformats.org/officeDocument/2006/relationships/image" Target="../media/image125.tiff"/><Relationship Id="rId4" Type="http://schemas.openxmlformats.org/officeDocument/2006/relationships/image" Target="../media/image155.png"/><Relationship Id="rId9" Type="http://schemas.openxmlformats.org/officeDocument/2006/relationships/image" Target="../media/image160.png"/></Relationships>
</file>

<file path=ppt/slides/_rels/slide37.xml.rels><?xml version="1.0" encoding="UTF-8" standalone="yes"?>
<Relationships xmlns="http://schemas.openxmlformats.org/package/2006/relationships"><Relationship Id="rId3" Type="http://schemas.openxmlformats.org/officeDocument/2006/relationships/image" Target="../media/image1230.png"/><Relationship Id="rId2" Type="http://schemas.openxmlformats.org/officeDocument/2006/relationships/notesSlide" Target="../notesSlides/notesSlide37.xml"/><Relationship Id="rId1" Type="http://schemas.openxmlformats.org/officeDocument/2006/relationships/slideLayout" Target="../slideLayouts/slideLayout6.xml"/><Relationship Id="rId4" Type="http://schemas.openxmlformats.org/officeDocument/2006/relationships/image" Target="../media/image125.tiff"/></Relationships>
</file>

<file path=ppt/slides/_rels/slide38.xml.rels><?xml version="1.0" encoding="UTF-8" standalone="yes"?>
<Relationships xmlns="http://schemas.openxmlformats.org/package/2006/relationships"><Relationship Id="rId8" Type="http://schemas.openxmlformats.org/officeDocument/2006/relationships/image" Target="../media/image135.png"/><Relationship Id="rId3" Type="http://schemas.openxmlformats.org/officeDocument/2006/relationships/image" Target="../media/image130.png"/><Relationship Id="rId7" Type="http://schemas.openxmlformats.org/officeDocument/2006/relationships/image" Target="../media/image134.png"/><Relationship Id="rId2" Type="http://schemas.openxmlformats.org/officeDocument/2006/relationships/notesSlide" Target="../notesSlides/notesSlide38.xml"/><Relationship Id="rId1" Type="http://schemas.openxmlformats.org/officeDocument/2006/relationships/slideLayout" Target="../slideLayouts/slideLayout6.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39.xml.rels><?xml version="1.0" encoding="UTF-8" standalone="yes"?>
<Relationships xmlns="http://schemas.openxmlformats.org/package/2006/relationships"><Relationship Id="rId8" Type="http://schemas.openxmlformats.org/officeDocument/2006/relationships/image" Target="../media/image712.png"/><Relationship Id="rId3" Type="http://schemas.openxmlformats.org/officeDocument/2006/relationships/image" Target="../media/image311.png"/><Relationship Id="rId7" Type="http://schemas.openxmlformats.org/officeDocument/2006/relationships/image" Target="../media/image612.png"/><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image" Target="../media/image5100.png"/><Relationship Id="rId5" Type="http://schemas.openxmlformats.org/officeDocument/2006/relationships/image" Target="../media/image512.png"/><Relationship Id="rId4" Type="http://schemas.openxmlformats.org/officeDocument/2006/relationships/image" Target="../media/image410.png"/></Relationships>
</file>

<file path=ppt/slides/_rels/slide40.xml.rels><?xml version="1.0" encoding="UTF-8" standalone="yes"?>
<Relationships xmlns="http://schemas.openxmlformats.org/package/2006/relationships"><Relationship Id="rId8" Type="http://schemas.openxmlformats.org/officeDocument/2006/relationships/image" Target="../media/image136.tiff"/><Relationship Id="rId3" Type="http://schemas.openxmlformats.org/officeDocument/2006/relationships/diagramData" Target="../diagrams/data6.xml"/><Relationship Id="rId7" Type="http://schemas.microsoft.com/office/2007/relationships/diagramDrawing" Target="../diagrams/drawing5.xml"/><Relationship Id="rId2" Type="http://schemas.openxmlformats.org/officeDocument/2006/relationships/notesSlide" Target="../notesSlides/notesSlide40.xml"/><Relationship Id="rId1" Type="http://schemas.openxmlformats.org/officeDocument/2006/relationships/slideLayout" Target="../slideLayouts/slideLayout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1.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71.png"/><Relationship Id="rId3" Type="http://schemas.openxmlformats.org/officeDocument/2006/relationships/image" Target="../media/image165.png"/><Relationship Id="rId7" Type="http://schemas.openxmlformats.org/officeDocument/2006/relationships/image" Target="../media/image169.png"/><Relationship Id="rId12" Type="http://schemas.openxmlformats.org/officeDocument/2006/relationships/image" Target="../media/image164.png"/><Relationship Id="rId2" Type="http://schemas.openxmlformats.org/officeDocument/2006/relationships/notesSlide" Target="../notesSlides/notesSlide41.xml"/><Relationship Id="rId1" Type="http://schemas.openxmlformats.org/officeDocument/2006/relationships/slideLayout" Target="../slideLayouts/slideLayout6.xml"/><Relationship Id="rId6" Type="http://schemas.openxmlformats.org/officeDocument/2006/relationships/image" Target="../media/image168.png"/><Relationship Id="rId11" Type="http://schemas.openxmlformats.org/officeDocument/2006/relationships/image" Target="../media/image173.png"/><Relationship Id="rId5" Type="http://schemas.openxmlformats.org/officeDocument/2006/relationships/image" Target="../media/image167.png"/><Relationship Id="rId10" Type="http://schemas.openxmlformats.org/officeDocument/2006/relationships/image" Target="../media/image172.png"/><Relationship Id="rId4" Type="http://schemas.openxmlformats.org/officeDocument/2006/relationships/image" Target="../media/image166.png"/><Relationship Id="rId14" Type="http://schemas.openxmlformats.org/officeDocument/2006/relationships/image" Target="../media/image1320.png"/></Relationships>
</file>

<file path=ppt/slides/_rels/slide42.xml.rels><?xml version="1.0" encoding="UTF-8" standalone="yes"?>
<Relationships xmlns="http://schemas.openxmlformats.org/package/2006/relationships"><Relationship Id="rId3" Type="http://schemas.openxmlformats.org/officeDocument/2006/relationships/image" Target="../media/image1280.png"/><Relationship Id="rId2" Type="http://schemas.openxmlformats.org/officeDocument/2006/relationships/notesSlide" Target="../notesSlides/notesSlide42.xml"/><Relationship Id="rId1" Type="http://schemas.openxmlformats.org/officeDocument/2006/relationships/slideLayout" Target="../slideLayouts/slideLayout6.xml"/><Relationship Id="rId6" Type="http://schemas.openxmlformats.org/officeDocument/2006/relationships/image" Target="../media/image175.png"/><Relationship Id="rId5" Type="http://schemas.openxmlformats.org/officeDocument/2006/relationships/image" Target="../media/image1610.png"/><Relationship Id="rId4" Type="http://schemas.openxmlformats.org/officeDocument/2006/relationships/image" Target="../media/image1291.png"/></Relationships>
</file>

<file path=ppt/slides/_rels/slide43.xml.rels><?xml version="1.0" encoding="UTF-8" standalone="yes"?>
<Relationships xmlns="http://schemas.openxmlformats.org/package/2006/relationships"><Relationship Id="rId3" Type="http://schemas.openxmlformats.org/officeDocument/2006/relationships/image" Target="../media/image137.tiff"/><Relationship Id="rId2" Type="http://schemas.openxmlformats.org/officeDocument/2006/relationships/notesSlide" Target="../notesSlides/notesSlide43.xml"/><Relationship Id="rId1" Type="http://schemas.openxmlformats.org/officeDocument/2006/relationships/slideLayout" Target="../slideLayouts/slideLayout6.xml"/><Relationship Id="rId4" Type="http://schemas.openxmlformats.org/officeDocument/2006/relationships/image" Target="../media/image138.tiff"/></Relationships>
</file>

<file path=ppt/slides/_rels/slide44.xml.rels><?xml version="1.0" encoding="UTF-8" standalone="yes"?>
<Relationships xmlns="http://schemas.openxmlformats.org/package/2006/relationships"><Relationship Id="rId8" Type="http://schemas.openxmlformats.org/officeDocument/2006/relationships/image" Target="../media/image188.png"/><Relationship Id="rId13" Type="http://schemas.openxmlformats.org/officeDocument/2006/relationships/image" Target="../media/image194.png"/><Relationship Id="rId3" Type="http://schemas.openxmlformats.org/officeDocument/2006/relationships/image" Target="../media/image183.png"/><Relationship Id="rId7" Type="http://schemas.openxmlformats.org/officeDocument/2006/relationships/image" Target="../media/image187.png"/><Relationship Id="rId12" Type="http://schemas.openxmlformats.org/officeDocument/2006/relationships/image" Target="../media/image193.png"/><Relationship Id="rId2" Type="http://schemas.openxmlformats.org/officeDocument/2006/relationships/notesSlide" Target="../notesSlides/notesSlide44.xml"/><Relationship Id="rId1" Type="http://schemas.openxmlformats.org/officeDocument/2006/relationships/slideLayout" Target="../slideLayouts/slideLayout6.xml"/><Relationship Id="rId6" Type="http://schemas.openxmlformats.org/officeDocument/2006/relationships/image" Target="../media/image186.png"/><Relationship Id="rId11" Type="http://schemas.openxmlformats.org/officeDocument/2006/relationships/image" Target="../media/image192.png"/><Relationship Id="rId5" Type="http://schemas.openxmlformats.org/officeDocument/2006/relationships/image" Target="../media/image185.png"/><Relationship Id="rId10" Type="http://schemas.openxmlformats.org/officeDocument/2006/relationships/image" Target="../media/image191.png"/><Relationship Id="rId4" Type="http://schemas.openxmlformats.org/officeDocument/2006/relationships/image" Target="../media/image184.png"/><Relationship Id="rId9" Type="http://schemas.openxmlformats.org/officeDocument/2006/relationships/image" Target="../media/image190.png"/><Relationship Id="rId14" Type="http://schemas.openxmlformats.org/officeDocument/2006/relationships/image" Target="../media/image1350.png"/></Relationships>
</file>

<file path=ppt/slides/_rels/slide45.xml.rels><?xml version="1.0" encoding="UTF-8" standalone="yes"?>
<Relationships xmlns="http://schemas.openxmlformats.org/package/2006/relationships"><Relationship Id="rId8" Type="http://schemas.openxmlformats.org/officeDocument/2006/relationships/image" Target="../media/image197.png"/><Relationship Id="rId13" Type="http://schemas.openxmlformats.org/officeDocument/2006/relationships/image" Target="../media/image202.png"/><Relationship Id="rId18" Type="http://schemas.openxmlformats.org/officeDocument/2006/relationships/image" Target="../media/image207.png"/><Relationship Id="rId3" Type="http://schemas.openxmlformats.org/officeDocument/2006/relationships/image" Target="../media/image179.png"/><Relationship Id="rId21" Type="http://schemas.openxmlformats.org/officeDocument/2006/relationships/image" Target="../media/image136.png"/><Relationship Id="rId7" Type="http://schemas.openxmlformats.org/officeDocument/2006/relationships/image" Target="../media/image196.png"/><Relationship Id="rId12" Type="http://schemas.openxmlformats.org/officeDocument/2006/relationships/image" Target="../media/image201.png"/><Relationship Id="rId17" Type="http://schemas.openxmlformats.org/officeDocument/2006/relationships/image" Target="../media/image206.png"/><Relationship Id="rId2" Type="http://schemas.openxmlformats.org/officeDocument/2006/relationships/notesSlide" Target="../notesSlides/notesSlide45.xml"/><Relationship Id="rId16" Type="http://schemas.openxmlformats.org/officeDocument/2006/relationships/image" Target="../media/image205.png"/><Relationship Id="rId20" Type="http://schemas.openxmlformats.org/officeDocument/2006/relationships/image" Target="../media/image209.png"/><Relationship Id="rId1" Type="http://schemas.openxmlformats.org/officeDocument/2006/relationships/slideLayout" Target="../slideLayouts/slideLayout6.xml"/><Relationship Id="rId6" Type="http://schemas.openxmlformats.org/officeDocument/2006/relationships/image" Target="../media/image182.png"/><Relationship Id="rId11" Type="http://schemas.openxmlformats.org/officeDocument/2006/relationships/image" Target="../media/image200.png"/><Relationship Id="rId5" Type="http://schemas.openxmlformats.org/officeDocument/2006/relationships/image" Target="../media/image181.png"/><Relationship Id="rId15" Type="http://schemas.openxmlformats.org/officeDocument/2006/relationships/image" Target="../media/image204.png"/><Relationship Id="rId10" Type="http://schemas.openxmlformats.org/officeDocument/2006/relationships/image" Target="../media/image199.png"/><Relationship Id="rId19" Type="http://schemas.openxmlformats.org/officeDocument/2006/relationships/image" Target="../media/image208.png"/><Relationship Id="rId4" Type="http://schemas.openxmlformats.org/officeDocument/2006/relationships/image" Target="../media/image180.png"/><Relationship Id="rId9" Type="http://schemas.openxmlformats.org/officeDocument/2006/relationships/image" Target="../media/image198.png"/><Relationship Id="rId14" Type="http://schemas.openxmlformats.org/officeDocument/2006/relationships/image" Target="../media/image203.png"/></Relationships>
</file>

<file path=ppt/slides/_rels/slide46.xml.rels><?xml version="1.0" encoding="UTF-8" standalone="yes"?>
<Relationships xmlns="http://schemas.openxmlformats.org/package/2006/relationships"><Relationship Id="rId8" Type="http://schemas.openxmlformats.org/officeDocument/2006/relationships/image" Target="../media/image2080.png"/><Relationship Id="rId3" Type="http://schemas.openxmlformats.org/officeDocument/2006/relationships/image" Target="../media/image1750.png"/><Relationship Id="rId7" Type="http://schemas.openxmlformats.org/officeDocument/2006/relationships/image" Target="../media/image195.png"/><Relationship Id="rId2" Type="http://schemas.openxmlformats.org/officeDocument/2006/relationships/notesSlide" Target="../notesSlides/notesSlide46.xml"/><Relationship Id="rId1" Type="http://schemas.openxmlformats.org/officeDocument/2006/relationships/slideLayout" Target="../slideLayouts/slideLayout6.xml"/><Relationship Id="rId6" Type="http://schemas.openxmlformats.org/officeDocument/2006/relationships/image" Target="../media/image1771.png"/><Relationship Id="rId5" Type="http://schemas.openxmlformats.org/officeDocument/2006/relationships/image" Target="../media/image178.png"/><Relationship Id="rId4" Type="http://schemas.openxmlformats.org/officeDocument/2006/relationships/image" Target="../media/image177.png"/></Relationships>
</file>

<file path=ppt/slides/_rels/slide47.xml.rels><?xml version="1.0" encoding="UTF-8" standalone="yes"?>
<Relationships xmlns="http://schemas.openxmlformats.org/package/2006/relationships"><Relationship Id="rId8" Type="http://schemas.openxmlformats.org/officeDocument/2006/relationships/image" Target="../media/image214.png"/><Relationship Id="rId13" Type="http://schemas.openxmlformats.org/officeDocument/2006/relationships/image" Target="../media/image219.png"/><Relationship Id="rId3" Type="http://schemas.openxmlformats.org/officeDocument/2006/relationships/image" Target="../media/image2090.png"/><Relationship Id="rId7" Type="http://schemas.openxmlformats.org/officeDocument/2006/relationships/image" Target="../media/image213.png"/><Relationship Id="rId12" Type="http://schemas.openxmlformats.org/officeDocument/2006/relationships/image" Target="../media/image218.png"/><Relationship Id="rId2" Type="http://schemas.openxmlformats.org/officeDocument/2006/relationships/notesSlide" Target="../notesSlides/notesSlide47.xml"/><Relationship Id="rId1" Type="http://schemas.openxmlformats.org/officeDocument/2006/relationships/slideLayout" Target="../slideLayouts/slideLayout6.xml"/><Relationship Id="rId6" Type="http://schemas.openxmlformats.org/officeDocument/2006/relationships/image" Target="../media/image212.png"/><Relationship Id="rId11" Type="http://schemas.openxmlformats.org/officeDocument/2006/relationships/image" Target="../media/image217.png"/><Relationship Id="rId5" Type="http://schemas.openxmlformats.org/officeDocument/2006/relationships/image" Target="../media/image2110.png"/><Relationship Id="rId15" Type="http://schemas.openxmlformats.org/officeDocument/2006/relationships/image" Target="../media/image221.png"/><Relationship Id="rId10" Type="http://schemas.openxmlformats.org/officeDocument/2006/relationships/image" Target="../media/image216.png"/><Relationship Id="rId4" Type="http://schemas.openxmlformats.org/officeDocument/2006/relationships/image" Target="../media/image161.png"/><Relationship Id="rId9" Type="http://schemas.openxmlformats.org/officeDocument/2006/relationships/image" Target="../media/image215.png"/><Relationship Id="rId14" Type="http://schemas.openxmlformats.org/officeDocument/2006/relationships/image" Target="../media/image220.png"/></Relationships>
</file>

<file path=ppt/slides/_rels/slide48.xml.rels><?xml version="1.0" encoding="UTF-8" standalone="yes"?>
<Relationships xmlns="http://schemas.openxmlformats.org/package/2006/relationships"><Relationship Id="rId3" Type="http://schemas.openxmlformats.org/officeDocument/2006/relationships/image" Target="../media/image1611.png"/><Relationship Id="rId2" Type="http://schemas.openxmlformats.org/officeDocument/2006/relationships/notesSlide" Target="../notesSlides/notesSlide48.xml"/><Relationship Id="rId1" Type="http://schemas.openxmlformats.org/officeDocument/2006/relationships/slideLayout" Target="../slideLayouts/slideLayout6.xml"/><Relationship Id="rId5" Type="http://schemas.openxmlformats.org/officeDocument/2006/relationships/image" Target="../media/image224.png"/><Relationship Id="rId4" Type="http://schemas.openxmlformats.org/officeDocument/2006/relationships/image" Target="../media/image1300.png"/></Relationships>
</file>

<file path=ppt/slides/_rels/slide49.xml.rels><?xml version="1.0" encoding="UTF-8" standalone="yes"?>
<Relationships xmlns="http://schemas.openxmlformats.org/package/2006/relationships"><Relationship Id="rId8" Type="http://schemas.openxmlformats.org/officeDocument/2006/relationships/image" Target="../media/image176.png"/><Relationship Id="rId3" Type="http://schemas.openxmlformats.org/officeDocument/2006/relationships/image" Target="../media/image138.png"/><Relationship Id="rId7" Type="http://schemas.openxmlformats.org/officeDocument/2006/relationships/image" Target="../media/image174.png"/><Relationship Id="rId2" Type="http://schemas.openxmlformats.org/officeDocument/2006/relationships/notesSlide" Target="../notesSlides/notesSlide49.xml"/><Relationship Id="rId1" Type="http://schemas.openxmlformats.org/officeDocument/2006/relationships/slideLayout" Target="../slideLayouts/slideLayout6.xml"/><Relationship Id="rId6" Type="http://schemas.openxmlformats.org/officeDocument/2006/relationships/image" Target="../media/image163.png"/><Relationship Id="rId5" Type="http://schemas.openxmlformats.org/officeDocument/2006/relationships/image" Target="../media/image162.png"/><Relationship Id="rId4" Type="http://schemas.openxmlformats.org/officeDocument/2006/relationships/image" Target="../media/image211.png"/><Relationship Id="rId9" Type="http://schemas.openxmlformats.org/officeDocument/2006/relationships/image" Target="../media/image189.png"/></Relationships>
</file>

<file path=ppt/slides/_rels/slide50.xml.rels><?xml version="1.0" encoding="UTF-8" standalone="yes"?>
<Relationships xmlns="http://schemas.openxmlformats.org/package/2006/relationships"><Relationship Id="rId3" Type="http://schemas.openxmlformats.org/officeDocument/2006/relationships/image" Target="../media/image121.tiff"/><Relationship Id="rId2" Type="http://schemas.openxmlformats.org/officeDocument/2006/relationships/notesSlide" Target="../notesSlides/notesSlide50.xml"/><Relationship Id="rId1" Type="http://schemas.openxmlformats.org/officeDocument/2006/relationships/slideLayout" Target="../slideLayouts/slideLayout6.xml"/><Relationship Id="rId4" Type="http://schemas.openxmlformats.org/officeDocument/2006/relationships/image" Target="../media/image162.tiff"/></Relationships>
</file>

<file path=ppt/slides/_rels/slide51.xml.rels><?xml version="1.0" encoding="UTF-8" standalone="yes"?>
<Relationships xmlns="http://schemas.openxmlformats.org/package/2006/relationships"><Relationship Id="rId8" Type="http://schemas.openxmlformats.org/officeDocument/2006/relationships/image" Target="../media/image225.png"/><Relationship Id="rId13" Type="http://schemas.openxmlformats.org/officeDocument/2006/relationships/image" Target="../media/image1900.png"/><Relationship Id="rId3" Type="http://schemas.openxmlformats.org/officeDocument/2006/relationships/image" Target="../media/image210.png"/><Relationship Id="rId7" Type="http://schemas.openxmlformats.org/officeDocument/2006/relationships/image" Target="../media/image2112.png"/><Relationship Id="rId12" Type="http://schemas.openxmlformats.org/officeDocument/2006/relationships/image" Target="../media/image1880.png"/><Relationship Id="rId2" Type="http://schemas.openxmlformats.org/officeDocument/2006/relationships/notesSlide" Target="../notesSlides/notesSlide51.xml"/><Relationship Id="rId1" Type="http://schemas.openxmlformats.org/officeDocument/2006/relationships/slideLayout" Target="../slideLayouts/slideLayout6.xml"/><Relationship Id="rId11" Type="http://schemas.openxmlformats.org/officeDocument/2006/relationships/image" Target="../media/image1870.png"/><Relationship Id="rId15" Type="http://schemas.openxmlformats.org/officeDocument/2006/relationships/image" Target="../media/image227.png"/><Relationship Id="rId9" Type="http://schemas.openxmlformats.org/officeDocument/2006/relationships/image" Target="../media/image226.png"/><Relationship Id="rId14" Type="http://schemas.openxmlformats.org/officeDocument/2006/relationships/image" Target="../media/image1910.png"/></Relationships>
</file>

<file path=ppt/slides/_rels/slide52.xml.rels><?xml version="1.0" encoding="UTF-8" standalone="yes"?>
<Relationships xmlns="http://schemas.openxmlformats.org/package/2006/relationships"><Relationship Id="rId3" Type="http://schemas.openxmlformats.org/officeDocument/2006/relationships/image" Target="../media/image1630.png"/><Relationship Id="rId2" Type="http://schemas.openxmlformats.org/officeDocument/2006/relationships/notesSlide" Target="../notesSlides/notesSlide52.xml"/><Relationship Id="rId1" Type="http://schemas.openxmlformats.org/officeDocument/2006/relationships/slideLayout" Target="../slideLayouts/slideLayout6.xml"/><Relationship Id="rId4" Type="http://schemas.openxmlformats.org/officeDocument/2006/relationships/image" Target="../media/image222.png"/></Relationships>
</file>

<file path=ppt/slides/_rels/slide53.xml.rels><?xml version="1.0" encoding="UTF-8" standalone="yes"?>
<Relationships xmlns="http://schemas.openxmlformats.org/package/2006/relationships"><Relationship Id="rId8" Type="http://schemas.openxmlformats.org/officeDocument/2006/relationships/image" Target="../media/image1920.png"/><Relationship Id="rId3" Type="http://schemas.openxmlformats.org/officeDocument/2006/relationships/image" Target="../media/image2260.png"/><Relationship Id="rId7" Type="http://schemas.openxmlformats.org/officeDocument/2006/relationships/image" Target="../media/image1760.png"/><Relationship Id="rId2" Type="http://schemas.openxmlformats.org/officeDocument/2006/relationships/notesSlide" Target="../notesSlides/notesSlide53.xml"/><Relationship Id="rId1" Type="http://schemas.openxmlformats.org/officeDocument/2006/relationships/slideLayout" Target="../slideLayouts/slideLayout6.xml"/><Relationship Id="rId6" Type="http://schemas.openxmlformats.org/officeDocument/2006/relationships/image" Target="../media/image228.png"/><Relationship Id="rId5" Type="http://schemas.openxmlformats.org/officeDocument/2006/relationships/image" Target="../media/image1950.png"/><Relationship Id="rId9" Type="http://schemas.openxmlformats.org/officeDocument/2006/relationships/image" Target="../media/image1620.png"/></Relationships>
</file>

<file path=ppt/slides/_rels/slide54.xml.rels><?xml version="1.0" encoding="UTF-8" standalone="yes"?>
<Relationships xmlns="http://schemas.openxmlformats.org/package/2006/relationships"><Relationship Id="rId3" Type="http://schemas.openxmlformats.org/officeDocument/2006/relationships/image" Target="../media/image1890.png"/><Relationship Id="rId2" Type="http://schemas.openxmlformats.org/officeDocument/2006/relationships/notesSlide" Target="../notesSlides/notesSlide54.xml"/><Relationship Id="rId1" Type="http://schemas.openxmlformats.org/officeDocument/2006/relationships/slideLayout" Target="../slideLayouts/slideLayout6.xml"/><Relationship Id="rId5" Type="http://schemas.openxmlformats.org/officeDocument/2006/relationships/image" Target="../media/image232.png"/><Relationship Id="rId4" Type="http://schemas.openxmlformats.org/officeDocument/2006/relationships/image" Target="../media/image1381.png"/></Relationships>
</file>

<file path=ppt/slides/_rels/slide55.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notesSlide" Target="../notesSlides/notesSlide55.xml"/><Relationship Id="rId1" Type="http://schemas.openxmlformats.org/officeDocument/2006/relationships/slideLayout" Target="../slideLayouts/slideLayout6.xml"/><Relationship Id="rId4" Type="http://schemas.openxmlformats.org/officeDocument/2006/relationships/image" Target="../media/image2320.png"/></Relationships>
</file>

<file path=ppt/slides/_rels/slide56.xml.rels><?xml version="1.0" encoding="UTF-8" standalone="yes"?>
<Relationships xmlns="http://schemas.openxmlformats.org/package/2006/relationships"><Relationship Id="rId3" Type="http://schemas.openxmlformats.org/officeDocument/2006/relationships/image" Target="../media/image163.tiff"/><Relationship Id="rId2" Type="http://schemas.openxmlformats.org/officeDocument/2006/relationships/notesSlide" Target="../notesSlides/notesSlide56.xml"/><Relationship Id="rId1" Type="http://schemas.openxmlformats.org/officeDocument/2006/relationships/slideLayout" Target="../slideLayouts/slideLayout6.xml"/><Relationship Id="rId4" Type="http://schemas.openxmlformats.org/officeDocument/2006/relationships/image" Target="../media/image164.tiff"/></Relationships>
</file>

<file path=ppt/slides/_rels/slide57.xml.rels><?xml version="1.0" encoding="UTF-8" standalone="yes"?>
<Relationships xmlns="http://schemas.openxmlformats.org/package/2006/relationships"><Relationship Id="rId3" Type="http://schemas.openxmlformats.org/officeDocument/2006/relationships/image" Target="../media/image2340.png"/><Relationship Id="rId2" Type="http://schemas.openxmlformats.org/officeDocument/2006/relationships/notesSlide" Target="../notesSlides/notesSlide57.xml"/><Relationship Id="rId1" Type="http://schemas.openxmlformats.org/officeDocument/2006/relationships/slideLayout" Target="../slideLayouts/slideLayout6.xml"/><Relationship Id="rId4" Type="http://schemas.openxmlformats.org/officeDocument/2006/relationships/image" Target="../media/image2100.png"/></Relationships>
</file>

<file path=ppt/slides/_rels/slide58.xml.rels><?xml version="1.0" encoding="UTF-8" standalone="yes"?>
<Relationships xmlns="http://schemas.openxmlformats.org/package/2006/relationships"><Relationship Id="rId3" Type="http://schemas.openxmlformats.org/officeDocument/2006/relationships/image" Target="../media/image2370.png"/><Relationship Id="rId2" Type="http://schemas.openxmlformats.org/officeDocument/2006/relationships/notesSlide" Target="../notesSlides/notesSlide58.xml"/><Relationship Id="rId1" Type="http://schemas.openxmlformats.org/officeDocument/2006/relationships/slideLayout" Target="../slideLayouts/slideLayout6.xml"/><Relationship Id="rId4" Type="http://schemas.openxmlformats.org/officeDocument/2006/relationships/image" Target="../media/image2220.png"/></Relationships>
</file>

<file path=ppt/slides/_rels/slide59.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notesSlide" Target="../notesSlides/notesSlide59.xml"/><Relationship Id="rId1" Type="http://schemas.openxmlformats.org/officeDocument/2006/relationships/slideLayout" Target="../slideLayouts/slideLayout6.xml"/><Relationship Id="rId6" Type="http://schemas.openxmlformats.org/officeDocument/2006/relationships/image" Target="../media/image165.tiff"/><Relationship Id="rId5" Type="http://schemas.openxmlformats.org/officeDocument/2006/relationships/image" Target="../media/image239.png"/><Relationship Id="rId4" Type="http://schemas.openxmlformats.org/officeDocument/2006/relationships/image" Target="../media/image2371.png"/></Relationships>
</file>

<file path=ppt/slides/_rels/slide60.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2410.png"/><Relationship Id="rId2" Type="http://schemas.openxmlformats.org/officeDocument/2006/relationships/notesSlide" Target="../notesSlides/notesSlide62.xml"/><Relationship Id="rId1" Type="http://schemas.openxmlformats.org/officeDocument/2006/relationships/slideLayout" Target="../slideLayouts/slideLayout6.xml"/><Relationship Id="rId6" Type="http://schemas.openxmlformats.org/officeDocument/2006/relationships/image" Target="../media/image231.png"/><Relationship Id="rId5" Type="http://schemas.openxmlformats.org/officeDocument/2006/relationships/image" Target="../media/image243.png"/><Relationship Id="rId4" Type="http://schemas.openxmlformats.org/officeDocument/2006/relationships/image" Target="../media/image242.png"/></Relationships>
</file>

<file path=ppt/slides/_rels/slide63.xml.rels><?xml version="1.0" encoding="UTF-8" standalone="yes"?>
<Relationships xmlns="http://schemas.openxmlformats.org/package/2006/relationships"><Relationship Id="rId3" Type="http://schemas.openxmlformats.org/officeDocument/2006/relationships/image" Target="../media/image166.tiff"/><Relationship Id="rId2" Type="http://schemas.openxmlformats.org/officeDocument/2006/relationships/notesSlide" Target="../notesSlides/notesSlide63.xml"/><Relationship Id="rId1" Type="http://schemas.openxmlformats.org/officeDocument/2006/relationships/slideLayout" Target="../slideLayouts/slideLayout6.xml"/><Relationship Id="rId4" Type="http://schemas.openxmlformats.org/officeDocument/2006/relationships/image" Target="../media/image167.tiff"/></Relationships>
</file>

<file path=ppt/slides/_rels/slide64.xml.rels><?xml version="1.0" encoding="UTF-8" standalone="yes"?>
<Relationships xmlns="http://schemas.openxmlformats.org/package/2006/relationships"><Relationship Id="rId3" Type="http://schemas.openxmlformats.org/officeDocument/2006/relationships/image" Target="../media/image168.emf"/><Relationship Id="rId2" Type="http://schemas.openxmlformats.org/officeDocument/2006/relationships/notesSlide" Target="../notesSlides/notesSlide64.xml"/><Relationship Id="rId1" Type="http://schemas.openxmlformats.org/officeDocument/2006/relationships/slideLayout" Target="../slideLayouts/slideLayout6.xml"/><Relationship Id="rId6" Type="http://schemas.openxmlformats.org/officeDocument/2006/relationships/image" Target="../media/image350.png"/><Relationship Id="rId4" Type="http://schemas.openxmlformats.org/officeDocument/2006/relationships/image" Target="../media/image223.png"/></Relationships>
</file>

<file path=ppt/slides/_rels/slide65.xml.rels><?xml version="1.0" encoding="UTF-8" standalone="yes"?>
<Relationships xmlns="http://schemas.openxmlformats.org/package/2006/relationships"><Relationship Id="rId8" Type="http://schemas.microsoft.com/office/2007/relationships/diagramDrawing" Target="../diagrams/drawing6.xml"/><Relationship Id="rId18" Type="http://schemas.openxmlformats.org/officeDocument/2006/relationships/image" Target="../media/image2460.png"/><Relationship Id="rId3" Type="http://schemas.openxmlformats.org/officeDocument/2006/relationships/image" Target="../media/image235.png"/><Relationship Id="rId7" Type="http://schemas.openxmlformats.org/officeDocument/2006/relationships/diagramColors" Target="../diagrams/colors6.xml"/><Relationship Id="rId12" Type="http://schemas.openxmlformats.org/officeDocument/2006/relationships/diagramColors" Target="../diagrams/colors6.xml"/><Relationship Id="rId17" Type="http://schemas.openxmlformats.org/officeDocument/2006/relationships/image" Target="../media/image234.png"/><Relationship Id="rId2" Type="http://schemas.openxmlformats.org/officeDocument/2006/relationships/notesSlide" Target="../notesSlides/notesSlide65.xml"/><Relationship Id="rId16" Type="http://schemas.openxmlformats.org/officeDocument/2006/relationships/image" Target="../media/image237.png"/><Relationship Id="rId1" Type="http://schemas.openxmlformats.org/officeDocument/2006/relationships/slideLayout" Target="../slideLayouts/slideLayout6.xml"/><Relationship Id="rId6" Type="http://schemas.openxmlformats.org/officeDocument/2006/relationships/diagramQuickStyle" Target="../diagrams/quickStyle6.xml"/><Relationship Id="rId11" Type="http://schemas.openxmlformats.org/officeDocument/2006/relationships/diagramQuickStyle" Target="../diagrams/quickStyle6.xml"/><Relationship Id="rId5" Type="http://schemas.openxmlformats.org/officeDocument/2006/relationships/diagramLayout" Target="../diagrams/layout6.xml"/><Relationship Id="rId15" Type="http://schemas.openxmlformats.org/officeDocument/2006/relationships/image" Target="NULL"/><Relationship Id="rId10" Type="http://schemas.openxmlformats.org/officeDocument/2006/relationships/diagramLayout" Target="../diagrams/layout6.xml"/><Relationship Id="rId4" Type="http://schemas.openxmlformats.org/officeDocument/2006/relationships/diagramData" Target="../diagrams/data7.xml"/><Relationship Id="rId9" Type="http://schemas.openxmlformats.org/officeDocument/2006/relationships/diagramData" Target="../diagrams/data8.xml"/></Relationships>
</file>

<file path=ppt/slides/_rels/slide6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6.xml"/><Relationship Id="rId1" Type="http://schemas.openxmlformats.org/officeDocument/2006/relationships/slideLayout" Target="../slideLayouts/slideLayout7.xml"/><Relationship Id="rId5" Type="http://schemas.openxmlformats.org/officeDocument/2006/relationships/image" Target="../media/image236.tiff"/><Relationship Id="rId4" Type="http://schemas.openxmlformats.org/officeDocument/2006/relationships/image" Target="../media/image235.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p:txBody>
          <a:bodyPr/>
          <a:lstStyle/>
          <a:p>
            <a:fld id="{591A223C-FA10-BC46-A853-03BA373D023C}" type="slidenum">
              <a:rPr lang="en-US" smtClean="0"/>
              <a:t>1</a:t>
            </a:fld>
            <a:endParaRPr lang="en-US"/>
          </a:p>
        </p:txBody>
      </p:sp>
      <p:sp>
        <p:nvSpPr>
          <p:cNvPr id="4" name="TextBox 3">
            <a:extLst>
              <a:ext uri="{FF2B5EF4-FFF2-40B4-BE49-F238E27FC236}">
                <a16:creationId xmlns:a16="http://schemas.microsoft.com/office/drawing/2014/main" id="{472519DD-9FFE-0047-9453-5A2889BD2B59}"/>
              </a:ext>
            </a:extLst>
          </p:cNvPr>
          <p:cNvSpPr txBox="1"/>
          <p:nvPr/>
        </p:nvSpPr>
        <p:spPr>
          <a:xfrm>
            <a:off x="0" y="678897"/>
            <a:ext cx="12191999" cy="1323439"/>
          </a:xfrm>
          <a:prstGeom prst="rect">
            <a:avLst/>
          </a:prstGeom>
          <a:noFill/>
        </p:spPr>
        <p:txBody>
          <a:bodyPr wrap="square" rtlCol="0">
            <a:spAutoFit/>
          </a:bodyPr>
          <a:lstStyle/>
          <a:p>
            <a:pPr algn="ctr"/>
            <a:r>
              <a:rPr lang="en-US" sz="8000" b="1" dirty="0">
                <a:solidFill>
                  <a:schemeClr val="bg1"/>
                </a:solidFill>
              </a:rPr>
              <a:t>Quantum Computing</a:t>
            </a:r>
          </a:p>
        </p:txBody>
      </p:sp>
      <p:sp>
        <p:nvSpPr>
          <p:cNvPr id="7" name="TextBox 6">
            <a:extLst>
              <a:ext uri="{FF2B5EF4-FFF2-40B4-BE49-F238E27FC236}">
                <a16:creationId xmlns:a16="http://schemas.microsoft.com/office/drawing/2014/main" id="{A0F6B325-DEAC-4545-AAF3-69D416F3EC54}"/>
              </a:ext>
            </a:extLst>
          </p:cNvPr>
          <p:cNvSpPr txBox="1"/>
          <p:nvPr/>
        </p:nvSpPr>
        <p:spPr>
          <a:xfrm>
            <a:off x="0" y="2749694"/>
            <a:ext cx="12192000" cy="1015663"/>
          </a:xfrm>
          <a:prstGeom prst="rect">
            <a:avLst/>
          </a:prstGeom>
          <a:noFill/>
        </p:spPr>
        <p:txBody>
          <a:bodyPr wrap="square" rtlCol="0">
            <a:spAutoFit/>
          </a:bodyPr>
          <a:lstStyle/>
          <a:p>
            <a:pPr algn="ctr"/>
            <a:r>
              <a:rPr lang="en-US" sz="6000" b="1" dirty="0">
                <a:solidFill>
                  <a:schemeClr val="bg1"/>
                </a:solidFill>
              </a:rPr>
              <a:t>2</a:t>
            </a:r>
            <a:r>
              <a:rPr lang="en-US" sz="6000" b="1">
                <a:solidFill>
                  <a:schemeClr val="bg1"/>
                </a:solidFill>
              </a:rPr>
              <a:t>. </a:t>
            </a:r>
            <a:r>
              <a:rPr lang="en-US" sz="6000" b="1" dirty="0">
                <a:solidFill>
                  <a:schemeClr val="bg1"/>
                </a:solidFill>
              </a:rPr>
              <a:t>Mathematical foundations</a:t>
            </a:r>
          </a:p>
        </p:txBody>
      </p:sp>
      <p:sp>
        <p:nvSpPr>
          <p:cNvPr id="8" name="TextBox 7">
            <a:extLst>
              <a:ext uri="{FF2B5EF4-FFF2-40B4-BE49-F238E27FC236}">
                <a16:creationId xmlns:a16="http://schemas.microsoft.com/office/drawing/2014/main" id="{AB41FD1A-2293-E840-AFD6-E0F4B184DB34}"/>
              </a:ext>
            </a:extLst>
          </p:cNvPr>
          <p:cNvSpPr txBox="1"/>
          <p:nvPr/>
        </p:nvSpPr>
        <p:spPr>
          <a:xfrm>
            <a:off x="7780217" y="5528379"/>
            <a:ext cx="3863365" cy="830997"/>
          </a:xfrm>
          <a:prstGeom prst="rect">
            <a:avLst/>
          </a:prstGeom>
          <a:noFill/>
        </p:spPr>
        <p:txBody>
          <a:bodyPr wrap="none" rtlCol="0">
            <a:spAutoFit/>
          </a:bodyPr>
          <a:lstStyle/>
          <a:p>
            <a:r>
              <a:rPr lang="en-US" sz="2400" dirty="0">
                <a:solidFill>
                  <a:schemeClr val="bg1"/>
                </a:solidFill>
              </a:rPr>
              <a:t>Prof. Aleksandar Radovanovic</a:t>
            </a:r>
          </a:p>
          <a:p>
            <a:pPr algn="ctr"/>
            <a:r>
              <a:rPr lang="en-US" sz="2400" dirty="0" err="1">
                <a:solidFill>
                  <a:schemeClr val="bg1"/>
                </a:solidFill>
              </a:rPr>
              <a:t>aradovanovic@uwc.ac.za</a:t>
            </a:r>
            <a:endParaRPr lang="en-US" sz="2400" dirty="0">
              <a:solidFill>
                <a:schemeClr val="bg1"/>
              </a:solidFill>
            </a:endParaRPr>
          </a:p>
        </p:txBody>
      </p:sp>
    </p:spTree>
    <p:extLst>
      <p:ext uri="{BB962C8B-B14F-4D97-AF65-F5344CB8AC3E}">
        <p14:creationId xmlns:p14="http://schemas.microsoft.com/office/powerpoint/2010/main" val="89196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D799C-621D-AA4C-9AC3-1567F54CED28}"/>
              </a:ext>
            </a:extLst>
          </p:cNvPr>
          <p:cNvSpPr>
            <a:spLocks noGrp="1"/>
          </p:cNvSpPr>
          <p:nvPr>
            <p:ph type="title"/>
          </p:nvPr>
        </p:nvSpPr>
        <p:spPr>
          <a:xfrm>
            <a:off x="0" y="0"/>
            <a:ext cx="12192000" cy="928688"/>
          </a:xfrm>
        </p:spPr>
        <p:txBody>
          <a:bodyPr/>
          <a:lstStyle/>
          <a:p>
            <a:r>
              <a:rPr lang="en-US" dirty="0"/>
              <a:t>Content</a:t>
            </a:r>
          </a:p>
        </p:txBody>
      </p:sp>
      <p:sp>
        <p:nvSpPr>
          <p:cNvPr id="3" name="Slide Number Placeholder 2">
            <a:extLst>
              <a:ext uri="{FF2B5EF4-FFF2-40B4-BE49-F238E27FC236}">
                <a16:creationId xmlns:a16="http://schemas.microsoft.com/office/drawing/2014/main" id="{C3FFDDE0-E3DC-1E4F-AD15-506AC45B6E04}"/>
              </a:ext>
            </a:extLst>
          </p:cNvPr>
          <p:cNvSpPr>
            <a:spLocks noGrp="1"/>
          </p:cNvSpPr>
          <p:nvPr>
            <p:ph type="sldNum" sz="quarter" idx="12"/>
          </p:nvPr>
        </p:nvSpPr>
        <p:spPr/>
        <p:txBody>
          <a:bodyPr/>
          <a:lstStyle/>
          <a:p>
            <a:fld id="{591A223C-FA10-BC46-A853-03BA373D023C}" type="slidenum">
              <a:rPr lang="en-US" smtClean="0"/>
              <a:t>2</a:t>
            </a:fld>
            <a:endParaRPr lang="en-US"/>
          </a:p>
        </p:txBody>
      </p:sp>
      <p:graphicFrame>
        <p:nvGraphicFramePr>
          <p:cNvPr id="4" name="Diagram 3">
            <a:extLst>
              <a:ext uri="{FF2B5EF4-FFF2-40B4-BE49-F238E27FC236}">
                <a16:creationId xmlns:a16="http://schemas.microsoft.com/office/drawing/2014/main" id="{37C4B7A9-8F45-DF4B-9A40-04AF52AA7E30}"/>
              </a:ext>
            </a:extLst>
          </p:cNvPr>
          <p:cNvGraphicFramePr/>
          <p:nvPr>
            <p:extLst>
              <p:ext uri="{D42A27DB-BD31-4B8C-83A1-F6EECF244321}">
                <p14:modId xmlns:p14="http://schemas.microsoft.com/office/powerpoint/2010/main" val="3859100799"/>
              </p:ext>
            </p:extLst>
          </p:nvPr>
        </p:nvGraphicFramePr>
        <p:xfrm>
          <a:off x="355600" y="1074208"/>
          <a:ext cx="11633199"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633010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399D833-5D8C-474B-BF8C-B775B13FD27B}"/>
              </a:ext>
            </a:extLst>
          </p:cNvPr>
          <p:cNvSpPr/>
          <p:nvPr/>
        </p:nvSpPr>
        <p:spPr>
          <a:xfrm>
            <a:off x="7051485" y="3333658"/>
            <a:ext cx="1185694" cy="864872"/>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2D0739-EDD1-1549-8DFA-CB4F40D297A1}"/>
              </a:ext>
            </a:extLst>
          </p:cNvPr>
          <p:cNvSpPr>
            <a:spLocks noGrp="1"/>
          </p:cNvSpPr>
          <p:nvPr>
            <p:ph type="title"/>
          </p:nvPr>
        </p:nvSpPr>
        <p:spPr>
          <a:xfrm>
            <a:off x="0" y="0"/>
            <a:ext cx="12192000" cy="928688"/>
          </a:xfrm>
        </p:spPr>
        <p:txBody>
          <a:bodyPr/>
          <a:lstStyle/>
          <a:p>
            <a:r>
              <a:rPr lang="en-ZA" dirty="0"/>
              <a:t>Model of Quantum Computation</a:t>
            </a:r>
            <a:endParaRPr lang="en-US" dirty="0"/>
          </a:p>
        </p:txBody>
      </p:sp>
      <p:graphicFrame>
        <p:nvGraphicFramePr>
          <p:cNvPr id="13" name="Diagram 12">
            <a:extLst>
              <a:ext uri="{FF2B5EF4-FFF2-40B4-BE49-F238E27FC236}">
                <a16:creationId xmlns:a16="http://schemas.microsoft.com/office/drawing/2014/main" id="{10EB9623-501D-7A45-8A8E-6BA01D731007}"/>
              </a:ext>
            </a:extLst>
          </p:cNvPr>
          <p:cNvGraphicFramePr/>
          <p:nvPr>
            <p:extLst/>
          </p:nvPr>
        </p:nvGraphicFramePr>
        <p:xfrm>
          <a:off x="334148" y="1141204"/>
          <a:ext cx="6229350" cy="53006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F06C10DC-9ED4-A04B-8EE7-254939B7DE04}"/>
                  </a:ext>
                </a:extLst>
              </p:cNvPr>
              <p:cNvSpPr txBox="1"/>
              <p:nvPr/>
            </p:nvSpPr>
            <p:spPr>
              <a:xfrm>
                <a:off x="6992991" y="3392826"/>
                <a:ext cx="2639632" cy="73385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500" i="1" smtClean="0">
                              <a:latin typeface="Cambria Math" panose="02040503050406030204" pitchFamily="18" charset="0"/>
                              <a:ea typeface="Cambria Math" panose="02040503050406030204" pitchFamily="18" charset="0"/>
                            </a:rPr>
                          </m:ctrlPr>
                        </m:dPr>
                        <m:e>
                          <m:m>
                            <m:mPr>
                              <m:plcHide m:val="on"/>
                              <m:mcs>
                                <m:mc>
                                  <m:mcPr>
                                    <m:count m:val="2"/>
                                    <m:mcJc m:val="center"/>
                                  </m:mcPr>
                                </m:mc>
                              </m:mcs>
                              <m:ctrlPr>
                                <a:rPr lang="en-US" sz="2500" i="1">
                                  <a:latin typeface="Cambria Math" panose="02040503050406030204" pitchFamily="18" charset="0"/>
                                  <a:ea typeface="Cambria Math" panose="02040503050406030204" pitchFamily="18" charset="0"/>
                                </a:rPr>
                              </m:ctrlPr>
                            </m:mPr>
                            <m:mr>
                              <m:e>
                                <m:r>
                                  <a:rPr lang="en-US" sz="2500">
                                    <a:latin typeface="Cambria Math" panose="02040503050406030204" pitchFamily="18" charset="0"/>
                                    <a:ea typeface="Cambria Math" panose="02040503050406030204" pitchFamily="18" charset="0"/>
                                  </a:rPr>
                                  <m:t>0</m:t>
                                </m:r>
                              </m:e>
                              <m:e>
                                <m:r>
                                  <a:rPr lang="en-US" sz="2500">
                                    <a:latin typeface="Cambria Math" panose="02040503050406030204" pitchFamily="18" charset="0"/>
                                    <a:ea typeface="Cambria Math" panose="02040503050406030204" pitchFamily="18" charset="0"/>
                                  </a:rPr>
                                  <m:t>1</m:t>
                                </m:r>
                              </m:e>
                            </m:mr>
                            <m:mr>
                              <m:e>
                                <m:r>
                                  <a:rPr lang="en-US" sz="2500">
                                    <a:latin typeface="Cambria Math" panose="02040503050406030204" pitchFamily="18" charset="0"/>
                                    <a:ea typeface="Cambria Math" panose="02040503050406030204" pitchFamily="18" charset="0"/>
                                  </a:rPr>
                                  <m:t>1</m:t>
                                </m:r>
                              </m:e>
                              <m:e>
                                <m:r>
                                  <a:rPr lang="en-US" sz="2500">
                                    <a:latin typeface="Cambria Math" panose="02040503050406030204" pitchFamily="18" charset="0"/>
                                    <a:ea typeface="Cambria Math" panose="02040503050406030204" pitchFamily="18" charset="0"/>
                                  </a:rPr>
                                  <m:t>0</m:t>
                                </m:r>
                              </m:e>
                            </m:mr>
                          </m:m>
                        </m:e>
                      </m:d>
                      <m:r>
                        <a:rPr lang="en-US" sz="2500" b="0" i="1" smtClean="0">
                          <a:latin typeface="Cambria Math" panose="02040503050406030204" pitchFamily="18" charset="0"/>
                          <a:ea typeface="Cambria Math" panose="02040503050406030204" pitchFamily="18" charset="0"/>
                        </a:rPr>
                        <m:t> </m:t>
                      </m:r>
                      <m:d>
                        <m:dPr>
                          <m:ctrlPr>
                            <a:rPr lang="en-US" sz="2500" i="1">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sz="2500" i="1">
                                  <a:latin typeface="Cambria Math" panose="02040503050406030204" pitchFamily="18" charset="0"/>
                                  <a:ea typeface="Cambria Math" panose="02040503050406030204" pitchFamily="18" charset="0"/>
                                </a:rPr>
                              </m:ctrlPr>
                            </m:mPr>
                            <m:mr>
                              <m:e>
                                <m:r>
                                  <a:rPr lang="en-US" sz="2500" b="0" i="0" smtClean="0">
                                    <a:latin typeface="Cambria Math" panose="02040503050406030204" pitchFamily="18" charset="0"/>
                                    <a:ea typeface="Cambria Math" panose="02040503050406030204" pitchFamily="18" charset="0"/>
                                  </a:rPr>
                                  <m:t>0.9808</m:t>
                                </m:r>
                              </m:e>
                            </m:mr>
                            <m:mr>
                              <m:e>
                                <m:r>
                                  <a:rPr lang="en-US" sz="2500">
                                    <a:latin typeface="Cambria Math" panose="02040503050406030204" pitchFamily="18" charset="0"/>
                                    <a:ea typeface="Cambria Math" panose="02040503050406030204" pitchFamily="18" charset="0"/>
                                  </a:rPr>
                                  <m:t>0</m:t>
                                </m:r>
                                <m:r>
                                  <a:rPr lang="en-US" sz="2500" b="0" i="0" smtClean="0">
                                    <a:latin typeface="Cambria Math" panose="02040503050406030204" pitchFamily="18" charset="0"/>
                                    <a:ea typeface="Cambria Math" panose="02040503050406030204" pitchFamily="18" charset="0"/>
                                  </a:rPr>
                                  <m:t>.1951</m:t>
                                </m:r>
                              </m:e>
                            </m:mr>
                          </m:m>
                        </m:e>
                      </m:d>
                    </m:oMath>
                  </m:oMathPara>
                </a14:m>
                <a:endParaRPr lang="en-US" sz="2500" dirty="0">
                  <a:latin typeface="Cambria Math" panose="02040503050406030204" pitchFamily="18" charset="0"/>
                  <a:ea typeface="Cambria Math" panose="02040503050406030204" pitchFamily="18" charset="0"/>
                </a:endParaRPr>
              </a:p>
            </p:txBody>
          </p:sp>
        </mc:Choice>
        <mc:Fallback xmlns="">
          <p:sp>
            <p:nvSpPr>
              <p:cNvPr id="14" name="TextBox 13">
                <a:extLst>
                  <a:ext uri="{FF2B5EF4-FFF2-40B4-BE49-F238E27FC236}">
                    <a16:creationId xmlns:a16="http://schemas.microsoft.com/office/drawing/2014/main" id="{F06C10DC-9ED4-A04B-8EE7-254939B7DE04}"/>
                  </a:ext>
                </a:extLst>
              </p:cNvPr>
              <p:cNvSpPr txBox="1">
                <a:spLocks noRot="1" noChangeAspect="1" noMove="1" noResize="1" noEditPoints="1" noAdjustHandles="1" noChangeArrowheads="1" noChangeShapeType="1" noTextEdit="1"/>
              </p:cNvSpPr>
              <p:nvPr/>
            </p:nvSpPr>
            <p:spPr>
              <a:xfrm>
                <a:off x="6992991" y="3392826"/>
                <a:ext cx="2639632" cy="733855"/>
              </a:xfrm>
              <a:prstGeom prst="rect">
                <a:avLst/>
              </a:prstGeom>
              <a:blipFill>
                <a:blip r:embed="rId9"/>
                <a:stretch>
                  <a:fillRect b="-67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A69AB2F-EAB2-5F41-A45D-5012876B2FC9}"/>
                  </a:ext>
                </a:extLst>
              </p:cNvPr>
              <p:cNvSpPr txBox="1"/>
              <p:nvPr/>
            </p:nvSpPr>
            <p:spPr>
              <a:xfrm>
                <a:off x="8022622" y="1209620"/>
                <a:ext cx="1526508" cy="73385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ctrlPr>
                            <a:rPr lang="en-US" sz="2500" i="1">
                              <a:latin typeface="Cambria Math" panose="02040503050406030204" pitchFamily="18" charset="0"/>
                              <a:ea typeface="Cambria Math" panose="02040503050406030204" pitchFamily="18" charset="0"/>
                            </a:rPr>
                          </m:ctrlPr>
                        </m:dPr>
                        <m:e>
                          <m:m>
                            <m:mPr>
                              <m:plcHide m:val="on"/>
                              <m:mcs>
                                <m:mc>
                                  <m:mcPr>
                                    <m:count m:val="1"/>
                                    <m:mcJc m:val="center"/>
                                  </m:mcPr>
                                </m:mc>
                              </m:mcs>
                              <m:ctrlPr>
                                <a:rPr lang="en-US" sz="2500" i="1">
                                  <a:latin typeface="Cambria Math" panose="02040503050406030204" pitchFamily="18" charset="0"/>
                                  <a:ea typeface="Cambria Math" panose="02040503050406030204" pitchFamily="18" charset="0"/>
                                </a:rPr>
                              </m:ctrlPr>
                            </m:mPr>
                            <m:mr>
                              <m:e>
                                <m:r>
                                  <a:rPr lang="en-US" sz="2500">
                                    <a:latin typeface="Cambria Math" panose="02040503050406030204" pitchFamily="18" charset="0"/>
                                    <a:ea typeface="Cambria Math" panose="02040503050406030204" pitchFamily="18" charset="0"/>
                                  </a:rPr>
                                  <m:t>0.9808</m:t>
                                </m:r>
                              </m:e>
                            </m:mr>
                            <m:mr>
                              <m:e>
                                <m:r>
                                  <a:rPr lang="en-US" sz="2500">
                                    <a:latin typeface="Cambria Math" panose="02040503050406030204" pitchFamily="18" charset="0"/>
                                    <a:ea typeface="Cambria Math" panose="02040503050406030204" pitchFamily="18" charset="0"/>
                                  </a:rPr>
                                  <m:t>0.1951</m:t>
                                </m:r>
                              </m:e>
                            </m:mr>
                          </m:m>
                        </m:e>
                      </m:d>
                    </m:oMath>
                  </m:oMathPara>
                </a14:m>
                <a:endParaRPr lang="en-US" sz="2500" dirty="0"/>
              </a:p>
            </p:txBody>
          </p:sp>
        </mc:Choice>
        <mc:Fallback xmlns="">
          <p:sp>
            <p:nvSpPr>
              <p:cNvPr id="15" name="TextBox 14">
                <a:extLst>
                  <a:ext uri="{FF2B5EF4-FFF2-40B4-BE49-F238E27FC236}">
                    <a16:creationId xmlns:a16="http://schemas.microsoft.com/office/drawing/2014/main" id="{DA69AB2F-EAB2-5F41-A45D-5012876B2FC9}"/>
                  </a:ext>
                </a:extLst>
              </p:cNvPr>
              <p:cNvSpPr txBox="1">
                <a:spLocks noRot="1" noChangeAspect="1" noMove="1" noResize="1" noEditPoints="1" noAdjustHandles="1" noChangeArrowheads="1" noChangeShapeType="1" noTextEdit="1"/>
              </p:cNvSpPr>
              <p:nvPr/>
            </p:nvSpPr>
            <p:spPr>
              <a:xfrm>
                <a:off x="8022622" y="1209620"/>
                <a:ext cx="1526508" cy="733855"/>
              </a:xfrm>
              <a:prstGeom prst="rect">
                <a:avLst/>
              </a:prstGeom>
              <a:blipFill>
                <a:blip r:embed="rId10"/>
                <a:stretch>
                  <a:fillRect b="-678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C3C3807-0723-8E42-A7B0-2D62DE9DF039}"/>
                  </a:ext>
                </a:extLst>
              </p:cNvPr>
              <p:cNvSpPr txBox="1"/>
              <p:nvPr/>
            </p:nvSpPr>
            <p:spPr>
              <a:xfrm>
                <a:off x="8093050" y="2249545"/>
                <a:ext cx="1597040" cy="733855"/>
              </a:xfrm>
              <a:prstGeom prst="rect">
                <a:avLst/>
              </a:prstGeom>
              <a:noFill/>
            </p:spPr>
            <p:txBody>
              <a:bodyPr wrap="none" rtlCol="0">
                <a:spAutoFit/>
              </a:bodyPr>
              <a:lstStyle/>
              <a:p>
                <a:r>
                  <a:rPr lang="en-US" sz="2500" dirty="0">
                    <a:latin typeface="Cambria Math" panose="02040503050406030204" pitchFamily="18" charset="0"/>
                    <a:ea typeface="Cambria Math" panose="02040503050406030204" pitchFamily="18" charset="0"/>
                  </a:rPr>
                  <a:t>X=</a:t>
                </a:r>
                <a14:m>
                  <m:oMath xmlns:m="http://schemas.openxmlformats.org/officeDocument/2006/math">
                    <m:d>
                      <m:dPr>
                        <m:ctrlPr>
                          <a:rPr lang="en-US" sz="2500" i="1">
                            <a:latin typeface="Cambria Math" panose="02040503050406030204" pitchFamily="18" charset="0"/>
                            <a:ea typeface="Cambria Math" panose="02040503050406030204" pitchFamily="18" charset="0"/>
                          </a:rPr>
                        </m:ctrlPr>
                      </m:dPr>
                      <m:e>
                        <m:m>
                          <m:mPr>
                            <m:plcHide m:val="on"/>
                            <m:mcs>
                              <m:mc>
                                <m:mcPr>
                                  <m:count m:val="2"/>
                                  <m:mcJc m:val="center"/>
                                </m:mcPr>
                              </m:mc>
                            </m:mcs>
                            <m:ctrlPr>
                              <a:rPr lang="en-US" sz="2500" i="1">
                                <a:latin typeface="Cambria Math" panose="02040503050406030204" pitchFamily="18" charset="0"/>
                                <a:ea typeface="Cambria Math" panose="02040503050406030204" pitchFamily="18" charset="0"/>
                              </a:rPr>
                            </m:ctrlPr>
                          </m:mPr>
                          <m:mr>
                            <m:e>
                              <m:r>
                                <a:rPr lang="en-US" sz="2500" b="0" i="0" smtClean="0">
                                  <a:latin typeface="Cambria Math" panose="02040503050406030204" pitchFamily="18" charset="0"/>
                                  <a:ea typeface="Cambria Math" panose="02040503050406030204" pitchFamily="18" charset="0"/>
                                </a:rPr>
                                <m:t>0</m:t>
                              </m:r>
                            </m:e>
                            <m:e>
                              <m:r>
                                <a:rPr lang="en-US" sz="2500" b="0" i="0" smtClean="0">
                                  <a:latin typeface="Cambria Math" panose="02040503050406030204" pitchFamily="18" charset="0"/>
                                  <a:ea typeface="Cambria Math" panose="02040503050406030204" pitchFamily="18" charset="0"/>
                                </a:rPr>
                                <m:t>1</m:t>
                              </m:r>
                            </m:e>
                          </m:mr>
                          <m:mr>
                            <m:e>
                              <m:r>
                                <a:rPr lang="en-US" sz="2500" b="0" i="0" smtClean="0">
                                  <a:latin typeface="Cambria Math" panose="02040503050406030204" pitchFamily="18" charset="0"/>
                                  <a:ea typeface="Cambria Math" panose="02040503050406030204" pitchFamily="18" charset="0"/>
                                </a:rPr>
                                <m:t>1</m:t>
                              </m:r>
                            </m:e>
                            <m:e>
                              <m:r>
                                <a:rPr lang="en-US" sz="2500" b="0" i="0" smtClean="0">
                                  <a:latin typeface="Cambria Math" panose="02040503050406030204" pitchFamily="18" charset="0"/>
                                  <a:ea typeface="Cambria Math" panose="02040503050406030204" pitchFamily="18" charset="0"/>
                                </a:rPr>
                                <m:t>0</m:t>
                              </m:r>
                            </m:e>
                          </m:mr>
                        </m:m>
                      </m:e>
                    </m:d>
                  </m:oMath>
                </a14:m>
                <a:endParaRPr lang="en-US" sz="2500" dirty="0">
                  <a:latin typeface="Cambria Math" panose="02040503050406030204" pitchFamily="18" charset="0"/>
                  <a:ea typeface="Cambria Math" panose="02040503050406030204" pitchFamily="18" charset="0"/>
                </a:endParaRPr>
              </a:p>
            </p:txBody>
          </p:sp>
        </mc:Choice>
        <mc:Fallback xmlns="">
          <p:sp>
            <p:nvSpPr>
              <p:cNvPr id="18" name="TextBox 17">
                <a:extLst>
                  <a:ext uri="{FF2B5EF4-FFF2-40B4-BE49-F238E27FC236}">
                    <a16:creationId xmlns:a16="http://schemas.microsoft.com/office/drawing/2014/main" id="{AC3C3807-0723-8E42-A7B0-2D62DE9DF039}"/>
                  </a:ext>
                </a:extLst>
              </p:cNvPr>
              <p:cNvSpPr txBox="1">
                <a:spLocks noRot="1" noChangeAspect="1" noMove="1" noResize="1" noEditPoints="1" noAdjustHandles="1" noChangeArrowheads="1" noChangeShapeType="1" noTextEdit="1"/>
              </p:cNvSpPr>
              <p:nvPr/>
            </p:nvSpPr>
            <p:spPr>
              <a:xfrm>
                <a:off x="8093050" y="2249545"/>
                <a:ext cx="1597040" cy="733855"/>
              </a:xfrm>
              <a:prstGeom prst="rect">
                <a:avLst/>
              </a:prstGeom>
              <a:blipFill>
                <a:blip r:embed="rId11"/>
                <a:stretch>
                  <a:fillRect l="-5512" b="-6780"/>
                </a:stretch>
              </a:blipFill>
            </p:spPr>
            <p:txBody>
              <a:bodyPr/>
              <a:lstStyle/>
              <a:p>
                <a:r>
                  <a:rPr lang="en-US">
                    <a:noFill/>
                  </a:rPr>
                  <a:t> </a:t>
                </a:r>
              </a:p>
            </p:txBody>
          </p:sp>
        </mc:Fallback>
      </mc:AlternateContent>
      <p:sp>
        <p:nvSpPr>
          <p:cNvPr id="19" name="Slide Number Placeholder 18">
            <a:extLst>
              <a:ext uri="{FF2B5EF4-FFF2-40B4-BE49-F238E27FC236}">
                <a16:creationId xmlns:a16="http://schemas.microsoft.com/office/drawing/2014/main" id="{92874A6E-1BBE-DD4F-8C8A-DC83FB6B8BE2}"/>
              </a:ext>
            </a:extLst>
          </p:cNvPr>
          <p:cNvSpPr>
            <a:spLocks noGrp="1"/>
          </p:cNvSpPr>
          <p:nvPr>
            <p:ph type="sldNum" sz="quarter" idx="12"/>
          </p:nvPr>
        </p:nvSpPr>
        <p:spPr/>
        <p:txBody>
          <a:bodyPr/>
          <a:lstStyle/>
          <a:p>
            <a:fld id="{D0A7A90D-170E-2F4F-8861-97D6C3C25EEF}" type="slidenum">
              <a:rPr lang="en-US" smtClean="0"/>
              <a:t>3</a:t>
            </a:fld>
            <a:endParaRPr lang="en-US"/>
          </a:p>
        </p:txBody>
      </p:sp>
      <p:sp>
        <p:nvSpPr>
          <p:cNvPr id="12" name="Oval 11">
            <a:extLst>
              <a:ext uri="{FF2B5EF4-FFF2-40B4-BE49-F238E27FC236}">
                <a16:creationId xmlns:a16="http://schemas.microsoft.com/office/drawing/2014/main" id="{095F4CDB-67C0-A949-9108-543060B9DC85}"/>
              </a:ext>
            </a:extLst>
          </p:cNvPr>
          <p:cNvSpPr/>
          <p:nvPr/>
        </p:nvSpPr>
        <p:spPr>
          <a:xfrm>
            <a:off x="6992991" y="2322068"/>
            <a:ext cx="827999" cy="827999"/>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cxnSp>
        <p:nvCxnSpPr>
          <p:cNvPr id="8" name="Straight Connector 7">
            <a:extLst>
              <a:ext uri="{FF2B5EF4-FFF2-40B4-BE49-F238E27FC236}">
                <a16:creationId xmlns:a16="http://schemas.microsoft.com/office/drawing/2014/main" id="{E8A318D2-2468-D946-AB85-289E68A4BC67}"/>
              </a:ext>
            </a:extLst>
          </p:cNvPr>
          <p:cNvCxnSpPr>
            <a:cxnSpLocks/>
          </p:cNvCxnSpPr>
          <p:nvPr/>
        </p:nvCxnSpPr>
        <p:spPr>
          <a:xfrm>
            <a:off x="6808732" y="4897813"/>
            <a:ext cx="38773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DD939135-177E-464F-BE68-8BFF3A98B9ED}"/>
              </a:ext>
            </a:extLst>
          </p:cNvPr>
          <p:cNvSpPr/>
          <p:nvPr/>
        </p:nvSpPr>
        <p:spPr>
          <a:xfrm>
            <a:off x="7097301" y="4534540"/>
            <a:ext cx="720000" cy="72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a:t>
            </a:r>
          </a:p>
        </p:txBody>
      </p:sp>
      <p:sp>
        <p:nvSpPr>
          <p:cNvPr id="21" name="Rectangle 20">
            <a:extLst>
              <a:ext uri="{FF2B5EF4-FFF2-40B4-BE49-F238E27FC236}">
                <a16:creationId xmlns:a16="http://schemas.microsoft.com/office/drawing/2014/main" id="{F1E96AF3-BDE2-F042-9D10-19EA31F654C1}"/>
              </a:ext>
            </a:extLst>
          </p:cNvPr>
          <p:cNvSpPr/>
          <p:nvPr/>
        </p:nvSpPr>
        <p:spPr>
          <a:xfrm>
            <a:off x="8093050" y="4528072"/>
            <a:ext cx="720000" cy="720000"/>
          </a:xfrm>
          <a:prstGeom prst="rect">
            <a:avLst/>
          </a:prstGeom>
          <a:solidFill>
            <a:srgbClr val="FF750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dirty="0">
                <a:latin typeface="Times" pitchFamily="2" charset="0"/>
              </a:rPr>
              <a:t>H</a:t>
            </a:r>
          </a:p>
        </p:txBody>
      </p:sp>
      <p:pic>
        <p:nvPicPr>
          <p:cNvPr id="22" name="Picture 21">
            <a:extLst>
              <a:ext uri="{FF2B5EF4-FFF2-40B4-BE49-F238E27FC236}">
                <a16:creationId xmlns:a16="http://schemas.microsoft.com/office/drawing/2014/main" id="{1B26F4F8-1472-A740-9986-0A030CC73B1A}"/>
              </a:ext>
            </a:extLst>
          </p:cNvPr>
          <p:cNvPicPr>
            <a:picLocks noChangeAspect="1"/>
          </p:cNvPicPr>
          <p:nvPr/>
        </p:nvPicPr>
        <p:blipFill>
          <a:blip r:embed="rId12"/>
          <a:stretch>
            <a:fillRect/>
          </a:stretch>
        </p:blipFill>
        <p:spPr>
          <a:xfrm>
            <a:off x="9088800" y="4528072"/>
            <a:ext cx="720000" cy="739459"/>
          </a:xfrm>
          <a:prstGeom prst="rect">
            <a:avLst/>
          </a:prstGeom>
        </p:spPr>
      </p:pic>
      <p:sp>
        <p:nvSpPr>
          <p:cNvPr id="24" name="Rectangle 23">
            <a:extLst>
              <a:ext uri="{FF2B5EF4-FFF2-40B4-BE49-F238E27FC236}">
                <a16:creationId xmlns:a16="http://schemas.microsoft.com/office/drawing/2014/main" id="{94990A0B-E909-5541-B793-0888935EBF18}"/>
              </a:ext>
            </a:extLst>
          </p:cNvPr>
          <p:cNvSpPr/>
          <p:nvPr/>
        </p:nvSpPr>
        <p:spPr>
          <a:xfrm>
            <a:off x="6563498" y="5451830"/>
            <a:ext cx="4076793" cy="923330"/>
          </a:xfrm>
          <a:prstGeom prst="rect">
            <a:avLst/>
          </a:prstGeom>
          <a:solidFill>
            <a:schemeClr val="bg1">
              <a:lumMod val="95000"/>
            </a:schemeClr>
          </a:solidFill>
        </p:spPr>
        <p:txBody>
          <a:bodyPr wrap="square">
            <a:spAutoFit/>
          </a:bodyPr>
          <a:lstStyle/>
          <a:p>
            <a:r>
              <a:rPr lang="en-US" dirty="0" err="1"/>
              <a:t>circuit.x</a:t>
            </a:r>
            <a:r>
              <a:rPr lang="en-US" dirty="0"/>
              <a:t> (</a:t>
            </a:r>
            <a:r>
              <a:rPr lang="en-US" dirty="0" err="1"/>
              <a:t>qreg_q</a:t>
            </a:r>
            <a:r>
              <a:rPr lang="en-US" dirty="0"/>
              <a:t>[0])</a:t>
            </a:r>
          </a:p>
          <a:p>
            <a:r>
              <a:rPr lang="en-US" dirty="0" err="1"/>
              <a:t>circuit.h</a:t>
            </a:r>
            <a:r>
              <a:rPr lang="en-US" dirty="0"/>
              <a:t> (</a:t>
            </a:r>
            <a:r>
              <a:rPr lang="en-US" dirty="0" err="1"/>
              <a:t>qreg_q</a:t>
            </a:r>
            <a:r>
              <a:rPr lang="en-US" dirty="0"/>
              <a:t>[0])</a:t>
            </a:r>
          </a:p>
          <a:p>
            <a:r>
              <a:rPr lang="en-US" dirty="0" err="1"/>
              <a:t>circuit.measure</a:t>
            </a:r>
            <a:r>
              <a:rPr lang="en-US" dirty="0"/>
              <a:t> (</a:t>
            </a:r>
            <a:r>
              <a:rPr lang="en-US" dirty="0" err="1"/>
              <a:t>qreg_q</a:t>
            </a:r>
            <a:r>
              <a:rPr lang="en-US" dirty="0"/>
              <a:t>[0], </a:t>
            </a:r>
            <a:r>
              <a:rPr lang="en-US" dirty="0" err="1"/>
              <a:t>creg_c</a:t>
            </a:r>
            <a:r>
              <a:rPr lang="en-US" dirty="0"/>
              <a:t>[0])</a:t>
            </a:r>
          </a:p>
        </p:txBody>
      </p:sp>
      <p:grpSp>
        <p:nvGrpSpPr>
          <p:cNvPr id="23" name="Group 22">
            <a:extLst>
              <a:ext uri="{FF2B5EF4-FFF2-40B4-BE49-F238E27FC236}">
                <a16:creationId xmlns:a16="http://schemas.microsoft.com/office/drawing/2014/main" id="{3281CE0B-728B-CD44-AC60-8DC0250D4363}"/>
              </a:ext>
            </a:extLst>
          </p:cNvPr>
          <p:cNvGrpSpPr/>
          <p:nvPr/>
        </p:nvGrpSpPr>
        <p:grpSpPr>
          <a:xfrm>
            <a:off x="6762916" y="977447"/>
            <a:ext cx="1114259" cy="1140000"/>
            <a:chOff x="6762916" y="977447"/>
            <a:chExt cx="1114259" cy="1140000"/>
          </a:xfrm>
        </p:grpSpPr>
        <p:pic>
          <p:nvPicPr>
            <p:cNvPr id="27" name="Picture 26">
              <a:extLst>
                <a:ext uri="{FF2B5EF4-FFF2-40B4-BE49-F238E27FC236}">
                  <a16:creationId xmlns:a16="http://schemas.microsoft.com/office/drawing/2014/main" id="{FBAB7664-E219-CC49-8676-48A17E37653F}"/>
                </a:ext>
              </a:extLst>
            </p:cNvPr>
            <p:cNvPicPr>
              <a:picLocks noChangeAspect="1"/>
            </p:cNvPicPr>
            <p:nvPr/>
          </p:nvPicPr>
          <p:blipFill>
            <a:blip r:embed="rId13"/>
            <a:stretch>
              <a:fillRect/>
            </a:stretch>
          </p:blipFill>
          <p:spPr>
            <a:xfrm>
              <a:off x="6762916" y="977447"/>
              <a:ext cx="1080000" cy="1140000"/>
            </a:xfrm>
            <a:prstGeom prst="rect">
              <a:avLst/>
            </a:prstGeom>
          </p:spPr>
        </p:pic>
        <p:sp>
          <p:nvSpPr>
            <p:cNvPr id="29" name="Oval 28">
              <a:extLst>
                <a:ext uri="{FF2B5EF4-FFF2-40B4-BE49-F238E27FC236}">
                  <a16:creationId xmlns:a16="http://schemas.microsoft.com/office/drawing/2014/main" id="{908B48EC-4AFC-1746-9F63-E00A5191AF74}"/>
                </a:ext>
              </a:extLst>
            </p:cNvPr>
            <p:cNvSpPr/>
            <p:nvPr/>
          </p:nvSpPr>
          <p:spPr>
            <a:xfrm>
              <a:off x="6771533" y="995401"/>
              <a:ext cx="1105642" cy="1105642"/>
            </a:xfrm>
            <a:prstGeom prst="ellipse">
              <a:avLst/>
            </a:prstGeom>
            <a:gradFill flip="none" rotWithShape="1">
              <a:gsLst>
                <a:gs pos="0">
                  <a:schemeClr val="bg1"/>
                </a:gs>
                <a:gs pos="100000">
                  <a:schemeClr val="bg1">
                    <a:lumMod val="95000"/>
                  </a:schemeClr>
                </a:gs>
              </a:gsLst>
              <a:lin ang="5400000" scaled="1"/>
              <a:tileRect/>
            </a:gra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D0BA4C24-40CF-6146-B3A5-50D1C33E3DFA}"/>
                </a:ext>
              </a:extLst>
            </p:cNvPr>
            <p:cNvSpPr/>
            <p:nvPr/>
          </p:nvSpPr>
          <p:spPr>
            <a:xfrm>
              <a:off x="6771533" y="1347348"/>
              <a:ext cx="1105642" cy="401747"/>
            </a:xfrm>
            <a:prstGeom prst="ellipse">
              <a:avLst/>
            </a:prstGeom>
            <a:noFill/>
            <a:ln w="6350">
              <a:solidFill>
                <a:schemeClr val="tx1">
                  <a:lumMod val="50000"/>
                  <a:lumOff val="50000"/>
                </a:schemeClr>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 name="Straight Arrow Connector 31">
              <a:extLst>
                <a:ext uri="{FF2B5EF4-FFF2-40B4-BE49-F238E27FC236}">
                  <a16:creationId xmlns:a16="http://schemas.microsoft.com/office/drawing/2014/main" id="{A9FC825B-FC77-6141-9D8F-31F632D019B1}"/>
                </a:ext>
              </a:extLst>
            </p:cNvPr>
            <p:cNvCxnSpPr>
              <a:cxnSpLocks/>
            </p:cNvCxnSpPr>
            <p:nvPr/>
          </p:nvCxnSpPr>
          <p:spPr>
            <a:xfrm flipV="1">
              <a:off x="7324354" y="1052470"/>
              <a:ext cx="0" cy="495752"/>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BC7FA27-1DEF-2548-BB6C-992694EF3FC6}"/>
                </a:ext>
              </a:extLst>
            </p:cNvPr>
            <p:cNvCxnSpPr>
              <a:cxnSpLocks/>
              <a:endCxn id="29" idx="6"/>
            </p:cNvCxnSpPr>
            <p:nvPr/>
          </p:nvCxnSpPr>
          <p:spPr>
            <a:xfrm>
              <a:off x="7324354" y="1548222"/>
              <a:ext cx="552821" cy="0"/>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D0842C65-9DC9-0B48-B224-172D3D07FA99}"/>
                </a:ext>
              </a:extLst>
            </p:cNvPr>
            <p:cNvCxnSpPr>
              <a:cxnSpLocks/>
            </p:cNvCxnSpPr>
            <p:nvPr/>
          </p:nvCxnSpPr>
          <p:spPr>
            <a:xfrm flipH="1">
              <a:off x="7162229" y="1548222"/>
              <a:ext cx="162125" cy="192029"/>
            </a:xfrm>
            <a:prstGeom prst="straightConnector1">
              <a:avLst/>
            </a:prstGeom>
            <a:ln w="6350">
              <a:solidFill>
                <a:schemeClr val="tx1"/>
              </a:solidFill>
              <a:tailEnd type="none" w="lg" len="sm"/>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BCB0479-A475-7747-97AF-D2928CAEADC3}"/>
                </a:ext>
              </a:extLst>
            </p:cNvPr>
            <p:cNvCxnSpPr>
              <a:cxnSpLocks/>
            </p:cNvCxnSpPr>
            <p:nvPr/>
          </p:nvCxnSpPr>
          <p:spPr>
            <a:xfrm flipV="1">
              <a:off x="7324354" y="1246905"/>
              <a:ext cx="187559" cy="301317"/>
            </a:xfrm>
            <a:prstGeom prst="straightConnector1">
              <a:avLst/>
            </a:prstGeom>
            <a:ln w="25400">
              <a:solidFill>
                <a:srgbClr val="FF0000"/>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A669D5DE-48E9-114A-8A16-A731BC8AFBC7}"/>
                </a:ext>
              </a:extLst>
            </p:cNvPr>
            <p:cNvCxnSpPr>
              <a:cxnSpLocks/>
            </p:cNvCxnSpPr>
            <p:nvPr/>
          </p:nvCxnSpPr>
          <p:spPr>
            <a:xfrm>
              <a:off x="7511913" y="1246905"/>
              <a:ext cx="0" cy="397331"/>
            </a:xfrm>
            <a:prstGeom prst="line">
              <a:avLst/>
            </a:prstGeom>
            <a:ln w="6350">
              <a:solidFill>
                <a:schemeClr val="tx1">
                  <a:lumMod val="65000"/>
                  <a:lumOff val="3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C97ECF5-AC41-9940-9C93-7889D84F264A}"/>
                </a:ext>
              </a:extLst>
            </p:cNvPr>
            <p:cNvCxnSpPr>
              <a:cxnSpLocks/>
            </p:cNvCxnSpPr>
            <p:nvPr/>
          </p:nvCxnSpPr>
          <p:spPr>
            <a:xfrm>
              <a:off x="7324354" y="1548222"/>
              <a:ext cx="187559" cy="96014"/>
            </a:xfrm>
            <a:prstGeom prst="line">
              <a:avLst/>
            </a:prstGeom>
            <a:ln w="6350">
              <a:solidFill>
                <a:schemeClr val="tx1">
                  <a:lumMod val="65000"/>
                  <a:lumOff val="35000"/>
                </a:schemeClr>
              </a:solidFill>
              <a:prstDash val="lg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7710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2D73AB-BFE0-5C41-BE77-BD570A881C04}"/>
              </a:ext>
            </a:extLst>
          </p:cNvPr>
          <p:cNvPicPr>
            <a:picLocks noChangeAspect="1"/>
          </p:cNvPicPr>
          <p:nvPr/>
        </p:nvPicPr>
        <p:blipFill>
          <a:blip r:embed="rId3"/>
          <a:stretch>
            <a:fillRect/>
          </a:stretch>
        </p:blipFill>
        <p:spPr>
          <a:xfrm flipH="1">
            <a:off x="216206" y="1767462"/>
            <a:ext cx="3648236" cy="4539084"/>
          </a:xfrm>
          <a:prstGeom prst="rect">
            <a:avLst/>
          </a:prstGeom>
        </p:spPr>
      </p:pic>
      <p:sp>
        <p:nvSpPr>
          <p:cNvPr id="7" name="Cloud 6">
            <a:extLst>
              <a:ext uri="{FF2B5EF4-FFF2-40B4-BE49-F238E27FC236}">
                <a16:creationId xmlns:a16="http://schemas.microsoft.com/office/drawing/2014/main" id="{5521AD9F-1CE9-CB41-9186-B40060BB5D9F}"/>
              </a:ext>
            </a:extLst>
          </p:cNvPr>
          <p:cNvSpPr/>
          <p:nvPr/>
        </p:nvSpPr>
        <p:spPr>
          <a:xfrm>
            <a:off x="5208811" y="997396"/>
            <a:ext cx="6717323" cy="5261097"/>
          </a:xfrm>
          <a:prstGeom prst="cloud">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8D81A3-6A97-D245-BB92-A9C46394D5FD}"/>
              </a:ext>
            </a:extLst>
          </p:cNvPr>
          <p:cNvSpPr>
            <a:spLocks noGrp="1"/>
          </p:cNvSpPr>
          <p:nvPr>
            <p:ph type="title"/>
          </p:nvPr>
        </p:nvSpPr>
        <p:spPr>
          <a:xfrm>
            <a:off x="0" y="0"/>
            <a:ext cx="12192000" cy="928688"/>
          </a:xfrm>
        </p:spPr>
        <p:txBody>
          <a:bodyPr/>
          <a:lstStyle/>
          <a:p>
            <a:r>
              <a:rPr lang="en-US" dirty="0"/>
              <a:t>Constants</a:t>
            </a:r>
          </a:p>
        </p:txBody>
      </p:sp>
      <p:sp>
        <p:nvSpPr>
          <p:cNvPr id="3" name="Slide Number Placeholder 2">
            <a:extLst>
              <a:ext uri="{FF2B5EF4-FFF2-40B4-BE49-F238E27FC236}">
                <a16:creationId xmlns:a16="http://schemas.microsoft.com/office/drawing/2014/main" id="{A6A2E66F-9B1F-414C-8CA9-E8DC5A059005}"/>
              </a:ext>
            </a:extLst>
          </p:cNvPr>
          <p:cNvSpPr>
            <a:spLocks noGrp="1"/>
          </p:cNvSpPr>
          <p:nvPr>
            <p:ph type="sldNum" sz="quarter" idx="12"/>
          </p:nvPr>
        </p:nvSpPr>
        <p:spPr/>
        <p:txBody>
          <a:bodyPr/>
          <a:lstStyle/>
          <a:p>
            <a:fld id="{591A223C-FA10-BC46-A853-03BA373D023C}" type="slidenum">
              <a:rPr lang="en-US" smtClean="0"/>
              <a:t>4</a:t>
            </a:fld>
            <a:endParaRPr lang="en-US"/>
          </a:p>
        </p:txBody>
      </p:sp>
      <p:pic>
        <p:nvPicPr>
          <p:cNvPr id="9" name="Picture 8">
            <a:extLst>
              <a:ext uri="{FF2B5EF4-FFF2-40B4-BE49-F238E27FC236}">
                <a16:creationId xmlns:a16="http://schemas.microsoft.com/office/drawing/2014/main" id="{B78C7158-196E-5247-9100-2D7A075234E6}"/>
              </a:ext>
            </a:extLst>
          </p:cNvPr>
          <p:cNvPicPr>
            <a:picLocks noChangeAspect="1"/>
          </p:cNvPicPr>
          <p:nvPr/>
        </p:nvPicPr>
        <p:blipFill>
          <a:blip r:embed="rId4"/>
          <a:stretch>
            <a:fillRect/>
          </a:stretch>
        </p:blipFill>
        <p:spPr>
          <a:xfrm>
            <a:off x="2716746" y="3850959"/>
            <a:ext cx="2889913" cy="2889913"/>
          </a:xfrm>
          <a:prstGeom prst="rect">
            <a:avLst/>
          </a:prstGeom>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ADEE16DA-0A9A-CB48-BF3B-ACAB8DDA9335}"/>
                  </a:ext>
                </a:extLst>
              </p:cNvPr>
              <p:cNvSpPr/>
              <p:nvPr/>
            </p:nvSpPr>
            <p:spPr>
              <a:xfrm>
                <a:off x="6267002" y="3472974"/>
                <a:ext cx="1894814" cy="16404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ad>
                        <m:radPr>
                          <m:degHide m:val="on"/>
                          <m:ctrlPr>
                            <a:rPr lang="en-US" sz="9000" b="1" i="1" smtClean="0">
                              <a:ln w="22225">
                                <a:solidFill>
                                  <a:schemeClr val="tx1"/>
                                </a:solidFill>
                                <a:prstDash val="solid"/>
                              </a:ln>
                              <a:solidFill>
                                <a:schemeClr val="accent6">
                                  <a:lumMod val="40000"/>
                                  <a:lumOff val="60000"/>
                                </a:schemeClr>
                              </a:solidFill>
                              <a:latin typeface="Cambria Math" panose="02040503050406030204" pitchFamily="18" charset="0"/>
                            </a:rPr>
                          </m:ctrlPr>
                        </m:radPr>
                        <m:deg/>
                        <m:e>
                          <m:r>
                            <a:rPr lang="en-US" sz="9000" b="1" i="1">
                              <a:ln w="22225">
                                <a:solidFill>
                                  <a:schemeClr val="tx1"/>
                                </a:solidFill>
                                <a:prstDash val="solid"/>
                              </a:ln>
                              <a:solidFill>
                                <a:schemeClr val="accent6">
                                  <a:lumMod val="40000"/>
                                  <a:lumOff val="60000"/>
                                </a:schemeClr>
                              </a:solidFill>
                              <a:latin typeface="Cambria Math" panose="02040503050406030204" pitchFamily="18" charset="0"/>
                            </a:rPr>
                            <m:t>𝟐</m:t>
                          </m:r>
                        </m:e>
                      </m:rad>
                    </m:oMath>
                  </m:oMathPara>
                </a14:m>
                <a:endParaRPr lang="en-US" sz="9000" b="1" dirty="0">
                  <a:ln w="22225">
                    <a:solidFill>
                      <a:schemeClr val="accent2"/>
                    </a:solidFill>
                    <a:prstDash val="solid"/>
                  </a:ln>
                  <a:solidFill>
                    <a:schemeClr val="accent2">
                      <a:lumMod val="40000"/>
                      <a:lumOff val="60000"/>
                    </a:schemeClr>
                  </a:solidFill>
                </a:endParaRPr>
              </a:p>
            </p:txBody>
          </p:sp>
        </mc:Choice>
        <mc:Fallback xmlns="">
          <p:sp>
            <p:nvSpPr>
              <p:cNvPr id="6" name="Rectangle 5">
                <a:extLst>
                  <a:ext uri="{FF2B5EF4-FFF2-40B4-BE49-F238E27FC236}">
                    <a16:creationId xmlns:a16="http://schemas.microsoft.com/office/drawing/2014/main" id="{ADEE16DA-0A9A-CB48-BF3B-ACAB8DDA9335}"/>
                  </a:ext>
                </a:extLst>
              </p:cNvPr>
              <p:cNvSpPr>
                <a:spLocks noRot="1" noChangeAspect="1" noMove="1" noResize="1" noEditPoints="1" noAdjustHandles="1" noChangeArrowheads="1" noChangeShapeType="1" noTextEdit="1"/>
              </p:cNvSpPr>
              <p:nvPr/>
            </p:nvSpPr>
            <p:spPr>
              <a:xfrm>
                <a:off x="6267002" y="3472974"/>
                <a:ext cx="1894814" cy="164044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D429443B-C2B0-A844-BFC6-4C3B9B129A5B}"/>
                  </a:ext>
                </a:extLst>
              </p:cNvPr>
              <p:cNvSpPr/>
              <p:nvPr/>
            </p:nvSpPr>
            <p:spPr>
              <a:xfrm>
                <a:off x="10541542" y="2467344"/>
                <a:ext cx="1140056" cy="15696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9600" b="1" i="1" smtClean="0">
                          <a:ln w="22225">
                            <a:solidFill>
                              <a:srgbClr val="0000FF"/>
                            </a:solidFill>
                            <a:prstDash val="solid"/>
                          </a:ln>
                          <a:solidFill>
                            <a:schemeClr val="accent5">
                              <a:lumMod val="20000"/>
                              <a:lumOff val="80000"/>
                            </a:schemeClr>
                          </a:solidFill>
                          <a:latin typeface="Cambria Math" panose="02040503050406030204" pitchFamily="18" charset="0"/>
                        </a:rPr>
                        <m:t>𝒆</m:t>
                      </m:r>
                    </m:oMath>
                  </m:oMathPara>
                </a14:m>
                <a:endParaRPr lang="en-US" sz="9600" b="1" dirty="0">
                  <a:ln w="22225">
                    <a:solidFill>
                      <a:srgbClr val="0000FF"/>
                    </a:solidFill>
                    <a:prstDash val="solid"/>
                  </a:ln>
                  <a:solidFill>
                    <a:schemeClr val="accent5">
                      <a:lumMod val="20000"/>
                      <a:lumOff val="80000"/>
                    </a:schemeClr>
                  </a:solidFill>
                </a:endParaRPr>
              </a:p>
            </p:txBody>
          </p:sp>
        </mc:Choice>
        <mc:Fallback xmlns="">
          <p:sp>
            <p:nvSpPr>
              <p:cNvPr id="10" name="Rectangle 9">
                <a:extLst>
                  <a:ext uri="{FF2B5EF4-FFF2-40B4-BE49-F238E27FC236}">
                    <a16:creationId xmlns:a16="http://schemas.microsoft.com/office/drawing/2014/main" id="{D429443B-C2B0-A844-BFC6-4C3B9B129A5B}"/>
                  </a:ext>
                </a:extLst>
              </p:cNvPr>
              <p:cNvSpPr>
                <a:spLocks noRot="1" noChangeAspect="1" noMove="1" noResize="1" noEditPoints="1" noAdjustHandles="1" noChangeArrowheads="1" noChangeShapeType="1" noTextEdit="1"/>
              </p:cNvSpPr>
              <p:nvPr/>
            </p:nvSpPr>
            <p:spPr>
              <a:xfrm>
                <a:off x="10541542" y="2467344"/>
                <a:ext cx="1140056" cy="156966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1C9E35AA-0771-4E45-98F0-AF988D4081E1}"/>
                  </a:ext>
                </a:extLst>
              </p:cNvPr>
              <p:cNvSpPr/>
              <p:nvPr/>
            </p:nvSpPr>
            <p:spPr>
              <a:xfrm>
                <a:off x="7914089" y="2321767"/>
                <a:ext cx="1306768" cy="15696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9600" b="1" i="1" smtClean="0">
                          <a:ln w="22225">
                            <a:solidFill>
                              <a:schemeClr val="accent2"/>
                            </a:solidFill>
                            <a:prstDash val="solid"/>
                          </a:ln>
                          <a:solidFill>
                            <a:schemeClr val="accent2">
                              <a:lumMod val="40000"/>
                              <a:lumOff val="60000"/>
                            </a:schemeClr>
                          </a:solidFill>
                          <a:latin typeface="Cambria Math" panose="02040503050406030204" pitchFamily="18" charset="0"/>
                          <a:ea typeface="Cambria Math" panose="02040503050406030204" pitchFamily="18" charset="0"/>
                        </a:rPr>
                        <m:t>𝝅</m:t>
                      </m:r>
                    </m:oMath>
                  </m:oMathPara>
                </a14:m>
                <a:endParaRPr lang="en-US" sz="9600" b="1" dirty="0">
                  <a:ln w="22225">
                    <a:solidFill>
                      <a:schemeClr val="accent2"/>
                    </a:solidFill>
                    <a:prstDash val="solid"/>
                  </a:ln>
                  <a:solidFill>
                    <a:schemeClr val="accent2">
                      <a:lumMod val="40000"/>
                      <a:lumOff val="60000"/>
                    </a:schemeClr>
                  </a:solidFill>
                </a:endParaRPr>
              </a:p>
            </p:txBody>
          </p:sp>
        </mc:Choice>
        <mc:Fallback xmlns="">
          <p:sp>
            <p:nvSpPr>
              <p:cNvPr id="11" name="Rectangle 10">
                <a:extLst>
                  <a:ext uri="{FF2B5EF4-FFF2-40B4-BE49-F238E27FC236}">
                    <a16:creationId xmlns:a16="http://schemas.microsoft.com/office/drawing/2014/main" id="{1C9E35AA-0771-4E45-98F0-AF988D4081E1}"/>
                  </a:ext>
                </a:extLst>
              </p:cNvPr>
              <p:cNvSpPr>
                <a:spLocks noRot="1" noChangeAspect="1" noMove="1" noResize="1" noEditPoints="1" noAdjustHandles="1" noChangeArrowheads="1" noChangeShapeType="1" noTextEdit="1"/>
              </p:cNvSpPr>
              <p:nvPr/>
            </p:nvSpPr>
            <p:spPr>
              <a:xfrm>
                <a:off x="7914089" y="2321767"/>
                <a:ext cx="1306768" cy="156966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2C94AF1-AABC-DF4E-8677-DB28420EFDA8}"/>
                  </a:ext>
                </a:extLst>
              </p:cNvPr>
              <p:cNvSpPr/>
              <p:nvPr/>
            </p:nvSpPr>
            <p:spPr>
              <a:xfrm>
                <a:off x="9379559" y="3082029"/>
                <a:ext cx="920444" cy="15696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9600" b="1" i="1" smtClean="0">
                          <a:ln w="22225">
                            <a:solidFill>
                              <a:schemeClr val="tx1"/>
                            </a:solidFill>
                            <a:prstDash val="solid"/>
                          </a:ln>
                          <a:solidFill>
                            <a:srgbClr val="C00000"/>
                          </a:solidFill>
                          <a:latin typeface="Cambria Math" panose="02040503050406030204" pitchFamily="18" charset="0"/>
                          <a:ea typeface="Cambria Math" panose="02040503050406030204" pitchFamily="18" charset="0"/>
                        </a:rPr>
                        <m:t>𝒊</m:t>
                      </m:r>
                    </m:oMath>
                  </m:oMathPara>
                </a14:m>
                <a:endParaRPr lang="en-US" sz="9600" b="1" dirty="0">
                  <a:ln w="22225">
                    <a:solidFill>
                      <a:schemeClr val="tx1"/>
                    </a:solidFill>
                    <a:prstDash val="solid"/>
                  </a:ln>
                  <a:solidFill>
                    <a:srgbClr val="C00000"/>
                  </a:solidFill>
                </a:endParaRPr>
              </a:p>
            </p:txBody>
          </p:sp>
        </mc:Choice>
        <mc:Fallback xmlns="">
          <p:sp>
            <p:nvSpPr>
              <p:cNvPr id="12" name="Rectangle 11">
                <a:extLst>
                  <a:ext uri="{FF2B5EF4-FFF2-40B4-BE49-F238E27FC236}">
                    <a16:creationId xmlns:a16="http://schemas.microsoft.com/office/drawing/2014/main" id="{72C94AF1-AABC-DF4E-8677-DB28420EFDA8}"/>
                  </a:ext>
                </a:extLst>
              </p:cNvPr>
              <p:cNvSpPr>
                <a:spLocks noRot="1" noChangeAspect="1" noMove="1" noResize="1" noEditPoints="1" noAdjustHandles="1" noChangeArrowheads="1" noChangeShapeType="1" noTextEdit="1"/>
              </p:cNvSpPr>
              <p:nvPr/>
            </p:nvSpPr>
            <p:spPr>
              <a:xfrm>
                <a:off x="9379559" y="3082029"/>
                <a:ext cx="920444" cy="156966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164C4AC-A8D6-304A-9F32-EB321419A8DA}"/>
                  </a:ext>
                </a:extLst>
              </p:cNvPr>
              <p:cNvSpPr/>
              <p:nvPr/>
            </p:nvSpPr>
            <p:spPr>
              <a:xfrm>
                <a:off x="6377249" y="1682514"/>
                <a:ext cx="1199366" cy="15696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9600" b="1" i="1" smtClean="0">
                          <a:ln w="22225">
                            <a:solidFill>
                              <a:schemeClr val="tx1"/>
                            </a:solidFill>
                            <a:prstDash val="solid"/>
                          </a:ln>
                          <a:solidFill>
                            <a:schemeClr val="accent5"/>
                          </a:solidFill>
                          <a:latin typeface="Cambria Math" panose="02040503050406030204" pitchFamily="18" charset="0"/>
                          <a:ea typeface="Cambria Math" panose="02040503050406030204" pitchFamily="18" charset="0"/>
                        </a:rPr>
                        <m:t>𝟏</m:t>
                      </m:r>
                    </m:oMath>
                  </m:oMathPara>
                </a14:m>
                <a:endParaRPr lang="en-US" sz="9600" b="1" dirty="0">
                  <a:ln w="22225">
                    <a:solidFill>
                      <a:schemeClr val="tx1"/>
                    </a:solidFill>
                    <a:prstDash val="solid"/>
                  </a:ln>
                  <a:solidFill>
                    <a:schemeClr val="accent5"/>
                  </a:solidFill>
                </a:endParaRPr>
              </a:p>
            </p:txBody>
          </p:sp>
        </mc:Choice>
        <mc:Fallback xmlns="">
          <p:sp>
            <p:nvSpPr>
              <p:cNvPr id="13" name="Rectangle 12">
                <a:extLst>
                  <a:ext uri="{FF2B5EF4-FFF2-40B4-BE49-F238E27FC236}">
                    <a16:creationId xmlns:a16="http://schemas.microsoft.com/office/drawing/2014/main" id="{7164C4AC-A8D6-304A-9F32-EB321419A8DA}"/>
                  </a:ext>
                </a:extLst>
              </p:cNvPr>
              <p:cNvSpPr>
                <a:spLocks noRot="1" noChangeAspect="1" noMove="1" noResize="1" noEditPoints="1" noAdjustHandles="1" noChangeArrowheads="1" noChangeShapeType="1" noTextEdit="1"/>
              </p:cNvSpPr>
              <p:nvPr/>
            </p:nvSpPr>
            <p:spPr>
              <a:xfrm>
                <a:off x="6377249" y="1682514"/>
                <a:ext cx="1199366" cy="156966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8859286F-35D1-BF47-9933-0F6E5E880980}"/>
                  </a:ext>
                </a:extLst>
              </p:cNvPr>
              <p:cNvSpPr/>
              <p:nvPr/>
            </p:nvSpPr>
            <p:spPr>
              <a:xfrm>
                <a:off x="8444871" y="1446042"/>
                <a:ext cx="2241768" cy="13307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ad>
                        <m:radPr>
                          <m:degHide m:val="on"/>
                          <m:ctrlPr>
                            <a:rPr lang="en-US" sz="7200" b="1" i="1" smtClean="0">
                              <a:ln w="22225">
                                <a:solidFill>
                                  <a:schemeClr val="accent4">
                                    <a:lumMod val="20000"/>
                                    <a:lumOff val="80000"/>
                                  </a:schemeClr>
                                </a:solidFill>
                                <a:prstDash val="solid"/>
                              </a:ln>
                              <a:solidFill>
                                <a:schemeClr val="accent4">
                                  <a:lumMod val="75000"/>
                                </a:schemeClr>
                              </a:solidFill>
                              <a:latin typeface="Cambria Math" panose="02040503050406030204" pitchFamily="18" charset="0"/>
                            </a:rPr>
                          </m:ctrlPr>
                        </m:radPr>
                        <m:deg/>
                        <m:e>
                          <m:r>
                            <a:rPr lang="en-US" sz="7200" b="1" i="1" smtClean="0">
                              <a:ln w="22225">
                                <a:solidFill>
                                  <a:schemeClr val="accent4">
                                    <a:lumMod val="20000"/>
                                    <a:lumOff val="80000"/>
                                  </a:schemeClr>
                                </a:solidFill>
                                <a:prstDash val="solid"/>
                              </a:ln>
                              <a:solidFill>
                                <a:schemeClr val="accent4">
                                  <a:lumMod val="75000"/>
                                </a:schemeClr>
                              </a:solidFill>
                              <a:latin typeface="Cambria Math" panose="02040503050406030204" pitchFamily="18" charset="0"/>
                            </a:rPr>
                            <m:t>−</m:t>
                          </m:r>
                          <m:r>
                            <a:rPr lang="en-US" sz="7200" b="1" i="1" smtClean="0">
                              <a:ln w="22225">
                                <a:solidFill>
                                  <a:schemeClr val="accent4">
                                    <a:lumMod val="20000"/>
                                    <a:lumOff val="80000"/>
                                  </a:schemeClr>
                                </a:solidFill>
                                <a:prstDash val="solid"/>
                              </a:ln>
                              <a:solidFill>
                                <a:schemeClr val="accent4">
                                  <a:lumMod val="75000"/>
                                </a:schemeClr>
                              </a:solidFill>
                              <a:latin typeface="Cambria Math" panose="02040503050406030204" pitchFamily="18" charset="0"/>
                            </a:rPr>
                            <m:t>𝟏</m:t>
                          </m:r>
                        </m:e>
                      </m:rad>
                    </m:oMath>
                  </m:oMathPara>
                </a14:m>
                <a:endParaRPr lang="en-US" sz="7200" b="1" dirty="0">
                  <a:ln w="22225">
                    <a:solidFill>
                      <a:schemeClr val="accent4">
                        <a:lumMod val="20000"/>
                        <a:lumOff val="80000"/>
                      </a:schemeClr>
                    </a:solidFill>
                    <a:prstDash val="solid"/>
                  </a:ln>
                  <a:solidFill>
                    <a:schemeClr val="accent4">
                      <a:lumMod val="75000"/>
                    </a:schemeClr>
                  </a:solidFill>
                </a:endParaRPr>
              </a:p>
            </p:txBody>
          </p:sp>
        </mc:Choice>
        <mc:Fallback xmlns="">
          <p:sp>
            <p:nvSpPr>
              <p:cNvPr id="14" name="Rectangle 13">
                <a:extLst>
                  <a:ext uri="{FF2B5EF4-FFF2-40B4-BE49-F238E27FC236}">
                    <a16:creationId xmlns:a16="http://schemas.microsoft.com/office/drawing/2014/main" id="{8859286F-35D1-BF47-9933-0F6E5E880980}"/>
                  </a:ext>
                </a:extLst>
              </p:cNvPr>
              <p:cNvSpPr>
                <a:spLocks noRot="1" noChangeAspect="1" noMove="1" noResize="1" noEditPoints="1" noAdjustHandles="1" noChangeArrowheads="1" noChangeShapeType="1" noTextEdit="1"/>
              </p:cNvSpPr>
              <p:nvPr/>
            </p:nvSpPr>
            <p:spPr>
              <a:xfrm>
                <a:off x="8444871" y="1446042"/>
                <a:ext cx="2241768" cy="1330749"/>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D5D6CAB0-19C2-7347-9202-A660D53121A1}"/>
                  </a:ext>
                </a:extLst>
              </p:cNvPr>
              <p:cNvSpPr/>
              <p:nvPr/>
            </p:nvSpPr>
            <p:spPr>
              <a:xfrm>
                <a:off x="8295398" y="4288071"/>
                <a:ext cx="1199367" cy="15696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9600" b="1" i="1" smtClean="0">
                          <a:ln w="22225">
                            <a:solidFill>
                              <a:schemeClr val="tx1"/>
                            </a:solidFill>
                            <a:prstDash val="solid"/>
                          </a:ln>
                          <a:solidFill>
                            <a:schemeClr val="accent5"/>
                          </a:solidFill>
                          <a:latin typeface="Cambria Math" panose="02040503050406030204" pitchFamily="18" charset="0"/>
                          <a:ea typeface="Cambria Math" panose="02040503050406030204" pitchFamily="18" charset="0"/>
                        </a:rPr>
                        <m:t>𝟎</m:t>
                      </m:r>
                    </m:oMath>
                  </m:oMathPara>
                </a14:m>
                <a:endParaRPr lang="en-US" sz="9600" b="1" dirty="0">
                  <a:ln w="22225">
                    <a:solidFill>
                      <a:schemeClr val="tx1"/>
                    </a:solidFill>
                    <a:prstDash val="solid"/>
                  </a:ln>
                  <a:solidFill>
                    <a:schemeClr val="accent5"/>
                  </a:solidFill>
                </a:endParaRPr>
              </a:p>
            </p:txBody>
          </p:sp>
        </mc:Choice>
        <mc:Fallback xmlns="">
          <p:sp>
            <p:nvSpPr>
              <p:cNvPr id="15" name="Rectangle 14">
                <a:extLst>
                  <a:ext uri="{FF2B5EF4-FFF2-40B4-BE49-F238E27FC236}">
                    <a16:creationId xmlns:a16="http://schemas.microsoft.com/office/drawing/2014/main" id="{D5D6CAB0-19C2-7347-9202-A660D53121A1}"/>
                  </a:ext>
                </a:extLst>
              </p:cNvPr>
              <p:cNvSpPr>
                <a:spLocks noRot="1" noChangeAspect="1" noMove="1" noResize="1" noEditPoints="1" noAdjustHandles="1" noChangeArrowheads="1" noChangeShapeType="1" noTextEdit="1"/>
              </p:cNvSpPr>
              <p:nvPr/>
            </p:nvSpPr>
            <p:spPr>
              <a:xfrm>
                <a:off x="8295398" y="4288071"/>
                <a:ext cx="1199367" cy="1569660"/>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28439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E236BCB3-691D-F24A-8F89-F5F217DEF033}"/>
              </a:ext>
            </a:extLst>
          </p:cNvPr>
          <p:cNvSpPr/>
          <p:nvPr/>
        </p:nvSpPr>
        <p:spPr>
          <a:xfrm>
            <a:off x="263731" y="1461320"/>
            <a:ext cx="2880000" cy="4521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F92ADB1B-B113-4A4C-A802-EAF189D0CEFE}"/>
              </a:ext>
            </a:extLst>
          </p:cNvPr>
          <p:cNvSpPr>
            <a:spLocks noGrp="1"/>
          </p:cNvSpPr>
          <p:nvPr>
            <p:ph type="sldNum" sz="quarter" idx="12"/>
          </p:nvPr>
        </p:nvSpPr>
        <p:spPr/>
        <p:txBody>
          <a:bodyPr/>
          <a:lstStyle/>
          <a:p>
            <a:fld id="{591A223C-FA10-BC46-A853-03BA373D023C}" type="slidenum">
              <a:rPr lang="en-US" smtClean="0"/>
              <a:t>5</a:t>
            </a:fld>
            <a:endParaRPr lang="en-US"/>
          </a:p>
        </p:txBody>
      </p:sp>
      <p:sp>
        <p:nvSpPr>
          <p:cNvPr id="3" name="Title 2">
            <a:extLst>
              <a:ext uri="{FF2B5EF4-FFF2-40B4-BE49-F238E27FC236}">
                <a16:creationId xmlns:a16="http://schemas.microsoft.com/office/drawing/2014/main" id="{F1975172-A552-1F4C-AA91-1CFA1BF3BB44}"/>
              </a:ext>
            </a:extLst>
          </p:cNvPr>
          <p:cNvSpPr>
            <a:spLocks noGrp="1"/>
          </p:cNvSpPr>
          <p:nvPr>
            <p:ph type="title"/>
          </p:nvPr>
        </p:nvSpPr>
        <p:spPr/>
        <p:txBody>
          <a:bodyPr/>
          <a:lstStyle/>
          <a:p>
            <a:r>
              <a:rPr lang="en-ZA" dirty="0"/>
              <a:t>Important mathematical constants</a:t>
            </a:r>
            <a:endParaRPr 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2952ACE-2C75-E04A-AC3C-0BDA6417BA40}"/>
                  </a:ext>
                </a:extLst>
              </p:cNvPr>
              <p:cNvSpPr txBox="1"/>
              <p:nvPr/>
            </p:nvSpPr>
            <p:spPr>
              <a:xfrm>
                <a:off x="421367" y="4263765"/>
                <a:ext cx="2248885" cy="12696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400" b="0" i="1" smtClean="0">
                              <a:latin typeface="Cambria Math" panose="02040503050406030204" pitchFamily="18" charset="0"/>
                              <a:ea typeface="Cambria Math" panose="02040503050406030204" pitchFamily="18" charset="0"/>
                            </a:rPr>
                          </m:ctrlPr>
                        </m:mPr>
                        <m:mr>
                          <m:e>
                            <m:rad>
                              <m:radPr>
                                <m:degHide m:val="on"/>
                                <m:ctrlPr>
                                  <a:rPr lang="en-US" sz="2400" b="1" i="1" smtClean="0">
                                    <a:solidFill>
                                      <a:srgbClr val="FF0000"/>
                                    </a:solidFill>
                                    <a:latin typeface="Cambria Math" panose="02040503050406030204" pitchFamily="18" charset="0"/>
                                  </a:rPr>
                                </m:ctrlPr>
                              </m:radPr>
                              <m:deg/>
                              <m:e>
                                <m:r>
                                  <a:rPr lang="en-US" sz="2400" b="1" i="1">
                                    <a:solidFill>
                                      <a:srgbClr val="FF0000"/>
                                    </a:solidFill>
                                    <a:latin typeface="Cambria Math" panose="02040503050406030204" pitchFamily="18" charset="0"/>
                                  </a:rPr>
                                  <m:t>𝟐</m:t>
                                </m:r>
                              </m:e>
                            </m:rad>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1.4142</m:t>
                            </m:r>
                            <m:r>
                              <a:rPr lang="en-US" sz="2400" i="1">
                                <a:latin typeface="Cambria Math" panose="02040503050406030204" pitchFamily="18" charset="0"/>
                                <a:ea typeface="Cambria Math" panose="02040503050406030204" pitchFamily="18" charset="0"/>
                              </a:rPr>
                              <m:t>⋯</m:t>
                            </m:r>
                          </m:e>
                        </m:mr>
                        <m:mr>
                          <m:e>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2</m:t>
                                    </m:r>
                                  </m:e>
                                </m:rad>
                              </m:den>
                            </m:f>
                            <m:r>
                              <a:rPr lang="en-US" sz="2400" b="0" i="1" smtClean="0">
                                <a:latin typeface="Cambria Math" panose="02040503050406030204" pitchFamily="18" charset="0"/>
                                <a:ea typeface="Cambria Math" panose="02040503050406030204" pitchFamily="18" charset="0"/>
                              </a:rPr>
                              <m:t>≈0.7071</m:t>
                            </m:r>
                            <m:r>
                              <a:rPr lang="en-US" sz="2400" i="1">
                                <a:latin typeface="Cambria Math" panose="02040503050406030204" pitchFamily="18" charset="0"/>
                                <a:ea typeface="Cambria Math" panose="02040503050406030204" pitchFamily="18" charset="0"/>
                              </a:rPr>
                              <m:t>⋯</m:t>
                            </m:r>
                          </m:e>
                        </m:mr>
                      </m:m>
                    </m:oMath>
                  </m:oMathPara>
                </a14:m>
                <a:endParaRPr lang="en-US" sz="2400" b="0" dirty="0">
                  <a:ea typeface="Cambria Math" panose="02040503050406030204" pitchFamily="18" charset="0"/>
                </a:endParaRPr>
              </a:p>
            </p:txBody>
          </p:sp>
        </mc:Choice>
        <mc:Fallback xmlns="">
          <p:sp>
            <p:nvSpPr>
              <p:cNvPr id="7" name="TextBox 6">
                <a:extLst>
                  <a:ext uri="{FF2B5EF4-FFF2-40B4-BE49-F238E27FC236}">
                    <a16:creationId xmlns:a16="http://schemas.microsoft.com/office/drawing/2014/main" id="{72952ACE-2C75-E04A-AC3C-0BDA6417BA40}"/>
                  </a:ext>
                </a:extLst>
              </p:cNvPr>
              <p:cNvSpPr txBox="1">
                <a:spLocks noRot="1" noChangeAspect="1" noMove="1" noResize="1" noEditPoints="1" noAdjustHandles="1" noChangeArrowheads="1" noChangeShapeType="1" noTextEdit="1"/>
              </p:cNvSpPr>
              <p:nvPr/>
            </p:nvSpPr>
            <p:spPr>
              <a:xfrm>
                <a:off x="421367" y="4263765"/>
                <a:ext cx="2248885" cy="1269643"/>
              </a:xfrm>
              <a:prstGeom prst="rect">
                <a:avLst/>
              </a:prstGeom>
              <a:blipFill>
                <a:blip r:embed="rId3"/>
                <a:stretch>
                  <a:fillRect b="-2000"/>
                </a:stretch>
              </a:blipFill>
            </p:spPr>
            <p:txBody>
              <a:bodyPr/>
              <a:lstStyle/>
              <a:p>
                <a:r>
                  <a:rPr lang="en-US">
                    <a:noFill/>
                  </a:rPr>
                  <a:t> </a:t>
                </a:r>
              </a:p>
            </p:txBody>
          </p:sp>
        </mc:Fallback>
      </mc:AlternateContent>
      <p:grpSp>
        <p:nvGrpSpPr>
          <p:cNvPr id="39" name="Group 38">
            <a:extLst>
              <a:ext uri="{FF2B5EF4-FFF2-40B4-BE49-F238E27FC236}">
                <a16:creationId xmlns:a16="http://schemas.microsoft.com/office/drawing/2014/main" id="{4D98C368-ACC0-884F-BFE2-FBE3D4E6A3A3}"/>
              </a:ext>
            </a:extLst>
          </p:cNvPr>
          <p:cNvGrpSpPr/>
          <p:nvPr/>
        </p:nvGrpSpPr>
        <p:grpSpPr>
          <a:xfrm>
            <a:off x="3255212" y="1465915"/>
            <a:ext cx="2973964" cy="4521018"/>
            <a:chOff x="3102549" y="926275"/>
            <a:chExt cx="2973964" cy="4521018"/>
          </a:xfrm>
        </p:grpSpPr>
        <p:sp>
          <p:nvSpPr>
            <p:cNvPr id="34" name="Rectangle 33">
              <a:extLst>
                <a:ext uri="{FF2B5EF4-FFF2-40B4-BE49-F238E27FC236}">
                  <a16:creationId xmlns:a16="http://schemas.microsoft.com/office/drawing/2014/main" id="{621490BD-3796-E441-8349-07F9AF0A467C}"/>
                </a:ext>
              </a:extLst>
            </p:cNvPr>
            <p:cNvSpPr/>
            <p:nvPr/>
          </p:nvSpPr>
          <p:spPr>
            <a:xfrm>
              <a:off x="3102549" y="926275"/>
              <a:ext cx="2880000" cy="452101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15FCCB78-B9D4-BF4D-8010-B40F5AB83098}"/>
                </a:ext>
              </a:extLst>
            </p:cNvPr>
            <p:cNvGrpSpPr/>
            <p:nvPr/>
          </p:nvGrpSpPr>
          <p:grpSpPr>
            <a:xfrm>
              <a:off x="3141351" y="1044063"/>
              <a:ext cx="2935162" cy="4293321"/>
              <a:chOff x="3522505" y="910203"/>
              <a:chExt cx="2935162" cy="4293321"/>
            </a:xfrm>
          </p:grpSpPr>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81E9BB89-ECE1-0449-A384-1E1EDFBA3F6A}"/>
                      </a:ext>
                    </a:extLst>
                  </p:cNvPr>
                  <p:cNvSpPr/>
                  <p:nvPr/>
                </p:nvSpPr>
                <p:spPr>
                  <a:xfrm>
                    <a:off x="3522505" y="3359108"/>
                    <a:ext cx="2935162" cy="1844416"/>
                  </a:xfrm>
                  <a:prstGeom prst="rect">
                    <a:avLst/>
                  </a:prstGeom>
                </p:spPr>
                <p:txBody>
                  <a:bodyPr wrap="none">
                    <a:spAutoFit/>
                  </a:bodyPr>
                  <a:lstStyle/>
                  <a:p>
                    <a:pPr/>
                    <a14:m>
                      <m:oMathPara xmlns:m="http://schemas.openxmlformats.org/officeDocument/2006/math">
                        <m:oMathParaPr>
                          <m:jc m:val="left"/>
                        </m:oMathParaPr>
                        <m:oMath xmlns:m="http://schemas.openxmlformats.org/officeDocument/2006/math">
                          <m:m>
                            <m:mPr>
                              <m:mcs>
                                <m:mc>
                                  <m:mcPr>
                                    <m:count m:val="1"/>
                                    <m:mcJc m:val="center"/>
                                  </m:mcPr>
                                </m:mc>
                              </m:mcs>
                              <m:ctrlPr>
                                <a:rPr lang="en-US" sz="2400" b="0" i="1" smtClean="0">
                                  <a:latin typeface="Cambria Math" panose="02040503050406030204" pitchFamily="18" charset="0"/>
                                  <a:ea typeface="Cambria Math" panose="02040503050406030204" pitchFamily="18" charset="0"/>
                                </a:rPr>
                              </m:ctrlPr>
                            </m:mPr>
                            <m:mr>
                              <m:e>
                                <m:r>
                                  <a:rPr lang="en-US" sz="2400" b="1" i="1" smtClean="0">
                                    <a:solidFill>
                                      <a:srgbClr val="FF0000"/>
                                    </a:solidFill>
                                    <a:latin typeface="Cambria Math" panose="02040503050406030204" pitchFamily="18" charset="0"/>
                                    <a:ea typeface="Cambria Math" panose="02040503050406030204" pitchFamily="18" charset="0"/>
                                  </a:rPr>
                                  <m:t>𝝅</m:t>
                                </m:r>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𝐶</m:t>
                                    </m:r>
                                  </m:num>
                                  <m:den>
                                    <m:r>
                                      <a:rPr lang="en-US" sz="2400" i="1">
                                        <a:latin typeface="Cambria Math" panose="02040503050406030204" pitchFamily="18" charset="0"/>
                                        <a:ea typeface="Cambria Math" panose="02040503050406030204" pitchFamily="18" charset="0"/>
                                      </a:rPr>
                                      <m:t>𝑑</m:t>
                                    </m:r>
                                  </m:den>
                                </m:f>
                                <m:r>
                                  <a:rPr lang="en-US" sz="2400" i="1">
                                    <a:latin typeface="Cambria Math" panose="02040503050406030204" pitchFamily="18" charset="0"/>
                                    <a:ea typeface="Cambria Math" panose="02040503050406030204" pitchFamily="18" charset="0"/>
                                  </a:rPr>
                                  <m:t>≈3.1415</m:t>
                                </m:r>
                              </m:e>
                            </m:mr>
                            <m:mr>
                              <m:e>
                                <m:r>
                                  <m:rPr>
                                    <m:nor/>
                                  </m:rPr>
                                  <a:rPr lang="en-US" sz="2400" dirty="0">
                                    <a:latin typeface="+mj-lt"/>
                                  </a:rPr>
                                  <m:t>Leibniz</m:t>
                                </m:r>
                                <m:r>
                                  <m:rPr>
                                    <m:nor/>
                                  </m:rPr>
                                  <a:rPr lang="en-US" sz="2400" dirty="0">
                                    <a:latin typeface="+mj-lt"/>
                                  </a:rPr>
                                  <m:t>’</m:t>
                                </m:r>
                                <m:r>
                                  <m:rPr>
                                    <m:nor/>
                                  </m:rPr>
                                  <a:rPr lang="en-US" sz="2400" dirty="0">
                                    <a:latin typeface="+mj-lt"/>
                                  </a:rPr>
                                  <m:t>s</m:t>
                                </m:r>
                                <m:r>
                                  <m:rPr>
                                    <m:nor/>
                                  </m:rPr>
                                  <a:rPr lang="en-US" sz="2400" dirty="0">
                                    <a:latin typeface="+mj-lt"/>
                                  </a:rPr>
                                  <m:t> </m:t>
                                </m:r>
                                <m:r>
                                  <m:rPr>
                                    <m:nor/>
                                  </m:rPr>
                                  <a:rPr lang="en-US" sz="2400" dirty="0">
                                    <a:latin typeface="+mj-lt"/>
                                  </a:rPr>
                                  <m:t>formula</m:t>
                                </m:r>
                                <m:r>
                                  <a:rPr lang="en-US" sz="2400" b="0" i="1" dirty="0" smtClean="0">
                                    <a:latin typeface="Cambria Math" panose="02040503050406030204" pitchFamily="18" charset="0"/>
                                  </a:rPr>
                                  <m:t>:</m:t>
                                </m:r>
                              </m:e>
                            </m:mr>
                            <m:mr>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𝜋</m:t>
                                    </m:r>
                                  </m:num>
                                  <m:den>
                                    <m:r>
                                      <a:rPr lang="en-US" sz="2400" b="0" i="1" smtClean="0">
                                        <a:latin typeface="Cambria Math" panose="02040503050406030204" pitchFamily="18" charset="0"/>
                                        <a:ea typeface="Cambria Math" panose="02040503050406030204" pitchFamily="18" charset="0"/>
                                      </a:rPr>
                                      <m:t>4</m:t>
                                    </m:r>
                                  </m:den>
                                </m:f>
                                <m:r>
                                  <a:rPr lang="en-US" sz="2400" b="0" i="1" smtClean="0">
                                    <a:latin typeface="Cambria Math" panose="02040503050406030204" pitchFamily="18" charset="0"/>
                                    <a:ea typeface="Cambria Math" panose="02040503050406030204" pitchFamily="18" charset="0"/>
                                  </a:rPr>
                                  <m:t>=</m:t>
                                </m:r>
                                <m:f>
                                  <m:fPr>
                                    <m:ctrlPr>
                                      <a:rPr lang="en-US" sz="2400" b="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1</m:t>
                                    </m:r>
                                  </m:den>
                                </m:f>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3</m:t>
                                    </m:r>
                                  </m:den>
                                </m:f>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5</m:t>
                                    </m:r>
                                  </m:den>
                                </m:f>
                                <m:r>
                                  <a:rPr lang="en-US" sz="2400" b="0" i="1" smtClean="0">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
                                      <a:rPr lang="en-US" sz="2400" b="0" i="1" smtClean="0">
                                        <a:latin typeface="Cambria Math" panose="02040503050406030204" pitchFamily="18" charset="0"/>
                                        <a:ea typeface="Cambria Math" panose="02040503050406030204" pitchFamily="18" charset="0"/>
                                      </a:rPr>
                                      <m:t>7</m:t>
                                    </m:r>
                                  </m:den>
                                </m:f>
                                <m:r>
                                  <a:rPr lang="en-US" sz="2400" i="1">
                                    <a:latin typeface="Cambria Math" panose="02040503050406030204" pitchFamily="18" charset="0"/>
                                    <a:ea typeface="Cambria Math" panose="02040503050406030204" pitchFamily="18" charset="0"/>
                                  </a:rPr>
                                  <m:t>⋯</m:t>
                                </m:r>
                              </m:e>
                            </m:mr>
                          </m:m>
                        </m:oMath>
                      </m:oMathPara>
                    </a14:m>
                    <a:endParaRPr lang="en-US" sz="2400" dirty="0"/>
                  </a:p>
                </p:txBody>
              </p:sp>
            </mc:Choice>
            <mc:Fallback xmlns="">
              <p:sp>
                <p:nvSpPr>
                  <p:cNvPr id="15" name="Rectangle 14">
                    <a:extLst>
                      <a:ext uri="{FF2B5EF4-FFF2-40B4-BE49-F238E27FC236}">
                        <a16:creationId xmlns:a16="http://schemas.microsoft.com/office/drawing/2014/main" id="{81E9BB89-ECE1-0449-A384-1E1EDFBA3F6A}"/>
                      </a:ext>
                    </a:extLst>
                  </p:cNvPr>
                  <p:cNvSpPr>
                    <a:spLocks noRot="1" noChangeAspect="1" noMove="1" noResize="1" noEditPoints="1" noAdjustHandles="1" noChangeArrowheads="1" noChangeShapeType="1" noTextEdit="1"/>
                  </p:cNvSpPr>
                  <p:nvPr/>
                </p:nvSpPr>
                <p:spPr>
                  <a:xfrm>
                    <a:off x="3522505" y="3359108"/>
                    <a:ext cx="2935162" cy="1844416"/>
                  </a:xfrm>
                  <a:prstGeom prst="rect">
                    <a:avLst/>
                  </a:prstGeom>
                  <a:blipFill>
                    <a:blip r:embed="rId4"/>
                    <a:stretch>
                      <a:fillRect b="-2740"/>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8D6D68F9-EB0D-2E4E-A3F5-768D044375A9}"/>
                  </a:ext>
                </a:extLst>
              </p:cNvPr>
              <p:cNvGrpSpPr/>
              <p:nvPr/>
            </p:nvGrpSpPr>
            <p:grpSpPr>
              <a:xfrm>
                <a:off x="3660118" y="910203"/>
                <a:ext cx="2689913" cy="2441285"/>
                <a:chOff x="3660118" y="910203"/>
                <a:chExt cx="2689913" cy="2441285"/>
              </a:xfrm>
            </p:grpSpPr>
            <p:sp>
              <p:nvSpPr>
                <p:cNvPr id="8" name="Oval 7">
                  <a:extLst>
                    <a:ext uri="{FF2B5EF4-FFF2-40B4-BE49-F238E27FC236}">
                      <a16:creationId xmlns:a16="http://schemas.microsoft.com/office/drawing/2014/main" id="{9926DBB2-0805-5448-8D41-A2E4FB9F4380}"/>
                    </a:ext>
                  </a:extLst>
                </p:cNvPr>
                <p:cNvSpPr/>
                <p:nvPr/>
              </p:nvSpPr>
              <p:spPr>
                <a:xfrm>
                  <a:off x="3833897" y="928688"/>
                  <a:ext cx="2422800" cy="242280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7BDB2162-95CC-AC4A-8547-9BC23E700FF3}"/>
                    </a:ext>
                  </a:extLst>
                </p:cNvPr>
                <p:cNvCxnSpPr>
                  <a:cxnSpLocks/>
                  <a:stCxn id="8" idx="2"/>
                  <a:endCxn id="8" idx="6"/>
                </p:cNvCxnSpPr>
                <p:nvPr/>
              </p:nvCxnSpPr>
              <p:spPr>
                <a:xfrm>
                  <a:off x="3833897" y="2140088"/>
                  <a:ext cx="2422800" cy="0"/>
                </a:xfrm>
                <a:prstGeom prst="straightConnector1">
                  <a:avLst/>
                </a:prstGeom>
                <a:ln w="25400">
                  <a:solidFill>
                    <a:srgbClr val="C0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C7C4DCED-ABB0-A440-9DB8-6AA8342007A9}"/>
                        </a:ext>
                      </a:extLst>
                    </p:cNvPr>
                    <p:cNvSpPr/>
                    <p:nvPr/>
                  </p:nvSpPr>
                  <p:spPr>
                    <a:xfrm>
                      <a:off x="4246155" y="2140088"/>
                      <a:ext cx="44127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𝑑</m:t>
                            </m:r>
                          </m:oMath>
                        </m:oMathPara>
                      </a14:m>
                      <a:endParaRPr lang="en-US" sz="2400" dirty="0"/>
                    </a:p>
                  </p:txBody>
                </p:sp>
              </mc:Choice>
              <mc:Fallback xmlns="">
                <p:sp>
                  <p:nvSpPr>
                    <p:cNvPr id="12" name="Rectangle 11">
                      <a:extLst>
                        <a:ext uri="{FF2B5EF4-FFF2-40B4-BE49-F238E27FC236}">
                          <a16:creationId xmlns:a16="http://schemas.microsoft.com/office/drawing/2014/main" id="{C7C4DCED-ABB0-A440-9DB8-6AA8342007A9}"/>
                        </a:ext>
                      </a:extLst>
                    </p:cNvPr>
                    <p:cNvSpPr>
                      <a:spLocks noRot="1" noChangeAspect="1" noMove="1" noResize="1" noEditPoints="1" noAdjustHandles="1" noChangeArrowheads="1" noChangeShapeType="1" noTextEdit="1"/>
                    </p:cNvSpPr>
                    <p:nvPr/>
                  </p:nvSpPr>
                  <p:spPr>
                    <a:xfrm>
                      <a:off x="4246155" y="2140088"/>
                      <a:ext cx="441275"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9E3E012B-ECC7-3546-80CC-EFAB1E101748}"/>
                        </a:ext>
                      </a:extLst>
                    </p:cNvPr>
                    <p:cNvSpPr/>
                    <p:nvPr/>
                  </p:nvSpPr>
                  <p:spPr>
                    <a:xfrm rot="16430031">
                      <a:off x="3665568" y="1020971"/>
                      <a:ext cx="2117261" cy="2128161"/>
                    </a:xfrm>
                    <a:prstGeom prst="rect">
                      <a:avLst/>
                    </a:prstGeom>
                    <a:noFill/>
                  </p:spPr>
                  <p:txBody>
                    <a:bodyPr wrap="none" lIns="91440" tIns="45720" rIns="91440" bIns="45720">
                      <a:prstTxWarp prst="textArchUp">
                        <a:avLst>
                          <a:gd name="adj" fmla="val 10875626"/>
                        </a:avLst>
                      </a:prstTxWarp>
                      <a:spAutoFit/>
                    </a:bodyPr>
                    <a:lstStyle/>
                    <a:p>
                      <a:pPr algn="ctr"/>
                      <a:r>
                        <a:rPr lang="en-US" sz="2400" dirty="0"/>
                        <a:t>circumference</a:t>
                      </a:r>
                      <a:r>
                        <a:rPr lang="en-US" sz="2200" b="0" cap="none" spc="0" dirty="0">
                          <a:ln w="0"/>
                          <a:solidFill>
                            <a:schemeClr val="tx1"/>
                          </a:solidFill>
                          <a:effectLst>
                            <a:outerShdw blurRad="38100" dist="19050" dir="2700000" algn="tl" rotWithShape="0">
                              <a:schemeClr val="dk1">
                                <a:alpha val="40000"/>
                              </a:schemeClr>
                            </a:outerShdw>
                          </a:effectLst>
                          <a:latin typeface="+mj-lt"/>
                        </a:rPr>
                        <a:t> : </a:t>
                      </a:r>
                      <a14:m>
                        <m:oMath xmlns:m="http://schemas.openxmlformats.org/officeDocument/2006/math">
                          <m:r>
                            <a:rPr lang="en-US" sz="2200" b="0" i="1" cap="none" spc="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m:t>𝐶</m:t>
                          </m:r>
                        </m:oMath>
                      </a14:m>
                      <a:endParaRPr lang="en-US" sz="2200" b="0" cap="none" spc="0" dirty="0">
                        <a:ln w="0"/>
                        <a:solidFill>
                          <a:schemeClr val="tx1"/>
                        </a:solidFill>
                        <a:effectLst>
                          <a:outerShdw blurRad="38100" dist="19050" dir="2700000" algn="tl" rotWithShape="0">
                            <a:schemeClr val="dk1">
                              <a:alpha val="40000"/>
                            </a:schemeClr>
                          </a:outerShdw>
                        </a:effectLst>
                        <a:latin typeface="+mj-lt"/>
                      </a:endParaRPr>
                    </a:p>
                  </p:txBody>
                </p:sp>
              </mc:Choice>
              <mc:Fallback xmlns="">
                <p:sp>
                  <p:nvSpPr>
                    <p:cNvPr id="14" name="Rectangle 13">
                      <a:extLst>
                        <a:ext uri="{FF2B5EF4-FFF2-40B4-BE49-F238E27FC236}">
                          <a16:creationId xmlns:a16="http://schemas.microsoft.com/office/drawing/2014/main" id="{9E3E012B-ECC7-3546-80CC-EFAB1E101748}"/>
                        </a:ext>
                      </a:extLst>
                    </p:cNvPr>
                    <p:cNvSpPr>
                      <a:spLocks noRot="1" noChangeAspect="1" noMove="1" noResize="1" noEditPoints="1" noAdjustHandles="1" noChangeArrowheads="1" noChangeShapeType="1" noTextEdit="1"/>
                    </p:cNvSpPr>
                    <p:nvPr/>
                  </p:nvSpPr>
                  <p:spPr>
                    <a:xfrm rot="16430031">
                      <a:off x="3665568" y="1020971"/>
                      <a:ext cx="2117261" cy="2128161"/>
                    </a:xfrm>
                    <a:prstGeom prst="rect">
                      <a:avLst/>
                    </a:prstGeom>
                    <a:blipFill>
                      <a:blip r:embed="rId7"/>
                      <a:stretch>
                        <a:fillRect l="-4494"/>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32C003C8-A5A8-8E49-87BC-3CB82C3AA3C2}"/>
                    </a:ext>
                  </a:extLst>
                </p:cNvPr>
                <p:cNvCxnSpPr>
                  <a:cxnSpLocks/>
                </p:cNvCxnSpPr>
                <p:nvPr/>
              </p:nvCxnSpPr>
              <p:spPr>
                <a:xfrm rot="18180000" flipV="1">
                  <a:off x="4802821" y="1649474"/>
                  <a:ext cx="1211400" cy="0"/>
                </a:xfrm>
                <a:prstGeom prst="straightConnector1">
                  <a:avLst/>
                </a:prstGeom>
                <a:ln w="1270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618D7745-09AA-D240-A1F0-49E69F07F789}"/>
                        </a:ext>
                      </a:extLst>
                    </p:cNvPr>
                    <p:cNvSpPr/>
                    <p:nvPr/>
                  </p:nvSpPr>
                  <p:spPr>
                    <a:xfrm>
                      <a:off x="4673662" y="1360538"/>
                      <a:ext cx="40620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00FF"/>
                                </a:solidFill>
                                <a:latin typeface="Cambria Math" panose="02040503050406030204" pitchFamily="18" charset="0"/>
                                <a:ea typeface="Cambria Math" panose="02040503050406030204" pitchFamily="18" charset="0"/>
                              </a:rPr>
                              <m:t>𝑟</m:t>
                            </m:r>
                          </m:oMath>
                        </m:oMathPara>
                      </a14:m>
                      <a:endParaRPr lang="en-US" sz="2400" dirty="0">
                        <a:solidFill>
                          <a:srgbClr val="0000FF"/>
                        </a:solidFill>
                      </a:endParaRPr>
                    </a:p>
                  </p:txBody>
                </p:sp>
              </mc:Choice>
              <mc:Fallback xmlns="">
                <p:sp>
                  <p:nvSpPr>
                    <p:cNvPr id="20" name="Rectangle 19">
                      <a:extLst>
                        <a:ext uri="{FF2B5EF4-FFF2-40B4-BE49-F238E27FC236}">
                          <a16:creationId xmlns:a16="http://schemas.microsoft.com/office/drawing/2014/main" id="{618D7745-09AA-D240-A1F0-49E69F07F789}"/>
                        </a:ext>
                      </a:extLst>
                    </p:cNvPr>
                    <p:cNvSpPr>
                      <a:spLocks noRot="1" noChangeAspect="1" noMove="1" noResize="1" noEditPoints="1" noAdjustHandles="1" noChangeArrowheads="1" noChangeShapeType="1" noTextEdit="1"/>
                    </p:cNvSpPr>
                    <p:nvPr/>
                  </p:nvSpPr>
                  <p:spPr>
                    <a:xfrm>
                      <a:off x="4673662" y="1360538"/>
                      <a:ext cx="406200" cy="461665"/>
                    </a:xfrm>
                    <a:prstGeom prst="rect">
                      <a:avLst/>
                    </a:prstGeom>
                    <a:blipFill>
                      <a:blip r:embed="rId8"/>
                      <a:stretch>
                        <a:fillRect/>
                      </a:stretch>
                    </a:blipFill>
                  </p:spPr>
                  <p:txBody>
                    <a:bodyPr/>
                    <a:lstStyle/>
                    <a:p>
                      <a:r>
                        <a:rPr lang="en-US">
                          <a:noFill/>
                        </a:rPr>
                        <a:t> </a:t>
                      </a:r>
                    </a:p>
                  </p:txBody>
                </p:sp>
              </mc:Fallback>
            </mc:AlternateContent>
            <p:sp>
              <p:nvSpPr>
                <p:cNvPr id="21" name="Arc 20">
                  <a:extLst>
                    <a:ext uri="{FF2B5EF4-FFF2-40B4-BE49-F238E27FC236}">
                      <a16:creationId xmlns:a16="http://schemas.microsoft.com/office/drawing/2014/main" id="{5C040428-1684-BA4D-9E7A-36BD2EE5A097}"/>
                    </a:ext>
                  </a:extLst>
                </p:cNvPr>
                <p:cNvSpPr/>
                <p:nvPr/>
              </p:nvSpPr>
              <p:spPr>
                <a:xfrm>
                  <a:off x="3816654" y="910203"/>
                  <a:ext cx="2422800" cy="2422800"/>
                </a:xfrm>
                <a:prstGeom prst="arc">
                  <a:avLst>
                    <a:gd name="adj1" fmla="val 18219788"/>
                    <a:gd name="adj2" fmla="val 66510"/>
                  </a:avLst>
                </a:prstGeom>
                <a:ln w="254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CCCF30E0-7300-A146-A0F5-85A20623D9A3}"/>
                        </a:ext>
                      </a:extLst>
                    </p:cNvPr>
                    <p:cNvSpPr/>
                    <p:nvPr/>
                  </p:nvSpPr>
                  <p:spPr>
                    <a:xfrm>
                      <a:off x="5943831" y="1141492"/>
                      <a:ext cx="40620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00FF"/>
                                </a:solidFill>
                                <a:latin typeface="Cambria Math" panose="02040503050406030204" pitchFamily="18" charset="0"/>
                                <a:ea typeface="Cambria Math" panose="02040503050406030204" pitchFamily="18" charset="0"/>
                              </a:rPr>
                              <m:t>𝑟</m:t>
                            </m:r>
                          </m:oMath>
                        </m:oMathPara>
                      </a14:m>
                      <a:endParaRPr lang="en-US" sz="2400" dirty="0">
                        <a:solidFill>
                          <a:srgbClr val="0000FF"/>
                        </a:solidFill>
                      </a:endParaRPr>
                    </a:p>
                  </p:txBody>
                </p:sp>
              </mc:Choice>
              <mc:Fallback xmlns="">
                <p:sp>
                  <p:nvSpPr>
                    <p:cNvPr id="22" name="Rectangle 21">
                      <a:extLst>
                        <a:ext uri="{FF2B5EF4-FFF2-40B4-BE49-F238E27FC236}">
                          <a16:creationId xmlns:a16="http://schemas.microsoft.com/office/drawing/2014/main" id="{CCCF30E0-7300-A146-A0F5-85A20623D9A3}"/>
                        </a:ext>
                      </a:extLst>
                    </p:cNvPr>
                    <p:cNvSpPr>
                      <a:spLocks noRot="1" noChangeAspect="1" noMove="1" noResize="1" noEditPoints="1" noAdjustHandles="1" noChangeArrowheads="1" noChangeShapeType="1" noTextEdit="1"/>
                    </p:cNvSpPr>
                    <p:nvPr/>
                  </p:nvSpPr>
                  <p:spPr>
                    <a:xfrm>
                      <a:off x="5943831" y="1141492"/>
                      <a:ext cx="406200"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75DF7279-E724-2043-88EB-6808C53A1584}"/>
                        </a:ext>
                      </a:extLst>
                    </p:cNvPr>
                    <p:cNvSpPr/>
                    <p:nvPr/>
                  </p:nvSpPr>
                  <p:spPr>
                    <a:xfrm rot="20427657">
                      <a:off x="5071510" y="1716390"/>
                      <a:ext cx="74340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𝑟𝑎𝑑</m:t>
                            </m:r>
                          </m:oMath>
                        </m:oMathPara>
                      </a14:m>
                      <a:endParaRPr lang="en-US" dirty="0"/>
                    </a:p>
                  </p:txBody>
                </p:sp>
              </mc:Choice>
              <mc:Fallback xmlns="">
                <p:sp>
                  <p:nvSpPr>
                    <p:cNvPr id="23" name="Rectangle 22">
                      <a:extLst>
                        <a:ext uri="{FF2B5EF4-FFF2-40B4-BE49-F238E27FC236}">
                          <a16:creationId xmlns:a16="http://schemas.microsoft.com/office/drawing/2014/main" id="{75DF7279-E724-2043-88EB-6808C53A1584}"/>
                        </a:ext>
                      </a:extLst>
                    </p:cNvPr>
                    <p:cNvSpPr>
                      <a:spLocks noRot="1" noChangeAspect="1" noMove="1" noResize="1" noEditPoints="1" noAdjustHandles="1" noChangeArrowheads="1" noChangeShapeType="1" noTextEdit="1"/>
                    </p:cNvSpPr>
                    <p:nvPr/>
                  </p:nvSpPr>
                  <p:spPr>
                    <a:xfrm rot="20427657">
                      <a:off x="5071510" y="1716390"/>
                      <a:ext cx="743409" cy="369332"/>
                    </a:xfrm>
                    <a:prstGeom prst="rect">
                      <a:avLst/>
                    </a:prstGeom>
                    <a:blipFill>
                      <a:blip r:embed="rId10"/>
                      <a:stretch>
                        <a:fillRect/>
                      </a:stretch>
                    </a:blipFill>
                  </p:spPr>
                  <p:txBody>
                    <a:bodyPr/>
                    <a:lstStyle/>
                    <a:p>
                      <a:r>
                        <a:rPr lang="en-US">
                          <a:noFill/>
                        </a:rPr>
                        <a:t> </a:t>
                      </a:r>
                    </a:p>
                  </p:txBody>
                </p:sp>
              </mc:Fallback>
            </mc:AlternateContent>
          </p:grpSp>
        </p:grpSp>
      </p:grpSp>
      <p:grpSp>
        <p:nvGrpSpPr>
          <p:cNvPr id="40" name="Group 39">
            <a:extLst>
              <a:ext uri="{FF2B5EF4-FFF2-40B4-BE49-F238E27FC236}">
                <a16:creationId xmlns:a16="http://schemas.microsoft.com/office/drawing/2014/main" id="{6AC6ED1F-F79C-9A4E-B3AD-0A043D9365A5}"/>
              </a:ext>
            </a:extLst>
          </p:cNvPr>
          <p:cNvGrpSpPr/>
          <p:nvPr/>
        </p:nvGrpSpPr>
        <p:grpSpPr>
          <a:xfrm>
            <a:off x="9130012" y="1468328"/>
            <a:ext cx="2880000" cy="4521018"/>
            <a:chOff x="6152166" y="926275"/>
            <a:chExt cx="2880000" cy="4521018"/>
          </a:xfrm>
        </p:grpSpPr>
        <p:sp>
          <p:nvSpPr>
            <p:cNvPr id="35" name="Rectangle 34">
              <a:extLst>
                <a:ext uri="{FF2B5EF4-FFF2-40B4-BE49-F238E27FC236}">
                  <a16:creationId xmlns:a16="http://schemas.microsoft.com/office/drawing/2014/main" id="{2C9C6F67-7594-B542-BD51-1318E95B30D5}"/>
                </a:ext>
              </a:extLst>
            </p:cNvPr>
            <p:cNvSpPr/>
            <p:nvPr/>
          </p:nvSpPr>
          <p:spPr>
            <a:xfrm>
              <a:off x="6152166" y="926275"/>
              <a:ext cx="2880000" cy="452101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C1E6A7B1-83B4-0746-BAFC-22C03FA38934}"/>
                </a:ext>
              </a:extLst>
            </p:cNvPr>
            <p:cNvGrpSpPr/>
            <p:nvPr/>
          </p:nvGrpSpPr>
          <p:grpSpPr>
            <a:xfrm>
              <a:off x="6230803" y="1077543"/>
              <a:ext cx="2657551" cy="3822545"/>
              <a:chOff x="7955204" y="928688"/>
              <a:chExt cx="2657551" cy="3822545"/>
            </a:xfrm>
          </p:grpSpPr>
          <p:pic>
            <p:nvPicPr>
              <p:cNvPr id="25" name="Picture 24">
                <a:extLst>
                  <a:ext uri="{FF2B5EF4-FFF2-40B4-BE49-F238E27FC236}">
                    <a16:creationId xmlns:a16="http://schemas.microsoft.com/office/drawing/2014/main" id="{F1C2A4AC-BB9D-134A-8131-EEAE0BAF4E27}"/>
                  </a:ext>
                </a:extLst>
              </p:cNvPr>
              <p:cNvPicPr>
                <a:picLocks noChangeAspect="1"/>
              </p:cNvPicPr>
              <p:nvPr/>
            </p:nvPicPr>
            <p:blipFill>
              <a:blip r:embed="rId11"/>
              <a:stretch>
                <a:fillRect/>
              </a:stretch>
            </p:blipFill>
            <p:spPr>
              <a:xfrm>
                <a:off x="7955204" y="928688"/>
                <a:ext cx="2647785" cy="2099377"/>
              </a:xfrm>
              <a:prstGeom prst="rect">
                <a:avLst/>
              </a:prstGeom>
            </p:spPr>
          </p:pic>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12FCEC76-FB5A-0E41-9F33-76B2786A282A}"/>
                      </a:ext>
                    </a:extLst>
                  </p:cNvPr>
                  <p:cNvSpPr/>
                  <p:nvPr/>
                </p:nvSpPr>
                <p:spPr>
                  <a:xfrm>
                    <a:off x="8020379" y="3575270"/>
                    <a:ext cx="2592376" cy="11759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400" b="0" i="1" smtClean="0">
                                  <a:latin typeface="Cambria Math" panose="02040503050406030204" pitchFamily="18" charset="0"/>
                                  <a:ea typeface="Cambria Math" panose="02040503050406030204" pitchFamily="18" charset="0"/>
                                </a:rPr>
                              </m:ctrlPr>
                            </m:mPr>
                            <m:mr>
                              <m:e>
                                <m:r>
                                  <a:rPr lang="en-US" sz="2400" b="1" i="1" smtClean="0">
                                    <a:solidFill>
                                      <a:srgbClr val="FF0000"/>
                                    </a:solidFill>
                                    <a:latin typeface="Cambria Math" panose="02040503050406030204" pitchFamily="18" charset="0"/>
                                    <a:ea typeface="Cambria Math" panose="02040503050406030204" pitchFamily="18" charset="0"/>
                                  </a:rPr>
                                  <m:t>𝒆</m:t>
                                </m:r>
                                <m:r>
                                  <a:rPr lang="en-US" sz="2400" i="1">
                                    <a:latin typeface="Cambria Math" panose="02040503050406030204" pitchFamily="18" charset="0"/>
                                    <a:ea typeface="Cambria Math" panose="02040503050406030204" pitchFamily="18" charset="0"/>
                                  </a:rPr>
                                  <m:t>=</m:t>
                                </m:r>
                                <m:func>
                                  <m:funcPr>
                                    <m:ctrlPr>
                                      <a:rPr lang="en-US" sz="2400" i="1">
                                        <a:latin typeface="Cambria Math" panose="02040503050406030204" pitchFamily="18" charset="0"/>
                                        <a:ea typeface="Cambria Math" panose="02040503050406030204" pitchFamily="18" charset="0"/>
                                      </a:rPr>
                                    </m:ctrlPr>
                                  </m:funcPr>
                                  <m:fName>
                                    <m:limLow>
                                      <m:limLowPr>
                                        <m:ctrlPr>
                                          <a:rPr lang="en-US" sz="2400" i="1">
                                            <a:latin typeface="Cambria Math" panose="02040503050406030204" pitchFamily="18" charset="0"/>
                                            <a:ea typeface="Cambria Math" panose="02040503050406030204" pitchFamily="18" charset="0"/>
                                          </a:rPr>
                                        </m:ctrlPr>
                                      </m:limLowPr>
                                      <m:e>
                                        <m:r>
                                          <m:rPr>
                                            <m:sty m:val="p"/>
                                          </m:rPr>
                                          <a:rPr lang="en-US" sz="2400">
                                            <a:latin typeface="Cambria Math" panose="02040503050406030204" pitchFamily="18" charset="0"/>
                                            <a:ea typeface="Cambria Math" panose="02040503050406030204" pitchFamily="18" charset="0"/>
                                          </a:rPr>
                                          <m:t>lim</m:t>
                                        </m:r>
                                      </m:e>
                                      <m:lim>
                                        <m:r>
                                          <a:rPr lang="en-US" sz="2400" i="1">
                                            <a:latin typeface="Cambria Math" panose="02040503050406030204" pitchFamily="18" charset="0"/>
                                            <a:ea typeface="Cambria Math" panose="02040503050406030204" pitchFamily="18" charset="0"/>
                                          </a:rPr>
                                          <m:t>𝑛</m:t>
                                        </m:r>
                                        <m:r>
                                          <a:rPr lang="en-US" sz="2400" i="1">
                                            <a:latin typeface="Cambria Math" panose="02040503050406030204" pitchFamily="18" charset="0"/>
                                            <a:ea typeface="Cambria Math" panose="02040503050406030204" pitchFamily="18" charset="0"/>
                                          </a:rPr>
                                          <m:t>→∞</m:t>
                                        </m:r>
                                      </m:lim>
                                    </m:limLow>
                                  </m:fName>
                                  <m:e>
                                    <m:sSup>
                                      <m:sSupPr>
                                        <m:ctrlPr>
                                          <a:rPr lang="en-US" sz="2400" i="1">
                                            <a:latin typeface="Cambria Math" panose="02040503050406030204" pitchFamily="18" charset="0"/>
                                            <a:ea typeface="Cambria Math" panose="02040503050406030204" pitchFamily="18" charset="0"/>
                                          </a:rPr>
                                        </m:ctrlPr>
                                      </m:sSupPr>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1+</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
                                                  <a:rPr lang="en-US" sz="2400" i="1">
                                                    <a:latin typeface="Cambria Math" panose="02040503050406030204" pitchFamily="18" charset="0"/>
                                                    <a:ea typeface="Cambria Math" panose="02040503050406030204" pitchFamily="18" charset="0"/>
                                                  </a:rPr>
                                                  <m:t>𝑛</m:t>
                                                </m:r>
                                              </m:den>
                                            </m:f>
                                          </m:e>
                                        </m:d>
                                      </m:e>
                                      <m:sup>
                                        <m:r>
                                          <a:rPr lang="en-US" sz="2400" i="1">
                                            <a:latin typeface="Cambria Math" panose="02040503050406030204" pitchFamily="18" charset="0"/>
                                            <a:ea typeface="Cambria Math" panose="02040503050406030204" pitchFamily="18" charset="0"/>
                                          </a:rPr>
                                          <m:t>𝑛</m:t>
                                        </m:r>
                                      </m:sup>
                                    </m:sSup>
                                  </m:e>
                                </m:func>
                              </m:e>
                            </m:mr>
                            <m:mr>
                              <m:e>
                                <m:r>
                                  <a:rPr lang="en-US" sz="2400" b="0" i="1" smtClean="0">
                                    <a:latin typeface="Cambria Math" panose="02040503050406030204" pitchFamily="18" charset="0"/>
                                    <a:ea typeface="Cambria Math" panose="02040503050406030204" pitchFamily="18" charset="0"/>
                                  </a:rPr>
                                  <m:t>𝑒</m:t>
                                </m:r>
                                <m:r>
                                  <a:rPr lang="en-US" sz="2400" b="0" i="1" smtClean="0">
                                    <a:latin typeface="Cambria Math" panose="02040503050406030204" pitchFamily="18" charset="0"/>
                                    <a:ea typeface="Cambria Math" panose="02040503050406030204" pitchFamily="18" charset="0"/>
                                  </a:rPr>
                                  <m:t>≈</m:t>
                                </m:r>
                                <m:r>
                                  <m:rPr>
                                    <m:nor/>
                                  </m:rPr>
                                  <a:rPr lang="en-ZA" sz="2400">
                                    <a:latin typeface="Cambria Math" panose="02040503050406030204" pitchFamily="18" charset="0"/>
                                    <a:ea typeface="Cambria Math" panose="02040503050406030204" pitchFamily="18" charset="0"/>
                                  </a:rPr>
                                  <m:t>2</m:t>
                                </m:r>
                                <m:r>
                                  <m:rPr>
                                    <m:nor/>
                                  </m:rPr>
                                  <a:rPr lang="en-US" sz="2400" b="0" i="0" smtClean="0">
                                    <a:latin typeface="Cambria Math" panose="02040503050406030204" pitchFamily="18" charset="0"/>
                                    <a:ea typeface="Cambria Math" panose="02040503050406030204" pitchFamily="18" charset="0"/>
                                  </a:rPr>
                                  <m:t>.</m:t>
                                </m:r>
                                <m:r>
                                  <m:rPr>
                                    <m:nor/>
                                  </m:rPr>
                                  <a:rPr lang="en-ZA" sz="2400">
                                    <a:latin typeface="Cambria Math" panose="02040503050406030204" pitchFamily="18" charset="0"/>
                                    <a:ea typeface="Cambria Math" panose="02040503050406030204" pitchFamily="18" charset="0"/>
                                  </a:rPr>
                                  <m:t>71828</m:t>
                                </m:r>
                              </m:e>
                            </m:mr>
                          </m:m>
                        </m:oMath>
                      </m:oMathPara>
                    </a14:m>
                    <a:endParaRPr lang="en-US" sz="2400" dirty="0"/>
                  </a:p>
                </p:txBody>
              </p:sp>
            </mc:Choice>
            <mc:Fallback xmlns="">
              <p:sp>
                <p:nvSpPr>
                  <p:cNvPr id="27" name="Rectangle 26">
                    <a:extLst>
                      <a:ext uri="{FF2B5EF4-FFF2-40B4-BE49-F238E27FC236}">
                        <a16:creationId xmlns:a16="http://schemas.microsoft.com/office/drawing/2014/main" id="{12FCEC76-FB5A-0E41-9F33-76B2786A282A}"/>
                      </a:ext>
                    </a:extLst>
                  </p:cNvPr>
                  <p:cNvSpPr>
                    <a:spLocks noRot="1" noChangeAspect="1" noMove="1" noResize="1" noEditPoints="1" noAdjustHandles="1" noChangeArrowheads="1" noChangeShapeType="1" noTextEdit="1"/>
                  </p:cNvSpPr>
                  <p:nvPr/>
                </p:nvSpPr>
                <p:spPr>
                  <a:xfrm>
                    <a:off x="8020379" y="3575270"/>
                    <a:ext cx="2592376" cy="1175963"/>
                  </a:xfrm>
                  <a:prstGeom prst="rect">
                    <a:avLst/>
                  </a:prstGeom>
                  <a:blipFill>
                    <a:blip r:embed="rId12"/>
                    <a:stretch>
                      <a:fillRect b="-1064"/>
                    </a:stretch>
                  </a:blipFill>
                </p:spPr>
                <p:txBody>
                  <a:bodyPr/>
                  <a:lstStyle/>
                  <a:p>
                    <a:r>
                      <a:rPr lang="en-US">
                        <a:noFill/>
                      </a:rPr>
                      <a:t> </a:t>
                    </a:r>
                  </a:p>
                </p:txBody>
              </p:sp>
            </mc:Fallback>
          </mc:AlternateContent>
        </p:grpSp>
      </p:grpSp>
      <p:grpSp>
        <p:nvGrpSpPr>
          <p:cNvPr id="41" name="Group 40">
            <a:extLst>
              <a:ext uri="{FF2B5EF4-FFF2-40B4-BE49-F238E27FC236}">
                <a16:creationId xmlns:a16="http://schemas.microsoft.com/office/drawing/2014/main" id="{E36FB613-0F74-824B-B5C8-6EA62DA12519}"/>
              </a:ext>
            </a:extLst>
          </p:cNvPr>
          <p:cNvGrpSpPr/>
          <p:nvPr/>
        </p:nvGrpSpPr>
        <p:grpSpPr>
          <a:xfrm>
            <a:off x="6195684" y="1468328"/>
            <a:ext cx="2880000" cy="4521018"/>
            <a:chOff x="9201782" y="926275"/>
            <a:chExt cx="2880000" cy="4521018"/>
          </a:xfrm>
        </p:grpSpPr>
        <p:sp>
          <p:nvSpPr>
            <p:cNvPr id="36" name="Rectangle 35">
              <a:extLst>
                <a:ext uri="{FF2B5EF4-FFF2-40B4-BE49-F238E27FC236}">
                  <a16:creationId xmlns:a16="http://schemas.microsoft.com/office/drawing/2014/main" id="{A55F28AB-218E-E449-8E3B-4E0D4F99CA5A}"/>
                </a:ext>
              </a:extLst>
            </p:cNvPr>
            <p:cNvSpPr/>
            <p:nvPr/>
          </p:nvSpPr>
          <p:spPr>
            <a:xfrm>
              <a:off x="9201782" y="926275"/>
              <a:ext cx="2880000" cy="452101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6000" dirty="0">
                <a:solidFill>
                  <a:schemeClr val="tx1"/>
                </a:solidFill>
              </a:endParaRPr>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2C7EEB92-31AA-1644-A638-5C80628E1075}"/>
                    </a:ext>
                  </a:extLst>
                </p:cNvPr>
                <p:cNvSpPr/>
                <p:nvPr/>
              </p:nvSpPr>
              <p:spPr>
                <a:xfrm>
                  <a:off x="9687618" y="2509892"/>
                  <a:ext cx="1998624" cy="19825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ZA" sz="2400" i="1" smtClean="0">
                                <a:latin typeface="Cambria Math" panose="02040503050406030204" pitchFamily="18" charset="0"/>
                              </a:rPr>
                            </m:ctrlPr>
                          </m:sSupPr>
                          <m:e>
                            <m:r>
                              <a:rPr lang="sr-Latn-RS" sz="2400" i="1">
                                <a:latin typeface="Cambria Math" panose="02040503050406030204" pitchFamily="18" charset="0"/>
                              </a:rPr>
                              <m:t>𝑥</m:t>
                            </m:r>
                          </m:e>
                          <m:sup>
                            <m:r>
                              <a:rPr lang="sr-Latn-RS" sz="2400" i="1">
                                <a:latin typeface="Cambria Math" panose="02040503050406030204" pitchFamily="18" charset="0"/>
                              </a:rPr>
                              <m:t>2</m:t>
                            </m:r>
                          </m:sup>
                        </m:sSup>
                        <m:r>
                          <a:rPr lang="sr-Latn-RS" sz="2400" i="1">
                            <a:latin typeface="Cambria Math" panose="02040503050406030204" pitchFamily="18" charset="0"/>
                          </a:rPr>
                          <m:t>+1=0 </m:t>
                        </m:r>
                      </m:oMath>
                    </m:oMathPara>
                  </a14:m>
                  <a:endParaRPr lang="sr-Latn-RS" sz="2400" i="1" dirty="0"/>
                </a:p>
                <a:p>
                  <a:endParaRPr lang="en-US" sz="24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m:t>
                        </m:r>
                      </m:oMath>
                    </m:oMathPara>
                  </a14:m>
                  <a:endParaRPr lang="sr-Latn-RS" sz="2400" i="1" dirty="0">
                    <a:latin typeface="Cambria Math" panose="02040503050406030204" pitchFamily="18" charset="0"/>
                  </a:endParaRPr>
                </a:p>
                <a:p>
                  <a:endParaRPr lang="sr-Latn-RS" sz="24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r>
                          <a:rPr lang="sr-Latn-RS" sz="2400" i="1">
                            <a:latin typeface="Cambria Math" panose="02040503050406030204" pitchFamily="18" charset="0"/>
                          </a:rPr>
                          <m:t>=</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m:t>
                            </m:r>
                          </m:e>
                        </m:rad>
                        <m:r>
                          <a:rPr lang="en-US" sz="2400" b="0" i="1" smtClean="0">
                            <a:latin typeface="Cambria Math" panose="02040503050406030204" pitchFamily="18" charset="0"/>
                          </a:rPr>
                          <m:t>=</m:t>
                        </m:r>
                        <m:r>
                          <a:rPr lang="en-US" sz="2400" b="0" i="1" smtClean="0">
                            <a:latin typeface="Cambria Math" panose="02040503050406030204" pitchFamily="18" charset="0"/>
                          </a:rPr>
                          <m:t>𝑖</m:t>
                        </m:r>
                      </m:oMath>
                    </m:oMathPara>
                  </a14:m>
                  <a:endParaRPr lang="sr-Latn-RS" sz="2400" b="0" i="1" dirty="0">
                    <a:latin typeface="Cambria Math" panose="02040503050406030204" pitchFamily="18" charset="0"/>
                  </a:endParaRPr>
                </a:p>
              </p:txBody>
            </p:sp>
          </mc:Choice>
          <mc:Fallback xmlns="">
            <p:sp>
              <p:nvSpPr>
                <p:cNvPr id="32" name="Rectangle 31">
                  <a:extLst>
                    <a:ext uri="{FF2B5EF4-FFF2-40B4-BE49-F238E27FC236}">
                      <a16:creationId xmlns:a16="http://schemas.microsoft.com/office/drawing/2014/main" id="{2C7EEB92-31AA-1644-A638-5C80628E1075}"/>
                    </a:ext>
                  </a:extLst>
                </p:cNvPr>
                <p:cNvSpPr>
                  <a:spLocks noRot="1" noChangeAspect="1" noMove="1" noResize="1" noEditPoints="1" noAdjustHandles="1" noChangeArrowheads="1" noChangeShapeType="1" noTextEdit="1"/>
                </p:cNvSpPr>
                <p:nvPr/>
              </p:nvSpPr>
              <p:spPr>
                <a:xfrm>
                  <a:off x="9687618" y="2509892"/>
                  <a:ext cx="1998624" cy="198253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CB78023F-6997-534F-83DC-20228842E309}"/>
                    </a:ext>
                  </a:extLst>
                </p:cNvPr>
                <p:cNvSpPr/>
                <p:nvPr/>
              </p:nvSpPr>
              <p:spPr>
                <a:xfrm>
                  <a:off x="10328042" y="1317713"/>
                  <a:ext cx="627479" cy="10156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6000" i="1" smtClean="0">
                            <a:solidFill>
                              <a:srgbClr val="FF0000"/>
                            </a:solidFill>
                            <a:latin typeface="Cambria Math" panose="02040503050406030204" pitchFamily="18" charset="0"/>
                          </a:rPr>
                          <m:t>𝑖</m:t>
                        </m:r>
                      </m:oMath>
                    </m:oMathPara>
                  </a14:m>
                  <a:endParaRPr lang="en-US" sz="6000" dirty="0">
                    <a:solidFill>
                      <a:srgbClr val="FF0000"/>
                    </a:solidFill>
                  </a:endParaRPr>
                </a:p>
              </p:txBody>
            </p:sp>
          </mc:Choice>
          <mc:Fallback xmlns="">
            <p:sp>
              <p:nvSpPr>
                <p:cNvPr id="38" name="Rectangle 37">
                  <a:extLst>
                    <a:ext uri="{FF2B5EF4-FFF2-40B4-BE49-F238E27FC236}">
                      <a16:creationId xmlns:a16="http://schemas.microsoft.com/office/drawing/2014/main" id="{CB78023F-6997-534F-83DC-20228842E309}"/>
                    </a:ext>
                  </a:extLst>
                </p:cNvPr>
                <p:cNvSpPr>
                  <a:spLocks noRot="1" noChangeAspect="1" noMove="1" noResize="1" noEditPoints="1" noAdjustHandles="1" noChangeArrowheads="1" noChangeShapeType="1" noTextEdit="1"/>
                </p:cNvSpPr>
                <p:nvPr/>
              </p:nvSpPr>
              <p:spPr>
                <a:xfrm>
                  <a:off x="10328042" y="1317713"/>
                  <a:ext cx="627479" cy="1015663"/>
                </a:xfrm>
                <a:prstGeom prst="rect">
                  <a:avLst/>
                </a:prstGeom>
                <a:blipFill>
                  <a:blip r:embed="rId14"/>
                  <a:stretch>
                    <a:fillRect l="-9804" r="-5882"/>
                  </a:stretch>
                </a:blipFill>
              </p:spPr>
              <p:txBody>
                <a:bodyPr/>
                <a:lstStyle/>
                <a:p>
                  <a:r>
                    <a:rPr lang="en-US">
                      <a:noFill/>
                    </a:rPr>
                    <a:t> </a:t>
                  </a:r>
                </a:p>
              </p:txBody>
            </p:sp>
          </mc:Fallback>
        </mc:AlternateContent>
      </p:grpSp>
      <p:sp>
        <p:nvSpPr>
          <p:cNvPr id="37" name="Oval 36">
            <a:extLst>
              <a:ext uri="{FF2B5EF4-FFF2-40B4-BE49-F238E27FC236}">
                <a16:creationId xmlns:a16="http://schemas.microsoft.com/office/drawing/2014/main" id="{17F1468D-083B-4D4C-A8D2-0E3754902CC0}"/>
              </a:ext>
            </a:extLst>
          </p:cNvPr>
          <p:cNvSpPr/>
          <p:nvPr/>
        </p:nvSpPr>
        <p:spPr>
          <a:xfrm>
            <a:off x="412460" y="1620410"/>
            <a:ext cx="2422800" cy="2422800"/>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7E1C8F1E-FF32-384B-8535-8CE257E91DA7}"/>
              </a:ext>
            </a:extLst>
          </p:cNvPr>
          <p:cNvCxnSpPr>
            <a:cxnSpLocks/>
            <a:endCxn id="37" idx="6"/>
          </p:cNvCxnSpPr>
          <p:nvPr/>
        </p:nvCxnSpPr>
        <p:spPr>
          <a:xfrm>
            <a:off x="1500357" y="2831810"/>
            <a:ext cx="1334903" cy="0"/>
          </a:xfrm>
          <a:prstGeom prst="line">
            <a:avLst/>
          </a:prstGeom>
          <a:ln w="22225" cap="rnd"/>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B6FDCCCD-FC2A-A941-8574-740AFEA9A5BA}"/>
              </a:ext>
            </a:extLst>
          </p:cNvPr>
          <p:cNvSpPr txBox="1"/>
          <p:nvPr/>
        </p:nvSpPr>
        <p:spPr>
          <a:xfrm>
            <a:off x="2838825" y="2795103"/>
            <a:ext cx="340158" cy="461665"/>
          </a:xfrm>
          <a:prstGeom prst="rect">
            <a:avLst/>
          </a:prstGeom>
          <a:noFill/>
        </p:spPr>
        <p:txBody>
          <a:bodyPr wrap="none" rtlCol="0">
            <a:spAutoFit/>
          </a:bodyPr>
          <a:lstStyle/>
          <a:p>
            <a:r>
              <a:rPr lang="en-US" sz="2400" dirty="0"/>
              <a:t>1</a:t>
            </a:r>
          </a:p>
        </p:txBody>
      </p:sp>
      <p:cxnSp>
        <p:nvCxnSpPr>
          <p:cNvPr id="42" name="Straight Connector 41">
            <a:extLst>
              <a:ext uri="{FF2B5EF4-FFF2-40B4-BE49-F238E27FC236}">
                <a16:creationId xmlns:a16="http://schemas.microsoft.com/office/drawing/2014/main" id="{113CB152-24E3-A643-B25C-6C230F46AC86}"/>
              </a:ext>
            </a:extLst>
          </p:cNvPr>
          <p:cNvCxnSpPr>
            <a:cxnSpLocks/>
          </p:cNvCxnSpPr>
          <p:nvPr/>
        </p:nvCxnSpPr>
        <p:spPr>
          <a:xfrm>
            <a:off x="2412138" y="1884702"/>
            <a:ext cx="0" cy="946255"/>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D5EE66F-B325-CB41-B502-853881E55A33}"/>
              </a:ext>
            </a:extLst>
          </p:cNvPr>
          <p:cNvCxnSpPr>
            <a:cxnSpLocks/>
          </p:cNvCxnSpPr>
          <p:nvPr/>
        </p:nvCxnSpPr>
        <p:spPr>
          <a:xfrm rot="-2700000">
            <a:off x="1311522" y="2375494"/>
            <a:ext cx="1289451" cy="0"/>
          </a:xfrm>
          <a:prstGeom prst="line">
            <a:avLst/>
          </a:prstGeom>
          <a:ln w="22225" cap="rnd"/>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D634B6F0-ECD6-7E48-8E6F-9ACC3201FE11}"/>
              </a:ext>
            </a:extLst>
          </p:cNvPr>
          <p:cNvSpPr txBox="1"/>
          <p:nvPr/>
        </p:nvSpPr>
        <p:spPr>
          <a:xfrm>
            <a:off x="1609418" y="2493944"/>
            <a:ext cx="532518" cy="400110"/>
          </a:xfrm>
          <a:prstGeom prst="rect">
            <a:avLst/>
          </a:prstGeom>
          <a:noFill/>
        </p:spPr>
        <p:txBody>
          <a:bodyPr wrap="none" rtlCol="0">
            <a:spAutoFit/>
          </a:bodyPr>
          <a:lstStyle/>
          <a:p>
            <a:r>
              <a:rPr lang="en-US" sz="2000" dirty="0"/>
              <a:t>45</a:t>
            </a:r>
            <a:r>
              <a:rPr lang="en-ZA" sz="2000" b="1" dirty="0"/>
              <a:t>°</a:t>
            </a:r>
            <a:endParaRPr lang="en-US" sz="2000" dirty="0"/>
          </a:p>
        </p:txBody>
      </p:sp>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9A2307CE-8296-964A-869F-FD2CF8CC441D}"/>
                  </a:ext>
                </a:extLst>
              </p:cNvPr>
              <p:cNvSpPr/>
              <p:nvPr/>
            </p:nvSpPr>
            <p:spPr>
              <a:xfrm>
                <a:off x="1551615" y="2803007"/>
                <a:ext cx="773417" cy="401970"/>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f>
                        <m:fPr>
                          <m:type m:val="lin"/>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ad>
                            <m:radPr>
                              <m:degHide m:val="on"/>
                              <m:ctrlPr>
                                <a:rPr lang="en-US" i="1">
                                  <a:latin typeface="Cambria Math" panose="02040503050406030204" pitchFamily="18" charset="0"/>
                                  <a:ea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2</m:t>
                              </m:r>
                            </m:e>
                          </m:rad>
                        </m:den>
                      </m:f>
                    </m:oMath>
                  </m:oMathPara>
                </a14:m>
                <a:endParaRPr lang="en-US" dirty="0"/>
              </a:p>
            </p:txBody>
          </p:sp>
        </mc:Choice>
        <mc:Fallback xmlns="">
          <p:sp>
            <p:nvSpPr>
              <p:cNvPr id="53" name="Rectangle 52">
                <a:extLst>
                  <a:ext uri="{FF2B5EF4-FFF2-40B4-BE49-F238E27FC236}">
                    <a16:creationId xmlns:a16="http://schemas.microsoft.com/office/drawing/2014/main" id="{9A2307CE-8296-964A-869F-FD2CF8CC441D}"/>
                  </a:ext>
                </a:extLst>
              </p:cNvPr>
              <p:cNvSpPr>
                <a:spLocks noRot="1" noChangeAspect="1" noMove="1" noResize="1" noEditPoints="1" noAdjustHandles="1" noChangeArrowheads="1" noChangeShapeType="1" noTextEdit="1"/>
              </p:cNvSpPr>
              <p:nvPr/>
            </p:nvSpPr>
            <p:spPr>
              <a:xfrm>
                <a:off x="1551615" y="2803007"/>
                <a:ext cx="773417" cy="401970"/>
              </a:xfrm>
              <a:prstGeom prst="rect">
                <a:avLst/>
              </a:prstGeom>
              <a:blipFill>
                <a:blip r:embed="rId15"/>
                <a:stretch>
                  <a:fillRect l="-22581" t="-93750" b="-156250"/>
                </a:stretch>
              </a:blipFill>
            </p:spPr>
            <p:txBody>
              <a:bodyPr/>
              <a:lstStyle/>
              <a:p>
                <a:r>
                  <a:rPr lang="en-US">
                    <a:noFill/>
                  </a:rPr>
                  <a:t> </a:t>
                </a:r>
              </a:p>
            </p:txBody>
          </p:sp>
        </mc:Fallback>
      </mc:AlternateContent>
      <p:sp>
        <p:nvSpPr>
          <p:cNvPr id="54" name="TextBox 53">
            <a:extLst>
              <a:ext uri="{FF2B5EF4-FFF2-40B4-BE49-F238E27FC236}">
                <a16:creationId xmlns:a16="http://schemas.microsoft.com/office/drawing/2014/main" id="{D3375029-C1BA-7A49-8992-295C37AF5E52}"/>
              </a:ext>
            </a:extLst>
          </p:cNvPr>
          <p:cNvSpPr txBox="1"/>
          <p:nvPr/>
        </p:nvSpPr>
        <p:spPr>
          <a:xfrm>
            <a:off x="1646211" y="1968209"/>
            <a:ext cx="340158" cy="461665"/>
          </a:xfrm>
          <a:prstGeom prst="rect">
            <a:avLst/>
          </a:prstGeom>
          <a:noFill/>
        </p:spPr>
        <p:txBody>
          <a:bodyPr wrap="none" rtlCol="0">
            <a:spAutoFit/>
          </a:bodyPr>
          <a:lstStyle/>
          <a:p>
            <a:r>
              <a:rPr lang="en-US" sz="2400" dirty="0"/>
              <a:t>1</a:t>
            </a:r>
          </a:p>
        </p:txBody>
      </p:sp>
    </p:spTree>
    <p:extLst>
      <p:ext uri="{BB962C8B-B14F-4D97-AF65-F5344CB8AC3E}">
        <p14:creationId xmlns:p14="http://schemas.microsoft.com/office/powerpoint/2010/main" val="53935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blinds(horizontal)">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blinds(horizontal)">
                                      <p:cBhvr>
                                        <p:cTn id="12" dur="500"/>
                                        <p:tgtEl>
                                          <p:spTgt spid="4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blinds(horizontal)">
                                      <p:cBhvr>
                                        <p:cTn id="1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4579CC-F83F-1549-870B-FD35ECF4FE0A}"/>
              </a:ext>
            </a:extLst>
          </p:cNvPr>
          <p:cNvSpPr>
            <a:spLocks noGrp="1"/>
          </p:cNvSpPr>
          <p:nvPr>
            <p:ph type="sldNum" sz="quarter" idx="12"/>
          </p:nvPr>
        </p:nvSpPr>
        <p:spPr/>
        <p:txBody>
          <a:bodyPr/>
          <a:lstStyle/>
          <a:p>
            <a:fld id="{591A223C-FA10-BC46-A853-03BA373D023C}" type="slidenum">
              <a:rPr lang="en-US" smtClean="0"/>
              <a:t>6</a:t>
            </a:fld>
            <a:endParaRPr lang="en-US"/>
          </a:p>
        </p:txBody>
      </p:sp>
      <p:sp>
        <p:nvSpPr>
          <p:cNvPr id="3" name="Title 2">
            <a:extLst>
              <a:ext uri="{FF2B5EF4-FFF2-40B4-BE49-F238E27FC236}">
                <a16:creationId xmlns:a16="http://schemas.microsoft.com/office/drawing/2014/main" id="{8A4338C6-B18C-5744-BA40-E16E0CA94C7D}"/>
              </a:ext>
            </a:extLst>
          </p:cNvPr>
          <p:cNvSpPr>
            <a:spLocks noGrp="1"/>
          </p:cNvSpPr>
          <p:nvPr>
            <p:ph type="title"/>
          </p:nvPr>
        </p:nvSpPr>
        <p:spPr>
          <a:xfrm>
            <a:off x="0" y="0"/>
            <a:ext cx="12192000" cy="928688"/>
          </a:xfrm>
        </p:spPr>
        <p:txBody>
          <a:bodyPr/>
          <a:lstStyle/>
          <a:p>
            <a:r>
              <a:rPr lang="en-ZA" dirty="0"/>
              <a:t>Important Trigonometric Functions</a:t>
            </a:r>
            <a:endParaRPr lang="en-US" dirty="0"/>
          </a:p>
        </p:txBody>
      </p:sp>
      <p:pic>
        <p:nvPicPr>
          <p:cNvPr id="6" name="Picture 5">
            <a:extLst>
              <a:ext uri="{FF2B5EF4-FFF2-40B4-BE49-F238E27FC236}">
                <a16:creationId xmlns:a16="http://schemas.microsoft.com/office/drawing/2014/main" id="{82D29424-C429-1E4D-BB8A-55C62CE6238A}"/>
              </a:ext>
            </a:extLst>
          </p:cNvPr>
          <p:cNvPicPr>
            <a:picLocks noChangeAspect="1"/>
          </p:cNvPicPr>
          <p:nvPr/>
        </p:nvPicPr>
        <p:blipFill>
          <a:blip r:embed="rId3"/>
          <a:stretch>
            <a:fillRect/>
          </a:stretch>
        </p:blipFill>
        <p:spPr>
          <a:xfrm>
            <a:off x="118531" y="1757087"/>
            <a:ext cx="4364097" cy="3907389"/>
          </a:xfrm>
          <a:prstGeom prst="rect">
            <a:avLst/>
          </a:prstGeom>
        </p:spPr>
      </p:pic>
      <p:sp>
        <p:nvSpPr>
          <p:cNvPr id="19" name="Rounded Rectangle 18">
            <a:extLst>
              <a:ext uri="{FF2B5EF4-FFF2-40B4-BE49-F238E27FC236}">
                <a16:creationId xmlns:a16="http://schemas.microsoft.com/office/drawing/2014/main" id="{96FC3ED5-DDD0-2048-9669-4B53B2226C2E}"/>
              </a:ext>
            </a:extLst>
          </p:cNvPr>
          <p:cNvSpPr/>
          <p:nvPr/>
        </p:nvSpPr>
        <p:spPr>
          <a:xfrm>
            <a:off x="4822712" y="5033728"/>
            <a:ext cx="7117961" cy="1261496"/>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F9821D9-9A68-E044-820E-65EDDD061AF0}"/>
                  </a:ext>
                </a:extLst>
              </p:cNvPr>
              <p:cNvSpPr txBox="1"/>
              <p:nvPr/>
            </p:nvSpPr>
            <p:spPr>
              <a:xfrm>
                <a:off x="5369785" y="5193947"/>
                <a:ext cx="6174511" cy="9478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ZA" sz="2800" i="1">
                              <a:latin typeface="Cambria Math" panose="02040503050406030204" pitchFamily="18" charset="0"/>
                            </a:rPr>
                          </m:ctrlPr>
                        </m:mPr>
                        <m:mr>
                          <m:e>
                            <m:func>
                              <m:funcPr>
                                <m:ctrlPr>
                                  <a:rPr lang="en-ZA" sz="2800" i="1">
                                    <a:latin typeface="Cambria Math" panose="02040503050406030204" pitchFamily="18" charset="0"/>
                                  </a:rPr>
                                </m:ctrlPr>
                              </m:funcPr>
                              <m:fName>
                                <m:r>
                                  <m:rPr>
                                    <m:sty m:val="p"/>
                                  </m:rPr>
                                  <a:rPr lang="sr-Latn-RS" sz="2800" i="0">
                                    <a:latin typeface="Cambria Math" panose="02040503050406030204" pitchFamily="18" charset="0"/>
                                  </a:rPr>
                                  <m:t>sin</m:t>
                                </m:r>
                              </m:fName>
                              <m:e>
                                <m:d>
                                  <m:dPr>
                                    <m:ctrlPr>
                                      <a:rPr lang="en-ZA" sz="2800" i="1">
                                        <a:latin typeface="Cambria Math" panose="02040503050406030204" pitchFamily="18" charset="0"/>
                                      </a:rPr>
                                    </m:ctrlPr>
                                  </m:dPr>
                                  <m:e>
                                    <m:r>
                                      <a:rPr lang="sr-Latn-RS" sz="2800" i="1">
                                        <a:latin typeface="Cambria Math" panose="02040503050406030204" pitchFamily="18" charset="0"/>
                                      </a:rPr>
                                      <m:t>𝛼</m:t>
                                    </m:r>
                                    <m:r>
                                      <a:rPr lang="sr-Latn-RS" sz="2800" i="1">
                                        <a:latin typeface="Cambria Math" panose="02040503050406030204" pitchFamily="18" charset="0"/>
                                      </a:rPr>
                                      <m:t>±</m:t>
                                    </m:r>
                                    <m:r>
                                      <a:rPr lang="sr-Latn-RS" sz="2800" i="1">
                                        <a:latin typeface="Cambria Math" panose="02040503050406030204" pitchFamily="18" charset="0"/>
                                      </a:rPr>
                                      <m:t>𝛽</m:t>
                                    </m:r>
                                  </m:e>
                                </m:d>
                                <m:r>
                                  <a:rPr lang="sr-Latn-RS" sz="2800" i="1">
                                    <a:latin typeface="Cambria Math" panose="02040503050406030204" pitchFamily="18" charset="0"/>
                                  </a:rPr>
                                  <m:t>=</m:t>
                                </m:r>
                                <m:func>
                                  <m:funcPr>
                                    <m:ctrlPr>
                                      <a:rPr lang="en-ZA" sz="2800" i="1">
                                        <a:latin typeface="Cambria Math" panose="02040503050406030204" pitchFamily="18" charset="0"/>
                                      </a:rPr>
                                    </m:ctrlPr>
                                  </m:funcPr>
                                  <m:fName>
                                    <m:r>
                                      <a:rPr lang="sr-Latn-RS" sz="2800" i="1">
                                        <a:latin typeface="Cambria Math" panose="02040503050406030204" pitchFamily="18" charset="0"/>
                                      </a:rPr>
                                      <m:t>𝑠𝑖𝑛</m:t>
                                    </m:r>
                                  </m:fName>
                                  <m:e>
                                    <m:r>
                                      <a:rPr lang="sr-Latn-RS" sz="2800" i="1">
                                        <a:latin typeface="Cambria Math" panose="02040503050406030204" pitchFamily="18" charset="0"/>
                                      </a:rPr>
                                      <m:t>𝛼</m:t>
                                    </m:r>
                                  </m:e>
                                </m:func>
                                <m:func>
                                  <m:funcPr>
                                    <m:ctrlPr>
                                      <a:rPr lang="en-ZA" sz="2800" i="1">
                                        <a:latin typeface="Cambria Math" panose="02040503050406030204" pitchFamily="18" charset="0"/>
                                      </a:rPr>
                                    </m:ctrlPr>
                                  </m:funcPr>
                                  <m:fName>
                                    <m:r>
                                      <a:rPr lang="sr-Latn-RS" sz="2800" i="1">
                                        <a:latin typeface="Cambria Math" panose="02040503050406030204" pitchFamily="18" charset="0"/>
                                      </a:rPr>
                                      <m:t>𝑐𝑜𝑠</m:t>
                                    </m:r>
                                  </m:fName>
                                  <m:e>
                                    <m:r>
                                      <a:rPr lang="sr-Latn-RS" sz="2800" i="1">
                                        <a:latin typeface="Cambria Math" panose="02040503050406030204" pitchFamily="18" charset="0"/>
                                      </a:rPr>
                                      <m:t>𝛽</m:t>
                                    </m:r>
                                    <m:r>
                                      <a:rPr lang="sr-Latn-RS" sz="2800" i="1">
                                        <a:latin typeface="Cambria Math" panose="02040503050406030204" pitchFamily="18" charset="0"/>
                                      </a:rPr>
                                      <m:t>±</m:t>
                                    </m:r>
                                    <m:func>
                                      <m:funcPr>
                                        <m:ctrlPr>
                                          <a:rPr lang="en-ZA" sz="2800" i="1">
                                            <a:latin typeface="Cambria Math" panose="02040503050406030204" pitchFamily="18" charset="0"/>
                                          </a:rPr>
                                        </m:ctrlPr>
                                      </m:funcPr>
                                      <m:fName>
                                        <m:r>
                                          <a:rPr lang="sr-Latn-RS" sz="2800" i="1">
                                            <a:latin typeface="Cambria Math" panose="02040503050406030204" pitchFamily="18" charset="0"/>
                                          </a:rPr>
                                          <m:t>𝑐𝑜𝑠</m:t>
                                        </m:r>
                                      </m:fName>
                                      <m:e>
                                        <m:r>
                                          <a:rPr lang="sr-Latn-RS" sz="2800" i="1">
                                            <a:latin typeface="Cambria Math" panose="02040503050406030204" pitchFamily="18" charset="0"/>
                                          </a:rPr>
                                          <m:t>𝛼</m:t>
                                        </m:r>
                                      </m:e>
                                    </m:func>
                                    <m:func>
                                      <m:funcPr>
                                        <m:ctrlPr>
                                          <a:rPr lang="en-ZA" sz="2800" i="1">
                                            <a:latin typeface="Cambria Math" panose="02040503050406030204" pitchFamily="18" charset="0"/>
                                          </a:rPr>
                                        </m:ctrlPr>
                                      </m:funcPr>
                                      <m:fName>
                                        <m:r>
                                          <a:rPr lang="sr-Latn-RS" sz="2800" i="1">
                                            <a:latin typeface="Cambria Math" panose="02040503050406030204" pitchFamily="18" charset="0"/>
                                          </a:rPr>
                                          <m:t>𝑠𝑖𝑛</m:t>
                                        </m:r>
                                      </m:fName>
                                      <m:e>
                                        <m:r>
                                          <a:rPr lang="sr-Latn-RS" sz="2800" i="1">
                                            <a:latin typeface="Cambria Math" panose="02040503050406030204" pitchFamily="18" charset="0"/>
                                          </a:rPr>
                                          <m:t>𝛽</m:t>
                                        </m:r>
                                      </m:e>
                                    </m:func>
                                  </m:e>
                                </m:func>
                              </m:e>
                            </m:func>
                          </m:e>
                        </m:mr>
                        <m:mr>
                          <m:e>
                            <m:func>
                              <m:funcPr>
                                <m:ctrlPr>
                                  <a:rPr lang="en-ZA" sz="2800" i="1">
                                    <a:latin typeface="Cambria Math" panose="02040503050406030204" pitchFamily="18" charset="0"/>
                                  </a:rPr>
                                </m:ctrlPr>
                              </m:funcPr>
                              <m:fName>
                                <m:r>
                                  <m:rPr>
                                    <m:sty m:val="p"/>
                                  </m:rPr>
                                  <a:rPr lang="sr-Latn-RS" sz="2800" i="0">
                                    <a:latin typeface="Cambria Math" panose="02040503050406030204" pitchFamily="18" charset="0"/>
                                  </a:rPr>
                                  <m:t>cos</m:t>
                                </m:r>
                              </m:fName>
                              <m:e>
                                <m:d>
                                  <m:dPr>
                                    <m:ctrlPr>
                                      <a:rPr lang="en-ZA" sz="2800" i="1">
                                        <a:latin typeface="Cambria Math" panose="02040503050406030204" pitchFamily="18" charset="0"/>
                                      </a:rPr>
                                    </m:ctrlPr>
                                  </m:dPr>
                                  <m:e>
                                    <m:r>
                                      <a:rPr lang="sr-Latn-RS" sz="2800" i="1">
                                        <a:latin typeface="Cambria Math" panose="02040503050406030204" pitchFamily="18" charset="0"/>
                                      </a:rPr>
                                      <m:t>𝛼</m:t>
                                    </m:r>
                                    <m:r>
                                      <a:rPr lang="sr-Latn-RS" sz="2800" i="1">
                                        <a:latin typeface="Cambria Math" panose="02040503050406030204" pitchFamily="18" charset="0"/>
                                      </a:rPr>
                                      <m:t>±</m:t>
                                    </m:r>
                                    <m:r>
                                      <a:rPr lang="sr-Latn-RS" sz="2800" i="1">
                                        <a:latin typeface="Cambria Math" panose="02040503050406030204" pitchFamily="18" charset="0"/>
                                      </a:rPr>
                                      <m:t>𝛽</m:t>
                                    </m:r>
                                  </m:e>
                                </m:d>
                                <m:r>
                                  <a:rPr lang="sr-Latn-RS" sz="2800" i="1">
                                    <a:latin typeface="Cambria Math" panose="02040503050406030204" pitchFamily="18" charset="0"/>
                                  </a:rPr>
                                  <m:t>=</m:t>
                                </m:r>
                                <m:func>
                                  <m:funcPr>
                                    <m:ctrlPr>
                                      <a:rPr lang="en-ZA" sz="2800" i="1">
                                        <a:latin typeface="Cambria Math" panose="02040503050406030204" pitchFamily="18" charset="0"/>
                                      </a:rPr>
                                    </m:ctrlPr>
                                  </m:funcPr>
                                  <m:fName>
                                    <m:r>
                                      <a:rPr lang="sr-Latn-RS" sz="2800" i="1">
                                        <a:latin typeface="Cambria Math" panose="02040503050406030204" pitchFamily="18" charset="0"/>
                                      </a:rPr>
                                      <m:t>𝑐𝑜𝑠</m:t>
                                    </m:r>
                                  </m:fName>
                                  <m:e>
                                    <m:r>
                                      <a:rPr lang="sr-Latn-RS" sz="2800" i="1">
                                        <a:latin typeface="Cambria Math" panose="02040503050406030204" pitchFamily="18" charset="0"/>
                                      </a:rPr>
                                      <m:t>𝛼</m:t>
                                    </m:r>
                                  </m:e>
                                </m:func>
                                <m:func>
                                  <m:funcPr>
                                    <m:ctrlPr>
                                      <a:rPr lang="en-ZA" sz="2800" i="1">
                                        <a:latin typeface="Cambria Math" panose="02040503050406030204" pitchFamily="18" charset="0"/>
                                      </a:rPr>
                                    </m:ctrlPr>
                                  </m:funcPr>
                                  <m:fName>
                                    <m:r>
                                      <a:rPr lang="sr-Latn-RS" sz="2800" i="1">
                                        <a:latin typeface="Cambria Math" panose="02040503050406030204" pitchFamily="18" charset="0"/>
                                      </a:rPr>
                                      <m:t>𝑐𝑜𝑠</m:t>
                                    </m:r>
                                  </m:fName>
                                  <m:e>
                                    <m:r>
                                      <a:rPr lang="sr-Latn-RS" sz="2800" i="1">
                                        <a:latin typeface="Cambria Math" panose="02040503050406030204" pitchFamily="18" charset="0"/>
                                      </a:rPr>
                                      <m:t>𝛽</m:t>
                                    </m:r>
                                    <m:r>
                                      <a:rPr lang="sr-Latn-RS" sz="2800" i="1">
                                        <a:latin typeface="Cambria Math" panose="02040503050406030204" pitchFamily="18" charset="0"/>
                                      </a:rPr>
                                      <m:t>∓</m:t>
                                    </m:r>
                                    <m:func>
                                      <m:funcPr>
                                        <m:ctrlPr>
                                          <a:rPr lang="en-ZA" sz="2800" i="1">
                                            <a:latin typeface="Cambria Math" panose="02040503050406030204" pitchFamily="18" charset="0"/>
                                          </a:rPr>
                                        </m:ctrlPr>
                                      </m:funcPr>
                                      <m:fName>
                                        <m:r>
                                          <a:rPr lang="sr-Latn-RS" sz="2800" i="1">
                                            <a:latin typeface="Cambria Math" panose="02040503050406030204" pitchFamily="18" charset="0"/>
                                          </a:rPr>
                                          <m:t>𝑠𝑖𝑛</m:t>
                                        </m:r>
                                      </m:fName>
                                      <m:e>
                                        <m:r>
                                          <a:rPr lang="sr-Latn-RS" sz="2800" i="1">
                                            <a:latin typeface="Cambria Math" panose="02040503050406030204" pitchFamily="18" charset="0"/>
                                          </a:rPr>
                                          <m:t>𝛼</m:t>
                                        </m:r>
                                      </m:e>
                                    </m:func>
                                    <m:func>
                                      <m:funcPr>
                                        <m:ctrlPr>
                                          <a:rPr lang="en-ZA" sz="2800" i="1">
                                            <a:latin typeface="Cambria Math" panose="02040503050406030204" pitchFamily="18" charset="0"/>
                                          </a:rPr>
                                        </m:ctrlPr>
                                      </m:funcPr>
                                      <m:fName>
                                        <m:r>
                                          <a:rPr lang="sr-Latn-RS" sz="2800" i="1">
                                            <a:latin typeface="Cambria Math" panose="02040503050406030204" pitchFamily="18" charset="0"/>
                                          </a:rPr>
                                          <m:t>𝑠𝑖𝑛</m:t>
                                        </m:r>
                                      </m:fName>
                                      <m:e>
                                        <m:r>
                                          <a:rPr lang="sr-Latn-RS" sz="2800" i="1">
                                            <a:latin typeface="Cambria Math" panose="02040503050406030204" pitchFamily="18" charset="0"/>
                                          </a:rPr>
                                          <m:t>𝛽</m:t>
                                        </m:r>
                                      </m:e>
                                    </m:func>
                                  </m:e>
                                </m:func>
                              </m:e>
                            </m:func>
                          </m:e>
                        </m:mr>
                      </m:m>
                    </m:oMath>
                  </m:oMathPara>
                </a14:m>
                <a:endParaRPr lang="en-US" sz="2800" dirty="0"/>
              </a:p>
            </p:txBody>
          </p:sp>
        </mc:Choice>
        <mc:Fallback xmlns="">
          <p:sp>
            <p:nvSpPr>
              <p:cNvPr id="10" name="TextBox 9">
                <a:extLst>
                  <a:ext uri="{FF2B5EF4-FFF2-40B4-BE49-F238E27FC236}">
                    <a16:creationId xmlns:a16="http://schemas.microsoft.com/office/drawing/2014/main" id="{DF9821D9-9A68-E044-820E-65EDDD061AF0}"/>
                  </a:ext>
                </a:extLst>
              </p:cNvPr>
              <p:cNvSpPr txBox="1">
                <a:spLocks noRot="1" noChangeAspect="1" noMove="1" noResize="1" noEditPoints="1" noAdjustHandles="1" noChangeArrowheads="1" noChangeShapeType="1" noTextEdit="1"/>
              </p:cNvSpPr>
              <p:nvPr/>
            </p:nvSpPr>
            <p:spPr>
              <a:xfrm>
                <a:off x="5369785" y="5193947"/>
                <a:ext cx="6174511" cy="947888"/>
              </a:xfrm>
              <a:prstGeom prst="rect">
                <a:avLst/>
              </a:prstGeom>
              <a:blipFill>
                <a:blip r:embed="rId4"/>
                <a:stretch>
                  <a:fillRect b="-7895"/>
                </a:stretch>
              </a:blipFill>
            </p:spPr>
            <p:txBody>
              <a:bodyPr/>
              <a:lstStyle/>
              <a:p>
                <a:r>
                  <a:rPr lang="en-US">
                    <a:noFill/>
                  </a:rPr>
                  <a:t> </a:t>
                </a:r>
              </a:p>
            </p:txBody>
          </p:sp>
        </mc:Fallback>
      </mc:AlternateContent>
      <p:sp>
        <p:nvSpPr>
          <p:cNvPr id="18" name="Rounded Rectangle 17">
            <a:extLst>
              <a:ext uri="{FF2B5EF4-FFF2-40B4-BE49-F238E27FC236}">
                <a16:creationId xmlns:a16="http://schemas.microsoft.com/office/drawing/2014/main" id="{957AB02D-1DB5-5C4E-8B27-A33F7BE7E783}"/>
              </a:ext>
            </a:extLst>
          </p:cNvPr>
          <p:cNvSpPr/>
          <p:nvPr/>
        </p:nvSpPr>
        <p:spPr>
          <a:xfrm>
            <a:off x="4753161" y="3834012"/>
            <a:ext cx="7117961" cy="843510"/>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3A7CBCB6-4A91-C249-949C-F7AA337C3D12}"/>
              </a:ext>
            </a:extLst>
          </p:cNvPr>
          <p:cNvSpPr/>
          <p:nvPr/>
        </p:nvSpPr>
        <p:spPr>
          <a:xfrm>
            <a:off x="4753161" y="1560385"/>
            <a:ext cx="7117961" cy="575153"/>
          </a:xfrm>
          <a:prstGeom prst="round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27BCA151-E61C-054C-8A51-015D121570E3}"/>
                  </a:ext>
                </a:extLst>
              </p:cNvPr>
              <p:cNvSpPr/>
              <p:nvPr/>
            </p:nvSpPr>
            <p:spPr>
              <a:xfrm>
                <a:off x="6372385" y="1576261"/>
                <a:ext cx="169809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sr-Latn-RS" sz="2800" b="0" i="1" smtClean="0">
                              <a:latin typeface="Cambria Math" panose="02040503050406030204" pitchFamily="18" charset="0"/>
                            </a:rPr>
                          </m:ctrlPr>
                        </m:funcPr>
                        <m:fName>
                          <m:r>
                            <m:rPr>
                              <m:sty m:val="p"/>
                            </m:rPr>
                            <a:rPr lang="sr-Latn-RS" sz="2800" b="0" i="0" smtClean="0">
                              <a:latin typeface="Cambria Math" panose="02040503050406030204" pitchFamily="18" charset="0"/>
                            </a:rPr>
                            <m:t>sin</m:t>
                          </m:r>
                        </m:fName>
                        <m:e>
                          <m:r>
                            <a:rPr lang="sr-Latn-RS" sz="2800" b="0" i="1" smtClean="0">
                              <a:latin typeface="Cambria Math" panose="02040503050406030204" pitchFamily="18" charset="0"/>
                              <a:ea typeface="Cambria Math" panose="02040503050406030204" pitchFamily="18" charset="0"/>
                            </a:rPr>
                            <m:t>𝜃</m:t>
                          </m:r>
                        </m:e>
                      </m:func>
                      <m:r>
                        <a:rPr lang="sr-Latn-RS" sz="2800" b="0" i="1" smtClean="0">
                          <a:latin typeface="Cambria Math" panose="02040503050406030204" pitchFamily="18" charset="0"/>
                        </a:rPr>
                        <m:t>=</m:t>
                      </m:r>
                      <m:r>
                        <a:rPr lang="sr-Latn-RS" sz="2800" b="0" i="1" smtClean="0">
                          <a:latin typeface="Cambria Math" panose="02040503050406030204" pitchFamily="18" charset="0"/>
                        </a:rPr>
                        <m:t>𝑏</m:t>
                      </m:r>
                    </m:oMath>
                  </m:oMathPara>
                </a14:m>
                <a:endParaRPr lang="en-US" sz="2800" dirty="0"/>
              </a:p>
            </p:txBody>
          </p:sp>
        </mc:Choice>
        <mc:Fallback xmlns="">
          <p:sp>
            <p:nvSpPr>
              <p:cNvPr id="8" name="Rectangle 7">
                <a:extLst>
                  <a:ext uri="{FF2B5EF4-FFF2-40B4-BE49-F238E27FC236}">
                    <a16:creationId xmlns:a16="http://schemas.microsoft.com/office/drawing/2014/main" id="{27BCA151-E61C-054C-8A51-015D121570E3}"/>
                  </a:ext>
                </a:extLst>
              </p:cNvPr>
              <p:cNvSpPr>
                <a:spLocks noRot="1" noChangeAspect="1" noMove="1" noResize="1" noEditPoints="1" noAdjustHandles="1" noChangeArrowheads="1" noChangeShapeType="1" noTextEdit="1"/>
              </p:cNvSpPr>
              <p:nvPr/>
            </p:nvSpPr>
            <p:spPr>
              <a:xfrm>
                <a:off x="6372385" y="1576261"/>
                <a:ext cx="1698094" cy="52322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982F7302-F997-ED43-BB03-300F583F2A73}"/>
                  </a:ext>
                </a:extLst>
              </p:cNvPr>
              <p:cNvSpPr/>
              <p:nvPr/>
            </p:nvSpPr>
            <p:spPr>
              <a:xfrm>
                <a:off x="8352383" y="3807298"/>
                <a:ext cx="3297056" cy="8244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ZA" sz="2800" i="1">
                              <a:latin typeface="Cambria Math" panose="02040503050406030204" pitchFamily="18" charset="0"/>
                            </a:rPr>
                          </m:ctrlPr>
                        </m:funcPr>
                        <m:fName>
                          <m:r>
                            <m:rPr>
                              <m:sty m:val="p"/>
                            </m:rPr>
                            <a:rPr lang="sr-Latn-RS" sz="2800" i="0">
                              <a:latin typeface="Cambria Math" panose="02040503050406030204" pitchFamily="18" charset="0"/>
                            </a:rPr>
                            <m:t>cos</m:t>
                          </m:r>
                        </m:fName>
                        <m:e>
                          <m:r>
                            <a:rPr lang="sr-Latn-RS" sz="2800" i="1">
                              <a:latin typeface="Cambria Math" panose="02040503050406030204" pitchFamily="18" charset="0"/>
                            </a:rPr>
                            <m:t>𝜃</m:t>
                          </m:r>
                        </m:e>
                      </m:func>
                      <m:r>
                        <a:rPr lang="sr-Latn-RS" sz="2800" i="1">
                          <a:latin typeface="Cambria Math" panose="02040503050406030204" pitchFamily="18" charset="0"/>
                        </a:rPr>
                        <m:t>=</m:t>
                      </m:r>
                      <m:func>
                        <m:funcPr>
                          <m:ctrlPr>
                            <a:rPr lang="en-ZA" sz="2800" i="1">
                              <a:latin typeface="Cambria Math" panose="02040503050406030204" pitchFamily="18" charset="0"/>
                            </a:rPr>
                          </m:ctrlPr>
                        </m:funcPr>
                        <m:fName>
                          <m:r>
                            <m:rPr>
                              <m:sty m:val="p"/>
                            </m:rPr>
                            <a:rPr lang="sr-Latn-RS" sz="2800" i="0">
                              <a:latin typeface="Cambria Math" panose="02040503050406030204" pitchFamily="18" charset="0"/>
                            </a:rPr>
                            <m:t>sin</m:t>
                          </m:r>
                        </m:fName>
                        <m:e>
                          <m:d>
                            <m:dPr>
                              <m:ctrlPr>
                                <a:rPr lang="en-ZA" sz="2800" i="1">
                                  <a:latin typeface="Cambria Math" panose="02040503050406030204" pitchFamily="18" charset="0"/>
                                </a:rPr>
                              </m:ctrlPr>
                            </m:dPr>
                            <m:e>
                              <m:f>
                                <m:fPr>
                                  <m:ctrlPr>
                                    <a:rPr lang="en-ZA" sz="2800" i="1">
                                      <a:latin typeface="Cambria Math" panose="02040503050406030204" pitchFamily="18" charset="0"/>
                                    </a:rPr>
                                  </m:ctrlPr>
                                </m:fPr>
                                <m:num>
                                  <m:r>
                                    <a:rPr lang="sr-Latn-RS" sz="2800" i="1">
                                      <a:latin typeface="Cambria Math" panose="02040503050406030204" pitchFamily="18" charset="0"/>
                                    </a:rPr>
                                    <m:t>𝜋</m:t>
                                  </m:r>
                                </m:num>
                                <m:den>
                                  <m:r>
                                    <a:rPr lang="sr-Latn-RS" sz="2800" i="1">
                                      <a:latin typeface="Cambria Math" panose="02040503050406030204" pitchFamily="18" charset="0"/>
                                    </a:rPr>
                                    <m:t>2</m:t>
                                  </m:r>
                                </m:den>
                              </m:f>
                              <m:r>
                                <a:rPr lang="sr-Latn-RS" sz="2800" i="1">
                                  <a:latin typeface="Cambria Math" panose="02040503050406030204" pitchFamily="18" charset="0"/>
                                </a:rPr>
                                <m:t>−</m:t>
                              </m:r>
                              <m:r>
                                <a:rPr lang="sr-Latn-RS" sz="2800" i="1">
                                  <a:latin typeface="Cambria Math" panose="02040503050406030204" pitchFamily="18" charset="0"/>
                                </a:rPr>
                                <m:t>𝜃</m:t>
                              </m:r>
                            </m:e>
                          </m:d>
                        </m:e>
                      </m:func>
                    </m:oMath>
                  </m:oMathPara>
                </a14:m>
                <a:endParaRPr lang="en-US" sz="2800" dirty="0"/>
              </a:p>
            </p:txBody>
          </p:sp>
        </mc:Choice>
        <mc:Fallback xmlns="">
          <p:sp>
            <p:nvSpPr>
              <p:cNvPr id="13" name="Rectangle 12">
                <a:extLst>
                  <a:ext uri="{FF2B5EF4-FFF2-40B4-BE49-F238E27FC236}">
                    <a16:creationId xmlns:a16="http://schemas.microsoft.com/office/drawing/2014/main" id="{982F7302-F997-ED43-BB03-300F583F2A73}"/>
                  </a:ext>
                </a:extLst>
              </p:cNvPr>
              <p:cNvSpPr>
                <a:spLocks noRot="1" noChangeAspect="1" noMove="1" noResize="1" noEditPoints="1" noAdjustHandles="1" noChangeArrowheads="1" noChangeShapeType="1" noTextEdit="1"/>
              </p:cNvSpPr>
              <p:nvPr/>
            </p:nvSpPr>
            <p:spPr>
              <a:xfrm>
                <a:off x="8352383" y="3807298"/>
                <a:ext cx="3297056" cy="824456"/>
              </a:xfrm>
              <a:prstGeom prst="rect">
                <a:avLst/>
              </a:prstGeom>
              <a:blipFill>
                <a:blip r:embed="rId6"/>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97636359-5072-6343-AC88-6E75C7EFBE91}"/>
                  </a:ext>
                </a:extLst>
              </p:cNvPr>
              <p:cNvSpPr/>
              <p:nvPr/>
            </p:nvSpPr>
            <p:spPr>
              <a:xfrm>
                <a:off x="4753161" y="3833253"/>
                <a:ext cx="3297056" cy="82445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ZA" sz="2800" i="1">
                              <a:latin typeface="Cambria Math" panose="02040503050406030204" pitchFamily="18" charset="0"/>
                            </a:rPr>
                          </m:ctrlPr>
                        </m:funcPr>
                        <m:fName>
                          <m:r>
                            <m:rPr>
                              <m:sty m:val="p"/>
                            </m:rPr>
                            <a:rPr lang="sr-Latn-RS" sz="2800" i="0">
                              <a:latin typeface="Cambria Math" panose="02040503050406030204" pitchFamily="18" charset="0"/>
                            </a:rPr>
                            <m:t>sin</m:t>
                          </m:r>
                        </m:fName>
                        <m:e>
                          <m:r>
                            <a:rPr lang="sr-Latn-RS" sz="2800" i="1">
                              <a:latin typeface="Cambria Math" panose="02040503050406030204" pitchFamily="18" charset="0"/>
                            </a:rPr>
                            <m:t>𝜃</m:t>
                          </m:r>
                        </m:e>
                      </m:func>
                      <m:r>
                        <a:rPr lang="sr-Latn-RS" sz="2800" i="1">
                          <a:latin typeface="Cambria Math" panose="02040503050406030204" pitchFamily="18" charset="0"/>
                        </a:rPr>
                        <m:t>=</m:t>
                      </m:r>
                      <m:func>
                        <m:funcPr>
                          <m:ctrlPr>
                            <a:rPr lang="en-ZA" sz="2800" i="1">
                              <a:latin typeface="Cambria Math" panose="02040503050406030204" pitchFamily="18" charset="0"/>
                            </a:rPr>
                          </m:ctrlPr>
                        </m:funcPr>
                        <m:fName>
                          <m:r>
                            <a:rPr lang="sr-Latn-RS" sz="2800" i="1">
                              <a:latin typeface="Cambria Math" panose="02040503050406030204" pitchFamily="18" charset="0"/>
                            </a:rPr>
                            <m:t>𝑐𝑜𝑠</m:t>
                          </m:r>
                        </m:fName>
                        <m:e>
                          <m:d>
                            <m:dPr>
                              <m:ctrlPr>
                                <a:rPr lang="en-ZA" sz="2800" i="1">
                                  <a:latin typeface="Cambria Math" panose="02040503050406030204" pitchFamily="18" charset="0"/>
                                </a:rPr>
                              </m:ctrlPr>
                            </m:dPr>
                            <m:e>
                              <m:f>
                                <m:fPr>
                                  <m:ctrlPr>
                                    <a:rPr lang="en-ZA" sz="2800" i="1">
                                      <a:latin typeface="Cambria Math" panose="02040503050406030204" pitchFamily="18" charset="0"/>
                                    </a:rPr>
                                  </m:ctrlPr>
                                </m:fPr>
                                <m:num>
                                  <m:r>
                                    <a:rPr lang="sr-Latn-RS" sz="2800" i="1">
                                      <a:latin typeface="Cambria Math" panose="02040503050406030204" pitchFamily="18" charset="0"/>
                                    </a:rPr>
                                    <m:t>𝜋</m:t>
                                  </m:r>
                                </m:num>
                                <m:den>
                                  <m:r>
                                    <a:rPr lang="sr-Latn-RS" sz="2800" i="1">
                                      <a:latin typeface="Cambria Math" panose="02040503050406030204" pitchFamily="18" charset="0"/>
                                    </a:rPr>
                                    <m:t>2</m:t>
                                  </m:r>
                                </m:den>
                              </m:f>
                              <m:r>
                                <a:rPr lang="sr-Latn-RS" sz="2800" i="1">
                                  <a:latin typeface="Cambria Math" panose="02040503050406030204" pitchFamily="18" charset="0"/>
                                </a:rPr>
                                <m:t>−</m:t>
                              </m:r>
                              <m:r>
                                <a:rPr lang="sr-Latn-RS" sz="2800" i="1">
                                  <a:latin typeface="Cambria Math" panose="02040503050406030204" pitchFamily="18" charset="0"/>
                                </a:rPr>
                                <m:t>𝜃</m:t>
                              </m:r>
                            </m:e>
                          </m:d>
                        </m:e>
                      </m:func>
                    </m:oMath>
                  </m:oMathPara>
                </a14:m>
                <a:endParaRPr lang="en-US" sz="2800" dirty="0"/>
              </a:p>
            </p:txBody>
          </p:sp>
        </mc:Choice>
        <mc:Fallback xmlns="">
          <p:sp>
            <p:nvSpPr>
              <p:cNvPr id="15" name="Rectangle 14">
                <a:extLst>
                  <a:ext uri="{FF2B5EF4-FFF2-40B4-BE49-F238E27FC236}">
                    <a16:creationId xmlns:a16="http://schemas.microsoft.com/office/drawing/2014/main" id="{97636359-5072-6343-AC88-6E75C7EFBE91}"/>
                  </a:ext>
                </a:extLst>
              </p:cNvPr>
              <p:cNvSpPr>
                <a:spLocks noRot="1" noChangeAspect="1" noMove="1" noResize="1" noEditPoints="1" noAdjustHandles="1" noChangeArrowheads="1" noChangeShapeType="1" noTextEdit="1"/>
              </p:cNvSpPr>
              <p:nvPr/>
            </p:nvSpPr>
            <p:spPr>
              <a:xfrm>
                <a:off x="4753161" y="3833253"/>
                <a:ext cx="3297056" cy="824456"/>
              </a:xfrm>
              <a:prstGeom prst="rect">
                <a:avLst/>
              </a:prstGeom>
              <a:blipFill>
                <a:blip r:embed="rId7"/>
                <a:stretch>
                  <a:fillRect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268B1FF-2ECE-904B-BD15-643F7FA8E62E}"/>
                  </a:ext>
                </a:extLst>
              </p:cNvPr>
              <p:cNvSpPr txBox="1"/>
              <p:nvPr/>
            </p:nvSpPr>
            <p:spPr>
              <a:xfrm>
                <a:off x="8401955" y="1553437"/>
                <a:ext cx="174349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sr-Latn-RS" sz="2800" i="1" smtClean="0">
                              <a:latin typeface="Cambria Math" panose="02040503050406030204" pitchFamily="18" charset="0"/>
                            </a:rPr>
                          </m:ctrlPr>
                        </m:funcPr>
                        <m:fName>
                          <m:r>
                            <m:rPr>
                              <m:sty m:val="p"/>
                            </m:rPr>
                            <a:rPr lang="sr-Latn-RS" sz="2800" i="0">
                              <a:latin typeface="Cambria Math" panose="02040503050406030204" pitchFamily="18" charset="0"/>
                            </a:rPr>
                            <m:t>cos</m:t>
                          </m:r>
                        </m:fName>
                        <m:e>
                          <m:r>
                            <a:rPr lang="sr-Latn-RS" sz="2800" i="1">
                              <a:latin typeface="Cambria Math" panose="02040503050406030204" pitchFamily="18" charset="0"/>
                              <a:ea typeface="Cambria Math" panose="02040503050406030204" pitchFamily="18" charset="0"/>
                            </a:rPr>
                            <m:t>𝜃</m:t>
                          </m:r>
                          <m:r>
                            <a:rPr lang="sr-Latn-RS" sz="2800" i="1">
                              <a:latin typeface="Cambria Math" panose="02040503050406030204" pitchFamily="18" charset="0"/>
                              <a:ea typeface="Cambria Math" panose="02040503050406030204" pitchFamily="18" charset="0"/>
                            </a:rPr>
                            <m:t>=</m:t>
                          </m:r>
                          <m:r>
                            <a:rPr lang="sr-Latn-RS" sz="2800" b="0" i="1" smtClean="0">
                              <a:latin typeface="Cambria Math" panose="02040503050406030204" pitchFamily="18" charset="0"/>
                              <a:ea typeface="Cambria Math" panose="02040503050406030204" pitchFamily="18" charset="0"/>
                            </a:rPr>
                            <m:t>𝑎</m:t>
                          </m:r>
                        </m:e>
                      </m:func>
                    </m:oMath>
                  </m:oMathPara>
                </a14:m>
                <a:endParaRPr lang="en-US" sz="2800" dirty="0"/>
              </a:p>
            </p:txBody>
          </p:sp>
        </mc:Choice>
        <mc:Fallback xmlns="">
          <p:sp>
            <p:nvSpPr>
              <p:cNvPr id="16" name="TextBox 15">
                <a:extLst>
                  <a:ext uri="{FF2B5EF4-FFF2-40B4-BE49-F238E27FC236}">
                    <a16:creationId xmlns:a16="http://schemas.microsoft.com/office/drawing/2014/main" id="{0268B1FF-2ECE-904B-BD15-643F7FA8E62E}"/>
                  </a:ext>
                </a:extLst>
              </p:cNvPr>
              <p:cNvSpPr txBox="1">
                <a:spLocks noRot="1" noChangeAspect="1" noMove="1" noResize="1" noEditPoints="1" noAdjustHandles="1" noChangeArrowheads="1" noChangeShapeType="1" noTextEdit="1"/>
              </p:cNvSpPr>
              <p:nvPr/>
            </p:nvSpPr>
            <p:spPr>
              <a:xfrm>
                <a:off x="8401955" y="1553437"/>
                <a:ext cx="1743490" cy="523220"/>
              </a:xfrm>
              <a:prstGeom prst="rect">
                <a:avLst/>
              </a:prstGeom>
              <a:blipFill>
                <a:blip r:embed="rId8"/>
                <a:stretch>
                  <a:fillRect/>
                </a:stretch>
              </a:blipFill>
            </p:spPr>
            <p:txBody>
              <a:bodyPr/>
              <a:lstStyle/>
              <a:p>
                <a:r>
                  <a:rPr lang="en-US">
                    <a:noFill/>
                  </a:rPr>
                  <a:t> </a:t>
                </a:r>
              </a:p>
            </p:txBody>
          </p:sp>
        </mc:Fallback>
      </mc:AlternateContent>
      <p:sp>
        <p:nvSpPr>
          <p:cNvPr id="29" name="Rounded Rectangle 28">
            <a:extLst>
              <a:ext uri="{FF2B5EF4-FFF2-40B4-BE49-F238E27FC236}">
                <a16:creationId xmlns:a16="http://schemas.microsoft.com/office/drawing/2014/main" id="{0A7C8E11-D805-D340-8A7B-EC8EA12D646B}"/>
              </a:ext>
            </a:extLst>
          </p:cNvPr>
          <p:cNvSpPr/>
          <p:nvPr/>
        </p:nvSpPr>
        <p:spPr>
          <a:xfrm>
            <a:off x="4793402" y="2389596"/>
            <a:ext cx="7117961" cy="1083729"/>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7" name="TextBox 6">
            <a:extLst>
              <a:ext uri="{FF2B5EF4-FFF2-40B4-BE49-F238E27FC236}">
                <a16:creationId xmlns:a16="http://schemas.microsoft.com/office/drawing/2014/main" id="{032EEE0D-6F2F-8A44-A6FD-7CC012D74280}"/>
              </a:ext>
            </a:extLst>
          </p:cNvPr>
          <p:cNvSpPr txBox="1"/>
          <p:nvPr/>
        </p:nvSpPr>
        <p:spPr>
          <a:xfrm>
            <a:off x="4853989" y="2389596"/>
            <a:ext cx="4694362" cy="461665"/>
          </a:xfrm>
          <a:prstGeom prst="rect">
            <a:avLst/>
          </a:prstGeom>
          <a:noFill/>
        </p:spPr>
        <p:txBody>
          <a:bodyPr wrap="none" rtlCol="0">
            <a:spAutoFit/>
          </a:bodyPr>
          <a:lstStyle/>
          <a:p>
            <a:r>
              <a:rPr lang="en-ZA" sz="2400" dirty="0">
                <a:latin typeface="+mj-lt"/>
              </a:rPr>
              <a:t>Pythagorean trigonometric identity</a:t>
            </a:r>
            <a:endParaRPr lang="en-US" sz="2400" dirty="0">
              <a:latin typeface="+mj-lt"/>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31798CD-CA7E-4B43-9DE2-3732A12DF112}"/>
                  </a:ext>
                </a:extLst>
              </p:cNvPr>
              <p:cNvSpPr txBox="1"/>
              <p:nvPr/>
            </p:nvSpPr>
            <p:spPr>
              <a:xfrm>
                <a:off x="6938412" y="2877975"/>
                <a:ext cx="320703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sr-Latn-RS" sz="2800" i="1">
                              <a:latin typeface="Cambria Math" panose="02040503050406030204" pitchFamily="18" charset="0"/>
                            </a:rPr>
                          </m:ctrlPr>
                        </m:funcPr>
                        <m:fName>
                          <m:sSup>
                            <m:sSupPr>
                              <m:ctrlPr>
                                <a:rPr lang="sr-Latn-RS" sz="2800" i="1">
                                  <a:latin typeface="Cambria Math" panose="02040503050406030204" pitchFamily="18" charset="0"/>
                                </a:rPr>
                              </m:ctrlPr>
                            </m:sSupPr>
                            <m:e>
                              <m:r>
                                <m:rPr>
                                  <m:sty m:val="p"/>
                                </m:rPr>
                                <a:rPr lang="en-US" sz="2800">
                                  <a:latin typeface="Cambria Math" panose="02040503050406030204" pitchFamily="18" charset="0"/>
                                </a:rPr>
                                <m:t>sin</m:t>
                              </m:r>
                            </m:e>
                            <m:sup>
                              <m:r>
                                <a:rPr lang="en-US" sz="2800" i="1">
                                  <a:latin typeface="Cambria Math" panose="02040503050406030204" pitchFamily="18" charset="0"/>
                                </a:rPr>
                                <m:t>2</m:t>
                              </m:r>
                            </m:sup>
                          </m:sSup>
                        </m:fName>
                        <m:e>
                          <m:r>
                            <a:rPr lang="sr-Latn-RS" sz="2800" i="1">
                              <a:latin typeface="Cambria Math" panose="02040503050406030204" pitchFamily="18" charset="0"/>
                              <a:ea typeface="Cambria Math" panose="02040503050406030204" pitchFamily="18" charset="0"/>
                            </a:rPr>
                            <m:t>𝜃</m:t>
                          </m:r>
                        </m:e>
                      </m:func>
                      <m:r>
                        <a:rPr lang="en-US" sz="2800" i="1">
                          <a:latin typeface="Cambria Math" panose="02040503050406030204" pitchFamily="18" charset="0"/>
                          <a:ea typeface="Cambria Math" panose="02040503050406030204" pitchFamily="18" charset="0"/>
                        </a:rPr>
                        <m:t>+</m:t>
                      </m:r>
                      <m:func>
                        <m:funcPr>
                          <m:ctrlPr>
                            <a:rPr lang="sr-Latn-RS" sz="2800" i="1">
                              <a:latin typeface="Cambria Math" panose="02040503050406030204" pitchFamily="18" charset="0"/>
                            </a:rPr>
                          </m:ctrlPr>
                        </m:funcPr>
                        <m:fName>
                          <m:sSup>
                            <m:sSupPr>
                              <m:ctrlPr>
                                <a:rPr lang="sr-Latn-RS" sz="2800" i="1">
                                  <a:latin typeface="Cambria Math" panose="02040503050406030204" pitchFamily="18" charset="0"/>
                                </a:rPr>
                              </m:ctrlPr>
                            </m:sSupPr>
                            <m:e>
                              <m:r>
                                <m:rPr>
                                  <m:sty m:val="p"/>
                                </m:rPr>
                                <a:rPr lang="en-US" sz="2800">
                                  <a:latin typeface="Cambria Math" panose="02040503050406030204" pitchFamily="18" charset="0"/>
                                </a:rPr>
                                <m:t>cos</m:t>
                              </m:r>
                            </m:e>
                            <m:sup>
                              <m:r>
                                <a:rPr lang="en-US" sz="2800">
                                  <a:latin typeface="Cambria Math" panose="02040503050406030204" pitchFamily="18" charset="0"/>
                                </a:rPr>
                                <m:t>2</m:t>
                              </m:r>
                            </m:sup>
                          </m:sSup>
                        </m:fName>
                        <m:e>
                          <m:r>
                            <a:rPr lang="sr-Latn-RS" sz="2800" i="1">
                              <a:latin typeface="Cambria Math" panose="02040503050406030204" pitchFamily="18" charset="0"/>
                              <a:ea typeface="Cambria Math" panose="02040503050406030204" pitchFamily="18" charset="0"/>
                            </a:rPr>
                            <m:t>𝜃</m:t>
                          </m:r>
                          <m:r>
                            <a:rPr lang="en-US" sz="2800" i="1">
                              <a:latin typeface="Cambria Math" panose="02040503050406030204" pitchFamily="18" charset="0"/>
                              <a:ea typeface="Cambria Math" panose="02040503050406030204" pitchFamily="18" charset="0"/>
                            </a:rPr>
                            <m:t>=1</m:t>
                          </m:r>
                        </m:e>
                      </m:func>
                    </m:oMath>
                  </m:oMathPara>
                </a14:m>
                <a:endParaRPr lang="en-US" sz="2800" dirty="0"/>
              </a:p>
            </p:txBody>
          </p:sp>
        </mc:Choice>
        <mc:Fallback xmlns="">
          <p:sp>
            <p:nvSpPr>
              <p:cNvPr id="9" name="TextBox 8">
                <a:extLst>
                  <a:ext uri="{FF2B5EF4-FFF2-40B4-BE49-F238E27FC236}">
                    <a16:creationId xmlns:a16="http://schemas.microsoft.com/office/drawing/2014/main" id="{431798CD-CA7E-4B43-9DE2-3732A12DF112}"/>
                  </a:ext>
                </a:extLst>
              </p:cNvPr>
              <p:cNvSpPr txBox="1">
                <a:spLocks noRot="1" noChangeAspect="1" noMove="1" noResize="1" noEditPoints="1" noAdjustHandles="1" noChangeArrowheads="1" noChangeShapeType="1" noTextEdit="1"/>
              </p:cNvSpPr>
              <p:nvPr/>
            </p:nvSpPr>
            <p:spPr>
              <a:xfrm>
                <a:off x="6938412" y="2877975"/>
                <a:ext cx="3207032" cy="523220"/>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339926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ABD80A-9DF6-E340-B0BE-6F9BFF07283C}"/>
              </a:ext>
            </a:extLst>
          </p:cNvPr>
          <p:cNvSpPr>
            <a:spLocks noGrp="1"/>
          </p:cNvSpPr>
          <p:nvPr>
            <p:ph type="sldNum" sz="quarter" idx="12"/>
          </p:nvPr>
        </p:nvSpPr>
        <p:spPr/>
        <p:txBody>
          <a:bodyPr/>
          <a:lstStyle/>
          <a:p>
            <a:fld id="{591A223C-FA10-BC46-A853-03BA373D023C}" type="slidenum">
              <a:rPr lang="en-US" smtClean="0"/>
              <a:t>7</a:t>
            </a:fld>
            <a:endParaRPr lang="en-US"/>
          </a:p>
        </p:txBody>
      </p:sp>
      <p:sp>
        <p:nvSpPr>
          <p:cNvPr id="3" name="Title 2">
            <a:extLst>
              <a:ext uri="{FF2B5EF4-FFF2-40B4-BE49-F238E27FC236}">
                <a16:creationId xmlns:a16="http://schemas.microsoft.com/office/drawing/2014/main" id="{A39289F2-77DB-EB4F-95AD-B114EC4D9F8E}"/>
              </a:ext>
            </a:extLst>
          </p:cNvPr>
          <p:cNvSpPr>
            <a:spLocks noGrp="1"/>
          </p:cNvSpPr>
          <p:nvPr>
            <p:ph type="title"/>
          </p:nvPr>
        </p:nvSpPr>
        <p:spPr>
          <a:xfrm>
            <a:off x="0" y="-79620"/>
            <a:ext cx="12192000" cy="928688"/>
          </a:xfrm>
        </p:spPr>
        <p:txBody>
          <a:bodyPr/>
          <a:lstStyle/>
          <a:p>
            <a:r>
              <a:rPr lang="en-ZA" sz="3600" dirty="0"/>
              <a:t>Coordinate systems</a:t>
            </a:r>
            <a:endParaRPr lang="en-US" sz="3600" dirty="0"/>
          </a:p>
        </p:txBody>
      </p:sp>
      <p:pic>
        <p:nvPicPr>
          <p:cNvPr id="13" name="Picture 12">
            <a:extLst>
              <a:ext uri="{FF2B5EF4-FFF2-40B4-BE49-F238E27FC236}">
                <a16:creationId xmlns:a16="http://schemas.microsoft.com/office/drawing/2014/main" id="{0FB0F590-12E8-CA4A-BA8F-6EFA44ED3B74}"/>
              </a:ext>
            </a:extLst>
          </p:cNvPr>
          <p:cNvPicPr>
            <a:picLocks noChangeAspect="1"/>
          </p:cNvPicPr>
          <p:nvPr/>
        </p:nvPicPr>
        <p:blipFill>
          <a:blip r:embed="rId3"/>
          <a:stretch>
            <a:fillRect/>
          </a:stretch>
        </p:blipFill>
        <p:spPr>
          <a:xfrm>
            <a:off x="196319" y="1940151"/>
            <a:ext cx="11799361" cy="3590352"/>
          </a:xfrm>
          <a:prstGeom prst="rect">
            <a:avLst/>
          </a:prstGeom>
        </p:spPr>
      </p:pic>
      <p:sp>
        <p:nvSpPr>
          <p:cNvPr id="14" name="TextBox 13">
            <a:extLst>
              <a:ext uri="{FF2B5EF4-FFF2-40B4-BE49-F238E27FC236}">
                <a16:creationId xmlns:a16="http://schemas.microsoft.com/office/drawing/2014/main" id="{2027AFC9-6B0B-7148-89F5-268F81715449}"/>
              </a:ext>
            </a:extLst>
          </p:cNvPr>
          <p:cNvSpPr txBox="1"/>
          <p:nvPr/>
        </p:nvSpPr>
        <p:spPr>
          <a:xfrm>
            <a:off x="196319" y="1161615"/>
            <a:ext cx="3706912" cy="461665"/>
          </a:xfrm>
          <a:prstGeom prst="rect">
            <a:avLst/>
          </a:prstGeom>
          <a:noFill/>
        </p:spPr>
        <p:txBody>
          <a:bodyPr wrap="none" rtlCol="0">
            <a:spAutoFit/>
          </a:bodyPr>
          <a:lstStyle/>
          <a:p>
            <a:r>
              <a:rPr lang="en-ZA" sz="2400" dirty="0"/>
              <a:t>Cartesian coordinate system</a:t>
            </a:r>
            <a:endParaRPr lang="en-US" sz="2400" dirty="0"/>
          </a:p>
        </p:txBody>
      </p:sp>
      <p:sp>
        <p:nvSpPr>
          <p:cNvPr id="15" name="TextBox 14">
            <a:extLst>
              <a:ext uri="{FF2B5EF4-FFF2-40B4-BE49-F238E27FC236}">
                <a16:creationId xmlns:a16="http://schemas.microsoft.com/office/drawing/2014/main" id="{A066EA78-5C34-D743-9290-ACCB760CF0AA}"/>
              </a:ext>
            </a:extLst>
          </p:cNvPr>
          <p:cNvSpPr txBox="1"/>
          <p:nvPr/>
        </p:nvSpPr>
        <p:spPr>
          <a:xfrm>
            <a:off x="4226355" y="1161614"/>
            <a:ext cx="3175100" cy="461665"/>
          </a:xfrm>
          <a:prstGeom prst="rect">
            <a:avLst/>
          </a:prstGeom>
          <a:noFill/>
        </p:spPr>
        <p:txBody>
          <a:bodyPr wrap="none" rtlCol="0">
            <a:spAutoFit/>
          </a:bodyPr>
          <a:lstStyle/>
          <a:p>
            <a:r>
              <a:rPr lang="en-ZA" sz="2400" dirty="0"/>
              <a:t>Polar coordinate system</a:t>
            </a:r>
            <a:endParaRPr lang="en-US" sz="2400" dirty="0"/>
          </a:p>
        </p:txBody>
      </p:sp>
      <p:sp>
        <p:nvSpPr>
          <p:cNvPr id="16" name="TextBox 15">
            <a:extLst>
              <a:ext uri="{FF2B5EF4-FFF2-40B4-BE49-F238E27FC236}">
                <a16:creationId xmlns:a16="http://schemas.microsoft.com/office/drawing/2014/main" id="{4092A333-1464-A344-ACDD-E93046D39759}"/>
              </a:ext>
            </a:extLst>
          </p:cNvPr>
          <p:cNvSpPr txBox="1"/>
          <p:nvPr/>
        </p:nvSpPr>
        <p:spPr>
          <a:xfrm>
            <a:off x="8001770" y="1161614"/>
            <a:ext cx="3656386" cy="461665"/>
          </a:xfrm>
          <a:prstGeom prst="rect">
            <a:avLst/>
          </a:prstGeom>
          <a:noFill/>
        </p:spPr>
        <p:txBody>
          <a:bodyPr wrap="none" rtlCol="0">
            <a:spAutoFit/>
          </a:bodyPr>
          <a:lstStyle/>
          <a:p>
            <a:r>
              <a:rPr lang="en-ZA" sz="2400" dirty="0"/>
              <a:t>Spherical coordinate system</a:t>
            </a:r>
            <a:endParaRPr lang="en-US" sz="2400" dirty="0"/>
          </a:p>
        </p:txBody>
      </p:sp>
      <p:grpSp>
        <p:nvGrpSpPr>
          <p:cNvPr id="4" name="Group 3">
            <a:extLst>
              <a:ext uri="{FF2B5EF4-FFF2-40B4-BE49-F238E27FC236}">
                <a16:creationId xmlns:a16="http://schemas.microsoft.com/office/drawing/2014/main" id="{56D60444-9E71-9E4E-B5F8-8F5966198B75}"/>
              </a:ext>
            </a:extLst>
          </p:cNvPr>
          <p:cNvGrpSpPr/>
          <p:nvPr/>
        </p:nvGrpSpPr>
        <p:grpSpPr>
          <a:xfrm>
            <a:off x="4483905" y="5320643"/>
            <a:ext cx="7370906" cy="1200329"/>
            <a:chOff x="4483905" y="5320643"/>
            <a:chExt cx="7370906" cy="1200329"/>
          </a:xfrm>
        </p:grpSpPr>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4B7FD1EA-0D6E-2F4B-B3BA-F64D010687F1}"/>
                    </a:ext>
                  </a:extLst>
                </p:cNvPr>
                <p:cNvSpPr/>
                <p:nvPr/>
              </p:nvSpPr>
              <p:spPr>
                <a:xfrm>
                  <a:off x="4483905" y="5537611"/>
                  <a:ext cx="1733487" cy="8309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sr-Latn-RS" sz="2400" b="0" i="1" smtClean="0">
                                <a:latin typeface="Cambria Math" panose="02040503050406030204" pitchFamily="18" charset="0"/>
                              </a:rPr>
                            </m:ctrlPr>
                          </m:funcPr>
                          <m:fName>
                            <m:r>
                              <a:rPr lang="sr-Latn-RS" sz="2400" b="0" i="1" smtClean="0">
                                <a:latin typeface="Cambria Math" panose="02040503050406030204" pitchFamily="18" charset="0"/>
                              </a:rPr>
                              <m:t>𝑥</m:t>
                            </m:r>
                            <m:r>
                              <a:rPr lang="sr-Latn-RS" sz="2400" b="0" i="1" smtClean="0">
                                <a:latin typeface="Cambria Math" panose="02040503050406030204" pitchFamily="18" charset="0"/>
                              </a:rPr>
                              <m:t>=</m:t>
                            </m:r>
                            <m:r>
                              <a:rPr lang="sr-Latn-RS" sz="2400" b="0" i="1" smtClean="0">
                                <a:latin typeface="Cambria Math" panose="02040503050406030204" pitchFamily="18" charset="0"/>
                              </a:rPr>
                              <m:t>𝑟</m:t>
                            </m:r>
                            <m:r>
                              <a:rPr lang="sr-Latn-RS" sz="2400" b="0" i="1" smtClean="0">
                                <a:latin typeface="Cambria Math" panose="02040503050406030204" pitchFamily="18" charset="0"/>
                              </a:rPr>
                              <m:t> </m:t>
                            </m:r>
                            <m:r>
                              <a:rPr lang="sr-Latn-RS" sz="2400" b="0" i="1" smtClean="0">
                                <a:latin typeface="Cambria Math" panose="02040503050406030204" pitchFamily="18" charset="0"/>
                              </a:rPr>
                              <m:t>𝑐𝑜𝑠</m:t>
                            </m:r>
                          </m:fName>
                          <m:e>
                            <m:r>
                              <a:rPr lang="sr-Latn-RS" sz="2400" b="0" i="1" smtClean="0">
                                <a:latin typeface="Cambria Math" panose="02040503050406030204" pitchFamily="18" charset="0"/>
                                <a:ea typeface="Cambria Math" panose="02040503050406030204" pitchFamily="18" charset="0"/>
                              </a:rPr>
                              <m:t>𝜃</m:t>
                            </m:r>
                          </m:e>
                        </m:func>
                      </m:oMath>
                    </m:oMathPara>
                  </a14:m>
                  <a:endParaRPr lang="sr-Latn-RS" sz="2400" b="0" dirty="0"/>
                </a:p>
                <a:p>
                  <a:pPr/>
                  <a14:m>
                    <m:oMathPara xmlns:m="http://schemas.openxmlformats.org/officeDocument/2006/math">
                      <m:oMathParaPr>
                        <m:jc m:val="centerGroup"/>
                      </m:oMathParaPr>
                      <m:oMath xmlns:m="http://schemas.openxmlformats.org/officeDocument/2006/math">
                        <m:func>
                          <m:funcPr>
                            <m:ctrlPr>
                              <a:rPr lang="sr-Latn-RS" sz="2400" i="1">
                                <a:latin typeface="Cambria Math" panose="02040503050406030204" pitchFamily="18" charset="0"/>
                              </a:rPr>
                            </m:ctrlPr>
                          </m:funcPr>
                          <m:fName>
                            <m:r>
                              <a:rPr lang="sr-Latn-RS" sz="2400" i="1">
                                <a:latin typeface="Cambria Math" panose="02040503050406030204" pitchFamily="18" charset="0"/>
                              </a:rPr>
                              <m:t>𝑦</m:t>
                            </m:r>
                            <m:r>
                              <a:rPr lang="sr-Latn-RS" sz="2400" i="1">
                                <a:latin typeface="Cambria Math" panose="02040503050406030204" pitchFamily="18" charset="0"/>
                              </a:rPr>
                              <m:t>=</m:t>
                            </m:r>
                            <m:r>
                              <a:rPr lang="sr-Latn-RS" sz="2400" b="0" i="1" smtClean="0">
                                <a:latin typeface="Cambria Math" panose="02040503050406030204" pitchFamily="18" charset="0"/>
                              </a:rPr>
                              <m:t>𝑟</m:t>
                            </m:r>
                            <m:r>
                              <a:rPr lang="sr-Latn-RS" sz="2400" b="0" i="1" smtClean="0">
                                <a:latin typeface="Cambria Math" panose="02040503050406030204" pitchFamily="18" charset="0"/>
                              </a:rPr>
                              <m:t> </m:t>
                            </m:r>
                            <m:r>
                              <a:rPr lang="sr-Latn-RS" sz="2400" i="1">
                                <a:latin typeface="Cambria Math" panose="02040503050406030204" pitchFamily="18" charset="0"/>
                              </a:rPr>
                              <m:t>𝑠𝑖𝑛</m:t>
                            </m:r>
                          </m:fName>
                          <m:e>
                            <m:r>
                              <a:rPr lang="sr-Latn-RS" sz="2400" i="1">
                                <a:latin typeface="Cambria Math" panose="02040503050406030204" pitchFamily="18" charset="0"/>
                                <a:ea typeface="Cambria Math" panose="02040503050406030204" pitchFamily="18" charset="0"/>
                              </a:rPr>
                              <m:t>𝜃</m:t>
                            </m:r>
                          </m:e>
                        </m:func>
                      </m:oMath>
                    </m:oMathPara>
                  </a14:m>
                  <a:endParaRPr lang="en-US" sz="2400" dirty="0"/>
                </a:p>
              </p:txBody>
            </p:sp>
          </mc:Choice>
          <mc:Fallback xmlns="">
            <p:sp>
              <p:nvSpPr>
                <p:cNvPr id="18" name="Rectangle 17">
                  <a:extLst>
                    <a:ext uri="{FF2B5EF4-FFF2-40B4-BE49-F238E27FC236}">
                      <a16:creationId xmlns:a16="http://schemas.microsoft.com/office/drawing/2014/main" id="{4B7FD1EA-0D6E-2F4B-B3BA-F64D010687F1}"/>
                    </a:ext>
                  </a:extLst>
                </p:cNvPr>
                <p:cNvSpPr>
                  <a:spLocks noRot="1" noChangeAspect="1" noMove="1" noResize="1" noEditPoints="1" noAdjustHandles="1" noChangeArrowheads="1" noChangeShapeType="1" noTextEdit="1"/>
                </p:cNvSpPr>
                <p:nvPr/>
              </p:nvSpPr>
              <p:spPr>
                <a:xfrm>
                  <a:off x="4483905" y="5537611"/>
                  <a:ext cx="1733487" cy="830997"/>
                </a:xfrm>
                <a:prstGeom prst="rect">
                  <a:avLst/>
                </a:prstGeom>
                <a:blipFill>
                  <a:blip r:embed="rId4"/>
                  <a:stretch>
                    <a:fillRect b="-1060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8ED44504-F150-2046-B6BF-3290A179EA8B}"/>
                    </a:ext>
                  </a:extLst>
                </p:cNvPr>
                <p:cNvSpPr/>
                <p:nvPr/>
              </p:nvSpPr>
              <p:spPr>
                <a:xfrm>
                  <a:off x="9300970" y="5320643"/>
                  <a:ext cx="2553841" cy="120032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sr-Latn-RS" sz="2400" b="0" i="1" smtClean="0">
                                <a:latin typeface="Cambria Math" panose="02040503050406030204" pitchFamily="18" charset="0"/>
                              </a:rPr>
                            </m:ctrlPr>
                          </m:funcPr>
                          <m:fName>
                            <m:r>
                              <a:rPr lang="sr-Latn-RS" sz="2400" b="0" i="1" smtClean="0">
                                <a:latin typeface="Cambria Math" panose="02040503050406030204" pitchFamily="18" charset="0"/>
                              </a:rPr>
                              <m:t>𝑥</m:t>
                            </m:r>
                            <m:r>
                              <a:rPr lang="sr-Latn-RS" sz="2400" b="0" i="1" smtClean="0">
                                <a:latin typeface="Cambria Math" panose="02040503050406030204" pitchFamily="18" charset="0"/>
                              </a:rPr>
                              <m:t>=</m:t>
                            </m:r>
                            <m:r>
                              <a:rPr lang="sr-Latn-RS" sz="2400" b="0" i="1" smtClean="0">
                                <a:latin typeface="Cambria Math" panose="02040503050406030204" pitchFamily="18" charset="0"/>
                              </a:rPr>
                              <m:t>𝑟</m:t>
                            </m:r>
                            <m:r>
                              <a:rPr lang="sr-Latn-RS" sz="2400" b="0" i="1" smtClean="0">
                                <a:latin typeface="Cambria Math" panose="02040503050406030204" pitchFamily="18" charset="0"/>
                              </a:rPr>
                              <m:t> </m:t>
                            </m:r>
                            <m:r>
                              <a:rPr lang="sr-Latn-RS" sz="2400" b="0" i="1" smtClean="0">
                                <a:latin typeface="Cambria Math" panose="02040503050406030204" pitchFamily="18" charset="0"/>
                              </a:rPr>
                              <m:t>𝑠𝑖𝑛</m:t>
                            </m:r>
                            <m:r>
                              <a:rPr lang="sr-Latn-RS" sz="2400" b="0" i="1" smtClean="0">
                                <a:latin typeface="Cambria Math" panose="02040503050406030204" pitchFamily="18" charset="0"/>
                              </a:rPr>
                              <m:t> </m:t>
                            </m:r>
                            <m:r>
                              <a:rPr lang="sr-Latn-RS" sz="2400" i="1">
                                <a:latin typeface="Cambria Math" panose="02040503050406030204" pitchFamily="18" charset="0"/>
                                <a:ea typeface="Cambria Math" panose="02040503050406030204" pitchFamily="18" charset="0"/>
                              </a:rPr>
                              <m:t>𝜃</m:t>
                            </m:r>
                            <m:r>
                              <a:rPr lang="sr-Latn-RS" sz="2400" b="0" i="1" smtClean="0">
                                <a:latin typeface="Cambria Math" panose="02040503050406030204" pitchFamily="18" charset="0"/>
                                <a:ea typeface="Cambria Math" panose="02040503050406030204" pitchFamily="18" charset="0"/>
                              </a:rPr>
                              <m:t> </m:t>
                            </m:r>
                            <m:r>
                              <a:rPr lang="sr-Latn-RS" sz="2400" b="0" i="1" smtClean="0">
                                <a:latin typeface="Cambria Math" panose="02040503050406030204" pitchFamily="18" charset="0"/>
                              </a:rPr>
                              <m:t>𝑐𝑜𝑠</m:t>
                            </m:r>
                          </m:fName>
                          <m:e>
                            <m:r>
                              <a:rPr lang="el-GR" sz="2400" i="1">
                                <a:latin typeface="Cambria Math" panose="02040503050406030204" pitchFamily="18" charset="0"/>
                                <a:ea typeface="Cambria Math" panose="02040503050406030204" pitchFamily="18" charset="0"/>
                              </a:rPr>
                              <m:t>𝜑</m:t>
                            </m:r>
                          </m:e>
                        </m:func>
                      </m:oMath>
                    </m:oMathPara>
                  </a14:m>
                  <a:endParaRPr lang="sr-Latn-RS" sz="2400" b="0" dirty="0"/>
                </a:p>
                <a:p>
                  <a:pPr/>
                  <a14:m>
                    <m:oMathPara xmlns:m="http://schemas.openxmlformats.org/officeDocument/2006/math">
                      <m:oMathParaPr>
                        <m:jc m:val="centerGroup"/>
                      </m:oMathParaPr>
                      <m:oMath xmlns:m="http://schemas.openxmlformats.org/officeDocument/2006/math">
                        <m:func>
                          <m:funcPr>
                            <m:ctrlPr>
                              <a:rPr lang="sr-Latn-RS" sz="2400" i="1">
                                <a:latin typeface="Cambria Math" panose="02040503050406030204" pitchFamily="18" charset="0"/>
                              </a:rPr>
                            </m:ctrlPr>
                          </m:funcPr>
                          <m:fName>
                            <m:r>
                              <a:rPr lang="sr-Latn-RS" sz="2400" b="0" i="1" smtClean="0">
                                <a:latin typeface="Cambria Math" panose="02040503050406030204" pitchFamily="18" charset="0"/>
                              </a:rPr>
                              <m:t>𝑦</m:t>
                            </m:r>
                            <m:r>
                              <a:rPr lang="sr-Latn-RS" sz="2400" i="1">
                                <a:latin typeface="Cambria Math" panose="02040503050406030204" pitchFamily="18" charset="0"/>
                              </a:rPr>
                              <m:t>=</m:t>
                            </m:r>
                            <m:r>
                              <a:rPr lang="sr-Latn-RS" sz="2400" i="1">
                                <a:latin typeface="Cambria Math" panose="02040503050406030204" pitchFamily="18" charset="0"/>
                              </a:rPr>
                              <m:t>𝑟</m:t>
                            </m:r>
                            <m:r>
                              <a:rPr lang="sr-Latn-RS" sz="2400" i="1">
                                <a:latin typeface="Cambria Math" panose="02040503050406030204" pitchFamily="18" charset="0"/>
                              </a:rPr>
                              <m:t> </m:t>
                            </m:r>
                            <m:r>
                              <a:rPr lang="sr-Latn-RS" sz="2400" i="1">
                                <a:latin typeface="Cambria Math" panose="02040503050406030204" pitchFamily="18" charset="0"/>
                              </a:rPr>
                              <m:t>𝑠𝑖𝑛</m:t>
                            </m:r>
                            <m:r>
                              <a:rPr lang="sr-Latn-RS" sz="2400" i="1">
                                <a:latin typeface="Cambria Math" panose="02040503050406030204" pitchFamily="18" charset="0"/>
                              </a:rPr>
                              <m:t> </m:t>
                            </m:r>
                            <m:r>
                              <a:rPr lang="sr-Latn-RS" sz="2400" i="1">
                                <a:latin typeface="Cambria Math" panose="02040503050406030204" pitchFamily="18" charset="0"/>
                                <a:ea typeface="Cambria Math" panose="02040503050406030204" pitchFamily="18" charset="0"/>
                              </a:rPr>
                              <m:t>𝜃</m:t>
                            </m:r>
                            <m:r>
                              <a:rPr lang="sr-Latn-RS" sz="2400" i="1">
                                <a:latin typeface="Cambria Math" panose="02040503050406030204" pitchFamily="18" charset="0"/>
                                <a:ea typeface="Cambria Math" panose="02040503050406030204" pitchFamily="18" charset="0"/>
                              </a:rPr>
                              <m:t> </m:t>
                            </m:r>
                            <m:r>
                              <a:rPr lang="sr-Latn-RS" sz="2400" b="0" i="1" smtClean="0">
                                <a:latin typeface="Cambria Math" panose="02040503050406030204" pitchFamily="18" charset="0"/>
                              </a:rPr>
                              <m:t>𝑠𝑖𝑛</m:t>
                            </m:r>
                          </m:fName>
                          <m:e>
                            <m:r>
                              <a:rPr lang="el-GR" sz="2400" i="1">
                                <a:latin typeface="Cambria Math" panose="02040503050406030204" pitchFamily="18" charset="0"/>
                                <a:ea typeface="Cambria Math" panose="02040503050406030204" pitchFamily="18" charset="0"/>
                              </a:rPr>
                              <m:t>𝜑</m:t>
                            </m:r>
                          </m:e>
                        </m:func>
                      </m:oMath>
                    </m:oMathPara>
                  </a14:m>
                  <a:endParaRPr lang="sr-Latn-RS" sz="2400" dirty="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sr-Latn-RS" sz="2400" i="1" smtClean="0">
                            <a:latin typeface="Cambria Math" panose="02040503050406030204" pitchFamily="18" charset="0"/>
                          </a:rPr>
                          <m:t>𝑧</m:t>
                        </m:r>
                        <m:r>
                          <a:rPr lang="sr-Latn-RS" sz="2400" b="0" i="1" smtClean="0">
                            <a:latin typeface="Cambria Math" panose="02040503050406030204" pitchFamily="18" charset="0"/>
                          </a:rPr>
                          <m:t>=</m:t>
                        </m:r>
                        <m:r>
                          <a:rPr lang="sr-Latn-RS" sz="2400" i="1">
                            <a:latin typeface="Cambria Math" panose="02040503050406030204" pitchFamily="18" charset="0"/>
                          </a:rPr>
                          <m:t>𝑟</m:t>
                        </m:r>
                        <m:r>
                          <a:rPr lang="sr-Latn-RS" sz="2400" i="1">
                            <a:latin typeface="Cambria Math" panose="02040503050406030204" pitchFamily="18" charset="0"/>
                          </a:rPr>
                          <m:t> </m:t>
                        </m:r>
                        <m:r>
                          <a:rPr lang="sr-Latn-RS" sz="2400" i="1">
                            <a:latin typeface="Cambria Math" panose="02040503050406030204" pitchFamily="18" charset="0"/>
                          </a:rPr>
                          <m:t>𝑐𝑜𝑠</m:t>
                        </m:r>
                        <m:r>
                          <a:rPr lang="sr-Latn-RS" sz="2400" i="1">
                            <a:latin typeface="Cambria Math" panose="02040503050406030204" pitchFamily="18" charset="0"/>
                          </a:rPr>
                          <m:t> </m:t>
                        </m:r>
                        <m:r>
                          <a:rPr lang="sr-Latn-RS" sz="2400" i="1">
                            <a:latin typeface="Cambria Math" panose="02040503050406030204" pitchFamily="18" charset="0"/>
                            <a:ea typeface="Cambria Math" panose="02040503050406030204" pitchFamily="18" charset="0"/>
                          </a:rPr>
                          <m:t>𝜃</m:t>
                        </m:r>
                        <m:r>
                          <a:rPr lang="sr-Latn-RS" sz="2400" b="0" i="0" smtClean="0">
                            <a:latin typeface="Cambria Math" panose="02040503050406030204" pitchFamily="18" charset="0"/>
                            <a:ea typeface="Cambria Math" panose="02040503050406030204" pitchFamily="18" charset="0"/>
                          </a:rPr>
                          <m:t>           </m:t>
                        </m:r>
                      </m:oMath>
                    </m:oMathPara>
                  </a14:m>
                  <a:endParaRPr lang="sr-Latn-RS" sz="2400" dirty="0">
                    <a:ea typeface="Cambria Math" panose="02040503050406030204" pitchFamily="18" charset="0"/>
                  </a:endParaRPr>
                </a:p>
              </p:txBody>
            </p:sp>
          </mc:Choice>
          <mc:Fallback xmlns="">
            <p:sp>
              <p:nvSpPr>
                <p:cNvPr id="19" name="Rectangle 18">
                  <a:extLst>
                    <a:ext uri="{FF2B5EF4-FFF2-40B4-BE49-F238E27FC236}">
                      <a16:creationId xmlns:a16="http://schemas.microsoft.com/office/drawing/2014/main" id="{8ED44504-F150-2046-B6BF-3290A179EA8B}"/>
                    </a:ext>
                  </a:extLst>
                </p:cNvPr>
                <p:cNvSpPr>
                  <a:spLocks noRot="1" noChangeAspect="1" noMove="1" noResize="1" noEditPoints="1" noAdjustHandles="1" noChangeArrowheads="1" noChangeShapeType="1" noTextEdit="1"/>
                </p:cNvSpPr>
                <p:nvPr/>
              </p:nvSpPr>
              <p:spPr>
                <a:xfrm>
                  <a:off x="9300970" y="5320643"/>
                  <a:ext cx="2553841" cy="1200329"/>
                </a:xfrm>
                <a:prstGeom prst="rect">
                  <a:avLst/>
                </a:prstGeom>
                <a:blipFill>
                  <a:blip r:embed="rId5"/>
                  <a:stretch>
                    <a:fillRect b="-7368"/>
                  </a:stretch>
                </a:blipFill>
              </p:spPr>
              <p:txBody>
                <a:bodyPr/>
                <a:lstStyle/>
                <a:p>
                  <a:r>
                    <a:rPr lang="en-US">
                      <a:noFill/>
                    </a:rPr>
                    <a:t> </a:t>
                  </a:r>
                </a:p>
              </p:txBody>
            </p:sp>
          </mc:Fallback>
        </mc:AlternateContent>
      </p:grpSp>
    </p:spTree>
    <p:extLst>
      <p:ext uri="{BB962C8B-B14F-4D97-AF65-F5344CB8AC3E}">
        <p14:creationId xmlns:p14="http://schemas.microsoft.com/office/powerpoint/2010/main" val="3657250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ounded Rectangle 8">
            <a:extLst>
              <a:ext uri="{FF2B5EF4-FFF2-40B4-BE49-F238E27FC236}">
                <a16:creationId xmlns:a16="http://schemas.microsoft.com/office/drawing/2014/main" id="{6DC1C553-201A-5E4A-8662-50753527B0D9}"/>
              </a:ext>
            </a:extLst>
          </p:cNvPr>
          <p:cNvSpPr/>
          <p:nvPr/>
        </p:nvSpPr>
        <p:spPr>
          <a:xfrm>
            <a:off x="5261811" y="1491916"/>
            <a:ext cx="3304673" cy="187692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5C76AD5C-EB7C-8E4C-A214-875DF0B70FD2}"/>
              </a:ext>
            </a:extLst>
          </p:cNvPr>
          <p:cNvSpPr>
            <a:spLocks noGrp="1"/>
          </p:cNvSpPr>
          <p:nvPr>
            <p:ph type="sldNum" sz="quarter" idx="12"/>
          </p:nvPr>
        </p:nvSpPr>
        <p:spPr/>
        <p:txBody>
          <a:bodyPr/>
          <a:lstStyle/>
          <a:p>
            <a:fld id="{591A223C-FA10-BC46-A853-03BA373D023C}" type="slidenum">
              <a:rPr lang="en-US" smtClean="0"/>
              <a:t>8</a:t>
            </a:fld>
            <a:endParaRPr lang="en-US"/>
          </a:p>
        </p:txBody>
      </p:sp>
      <p:sp>
        <p:nvSpPr>
          <p:cNvPr id="3" name="Title 2">
            <a:extLst>
              <a:ext uri="{FF2B5EF4-FFF2-40B4-BE49-F238E27FC236}">
                <a16:creationId xmlns:a16="http://schemas.microsoft.com/office/drawing/2014/main" id="{73C1BDA6-C1E8-5749-960C-C870BC52039B}"/>
              </a:ext>
            </a:extLst>
          </p:cNvPr>
          <p:cNvSpPr>
            <a:spLocks noGrp="1"/>
          </p:cNvSpPr>
          <p:nvPr>
            <p:ph type="title"/>
          </p:nvPr>
        </p:nvSpPr>
        <p:spPr>
          <a:xfrm>
            <a:off x="0" y="0"/>
            <a:ext cx="12192000" cy="928688"/>
          </a:xfrm>
        </p:spPr>
        <p:txBody>
          <a:bodyPr/>
          <a:lstStyle/>
          <a:p>
            <a:r>
              <a:rPr lang="en-ZA" dirty="0"/>
              <a:t>Kronecker delta function</a:t>
            </a: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BA27C93-2725-4F47-A7F1-1B9B3CF5C292}"/>
                  </a:ext>
                </a:extLst>
              </p:cNvPr>
              <p:cNvSpPr txBox="1"/>
              <p:nvPr/>
            </p:nvSpPr>
            <p:spPr>
              <a:xfrm>
                <a:off x="5517397" y="1921790"/>
                <a:ext cx="2841804" cy="91749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ZA" sz="2800" i="1" smtClean="0">
                              <a:solidFill>
                                <a:schemeClr val="bg1"/>
                              </a:solidFill>
                              <a:latin typeface="Cambria Math" panose="02040503050406030204" pitchFamily="18" charset="0"/>
                            </a:rPr>
                          </m:ctrlPr>
                        </m:sSubPr>
                        <m:e>
                          <m:r>
                            <a:rPr lang="sr-Latn-RS" sz="2800" i="1">
                              <a:solidFill>
                                <a:schemeClr val="bg1"/>
                              </a:solidFill>
                              <a:latin typeface="Cambria Math" panose="02040503050406030204" pitchFamily="18" charset="0"/>
                            </a:rPr>
                            <m:t>𝛿</m:t>
                          </m:r>
                        </m:e>
                        <m:sub>
                          <m:r>
                            <a:rPr lang="sr-Latn-RS" sz="2800" i="1">
                              <a:solidFill>
                                <a:schemeClr val="bg1"/>
                              </a:solidFill>
                              <a:latin typeface="Cambria Math" panose="02040503050406030204" pitchFamily="18" charset="0"/>
                            </a:rPr>
                            <m:t>𝑗𝑘</m:t>
                          </m:r>
                        </m:sub>
                      </m:sSub>
                      <m:r>
                        <a:rPr lang="sr-Latn-RS" sz="2800" i="1">
                          <a:solidFill>
                            <a:schemeClr val="bg1"/>
                          </a:solidFill>
                          <a:latin typeface="Cambria Math" panose="02040503050406030204" pitchFamily="18" charset="0"/>
                        </a:rPr>
                        <m:t>=</m:t>
                      </m:r>
                      <m:d>
                        <m:dPr>
                          <m:begChr m:val="{"/>
                          <m:endChr m:val=""/>
                          <m:ctrlPr>
                            <a:rPr lang="en-ZA" sz="2800" i="1">
                              <a:solidFill>
                                <a:schemeClr val="bg1"/>
                              </a:solidFill>
                              <a:latin typeface="Cambria Math" panose="02040503050406030204" pitchFamily="18" charset="0"/>
                            </a:rPr>
                          </m:ctrlPr>
                        </m:dPr>
                        <m:e>
                          <m:m>
                            <m:mPr>
                              <m:mcs>
                                <m:mc>
                                  <m:mcPr>
                                    <m:count m:val="2"/>
                                    <m:mcJc m:val="center"/>
                                  </m:mcPr>
                                </m:mc>
                              </m:mcs>
                              <m:ctrlPr>
                                <a:rPr lang="en-ZA" sz="2800" i="1">
                                  <a:solidFill>
                                    <a:schemeClr val="bg1"/>
                                  </a:solidFill>
                                  <a:latin typeface="Cambria Math" panose="02040503050406030204" pitchFamily="18" charset="0"/>
                                </a:rPr>
                              </m:ctrlPr>
                            </m:mPr>
                            <m:mr>
                              <m:e>
                                <m:r>
                                  <a:rPr lang="sr-Latn-RS" sz="2800" i="1">
                                    <a:solidFill>
                                      <a:schemeClr val="bg1"/>
                                    </a:solidFill>
                                    <a:latin typeface="Cambria Math" panose="02040503050406030204" pitchFamily="18" charset="0"/>
                                  </a:rPr>
                                  <m:t>1</m:t>
                                </m:r>
                              </m:e>
                              <m:e>
                                <m:r>
                                  <a:rPr lang="sr-Latn-RS" sz="2800" i="1">
                                    <a:solidFill>
                                      <a:schemeClr val="bg1"/>
                                    </a:solidFill>
                                    <a:latin typeface="Cambria Math" panose="02040503050406030204" pitchFamily="18" charset="0"/>
                                  </a:rPr>
                                  <m:t> </m:t>
                                </m:r>
                                <m:r>
                                  <a:rPr lang="sr-Latn-RS" sz="2800" i="1">
                                    <a:solidFill>
                                      <a:schemeClr val="bg1"/>
                                    </a:solidFill>
                                    <a:latin typeface="Cambria Math" panose="02040503050406030204" pitchFamily="18" charset="0"/>
                                  </a:rPr>
                                  <m:t>𝑗</m:t>
                                </m:r>
                                <m:r>
                                  <a:rPr lang="sr-Latn-RS" sz="2800" i="1">
                                    <a:solidFill>
                                      <a:schemeClr val="bg1"/>
                                    </a:solidFill>
                                    <a:latin typeface="Cambria Math" panose="02040503050406030204" pitchFamily="18" charset="0"/>
                                  </a:rPr>
                                  <m:t>=</m:t>
                                </m:r>
                                <m:r>
                                  <a:rPr lang="sr-Latn-RS" sz="2800" i="1">
                                    <a:solidFill>
                                      <a:schemeClr val="bg1"/>
                                    </a:solidFill>
                                    <a:latin typeface="Cambria Math" panose="02040503050406030204" pitchFamily="18" charset="0"/>
                                  </a:rPr>
                                  <m:t>𝑘</m:t>
                                </m:r>
                              </m:e>
                            </m:mr>
                            <m:mr>
                              <m:e>
                                <m:r>
                                  <a:rPr lang="sr-Latn-RS" sz="2800" i="1">
                                    <a:solidFill>
                                      <a:schemeClr val="bg1"/>
                                    </a:solidFill>
                                    <a:latin typeface="Cambria Math" panose="02040503050406030204" pitchFamily="18" charset="0"/>
                                  </a:rPr>
                                  <m:t>0</m:t>
                                </m:r>
                              </m:e>
                              <m:e>
                                <m:r>
                                  <a:rPr lang="sr-Latn-RS" sz="2800" i="1">
                                    <a:solidFill>
                                      <a:schemeClr val="bg1"/>
                                    </a:solidFill>
                                    <a:latin typeface="Cambria Math" panose="02040503050406030204" pitchFamily="18" charset="0"/>
                                  </a:rPr>
                                  <m:t> </m:t>
                                </m:r>
                                <m:r>
                                  <a:rPr lang="sr-Latn-RS" sz="2800" i="1">
                                    <a:solidFill>
                                      <a:schemeClr val="bg1"/>
                                    </a:solidFill>
                                    <a:latin typeface="Cambria Math" panose="02040503050406030204" pitchFamily="18" charset="0"/>
                                  </a:rPr>
                                  <m:t>𝑗</m:t>
                                </m:r>
                                <m:r>
                                  <a:rPr lang="sr-Latn-RS" sz="2800" i="1">
                                    <a:solidFill>
                                      <a:schemeClr val="bg1"/>
                                    </a:solidFill>
                                    <a:latin typeface="Cambria Math" panose="02040503050406030204" pitchFamily="18" charset="0"/>
                                  </a:rPr>
                                  <m:t>≠</m:t>
                                </m:r>
                                <m:r>
                                  <a:rPr lang="sr-Latn-RS" sz="2800" i="1">
                                    <a:solidFill>
                                      <a:schemeClr val="bg1"/>
                                    </a:solidFill>
                                    <a:latin typeface="Cambria Math" panose="02040503050406030204" pitchFamily="18" charset="0"/>
                                  </a:rPr>
                                  <m:t>𝑘</m:t>
                                </m:r>
                              </m:e>
                            </m:mr>
                          </m:m>
                          <m:r>
                            <a:rPr lang="sr-Latn-RS" sz="2800" i="1">
                              <a:solidFill>
                                <a:schemeClr val="bg1"/>
                              </a:solidFill>
                              <a:latin typeface="Cambria Math" panose="02040503050406030204" pitchFamily="18" charset="0"/>
                            </a:rPr>
                            <m:t> </m:t>
                          </m:r>
                        </m:e>
                      </m:d>
                    </m:oMath>
                  </m:oMathPara>
                </a14:m>
                <a:endParaRPr lang="en-US" sz="2800" dirty="0">
                  <a:solidFill>
                    <a:schemeClr val="bg1"/>
                  </a:solidFill>
                </a:endParaRPr>
              </a:p>
            </p:txBody>
          </p:sp>
        </mc:Choice>
        <mc:Fallback xmlns="">
          <p:sp>
            <p:nvSpPr>
              <p:cNvPr id="4" name="TextBox 3">
                <a:extLst>
                  <a:ext uri="{FF2B5EF4-FFF2-40B4-BE49-F238E27FC236}">
                    <a16:creationId xmlns:a16="http://schemas.microsoft.com/office/drawing/2014/main" id="{0BA27C93-2725-4F47-A7F1-1B9B3CF5C292}"/>
                  </a:ext>
                </a:extLst>
              </p:cNvPr>
              <p:cNvSpPr txBox="1">
                <a:spLocks noRot="1" noChangeAspect="1" noMove="1" noResize="1" noEditPoints="1" noAdjustHandles="1" noChangeArrowheads="1" noChangeShapeType="1" noTextEdit="1"/>
              </p:cNvSpPr>
              <p:nvPr/>
            </p:nvSpPr>
            <p:spPr>
              <a:xfrm>
                <a:off x="5517397" y="1921790"/>
                <a:ext cx="2841804" cy="917495"/>
              </a:xfrm>
              <a:prstGeom prst="rect">
                <a:avLst/>
              </a:prstGeom>
              <a:blipFill>
                <a:blip r:embed="rId3"/>
                <a:stretch>
                  <a:fillRect l="-12889" t="-175676" r="-889" b="-25540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EDA5B1DF-D467-9447-8B8B-DBE14E10EBB9}"/>
              </a:ext>
            </a:extLst>
          </p:cNvPr>
          <p:cNvSpPr txBox="1"/>
          <p:nvPr/>
        </p:nvSpPr>
        <p:spPr>
          <a:xfrm>
            <a:off x="479112" y="4717816"/>
            <a:ext cx="3133871" cy="369332"/>
          </a:xfrm>
          <a:prstGeom prst="rect">
            <a:avLst/>
          </a:prstGeom>
          <a:noFill/>
        </p:spPr>
        <p:txBody>
          <a:bodyPr wrap="none" rtlCol="0">
            <a:spAutoFit/>
          </a:bodyPr>
          <a:lstStyle/>
          <a:p>
            <a:r>
              <a:rPr lang="en-ZA" dirty="0"/>
              <a:t>Leopold Kronecker</a:t>
            </a:r>
            <a:r>
              <a:rPr lang="sr-Latn-RS" dirty="0"/>
              <a:t> (1823-1891)</a:t>
            </a:r>
            <a:endParaRPr lang="en-US" dirty="0"/>
          </a:p>
        </p:txBody>
      </p:sp>
      <p:sp>
        <p:nvSpPr>
          <p:cNvPr id="7" name="TextBox 6">
            <a:extLst>
              <a:ext uri="{FF2B5EF4-FFF2-40B4-BE49-F238E27FC236}">
                <a16:creationId xmlns:a16="http://schemas.microsoft.com/office/drawing/2014/main" id="{47638AD9-3958-B547-8DA8-2B34941E56E5}"/>
              </a:ext>
            </a:extLst>
          </p:cNvPr>
          <p:cNvSpPr txBox="1"/>
          <p:nvPr/>
        </p:nvSpPr>
        <p:spPr>
          <a:xfrm>
            <a:off x="4572000" y="4116899"/>
            <a:ext cx="4418582" cy="523220"/>
          </a:xfrm>
          <a:prstGeom prst="rect">
            <a:avLst/>
          </a:prstGeom>
          <a:noFill/>
        </p:spPr>
        <p:txBody>
          <a:bodyPr wrap="none" rtlCol="0">
            <a:spAutoFit/>
          </a:bodyPr>
          <a:lstStyle/>
          <a:p>
            <a:r>
              <a:rPr lang="en-ZA" sz="2800" dirty="0"/>
              <a:t>A filtering function example</a:t>
            </a:r>
            <a:r>
              <a:rPr lang="en-US" sz="2800" dirty="0"/>
              <a: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0D89A72-C6BD-6A4B-AF71-F301FD81B363}"/>
                  </a:ext>
                </a:extLst>
              </p:cNvPr>
              <p:cNvSpPr txBox="1"/>
              <p:nvPr/>
            </p:nvSpPr>
            <p:spPr>
              <a:xfrm>
                <a:off x="4748463" y="4717816"/>
                <a:ext cx="6380273" cy="131439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nary>
                        <m:naryPr>
                          <m:chr m:val="∑"/>
                          <m:limLoc m:val="undOvr"/>
                          <m:ctrlPr>
                            <a:rPr lang="en-ZA" sz="2800" i="1">
                              <a:latin typeface="Cambria Math" panose="02040503050406030204" pitchFamily="18" charset="0"/>
                            </a:rPr>
                          </m:ctrlPr>
                        </m:naryPr>
                        <m:sub>
                          <m:r>
                            <a:rPr lang="sr-Latn-RS" sz="2800" i="1">
                              <a:latin typeface="Cambria Math" panose="02040503050406030204" pitchFamily="18" charset="0"/>
                            </a:rPr>
                            <m:t>𝑘</m:t>
                          </m:r>
                          <m:r>
                            <a:rPr lang="sr-Latn-RS" sz="2800" i="1">
                              <a:latin typeface="Cambria Math" panose="02040503050406030204" pitchFamily="18" charset="0"/>
                            </a:rPr>
                            <m:t>=1</m:t>
                          </m:r>
                        </m:sub>
                        <m:sup>
                          <m:r>
                            <a:rPr lang="sr-Latn-RS" sz="2800" i="1">
                              <a:latin typeface="Cambria Math" panose="02040503050406030204" pitchFamily="18" charset="0"/>
                            </a:rPr>
                            <m:t>3</m:t>
                          </m:r>
                        </m:sup>
                        <m:e>
                          <m:sSub>
                            <m:sSubPr>
                              <m:ctrlPr>
                                <a:rPr lang="en-ZA" sz="2800" i="1">
                                  <a:latin typeface="Cambria Math" panose="02040503050406030204" pitchFamily="18" charset="0"/>
                                </a:rPr>
                              </m:ctrlPr>
                            </m:sSubPr>
                            <m:e>
                              <m:r>
                                <a:rPr lang="sr-Latn-RS" sz="2800" i="1">
                                  <a:latin typeface="Cambria Math" panose="02040503050406030204" pitchFamily="18" charset="0"/>
                                </a:rPr>
                                <m:t>𝛿</m:t>
                              </m:r>
                            </m:e>
                            <m:sub>
                              <m:r>
                                <a:rPr lang="sr-Latn-RS" sz="2800" i="1">
                                  <a:latin typeface="Cambria Math" panose="02040503050406030204" pitchFamily="18" charset="0"/>
                                </a:rPr>
                                <m:t>1</m:t>
                              </m:r>
                              <m:r>
                                <a:rPr lang="sr-Latn-RS" sz="2800" i="1">
                                  <a:latin typeface="Cambria Math" panose="02040503050406030204" pitchFamily="18" charset="0"/>
                                </a:rPr>
                                <m:t>𝑘</m:t>
                              </m:r>
                            </m:sub>
                          </m:sSub>
                          <m:sSub>
                            <m:sSubPr>
                              <m:ctrlPr>
                                <a:rPr lang="en-ZA" sz="2800" i="1">
                                  <a:latin typeface="Cambria Math" panose="02040503050406030204" pitchFamily="18" charset="0"/>
                                </a:rPr>
                              </m:ctrlPr>
                            </m:sSubPr>
                            <m:e>
                              <m:r>
                                <a:rPr lang="sr-Latn-RS" sz="2800" i="1">
                                  <a:latin typeface="Cambria Math" panose="02040503050406030204" pitchFamily="18" charset="0"/>
                                </a:rPr>
                                <m:t>𝑎</m:t>
                              </m:r>
                            </m:e>
                            <m:sub>
                              <m:r>
                                <a:rPr lang="sr-Latn-RS" sz="2800" i="1">
                                  <a:latin typeface="Cambria Math" panose="02040503050406030204" pitchFamily="18" charset="0"/>
                                </a:rPr>
                                <m:t>𝑘</m:t>
                              </m:r>
                            </m:sub>
                          </m:sSub>
                          <m:r>
                            <a:rPr lang="sr-Latn-RS" sz="2800" i="1">
                              <a:latin typeface="Cambria Math" panose="02040503050406030204" pitchFamily="18" charset="0"/>
                            </a:rPr>
                            <m:t>=</m:t>
                          </m:r>
                          <m:sSub>
                            <m:sSubPr>
                              <m:ctrlPr>
                                <a:rPr lang="en-ZA" sz="2800" i="1">
                                  <a:latin typeface="Cambria Math" panose="02040503050406030204" pitchFamily="18" charset="0"/>
                                </a:rPr>
                              </m:ctrlPr>
                            </m:sSubPr>
                            <m:e>
                              <m:r>
                                <a:rPr lang="sr-Latn-RS" sz="2800" i="1">
                                  <a:latin typeface="Cambria Math" panose="02040503050406030204" pitchFamily="18" charset="0"/>
                                </a:rPr>
                                <m:t>𝛿</m:t>
                              </m:r>
                            </m:e>
                            <m:sub>
                              <m:r>
                                <a:rPr lang="sr-Latn-RS" sz="2800" i="1">
                                  <a:latin typeface="Cambria Math" panose="02040503050406030204" pitchFamily="18" charset="0"/>
                                </a:rPr>
                                <m:t>11</m:t>
                              </m:r>
                            </m:sub>
                          </m:sSub>
                          <m:sSub>
                            <m:sSubPr>
                              <m:ctrlPr>
                                <a:rPr lang="en-ZA" sz="2800" i="1">
                                  <a:latin typeface="Cambria Math" panose="02040503050406030204" pitchFamily="18" charset="0"/>
                                </a:rPr>
                              </m:ctrlPr>
                            </m:sSubPr>
                            <m:e>
                              <m:r>
                                <a:rPr lang="sr-Latn-RS" sz="2800" i="1">
                                  <a:latin typeface="Cambria Math" panose="02040503050406030204" pitchFamily="18" charset="0"/>
                                </a:rPr>
                                <m:t>𝑎</m:t>
                              </m:r>
                            </m:e>
                            <m:sub>
                              <m:r>
                                <a:rPr lang="sr-Latn-RS" sz="2800" i="1">
                                  <a:latin typeface="Cambria Math" panose="02040503050406030204" pitchFamily="18" charset="0"/>
                                </a:rPr>
                                <m:t>1</m:t>
                              </m:r>
                            </m:sub>
                          </m:sSub>
                          <m:r>
                            <a:rPr lang="sr-Latn-RS" sz="2800" i="1">
                              <a:latin typeface="Cambria Math" panose="02040503050406030204" pitchFamily="18" charset="0"/>
                            </a:rPr>
                            <m:t>+</m:t>
                          </m:r>
                          <m:sSub>
                            <m:sSubPr>
                              <m:ctrlPr>
                                <a:rPr lang="en-ZA" sz="2800" i="1">
                                  <a:latin typeface="Cambria Math" panose="02040503050406030204" pitchFamily="18" charset="0"/>
                                </a:rPr>
                              </m:ctrlPr>
                            </m:sSubPr>
                            <m:e>
                              <m:r>
                                <a:rPr lang="sr-Latn-RS" sz="2800" i="1">
                                  <a:latin typeface="Cambria Math" panose="02040503050406030204" pitchFamily="18" charset="0"/>
                                </a:rPr>
                                <m:t>𝛿</m:t>
                              </m:r>
                            </m:e>
                            <m:sub>
                              <m:r>
                                <a:rPr lang="sr-Latn-RS" sz="2800" i="1">
                                  <a:latin typeface="Cambria Math" panose="02040503050406030204" pitchFamily="18" charset="0"/>
                                </a:rPr>
                                <m:t>12</m:t>
                              </m:r>
                            </m:sub>
                          </m:sSub>
                          <m:sSub>
                            <m:sSubPr>
                              <m:ctrlPr>
                                <a:rPr lang="en-ZA" sz="2800" i="1">
                                  <a:latin typeface="Cambria Math" panose="02040503050406030204" pitchFamily="18" charset="0"/>
                                </a:rPr>
                              </m:ctrlPr>
                            </m:sSubPr>
                            <m:e>
                              <m:r>
                                <a:rPr lang="sr-Latn-RS" sz="2800" i="1">
                                  <a:latin typeface="Cambria Math" panose="02040503050406030204" pitchFamily="18" charset="0"/>
                                </a:rPr>
                                <m:t>𝑎</m:t>
                              </m:r>
                            </m:e>
                            <m:sub>
                              <m:r>
                                <a:rPr lang="sr-Latn-RS" sz="2800" i="1">
                                  <a:latin typeface="Cambria Math" panose="02040503050406030204" pitchFamily="18" charset="0"/>
                                </a:rPr>
                                <m:t>2</m:t>
                              </m:r>
                            </m:sub>
                          </m:sSub>
                          <m:r>
                            <a:rPr lang="sr-Latn-RS" sz="2800" i="1">
                              <a:latin typeface="Cambria Math" panose="02040503050406030204" pitchFamily="18" charset="0"/>
                            </a:rPr>
                            <m:t>+</m:t>
                          </m:r>
                          <m:sSub>
                            <m:sSubPr>
                              <m:ctrlPr>
                                <a:rPr lang="en-ZA" sz="2800" i="1">
                                  <a:latin typeface="Cambria Math" panose="02040503050406030204" pitchFamily="18" charset="0"/>
                                </a:rPr>
                              </m:ctrlPr>
                            </m:sSubPr>
                            <m:e>
                              <m:r>
                                <a:rPr lang="sr-Latn-RS" sz="2800" i="1">
                                  <a:latin typeface="Cambria Math" panose="02040503050406030204" pitchFamily="18" charset="0"/>
                                </a:rPr>
                                <m:t>𝛿</m:t>
                              </m:r>
                            </m:e>
                            <m:sub>
                              <m:r>
                                <a:rPr lang="sr-Latn-RS" sz="2800" i="1">
                                  <a:latin typeface="Cambria Math" panose="02040503050406030204" pitchFamily="18" charset="0"/>
                                </a:rPr>
                                <m:t>13</m:t>
                              </m:r>
                            </m:sub>
                          </m:sSub>
                          <m:sSub>
                            <m:sSubPr>
                              <m:ctrlPr>
                                <a:rPr lang="en-ZA" sz="2800" i="1">
                                  <a:latin typeface="Cambria Math" panose="02040503050406030204" pitchFamily="18" charset="0"/>
                                </a:rPr>
                              </m:ctrlPr>
                            </m:sSubPr>
                            <m:e>
                              <m:r>
                                <a:rPr lang="sr-Latn-RS" sz="2800" i="1">
                                  <a:latin typeface="Cambria Math" panose="02040503050406030204" pitchFamily="18" charset="0"/>
                                </a:rPr>
                                <m:t>𝑎</m:t>
                              </m:r>
                            </m:e>
                            <m:sub>
                              <m:r>
                                <a:rPr lang="sr-Latn-RS" sz="2800" i="1">
                                  <a:latin typeface="Cambria Math" panose="02040503050406030204" pitchFamily="18" charset="0"/>
                                </a:rPr>
                                <m:t>3</m:t>
                              </m:r>
                            </m:sub>
                          </m:sSub>
                          <m:r>
                            <a:rPr lang="sr-Latn-RS" sz="2800" i="1">
                              <a:latin typeface="Cambria Math" panose="02040503050406030204" pitchFamily="18" charset="0"/>
                            </a:rPr>
                            <m:t>=</m:t>
                          </m:r>
                          <m:sSub>
                            <m:sSubPr>
                              <m:ctrlPr>
                                <a:rPr lang="en-ZA" sz="2800" i="1">
                                  <a:latin typeface="Cambria Math" panose="02040503050406030204" pitchFamily="18" charset="0"/>
                                </a:rPr>
                              </m:ctrlPr>
                            </m:sSubPr>
                            <m:e>
                              <m:r>
                                <a:rPr lang="sr-Latn-RS" sz="2800" i="1">
                                  <a:latin typeface="Cambria Math" panose="02040503050406030204" pitchFamily="18" charset="0"/>
                                </a:rPr>
                                <m:t>𝑎</m:t>
                              </m:r>
                            </m:e>
                            <m:sub>
                              <m:r>
                                <a:rPr lang="sr-Latn-RS" sz="2800" i="1">
                                  <a:latin typeface="Cambria Math" panose="02040503050406030204" pitchFamily="18" charset="0"/>
                                </a:rPr>
                                <m:t>1</m:t>
                              </m:r>
                            </m:sub>
                          </m:sSub>
                        </m:e>
                      </m:nary>
                    </m:oMath>
                  </m:oMathPara>
                </a14:m>
                <a:endParaRPr lang="en-US" sz="2800" dirty="0"/>
              </a:p>
            </p:txBody>
          </p:sp>
        </mc:Choice>
        <mc:Fallback xmlns="">
          <p:sp>
            <p:nvSpPr>
              <p:cNvPr id="8" name="TextBox 7">
                <a:extLst>
                  <a:ext uri="{FF2B5EF4-FFF2-40B4-BE49-F238E27FC236}">
                    <a16:creationId xmlns:a16="http://schemas.microsoft.com/office/drawing/2014/main" id="{30D89A72-C6BD-6A4B-AF71-F301FD81B363}"/>
                  </a:ext>
                </a:extLst>
              </p:cNvPr>
              <p:cNvSpPr txBox="1">
                <a:spLocks noRot="1" noChangeAspect="1" noMove="1" noResize="1" noEditPoints="1" noAdjustHandles="1" noChangeArrowheads="1" noChangeShapeType="1" noTextEdit="1"/>
              </p:cNvSpPr>
              <p:nvPr/>
            </p:nvSpPr>
            <p:spPr>
              <a:xfrm>
                <a:off x="4748463" y="4717816"/>
                <a:ext cx="6380273" cy="1314399"/>
              </a:xfrm>
              <a:prstGeom prst="rect">
                <a:avLst/>
              </a:prstGeom>
              <a:blipFill>
                <a:blip r:embed="rId5"/>
                <a:stretch>
                  <a:fillRect l="-18290" t="-99048" b="-155238"/>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B9B68263-E77D-264D-A4F4-0A820F61D89E}"/>
              </a:ext>
            </a:extLst>
          </p:cNvPr>
          <p:cNvPicPr>
            <a:picLocks noChangeAspect="1"/>
          </p:cNvPicPr>
          <p:nvPr/>
        </p:nvPicPr>
        <p:blipFill>
          <a:blip r:embed="rId6"/>
          <a:stretch>
            <a:fillRect/>
          </a:stretch>
        </p:blipFill>
        <p:spPr>
          <a:xfrm>
            <a:off x="721167" y="1170676"/>
            <a:ext cx="2891816" cy="3384410"/>
          </a:xfrm>
          <a:prstGeom prst="rect">
            <a:avLst/>
          </a:prstGeom>
        </p:spPr>
      </p:pic>
    </p:spTree>
    <p:extLst>
      <p:ext uri="{BB962C8B-B14F-4D97-AF65-F5344CB8AC3E}">
        <p14:creationId xmlns:p14="http://schemas.microsoft.com/office/powerpoint/2010/main" val="20432927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loud Callout 9">
            <a:extLst>
              <a:ext uri="{FF2B5EF4-FFF2-40B4-BE49-F238E27FC236}">
                <a16:creationId xmlns:a16="http://schemas.microsoft.com/office/drawing/2014/main" id="{58B53855-0AA7-664E-994D-ADDD3FAEB253}"/>
              </a:ext>
            </a:extLst>
          </p:cNvPr>
          <p:cNvSpPr/>
          <p:nvPr/>
        </p:nvSpPr>
        <p:spPr>
          <a:xfrm>
            <a:off x="5279216" y="152265"/>
            <a:ext cx="6611815" cy="2766490"/>
          </a:xfrm>
          <a:prstGeom prst="cloudCallout">
            <a:avLst>
              <a:gd name="adj1" fmla="val -54610"/>
              <a:gd name="adj2" fmla="val 5233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8D81A3-6A97-D245-BB92-A9C46394D5FD}"/>
              </a:ext>
            </a:extLst>
          </p:cNvPr>
          <p:cNvSpPr>
            <a:spLocks noGrp="1"/>
          </p:cNvSpPr>
          <p:nvPr>
            <p:ph type="title"/>
          </p:nvPr>
        </p:nvSpPr>
        <p:spPr>
          <a:xfrm>
            <a:off x="0" y="0"/>
            <a:ext cx="12192000" cy="928688"/>
          </a:xfrm>
        </p:spPr>
        <p:txBody>
          <a:bodyPr/>
          <a:lstStyle/>
          <a:p>
            <a:r>
              <a:rPr lang="en-US" dirty="0"/>
              <a:t>Complex numbers</a:t>
            </a:r>
          </a:p>
        </p:txBody>
      </p:sp>
      <p:sp>
        <p:nvSpPr>
          <p:cNvPr id="3" name="Slide Number Placeholder 2">
            <a:extLst>
              <a:ext uri="{FF2B5EF4-FFF2-40B4-BE49-F238E27FC236}">
                <a16:creationId xmlns:a16="http://schemas.microsoft.com/office/drawing/2014/main" id="{A6A2E66F-9B1F-414C-8CA9-E8DC5A059005}"/>
              </a:ext>
            </a:extLst>
          </p:cNvPr>
          <p:cNvSpPr>
            <a:spLocks noGrp="1"/>
          </p:cNvSpPr>
          <p:nvPr>
            <p:ph type="sldNum" sz="quarter" idx="12"/>
          </p:nvPr>
        </p:nvSpPr>
        <p:spPr/>
        <p:txBody>
          <a:bodyPr/>
          <a:lstStyle/>
          <a:p>
            <a:fld id="{591A223C-FA10-BC46-A853-03BA373D023C}" type="slidenum">
              <a:rPr lang="en-US" smtClean="0"/>
              <a:t>9</a:t>
            </a:fld>
            <a:endParaRPr lang="en-US"/>
          </a:p>
        </p:txBody>
      </p:sp>
      <p:pic>
        <p:nvPicPr>
          <p:cNvPr id="9" name="Picture 8">
            <a:extLst>
              <a:ext uri="{FF2B5EF4-FFF2-40B4-BE49-F238E27FC236}">
                <a16:creationId xmlns:a16="http://schemas.microsoft.com/office/drawing/2014/main" id="{B78C7158-196E-5247-9100-2D7A075234E6}"/>
              </a:ext>
            </a:extLst>
          </p:cNvPr>
          <p:cNvPicPr>
            <a:picLocks noChangeAspect="1"/>
          </p:cNvPicPr>
          <p:nvPr/>
        </p:nvPicPr>
        <p:blipFill>
          <a:blip r:embed="rId3"/>
          <a:stretch>
            <a:fillRect/>
          </a:stretch>
        </p:blipFill>
        <p:spPr>
          <a:xfrm>
            <a:off x="4880772" y="3090340"/>
            <a:ext cx="2889913" cy="2889913"/>
          </a:xfrm>
          <a:prstGeom prst="rect">
            <a:avLst/>
          </a:prstGeom>
        </p:spPr>
      </p:pic>
      <p:pic>
        <p:nvPicPr>
          <p:cNvPr id="8" name="Picture 7">
            <a:extLst>
              <a:ext uri="{FF2B5EF4-FFF2-40B4-BE49-F238E27FC236}">
                <a16:creationId xmlns:a16="http://schemas.microsoft.com/office/drawing/2014/main" id="{BF10C547-17C7-574F-AEAC-4251B1A1D0F0}"/>
              </a:ext>
            </a:extLst>
          </p:cNvPr>
          <p:cNvPicPr>
            <a:picLocks noChangeAspect="1"/>
          </p:cNvPicPr>
          <p:nvPr/>
        </p:nvPicPr>
        <p:blipFill>
          <a:blip r:embed="rId4">
            <a:alphaModFix amt="69000"/>
          </a:blip>
          <a:stretch>
            <a:fillRect/>
          </a:stretch>
        </p:blipFill>
        <p:spPr>
          <a:xfrm>
            <a:off x="6624785" y="646782"/>
            <a:ext cx="3920675" cy="1562587"/>
          </a:xfrm>
          <a:prstGeom prst="rect">
            <a:avLst/>
          </a:prstGeom>
        </p:spPr>
      </p:pic>
      <p:pic>
        <p:nvPicPr>
          <p:cNvPr id="4" name="Picture 3">
            <a:extLst>
              <a:ext uri="{FF2B5EF4-FFF2-40B4-BE49-F238E27FC236}">
                <a16:creationId xmlns:a16="http://schemas.microsoft.com/office/drawing/2014/main" id="{DB4DAC03-F8C9-974F-936A-96A37FB85C1F}"/>
              </a:ext>
            </a:extLst>
          </p:cNvPr>
          <p:cNvPicPr>
            <a:picLocks noChangeAspect="1"/>
          </p:cNvPicPr>
          <p:nvPr/>
        </p:nvPicPr>
        <p:blipFill>
          <a:blip r:embed="rId5"/>
          <a:stretch>
            <a:fillRect/>
          </a:stretch>
        </p:blipFill>
        <p:spPr>
          <a:xfrm flipH="1">
            <a:off x="432350" y="2918755"/>
            <a:ext cx="4688290" cy="2767393"/>
          </a:xfrm>
          <a:prstGeom prst="rect">
            <a:avLst/>
          </a:prstGeom>
        </p:spPr>
      </p:pic>
    </p:spTree>
    <p:extLst>
      <p:ext uri="{BB962C8B-B14F-4D97-AF65-F5344CB8AC3E}">
        <p14:creationId xmlns:p14="http://schemas.microsoft.com/office/powerpoint/2010/main" val="2458596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7115C68-F792-F942-9BBF-D8E326A30246}"/>
              </a:ext>
            </a:extLst>
          </p:cNvPr>
          <p:cNvSpPr>
            <a:spLocks noGrp="1"/>
          </p:cNvSpPr>
          <p:nvPr>
            <p:ph type="sldNum" sz="quarter" idx="12"/>
          </p:nvPr>
        </p:nvSpPr>
        <p:spPr/>
        <p:txBody>
          <a:bodyPr/>
          <a:lstStyle/>
          <a:p>
            <a:fld id="{591A223C-FA10-BC46-A853-03BA373D023C}" type="slidenum">
              <a:rPr lang="en-US" smtClean="0"/>
              <a:t>10</a:t>
            </a:fld>
            <a:endParaRPr lang="en-US"/>
          </a:p>
        </p:txBody>
      </p:sp>
      <p:sp>
        <p:nvSpPr>
          <p:cNvPr id="6" name="Title 5">
            <a:extLst>
              <a:ext uri="{FF2B5EF4-FFF2-40B4-BE49-F238E27FC236}">
                <a16:creationId xmlns:a16="http://schemas.microsoft.com/office/drawing/2014/main" id="{EE1B6E8F-149B-A14F-828A-8FBF41E9A6D8}"/>
              </a:ext>
            </a:extLst>
          </p:cNvPr>
          <p:cNvSpPr>
            <a:spLocks noGrp="1"/>
          </p:cNvSpPr>
          <p:nvPr>
            <p:ph type="title"/>
          </p:nvPr>
        </p:nvSpPr>
        <p:spPr/>
        <p:txBody>
          <a:bodyPr/>
          <a:lstStyle/>
          <a:p>
            <a:r>
              <a:rPr lang="en-US" dirty="0"/>
              <a:t>Complex numbers</a:t>
            </a:r>
          </a:p>
        </p:txBody>
      </p:sp>
      <mc:AlternateContent xmlns:mc="http://schemas.openxmlformats.org/markup-compatibility/2006" xmlns:a14="http://schemas.microsoft.com/office/drawing/2010/main">
        <mc:Choice Requires="a14">
          <p:sp>
            <p:nvSpPr>
              <p:cNvPr id="49" name="Rectangle 48">
                <a:extLst>
                  <a:ext uri="{FF2B5EF4-FFF2-40B4-BE49-F238E27FC236}">
                    <a16:creationId xmlns:a16="http://schemas.microsoft.com/office/drawing/2014/main" id="{F5D29B2F-DC62-7D45-85DD-A3C03777DCC8}"/>
                  </a:ext>
                </a:extLst>
              </p:cNvPr>
              <p:cNvSpPr/>
              <p:nvPr/>
            </p:nvSpPr>
            <p:spPr>
              <a:xfrm>
                <a:off x="969084" y="1215579"/>
                <a:ext cx="4807663" cy="1271438"/>
              </a:xfrm>
              <a:prstGeom prst="rect">
                <a:avLst/>
              </a:prstGeom>
              <a:solidFill>
                <a:schemeClr val="accent5">
                  <a:lumMod val="20000"/>
                  <a:lumOff val="80000"/>
                </a:schemeClr>
              </a:solidFill>
              <a:ln>
                <a:noFill/>
              </a:ln>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𝑧</m:t>
                      </m:r>
                      <m:r>
                        <a:rPr lang="en-US" sz="2400" i="1" smtClean="0">
                          <a:latin typeface="Cambria Math" panose="02040503050406030204" pitchFamily="18" charset="0"/>
                        </a:rPr>
                        <m:t>=</m:t>
                      </m:r>
                      <m:r>
                        <a:rPr lang="en-US" sz="2400" i="1" smtClean="0">
                          <a:latin typeface="Cambria Math" panose="02040503050406030204" pitchFamily="18" charset="0"/>
                        </a:rPr>
                        <m:t>𝑥</m:t>
                      </m:r>
                      <m:r>
                        <a:rPr lang="en-US" sz="2400" i="1" smtClean="0">
                          <a:latin typeface="Cambria Math" panose="02040503050406030204" pitchFamily="18" charset="0"/>
                        </a:rPr>
                        <m:t>+</m:t>
                      </m:r>
                      <m:r>
                        <a:rPr lang="en-US" sz="2400" i="1" smtClean="0">
                          <a:latin typeface="Cambria Math" panose="02040503050406030204" pitchFamily="18" charset="0"/>
                        </a:rPr>
                        <m:t>𝑖𝑦</m:t>
                      </m:r>
                      <m:r>
                        <a:rPr lang="en-US" sz="2400" b="0" i="1" smtClean="0">
                          <a:latin typeface="Cambria Math" panose="02040503050406030204" pitchFamily="18" charset="0"/>
                        </a:rPr>
                        <m:t>  </m:t>
                      </m:r>
                      <m:d>
                        <m:dPr>
                          <m:begChr m:val="{"/>
                          <m:endChr m:val=""/>
                          <m:ctrlPr>
                            <a:rPr lang="en-US" sz="2400" i="1">
                              <a:latin typeface="Cambria Math" panose="02040503050406030204" pitchFamily="18" charset="0"/>
                            </a:rPr>
                          </m:ctrlPr>
                        </m:dPr>
                        <m:e>
                          <m:eqArr>
                            <m:eqArrPr>
                              <m:ctrlPr>
                                <a:rPr lang="en-US" sz="2400" b="0" i="1">
                                  <a:latin typeface="Cambria Math" panose="02040503050406030204" pitchFamily="18" charset="0"/>
                                </a:rPr>
                              </m:ctrlPr>
                            </m:eqArr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𝑅𝑒</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𝑧</m:t>
                                  </m:r>
                                </m:e>
                              </m:d>
                            </m:e>
                            <m:e>
                              <m:r>
                                <a:rPr lang="en-US" sz="2400" b="0" i="1" smtClean="0">
                                  <a:latin typeface="Cambria Math" panose="02040503050406030204" pitchFamily="18" charset="0"/>
                                </a:rPr>
                                <m:t>𝑦</m:t>
                              </m:r>
                              <m:r>
                                <a:rPr lang="en-US" sz="2400" b="0" i="1" smtClean="0">
                                  <a:latin typeface="Cambria Math" panose="02040503050406030204" pitchFamily="18" charset="0"/>
                                </a:rPr>
                                <m:t>=</m:t>
                              </m:r>
                              <m:r>
                                <a:rPr lang="en-US" sz="2400" b="0" i="1" smtClean="0">
                                  <a:latin typeface="Cambria Math" panose="02040503050406030204" pitchFamily="18" charset="0"/>
                                </a:rPr>
                                <m:t>𝐼𝑚</m:t>
                              </m:r>
                              <m:r>
                                <a:rPr lang="en-US" sz="2400" b="0" i="1" smtClean="0">
                                  <a:latin typeface="Cambria Math" panose="02040503050406030204" pitchFamily="18" charset="0"/>
                                </a:rPr>
                                <m:t>(</m:t>
                              </m:r>
                              <m:r>
                                <a:rPr lang="en-US" sz="2400" b="0" i="1" smtClean="0">
                                  <a:latin typeface="Cambria Math" panose="02040503050406030204" pitchFamily="18" charset="0"/>
                                </a:rPr>
                                <m:t>𝑧</m:t>
                              </m:r>
                              <m:r>
                                <a:rPr lang="en-US" sz="2400" b="0" i="1" smtClean="0">
                                  <a:latin typeface="Cambria Math" panose="02040503050406030204" pitchFamily="18" charset="0"/>
                                </a:rPr>
                                <m:t>)</m:t>
                              </m:r>
                            </m:e>
                            <m:e>
                              <m:r>
                                <a:rPr lang="en-US" sz="2400" i="1">
                                  <a:latin typeface="Cambria Math" panose="02040503050406030204" pitchFamily="18" charset="0"/>
                                </a:rPr>
                                <m:t>𝑖</m:t>
                              </m:r>
                              <m:r>
                                <a:rPr lang="en-US" sz="2400" i="1">
                                  <a:latin typeface="Cambria Math" panose="02040503050406030204" pitchFamily="18" charset="0"/>
                                </a:rPr>
                                <m:t>=</m:t>
                              </m:r>
                              <m:rad>
                                <m:radPr>
                                  <m:degHide m:val="on"/>
                                  <m:ctrlPr>
                                    <a:rPr lang="en-US" sz="2400" i="1">
                                      <a:latin typeface="Cambria Math" panose="02040503050406030204" pitchFamily="18" charset="0"/>
                                    </a:rPr>
                                  </m:ctrlPr>
                                </m:radPr>
                                <m:deg/>
                                <m:e>
                                  <m:r>
                                    <a:rPr lang="en-US" sz="2400" i="1">
                                      <a:latin typeface="Cambria Math" panose="02040503050406030204" pitchFamily="18" charset="0"/>
                                    </a:rPr>
                                    <m:t>−1</m:t>
                                  </m:r>
                                </m:e>
                              </m:rad>
                              <m:r>
                                <a:rPr lang="en-US" sz="2400" b="0" i="1" smtClean="0">
                                  <a:latin typeface="Cambria Math" panose="02040503050406030204" pitchFamily="18" charset="0"/>
                                </a:rPr>
                                <m:t> </m:t>
                              </m:r>
                            </m:e>
                          </m:eqArr>
                          <m:r>
                            <a:rPr lang="en-US" sz="2400" b="0" i="1" smtClean="0">
                              <a:latin typeface="Cambria Math" panose="02040503050406030204" pitchFamily="18" charset="0"/>
                            </a:rPr>
                            <m:t>,  </m:t>
                          </m:r>
                          <m:r>
                            <a:rPr lang="en-US" sz="2400" b="0" i="1" smtClean="0">
                              <a:latin typeface="Cambria Math" panose="02040503050406030204" pitchFamily="18" charset="0"/>
                            </a:rPr>
                            <m:t>𝑧</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ℂ</m:t>
                          </m:r>
                        </m:e>
                      </m:d>
                    </m:oMath>
                  </m:oMathPara>
                </a14:m>
                <a:endParaRPr lang="en-US" sz="2400" dirty="0"/>
              </a:p>
            </p:txBody>
          </p:sp>
        </mc:Choice>
        <mc:Fallback xmlns="">
          <p:sp>
            <p:nvSpPr>
              <p:cNvPr id="49" name="Rectangle 48">
                <a:extLst>
                  <a:ext uri="{FF2B5EF4-FFF2-40B4-BE49-F238E27FC236}">
                    <a16:creationId xmlns:a16="http://schemas.microsoft.com/office/drawing/2014/main" id="{F5D29B2F-DC62-7D45-85DD-A3C03777DCC8}"/>
                  </a:ext>
                </a:extLst>
              </p:cNvPr>
              <p:cNvSpPr>
                <a:spLocks noRot="1" noChangeAspect="1" noMove="1" noResize="1" noEditPoints="1" noAdjustHandles="1" noChangeArrowheads="1" noChangeShapeType="1" noTextEdit="1"/>
              </p:cNvSpPr>
              <p:nvPr/>
            </p:nvSpPr>
            <p:spPr>
              <a:xfrm>
                <a:off x="969084" y="1215579"/>
                <a:ext cx="4807663" cy="1271438"/>
              </a:xfrm>
              <a:prstGeom prst="rect">
                <a:avLst/>
              </a:prstGeom>
              <a:blipFill>
                <a:blip r:embed="rId3"/>
                <a:stretch>
                  <a:fillRect l="-11053" t="-213000" b="-30300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AE832598-0F44-5B4B-806B-71AB7290CD53}"/>
                  </a:ext>
                </a:extLst>
              </p:cNvPr>
              <p:cNvSpPr/>
              <p:nvPr/>
            </p:nvSpPr>
            <p:spPr>
              <a:xfrm>
                <a:off x="543390" y="3557529"/>
                <a:ext cx="1820370" cy="461665"/>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b="0" i="1">
                              <a:latin typeface="Cambria Math" panose="02040503050406030204" pitchFamily="18" charset="0"/>
                            </a:rPr>
                            <m:t>𝑧</m:t>
                          </m:r>
                        </m:e>
                        <m:sup>
                          <m:r>
                            <a:rPr lang="en-US" sz="2400" b="0" i="1">
                              <a:latin typeface="Cambria Math" panose="02040503050406030204" pitchFamily="18" charset="0"/>
                            </a:rPr>
                            <m:t>∗</m:t>
                          </m:r>
                        </m:sup>
                      </m:sSup>
                      <m:r>
                        <a:rPr lang="en-US" sz="2400" b="1" i="1">
                          <a:latin typeface="Cambria Math" panose="02040503050406030204" pitchFamily="18" charset="0"/>
                        </a:rPr>
                        <m:t> </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𝑖𝑦</m:t>
                      </m:r>
                    </m:oMath>
                  </m:oMathPara>
                </a14:m>
                <a:endParaRPr lang="en-US" sz="2400" dirty="0"/>
              </a:p>
            </p:txBody>
          </p:sp>
        </mc:Choice>
        <mc:Fallback xmlns="">
          <p:sp>
            <p:nvSpPr>
              <p:cNvPr id="51" name="Rectangle 50">
                <a:extLst>
                  <a:ext uri="{FF2B5EF4-FFF2-40B4-BE49-F238E27FC236}">
                    <a16:creationId xmlns:a16="http://schemas.microsoft.com/office/drawing/2014/main" id="{AE832598-0F44-5B4B-806B-71AB7290CD53}"/>
                  </a:ext>
                </a:extLst>
              </p:cNvPr>
              <p:cNvSpPr>
                <a:spLocks noRot="1" noChangeAspect="1" noMove="1" noResize="1" noEditPoints="1" noAdjustHandles="1" noChangeArrowheads="1" noChangeShapeType="1" noTextEdit="1"/>
              </p:cNvSpPr>
              <p:nvPr/>
            </p:nvSpPr>
            <p:spPr>
              <a:xfrm>
                <a:off x="543390" y="3557529"/>
                <a:ext cx="1820370" cy="461665"/>
              </a:xfrm>
              <a:prstGeom prst="rect">
                <a:avLst/>
              </a:prstGeom>
              <a:blipFill>
                <a:blip r:embed="rId4"/>
                <a:stretch>
                  <a:fillRect b="-21622"/>
                </a:stretch>
              </a:blipFill>
              <a:ln>
                <a:noFill/>
              </a:ln>
            </p:spPr>
            <p:txBody>
              <a:bodyPr/>
              <a:lstStyle/>
              <a:p>
                <a:r>
                  <a:rPr lang="en-US">
                    <a:noFill/>
                  </a:rPr>
                  <a:t> </a:t>
                </a:r>
              </a:p>
            </p:txBody>
          </p:sp>
        </mc:Fallback>
      </mc:AlternateContent>
      <p:sp>
        <p:nvSpPr>
          <p:cNvPr id="52" name="TextBox 51">
            <a:extLst>
              <a:ext uri="{FF2B5EF4-FFF2-40B4-BE49-F238E27FC236}">
                <a16:creationId xmlns:a16="http://schemas.microsoft.com/office/drawing/2014/main" id="{50731F5C-8578-4949-9C0E-0A2DE641271A}"/>
              </a:ext>
            </a:extLst>
          </p:cNvPr>
          <p:cNvSpPr txBox="1"/>
          <p:nvPr/>
        </p:nvSpPr>
        <p:spPr>
          <a:xfrm>
            <a:off x="386500" y="2918349"/>
            <a:ext cx="3061159" cy="461665"/>
          </a:xfrm>
          <a:prstGeom prst="rect">
            <a:avLst/>
          </a:prstGeom>
          <a:solidFill>
            <a:schemeClr val="accent6">
              <a:lumMod val="20000"/>
              <a:lumOff val="80000"/>
            </a:schemeClr>
          </a:solidFill>
          <a:ln>
            <a:noFill/>
          </a:ln>
        </p:spPr>
        <p:txBody>
          <a:bodyPr wrap="none" rtlCol="0">
            <a:spAutoFit/>
          </a:bodyPr>
          <a:lstStyle/>
          <a:p>
            <a:r>
              <a:rPr lang="en-ZA" sz="2400" dirty="0"/>
              <a:t>The complex conjugate</a:t>
            </a:r>
            <a:endParaRPr lang="en-US" sz="2400" dirty="0"/>
          </a:p>
        </p:txBody>
      </p:sp>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45D487E8-BEB6-F04C-A807-8A4479DDC867}"/>
                  </a:ext>
                </a:extLst>
              </p:cNvPr>
              <p:cNvSpPr/>
              <p:nvPr/>
            </p:nvSpPr>
            <p:spPr>
              <a:xfrm>
                <a:off x="3209608" y="3479623"/>
                <a:ext cx="3292055" cy="539571"/>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𝑧</m:t>
                          </m:r>
                        </m:e>
                      </m:d>
                      <m:r>
                        <a:rPr lang="en-US" sz="2400" b="0" i="1" smtClean="0">
                          <a:latin typeface="Cambria Math" panose="02040503050406030204" pitchFamily="18" charset="0"/>
                        </a:rPr>
                        <m:t>=</m:t>
                      </m:r>
                      <m:rad>
                        <m:radPr>
                          <m:degHide m:val="on"/>
                          <m:ctrlPr>
                            <a:rPr lang="en-US" sz="2400" b="0" i="1" smtClean="0">
                              <a:latin typeface="Cambria Math" panose="02040503050406030204" pitchFamily="18" charset="0"/>
                            </a:rPr>
                          </m:ctrlPr>
                        </m:radPr>
                        <m:deg/>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𝑥</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m:t>
                          </m:r>
                          <m:sSup>
                            <m:sSupPr>
                              <m:ctrlPr>
                                <a:rPr lang="en-US" sz="2400" i="1">
                                  <a:latin typeface="Cambria Math" panose="02040503050406030204" pitchFamily="18" charset="0"/>
                                </a:rPr>
                              </m:ctrlPr>
                            </m:sSupPr>
                            <m:e>
                              <m:r>
                                <a:rPr lang="en-US" sz="2400" b="0" i="1" smtClean="0">
                                  <a:latin typeface="Cambria Math" panose="02040503050406030204" pitchFamily="18" charset="0"/>
                                </a:rPr>
                                <m:t>𝑦</m:t>
                              </m:r>
                            </m:e>
                            <m:sup>
                              <m:r>
                                <a:rPr lang="en-US" sz="2400" i="1">
                                  <a:latin typeface="Cambria Math" panose="02040503050406030204" pitchFamily="18" charset="0"/>
                                </a:rPr>
                                <m:t>2</m:t>
                              </m:r>
                            </m:sup>
                          </m:sSup>
                        </m:e>
                      </m:rad>
                      <m:r>
                        <a:rPr lang="en-US" sz="2400" b="0" i="1" smtClean="0">
                          <a:latin typeface="Cambria Math" panose="02040503050406030204" pitchFamily="18" charset="0"/>
                        </a:rPr>
                        <m:t>=</m:t>
                      </m:r>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𝑧</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𝑧</m:t>
                              </m:r>
                            </m:e>
                            <m:sup>
                              <m:r>
                                <a:rPr lang="en-US" sz="2400" b="0" i="1" smtClean="0">
                                  <a:latin typeface="Cambria Math" panose="02040503050406030204" pitchFamily="18" charset="0"/>
                                </a:rPr>
                                <m:t>∗</m:t>
                              </m:r>
                            </m:sup>
                          </m:sSup>
                        </m:e>
                      </m:rad>
                    </m:oMath>
                  </m:oMathPara>
                </a14:m>
                <a:endParaRPr lang="en-US" sz="2400" dirty="0"/>
              </a:p>
            </p:txBody>
          </p:sp>
        </mc:Choice>
        <mc:Fallback xmlns="">
          <p:sp>
            <p:nvSpPr>
              <p:cNvPr id="54" name="Rectangle 53">
                <a:extLst>
                  <a:ext uri="{FF2B5EF4-FFF2-40B4-BE49-F238E27FC236}">
                    <a16:creationId xmlns:a16="http://schemas.microsoft.com/office/drawing/2014/main" id="{45D487E8-BEB6-F04C-A807-8A4479DDC867}"/>
                  </a:ext>
                </a:extLst>
              </p:cNvPr>
              <p:cNvSpPr>
                <a:spLocks noRot="1" noChangeAspect="1" noMove="1" noResize="1" noEditPoints="1" noAdjustHandles="1" noChangeArrowheads="1" noChangeShapeType="1" noTextEdit="1"/>
              </p:cNvSpPr>
              <p:nvPr/>
            </p:nvSpPr>
            <p:spPr>
              <a:xfrm>
                <a:off x="3209608" y="3479623"/>
                <a:ext cx="3292055" cy="539571"/>
              </a:xfrm>
              <a:prstGeom prst="rect">
                <a:avLst/>
              </a:prstGeom>
              <a:blipFill>
                <a:blip r:embed="rId5"/>
                <a:stretch>
                  <a:fillRect b="-6977"/>
                </a:stretch>
              </a:blipFill>
              <a:ln>
                <a:noFill/>
              </a:ln>
            </p:spPr>
            <p:txBody>
              <a:bodyPr/>
              <a:lstStyle/>
              <a:p>
                <a:r>
                  <a:rPr lang="en-US">
                    <a:noFill/>
                  </a:rPr>
                  <a:t> </a:t>
                </a:r>
              </a:p>
            </p:txBody>
          </p:sp>
        </mc:Fallback>
      </mc:AlternateContent>
      <p:sp>
        <p:nvSpPr>
          <p:cNvPr id="55" name="TextBox 54">
            <a:extLst>
              <a:ext uri="{FF2B5EF4-FFF2-40B4-BE49-F238E27FC236}">
                <a16:creationId xmlns:a16="http://schemas.microsoft.com/office/drawing/2014/main" id="{FD663D6E-5D9B-524D-AE1B-17F9C6437E7A}"/>
              </a:ext>
            </a:extLst>
          </p:cNvPr>
          <p:cNvSpPr txBox="1"/>
          <p:nvPr/>
        </p:nvSpPr>
        <p:spPr>
          <a:xfrm>
            <a:off x="4156307" y="2898483"/>
            <a:ext cx="1803699" cy="461665"/>
          </a:xfrm>
          <a:prstGeom prst="rect">
            <a:avLst/>
          </a:prstGeom>
          <a:solidFill>
            <a:schemeClr val="accent6">
              <a:lumMod val="20000"/>
              <a:lumOff val="80000"/>
            </a:schemeClr>
          </a:solidFill>
          <a:ln>
            <a:noFill/>
          </a:ln>
        </p:spPr>
        <p:txBody>
          <a:bodyPr wrap="none" rtlCol="0">
            <a:spAutoFit/>
          </a:bodyPr>
          <a:lstStyle/>
          <a:p>
            <a:r>
              <a:rPr lang="en-ZA" sz="2400" dirty="0"/>
              <a:t>The modulus</a:t>
            </a:r>
            <a:endParaRPr lang="en-US" sz="2400" dirty="0"/>
          </a:p>
        </p:txBody>
      </p:sp>
      <p:grpSp>
        <p:nvGrpSpPr>
          <p:cNvPr id="105" name="Group 104">
            <a:extLst>
              <a:ext uri="{FF2B5EF4-FFF2-40B4-BE49-F238E27FC236}">
                <a16:creationId xmlns:a16="http://schemas.microsoft.com/office/drawing/2014/main" id="{82E5721D-F86B-DC4A-A29D-8E024A84EB84}"/>
              </a:ext>
            </a:extLst>
          </p:cNvPr>
          <p:cNvGrpSpPr/>
          <p:nvPr/>
        </p:nvGrpSpPr>
        <p:grpSpPr>
          <a:xfrm>
            <a:off x="6794670" y="1380490"/>
            <a:ext cx="5130569" cy="4723042"/>
            <a:chOff x="6794670" y="1380490"/>
            <a:chExt cx="5130569" cy="4723042"/>
          </a:xfrm>
        </p:grpSpPr>
        <p:cxnSp>
          <p:nvCxnSpPr>
            <p:cNvPr id="19" name="Straight Connector 18">
              <a:extLst>
                <a:ext uri="{FF2B5EF4-FFF2-40B4-BE49-F238E27FC236}">
                  <a16:creationId xmlns:a16="http://schemas.microsoft.com/office/drawing/2014/main" id="{A56AA09E-1218-6949-ADAF-5FBECEF1BD42}"/>
                </a:ext>
              </a:extLst>
            </p:cNvPr>
            <p:cNvCxnSpPr>
              <a:cxnSpLocks/>
            </p:cNvCxnSpPr>
            <p:nvPr/>
          </p:nvCxnSpPr>
          <p:spPr>
            <a:xfrm flipH="1">
              <a:off x="10558959" y="2073495"/>
              <a:ext cx="0" cy="3536316"/>
            </a:xfrm>
            <a:prstGeom prst="line">
              <a:avLst/>
            </a:prstGeom>
            <a:ln>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9D6976-7F5F-3F4F-BEC1-4AF80A14C46B}"/>
                    </a:ext>
                  </a:extLst>
                </p:cNvPr>
                <p:cNvSpPr/>
                <p:nvPr/>
              </p:nvSpPr>
              <p:spPr>
                <a:xfrm>
                  <a:off x="10932466" y="3796078"/>
                  <a:ext cx="538161"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𝑅𝑒</m:t>
                        </m:r>
                      </m:oMath>
                    </m:oMathPara>
                  </a14:m>
                  <a:endParaRPr lang="en-US" sz="2000" dirty="0"/>
                </a:p>
              </p:txBody>
            </p:sp>
          </mc:Choice>
          <mc:Fallback xmlns="">
            <p:sp>
              <p:nvSpPr>
                <p:cNvPr id="13" name="Rectangle 12">
                  <a:extLst>
                    <a:ext uri="{FF2B5EF4-FFF2-40B4-BE49-F238E27FC236}">
                      <a16:creationId xmlns:a16="http://schemas.microsoft.com/office/drawing/2014/main" id="{7D9D6976-7F5F-3F4F-BEC1-4AF80A14C46B}"/>
                    </a:ext>
                  </a:extLst>
                </p:cNvPr>
                <p:cNvSpPr>
                  <a:spLocks noRot="1" noChangeAspect="1" noMove="1" noResize="1" noEditPoints="1" noAdjustHandles="1" noChangeArrowheads="1" noChangeShapeType="1" noTextEdit="1"/>
                </p:cNvSpPr>
                <p:nvPr/>
              </p:nvSpPr>
              <p:spPr>
                <a:xfrm>
                  <a:off x="10932466" y="3796078"/>
                  <a:ext cx="538161" cy="40011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7F6EA05-E4D8-7E4F-9738-DEA019845CF8}"/>
                    </a:ext>
                  </a:extLst>
                </p:cNvPr>
                <p:cNvSpPr/>
                <p:nvPr/>
              </p:nvSpPr>
              <p:spPr>
                <a:xfrm>
                  <a:off x="7182684" y="1380490"/>
                  <a:ext cx="55931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𝐼𝑚</m:t>
                        </m:r>
                      </m:oMath>
                    </m:oMathPara>
                  </a14:m>
                  <a:endParaRPr lang="en-US" sz="2000" dirty="0"/>
                </a:p>
              </p:txBody>
            </p:sp>
          </mc:Choice>
          <mc:Fallback xmlns="">
            <p:sp>
              <p:nvSpPr>
                <p:cNvPr id="14" name="Rectangle 13">
                  <a:extLst>
                    <a:ext uri="{FF2B5EF4-FFF2-40B4-BE49-F238E27FC236}">
                      <a16:creationId xmlns:a16="http://schemas.microsoft.com/office/drawing/2014/main" id="{D7F6EA05-E4D8-7E4F-9738-DEA019845CF8}"/>
                    </a:ext>
                  </a:extLst>
                </p:cNvPr>
                <p:cNvSpPr>
                  <a:spLocks noRot="1" noChangeAspect="1" noMove="1" noResize="1" noEditPoints="1" noAdjustHandles="1" noChangeArrowheads="1" noChangeShapeType="1" noTextEdit="1"/>
                </p:cNvSpPr>
                <p:nvPr/>
              </p:nvSpPr>
              <p:spPr>
                <a:xfrm>
                  <a:off x="7182684" y="1380490"/>
                  <a:ext cx="559318" cy="400110"/>
                </a:xfrm>
                <a:prstGeom prst="rect">
                  <a:avLst/>
                </a:prstGeom>
                <a:blipFill>
                  <a:blip r:embed="rId7"/>
                  <a:stretch>
                    <a:fillRect/>
                  </a:stretch>
                </a:blipFill>
              </p:spPr>
              <p:txBody>
                <a:bodyPr/>
                <a:lstStyle/>
                <a:p>
                  <a:r>
                    <a:rPr lang="en-US">
                      <a:noFill/>
                    </a:rPr>
                    <a:t> </a:t>
                  </a:r>
                </a:p>
              </p:txBody>
            </p:sp>
          </mc:Fallback>
        </mc:AlternateContent>
        <p:sp>
          <p:nvSpPr>
            <p:cNvPr id="15" name="Oval 14">
              <a:extLst>
                <a:ext uri="{FF2B5EF4-FFF2-40B4-BE49-F238E27FC236}">
                  <a16:creationId xmlns:a16="http://schemas.microsoft.com/office/drawing/2014/main" id="{29ADB5E2-6935-3C48-AA0B-EB31E6AAFB82}"/>
                </a:ext>
              </a:extLst>
            </p:cNvPr>
            <p:cNvSpPr/>
            <p:nvPr/>
          </p:nvSpPr>
          <p:spPr>
            <a:xfrm>
              <a:off x="10467888" y="1979942"/>
              <a:ext cx="180107" cy="180107"/>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16" name="Straight Arrow Connector 15">
              <a:extLst>
                <a:ext uri="{FF2B5EF4-FFF2-40B4-BE49-F238E27FC236}">
                  <a16:creationId xmlns:a16="http://schemas.microsoft.com/office/drawing/2014/main" id="{535B1276-E9EC-844A-8B37-8680C8D0163D}"/>
                </a:ext>
              </a:extLst>
            </p:cNvPr>
            <p:cNvCxnSpPr>
              <a:cxnSpLocks/>
            </p:cNvCxnSpPr>
            <p:nvPr/>
          </p:nvCxnSpPr>
          <p:spPr>
            <a:xfrm flipV="1">
              <a:off x="7798238" y="1723222"/>
              <a:ext cx="0" cy="3962558"/>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6586C0-FBA1-FD4C-B125-C30948677224}"/>
                </a:ext>
              </a:extLst>
            </p:cNvPr>
            <p:cNvCxnSpPr>
              <a:cxnSpLocks/>
            </p:cNvCxnSpPr>
            <p:nvPr/>
          </p:nvCxnSpPr>
          <p:spPr>
            <a:xfrm>
              <a:off x="7344467" y="3850820"/>
              <a:ext cx="3618660"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39BAF94-D1BC-E849-AECA-7B6DE5880C97}"/>
                </a:ext>
              </a:extLst>
            </p:cNvPr>
            <p:cNvSpPr txBox="1"/>
            <p:nvPr/>
          </p:nvSpPr>
          <p:spPr>
            <a:xfrm>
              <a:off x="7415686" y="3864907"/>
              <a:ext cx="351378" cy="400110"/>
            </a:xfrm>
            <a:prstGeom prst="rect">
              <a:avLst/>
            </a:prstGeom>
            <a:noFill/>
          </p:spPr>
          <p:txBody>
            <a:bodyPr wrap="none" rtlCol="0">
              <a:spAutoFit/>
            </a:bodyPr>
            <a:lstStyle/>
            <a:p>
              <a:r>
                <a:rPr lang="en-US" sz="2000" dirty="0">
                  <a:latin typeface="+mj-lt"/>
                </a:rPr>
                <a:t>O</a:t>
              </a:r>
            </a:p>
          </p:txBody>
        </p:sp>
        <p:cxnSp>
          <p:nvCxnSpPr>
            <p:cNvPr id="20" name="Straight Connector 19">
              <a:extLst>
                <a:ext uri="{FF2B5EF4-FFF2-40B4-BE49-F238E27FC236}">
                  <a16:creationId xmlns:a16="http://schemas.microsoft.com/office/drawing/2014/main" id="{8DCE1194-6EDD-2744-A9C3-2D5A259B1CBE}"/>
                </a:ext>
              </a:extLst>
            </p:cNvPr>
            <p:cNvCxnSpPr>
              <a:cxnSpLocks/>
            </p:cNvCxnSpPr>
            <p:nvPr/>
          </p:nvCxnSpPr>
          <p:spPr>
            <a:xfrm flipH="1">
              <a:off x="7793079" y="2078853"/>
              <a:ext cx="276133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D9EA109-8B32-7941-8778-23BDF2840C2E}"/>
                </a:ext>
              </a:extLst>
            </p:cNvPr>
            <p:cNvCxnSpPr>
              <a:cxnSpLocks/>
            </p:cNvCxnSpPr>
            <p:nvPr/>
          </p:nvCxnSpPr>
          <p:spPr>
            <a:xfrm flipV="1">
              <a:off x="7807328" y="2083951"/>
              <a:ext cx="2757862" cy="1761511"/>
            </a:xfrm>
            <a:prstGeom prst="straightConnector1">
              <a:avLst/>
            </a:prstGeom>
            <a:ln w="38100" cap="rnd">
              <a:solidFill>
                <a:schemeClr val="accent5">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91E1A26-5EAF-6C4D-BC56-7C4EE78DE0B9}"/>
                </a:ext>
              </a:extLst>
            </p:cNvPr>
            <p:cNvCxnSpPr>
              <a:cxnSpLocks/>
            </p:cNvCxnSpPr>
            <p:nvPr/>
          </p:nvCxnSpPr>
          <p:spPr>
            <a:xfrm>
              <a:off x="8730546" y="3724094"/>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A7724F2-3326-4E43-85E8-C8FE9B0992B7}"/>
                </a:ext>
              </a:extLst>
            </p:cNvPr>
            <p:cNvCxnSpPr>
              <a:cxnSpLocks/>
            </p:cNvCxnSpPr>
            <p:nvPr/>
          </p:nvCxnSpPr>
          <p:spPr>
            <a:xfrm>
              <a:off x="9645724" y="3724094"/>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51461F62-1A09-9646-8972-DC814FA1CE73}"/>
                </a:ext>
              </a:extLst>
            </p:cNvPr>
            <p:cNvCxnSpPr>
              <a:cxnSpLocks/>
            </p:cNvCxnSpPr>
            <p:nvPr/>
          </p:nvCxnSpPr>
          <p:spPr>
            <a:xfrm>
              <a:off x="10560904" y="3724094"/>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A6106281-560B-454C-A4CE-50447A9E394D}"/>
                    </a:ext>
                  </a:extLst>
                </p:cNvPr>
                <p:cNvSpPr/>
                <p:nvPr/>
              </p:nvSpPr>
              <p:spPr>
                <a:xfrm>
                  <a:off x="8489705" y="3931234"/>
                  <a:ext cx="478016" cy="369332"/>
                </a:xfrm>
                <a:prstGeom prst="rect">
                  <a:avLst/>
                </a:prstGeom>
              </p:spPr>
              <p:txBody>
                <a:bodyPr wrap="none">
                  <a:spAutoFit/>
                </a:bodyPr>
                <a:lstStyle/>
                <a:p>
                  <a:r>
                    <a:rPr lang="en-US" b="0" dirty="0">
                      <a:solidFill>
                        <a:schemeClr val="bg1">
                          <a:lumMod val="50000"/>
                        </a:schemeClr>
                      </a:solidFill>
                    </a:rPr>
                    <a:t>0</a:t>
                  </a:r>
                  <a14:m>
                    <m:oMath xmlns:m="http://schemas.openxmlformats.org/officeDocument/2006/math">
                      <m:r>
                        <a:rPr lang="en-US" b="0" i="1" smtClean="0">
                          <a:solidFill>
                            <a:schemeClr val="bg1">
                              <a:lumMod val="50000"/>
                            </a:schemeClr>
                          </a:solidFill>
                          <a:latin typeface="Cambria Math" panose="02040503050406030204" pitchFamily="18" charset="0"/>
                        </a:rPr>
                        <m:t>.1</m:t>
                      </m:r>
                    </m:oMath>
                  </a14:m>
                  <a:endParaRPr lang="en-US" dirty="0">
                    <a:solidFill>
                      <a:schemeClr val="bg1">
                        <a:lumMod val="50000"/>
                      </a:schemeClr>
                    </a:solidFill>
                  </a:endParaRPr>
                </a:p>
              </p:txBody>
            </p:sp>
          </mc:Choice>
          <mc:Fallback xmlns="">
            <p:sp>
              <p:nvSpPr>
                <p:cNvPr id="25" name="Rectangle 24">
                  <a:extLst>
                    <a:ext uri="{FF2B5EF4-FFF2-40B4-BE49-F238E27FC236}">
                      <a16:creationId xmlns:a16="http://schemas.microsoft.com/office/drawing/2014/main" id="{A6106281-560B-454C-A4CE-50447A9E394D}"/>
                    </a:ext>
                  </a:extLst>
                </p:cNvPr>
                <p:cNvSpPr>
                  <a:spLocks noRot="1" noChangeAspect="1" noMove="1" noResize="1" noEditPoints="1" noAdjustHandles="1" noChangeArrowheads="1" noChangeShapeType="1" noTextEdit="1"/>
                </p:cNvSpPr>
                <p:nvPr/>
              </p:nvSpPr>
              <p:spPr>
                <a:xfrm>
                  <a:off x="8489705" y="3931234"/>
                  <a:ext cx="478016" cy="369332"/>
                </a:xfrm>
                <a:prstGeom prst="rect">
                  <a:avLst/>
                </a:prstGeom>
                <a:blipFill>
                  <a:blip r:embed="rId8"/>
                  <a:stretch>
                    <a:fillRect l="-7692" t="-6667"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3531C5F7-82F5-FC45-9E30-28F8BE644390}"/>
                    </a:ext>
                  </a:extLst>
                </p:cNvPr>
                <p:cNvSpPr/>
                <p:nvPr/>
              </p:nvSpPr>
              <p:spPr>
                <a:xfrm>
                  <a:off x="9398378" y="3931234"/>
                  <a:ext cx="54213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0.2</m:t>
                        </m:r>
                      </m:oMath>
                    </m:oMathPara>
                  </a14:m>
                  <a:endParaRPr lang="en-US" dirty="0">
                    <a:solidFill>
                      <a:schemeClr val="bg1">
                        <a:lumMod val="50000"/>
                      </a:schemeClr>
                    </a:solidFill>
                  </a:endParaRPr>
                </a:p>
              </p:txBody>
            </p:sp>
          </mc:Choice>
          <mc:Fallback xmlns="">
            <p:sp>
              <p:nvSpPr>
                <p:cNvPr id="26" name="Rectangle 25">
                  <a:extLst>
                    <a:ext uri="{FF2B5EF4-FFF2-40B4-BE49-F238E27FC236}">
                      <a16:creationId xmlns:a16="http://schemas.microsoft.com/office/drawing/2014/main" id="{3531C5F7-82F5-FC45-9E30-28F8BE644390}"/>
                    </a:ext>
                  </a:extLst>
                </p:cNvPr>
                <p:cNvSpPr>
                  <a:spLocks noRot="1" noChangeAspect="1" noMove="1" noResize="1" noEditPoints="1" noAdjustHandles="1" noChangeArrowheads="1" noChangeShapeType="1" noTextEdit="1"/>
                </p:cNvSpPr>
                <p:nvPr/>
              </p:nvSpPr>
              <p:spPr>
                <a:xfrm>
                  <a:off x="9398378" y="3931234"/>
                  <a:ext cx="54213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B5F6A6C2-8F65-F840-871A-876FC745F433}"/>
                    </a:ext>
                  </a:extLst>
                </p:cNvPr>
                <p:cNvSpPr/>
                <p:nvPr/>
              </p:nvSpPr>
              <p:spPr>
                <a:xfrm>
                  <a:off x="10307047" y="3931234"/>
                  <a:ext cx="54213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0.3</m:t>
                        </m:r>
                      </m:oMath>
                    </m:oMathPara>
                  </a14:m>
                  <a:endParaRPr lang="en-US" dirty="0">
                    <a:solidFill>
                      <a:schemeClr val="bg1">
                        <a:lumMod val="50000"/>
                      </a:schemeClr>
                    </a:solidFill>
                  </a:endParaRPr>
                </a:p>
              </p:txBody>
            </p:sp>
          </mc:Choice>
          <mc:Fallback xmlns="">
            <p:sp>
              <p:nvSpPr>
                <p:cNvPr id="27" name="Rectangle 26">
                  <a:extLst>
                    <a:ext uri="{FF2B5EF4-FFF2-40B4-BE49-F238E27FC236}">
                      <a16:creationId xmlns:a16="http://schemas.microsoft.com/office/drawing/2014/main" id="{B5F6A6C2-8F65-F840-871A-876FC745F433}"/>
                    </a:ext>
                  </a:extLst>
                </p:cNvPr>
                <p:cNvSpPr>
                  <a:spLocks noRot="1" noChangeAspect="1" noMove="1" noResize="1" noEditPoints="1" noAdjustHandles="1" noChangeArrowheads="1" noChangeShapeType="1" noTextEdit="1"/>
                </p:cNvSpPr>
                <p:nvPr/>
              </p:nvSpPr>
              <p:spPr>
                <a:xfrm>
                  <a:off x="10307047" y="3931234"/>
                  <a:ext cx="542136" cy="369332"/>
                </a:xfrm>
                <a:prstGeom prst="rect">
                  <a:avLst/>
                </a:prstGeom>
                <a:blipFill>
                  <a:blip r:embed="rId10"/>
                  <a:stretch>
                    <a:fillRect/>
                  </a:stretch>
                </a:blipFill>
              </p:spPr>
              <p:txBody>
                <a:bodyPr/>
                <a:lstStyle/>
                <a:p>
                  <a:r>
                    <a:rPr lang="en-US">
                      <a:noFill/>
                    </a:rPr>
                    <a:t> </a:t>
                  </a:r>
                </a:p>
              </p:txBody>
            </p:sp>
          </mc:Fallback>
        </mc:AlternateContent>
        <p:cxnSp>
          <p:nvCxnSpPr>
            <p:cNvPr id="42" name="Straight Connector 41">
              <a:extLst>
                <a:ext uri="{FF2B5EF4-FFF2-40B4-BE49-F238E27FC236}">
                  <a16:creationId xmlns:a16="http://schemas.microsoft.com/office/drawing/2014/main" id="{7B2D60F7-39FF-4A4B-AAA0-6FDAEE06437D}"/>
                </a:ext>
              </a:extLst>
            </p:cNvPr>
            <p:cNvCxnSpPr>
              <a:cxnSpLocks/>
            </p:cNvCxnSpPr>
            <p:nvPr/>
          </p:nvCxnSpPr>
          <p:spPr>
            <a:xfrm rot="16200000">
              <a:off x="7809892" y="2842102"/>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4F91A4C-97E8-B342-9EFB-E1B8C797FA78}"/>
                </a:ext>
              </a:extLst>
            </p:cNvPr>
            <p:cNvCxnSpPr>
              <a:cxnSpLocks/>
            </p:cNvCxnSpPr>
            <p:nvPr/>
          </p:nvCxnSpPr>
          <p:spPr>
            <a:xfrm rot="16200000">
              <a:off x="7809892" y="1938438"/>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Rectangle 44">
                  <a:extLst>
                    <a:ext uri="{FF2B5EF4-FFF2-40B4-BE49-F238E27FC236}">
                      <a16:creationId xmlns:a16="http://schemas.microsoft.com/office/drawing/2014/main" id="{81B21803-0A4F-4146-B855-590A1375E164}"/>
                    </a:ext>
                  </a:extLst>
                </p:cNvPr>
                <p:cNvSpPr/>
                <p:nvPr/>
              </p:nvSpPr>
              <p:spPr>
                <a:xfrm>
                  <a:off x="6967793" y="2792492"/>
                  <a:ext cx="62318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0.1</m:t>
                        </m:r>
                        <m:r>
                          <a:rPr lang="en-US" b="0" i="1" smtClean="0">
                            <a:solidFill>
                              <a:schemeClr val="bg1">
                                <a:lumMod val="50000"/>
                              </a:schemeClr>
                            </a:solidFill>
                            <a:latin typeface="Cambria Math" panose="02040503050406030204" pitchFamily="18" charset="0"/>
                          </a:rPr>
                          <m:t>𝑖</m:t>
                        </m:r>
                      </m:oMath>
                    </m:oMathPara>
                  </a14:m>
                  <a:endParaRPr lang="en-US" dirty="0">
                    <a:solidFill>
                      <a:schemeClr val="bg1">
                        <a:lumMod val="50000"/>
                      </a:schemeClr>
                    </a:solidFill>
                  </a:endParaRPr>
                </a:p>
              </p:txBody>
            </p:sp>
          </mc:Choice>
          <mc:Fallback xmlns="">
            <p:sp>
              <p:nvSpPr>
                <p:cNvPr id="45" name="Rectangle 44">
                  <a:extLst>
                    <a:ext uri="{FF2B5EF4-FFF2-40B4-BE49-F238E27FC236}">
                      <a16:creationId xmlns:a16="http://schemas.microsoft.com/office/drawing/2014/main" id="{81B21803-0A4F-4146-B855-590A1375E164}"/>
                    </a:ext>
                  </a:extLst>
                </p:cNvPr>
                <p:cNvSpPr>
                  <a:spLocks noRot="1" noChangeAspect="1" noMove="1" noResize="1" noEditPoints="1" noAdjustHandles="1" noChangeArrowheads="1" noChangeShapeType="1" noTextEdit="1"/>
                </p:cNvSpPr>
                <p:nvPr/>
              </p:nvSpPr>
              <p:spPr>
                <a:xfrm>
                  <a:off x="6967793" y="2792492"/>
                  <a:ext cx="623184"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10080374-FBD4-2B43-9201-884F11B23A92}"/>
                    </a:ext>
                  </a:extLst>
                </p:cNvPr>
                <p:cNvSpPr/>
                <p:nvPr/>
              </p:nvSpPr>
              <p:spPr>
                <a:xfrm>
                  <a:off x="6967793" y="1899285"/>
                  <a:ext cx="62318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0.2</m:t>
                        </m:r>
                        <m:r>
                          <a:rPr lang="en-US" b="0" i="1" smtClean="0">
                            <a:solidFill>
                              <a:schemeClr val="bg1">
                                <a:lumMod val="50000"/>
                              </a:schemeClr>
                            </a:solidFill>
                            <a:latin typeface="Cambria Math" panose="02040503050406030204" pitchFamily="18" charset="0"/>
                          </a:rPr>
                          <m:t>𝑖</m:t>
                        </m:r>
                      </m:oMath>
                    </m:oMathPara>
                  </a14:m>
                  <a:endParaRPr lang="en-US" dirty="0">
                    <a:solidFill>
                      <a:schemeClr val="bg1">
                        <a:lumMod val="50000"/>
                      </a:schemeClr>
                    </a:solidFill>
                  </a:endParaRPr>
                </a:p>
              </p:txBody>
            </p:sp>
          </mc:Choice>
          <mc:Fallback xmlns="">
            <p:sp>
              <p:nvSpPr>
                <p:cNvPr id="46" name="Rectangle 45">
                  <a:extLst>
                    <a:ext uri="{FF2B5EF4-FFF2-40B4-BE49-F238E27FC236}">
                      <a16:creationId xmlns:a16="http://schemas.microsoft.com/office/drawing/2014/main" id="{10080374-FBD4-2B43-9201-884F11B23A92}"/>
                    </a:ext>
                  </a:extLst>
                </p:cNvPr>
                <p:cNvSpPr>
                  <a:spLocks noRot="1" noChangeAspect="1" noMove="1" noResize="1" noEditPoints="1" noAdjustHandles="1" noChangeArrowheads="1" noChangeShapeType="1" noTextEdit="1"/>
                </p:cNvSpPr>
                <p:nvPr/>
              </p:nvSpPr>
              <p:spPr>
                <a:xfrm>
                  <a:off x="6967793" y="1899285"/>
                  <a:ext cx="623184" cy="369332"/>
                </a:xfrm>
                <a:prstGeom prst="rect">
                  <a:avLst/>
                </a:prstGeom>
                <a:blipFill>
                  <a:blip r:embed="rId12"/>
                  <a:stretch>
                    <a:fillRect/>
                  </a:stretch>
                </a:blipFill>
              </p:spPr>
              <p:txBody>
                <a:bodyPr/>
                <a:lstStyle/>
                <a:p>
                  <a:r>
                    <a:rPr lang="en-US">
                      <a:noFill/>
                    </a:rPr>
                    <a:t> </a:t>
                  </a:r>
                </a:p>
              </p:txBody>
            </p:sp>
          </mc:Fallback>
        </mc:AlternateContent>
        <p:sp>
          <p:nvSpPr>
            <p:cNvPr id="30" name="Oval 29">
              <a:extLst>
                <a:ext uri="{FF2B5EF4-FFF2-40B4-BE49-F238E27FC236}">
                  <a16:creationId xmlns:a16="http://schemas.microsoft.com/office/drawing/2014/main" id="{2DEE561F-DED5-7443-8E0F-4725F10E48B5}"/>
                </a:ext>
              </a:extLst>
            </p:cNvPr>
            <p:cNvSpPr/>
            <p:nvPr/>
          </p:nvSpPr>
          <p:spPr>
            <a:xfrm>
              <a:off x="10464357" y="5509485"/>
              <a:ext cx="180107" cy="180107"/>
            </a:xfrm>
            <a:prstGeom prst="ellipse">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38" name="Straight Connector 37">
              <a:extLst>
                <a:ext uri="{FF2B5EF4-FFF2-40B4-BE49-F238E27FC236}">
                  <a16:creationId xmlns:a16="http://schemas.microsoft.com/office/drawing/2014/main" id="{0D3468DE-869F-9644-82A3-B503B3AFD95C}"/>
                </a:ext>
              </a:extLst>
            </p:cNvPr>
            <p:cNvCxnSpPr>
              <a:cxnSpLocks/>
            </p:cNvCxnSpPr>
            <p:nvPr/>
          </p:nvCxnSpPr>
          <p:spPr>
            <a:xfrm rot="16200000">
              <a:off x="7811529" y="4619895"/>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D9350AF7-8824-A64B-8371-F746891A1A5B}"/>
                    </a:ext>
                  </a:extLst>
                </p:cNvPr>
                <p:cNvSpPr/>
                <p:nvPr/>
              </p:nvSpPr>
              <p:spPr>
                <a:xfrm>
                  <a:off x="6794670" y="4566941"/>
                  <a:ext cx="79630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−0.1</m:t>
                        </m:r>
                        <m:r>
                          <a:rPr lang="en-US" b="0" i="1" smtClean="0">
                            <a:solidFill>
                              <a:schemeClr val="bg1">
                                <a:lumMod val="50000"/>
                              </a:schemeClr>
                            </a:solidFill>
                            <a:latin typeface="Cambria Math" panose="02040503050406030204" pitchFamily="18" charset="0"/>
                          </a:rPr>
                          <m:t>𝑖</m:t>
                        </m:r>
                      </m:oMath>
                    </m:oMathPara>
                  </a14:m>
                  <a:endParaRPr lang="en-US" dirty="0">
                    <a:solidFill>
                      <a:schemeClr val="bg1">
                        <a:lumMod val="50000"/>
                      </a:schemeClr>
                    </a:solidFill>
                  </a:endParaRPr>
                </a:p>
              </p:txBody>
            </p:sp>
          </mc:Choice>
          <mc:Fallback xmlns="">
            <p:sp>
              <p:nvSpPr>
                <p:cNvPr id="41" name="Rectangle 40">
                  <a:extLst>
                    <a:ext uri="{FF2B5EF4-FFF2-40B4-BE49-F238E27FC236}">
                      <a16:creationId xmlns:a16="http://schemas.microsoft.com/office/drawing/2014/main" id="{D9350AF7-8824-A64B-8371-F746891A1A5B}"/>
                    </a:ext>
                  </a:extLst>
                </p:cNvPr>
                <p:cNvSpPr>
                  <a:spLocks noRot="1" noChangeAspect="1" noMove="1" noResize="1" noEditPoints="1" noAdjustHandles="1" noChangeArrowheads="1" noChangeShapeType="1" noTextEdit="1"/>
                </p:cNvSpPr>
                <p:nvPr/>
              </p:nvSpPr>
              <p:spPr>
                <a:xfrm>
                  <a:off x="6794670" y="4566941"/>
                  <a:ext cx="796307"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E0B78529-CA3C-B24B-B119-77E239075321}"/>
                    </a:ext>
                  </a:extLst>
                </p:cNvPr>
                <p:cNvSpPr/>
                <p:nvPr/>
              </p:nvSpPr>
              <p:spPr>
                <a:xfrm>
                  <a:off x="10374815" y="5703422"/>
                  <a:ext cx="1550424"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000" i="1" smtClean="0">
                                <a:latin typeface="Cambria Math" panose="02040503050406030204" pitchFamily="18" charset="0"/>
                              </a:rPr>
                            </m:ctrlPr>
                          </m:sSupPr>
                          <m:e>
                            <m:r>
                              <a:rPr lang="en-US" sz="2000" b="0" i="1">
                                <a:latin typeface="Cambria Math" panose="02040503050406030204" pitchFamily="18" charset="0"/>
                              </a:rPr>
                              <m:t>𝑧</m:t>
                            </m:r>
                          </m:e>
                          <m:sup>
                            <m:r>
                              <a:rPr lang="en-US" sz="2000" b="0" i="1">
                                <a:latin typeface="Cambria Math" panose="02040503050406030204" pitchFamily="18" charset="0"/>
                              </a:rPr>
                              <m:t>∗</m:t>
                            </m:r>
                          </m:sup>
                        </m:sSup>
                        <m:r>
                          <a:rPr lang="en-US" sz="2000" b="1" i="1">
                            <a:latin typeface="Cambria Math" panose="02040503050406030204" pitchFamily="18" charset="0"/>
                          </a:rPr>
                          <m:t> </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𝑖𝑦</m:t>
                        </m:r>
                      </m:oMath>
                    </m:oMathPara>
                  </a14:m>
                  <a:endParaRPr lang="en-US" sz="2000" dirty="0"/>
                </a:p>
              </p:txBody>
            </p:sp>
          </mc:Choice>
          <mc:Fallback xmlns="">
            <p:sp>
              <p:nvSpPr>
                <p:cNvPr id="34" name="Rectangle 33">
                  <a:extLst>
                    <a:ext uri="{FF2B5EF4-FFF2-40B4-BE49-F238E27FC236}">
                      <a16:creationId xmlns:a16="http://schemas.microsoft.com/office/drawing/2014/main" id="{E0B78529-CA3C-B24B-B119-77E239075321}"/>
                    </a:ext>
                  </a:extLst>
                </p:cNvPr>
                <p:cNvSpPr>
                  <a:spLocks noRot="1" noChangeAspect="1" noMove="1" noResize="1" noEditPoints="1" noAdjustHandles="1" noChangeArrowheads="1" noChangeShapeType="1" noTextEdit="1"/>
                </p:cNvSpPr>
                <p:nvPr/>
              </p:nvSpPr>
              <p:spPr>
                <a:xfrm>
                  <a:off x="10374815" y="5703422"/>
                  <a:ext cx="1550424" cy="400110"/>
                </a:xfrm>
                <a:prstGeom prst="rect">
                  <a:avLst/>
                </a:prstGeom>
                <a:blipFill>
                  <a:blip r:embed="rId14"/>
                  <a:stretch>
                    <a:fillRect b="-151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EA026C98-A361-164B-B536-83B94A0DA179}"/>
                    </a:ext>
                  </a:extLst>
                </p:cNvPr>
                <p:cNvSpPr/>
                <p:nvPr/>
              </p:nvSpPr>
              <p:spPr>
                <a:xfrm rot="19680000">
                  <a:off x="7576486" y="2583618"/>
                  <a:ext cx="2778004" cy="4650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𝑧</m:t>
                            </m:r>
                          </m:e>
                        </m:d>
                        <m:r>
                          <a:rPr lang="en-US" sz="2000" b="0" i="1" smtClean="0">
                            <a:latin typeface="Cambria Math" panose="02040503050406030204" pitchFamily="18" charset="0"/>
                          </a:rPr>
                          <m:t>=</m:t>
                        </m:r>
                        <m:rad>
                          <m:radPr>
                            <m:degHide m:val="on"/>
                            <m:ctrlPr>
                              <a:rPr lang="en-US" sz="2000" b="0" i="1" smtClean="0">
                                <a:latin typeface="Cambria Math" panose="02040503050406030204" pitchFamily="18" charset="0"/>
                              </a:rPr>
                            </m:ctrlPr>
                          </m:radPr>
                          <m:deg/>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sSup>
                              <m:sSupPr>
                                <m:ctrlPr>
                                  <a:rPr lang="en-US" sz="2000" i="1">
                                    <a:latin typeface="Cambria Math" panose="02040503050406030204" pitchFamily="18" charset="0"/>
                                  </a:rPr>
                                </m:ctrlPr>
                              </m:sSupPr>
                              <m:e>
                                <m:r>
                                  <a:rPr lang="en-US" sz="2000" b="0" i="1" smtClean="0">
                                    <a:latin typeface="Cambria Math" panose="02040503050406030204" pitchFamily="18" charset="0"/>
                                  </a:rPr>
                                  <m:t>𝑦</m:t>
                                </m:r>
                              </m:e>
                              <m:sup>
                                <m:r>
                                  <a:rPr lang="en-US" sz="2000" i="1">
                                    <a:latin typeface="Cambria Math" panose="02040503050406030204" pitchFamily="18" charset="0"/>
                                  </a:rPr>
                                  <m:t>2</m:t>
                                </m:r>
                              </m:sup>
                            </m:sSup>
                          </m:e>
                        </m:rad>
                        <m:r>
                          <a:rPr lang="en-US" sz="2000" b="0" i="1" smtClean="0">
                            <a:latin typeface="Cambria Math" panose="02040503050406030204" pitchFamily="18" charset="0"/>
                          </a:rPr>
                          <m:t>=</m:t>
                        </m:r>
                        <m:rad>
                          <m:radPr>
                            <m:degHide m:val="on"/>
                            <m:ctrlPr>
                              <a:rPr lang="en-US" sz="2000" b="0" i="1" smtClean="0">
                                <a:latin typeface="Cambria Math" panose="02040503050406030204" pitchFamily="18" charset="0"/>
                              </a:rPr>
                            </m:ctrlPr>
                          </m:radPr>
                          <m:deg/>
                          <m:e>
                            <m:r>
                              <a:rPr lang="en-US" sz="2000" b="0" i="1" smtClean="0">
                                <a:latin typeface="Cambria Math" panose="02040503050406030204" pitchFamily="18" charset="0"/>
                              </a:rPr>
                              <m:t>𝑧</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𝑧</m:t>
                                </m:r>
                              </m:e>
                              <m:sup>
                                <m:r>
                                  <a:rPr lang="en-US" sz="2000" b="0" i="1" smtClean="0">
                                    <a:latin typeface="Cambria Math" panose="02040503050406030204" pitchFamily="18" charset="0"/>
                                  </a:rPr>
                                  <m:t>∗</m:t>
                                </m:r>
                              </m:sup>
                            </m:sSup>
                          </m:e>
                        </m:rad>
                      </m:oMath>
                    </m:oMathPara>
                  </a14:m>
                  <a:endParaRPr lang="en-US" sz="2000" dirty="0"/>
                </a:p>
              </p:txBody>
            </p:sp>
          </mc:Choice>
          <mc:Fallback xmlns="">
            <p:sp>
              <p:nvSpPr>
                <p:cNvPr id="35" name="Rectangle 34">
                  <a:extLst>
                    <a:ext uri="{FF2B5EF4-FFF2-40B4-BE49-F238E27FC236}">
                      <a16:creationId xmlns:a16="http://schemas.microsoft.com/office/drawing/2014/main" id="{EA026C98-A361-164B-B536-83B94A0DA179}"/>
                    </a:ext>
                  </a:extLst>
                </p:cNvPr>
                <p:cNvSpPr>
                  <a:spLocks noRot="1" noChangeAspect="1" noMove="1" noResize="1" noEditPoints="1" noAdjustHandles="1" noChangeArrowheads="1" noChangeShapeType="1" noTextEdit="1"/>
                </p:cNvSpPr>
                <p:nvPr/>
              </p:nvSpPr>
              <p:spPr>
                <a:xfrm rot="19680000">
                  <a:off x="7576486" y="2583618"/>
                  <a:ext cx="2778004" cy="465065"/>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A850380D-7BF8-784C-BD82-5459D63C72BB}"/>
                    </a:ext>
                  </a:extLst>
                </p:cNvPr>
                <p:cNvSpPr/>
                <p:nvPr/>
              </p:nvSpPr>
              <p:spPr>
                <a:xfrm>
                  <a:off x="10374815" y="1470651"/>
                  <a:ext cx="144186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smtClean="0">
                            <a:latin typeface="Cambria Math" panose="02040503050406030204" pitchFamily="18" charset="0"/>
                          </a:rPr>
                          <m:t>𝑧</m:t>
                        </m:r>
                        <m:r>
                          <a:rPr lang="en-US" sz="2000" b="1" i="1">
                            <a:latin typeface="Cambria Math" panose="02040503050406030204" pitchFamily="18" charset="0"/>
                          </a:rPr>
                          <m:t> </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𝑖𝑦</m:t>
                        </m:r>
                      </m:oMath>
                    </m:oMathPara>
                  </a14:m>
                  <a:endParaRPr lang="en-US" sz="2000" dirty="0"/>
                </a:p>
              </p:txBody>
            </p:sp>
          </mc:Choice>
          <mc:Fallback xmlns="">
            <p:sp>
              <p:nvSpPr>
                <p:cNvPr id="67" name="Rectangle 66">
                  <a:extLst>
                    <a:ext uri="{FF2B5EF4-FFF2-40B4-BE49-F238E27FC236}">
                      <a16:creationId xmlns:a16="http://schemas.microsoft.com/office/drawing/2014/main" id="{A850380D-7BF8-784C-BD82-5459D63C72BB}"/>
                    </a:ext>
                  </a:extLst>
                </p:cNvPr>
                <p:cNvSpPr>
                  <a:spLocks noRot="1" noChangeAspect="1" noMove="1" noResize="1" noEditPoints="1" noAdjustHandles="1" noChangeArrowheads="1" noChangeShapeType="1" noTextEdit="1"/>
                </p:cNvSpPr>
                <p:nvPr/>
              </p:nvSpPr>
              <p:spPr>
                <a:xfrm>
                  <a:off x="10374815" y="1470651"/>
                  <a:ext cx="1441869" cy="400110"/>
                </a:xfrm>
                <a:prstGeom prst="rect">
                  <a:avLst/>
                </a:prstGeom>
                <a:blipFill>
                  <a:blip r:embed="rId16"/>
                  <a:stretch>
                    <a:fillRect b="-18750"/>
                  </a:stretch>
                </a:blipFill>
              </p:spPr>
              <p:txBody>
                <a:bodyPr/>
                <a:lstStyle/>
                <a:p>
                  <a:r>
                    <a:rPr lang="en-US">
                      <a:noFill/>
                    </a:rPr>
                    <a:t> </a:t>
                  </a:r>
                </a:p>
              </p:txBody>
            </p:sp>
          </mc:Fallback>
        </mc:AlternateContent>
        <p:cxnSp>
          <p:nvCxnSpPr>
            <p:cNvPr id="75" name="Straight Arrow Connector 74">
              <a:extLst>
                <a:ext uri="{FF2B5EF4-FFF2-40B4-BE49-F238E27FC236}">
                  <a16:creationId xmlns:a16="http://schemas.microsoft.com/office/drawing/2014/main" id="{46EF51EF-AC68-8A4F-AB10-6B9F996B2E91}"/>
                </a:ext>
              </a:extLst>
            </p:cNvPr>
            <p:cNvCxnSpPr>
              <a:cxnSpLocks/>
            </p:cNvCxnSpPr>
            <p:nvPr/>
          </p:nvCxnSpPr>
          <p:spPr>
            <a:xfrm>
              <a:off x="7811876" y="3848300"/>
              <a:ext cx="2757862" cy="1761511"/>
            </a:xfrm>
            <a:prstGeom prst="straightConnector1">
              <a:avLst/>
            </a:prstGeom>
            <a:ln w="38100" cap="rnd">
              <a:solidFill>
                <a:schemeClr val="accent5">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AAD4F24D-1A1E-9A4F-969C-DBE5AF900137}"/>
                </a:ext>
              </a:extLst>
            </p:cNvPr>
            <p:cNvCxnSpPr>
              <a:cxnSpLocks/>
            </p:cNvCxnSpPr>
            <p:nvPr/>
          </p:nvCxnSpPr>
          <p:spPr>
            <a:xfrm flipH="1">
              <a:off x="7805593" y="5609811"/>
              <a:ext cx="2761332"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E29BF3D3-4161-9B4D-83C7-88D7AB800808}"/>
                </a:ext>
              </a:extLst>
            </p:cNvPr>
            <p:cNvCxnSpPr>
              <a:cxnSpLocks/>
            </p:cNvCxnSpPr>
            <p:nvPr/>
          </p:nvCxnSpPr>
          <p:spPr>
            <a:xfrm rot="16200000">
              <a:off x="7801700" y="5472474"/>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1" name="Rectangle 80">
                  <a:extLst>
                    <a:ext uri="{FF2B5EF4-FFF2-40B4-BE49-F238E27FC236}">
                      <a16:creationId xmlns:a16="http://schemas.microsoft.com/office/drawing/2014/main" id="{0AB64049-7D1A-1B48-8A2B-6E9161B753B4}"/>
                    </a:ext>
                  </a:extLst>
                </p:cNvPr>
                <p:cNvSpPr/>
                <p:nvPr/>
              </p:nvSpPr>
              <p:spPr>
                <a:xfrm>
                  <a:off x="6794670" y="5407475"/>
                  <a:ext cx="79630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−0.2</m:t>
                        </m:r>
                        <m:r>
                          <a:rPr lang="en-US" b="0" i="1" smtClean="0">
                            <a:solidFill>
                              <a:schemeClr val="bg1">
                                <a:lumMod val="50000"/>
                              </a:schemeClr>
                            </a:solidFill>
                            <a:latin typeface="Cambria Math" panose="02040503050406030204" pitchFamily="18" charset="0"/>
                          </a:rPr>
                          <m:t>𝑖</m:t>
                        </m:r>
                      </m:oMath>
                    </m:oMathPara>
                  </a14:m>
                  <a:endParaRPr lang="en-US" dirty="0">
                    <a:solidFill>
                      <a:schemeClr val="bg1">
                        <a:lumMod val="50000"/>
                      </a:schemeClr>
                    </a:solidFill>
                  </a:endParaRPr>
                </a:p>
              </p:txBody>
            </p:sp>
          </mc:Choice>
          <mc:Fallback xmlns="">
            <p:sp>
              <p:nvSpPr>
                <p:cNvPr id="81" name="Rectangle 80">
                  <a:extLst>
                    <a:ext uri="{FF2B5EF4-FFF2-40B4-BE49-F238E27FC236}">
                      <a16:creationId xmlns:a16="http://schemas.microsoft.com/office/drawing/2014/main" id="{0AB64049-7D1A-1B48-8A2B-6E9161B753B4}"/>
                    </a:ext>
                  </a:extLst>
                </p:cNvPr>
                <p:cNvSpPr>
                  <a:spLocks noRot="1" noChangeAspect="1" noMove="1" noResize="1" noEditPoints="1" noAdjustHandles="1" noChangeArrowheads="1" noChangeShapeType="1" noTextEdit="1"/>
                </p:cNvSpPr>
                <p:nvPr/>
              </p:nvSpPr>
              <p:spPr>
                <a:xfrm>
                  <a:off x="6794670" y="5407475"/>
                  <a:ext cx="796307"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Rectangle 81">
                  <a:extLst>
                    <a:ext uri="{FF2B5EF4-FFF2-40B4-BE49-F238E27FC236}">
                      <a16:creationId xmlns:a16="http://schemas.microsoft.com/office/drawing/2014/main" id="{3DBDAF01-9BC3-6F49-B760-1B07BCFC9B2D}"/>
                    </a:ext>
                  </a:extLst>
                </p:cNvPr>
                <p:cNvSpPr/>
                <p:nvPr/>
              </p:nvSpPr>
              <p:spPr>
                <a:xfrm>
                  <a:off x="10280708" y="2289506"/>
                  <a:ext cx="1547667"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600" i="1" smtClean="0">
                            <a:latin typeface="Cambria Math" panose="02040503050406030204" pitchFamily="18" charset="0"/>
                          </a:rPr>
                          <m:t>𝑧</m:t>
                        </m:r>
                        <m:r>
                          <a:rPr lang="en-US" sz="1600" b="1" i="1">
                            <a:latin typeface="Cambria Math" panose="02040503050406030204" pitchFamily="18" charset="0"/>
                          </a:rPr>
                          <m:t> </m:t>
                        </m:r>
                        <m:r>
                          <a:rPr lang="en-US" sz="1600" b="0" i="1" smtClean="0">
                            <a:latin typeface="Cambria Math" panose="02040503050406030204" pitchFamily="18" charset="0"/>
                          </a:rPr>
                          <m:t>=0.3+</m:t>
                        </m:r>
                        <m:r>
                          <a:rPr lang="en-US" sz="1600" b="0" i="1" smtClean="0">
                            <a:latin typeface="Cambria Math" panose="02040503050406030204" pitchFamily="18" charset="0"/>
                          </a:rPr>
                          <m:t>𝑖</m:t>
                        </m:r>
                        <m:r>
                          <a:rPr lang="en-US" sz="1600" b="0" i="1" smtClean="0">
                            <a:latin typeface="Cambria Math" panose="02040503050406030204" pitchFamily="18" charset="0"/>
                          </a:rPr>
                          <m:t> 0.2</m:t>
                        </m:r>
                      </m:oMath>
                    </m:oMathPara>
                  </a14:m>
                  <a:endParaRPr lang="en-US" sz="1600" dirty="0"/>
                </a:p>
              </p:txBody>
            </p:sp>
          </mc:Choice>
          <mc:Fallback xmlns="">
            <p:sp>
              <p:nvSpPr>
                <p:cNvPr id="82" name="Rectangle 81">
                  <a:extLst>
                    <a:ext uri="{FF2B5EF4-FFF2-40B4-BE49-F238E27FC236}">
                      <a16:creationId xmlns:a16="http://schemas.microsoft.com/office/drawing/2014/main" id="{3DBDAF01-9BC3-6F49-B760-1B07BCFC9B2D}"/>
                    </a:ext>
                  </a:extLst>
                </p:cNvPr>
                <p:cNvSpPr>
                  <a:spLocks noRot="1" noChangeAspect="1" noMove="1" noResize="1" noEditPoints="1" noAdjustHandles="1" noChangeArrowheads="1" noChangeShapeType="1" noTextEdit="1"/>
                </p:cNvSpPr>
                <p:nvPr/>
              </p:nvSpPr>
              <p:spPr>
                <a:xfrm>
                  <a:off x="10280708" y="2289506"/>
                  <a:ext cx="1547667" cy="338554"/>
                </a:xfrm>
                <a:prstGeom prst="rect">
                  <a:avLst/>
                </a:prstGeom>
                <a:blipFill>
                  <a:blip r:embed="rId18"/>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Rectangle 82">
                  <a:extLst>
                    <a:ext uri="{FF2B5EF4-FFF2-40B4-BE49-F238E27FC236}">
                      <a16:creationId xmlns:a16="http://schemas.microsoft.com/office/drawing/2014/main" id="{297983A3-16C0-F74F-BA4C-4CA0ED3C519D}"/>
                    </a:ext>
                  </a:extLst>
                </p:cNvPr>
                <p:cNvSpPr/>
                <p:nvPr/>
              </p:nvSpPr>
              <p:spPr>
                <a:xfrm>
                  <a:off x="10264633" y="5065702"/>
                  <a:ext cx="1634871" cy="3385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1600" i="1" smtClean="0">
                                <a:latin typeface="Cambria Math" panose="02040503050406030204" pitchFamily="18" charset="0"/>
                              </a:rPr>
                            </m:ctrlPr>
                          </m:sSupPr>
                          <m:e>
                            <m:r>
                              <a:rPr lang="en-US" sz="1600" b="0" i="1">
                                <a:latin typeface="Cambria Math" panose="02040503050406030204" pitchFamily="18" charset="0"/>
                              </a:rPr>
                              <m:t>𝑧</m:t>
                            </m:r>
                          </m:e>
                          <m:sup>
                            <m:r>
                              <a:rPr lang="en-US" sz="1600" b="0" i="1">
                                <a:latin typeface="Cambria Math" panose="02040503050406030204" pitchFamily="18" charset="0"/>
                              </a:rPr>
                              <m:t>∗</m:t>
                            </m:r>
                          </m:sup>
                        </m:sSup>
                        <m:r>
                          <a:rPr lang="en-US" sz="1600" b="1" i="1">
                            <a:latin typeface="Cambria Math" panose="02040503050406030204" pitchFamily="18" charset="0"/>
                          </a:rPr>
                          <m:t> </m:t>
                        </m:r>
                        <m:r>
                          <a:rPr lang="en-US" sz="1600" b="0" i="1" smtClean="0">
                            <a:latin typeface="Cambria Math" panose="02040503050406030204" pitchFamily="18" charset="0"/>
                          </a:rPr>
                          <m:t>=0.3−</m:t>
                        </m:r>
                        <m:r>
                          <a:rPr lang="en-US" sz="1600" b="0" i="1" smtClean="0">
                            <a:latin typeface="Cambria Math" panose="02040503050406030204" pitchFamily="18" charset="0"/>
                          </a:rPr>
                          <m:t>𝑖</m:t>
                        </m:r>
                        <m:r>
                          <a:rPr lang="en-US" sz="1600" b="0" i="1" smtClean="0">
                            <a:latin typeface="Cambria Math" panose="02040503050406030204" pitchFamily="18" charset="0"/>
                          </a:rPr>
                          <m:t> 0.2</m:t>
                        </m:r>
                      </m:oMath>
                    </m:oMathPara>
                  </a14:m>
                  <a:endParaRPr lang="en-US" sz="1600" dirty="0"/>
                </a:p>
              </p:txBody>
            </p:sp>
          </mc:Choice>
          <mc:Fallback xmlns="">
            <p:sp>
              <p:nvSpPr>
                <p:cNvPr id="83" name="Rectangle 82">
                  <a:extLst>
                    <a:ext uri="{FF2B5EF4-FFF2-40B4-BE49-F238E27FC236}">
                      <a16:creationId xmlns:a16="http://schemas.microsoft.com/office/drawing/2014/main" id="{297983A3-16C0-F74F-BA4C-4CA0ED3C519D}"/>
                    </a:ext>
                  </a:extLst>
                </p:cNvPr>
                <p:cNvSpPr>
                  <a:spLocks noRot="1" noChangeAspect="1" noMove="1" noResize="1" noEditPoints="1" noAdjustHandles="1" noChangeArrowheads="1" noChangeShapeType="1" noTextEdit="1"/>
                </p:cNvSpPr>
                <p:nvPr/>
              </p:nvSpPr>
              <p:spPr>
                <a:xfrm>
                  <a:off x="10264633" y="5065702"/>
                  <a:ext cx="1634871" cy="338554"/>
                </a:xfrm>
                <a:prstGeom prst="rect">
                  <a:avLst/>
                </a:prstGeom>
                <a:blipFill>
                  <a:blip r:embed="rId19"/>
                  <a:stretch>
                    <a:fillRect b="-10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B40FC76A-9E85-A54C-844F-1BB03B4FCE3B}"/>
                    </a:ext>
                  </a:extLst>
                </p:cNvPr>
                <p:cNvSpPr txBox="1"/>
                <p:nvPr/>
              </p:nvSpPr>
              <p:spPr>
                <a:xfrm>
                  <a:off x="8192922" y="3511739"/>
                  <a:ext cx="3995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i="1" smtClean="0">
                            <a:latin typeface="Cambria Math" panose="02040503050406030204" pitchFamily="18" charset="0"/>
                            <a:ea typeface="Cambria Math" panose="02040503050406030204" pitchFamily="18" charset="0"/>
                          </a:rPr>
                          <m:t>𝜑</m:t>
                        </m:r>
                      </m:oMath>
                    </m:oMathPara>
                  </a14:m>
                  <a:endParaRPr lang="en-US" dirty="0"/>
                </a:p>
              </p:txBody>
            </p:sp>
          </mc:Choice>
          <mc:Fallback xmlns="">
            <p:sp>
              <p:nvSpPr>
                <p:cNvPr id="97" name="TextBox 96">
                  <a:extLst>
                    <a:ext uri="{FF2B5EF4-FFF2-40B4-BE49-F238E27FC236}">
                      <a16:creationId xmlns:a16="http://schemas.microsoft.com/office/drawing/2014/main" id="{B40FC76A-9E85-A54C-844F-1BB03B4FCE3B}"/>
                    </a:ext>
                  </a:extLst>
                </p:cNvPr>
                <p:cNvSpPr txBox="1">
                  <a:spLocks noRot="1" noChangeAspect="1" noMove="1" noResize="1" noEditPoints="1" noAdjustHandles="1" noChangeArrowheads="1" noChangeShapeType="1" noTextEdit="1"/>
                </p:cNvSpPr>
                <p:nvPr/>
              </p:nvSpPr>
              <p:spPr>
                <a:xfrm>
                  <a:off x="8192922" y="3511739"/>
                  <a:ext cx="399597" cy="369332"/>
                </a:xfrm>
                <a:prstGeom prst="rect">
                  <a:avLst/>
                </a:prstGeom>
                <a:blipFill>
                  <a:blip r:embed="rId20"/>
                  <a:stretch>
                    <a:fillRect b="-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7B9530AA-6553-E24B-B517-ED125623FF5F}"/>
                    </a:ext>
                  </a:extLst>
                </p:cNvPr>
                <p:cNvSpPr txBox="1"/>
                <p:nvPr/>
              </p:nvSpPr>
              <p:spPr>
                <a:xfrm>
                  <a:off x="9099167" y="3381131"/>
                  <a:ext cx="102252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ZA" i="1">
                                <a:latin typeface="Cambria Math" panose="02040503050406030204" pitchFamily="18" charset="0"/>
                              </a:rPr>
                            </m:ctrlPr>
                          </m:funcPr>
                          <m:fName>
                            <m:d>
                              <m:dPr>
                                <m:begChr m:val="|"/>
                                <m:endChr m:val="|"/>
                                <m:ctrlPr>
                                  <a:rPr lang="en-US" i="1">
                                    <a:latin typeface="Cambria Math" panose="02040503050406030204" pitchFamily="18" charset="0"/>
                                  </a:rPr>
                                </m:ctrlPr>
                              </m:dPr>
                              <m:e>
                                <m:r>
                                  <a:rPr lang="en-US" i="1">
                                    <a:latin typeface="Cambria Math" panose="02040503050406030204" pitchFamily="18" charset="0"/>
                                  </a:rPr>
                                  <m:t>𝑧</m:t>
                                </m:r>
                              </m:e>
                            </m:d>
                            <m:r>
                              <m:rPr>
                                <m:sty m:val="p"/>
                              </m:rPr>
                              <a:rPr lang="sr-Latn-RS">
                                <a:latin typeface="Cambria Math" panose="02040503050406030204" pitchFamily="18" charset="0"/>
                              </a:rPr>
                              <m:t>cos</m:t>
                            </m:r>
                          </m:fName>
                          <m:e>
                            <m:r>
                              <a:rPr lang="sr-Latn-RS" i="1">
                                <a:latin typeface="Cambria Math" panose="02040503050406030204" pitchFamily="18" charset="0"/>
                                <a:ea typeface="Cambria Math" panose="02040503050406030204" pitchFamily="18" charset="0"/>
                              </a:rPr>
                              <m:t>𝜑</m:t>
                            </m:r>
                          </m:e>
                        </m:func>
                      </m:oMath>
                    </m:oMathPara>
                  </a14:m>
                  <a:endParaRPr lang="en-US" dirty="0"/>
                </a:p>
              </p:txBody>
            </p:sp>
          </mc:Choice>
          <mc:Fallback xmlns="">
            <p:sp>
              <p:nvSpPr>
                <p:cNvPr id="98" name="TextBox 97">
                  <a:extLst>
                    <a:ext uri="{FF2B5EF4-FFF2-40B4-BE49-F238E27FC236}">
                      <a16:creationId xmlns:a16="http://schemas.microsoft.com/office/drawing/2014/main" id="{7B9530AA-6553-E24B-B517-ED125623FF5F}"/>
                    </a:ext>
                  </a:extLst>
                </p:cNvPr>
                <p:cNvSpPr txBox="1">
                  <a:spLocks noRot="1" noChangeAspect="1" noMove="1" noResize="1" noEditPoints="1" noAdjustHandles="1" noChangeArrowheads="1" noChangeShapeType="1" noTextEdit="1"/>
                </p:cNvSpPr>
                <p:nvPr/>
              </p:nvSpPr>
              <p:spPr>
                <a:xfrm>
                  <a:off x="9099167" y="3381131"/>
                  <a:ext cx="1022524" cy="369332"/>
                </a:xfrm>
                <a:prstGeom prst="rect">
                  <a:avLst/>
                </a:prstGeom>
                <a:blipFill>
                  <a:blip r:embed="rId21"/>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367030FE-69EA-3345-BB91-B99BC7F074AA}"/>
                    </a:ext>
                  </a:extLst>
                </p:cNvPr>
                <p:cNvSpPr txBox="1"/>
                <p:nvPr/>
              </p:nvSpPr>
              <p:spPr>
                <a:xfrm>
                  <a:off x="10520526" y="2972194"/>
                  <a:ext cx="111158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i="1">
                            <a:latin typeface="Cambria Math" panose="02040503050406030204" pitchFamily="18" charset="0"/>
                          </a:rPr>
                          <m:t>𝑖</m:t>
                        </m:r>
                        <m:func>
                          <m:funcPr>
                            <m:ctrlPr>
                              <a:rPr lang="en-ZA" i="1">
                                <a:latin typeface="Cambria Math" panose="02040503050406030204" pitchFamily="18" charset="0"/>
                              </a:rPr>
                            </m:ctrlPr>
                          </m:funcPr>
                          <m:fName>
                            <m:d>
                              <m:dPr>
                                <m:begChr m:val="|"/>
                                <m:endChr m:val="|"/>
                                <m:ctrlPr>
                                  <a:rPr lang="en-US" i="1">
                                    <a:latin typeface="Cambria Math" panose="02040503050406030204" pitchFamily="18" charset="0"/>
                                  </a:rPr>
                                </m:ctrlPr>
                              </m:dPr>
                              <m:e>
                                <m:r>
                                  <a:rPr lang="en-US" i="1">
                                    <a:latin typeface="Cambria Math" panose="02040503050406030204" pitchFamily="18" charset="0"/>
                                  </a:rPr>
                                  <m:t>𝑧</m:t>
                                </m:r>
                              </m:e>
                            </m:d>
                            <m:r>
                              <m:rPr>
                                <m:sty m:val="p"/>
                              </m:rPr>
                              <a:rPr lang="sr-Latn-RS">
                                <a:latin typeface="Cambria Math" panose="02040503050406030204" pitchFamily="18" charset="0"/>
                              </a:rPr>
                              <m:t>sin</m:t>
                            </m:r>
                          </m:fName>
                          <m:e>
                            <m:r>
                              <a:rPr lang="sr-Latn-RS" i="1">
                                <a:latin typeface="Cambria Math" panose="02040503050406030204" pitchFamily="18" charset="0"/>
                                <a:ea typeface="Cambria Math" panose="02040503050406030204" pitchFamily="18" charset="0"/>
                              </a:rPr>
                              <m:t>𝜑</m:t>
                            </m:r>
                          </m:e>
                        </m:func>
                      </m:oMath>
                    </m:oMathPara>
                  </a14:m>
                  <a:endParaRPr lang="en-US" dirty="0"/>
                </a:p>
              </p:txBody>
            </p:sp>
          </mc:Choice>
          <mc:Fallback xmlns="">
            <p:sp>
              <p:nvSpPr>
                <p:cNvPr id="99" name="TextBox 98">
                  <a:extLst>
                    <a:ext uri="{FF2B5EF4-FFF2-40B4-BE49-F238E27FC236}">
                      <a16:creationId xmlns:a16="http://schemas.microsoft.com/office/drawing/2014/main" id="{367030FE-69EA-3345-BB91-B99BC7F074AA}"/>
                    </a:ext>
                  </a:extLst>
                </p:cNvPr>
                <p:cNvSpPr txBox="1">
                  <a:spLocks noRot="1" noChangeAspect="1" noMove="1" noResize="1" noEditPoints="1" noAdjustHandles="1" noChangeArrowheads="1" noChangeShapeType="1" noTextEdit="1"/>
                </p:cNvSpPr>
                <p:nvPr/>
              </p:nvSpPr>
              <p:spPr>
                <a:xfrm>
                  <a:off x="10520526" y="2972194"/>
                  <a:ext cx="1111586" cy="369332"/>
                </a:xfrm>
                <a:prstGeom prst="rect">
                  <a:avLst/>
                </a:prstGeom>
                <a:blipFill>
                  <a:blip r:embed="rId22"/>
                  <a:stretch>
                    <a:fillRect b="-6667"/>
                  </a:stretch>
                </a:blipFill>
              </p:spPr>
              <p:txBody>
                <a:bodyPr/>
                <a:lstStyle/>
                <a:p>
                  <a:r>
                    <a:rPr lang="en-US">
                      <a:noFill/>
                    </a:rPr>
                    <a:t> </a:t>
                  </a:r>
                </a:p>
              </p:txBody>
            </p:sp>
          </mc:Fallback>
        </mc:AlternateContent>
        <p:sp>
          <p:nvSpPr>
            <p:cNvPr id="100" name="Arc 99">
              <a:extLst>
                <a:ext uri="{FF2B5EF4-FFF2-40B4-BE49-F238E27FC236}">
                  <a16:creationId xmlns:a16="http://schemas.microsoft.com/office/drawing/2014/main" id="{0A636B1D-F45C-4048-9327-8D576D40384E}"/>
                </a:ext>
              </a:extLst>
            </p:cNvPr>
            <p:cNvSpPr/>
            <p:nvPr/>
          </p:nvSpPr>
          <p:spPr>
            <a:xfrm rot="20673070">
              <a:off x="8394406" y="3390027"/>
              <a:ext cx="244306" cy="492484"/>
            </a:xfrm>
            <a:prstGeom prst="arc">
              <a:avLst>
                <a:gd name="adj1" fmla="val 17294295"/>
                <a:gd name="adj2" fmla="val 502780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08" name="Group 107">
            <a:extLst>
              <a:ext uri="{FF2B5EF4-FFF2-40B4-BE49-F238E27FC236}">
                <a16:creationId xmlns:a16="http://schemas.microsoft.com/office/drawing/2014/main" id="{ACBC27FD-7A21-124D-AEE7-AAB1D4DFBE62}"/>
              </a:ext>
            </a:extLst>
          </p:cNvPr>
          <p:cNvGrpSpPr/>
          <p:nvPr/>
        </p:nvGrpSpPr>
        <p:grpSpPr>
          <a:xfrm>
            <a:off x="409752" y="4732816"/>
            <a:ext cx="5379984" cy="1298509"/>
            <a:chOff x="363512" y="5104015"/>
            <a:chExt cx="5379984" cy="1298509"/>
          </a:xfrm>
        </p:grpSpPr>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5EEB1FD9-8BC1-7946-97EF-8D614EEC8B0D}"/>
                    </a:ext>
                  </a:extLst>
                </p:cNvPr>
                <p:cNvSpPr txBox="1"/>
                <p:nvPr/>
              </p:nvSpPr>
              <p:spPr>
                <a:xfrm>
                  <a:off x="2083583" y="5114094"/>
                  <a:ext cx="3659913" cy="1288430"/>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en-US" sz="2400" i="1" smtClean="0">
                            <a:latin typeface="Cambria Math" panose="02040503050406030204" pitchFamily="18" charset="0"/>
                          </a:rPr>
                          <m:t>𝑧</m:t>
                        </m:r>
                        <m:r>
                          <a:rPr lang="en-US" sz="2400" i="1" smtClean="0">
                            <a:latin typeface="Cambria Math" panose="02040503050406030204" pitchFamily="18" charset="0"/>
                          </a:rPr>
                          <m:t>=0.3+</m:t>
                        </m:r>
                        <m:r>
                          <a:rPr lang="en-US" sz="2400" b="0" i="1" smtClean="0">
                            <a:latin typeface="Cambria Math" panose="02040503050406030204" pitchFamily="18" charset="0"/>
                          </a:rPr>
                          <m:t>𝑖</m:t>
                        </m:r>
                        <m:r>
                          <a:rPr lang="en-US" sz="2400" b="0" i="1" smtClean="0">
                            <a:latin typeface="Cambria Math" panose="02040503050406030204" pitchFamily="18" charset="0"/>
                          </a:rPr>
                          <m:t> 0.2</m:t>
                        </m:r>
                      </m:oMath>
                    </m:oMathPara>
                  </a14:m>
                  <a:endParaRPr lang="en-US" sz="2400"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𝑧</m:t>
                            </m:r>
                          </m:e>
                          <m:sup>
                            <m:r>
                              <a:rPr lang="en-US" sz="2400" i="1">
                                <a:latin typeface="Cambria Math" panose="02040503050406030204" pitchFamily="18" charset="0"/>
                              </a:rPr>
                              <m:t>∗</m:t>
                            </m:r>
                          </m:sup>
                        </m:sSup>
                        <m:r>
                          <a:rPr lang="en-US" sz="2400" b="1" i="1">
                            <a:latin typeface="Cambria Math" panose="02040503050406030204" pitchFamily="18" charset="0"/>
                          </a:rPr>
                          <m:t> </m:t>
                        </m:r>
                        <m:r>
                          <a:rPr lang="en-US" sz="2400" i="1">
                            <a:latin typeface="Cambria Math" panose="02040503050406030204" pitchFamily="18" charset="0"/>
                          </a:rPr>
                          <m:t>=0.3</m:t>
                        </m:r>
                        <m:r>
                          <a:rPr lang="en-US" sz="2400" b="0" i="1" smtClean="0">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rPr>
                          <m:t> 0.2</m:t>
                        </m:r>
                      </m:oMath>
                    </m:oMathPara>
                  </a14:m>
                  <a:endParaRPr lang="en-US" sz="240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𝑧</m:t>
                            </m:r>
                          </m:e>
                        </m:d>
                        <m:r>
                          <a:rPr lang="en-US" sz="2400" b="0" i="1" smtClean="0">
                            <a:latin typeface="Cambria Math" panose="02040503050406030204" pitchFamily="18" charset="0"/>
                          </a:rPr>
                          <m:t>=</m:t>
                        </m:r>
                        <m:rad>
                          <m:radPr>
                            <m:degHide m:val="on"/>
                            <m:ctrlPr>
                              <a:rPr lang="en-US" sz="2400" i="1">
                                <a:latin typeface="Cambria Math" panose="02040503050406030204" pitchFamily="18" charset="0"/>
                              </a:rPr>
                            </m:ctrlPr>
                          </m:radPr>
                          <m:deg/>
                          <m:e>
                            <m:sSup>
                              <m:sSupPr>
                                <m:ctrlPr>
                                  <a:rPr lang="en-US" sz="2400" i="1">
                                    <a:latin typeface="Cambria Math" panose="02040503050406030204" pitchFamily="18" charset="0"/>
                                  </a:rPr>
                                </m:ctrlPr>
                              </m:sSupPr>
                              <m:e>
                                <m:r>
                                  <a:rPr lang="en-US" sz="2400" b="0" i="1" smtClean="0">
                                    <a:latin typeface="Cambria Math" panose="02040503050406030204" pitchFamily="18" charset="0"/>
                                  </a:rPr>
                                  <m:t>0.3</m:t>
                                </m:r>
                              </m:e>
                              <m:sup>
                                <m:r>
                                  <a:rPr lang="en-US" sz="2400" i="1">
                                    <a:latin typeface="Cambria Math" panose="02040503050406030204" pitchFamily="18" charset="0"/>
                                  </a:rPr>
                                  <m:t>2</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b="0" i="1" smtClean="0">
                                    <a:latin typeface="Cambria Math" panose="02040503050406030204" pitchFamily="18" charset="0"/>
                                  </a:rPr>
                                  <m:t>0.2</m:t>
                                </m:r>
                              </m:e>
                              <m:sup>
                                <m:r>
                                  <a:rPr lang="en-US" sz="2400" i="1">
                                    <a:latin typeface="Cambria Math" panose="02040503050406030204" pitchFamily="18" charset="0"/>
                                  </a:rPr>
                                  <m:t>2</m:t>
                                </m:r>
                              </m:sup>
                            </m:sSup>
                          </m:e>
                        </m:rad>
                        <m:r>
                          <a:rPr lang="en-US" sz="2400" b="0" i="1" smtClean="0">
                            <a:latin typeface="Cambria Math" panose="02040503050406030204" pitchFamily="18" charset="0"/>
                          </a:rPr>
                          <m:t>=0.36</m:t>
                        </m:r>
                      </m:oMath>
                    </m:oMathPara>
                  </a14:m>
                  <a:endParaRPr lang="en-US" sz="2400" dirty="0"/>
                </a:p>
              </p:txBody>
            </p:sp>
          </mc:Choice>
          <mc:Fallback xmlns="">
            <p:sp>
              <p:nvSpPr>
                <p:cNvPr id="106" name="TextBox 105">
                  <a:extLst>
                    <a:ext uri="{FF2B5EF4-FFF2-40B4-BE49-F238E27FC236}">
                      <a16:creationId xmlns:a16="http://schemas.microsoft.com/office/drawing/2014/main" id="{5EEB1FD9-8BC1-7946-97EF-8D614EEC8B0D}"/>
                    </a:ext>
                  </a:extLst>
                </p:cNvPr>
                <p:cNvSpPr txBox="1">
                  <a:spLocks noRot="1" noChangeAspect="1" noMove="1" noResize="1" noEditPoints="1" noAdjustHandles="1" noChangeArrowheads="1" noChangeShapeType="1" noTextEdit="1"/>
                </p:cNvSpPr>
                <p:nvPr/>
              </p:nvSpPr>
              <p:spPr>
                <a:xfrm>
                  <a:off x="2083583" y="5114094"/>
                  <a:ext cx="3659913" cy="1288430"/>
                </a:xfrm>
                <a:prstGeom prst="rect">
                  <a:avLst/>
                </a:prstGeom>
                <a:blipFill>
                  <a:blip r:embed="rId23"/>
                  <a:stretch>
                    <a:fillRect/>
                  </a:stretch>
                </a:blipFill>
              </p:spPr>
              <p:txBody>
                <a:bodyPr/>
                <a:lstStyle/>
                <a:p>
                  <a:r>
                    <a:rPr lang="en-US">
                      <a:noFill/>
                    </a:rPr>
                    <a:t> </a:t>
                  </a:r>
                </a:p>
              </p:txBody>
            </p:sp>
          </mc:Fallback>
        </mc:AlternateContent>
        <p:sp>
          <p:nvSpPr>
            <p:cNvPr id="107" name="TextBox 106">
              <a:extLst>
                <a:ext uri="{FF2B5EF4-FFF2-40B4-BE49-F238E27FC236}">
                  <a16:creationId xmlns:a16="http://schemas.microsoft.com/office/drawing/2014/main" id="{43489C11-B8BA-4242-919F-5C9310C46AB4}"/>
                </a:ext>
              </a:extLst>
            </p:cNvPr>
            <p:cNvSpPr txBox="1"/>
            <p:nvPr/>
          </p:nvSpPr>
          <p:spPr>
            <a:xfrm>
              <a:off x="363512" y="5104015"/>
              <a:ext cx="1323632" cy="461665"/>
            </a:xfrm>
            <a:prstGeom prst="rect">
              <a:avLst/>
            </a:prstGeom>
            <a:noFill/>
          </p:spPr>
          <p:txBody>
            <a:bodyPr wrap="none" rtlCol="0">
              <a:spAutoFit/>
            </a:bodyPr>
            <a:lstStyle/>
            <a:p>
              <a:r>
                <a:rPr lang="en-US" sz="2400" dirty="0"/>
                <a:t>Example:</a:t>
              </a:r>
            </a:p>
          </p:txBody>
        </p:sp>
      </p:grpSp>
    </p:spTree>
    <p:extLst>
      <p:ext uri="{BB962C8B-B14F-4D97-AF65-F5344CB8AC3E}">
        <p14:creationId xmlns:p14="http://schemas.microsoft.com/office/powerpoint/2010/main" val="2709240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dissolve">
                                      <p:cBhvr>
                                        <p:cTn id="7" dur="500"/>
                                        <p:tgtEl>
                                          <p:spTgt spid="10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8"/>
                                        </p:tgtEl>
                                        <p:attrNameLst>
                                          <p:attrName>style.visibility</p:attrName>
                                        </p:attrNameLst>
                                      </p:cBhvr>
                                      <p:to>
                                        <p:strVal val="visible"/>
                                      </p:to>
                                    </p:set>
                                    <p:animEffect transition="in" filter="dissolve">
                                      <p:cBhvr>
                                        <p:cTn id="12" dur="500"/>
                                        <p:tgtEl>
                                          <p:spTgt spid="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7115C68-F792-F942-9BBF-D8E326A30246}"/>
              </a:ext>
            </a:extLst>
          </p:cNvPr>
          <p:cNvSpPr>
            <a:spLocks noGrp="1"/>
          </p:cNvSpPr>
          <p:nvPr>
            <p:ph type="sldNum" sz="quarter" idx="12"/>
          </p:nvPr>
        </p:nvSpPr>
        <p:spPr/>
        <p:txBody>
          <a:bodyPr/>
          <a:lstStyle/>
          <a:p>
            <a:fld id="{591A223C-FA10-BC46-A853-03BA373D023C}" type="slidenum">
              <a:rPr lang="en-US" smtClean="0"/>
              <a:t>11</a:t>
            </a:fld>
            <a:endParaRPr lang="en-US"/>
          </a:p>
        </p:txBody>
      </p:sp>
      <p:sp>
        <p:nvSpPr>
          <p:cNvPr id="6" name="Title 5">
            <a:extLst>
              <a:ext uri="{FF2B5EF4-FFF2-40B4-BE49-F238E27FC236}">
                <a16:creationId xmlns:a16="http://schemas.microsoft.com/office/drawing/2014/main" id="{EE1B6E8F-149B-A14F-828A-8FBF41E9A6D8}"/>
              </a:ext>
            </a:extLst>
          </p:cNvPr>
          <p:cNvSpPr>
            <a:spLocks noGrp="1"/>
          </p:cNvSpPr>
          <p:nvPr>
            <p:ph type="title"/>
          </p:nvPr>
        </p:nvSpPr>
        <p:spPr/>
        <p:txBody>
          <a:bodyPr/>
          <a:lstStyle/>
          <a:p>
            <a:r>
              <a:rPr lang="en-US" dirty="0"/>
              <a:t>Euler’s formula</a:t>
            </a:r>
          </a:p>
        </p:txBody>
      </p:sp>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8F868E8A-B0D4-8E4C-83C9-1233A371C76A}"/>
                  </a:ext>
                </a:extLst>
              </p:cNvPr>
              <p:cNvSpPr txBox="1"/>
              <p:nvPr/>
            </p:nvSpPr>
            <p:spPr>
              <a:xfrm>
                <a:off x="2767985" y="1521141"/>
                <a:ext cx="3627147" cy="53713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ZA" sz="2800" i="1" smtClean="0">
                              <a:latin typeface="Cambria Math" panose="02040503050406030204" pitchFamily="18" charset="0"/>
                            </a:rPr>
                          </m:ctrlPr>
                        </m:sSupPr>
                        <m:e>
                          <m:r>
                            <a:rPr lang="sr-Latn-RS" sz="2800" i="1">
                              <a:latin typeface="Cambria Math" panose="02040503050406030204" pitchFamily="18" charset="0"/>
                            </a:rPr>
                            <m:t>𝑒</m:t>
                          </m:r>
                        </m:e>
                        <m:sup>
                          <m:r>
                            <a:rPr lang="sr-Latn-RS" sz="2800" i="1">
                              <a:latin typeface="Cambria Math" panose="02040503050406030204" pitchFamily="18" charset="0"/>
                            </a:rPr>
                            <m:t>±</m:t>
                          </m:r>
                          <m:r>
                            <a:rPr lang="sr-Latn-RS" sz="2800" i="1">
                              <a:latin typeface="Cambria Math" panose="02040503050406030204" pitchFamily="18" charset="0"/>
                            </a:rPr>
                            <m:t>𝑖</m:t>
                          </m:r>
                          <m:r>
                            <a:rPr lang="sr-Latn-RS" sz="2800" i="1">
                              <a:latin typeface="Cambria Math" panose="02040503050406030204" pitchFamily="18" charset="0"/>
                              <a:ea typeface="Cambria Math" panose="02040503050406030204" pitchFamily="18" charset="0"/>
                            </a:rPr>
                            <m:t>𝜑</m:t>
                          </m:r>
                        </m:sup>
                      </m:sSup>
                      <m:r>
                        <a:rPr lang="sr-Latn-RS" sz="2800" i="1">
                          <a:latin typeface="Cambria Math" panose="02040503050406030204" pitchFamily="18" charset="0"/>
                        </a:rPr>
                        <m:t>=</m:t>
                      </m:r>
                      <m:func>
                        <m:funcPr>
                          <m:ctrlPr>
                            <a:rPr lang="en-ZA" sz="2800" i="1">
                              <a:latin typeface="Cambria Math" panose="02040503050406030204" pitchFamily="18" charset="0"/>
                            </a:rPr>
                          </m:ctrlPr>
                        </m:funcPr>
                        <m:fName>
                          <m:r>
                            <m:rPr>
                              <m:sty m:val="p"/>
                            </m:rPr>
                            <a:rPr lang="sr-Latn-RS" sz="2800">
                              <a:latin typeface="Cambria Math" panose="02040503050406030204" pitchFamily="18" charset="0"/>
                            </a:rPr>
                            <m:t>cos</m:t>
                          </m:r>
                        </m:fName>
                        <m:e>
                          <m:r>
                            <a:rPr lang="sr-Latn-RS" sz="2800" i="1">
                              <a:latin typeface="Cambria Math" panose="02040503050406030204" pitchFamily="18" charset="0"/>
                              <a:ea typeface="Cambria Math" panose="02040503050406030204" pitchFamily="18" charset="0"/>
                            </a:rPr>
                            <m:t>𝜑</m:t>
                          </m:r>
                        </m:e>
                      </m:func>
                      <m:r>
                        <a:rPr lang="sr-Latn-RS" sz="2800" i="1">
                          <a:latin typeface="Cambria Math" panose="02040503050406030204" pitchFamily="18" charset="0"/>
                        </a:rPr>
                        <m:t>±</m:t>
                      </m:r>
                      <m:r>
                        <a:rPr lang="sr-Latn-RS" sz="2800" i="1">
                          <a:latin typeface="Cambria Math" panose="02040503050406030204" pitchFamily="18" charset="0"/>
                        </a:rPr>
                        <m:t>𝑖</m:t>
                      </m:r>
                      <m:func>
                        <m:funcPr>
                          <m:ctrlPr>
                            <a:rPr lang="en-ZA" sz="2800" i="1">
                              <a:latin typeface="Cambria Math" panose="02040503050406030204" pitchFamily="18" charset="0"/>
                            </a:rPr>
                          </m:ctrlPr>
                        </m:funcPr>
                        <m:fName>
                          <m:r>
                            <m:rPr>
                              <m:sty m:val="p"/>
                            </m:rPr>
                            <a:rPr lang="sr-Latn-RS" sz="2800">
                              <a:latin typeface="Cambria Math" panose="02040503050406030204" pitchFamily="18" charset="0"/>
                            </a:rPr>
                            <m:t>sin</m:t>
                          </m:r>
                        </m:fName>
                        <m:e>
                          <m:r>
                            <a:rPr lang="sr-Latn-RS" sz="2800" i="1">
                              <a:latin typeface="Cambria Math" panose="02040503050406030204" pitchFamily="18" charset="0"/>
                              <a:ea typeface="Cambria Math" panose="02040503050406030204" pitchFamily="18" charset="0"/>
                            </a:rPr>
                            <m:t>𝜑</m:t>
                          </m:r>
                        </m:e>
                      </m:func>
                    </m:oMath>
                  </m:oMathPara>
                </a14:m>
                <a:endParaRPr lang="en-US" sz="2800" dirty="0"/>
              </a:p>
            </p:txBody>
          </p:sp>
        </mc:Choice>
        <mc:Fallback xmlns="">
          <p:sp>
            <p:nvSpPr>
              <p:cNvPr id="93" name="TextBox 92">
                <a:extLst>
                  <a:ext uri="{FF2B5EF4-FFF2-40B4-BE49-F238E27FC236}">
                    <a16:creationId xmlns:a16="http://schemas.microsoft.com/office/drawing/2014/main" id="{8F868E8A-B0D4-8E4C-83C9-1233A371C76A}"/>
                  </a:ext>
                </a:extLst>
              </p:cNvPr>
              <p:cNvSpPr txBox="1">
                <a:spLocks noRot="1" noChangeAspect="1" noMove="1" noResize="1" noEditPoints="1" noAdjustHandles="1" noChangeArrowheads="1" noChangeShapeType="1" noTextEdit="1"/>
              </p:cNvSpPr>
              <p:nvPr/>
            </p:nvSpPr>
            <p:spPr>
              <a:xfrm>
                <a:off x="2767985" y="1521141"/>
                <a:ext cx="3627147" cy="537135"/>
              </a:xfrm>
              <a:prstGeom prst="rect">
                <a:avLst/>
              </a:prstGeom>
              <a:blipFill>
                <a:blip r:embed="rId3"/>
                <a:stretch>
                  <a:fillRect b="-11905"/>
                </a:stretch>
              </a:blipFill>
            </p:spPr>
            <p:txBody>
              <a:bodyPr/>
              <a:lstStyle/>
              <a:p>
                <a:r>
                  <a:rPr lang="en-US">
                    <a:noFill/>
                  </a:rPr>
                  <a:t> </a:t>
                </a:r>
              </a:p>
            </p:txBody>
          </p:sp>
        </mc:Fallback>
      </mc:AlternateContent>
      <p:sp>
        <p:nvSpPr>
          <p:cNvPr id="95" name="TextBox 94">
            <a:extLst>
              <a:ext uri="{FF2B5EF4-FFF2-40B4-BE49-F238E27FC236}">
                <a16:creationId xmlns:a16="http://schemas.microsoft.com/office/drawing/2014/main" id="{FF7574B5-39FD-BF4C-B3E6-8F705052B61C}"/>
              </a:ext>
            </a:extLst>
          </p:cNvPr>
          <p:cNvSpPr txBox="1"/>
          <p:nvPr/>
        </p:nvSpPr>
        <p:spPr>
          <a:xfrm>
            <a:off x="163477" y="3021592"/>
            <a:ext cx="1448217" cy="584775"/>
          </a:xfrm>
          <a:prstGeom prst="rect">
            <a:avLst/>
          </a:prstGeom>
          <a:noFill/>
        </p:spPr>
        <p:txBody>
          <a:bodyPr wrap="none" rtlCol="0">
            <a:spAutoFit/>
          </a:bodyPr>
          <a:lstStyle/>
          <a:p>
            <a:r>
              <a:rPr lang="en-ZA" sz="1600" dirty="0"/>
              <a:t>Leonhard Euler</a:t>
            </a:r>
            <a:endParaRPr lang="sr-Latn-RS" sz="1600" dirty="0"/>
          </a:p>
          <a:p>
            <a:pPr algn="ctr"/>
            <a:r>
              <a:rPr lang="sr-Latn-RS" sz="1600" dirty="0"/>
              <a:t>(1707-1783)</a:t>
            </a:r>
            <a:endParaRPr lang="en-US" sz="1600" dirty="0"/>
          </a:p>
        </p:txBody>
      </p:sp>
      <p:pic>
        <p:nvPicPr>
          <p:cNvPr id="96" name="Picture 95">
            <a:extLst>
              <a:ext uri="{FF2B5EF4-FFF2-40B4-BE49-F238E27FC236}">
                <a16:creationId xmlns:a16="http://schemas.microsoft.com/office/drawing/2014/main" id="{B371B9EE-00F6-1D41-913B-6BFF4D9AF3B0}"/>
              </a:ext>
            </a:extLst>
          </p:cNvPr>
          <p:cNvPicPr>
            <a:picLocks noChangeAspect="1"/>
          </p:cNvPicPr>
          <p:nvPr/>
        </p:nvPicPr>
        <p:blipFill>
          <a:blip r:embed="rId4"/>
          <a:stretch>
            <a:fillRect/>
          </a:stretch>
        </p:blipFill>
        <p:spPr>
          <a:xfrm flipH="1">
            <a:off x="115938" y="1253168"/>
            <a:ext cx="1802053" cy="1626072"/>
          </a:xfrm>
          <a:prstGeom prst="rect">
            <a:avLst/>
          </a:prstGeom>
        </p:spPr>
      </p:pic>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CD475874-E81C-4842-AB36-8C4FDE962498}"/>
                  </a:ext>
                </a:extLst>
              </p:cNvPr>
              <p:cNvSpPr txBox="1"/>
              <p:nvPr/>
            </p:nvSpPr>
            <p:spPr>
              <a:xfrm>
                <a:off x="2754774" y="2121145"/>
                <a:ext cx="3478068" cy="1212255"/>
              </a:xfrm>
              <a:prstGeom prst="rect">
                <a:avLst/>
              </a:prstGeom>
              <a:noFill/>
            </p:spPr>
            <p:txBody>
              <a:bodyPr wrap="none" rtlCol="0">
                <a:spAutoFit/>
              </a:bodyPr>
              <a:lstStyle/>
              <a:p>
                <a14:m>
                  <m:oMath xmlns:m="http://schemas.openxmlformats.org/officeDocument/2006/math">
                    <m:r>
                      <a:rPr lang="sr-Latn-RS" sz="2400" i="1">
                        <a:latin typeface="Cambria Math" panose="02040503050406030204" pitchFamily="18" charset="0"/>
                        <a:ea typeface="Cambria Math" panose="02040503050406030204" pitchFamily="18" charset="0"/>
                      </a:rPr>
                      <m:t>𝜑</m:t>
                    </m:r>
                    <m:r>
                      <a:rPr lang="en-US" sz="2400" i="1">
                        <a:latin typeface="Cambria Math" panose="02040503050406030204" pitchFamily="18" charset="0"/>
                        <a:ea typeface="Cambria Math" panose="02040503050406030204" pitchFamily="18" charset="0"/>
                      </a:rPr>
                      <m:t>  </m:t>
                    </m:r>
                  </m:oMath>
                </a14:m>
                <a:r>
                  <a:rPr lang="en-US" sz="2400" dirty="0"/>
                  <a:t>            : phase angle</a:t>
                </a:r>
                <a:endParaRPr lang="en-US" sz="2400" i="1" dirty="0">
                  <a:latin typeface="Cambria Math" panose="02040503050406030204" pitchFamily="18" charset="0"/>
                </a:endParaRPr>
              </a:p>
              <a:p>
                <a14:m>
                  <m:oMath xmlns:m="http://schemas.openxmlformats.org/officeDocument/2006/math">
                    <m:r>
                      <a:rPr lang="en-US" sz="2400" i="1">
                        <a:latin typeface="Cambria Math" panose="02040503050406030204" pitchFamily="18" charset="0"/>
                      </a:rPr>
                      <m:t>𝑒</m:t>
                    </m:r>
                    <m:r>
                      <a:rPr lang="en-US" sz="2400" i="1">
                        <a:latin typeface="Cambria Math" panose="02040503050406030204" pitchFamily="18" charset="0"/>
                        <a:ea typeface="Cambria Math" panose="02040503050406030204" pitchFamily="18" charset="0"/>
                      </a:rPr>
                      <m:t>≈2.71</m:t>
                    </m:r>
                  </m:oMath>
                </a14:m>
                <a:r>
                  <a:rPr lang="en-US" sz="2400" dirty="0">
                    <a:latin typeface="Cambria Math" panose="02040503050406030204" pitchFamily="18" charset="0"/>
                  </a:rPr>
                  <a:t>: Euler’s number</a:t>
                </a:r>
              </a:p>
              <a:p>
                <a14:m>
                  <m:oMath xmlns:m="http://schemas.openxmlformats.org/officeDocument/2006/math">
                    <m:sSup>
                      <m:sSupPr>
                        <m:ctrlPr>
                          <a:rPr lang="en-ZA" sz="2400" i="1" smtClean="0">
                            <a:latin typeface="Cambria Math" panose="02040503050406030204" pitchFamily="18" charset="0"/>
                          </a:rPr>
                        </m:ctrlPr>
                      </m:sSupPr>
                      <m:e>
                        <m:r>
                          <a:rPr lang="sr-Latn-RS" sz="2400" i="1">
                            <a:latin typeface="Cambria Math" panose="02040503050406030204" pitchFamily="18" charset="0"/>
                          </a:rPr>
                          <m:t>𝑒</m:t>
                        </m:r>
                      </m:e>
                      <m:sup>
                        <m:r>
                          <a:rPr lang="sr-Latn-RS" sz="2400" i="1">
                            <a:latin typeface="Cambria Math" panose="02040503050406030204" pitchFamily="18" charset="0"/>
                          </a:rPr>
                          <m:t>±</m:t>
                        </m:r>
                        <m:r>
                          <a:rPr lang="sr-Latn-RS" sz="2400" i="1">
                            <a:latin typeface="Cambria Math" panose="02040503050406030204" pitchFamily="18" charset="0"/>
                          </a:rPr>
                          <m:t>𝑖</m:t>
                        </m:r>
                        <m:r>
                          <a:rPr lang="sr-Latn-RS" sz="2400" i="1">
                            <a:latin typeface="Cambria Math" panose="02040503050406030204" pitchFamily="18" charset="0"/>
                            <a:ea typeface="Cambria Math" panose="02040503050406030204" pitchFamily="18" charset="0"/>
                          </a:rPr>
                          <m:t>𝜑</m:t>
                        </m:r>
                      </m:sup>
                    </m:sSup>
                  </m:oMath>
                </a14:m>
                <a:r>
                  <a:rPr lang="sr-Latn-RS" sz="2400" dirty="0">
                    <a:ea typeface="Cambria Math" panose="02040503050406030204" pitchFamily="18" charset="0"/>
                  </a:rPr>
                  <a:t>        : </a:t>
                </a:r>
                <a:r>
                  <a:rPr lang="en-US" sz="2400" dirty="0"/>
                  <a:t>phase factor</a:t>
                </a:r>
                <a:endParaRPr lang="sr-Latn-RS" sz="2400" dirty="0">
                  <a:ea typeface="Cambria Math" panose="02040503050406030204" pitchFamily="18" charset="0"/>
                </a:endParaRPr>
              </a:p>
            </p:txBody>
          </p:sp>
        </mc:Choice>
        <mc:Fallback xmlns="">
          <p:sp>
            <p:nvSpPr>
              <p:cNvPr id="103" name="TextBox 102">
                <a:extLst>
                  <a:ext uri="{FF2B5EF4-FFF2-40B4-BE49-F238E27FC236}">
                    <a16:creationId xmlns:a16="http://schemas.microsoft.com/office/drawing/2014/main" id="{CD475874-E81C-4842-AB36-8C4FDE962498}"/>
                  </a:ext>
                </a:extLst>
              </p:cNvPr>
              <p:cNvSpPr txBox="1">
                <a:spLocks noRot="1" noChangeAspect="1" noMove="1" noResize="1" noEditPoints="1" noAdjustHandles="1" noChangeArrowheads="1" noChangeShapeType="1" noTextEdit="1"/>
              </p:cNvSpPr>
              <p:nvPr/>
            </p:nvSpPr>
            <p:spPr>
              <a:xfrm>
                <a:off x="2754774" y="2121145"/>
                <a:ext cx="3478068" cy="1212255"/>
              </a:xfrm>
              <a:prstGeom prst="rect">
                <a:avLst/>
              </a:prstGeom>
              <a:blipFill>
                <a:blip r:embed="rId5"/>
                <a:stretch>
                  <a:fillRect t="-3125" r="-1455" b="-10417"/>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A56AA09E-1218-6949-ADAF-5FBECEF1BD42}"/>
              </a:ext>
            </a:extLst>
          </p:cNvPr>
          <p:cNvCxnSpPr>
            <a:cxnSpLocks/>
          </p:cNvCxnSpPr>
          <p:nvPr/>
        </p:nvCxnSpPr>
        <p:spPr>
          <a:xfrm>
            <a:off x="9377276" y="1969643"/>
            <a:ext cx="1646" cy="1272516"/>
          </a:xfrm>
          <a:prstGeom prst="line">
            <a:avLst/>
          </a:prstGeom>
          <a:ln>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9D6976-7F5F-3F4F-BEC1-4AF80A14C46B}"/>
                  </a:ext>
                </a:extLst>
              </p:cNvPr>
              <p:cNvSpPr/>
              <p:nvPr/>
            </p:nvSpPr>
            <p:spPr>
              <a:xfrm>
                <a:off x="10374815" y="3265891"/>
                <a:ext cx="50392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𝑅𝑒</m:t>
                      </m:r>
                    </m:oMath>
                  </m:oMathPara>
                </a14:m>
                <a:endParaRPr lang="en-US" dirty="0"/>
              </a:p>
            </p:txBody>
          </p:sp>
        </mc:Choice>
        <mc:Fallback xmlns="">
          <p:sp>
            <p:nvSpPr>
              <p:cNvPr id="13" name="Rectangle 12">
                <a:extLst>
                  <a:ext uri="{FF2B5EF4-FFF2-40B4-BE49-F238E27FC236}">
                    <a16:creationId xmlns:a16="http://schemas.microsoft.com/office/drawing/2014/main" id="{7D9D6976-7F5F-3F4F-BEC1-4AF80A14C46B}"/>
                  </a:ext>
                </a:extLst>
              </p:cNvPr>
              <p:cNvSpPr>
                <a:spLocks noRot="1" noChangeAspect="1" noMove="1" noResize="1" noEditPoints="1" noAdjustHandles="1" noChangeArrowheads="1" noChangeShapeType="1" noTextEdit="1"/>
              </p:cNvSpPr>
              <p:nvPr/>
            </p:nvSpPr>
            <p:spPr>
              <a:xfrm>
                <a:off x="10374815" y="3265891"/>
                <a:ext cx="503921"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D7F6EA05-E4D8-7E4F-9738-DEA019845CF8}"/>
                  </a:ext>
                </a:extLst>
              </p:cNvPr>
              <p:cNvSpPr/>
              <p:nvPr/>
            </p:nvSpPr>
            <p:spPr>
              <a:xfrm>
                <a:off x="7631234" y="1014633"/>
                <a:ext cx="52366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𝐼𝑚</m:t>
                      </m:r>
                    </m:oMath>
                  </m:oMathPara>
                </a14:m>
                <a:endParaRPr lang="en-US" dirty="0"/>
              </a:p>
            </p:txBody>
          </p:sp>
        </mc:Choice>
        <mc:Fallback xmlns="">
          <p:sp>
            <p:nvSpPr>
              <p:cNvPr id="14" name="Rectangle 13">
                <a:extLst>
                  <a:ext uri="{FF2B5EF4-FFF2-40B4-BE49-F238E27FC236}">
                    <a16:creationId xmlns:a16="http://schemas.microsoft.com/office/drawing/2014/main" id="{D7F6EA05-E4D8-7E4F-9738-DEA019845CF8}"/>
                  </a:ext>
                </a:extLst>
              </p:cNvPr>
              <p:cNvSpPr>
                <a:spLocks noRot="1" noChangeAspect="1" noMove="1" noResize="1" noEditPoints="1" noAdjustHandles="1" noChangeArrowheads="1" noChangeShapeType="1" noTextEdit="1"/>
              </p:cNvSpPr>
              <p:nvPr/>
            </p:nvSpPr>
            <p:spPr>
              <a:xfrm>
                <a:off x="7631234" y="1014633"/>
                <a:ext cx="523668" cy="369332"/>
              </a:xfrm>
              <a:prstGeom prst="rect">
                <a:avLst/>
              </a:prstGeom>
              <a:blipFill>
                <a:blip r:embed="rId7"/>
                <a:stretch>
                  <a:fillRect/>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535B1276-E9EC-844A-8B37-8680C8D0163D}"/>
              </a:ext>
            </a:extLst>
          </p:cNvPr>
          <p:cNvCxnSpPr>
            <a:cxnSpLocks/>
          </p:cNvCxnSpPr>
          <p:nvPr/>
        </p:nvCxnSpPr>
        <p:spPr>
          <a:xfrm flipH="1" flipV="1">
            <a:off x="8164750" y="1141932"/>
            <a:ext cx="0" cy="2541795"/>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76586C0-FBA1-FD4C-B125-C30948677224}"/>
              </a:ext>
            </a:extLst>
          </p:cNvPr>
          <p:cNvCxnSpPr>
            <a:cxnSpLocks/>
          </p:cNvCxnSpPr>
          <p:nvPr/>
        </p:nvCxnSpPr>
        <p:spPr>
          <a:xfrm>
            <a:off x="7710979" y="3242159"/>
            <a:ext cx="2663836"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39BAF94-D1BC-E849-AECA-7B6DE5880C97}"/>
              </a:ext>
            </a:extLst>
          </p:cNvPr>
          <p:cNvSpPr txBox="1"/>
          <p:nvPr/>
        </p:nvSpPr>
        <p:spPr>
          <a:xfrm>
            <a:off x="7782198" y="3283617"/>
            <a:ext cx="351378" cy="400110"/>
          </a:xfrm>
          <a:prstGeom prst="rect">
            <a:avLst/>
          </a:prstGeom>
          <a:noFill/>
        </p:spPr>
        <p:txBody>
          <a:bodyPr wrap="none" rtlCol="0">
            <a:spAutoFit/>
          </a:bodyPr>
          <a:lstStyle/>
          <a:p>
            <a:r>
              <a:rPr lang="en-US" sz="2000" dirty="0">
                <a:latin typeface="+mj-lt"/>
              </a:rPr>
              <a:t>O</a:t>
            </a:r>
          </a:p>
        </p:txBody>
      </p:sp>
      <p:cxnSp>
        <p:nvCxnSpPr>
          <p:cNvPr id="20" name="Straight Connector 19">
            <a:extLst>
              <a:ext uri="{FF2B5EF4-FFF2-40B4-BE49-F238E27FC236}">
                <a16:creationId xmlns:a16="http://schemas.microsoft.com/office/drawing/2014/main" id="{8DCE1194-6EDD-2744-A9C3-2D5A259B1CBE}"/>
              </a:ext>
            </a:extLst>
          </p:cNvPr>
          <p:cNvCxnSpPr>
            <a:cxnSpLocks/>
          </p:cNvCxnSpPr>
          <p:nvPr/>
        </p:nvCxnSpPr>
        <p:spPr>
          <a:xfrm flipH="1">
            <a:off x="8183431" y="1969643"/>
            <a:ext cx="1193845"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D9EA109-8B32-7941-8778-23BDF2840C2E}"/>
              </a:ext>
            </a:extLst>
          </p:cNvPr>
          <p:cNvCxnSpPr>
            <a:cxnSpLocks/>
          </p:cNvCxnSpPr>
          <p:nvPr/>
        </p:nvCxnSpPr>
        <p:spPr>
          <a:xfrm flipV="1">
            <a:off x="8164750" y="1971267"/>
            <a:ext cx="1212526" cy="1270892"/>
          </a:xfrm>
          <a:prstGeom prst="straightConnector1">
            <a:avLst/>
          </a:prstGeom>
          <a:ln w="38100" cap="rnd">
            <a:solidFill>
              <a:schemeClr val="accent5">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A7724F2-3326-4E43-85E8-C8FE9B0992B7}"/>
              </a:ext>
            </a:extLst>
          </p:cNvPr>
          <p:cNvCxnSpPr>
            <a:cxnSpLocks/>
          </p:cNvCxnSpPr>
          <p:nvPr/>
        </p:nvCxnSpPr>
        <p:spPr>
          <a:xfrm>
            <a:off x="9956334" y="3142804"/>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3531C5F7-82F5-FC45-9E30-28F8BE644390}"/>
                  </a:ext>
                </a:extLst>
              </p:cNvPr>
              <p:cNvSpPr/>
              <p:nvPr/>
            </p:nvSpPr>
            <p:spPr>
              <a:xfrm>
                <a:off x="9764890" y="3349944"/>
                <a:ext cx="36580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1</m:t>
                      </m:r>
                    </m:oMath>
                  </m:oMathPara>
                </a14:m>
                <a:endParaRPr lang="en-US" dirty="0">
                  <a:solidFill>
                    <a:schemeClr val="bg1">
                      <a:lumMod val="50000"/>
                    </a:schemeClr>
                  </a:solidFill>
                </a:endParaRPr>
              </a:p>
            </p:txBody>
          </p:sp>
        </mc:Choice>
        <mc:Fallback xmlns="">
          <p:sp>
            <p:nvSpPr>
              <p:cNvPr id="26" name="Rectangle 25">
                <a:extLst>
                  <a:ext uri="{FF2B5EF4-FFF2-40B4-BE49-F238E27FC236}">
                    <a16:creationId xmlns:a16="http://schemas.microsoft.com/office/drawing/2014/main" id="{3531C5F7-82F5-FC45-9E30-28F8BE644390}"/>
                  </a:ext>
                </a:extLst>
              </p:cNvPr>
              <p:cNvSpPr>
                <a:spLocks noRot="1" noChangeAspect="1" noMove="1" noResize="1" noEditPoints="1" noAdjustHandles="1" noChangeArrowheads="1" noChangeShapeType="1" noTextEdit="1"/>
              </p:cNvSpPr>
              <p:nvPr/>
            </p:nvSpPr>
            <p:spPr>
              <a:xfrm>
                <a:off x="9764890" y="3349944"/>
                <a:ext cx="365805" cy="369332"/>
              </a:xfrm>
              <a:prstGeom prst="rect">
                <a:avLst/>
              </a:prstGeom>
              <a:blipFill>
                <a:blip r:embed="rId8"/>
                <a:stretch>
                  <a:fillRect/>
                </a:stretch>
              </a:blipFill>
            </p:spPr>
            <p:txBody>
              <a:bodyPr/>
              <a:lstStyle/>
              <a:p>
                <a:r>
                  <a:rPr lang="en-US">
                    <a:noFill/>
                  </a:rPr>
                  <a:t> </a:t>
                </a:r>
              </a:p>
            </p:txBody>
          </p:sp>
        </mc:Fallback>
      </mc:AlternateContent>
      <p:cxnSp>
        <p:nvCxnSpPr>
          <p:cNvPr id="43" name="Straight Connector 42">
            <a:extLst>
              <a:ext uri="{FF2B5EF4-FFF2-40B4-BE49-F238E27FC236}">
                <a16:creationId xmlns:a16="http://schemas.microsoft.com/office/drawing/2014/main" id="{64F91A4C-97E8-B342-9EFB-E1B8C797FA78}"/>
              </a:ext>
            </a:extLst>
          </p:cNvPr>
          <p:cNvCxnSpPr>
            <a:cxnSpLocks/>
          </p:cNvCxnSpPr>
          <p:nvPr/>
        </p:nvCxnSpPr>
        <p:spPr>
          <a:xfrm rot="16200000">
            <a:off x="8176404" y="1357148"/>
            <a:ext cx="0" cy="270114"/>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10080374-FBD4-2B43-9201-884F11B23A92}"/>
                  </a:ext>
                </a:extLst>
              </p:cNvPr>
              <p:cNvSpPr/>
              <p:nvPr/>
            </p:nvSpPr>
            <p:spPr>
              <a:xfrm>
                <a:off x="7652659" y="1326064"/>
                <a:ext cx="31861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chemeClr val="bg1">
                              <a:lumMod val="50000"/>
                            </a:schemeClr>
                          </a:solidFill>
                          <a:latin typeface="Cambria Math" panose="02040503050406030204" pitchFamily="18" charset="0"/>
                        </a:rPr>
                        <m:t>𝑖</m:t>
                      </m:r>
                    </m:oMath>
                  </m:oMathPara>
                </a14:m>
                <a:endParaRPr lang="en-US" dirty="0">
                  <a:solidFill>
                    <a:schemeClr val="bg1">
                      <a:lumMod val="50000"/>
                    </a:schemeClr>
                  </a:solidFill>
                </a:endParaRPr>
              </a:p>
            </p:txBody>
          </p:sp>
        </mc:Choice>
        <mc:Fallback xmlns="">
          <p:sp>
            <p:nvSpPr>
              <p:cNvPr id="46" name="Rectangle 45">
                <a:extLst>
                  <a:ext uri="{FF2B5EF4-FFF2-40B4-BE49-F238E27FC236}">
                    <a16:creationId xmlns:a16="http://schemas.microsoft.com/office/drawing/2014/main" id="{10080374-FBD4-2B43-9201-884F11B23A92}"/>
                  </a:ext>
                </a:extLst>
              </p:cNvPr>
              <p:cNvSpPr>
                <a:spLocks noRot="1" noChangeAspect="1" noMove="1" noResize="1" noEditPoints="1" noAdjustHandles="1" noChangeArrowheads="1" noChangeShapeType="1" noTextEdit="1"/>
              </p:cNvSpPr>
              <p:nvPr/>
            </p:nvSpPr>
            <p:spPr>
              <a:xfrm>
                <a:off x="7652659" y="1326064"/>
                <a:ext cx="318613"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B40FC76A-9E85-A54C-844F-1BB03B4FCE3B}"/>
                  </a:ext>
                </a:extLst>
              </p:cNvPr>
              <p:cNvSpPr txBox="1"/>
              <p:nvPr/>
            </p:nvSpPr>
            <p:spPr>
              <a:xfrm>
                <a:off x="8426371" y="2845908"/>
                <a:ext cx="3995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i="1" smtClean="0">
                          <a:latin typeface="Cambria Math" panose="02040503050406030204" pitchFamily="18" charset="0"/>
                          <a:ea typeface="Cambria Math" panose="02040503050406030204" pitchFamily="18" charset="0"/>
                        </a:rPr>
                        <m:t>𝜑</m:t>
                      </m:r>
                    </m:oMath>
                  </m:oMathPara>
                </a14:m>
                <a:endParaRPr lang="en-US" dirty="0"/>
              </a:p>
            </p:txBody>
          </p:sp>
        </mc:Choice>
        <mc:Fallback xmlns="">
          <p:sp>
            <p:nvSpPr>
              <p:cNvPr id="97" name="TextBox 96">
                <a:extLst>
                  <a:ext uri="{FF2B5EF4-FFF2-40B4-BE49-F238E27FC236}">
                    <a16:creationId xmlns:a16="http://schemas.microsoft.com/office/drawing/2014/main" id="{B40FC76A-9E85-A54C-844F-1BB03B4FCE3B}"/>
                  </a:ext>
                </a:extLst>
              </p:cNvPr>
              <p:cNvSpPr txBox="1">
                <a:spLocks noRot="1" noChangeAspect="1" noMove="1" noResize="1" noEditPoints="1" noAdjustHandles="1" noChangeArrowheads="1" noChangeShapeType="1" noTextEdit="1"/>
              </p:cNvSpPr>
              <p:nvPr/>
            </p:nvSpPr>
            <p:spPr>
              <a:xfrm>
                <a:off x="8426371" y="2845908"/>
                <a:ext cx="399597" cy="369332"/>
              </a:xfrm>
              <a:prstGeom prst="rect">
                <a:avLst/>
              </a:prstGeom>
              <a:blipFill>
                <a:blip r:embed="rId10"/>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7B9530AA-6553-E24B-B517-ED125623FF5F}"/>
                  </a:ext>
                </a:extLst>
              </p:cNvPr>
              <p:cNvSpPr txBox="1"/>
              <p:nvPr/>
            </p:nvSpPr>
            <p:spPr>
              <a:xfrm>
                <a:off x="8502422" y="3212530"/>
                <a:ext cx="760272"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unc>
                        <m:funcPr>
                          <m:ctrlPr>
                            <a:rPr lang="en-ZA" i="1">
                              <a:latin typeface="Cambria Math" panose="02040503050406030204" pitchFamily="18" charset="0"/>
                            </a:rPr>
                          </m:ctrlPr>
                        </m:funcPr>
                        <m:fName>
                          <m:r>
                            <m:rPr>
                              <m:sty m:val="p"/>
                            </m:rPr>
                            <a:rPr lang="sr-Latn-RS">
                              <a:latin typeface="Cambria Math" panose="02040503050406030204" pitchFamily="18" charset="0"/>
                            </a:rPr>
                            <m:t>cos</m:t>
                          </m:r>
                        </m:fName>
                        <m:e>
                          <m:r>
                            <a:rPr lang="sr-Latn-RS" i="1">
                              <a:latin typeface="Cambria Math" panose="02040503050406030204" pitchFamily="18" charset="0"/>
                              <a:ea typeface="Cambria Math" panose="02040503050406030204" pitchFamily="18" charset="0"/>
                            </a:rPr>
                            <m:t>𝜑</m:t>
                          </m:r>
                        </m:e>
                      </m:func>
                    </m:oMath>
                  </m:oMathPara>
                </a14:m>
                <a:endParaRPr lang="en-US" dirty="0"/>
              </a:p>
            </p:txBody>
          </p:sp>
        </mc:Choice>
        <mc:Fallback xmlns="">
          <p:sp>
            <p:nvSpPr>
              <p:cNvPr id="98" name="TextBox 97">
                <a:extLst>
                  <a:ext uri="{FF2B5EF4-FFF2-40B4-BE49-F238E27FC236}">
                    <a16:creationId xmlns:a16="http://schemas.microsoft.com/office/drawing/2014/main" id="{7B9530AA-6553-E24B-B517-ED125623FF5F}"/>
                  </a:ext>
                </a:extLst>
              </p:cNvPr>
              <p:cNvSpPr txBox="1">
                <a:spLocks noRot="1" noChangeAspect="1" noMove="1" noResize="1" noEditPoints="1" noAdjustHandles="1" noChangeArrowheads="1" noChangeShapeType="1" noTextEdit="1"/>
              </p:cNvSpPr>
              <p:nvPr/>
            </p:nvSpPr>
            <p:spPr>
              <a:xfrm>
                <a:off x="8502422" y="3212530"/>
                <a:ext cx="760272" cy="369332"/>
              </a:xfrm>
              <a:prstGeom prst="rect">
                <a:avLst/>
              </a:prstGeom>
              <a:blipFill>
                <a:blip r:embed="rId11"/>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367030FE-69EA-3345-BB91-B99BC7F074AA}"/>
                  </a:ext>
                </a:extLst>
              </p:cNvPr>
              <p:cNvSpPr txBox="1"/>
              <p:nvPr/>
            </p:nvSpPr>
            <p:spPr>
              <a:xfrm>
                <a:off x="9315581" y="2511314"/>
                <a:ext cx="84933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i="1">
                          <a:latin typeface="Cambria Math" panose="02040503050406030204" pitchFamily="18" charset="0"/>
                        </a:rPr>
                        <m:t>𝑖</m:t>
                      </m:r>
                      <m:func>
                        <m:funcPr>
                          <m:ctrlPr>
                            <a:rPr lang="en-ZA" i="1">
                              <a:latin typeface="Cambria Math" panose="02040503050406030204" pitchFamily="18" charset="0"/>
                            </a:rPr>
                          </m:ctrlPr>
                        </m:funcPr>
                        <m:fName>
                          <m:r>
                            <m:rPr>
                              <m:sty m:val="p"/>
                            </m:rPr>
                            <a:rPr lang="sr-Latn-RS">
                              <a:latin typeface="Cambria Math" panose="02040503050406030204" pitchFamily="18" charset="0"/>
                            </a:rPr>
                            <m:t>sin</m:t>
                          </m:r>
                        </m:fName>
                        <m:e>
                          <m:r>
                            <a:rPr lang="sr-Latn-RS" i="1">
                              <a:latin typeface="Cambria Math" panose="02040503050406030204" pitchFamily="18" charset="0"/>
                              <a:ea typeface="Cambria Math" panose="02040503050406030204" pitchFamily="18" charset="0"/>
                            </a:rPr>
                            <m:t>𝜑</m:t>
                          </m:r>
                        </m:e>
                      </m:func>
                    </m:oMath>
                  </m:oMathPara>
                </a14:m>
                <a:endParaRPr lang="en-US" dirty="0"/>
              </a:p>
            </p:txBody>
          </p:sp>
        </mc:Choice>
        <mc:Fallback xmlns="">
          <p:sp>
            <p:nvSpPr>
              <p:cNvPr id="99" name="TextBox 98">
                <a:extLst>
                  <a:ext uri="{FF2B5EF4-FFF2-40B4-BE49-F238E27FC236}">
                    <a16:creationId xmlns:a16="http://schemas.microsoft.com/office/drawing/2014/main" id="{367030FE-69EA-3345-BB91-B99BC7F074AA}"/>
                  </a:ext>
                </a:extLst>
              </p:cNvPr>
              <p:cNvSpPr txBox="1">
                <a:spLocks noRot="1" noChangeAspect="1" noMove="1" noResize="1" noEditPoints="1" noAdjustHandles="1" noChangeArrowheads="1" noChangeShapeType="1" noTextEdit="1"/>
              </p:cNvSpPr>
              <p:nvPr/>
            </p:nvSpPr>
            <p:spPr>
              <a:xfrm>
                <a:off x="9315581" y="2511314"/>
                <a:ext cx="849335" cy="369332"/>
              </a:xfrm>
              <a:prstGeom prst="rect">
                <a:avLst/>
              </a:prstGeom>
              <a:blipFill>
                <a:blip r:embed="rId12"/>
                <a:stretch>
                  <a:fillRect b="-3333"/>
                </a:stretch>
              </a:blipFill>
            </p:spPr>
            <p:txBody>
              <a:bodyPr/>
              <a:lstStyle/>
              <a:p>
                <a:r>
                  <a:rPr lang="en-US">
                    <a:noFill/>
                  </a:rPr>
                  <a:t> </a:t>
                </a:r>
              </a:p>
            </p:txBody>
          </p:sp>
        </mc:Fallback>
      </mc:AlternateContent>
      <p:sp>
        <p:nvSpPr>
          <p:cNvPr id="100" name="Arc 99">
            <a:extLst>
              <a:ext uri="{FF2B5EF4-FFF2-40B4-BE49-F238E27FC236}">
                <a16:creationId xmlns:a16="http://schemas.microsoft.com/office/drawing/2014/main" id="{0A636B1D-F45C-4048-9327-8D576D40384E}"/>
              </a:ext>
            </a:extLst>
          </p:cNvPr>
          <p:cNvSpPr/>
          <p:nvPr/>
        </p:nvSpPr>
        <p:spPr>
          <a:xfrm rot="20673070">
            <a:off x="8618013" y="2761735"/>
            <a:ext cx="244306" cy="492484"/>
          </a:xfrm>
          <a:prstGeom prst="arc">
            <a:avLst>
              <a:gd name="adj1" fmla="val 16417421"/>
              <a:gd name="adj2" fmla="val 502780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C3A600DB-F02D-2742-917B-656E4C4B0151}"/>
                  </a:ext>
                </a:extLst>
              </p:cNvPr>
              <p:cNvSpPr/>
              <p:nvPr/>
            </p:nvSpPr>
            <p:spPr>
              <a:xfrm>
                <a:off x="8311461" y="2304237"/>
                <a:ext cx="562846" cy="37824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ZA" i="1">
                              <a:latin typeface="Cambria Math" panose="02040503050406030204" pitchFamily="18" charset="0"/>
                            </a:rPr>
                          </m:ctrlPr>
                        </m:sSupPr>
                        <m:e>
                          <m:r>
                            <a:rPr lang="sr-Latn-RS" i="1">
                              <a:latin typeface="Cambria Math" panose="02040503050406030204" pitchFamily="18" charset="0"/>
                            </a:rPr>
                            <m:t>𝑒</m:t>
                          </m:r>
                        </m:e>
                        <m:sup>
                          <m:r>
                            <a:rPr lang="sr-Latn-RS" i="1">
                              <a:latin typeface="Cambria Math" panose="02040503050406030204" pitchFamily="18" charset="0"/>
                            </a:rPr>
                            <m:t>𝑖</m:t>
                          </m:r>
                          <m:r>
                            <a:rPr lang="sr-Latn-RS" i="1">
                              <a:latin typeface="Cambria Math" panose="02040503050406030204" pitchFamily="18" charset="0"/>
                              <a:ea typeface="Cambria Math" panose="02040503050406030204" pitchFamily="18" charset="0"/>
                            </a:rPr>
                            <m:t>𝜑</m:t>
                          </m:r>
                        </m:sup>
                      </m:sSup>
                    </m:oMath>
                  </m:oMathPara>
                </a14:m>
                <a:endParaRPr lang="en-US" dirty="0"/>
              </a:p>
            </p:txBody>
          </p:sp>
        </mc:Choice>
        <mc:Fallback xmlns="">
          <p:sp>
            <p:nvSpPr>
              <p:cNvPr id="5" name="Rectangle 4">
                <a:extLst>
                  <a:ext uri="{FF2B5EF4-FFF2-40B4-BE49-F238E27FC236}">
                    <a16:creationId xmlns:a16="http://schemas.microsoft.com/office/drawing/2014/main" id="{C3A600DB-F02D-2742-917B-656E4C4B0151}"/>
                  </a:ext>
                </a:extLst>
              </p:cNvPr>
              <p:cNvSpPr>
                <a:spLocks noRot="1" noChangeAspect="1" noMove="1" noResize="1" noEditPoints="1" noAdjustHandles="1" noChangeArrowheads="1" noChangeShapeType="1" noTextEdit="1"/>
              </p:cNvSpPr>
              <p:nvPr/>
            </p:nvSpPr>
            <p:spPr>
              <a:xfrm>
                <a:off x="8311461" y="2304237"/>
                <a:ext cx="562846" cy="378245"/>
              </a:xfrm>
              <a:prstGeom prst="rect">
                <a:avLst/>
              </a:prstGeom>
              <a:blipFill>
                <a:blip r:embed="rId13"/>
                <a:stretch>
                  <a:fillRect/>
                </a:stretch>
              </a:blipFill>
            </p:spPr>
            <p:txBody>
              <a:bodyPr/>
              <a:lstStyle/>
              <a:p>
                <a:r>
                  <a:rPr lang="en-US">
                    <a:noFill/>
                  </a:rPr>
                  <a:t> </a:t>
                </a:r>
              </a:p>
            </p:txBody>
          </p:sp>
        </mc:Fallback>
      </mc:AlternateContent>
      <p:sp>
        <p:nvSpPr>
          <p:cNvPr id="12" name="Arc 11">
            <a:extLst>
              <a:ext uri="{FF2B5EF4-FFF2-40B4-BE49-F238E27FC236}">
                <a16:creationId xmlns:a16="http://schemas.microsoft.com/office/drawing/2014/main" id="{CA85671A-A53C-D141-ACC3-9824718CBC7C}"/>
              </a:ext>
            </a:extLst>
          </p:cNvPr>
          <p:cNvSpPr>
            <a:spLocks noChangeAspect="1"/>
          </p:cNvSpPr>
          <p:nvPr/>
        </p:nvSpPr>
        <p:spPr>
          <a:xfrm>
            <a:off x="6354902" y="1497953"/>
            <a:ext cx="3600000" cy="3600000"/>
          </a:xfrm>
          <a:prstGeom prst="arc">
            <a:avLst>
              <a:gd name="adj1" fmla="val 16224575"/>
              <a:gd name="adj2" fmla="val 2150667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09" name="Group 208">
            <a:extLst>
              <a:ext uri="{FF2B5EF4-FFF2-40B4-BE49-F238E27FC236}">
                <a16:creationId xmlns:a16="http://schemas.microsoft.com/office/drawing/2014/main" id="{2A75F4FB-D553-864F-A82B-18EFCC0E7CCC}"/>
              </a:ext>
            </a:extLst>
          </p:cNvPr>
          <p:cNvGrpSpPr/>
          <p:nvPr/>
        </p:nvGrpSpPr>
        <p:grpSpPr>
          <a:xfrm>
            <a:off x="-848167" y="4085618"/>
            <a:ext cx="13038269" cy="3589111"/>
            <a:chOff x="-848167" y="4085618"/>
            <a:chExt cx="13038269" cy="3589111"/>
          </a:xfrm>
        </p:grpSpPr>
        <mc:AlternateContent xmlns:mc="http://schemas.openxmlformats.org/markup-compatibility/2006" xmlns:a14="http://schemas.microsoft.com/office/drawing/2010/main">
          <mc:Choice Requires="a14">
            <p:sp>
              <p:nvSpPr>
                <p:cNvPr id="133" name="TextBox 132">
                  <a:extLst>
                    <a:ext uri="{FF2B5EF4-FFF2-40B4-BE49-F238E27FC236}">
                      <a16:creationId xmlns:a16="http://schemas.microsoft.com/office/drawing/2014/main" id="{7A9D58DA-9266-0C4E-8851-4983D2A40838}"/>
                    </a:ext>
                  </a:extLst>
                </p:cNvPr>
                <p:cNvSpPr txBox="1"/>
                <p:nvPr/>
              </p:nvSpPr>
              <p:spPr>
                <a:xfrm>
                  <a:off x="237379" y="4261917"/>
                  <a:ext cx="2062616" cy="530145"/>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sr-Latn-RS" sz="1400" i="1" smtClean="0">
                            <a:latin typeface="Cambria Math" panose="02040503050406030204" pitchFamily="18" charset="0"/>
                            <a:ea typeface="Cambria Math" panose="02040503050406030204" pitchFamily="18" charset="0"/>
                          </a:rPr>
                          <m:t>𝜑</m:t>
                        </m:r>
                        <m:r>
                          <a:rPr lang="en-US" sz="1400" b="0" i="1" smtClean="0">
                            <a:latin typeface="Cambria Math" panose="02040503050406030204" pitchFamily="18" charset="0"/>
                            <a:ea typeface="Cambria Math" panose="02040503050406030204" pitchFamily="18" charset="0"/>
                          </a:rPr>
                          <m:t>=0</m:t>
                        </m:r>
                      </m:oMath>
                    </m:oMathPara>
                  </a14:m>
                  <a:endParaRPr lang="en-US" sz="1400" b="0" dirty="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ZA" sz="1400" i="1">
                                <a:latin typeface="Cambria Math" panose="02040503050406030204" pitchFamily="18" charset="0"/>
                              </a:rPr>
                            </m:ctrlPr>
                          </m:sSupPr>
                          <m:e>
                            <m:r>
                              <a:rPr lang="sr-Latn-RS" sz="1400" i="1">
                                <a:latin typeface="Cambria Math" panose="02040503050406030204" pitchFamily="18" charset="0"/>
                              </a:rPr>
                              <m:t>𝑒</m:t>
                            </m:r>
                          </m:e>
                          <m:sup>
                            <m:r>
                              <a:rPr lang="sr-Latn-RS" sz="1400" i="1">
                                <a:latin typeface="Cambria Math" panose="02040503050406030204" pitchFamily="18" charset="0"/>
                              </a:rPr>
                              <m:t>𝑖</m:t>
                            </m:r>
                            <m:r>
                              <a:rPr lang="en-US" sz="1400" b="0" i="1" smtClean="0">
                                <a:latin typeface="Cambria Math" panose="02040503050406030204" pitchFamily="18" charset="0"/>
                              </a:rPr>
                              <m:t>0</m:t>
                            </m:r>
                          </m:sup>
                        </m:sSup>
                        <m:r>
                          <a:rPr lang="sr-Latn-RS" sz="1400" i="1">
                            <a:latin typeface="Cambria Math" panose="02040503050406030204" pitchFamily="18" charset="0"/>
                          </a:rPr>
                          <m:t>=</m:t>
                        </m:r>
                        <m:func>
                          <m:funcPr>
                            <m:ctrlPr>
                              <a:rPr lang="en-ZA" sz="1400" i="1">
                                <a:latin typeface="Cambria Math" panose="02040503050406030204" pitchFamily="18" charset="0"/>
                              </a:rPr>
                            </m:ctrlPr>
                          </m:funcPr>
                          <m:fName>
                            <m:r>
                              <m:rPr>
                                <m:sty m:val="p"/>
                              </m:rPr>
                              <a:rPr lang="sr-Latn-RS" sz="1400">
                                <a:latin typeface="Cambria Math" panose="02040503050406030204" pitchFamily="18" charset="0"/>
                              </a:rPr>
                              <m:t>cos</m:t>
                            </m:r>
                          </m:fName>
                          <m:e>
                            <m:r>
                              <a:rPr lang="en-US" sz="1400" b="0" i="1" smtClean="0">
                                <a:latin typeface="Cambria Math" panose="02040503050406030204" pitchFamily="18" charset="0"/>
                              </a:rPr>
                              <m:t>0</m:t>
                            </m:r>
                          </m:e>
                        </m:func>
                        <m:r>
                          <a:rPr lang="en-US" sz="1400" b="0" i="1" smtClean="0">
                            <a:latin typeface="Cambria Math" panose="02040503050406030204" pitchFamily="18" charset="0"/>
                            <a:ea typeface="Cambria Math" panose="02040503050406030204" pitchFamily="18" charset="0"/>
                          </a:rPr>
                          <m:t>+</m:t>
                        </m:r>
                        <m:r>
                          <a:rPr lang="sr-Latn-RS" sz="1400" i="1">
                            <a:latin typeface="Cambria Math" panose="02040503050406030204" pitchFamily="18" charset="0"/>
                          </a:rPr>
                          <m:t>𝑖</m:t>
                        </m:r>
                        <m:func>
                          <m:funcPr>
                            <m:ctrlPr>
                              <a:rPr lang="en-ZA" sz="1400" i="1">
                                <a:latin typeface="Cambria Math" panose="02040503050406030204" pitchFamily="18" charset="0"/>
                              </a:rPr>
                            </m:ctrlPr>
                          </m:funcPr>
                          <m:fName>
                            <m:r>
                              <m:rPr>
                                <m:sty m:val="p"/>
                              </m:rPr>
                              <a:rPr lang="sr-Latn-RS" sz="1400">
                                <a:latin typeface="Cambria Math" panose="02040503050406030204" pitchFamily="18" charset="0"/>
                              </a:rPr>
                              <m:t>sin</m:t>
                            </m:r>
                          </m:fName>
                          <m:e>
                            <m:r>
                              <a:rPr lang="en-US" sz="1400" b="0" i="1" smtClean="0">
                                <a:latin typeface="Cambria Math" panose="02040503050406030204" pitchFamily="18" charset="0"/>
                              </a:rPr>
                              <m:t>0=1</m:t>
                            </m:r>
                          </m:e>
                        </m:func>
                      </m:oMath>
                    </m:oMathPara>
                  </a14:m>
                  <a:endParaRPr lang="en-US" sz="1400" dirty="0">
                    <a:ea typeface="Cambria Math" panose="02040503050406030204" pitchFamily="18" charset="0"/>
                  </a:endParaRPr>
                </a:p>
              </p:txBody>
            </p:sp>
          </mc:Choice>
          <mc:Fallback xmlns="">
            <p:sp>
              <p:nvSpPr>
                <p:cNvPr id="133" name="TextBox 132">
                  <a:extLst>
                    <a:ext uri="{FF2B5EF4-FFF2-40B4-BE49-F238E27FC236}">
                      <a16:creationId xmlns:a16="http://schemas.microsoft.com/office/drawing/2014/main" id="{7A9D58DA-9266-0C4E-8851-4983D2A40838}"/>
                    </a:ext>
                  </a:extLst>
                </p:cNvPr>
                <p:cNvSpPr txBox="1">
                  <a:spLocks noRot="1" noChangeAspect="1" noMove="1" noResize="1" noEditPoints="1" noAdjustHandles="1" noChangeArrowheads="1" noChangeShapeType="1" noTextEdit="1"/>
                </p:cNvSpPr>
                <p:nvPr/>
              </p:nvSpPr>
              <p:spPr>
                <a:xfrm>
                  <a:off x="237379" y="4261917"/>
                  <a:ext cx="2062616" cy="530145"/>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TextBox 138">
                  <a:extLst>
                    <a:ext uri="{FF2B5EF4-FFF2-40B4-BE49-F238E27FC236}">
                      <a16:creationId xmlns:a16="http://schemas.microsoft.com/office/drawing/2014/main" id="{BF6447D4-6C5C-3F43-8BFC-DE2FA253C487}"/>
                    </a:ext>
                  </a:extLst>
                </p:cNvPr>
                <p:cNvSpPr txBox="1"/>
                <p:nvPr/>
              </p:nvSpPr>
              <p:spPr>
                <a:xfrm>
                  <a:off x="3154298" y="4146500"/>
                  <a:ext cx="2625142" cy="760978"/>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sr-Latn-RS" sz="1400" i="1" smtClean="0">
                            <a:latin typeface="Cambria Math" panose="02040503050406030204" pitchFamily="18" charset="0"/>
                            <a:ea typeface="Cambria Math" panose="02040503050406030204" pitchFamily="18" charset="0"/>
                          </a:rPr>
                          <m:t>𝜑</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𝜋</m:t>
                        </m:r>
                        <m:r>
                          <a:rPr lang="en-US" sz="1400" b="0" i="1" smtClean="0">
                            <a:latin typeface="Cambria Math" panose="02040503050406030204" pitchFamily="18" charset="0"/>
                            <a:ea typeface="Cambria Math" panose="02040503050406030204" pitchFamily="18" charset="0"/>
                          </a:rPr>
                          <m:t>/6</m:t>
                        </m:r>
                      </m:oMath>
                    </m:oMathPara>
                  </a14:m>
                  <a:endParaRPr lang="en-US" sz="1400" b="0" dirty="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ZA" sz="1400" i="1">
                                <a:latin typeface="Cambria Math" panose="02040503050406030204" pitchFamily="18" charset="0"/>
                              </a:rPr>
                            </m:ctrlPr>
                          </m:sSupPr>
                          <m:e>
                            <m:r>
                              <a:rPr lang="sr-Latn-RS" sz="1400" i="1">
                                <a:latin typeface="Cambria Math" panose="02040503050406030204" pitchFamily="18" charset="0"/>
                              </a:rPr>
                              <m:t>𝑒</m:t>
                            </m:r>
                          </m:e>
                          <m:sup>
                            <m:r>
                              <a:rPr lang="sr-Latn-RS" sz="1400" i="1">
                                <a:latin typeface="Cambria Math" panose="02040503050406030204" pitchFamily="18" charset="0"/>
                              </a:rPr>
                              <m:t>𝑖</m:t>
                            </m:r>
                            <m:f>
                              <m:fPr>
                                <m:ctrlPr>
                                  <a:rPr lang="sr-Latn-R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i="1">
                                    <a:latin typeface="Cambria Math" panose="02040503050406030204" pitchFamily="18" charset="0"/>
                                  </a:rPr>
                                  <m:t>6</m:t>
                                </m:r>
                              </m:den>
                            </m:f>
                          </m:sup>
                        </m:sSup>
                        <m:r>
                          <a:rPr lang="sr-Latn-RS" sz="1400" i="1">
                            <a:latin typeface="Cambria Math" panose="02040503050406030204" pitchFamily="18" charset="0"/>
                          </a:rPr>
                          <m:t>=</m:t>
                        </m:r>
                        <m:func>
                          <m:funcPr>
                            <m:ctrlPr>
                              <a:rPr lang="en-ZA" sz="1400" i="1">
                                <a:latin typeface="Cambria Math" panose="02040503050406030204" pitchFamily="18" charset="0"/>
                              </a:rPr>
                            </m:ctrlPr>
                          </m:funcPr>
                          <m:fName>
                            <m:r>
                              <m:rPr>
                                <m:sty m:val="p"/>
                              </m:rPr>
                              <a:rPr lang="sr-Latn-RS" sz="1400">
                                <a:latin typeface="Cambria Math" panose="02040503050406030204" pitchFamily="18" charset="0"/>
                              </a:rPr>
                              <m:t>cos</m:t>
                            </m:r>
                          </m:fName>
                          <m:e>
                            <m:f>
                              <m:fPr>
                                <m:ctrlPr>
                                  <a:rPr lang="sr-Latn-RS" sz="1400" i="1" smtClean="0">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b="0" i="1" smtClean="0">
                                    <a:latin typeface="Cambria Math" panose="02040503050406030204" pitchFamily="18" charset="0"/>
                                  </a:rPr>
                                  <m:t>6</m:t>
                                </m:r>
                              </m:den>
                            </m:f>
                          </m:e>
                        </m:func>
                        <m:r>
                          <a:rPr lang="en-US" sz="1400" b="0" i="1" smtClean="0">
                            <a:latin typeface="Cambria Math" panose="02040503050406030204" pitchFamily="18" charset="0"/>
                            <a:ea typeface="Cambria Math" panose="02040503050406030204" pitchFamily="18" charset="0"/>
                          </a:rPr>
                          <m:t>+</m:t>
                        </m:r>
                        <m:r>
                          <a:rPr lang="sr-Latn-RS" sz="1400" i="1">
                            <a:latin typeface="Cambria Math" panose="02040503050406030204" pitchFamily="18" charset="0"/>
                          </a:rPr>
                          <m:t>𝑖</m:t>
                        </m:r>
                        <m:func>
                          <m:funcPr>
                            <m:ctrlPr>
                              <a:rPr lang="en-ZA" sz="1400" i="1">
                                <a:latin typeface="Cambria Math" panose="02040503050406030204" pitchFamily="18" charset="0"/>
                              </a:rPr>
                            </m:ctrlPr>
                          </m:funcPr>
                          <m:fName>
                            <m:r>
                              <m:rPr>
                                <m:sty m:val="p"/>
                              </m:rPr>
                              <a:rPr lang="sr-Latn-RS" sz="1400">
                                <a:latin typeface="Cambria Math" panose="02040503050406030204" pitchFamily="18" charset="0"/>
                              </a:rPr>
                              <m:t>sin</m:t>
                            </m:r>
                          </m:fName>
                          <m:e>
                            <m:f>
                              <m:fPr>
                                <m:ctrlPr>
                                  <a:rPr lang="sr-Latn-R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b="0" i="1" smtClean="0">
                                    <a:latin typeface="Cambria Math" panose="02040503050406030204" pitchFamily="18" charset="0"/>
                                  </a:rPr>
                                  <m:t>6</m:t>
                                </m:r>
                              </m:den>
                            </m:f>
                          </m:e>
                        </m:func>
                        <m:r>
                          <a:rPr lang="en-US" sz="1400" b="0" i="1" smtClean="0">
                            <a:latin typeface="Cambria Math" panose="02040503050406030204" pitchFamily="18" charset="0"/>
                            <a:ea typeface="Cambria Math" panose="02040503050406030204" pitchFamily="18" charset="0"/>
                          </a:rPr>
                          <m:t>=</m:t>
                        </m:r>
                        <m:f>
                          <m:fPr>
                            <m:ctrlPr>
                              <a:rPr lang="sr-Latn-RS" sz="1400" i="1">
                                <a:latin typeface="Cambria Math" panose="02040503050406030204" pitchFamily="18" charset="0"/>
                              </a:rPr>
                            </m:ctrlPr>
                          </m:fPr>
                          <m:num>
                            <m:rad>
                              <m:radPr>
                                <m:degHide m:val="on"/>
                                <m:ctrlPr>
                                  <a:rPr lang="en-US" sz="1400" i="1">
                                    <a:latin typeface="Cambria Math" panose="02040503050406030204" pitchFamily="18" charset="0"/>
                                    <a:ea typeface="Cambria Math" panose="02040503050406030204" pitchFamily="18" charset="0"/>
                                  </a:rPr>
                                </m:ctrlPr>
                              </m:radPr>
                              <m:deg/>
                              <m:e>
                                <m:r>
                                  <a:rPr lang="en-US" sz="1400" b="0" i="1" smtClean="0">
                                    <a:latin typeface="Cambria Math" panose="02040503050406030204" pitchFamily="18" charset="0"/>
                                    <a:ea typeface="Cambria Math" panose="02040503050406030204" pitchFamily="18" charset="0"/>
                                  </a:rPr>
                                  <m:t>3</m:t>
                                </m:r>
                              </m:e>
                            </m:rad>
                          </m:num>
                          <m:den>
                            <m:r>
                              <a:rPr lang="en-US" sz="1400" b="0" i="1" smtClean="0">
                                <a:latin typeface="Cambria Math" panose="02040503050406030204" pitchFamily="18" charset="0"/>
                              </a:rPr>
                              <m:t>2</m:t>
                            </m:r>
                          </m:den>
                        </m:f>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𝑖</m:t>
                        </m:r>
                        <m:f>
                          <m:fPr>
                            <m:ctrlPr>
                              <a:rPr lang="sr-Latn-RS" sz="1400" i="1">
                                <a:latin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1</m:t>
                            </m:r>
                          </m:num>
                          <m:den>
                            <m:r>
                              <a:rPr lang="en-US" sz="1400" i="1">
                                <a:latin typeface="Cambria Math" panose="02040503050406030204" pitchFamily="18" charset="0"/>
                              </a:rPr>
                              <m:t>2</m:t>
                            </m:r>
                          </m:den>
                        </m:f>
                      </m:oMath>
                    </m:oMathPara>
                  </a14:m>
                  <a:endParaRPr lang="en-US" sz="1400" dirty="0">
                    <a:ea typeface="Cambria Math" panose="02040503050406030204" pitchFamily="18" charset="0"/>
                  </a:endParaRPr>
                </a:p>
              </p:txBody>
            </p:sp>
          </mc:Choice>
          <mc:Fallback xmlns="">
            <p:sp>
              <p:nvSpPr>
                <p:cNvPr id="139" name="TextBox 138">
                  <a:extLst>
                    <a:ext uri="{FF2B5EF4-FFF2-40B4-BE49-F238E27FC236}">
                      <a16:creationId xmlns:a16="http://schemas.microsoft.com/office/drawing/2014/main" id="{BF6447D4-6C5C-3F43-8BFC-DE2FA253C487}"/>
                    </a:ext>
                  </a:extLst>
                </p:cNvPr>
                <p:cNvSpPr txBox="1">
                  <a:spLocks noRot="1" noChangeAspect="1" noMove="1" noResize="1" noEditPoints="1" noAdjustHandles="1" noChangeArrowheads="1" noChangeShapeType="1" noTextEdit="1"/>
                </p:cNvSpPr>
                <p:nvPr/>
              </p:nvSpPr>
              <p:spPr>
                <a:xfrm>
                  <a:off x="3154298" y="4146500"/>
                  <a:ext cx="2625142" cy="760978"/>
                </a:xfrm>
                <a:prstGeom prst="rect">
                  <a:avLst/>
                </a:prstGeom>
                <a:blipFill>
                  <a:blip r:embed="rId15"/>
                  <a:stretch>
                    <a:fillRect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9" name="TextBox 148">
                  <a:extLst>
                    <a:ext uri="{FF2B5EF4-FFF2-40B4-BE49-F238E27FC236}">
                      <a16:creationId xmlns:a16="http://schemas.microsoft.com/office/drawing/2014/main" id="{DE6BDE3D-5C69-E24B-8418-BD15FE961870}"/>
                    </a:ext>
                  </a:extLst>
                </p:cNvPr>
                <p:cNvSpPr txBox="1"/>
                <p:nvPr/>
              </p:nvSpPr>
              <p:spPr>
                <a:xfrm>
                  <a:off x="6633743" y="4150604"/>
                  <a:ext cx="2743059" cy="752770"/>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sr-Latn-RS" sz="1400" i="1" smtClean="0">
                            <a:latin typeface="Cambria Math" panose="02040503050406030204" pitchFamily="18" charset="0"/>
                            <a:ea typeface="Cambria Math" panose="02040503050406030204" pitchFamily="18" charset="0"/>
                          </a:rPr>
                          <m:t>𝜑</m:t>
                        </m:r>
                        <m:r>
                          <a:rPr lang="en-US" sz="1400" b="0" i="1" smtClean="0">
                            <a:latin typeface="Cambria Math" panose="02040503050406030204" pitchFamily="18" charset="0"/>
                            <a:ea typeface="Cambria Math" panose="02040503050406030204" pitchFamily="18" charset="0"/>
                          </a:rPr>
                          <m:t>=</m:t>
                        </m:r>
                        <m:r>
                          <a:rPr lang="en-US" sz="1400" i="1">
                            <a:latin typeface="Cambria Math" panose="02040503050406030204" pitchFamily="18" charset="0"/>
                            <a:ea typeface="Cambria Math" panose="02040503050406030204" pitchFamily="18" charset="0"/>
                          </a:rPr>
                          <m:t>𝜋</m:t>
                        </m:r>
                        <m:r>
                          <a:rPr lang="en-US" sz="1400" i="1">
                            <a:latin typeface="Cambria Math" panose="02040503050406030204" pitchFamily="18" charset="0"/>
                            <a:ea typeface="Cambria Math" panose="02040503050406030204" pitchFamily="18" charset="0"/>
                          </a:rPr>
                          <m:t>/4</m:t>
                        </m:r>
                      </m:oMath>
                    </m:oMathPara>
                  </a14:m>
                  <a:endParaRPr lang="en-US" sz="1400" b="0" dirty="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ZA" sz="1400" i="1">
                                <a:latin typeface="Cambria Math" panose="02040503050406030204" pitchFamily="18" charset="0"/>
                              </a:rPr>
                            </m:ctrlPr>
                          </m:sSupPr>
                          <m:e>
                            <m:r>
                              <a:rPr lang="sr-Latn-RS" sz="1400" i="1">
                                <a:latin typeface="Cambria Math" panose="02040503050406030204" pitchFamily="18" charset="0"/>
                              </a:rPr>
                              <m:t>𝑒</m:t>
                            </m:r>
                          </m:e>
                          <m:sup>
                            <m:r>
                              <a:rPr lang="sr-Latn-RS" sz="1400" i="1">
                                <a:latin typeface="Cambria Math" panose="02040503050406030204" pitchFamily="18" charset="0"/>
                              </a:rPr>
                              <m:t>𝑖</m:t>
                            </m:r>
                            <m:f>
                              <m:fPr>
                                <m:ctrlPr>
                                  <a:rPr lang="sr-Latn-R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i="1">
                                    <a:latin typeface="Cambria Math" panose="02040503050406030204" pitchFamily="18" charset="0"/>
                                    <a:ea typeface="Cambria Math" panose="02040503050406030204" pitchFamily="18" charset="0"/>
                                  </a:rPr>
                                  <m:t>4</m:t>
                                </m:r>
                              </m:den>
                            </m:f>
                          </m:sup>
                        </m:sSup>
                        <m:r>
                          <a:rPr lang="en-US" sz="1400" b="0" i="1" smtClean="0">
                            <a:latin typeface="Cambria Math" panose="02040503050406030204" pitchFamily="18" charset="0"/>
                            <a:ea typeface="Cambria Math" panose="02040503050406030204" pitchFamily="18" charset="0"/>
                          </a:rPr>
                          <m:t>=</m:t>
                        </m:r>
                        <m:func>
                          <m:funcPr>
                            <m:ctrlPr>
                              <a:rPr lang="en-ZA" sz="1400" i="1">
                                <a:latin typeface="Cambria Math" panose="02040503050406030204" pitchFamily="18" charset="0"/>
                              </a:rPr>
                            </m:ctrlPr>
                          </m:funcPr>
                          <m:fName>
                            <m:r>
                              <m:rPr>
                                <m:sty m:val="p"/>
                              </m:rPr>
                              <a:rPr lang="sr-Latn-RS" sz="1400">
                                <a:latin typeface="Cambria Math" panose="02040503050406030204" pitchFamily="18" charset="0"/>
                              </a:rPr>
                              <m:t>cos</m:t>
                            </m:r>
                          </m:fName>
                          <m:e>
                            <m:f>
                              <m:fPr>
                                <m:ctrlPr>
                                  <a:rPr lang="sr-Latn-R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b="0" i="1" smtClean="0">
                                    <a:latin typeface="Cambria Math" panose="02040503050406030204" pitchFamily="18" charset="0"/>
                                    <a:ea typeface="Cambria Math" panose="02040503050406030204" pitchFamily="18" charset="0"/>
                                  </a:rPr>
                                  <m:t>4</m:t>
                                </m:r>
                              </m:den>
                            </m:f>
                          </m:e>
                        </m:func>
                        <m:r>
                          <a:rPr lang="en-US" sz="1400" b="0" i="1" smtClean="0">
                            <a:latin typeface="Cambria Math" panose="02040503050406030204" pitchFamily="18" charset="0"/>
                            <a:ea typeface="Cambria Math" panose="02040503050406030204" pitchFamily="18" charset="0"/>
                          </a:rPr>
                          <m:t>+</m:t>
                        </m:r>
                        <m:r>
                          <a:rPr lang="sr-Latn-RS" sz="1400" i="1">
                            <a:latin typeface="Cambria Math" panose="02040503050406030204" pitchFamily="18" charset="0"/>
                          </a:rPr>
                          <m:t>𝑖</m:t>
                        </m:r>
                        <m:func>
                          <m:funcPr>
                            <m:ctrlPr>
                              <a:rPr lang="en-ZA" sz="1400" i="1">
                                <a:latin typeface="Cambria Math" panose="02040503050406030204" pitchFamily="18" charset="0"/>
                              </a:rPr>
                            </m:ctrlPr>
                          </m:funcPr>
                          <m:fName>
                            <m:r>
                              <m:rPr>
                                <m:sty m:val="p"/>
                              </m:rPr>
                              <a:rPr lang="sr-Latn-RS" sz="1400">
                                <a:latin typeface="Cambria Math" panose="02040503050406030204" pitchFamily="18" charset="0"/>
                              </a:rPr>
                              <m:t>sin</m:t>
                            </m:r>
                          </m:fName>
                          <m:e>
                            <m:f>
                              <m:fPr>
                                <m:ctrlPr>
                                  <a:rPr lang="sr-Latn-R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b="0" i="1" smtClean="0">
                                    <a:latin typeface="Cambria Math" panose="02040503050406030204" pitchFamily="18" charset="0"/>
                                    <a:ea typeface="Cambria Math" panose="02040503050406030204" pitchFamily="18" charset="0"/>
                                  </a:rPr>
                                  <m:t>4</m:t>
                                </m:r>
                              </m:den>
                            </m:f>
                            <m:r>
                              <a:rPr lang="en-US" sz="1400" b="0" i="1" smtClean="0">
                                <a:latin typeface="Cambria Math" panose="02040503050406030204" pitchFamily="18" charset="0"/>
                              </a:rPr>
                              <m:t>=</m:t>
                            </m:r>
                            <m:f>
                              <m:fPr>
                                <m:ctrlPr>
                                  <a:rPr lang="sr-Latn-RS" sz="1400" i="1">
                                    <a:latin typeface="Cambria Math" panose="02040503050406030204" pitchFamily="18" charset="0"/>
                                  </a:rPr>
                                </m:ctrlPr>
                              </m:fPr>
                              <m:num>
                                <m:r>
                                  <a:rPr lang="en-US" sz="1400" b="0" i="1" smtClean="0">
                                    <a:latin typeface="Cambria Math" panose="02040503050406030204" pitchFamily="18" charset="0"/>
                                  </a:rPr>
                                  <m:t>1</m:t>
                                </m:r>
                              </m:num>
                              <m:den>
                                <m:rad>
                                  <m:radPr>
                                    <m:degHide m:val="on"/>
                                    <m:ctrlPr>
                                      <a:rPr lang="en-US" sz="1400" i="1" smtClean="0">
                                        <a:latin typeface="Cambria Math" panose="02040503050406030204" pitchFamily="18" charset="0"/>
                                        <a:ea typeface="Cambria Math" panose="02040503050406030204" pitchFamily="18" charset="0"/>
                                      </a:rPr>
                                    </m:ctrlPr>
                                  </m:radPr>
                                  <m:deg/>
                                  <m:e>
                                    <m:r>
                                      <a:rPr lang="en-US" sz="1400" b="0" i="1" smtClean="0">
                                        <a:latin typeface="Cambria Math" panose="02040503050406030204" pitchFamily="18" charset="0"/>
                                        <a:ea typeface="Cambria Math" panose="02040503050406030204" pitchFamily="18" charset="0"/>
                                      </a:rPr>
                                      <m:t>2</m:t>
                                    </m:r>
                                  </m:e>
                                </m:rad>
                              </m:den>
                            </m:f>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𝑖</m:t>
                            </m:r>
                            <m:f>
                              <m:fPr>
                                <m:ctrlPr>
                                  <a:rPr lang="sr-Latn-RS" sz="1400" i="1">
                                    <a:latin typeface="Cambria Math" panose="02040503050406030204" pitchFamily="18" charset="0"/>
                                  </a:rPr>
                                </m:ctrlPr>
                              </m:fPr>
                              <m:num>
                                <m:r>
                                  <a:rPr lang="en-US" sz="1400" i="1">
                                    <a:latin typeface="Cambria Math" panose="02040503050406030204" pitchFamily="18" charset="0"/>
                                  </a:rPr>
                                  <m:t>1</m:t>
                                </m:r>
                              </m:num>
                              <m:den>
                                <m:rad>
                                  <m:radPr>
                                    <m:degHide m:val="on"/>
                                    <m:ctrlPr>
                                      <a:rPr lang="en-US" sz="1400" i="1">
                                        <a:latin typeface="Cambria Math" panose="02040503050406030204" pitchFamily="18" charset="0"/>
                                        <a:ea typeface="Cambria Math" panose="02040503050406030204" pitchFamily="18" charset="0"/>
                                      </a:rPr>
                                    </m:ctrlPr>
                                  </m:radPr>
                                  <m:deg/>
                                  <m:e>
                                    <m:r>
                                      <a:rPr lang="en-US" sz="1400" i="1">
                                        <a:latin typeface="Cambria Math" panose="02040503050406030204" pitchFamily="18" charset="0"/>
                                        <a:ea typeface="Cambria Math" panose="02040503050406030204" pitchFamily="18" charset="0"/>
                                      </a:rPr>
                                      <m:t>2</m:t>
                                    </m:r>
                                  </m:e>
                                </m:rad>
                              </m:den>
                            </m:f>
                          </m:e>
                        </m:func>
                      </m:oMath>
                    </m:oMathPara>
                  </a14:m>
                  <a:endParaRPr lang="en-US" sz="1400" dirty="0">
                    <a:ea typeface="Cambria Math" panose="02040503050406030204" pitchFamily="18" charset="0"/>
                  </a:endParaRPr>
                </a:p>
              </p:txBody>
            </p:sp>
          </mc:Choice>
          <mc:Fallback xmlns="">
            <p:sp>
              <p:nvSpPr>
                <p:cNvPr id="149" name="TextBox 148">
                  <a:extLst>
                    <a:ext uri="{FF2B5EF4-FFF2-40B4-BE49-F238E27FC236}">
                      <a16:creationId xmlns:a16="http://schemas.microsoft.com/office/drawing/2014/main" id="{DE6BDE3D-5C69-E24B-8418-BD15FE961870}"/>
                    </a:ext>
                  </a:extLst>
                </p:cNvPr>
                <p:cNvSpPr txBox="1">
                  <a:spLocks noRot="1" noChangeAspect="1" noMove="1" noResize="1" noEditPoints="1" noAdjustHandles="1" noChangeArrowheads="1" noChangeShapeType="1" noTextEdit="1"/>
                </p:cNvSpPr>
                <p:nvPr/>
              </p:nvSpPr>
              <p:spPr>
                <a:xfrm>
                  <a:off x="6633743" y="4150604"/>
                  <a:ext cx="2743059" cy="75277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9" name="TextBox 158">
                  <a:extLst>
                    <a:ext uri="{FF2B5EF4-FFF2-40B4-BE49-F238E27FC236}">
                      <a16:creationId xmlns:a16="http://schemas.microsoft.com/office/drawing/2014/main" id="{ECAE1B11-BE94-EC45-A5FD-A791C88C5342}"/>
                    </a:ext>
                  </a:extLst>
                </p:cNvPr>
                <p:cNvSpPr txBox="1"/>
                <p:nvPr/>
              </p:nvSpPr>
              <p:spPr>
                <a:xfrm>
                  <a:off x="10126011" y="4186223"/>
                  <a:ext cx="2064091" cy="681533"/>
                </a:xfrm>
                <a:prstGeom prst="rect">
                  <a:avLst/>
                </a:prstGeom>
                <a:noFill/>
              </p:spPr>
              <p:txBody>
                <a:bodyPr wrap="none" rtlCol="0">
                  <a:spAutoFit/>
                </a:bodyPr>
                <a:lstStyle/>
                <a:p>
                  <a:pPr/>
                  <a14:m>
                    <m:oMathPara xmlns:m="http://schemas.openxmlformats.org/officeDocument/2006/math">
                      <m:oMathParaPr>
                        <m:jc m:val="left"/>
                      </m:oMathParaPr>
                      <m:oMath xmlns:m="http://schemas.openxmlformats.org/officeDocument/2006/math">
                        <m:r>
                          <a:rPr lang="sr-Latn-RS" sz="1400" i="1" smtClean="0">
                            <a:latin typeface="Cambria Math" panose="02040503050406030204" pitchFamily="18" charset="0"/>
                            <a:ea typeface="Cambria Math" panose="02040503050406030204" pitchFamily="18" charset="0"/>
                          </a:rPr>
                          <m:t>𝜑</m:t>
                        </m:r>
                        <m:r>
                          <a:rPr lang="en-US" sz="1400" b="0" i="1" smtClean="0">
                            <a:latin typeface="Cambria Math" panose="02040503050406030204" pitchFamily="18" charset="0"/>
                            <a:ea typeface="Cambria Math" panose="02040503050406030204" pitchFamily="18" charset="0"/>
                          </a:rPr>
                          <m:t>=</m:t>
                        </m:r>
                        <m:r>
                          <a:rPr lang="en-US" sz="1400" i="1">
                            <a:latin typeface="Cambria Math" panose="02040503050406030204" pitchFamily="18" charset="0"/>
                            <a:ea typeface="Cambria Math" panose="02040503050406030204" pitchFamily="18" charset="0"/>
                          </a:rPr>
                          <m:t>𝜋</m:t>
                        </m:r>
                        <m:r>
                          <a:rPr lang="en-US" sz="1400" i="1">
                            <a:latin typeface="Cambria Math" panose="02040503050406030204" pitchFamily="18" charset="0"/>
                            <a:ea typeface="Cambria Math" panose="02040503050406030204" pitchFamily="18" charset="0"/>
                          </a:rPr>
                          <m:t>/2</m:t>
                        </m:r>
                      </m:oMath>
                    </m:oMathPara>
                  </a14:m>
                  <a:endParaRPr lang="en-US" sz="1400" b="0" dirty="0">
                    <a:ea typeface="Cambria Math" panose="02040503050406030204" pitchFamily="18" charset="0"/>
                  </a:endParaRPr>
                </a:p>
                <a:p>
                  <a:pPr/>
                  <a14:m>
                    <m:oMathPara xmlns:m="http://schemas.openxmlformats.org/officeDocument/2006/math">
                      <m:oMathParaPr>
                        <m:jc m:val="left"/>
                      </m:oMathParaPr>
                      <m:oMath xmlns:m="http://schemas.openxmlformats.org/officeDocument/2006/math">
                        <m:sSup>
                          <m:sSupPr>
                            <m:ctrlPr>
                              <a:rPr lang="en-ZA" sz="1400" i="1">
                                <a:latin typeface="Cambria Math" panose="02040503050406030204" pitchFamily="18" charset="0"/>
                              </a:rPr>
                            </m:ctrlPr>
                          </m:sSupPr>
                          <m:e>
                            <m:r>
                              <a:rPr lang="sr-Latn-RS" sz="1400" i="1">
                                <a:latin typeface="Cambria Math" panose="02040503050406030204" pitchFamily="18" charset="0"/>
                              </a:rPr>
                              <m:t>𝑒</m:t>
                            </m:r>
                          </m:e>
                          <m:sup>
                            <m:r>
                              <a:rPr lang="sr-Latn-RS" sz="1400" i="1">
                                <a:latin typeface="Cambria Math" panose="02040503050406030204" pitchFamily="18" charset="0"/>
                              </a:rPr>
                              <m:t>𝑖</m:t>
                            </m:r>
                            <m:f>
                              <m:fPr>
                                <m:ctrlPr>
                                  <a:rPr lang="sr-Latn-R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b="0" i="1" smtClean="0">
                                    <a:latin typeface="Cambria Math" panose="02040503050406030204" pitchFamily="18" charset="0"/>
                                    <a:ea typeface="Cambria Math" panose="02040503050406030204" pitchFamily="18" charset="0"/>
                                  </a:rPr>
                                  <m:t>2</m:t>
                                </m:r>
                              </m:den>
                            </m:f>
                          </m:sup>
                        </m:sSup>
                        <m:r>
                          <a:rPr lang="sr-Latn-RS" sz="1400" i="1">
                            <a:latin typeface="Cambria Math" panose="02040503050406030204" pitchFamily="18" charset="0"/>
                          </a:rPr>
                          <m:t>=</m:t>
                        </m:r>
                        <m:func>
                          <m:funcPr>
                            <m:ctrlPr>
                              <a:rPr lang="en-ZA" sz="1400" i="1">
                                <a:latin typeface="Cambria Math" panose="02040503050406030204" pitchFamily="18" charset="0"/>
                              </a:rPr>
                            </m:ctrlPr>
                          </m:funcPr>
                          <m:fName>
                            <m:r>
                              <m:rPr>
                                <m:sty m:val="p"/>
                              </m:rPr>
                              <a:rPr lang="sr-Latn-RS" sz="1400">
                                <a:latin typeface="Cambria Math" panose="02040503050406030204" pitchFamily="18" charset="0"/>
                              </a:rPr>
                              <m:t>cos</m:t>
                            </m:r>
                          </m:fName>
                          <m:e>
                            <m:f>
                              <m:fPr>
                                <m:ctrlPr>
                                  <a:rPr lang="sr-Latn-R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b="0" i="1" smtClean="0">
                                    <a:latin typeface="Cambria Math" panose="02040503050406030204" pitchFamily="18" charset="0"/>
                                    <a:ea typeface="Cambria Math" panose="02040503050406030204" pitchFamily="18" charset="0"/>
                                  </a:rPr>
                                  <m:t>2</m:t>
                                </m:r>
                              </m:den>
                            </m:f>
                          </m:e>
                        </m:func>
                        <m:r>
                          <a:rPr lang="en-US" sz="1400" b="0" i="1" smtClean="0">
                            <a:latin typeface="Cambria Math" panose="02040503050406030204" pitchFamily="18" charset="0"/>
                            <a:ea typeface="Cambria Math" panose="02040503050406030204" pitchFamily="18" charset="0"/>
                          </a:rPr>
                          <m:t>+</m:t>
                        </m:r>
                        <m:r>
                          <a:rPr lang="sr-Latn-RS" sz="1400" i="1">
                            <a:latin typeface="Cambria Math" panose="02040503050406030204" pitchFamily="18" charset="0"/>
                          </a:rPr>
                          <m:t>𝑖</m:t>
                        </m:r>
                        <m:func>
                          <m:funcPr>
                            <m:ctrlPr>
                              <a:rPr lang="en-ZA" sz="1400" i="1">
                                <a:latin typeface="Cambria Math" panose="02040503050406030204" pitchFamily="18" charset="0"/>
                              </a:rPr>
                            </m:ctrlPr>
                          </m:funcPr>
                          <m:fName>
                            <m:r>
                              <m:rPr>
                                <m:sty m:val="p"/>
                              </m:rPr>
                              <a:rPr lang="sr-Latn-RS" sz="1400">
                                <a:latin typeface="Cambria Math" panose="02040503050406030204" pitchFamily="18" charset="0"/>
                              </a:rPr>
                              <m:t>sin</m:t>
                            </m:r>
                          </m:fName>
                          <m:e>
                            <m:f>
                              <m:fPr>
                                <m:ctrlPr>
                                  <a:rPr lang="sr-Latn-RS" sz="1400" i="1">
                                    <a:latin typeface="Cambria Math" panose="02040503050406030204" pitchFamily="18" charset="0"/>
                                  </a:rPr>
                                </m:ctrlPr>
                              </m:fPr>
                              <m:num>
                                <m:r>
                                  <a:rPr lang="en-US" sz="1400" i="1">
                                    <a:latin typeface="Cambria Math" panose="02040503050406030204" pitchFamily="18" charset="0"/>
                                    <a:ea typeface="Cambria Math" panose="02040503050406030204" pitchFamily="18" charset="0"/>
                                  </a:rPr>
                                  <m:t>𝜋</m:t>
                                </m:r>
                              </m:num>
                              <m:den>
                                <m:r>
                                  <a:rPr lang="en-US" sz="1400" i="1">
                                    <a:latin typeface="Cambria Math" panose="02040503050406030204" pitchFamily="18" charset="0"/>
                                    <a:ea typeface="Cambria Math" panose="02040503050406030204" pitchFamily="18" charset="0"/>
                                  </a:rPr>
                                  <m:t>2</m:t>
                                </m:r>
                              </m:den>
                            </m:f>
                            <m:r>
                              <a:rPr lang="en-US" sz="1400" b="0" i="1" smtClean="0">
                                <a:latin typeface="Cambria Math" panose="02040503050406030204" pitchFamily="18" charset="0"/>
                              </a:rPr>
                              <m:t>=</m:t>
                            </m:r>
                            <m:r>
                              <a:rPr lang="en-US" sz="1400" b="0" i="1" smtClean="0">
                                <a:latin typeface="Cambria Math" panose="02040503050406030204" pitchFamily="18" charset="0"/>
                              </a:rPr>
                              <m:t>𝑖</m:t>
                            </m:r>
                          </m:e>
                        </m:func>
                      </m:oMath>
                    </m:oMathPara>
                  </a14:m>
                  <a:endParaRPr lang="en-US" sz="1400" dirty="0">
                    <a:ea typeface="Cambria Math" panose="02040503050406030204" pitchFamily="18" charset="0"/>
                  </a:endParaRPr>
                </a:p>
              </p:txBody>
            </p:sp>
          </mc:Choice>
          <mc:Fallback xmlns="">
            <p:sp>
              <p:nvSpPr>
                <p:cNvPr id="159" name="TextBox 158">
                  <a:extLst>
                    <a:ext uri="{FF2B5EF4-FFF2-40B4-BE49-F238E27FC236}">
                      <a16:creationId xmlns:a16="http://schemas.microsoft.com/office/drawing/2014/main" id="{ECAE1B11-BE94-EC45-A5FD-A791C88C5342}"/>
                    </a:ext>
                  </a:extLst>
                </p:cNvPr>
                <p:cNvSpPr txBox="1">
                  <a:spLocks noRot="1" noChangeAspect="1" noMove="1" noResize="1" noEditPoints="1" noAdjustHandles="1" noChangeArrowheads="1" noChangeShapeType="1" noTextEdit="1"/>
                </p:cNvSpPr>
                <p:nvPr/>
              </p:nvSpPr>
              <p:spPr>
                <a:xfrm>
                  <a:off x="10126011" y="4186223"/>
                  <a:ext cx="2064091" cy="681533"/>
                </a:xfrm>
                <a:prstGeom prst="rect">
                  <a:avLst/>
                </a:prstGeom>
                <a:blipFill>
                  <a:blip r:embed="rId17"/>
                  <a:stretch>
                    <a:fillRect b="-1852"/>
                  </a:stretch>
                </a:blipFill>
              </p:spPr>
              <p:txBody>
                <a:bodyPr/>
                <a:lstStyle/>
                <a:p>
                  <a:r>
                    <a:rPr lang="en-US">
                      <a:noFill/>
                    </a:rPr>
                    <a:t> </a:t>
                  </a:r>
                </a:p>
              </p:txBody>
            </p:sp>
          </mc:Fallback>
        </mc:AlternateContent>
        <p:grpSp>
          <p:nvGrpSpPr>
            <p:cNvPr id="206" name="Group 205">
              <a:extLst>
                <a:ext uri="{FF2B5EF4-FFF2-40B4-BE49-F238E27FC236}">
                  <a16:creationId xmlns:a16="http://schemas.microsoft.com/office/drawing/2014/main" id="{630A9D85-C7D6-1B4A-8122-7F161B44EAC6}"/>
                </a:ext>
              </a:extLst>
            </p:cNvPr>
            <p:cNvGrpSpPr/>
            <p:nvPr/>
          </p:nvGrpSpPr>
          <p:grpSpPr>
            <a:xfrm>
              <a:off x="2495059" y="4761353"/>
              <a:ext cx="2960429" cy="2913376"/>
              <a:chOff x="2761313" y="4861637"/>
              <a:chExt cx="2960429" cy="2913376"/>
            </a:xfrm>
          </p:grpSpPr>
          <p:cxnSp>
            <p:nvCxnSpPr>
              <p:cNvPr id="140" name="Straight Arrow Connector 139">
                <a:extLst>
                  <a:ext uri="{FF2B5EF4-FFF2-40B4-BE49-F238E27FC236}">
                    <a16:creationId xmlns:a16="http://schemas.microsoft.com/office/drawing/2014/main" id="{55B2CBD4-6140-0648-B592-88FAB8B3D313}"/>
                  </a:ext>
                </a:extLst>
              </p:cNvPr>
              <p:cNvCxnSpPr>
                <a:cxnSpLocks/>
              </p:cNvCxnSpPr>
              <p:nvPr/>
            </p:nvCxnSpPr>
            <p:spPr>
              <a:xfrm flipH="1" flipV="1">
                <a:off x="4094159" y="4861637"/>
                <a:ext cx="0" cy="1871882"/>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840CD6AF-A5BD-2B48-BCC1-7EB799EC9896}"/>
                  </a:ext>
                </a:extLst>
              </p:cNvPr>
              <p:cNvCxnSpPr>
                <a:cxnSpLocks/>
              </p:cNvCxnSpPr>
              <p:nvPr/>
            </p:nvCxnSpPr>
            <p:spPr>
              <a:xfrm>
                <a:off x="3759983" y="6408330"/>
                <a:ext cx="1961759"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2" name="TextBox 141">
                <a:extLst>
                  <a:ext uri="{FF2B5EF4-FFF2-40B4-BE49-F238E27FC236}">
                    <a16:creationId xmlns:a16="http://schemas.microsoft.com/office/drawing/2014/main" id="{D77158EC-0A27-B64E-98AC-E2239B24F1B9}"/>
                  </a:ext>
                </a:extLst>
              </p:cNvPr>
              <p:cNvSpPr txBox="1"/>
              <p:nvPr/>
            </p:nvSpPr>
            <p:spPr>
              <a:xfrm>
                <a:off x="3812432" y="6438862"/>
                <a:ext cx="301686" cy="307777"/>
              </a:xfrm>
              <a:prstGeom prst="rect">
                <a:avLst/>
              </a:prstGeom>
              <a:noFill/>
            </p:spPr>
            <p:txBody>
              <a:bodyPr wrap="none" rtlCol="0">
                <a:spAutoFit/>
              </a:bodyPr>
              <a:lstStyle/>
              <a:p>
                <a:r>
                  <a:rPr lang="en-US" sz="1400" dirty="0">
                    <a:latin typeface="+mj-lt"/>
                  </a:rPr>
                  <a:t>O</a:t>
                </a:r>
              </a:p>
            </p:txBody>
          </p:sp>
          <p:cxnSp>
            <p:nvCxnSpPr>
              <p:cNvPr id="144" name="Straight Connector 143">
                <a:extLst>
                  <a:ext uri="{FF2B5EF4-FFF2-40B4-BE49-F238E27FC236}">
                    <a16:creationId xmlns:a16="http://schemas.microsoft.com/office/drawing/2014/main" id="{513DD584-0110-9E47-BA0E-8B868D498494}"/>
                  </a:ext>
                </a:extLst>
              </p:cNvPr>
              <p:cNvCxnSpPr>
                <a:cxnSpLocks/>
              </p:cNvCxnSpPr>
              <p:nvPr/>
            </p:nvCxnSpPr>
            <p:spPr>
              <a:xfrm>
                <a:off x="5413555" y="6335161"/>
                <a:ext cx="0" cy="19892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5" name="Rectangle 144">
                    <a:extLst>
                      <a:ext uri="{FF2B5EF4-FFF2-40B4-BE49-F238E27FC236}">
                        <a16:creationId xmlns:a16="http://schemas.microsoft.com/office/drawing/2014/main" id="{DD72A556-D377-FC4A-9208-9CCDDCA0E60E}"/>
                      </a:ext>
                    </a:extLst>
                  </p:cNvPr>
                  <p:cNvSpPr/>
                  <p:nvPr/>
                </p:nvSpPr>
                <p:spPr>
                  <a:xfrm>
                    <a:off x="5272568" y="6487707"/>
                    <a:ext cx="324127"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lumMod val="50000"/>
                                </a:schemeClr>
                              </a:solidFill>
                              <a:latin typeface="Cambria Math" panose="02040503050406030204" pitchFamily="18" charset="0"/>
                            </a:rPr>
                            <m:t>1</m:t>
                          </m:r>
                        </m:oMath>
                      </m:oMathPara>
                    </a14:m>
                    <a:endParaRPr lang="en-US" sz="1400" dirty="0">
                      <a:solidFill>
                        <a:schemeClr val="bg1">
                          <a:lumMod val="50000"/>
                        </a:schemeClr>
                      </a:solidFill>
                    </a:endParaRPr>
                  </a:p>
                </p:txBody>
              </p:sp>
            </mc:Choice>
            <mc:Fallback xmlns="">
              <p:sp>
                <p:nvSpPr>
                  <p:cNvPr id="145" name="Rectangle 144">
                    <a:extLst>
                      <a:ext uri="{FF2B5EF4-FFF2-40B4-BE49-F238E27FC236}">
                        <a16:creationId xmlns:a16="http://schemas.microsoft.com/office/drawing/2014/main" id="{DD72A556-D377-FC4A-9208-9CCDDCA0E60E}"/>
                      </a:ext>
                    </a:extLst>
                  </p:cNvPr>
                  <p:cNvSpPr>
                    <a:spLocks noRot="1" noChangeAspect="1" noMove="1" noResize="1" noEditPoints="1" noAdjustHandles="1" noChangeArrowheads="1" noChangeShapeType="1" noTextEdit="1"/>
                  </p:cNvSpPr>
                  <p:nvPr/>
                </p:nvSpPr>
                <p:spPr>
                  <a:xfrm>
                    <a:off x="5272568" y="6487707"/>
                    <a:ext cx="324127" cy="307777"/>
                  </a:xfrm>
                  <a:prstGeom prst="rect">
                    <a:avLst/>
                  </a:prstGeom>
                  <a:blipFill>
                    <a:blip r:embed="rId18"/>
                    <a:stretch>
                      <a:fillRect/>
                    </a:stretch>
                  </a:blipFill>
                </p:spPr>
                <p:txBody>
                  <a:bodyPr/>
                  <a:lstStyle/>
                  <a:p>
                    <a:r>
                      <a:rPr lang="en-US">
                        <a:noFill/>
                      </a:rPr>
                      <a:t> </a:t>
                    </a:r>
                  </a:p>
                </p:txBody>
              </p:sp>
            </mc:Fallback>
          </mc:AlternateContent>
          <p:cxnSp>
            <p:nvCxnSpPr>
              <p:cNvPr id="146" name="Straight Connector 145">
                <a:extLst>
                  <a:ext uri="{FF2B5EF4-FFF2-40B4-BE49-F238E27FC236}">
                    <a16:creationId xmlns:a16="http://schemas.microsoft.com/office/drawing/2014/main" id="{1F96E722-1469-7C4B-AB10-B56813CD6BDE}"/>
                  </a:ext>
                </a:extLst>
              </p:cNvPr>
              <p:cNvCxnSpPr>
                <a:cxnSpLocks/>
              </p:cNvCxnSpPr>
              <p:nvPr/>
            </p:nvCxnSpPr>
            <p:spPr>
              <a:xfrm rot="16200000">
                <a:off x="4102741" y="5020130"/>
                <a:ext cx="0" cy="19892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7" name="Rectangle 146">
                    <a:extLst>
                      <a:ext uri="{FF2B5EF4-FFF2-40B4-BE49-F238E27FC236}">
                        <a16:creationId xmlns:a16="http://schemas.microsoft.com/office/drawing/2014/main" id="{4E8DE3E1-795B-CC49-8FAC-102228875EB4}"/>
                      </a:ext>
                    </a:extLst>
                  </p:cNvPr>
                  <p:cNvSpPr/>
                  <p:nvPr/>
                </p:nvSpPr>
                <p:spPr>
                  <a:xfrm>
                    <a:off x="3717034" y="4997239"/>
                    <a:ext cx="286552"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lumMod val="50000"/>
                                </a:schemeClr>
                              </a:solidFill>
                              <a:latin typeface="Cambria Math" panose="02040503050406030204" pitchFamily="18" charset="0"/>
                            </a:rPr>
                            <m:t>𝑖</m:t>
                          </m:r>
                        </m:oMath>
                      </m:oMathPara>
                    </a14:m>
                    <a:endParaRPr lang="en-US" sz="1400" dirty="0">
                      <a:solidFill>
                        <a:schemeClr val="bg1">
                          <a:lumMod val="50000"/>
                        </a:schemeClr>
                      </a:solidFill>
                    </a:endParaRPr>
                  </a:p>
                </p:txBody>
              </p:sp>
            </mc:Choice>
            <mc:Fallback xmlns="">
              <p:sp>
                <p:nvSpPr>
                  <p:cNvPr id="147" name="Rectangle 146">
                    <a:extLst>
                      <a:ext uri="{FF2B5EF4-FFF2-40B4-BE49-F238E27FC236}">
                        <a16:creationId xmlns:a16="http://schemas.microsoft.com/office/drawing/2014/main" id="{4E8DE3E1-795B-CC49-8FAC-102228875EB4}"/>
                      </a:ext>
                    </a:extLst>
                  </p:cNvPr>
                  <p:cNvSpPr>
                    <a:spLocks noRot="1" noChangeAspect="1" noMove="1" noResize="1" noEditPoints="1" noAdjustHandles="1" noChangeArrowheads="1" noChangeShapeType="1" noTextEdit="1"/>
                  </p:cNvSpPr>
                  <p:nvPr/>
                </p:nvSpPr>
                <p:spPr>
                  <a:xfrm>
                    <a:off x="3717034" y="4997239"/>
                    <a:ext cx="286552" cy="307777"/>
                  </a:xfrm>
                  <a:prstGeom prst="rect">
                    <a:avLst/>
                  </a:prstGeom>
                  <a:blipFill>
                    <a:blip r:embed="rId19"/>
                    <a:stretch>
                      <a:fillRect/>
                    </a:stretch>
                  </a:blipFill>
                </p:spPr>
                <p:txBody>
                  <a:bodyPr/>
                  <a:lstStyle/>
                  <a:p>
                    <a:r>
                      <a:rPr lang="en-US">
                        <a:noFill/>
                      </a:rPr>
                      <a:t> </a:t>
                    </a:r>
                  </a:p>
                </p:txBody>
              </p:sp>
            </mc:Fallback>
          </mc:AlternateContent>
          <p:sp>
            <p:nvSpPr>
              <p:cNvPr id="148" name="Arc 147">
                <a:extLst>
                  <a:ext uri="{FF2B5EF4-FFF2-40B4-BE49-F238E27FC236}">
                    <a16:creationId xmlns:a16="http://schemas.microsoft.com/office/drawing/2014/main" id="{182174A9-E0B7-074A-A30E-56D753AC31C7}"/>
                  </a:ext>
                </a:extLst>
              </p:cNvPr>
              <p:cNvSpPr>
                <a:spLocks noChangeAspect="1"/>
              </p:cNvSpPr>
              <p:nvPr/>
            </p:nvSpPr>
            <p:spPr>
              <a:xfrm>
                <a:off x="2761313" y="5123825"/>
                <a:ext cx="2651188" cy="2651188"/>
              </a:xfrm>
              <a:prstGeom prst="arc">
                <a:avLst>
                  <a:gd name="adj1" fmla="val 16224575"/>
                  <a:gd name="adj2" fmla="val 2150667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69" name="TextBox 168">
                    <a:extLst>
                      <a:ext uri="{FF2B5EF4-FFF2-40B4-BE49-F238E27FC236}">
                        <a16:creationId xmlns:a16="http://schemas.microsoft.com/office/drawing/2014/main" id="{08CB8A4F-34FB-1646-B0B6-00C37C19D6D3}"/>
                      </a:ext>
                    </a:extLst>
                  </p:cNvPr>
                  <p:cNvSpPr txBox="1"/>
                  <p:nvPr/>
                </p:nvSpPr>
                <p:spPr>
                  <a:xfrm>
                    <a:off x="4327424" y="6129243"/>
                    <a:ext cx="350417" cy="3077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1400" i="1" smtClean="0">
                              <a:latin typeface="Cambria Math" panose="02040503050406030204" pitchFamily="18" charset="0"/>
                              <a:ea typeface="Cambria Math" panose="02040503050406030204" pitchFamily="18" charset="0"/>
                            </a:rPr>
                            <m:t>𝜑</m:t>
                          </m:r>
                        </m:oMath>
                      </m:oMathPara>
                    </a14:m>
                    <a:endParaRPr lang="en-US" sz="1400" dirty="0"/>
                  </a:p>
                </p:txBody>
              </p:sp>
            </mc:Choice>
            <mc:Fallback xmlns="">
              <p:sp>
                <p:nvSpPr>
                  <p:cNvPr id="169" name="TextBox 168">
                    <a:extLst>
                      <a:ext uri="{FF2B5EF4-FFF2-40B4-BE49-F238E27FC236}">
                        <a16:creationId xmlns:a16="http://schemas.microsoft.com/office/drawing/2014/main" id="{08CB8A4F-34FB-1646-B0B6-00C37C19D6D3}"/>
                      </a:ext>
                    </a:extLst>
                  </p:cNvPr>
                  <p:cNvSpPr txBox="1">
                    <a:spLocks noRot="1" noChangeAspect="1" noMove="1" noResize="1" noEditPoints="1" noAdjustHandles="1" noChangeArrowheads="1" noChangeShapeType="1" noTextEdit="1"/>
                  </p:cNvSpPr>
                  <p:nvPr/>
                </p:nvSpPr>
                <p:spPr>
                  <a:xfrm>
                    <a:off x="4327424" y="6129243"/>
                    <a:ext cx="350417" cy="307777"/>
                  </a:xfrm>
                  <a:prstGeom prst="rect">
                    <a:avLst/>
                  </a:prstGeom>
                  <a:blipFill>
                    <a:blip r:embed="rId20"/>
                    <a:stretch>
                      <a:fillRect/>
                    </a:stretch>
                  </a:blipFill>
                </p:spPr>
                <p:txBody>
                  <a:bodyPr/>
                  <a:lstStyle/>
                  <a:p>
                    <a:r>
                      <a:rPr lang="en-US">
                        <a:noFill/>
                      </a:rPr>
                      <a:t> </a:t>
                    </a:r>
                  </a:p>
                </p:txBody>
              </p:sp>
            </mc:Fallback>
          </mc:AlternateContent>
          <p:sp>
            <p:nvSpPr>
              <p:cNvPr id="170" name="Arc 169">
                <a:extLst>
                  <a:ext uri="{FF2B5EF4-FFF2-40B4-BE49-F238E27FC236}">
                    <a16:creationId xmlns:a16="http://schemas.microsoft.com/office/drawing/2014/main" id="{3BE18494-8DCF-9B47-8FD5-F7BF14CA0661}"/>
                  </a:ext>
                </a:extLst>
              </p:cNvPr>
              <p:cNvSpPr/>
              <p:nvPr/>
            </p:nvSpPr>
            <p:spPr>
              <a:xfrm rot="20673070">
                <a:off x="4440002" y="6000279"/>
                <a:ext cx="214604" cy="432609"/>
              </a:xfrm>
              <a:prstGeom prst="arc">
                <a:avLst>
                  <a:gd name="adj1" fmla="val 19315123"/>
                  <a:gd name="adj2" fmla="val 5027802"/>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cxnSp>
            <p:nvCxnSpPr>
              <p:cNvPr id="90" name="Straight Connector 89">
                <a:extLst>
                  <a:ext uri="{FF2B5EF4-FFF2-40B4-BE49-F238E27FC236}">
                    <a16:creationId xmlns:a16="http://schemas.microsoft.com/office/drawing/2014/main" id="{BA9E11BC-A882-5145-A291-CB5F4991CD10}"/>
                  </a:ext>
                </a:extLst>
              </p:cNvPr>
              <p:cNvCxnSpPr>
                <a:cxnSpLocks/>
              </p:cNvCxnSpPr>
              <p:nvPr/>
            </p:nvCxnSpPr>
            <p:spPr>
              <a:xfrm>
                <a:off x="5230837" y="5767522"/>
                <a:ext cx="0" cy="642802"/>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CBEC4766-6E4D-A243-99ED-0C9655F4530C}"/>
                  </a:ext>
                </a:extLst>
              </p:cNvPr>
              <p:cNvCxnSpPr>
                <a:cxnSpLocks/>
              </p:cNvCxnSpPr>
              <p:nvPr/>
            </p:nvCxnSpPr>
            <p:spPr>
              <a:xfrm>
                <a:off x="4090551" y="5766077"/>
                <a:ext cx="111189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C832F384-B71E-D748-B6DA-34C73DAA9FE6}"/>
                  </a:ext>
                </a:extLst>
              </p:cNvPr>
              <p:cNvCxnSpPr>
                <a:cxnSpLocks/>
              </p:cNvCxnSpPr>
              <p:nvPr/>
            </p:nvCxnSpPr>
            <p:spPr>
              <a:xfrm flipV="1">
                <a:off x="4098699" y="5756487"/>
                <a:ext cx="1132138" cy="649603"/>
              </a:xfrm>
              <a:prstGeom prst="straightConnector1">
                <a:avLst/>
              </a:prstGeom>
              <a:ln w="38100" cap="rnd">
                <a:solidFill>
                  <a:schemeClr val="accent5">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4" name="TextBox 173">
                    <a:extLst>
                      <a:ext uri="{FF2B5EF4-FFF2-40B4-BE49-F238E27FC236}">
                        <a16:creationId xmlns:a16="http://schemas.microsoft.com/office/drawing/2014/main" id="{E95E6E18-334D-4B44-9937-3859DA975F38}"/>
                      </a:ext>
                    </a:extLst>
                  </p:cNvPr>
                  <p:cNvSpPr txBox="1"/>
                  <p:nvPr/>
                </p:nvSpPr>
                <p:spPr>
                  <a:xfrm>
                    <a:off x="4992473" y="6379160"/>
                    <a:ext cx="442044" cy="54412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sr-Latn-RS" sz="1400" i="1">
                                  <a:latin typeface="Cambria Math" panose="02040503050406030204" pitchFamily="18" charset="0"/>
                                </a:rPr>
                              </m:ctrlPr>
                            </m:fPr>
                            <m:num>
                              <m:rad>
                                <m:radPr>
                                  <m:degHide m:val="on"/>
                                  <m:ctrlPr>
                                    <a:rPr lang="en-US" sz="1400" i="1" smtClean="0">
                                      <a:latin typeface="Cambria Math" panose="02040503050406030204" pitchFamily="18" charset="0"/>
                                      <a:ea typeface="Cambria Math" panose="02040503050406030204" pitchFamily="18" charset="0"/>
                                    </a:rPr>
                                  </m:ctrlPr>
                                </m:radPr>
                                <m:deg/>
                                <m:e>
                                  <m:r>
                                    <a:rPr lang="en-US" sz="1400" i="1">
                                      <a:latin typeface="Cambria Math" panose="02040503050406030204" pitchFamily="18" charset="0"/>
                                      <a:ea typeface="Cambria Math" panose="02040503050406030204" pitchFamily="18" charset="0"/>
                                    </a:rPr>
                                    <m:t>3</m:t>
                                  </m:r>
                                </m:e>
                              </m:rad>
                            </m:num>
                            <m:den>
                              <m:r>
                                <a:rPr lang="en-US" sz="1400" i="1">
                                  <a:latin typeface="Cambria Math" panose="02040503050406030204" pitchFamily="18" charset="0"/>
                                </a:rPr>
                                <m:t>2</m:t>
                              </m:r>
                            </m:den>
                          </m:f>
                        </m:oMath>
                      </m:oMathPara>
                    </a14:m>
                    <a:endParaRPr lang="en-US" sz="1400" dirty="0"/>
                  </a:p>
                </p:txBody>
              </p:sp>
            </mc:Choice>
            <mc:Fallback xmlns="">
              <p:sp>
                <p:nvSpPr>
                  <p:cNvPr id="174" name="TextBox 173">
                    <a:extLst>
                      <a:ext uri="{FF2B5EF4-FFF2-40B4-BE49-F238E27FC236}">
                        <a16:creationId xmlns:a16="http://schemas.microsoft.com/office/drawing/2014/main" id="{E95E6E18-334D-4B44-9937-3859DA975F38}"/>
                      </a:ext>
                    </a:extLst>
                  </p:cNvPr>
                  <p:cNvSpPr txBox="1">
                    <a:spLocks noRot="1" noChangeAspect="1" noMove="1" noResize="1" noEditPoints="1" noAdjustHandles="1" noChangeArrowheads="1" noChangeShapeType="1" noTextEdit="1"/>
                  </p:cNvSpPr>
                  <p:nvPr/>
                </p:nvSpPr>
                <p:spPr>
                  <a:xfrm>
                    <a:off x="4992473" y="6379160"/>
                    <a:ext cx="442044" cy="544123"/>
                  </a:xfrm>
                  <a:prstGeom prst="rect">
                    <a:avLst/>
                  </a:prstGeom>
                  <a:blipFill>
                    <a:blip r:embed="rId21"/>
                    <a:stretch>
                      <a:fillRect b="-2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5" name="TextBox 174">
                    <a:extLst>
                      <a:ext uri="{FF2B5EF4-FFF2-40B4-BE49-F238E27FC236}">
                        <a16:creationId xmlns:a16="http://schemas.microsoft.com/office/drawing/2014/main" id="{FBDF6BEF-D116-9C4A-ADB9-A0CDD02F1563}"/>
                      </a:ext>
                    </a:extLst>
                  </p:cNvPr>
                  <p:cNvSpPr txBox="1"/>
                  <p:nvPr/>
                </p:nvSpPr>
                <p:spPr>
                  <a:xfrm>
                    <a:off x="3669621" y="5511234"/>
                    <a:ext cx="324127" cy="49276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sr-Latn-RS" sz="1400" i="1" smtClean="0">
                                  <a:latin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𝑖</m:t>
                              </m:r>
                            </m:num>
                            <m:den>
                              <m:r>
                                <a:rPr lang="en-US" sz="1400" i="1">
                                  <a:latin typeface="Cambria Math" panose="02040503050406030204" pitchFamily="18" charset="0"/>
                                </a:rPr>
                                <m:t>2</m:t>
                              </m:r>
                            </m:den>
                          </m:f>
                        </m:oMath>
                      </m:oMathPara>
                    </a14:m>
                    <a:endParaRPr lang="en-US" sz="1400" dirty="0"/>
                  </a:p>
                </p:txBody>
              </p:sp>
            </mc:Choice>
            <mc:Fallback xmlns="">
              <p:sp>
                <p:nvSpPr>
                  <p:cNvPr id="175" name="TextBox 174">
                    <a:extLst>
                      <a:ext uri="{FF2B5EF4-FFF2-40B4-BE49-F238E27FC236}">
                        <a16:creationId xmlns:a16="http://schemas.microsoft.com/office/drawing/2014/main" id="{FBDF6BEF-D116-9C4A-ADB9-A0CDD02F1563}"/>
                      </a:ext>
                    </a:extLst>
                  </p:cNvPr>
                  <p:cNvSpPr txBox="1">
                    <a:spLocks noRot="1" noChangeAspect="1" noMove="1" noResize="1" noEditPoints="1" noAdjustHandles="1" noChangeArrowheads="1" noChangeShapeType="1" noTextEdit="1"/>
                  </p:cNvSpPr>
                  <p:nvPr/>
                </p:nvSpPr>
                <p:spPr>
                  <a:xfrm>
                    <a:off x="3669621" y="5511234"/>
                    <a:ext cx="324127" cy="492764"/>
                  </a:xfrm>
                  <a:prstGeom prst="rect">
                    <a:avLst/>
                  </a:prstGeom>
                  <a:blipFill>
                    <a:blip r:embed="rId22"/>
                    <a:stretch>
                      <a:fillRect b="-2500"/>
                    </a:stretch>
                  </a:blipFill>
                </p:spPr>
                <p:txBody>
                  <a:bodyPr/>
                  <a:lstStyle/>
                  <a:p>
                    <a:r>
                      <a:rPr lang="en-US">
                        <a:noFill/>
                      </a:rPr>
                      <a:t> </a:t>
                    </a:r>
                  </a:p>
                </p:txBody>
              </p:sp>
            </mc:Fallback>
          </mc:AlternateContent>
        </p:grpSp>
        <p:grpSp>
          <p:nvGrpSpPr>
            <p:cNvPr id="207" name="Group 206">
              <a:extLst>
                <a:ext uri="{FF2B5EF4-FFF2-40B4-BE49-F238E27FC236}">
                  <a16:creationId xmlns:a16="http://schemas.microsoft.com/office/drawing/2014/main" id="{3CFA8513-456B-B440-BBE1-F911F3FC6BE4}"/>
                </a:ext>
              </a:extLst>
            </p:cNvPr>
            <p:cNvGrpSpPr/>
            <p:nvPr/>
          </p:nvGrpSpPr>
          <p:grpSpPr>
            <a:xfrm>
              <a:off x="5782362" y="4761353"/>
              <a:ext cx="2960429" cy="2913376"/>
              <a:chOff x="5365535" y="4820547"/>
              <a:chExt cx="2960429" cy="2913376"/>
            </a:xfrm>
          </p:grpSpPr>
          <p:cxnSp>
            <p:nvCxnSpPr>
              <p:cNvPr id="150" name="Straight Arrow Connector 149">
                <a:extLst>
                  <a:ext uri="{FF2B5EF4-FFF2-40B4-BE49-F238E27FC236}">
                    <a16:creationId xmlns:a16="http://schemas.microsoft.com/office/drawing/2014/main" id="{415657BD-D065-9D4B-92D3-9847246C2F1E}"/>
                  </a:ext>
                </a:extLst>
              </p:cNvPr>
              <p:cNvCxnSpPr>
                <a:cxnSpLocks/>
              </p:cNvCxnSpPr>
              <p:nvPr/>
            </p:nvCxnSpPr>
            <p:spPr>
              <a:xfrm flipH="1" flipV="1">
                <a:off x="6698381" y="4820547"/>
                <a:ext cx="0" cy="1871882"/>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D4CFD8EC-6FF1-2941-A44F-771BBE9AD935}"/>
                  </a:ext>
                </a:extLst>
              </p:cNvPr>
              <p:cNvCxnSpPr>
                <a:cxnSpLocks/>
              </p:cNvCxnSpPr>
              <p:nvPr/>
            </p:nvCxnSpPr>
            <p:spPr>
              <a:xfrm>
                <a:off x="6364205" y="6367240"/>
                <a:ext cx="1961759"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2" name="TextBox 151">
                <a:extLst>
                  <a:ext uri="{FF2B5EF4-FFF2-40B4-BE49-F238E27FC236}">
                    <a16:creationId xmlns:a16="http://schemas.microsoft.com/office/drawing/2014/main" id="{F3B1A8F0-9B62-244A-BC29-06FD933E45F2}"/>
                  </a:ext>
                </a:extLst>
              </p:cNvPr>
              <p:cNvSpPr txBox="1"/>
              <p:nvPr/>
            </p:nvSpPr>
            <p:spPr>
              <a:xfrm>
                <a:off x="6416654" y="6397772"/>
                <a:ext cx="301686" cy="307777"/>
              </a:xfrm>
              <a:prstGeom prst="rect">
                <a:avLst/>
              </a:prstGeom>
              <a:noFill/>
            </p:spPr>
            <p:txBody>
              <a:bodyPr wrap="none" rtlCol="0">
                <a:spAutoFit/>
              </a:bodyPr>
              <a:lstStyle/>
              <a:p>
                <a:r>
                  <a:rPr lang="en-US" sz="1400" dirty="0">
                    <a:latin typeface="+mj-lt"/>
                  </a:rPr>
                  <a:t>O</a:t>
                </a:r>
              </a:p>
            </p:txBody>
          </p:sp>
          <p:cxnSp>
            <p:nvCxnSpPr>
              <p:cNvPr id="153" name="Straight Arrow Connector 152">
                <a:extLst>
                  <a:ext uri="{FF2B5EF4-FFF2-40B4-BE49-F238E27FC236}">
                    <a16:creationId xmlns:a16="http://schemas.microsoft.com/office/drawing/2014/main" id="{9D16A642-BD25-304D-9FE5-AE2A908C294D}"/>
                  </a:ext>
                </a:extLst>
              </p:cNvPr>
              <p:cNvCxnSpPr>
                <a:cxnSpLocks/>
              </p:cNvCxnSpPr>
              <p:nvPr/>
            </p:nvCxnSpPr>
            <p:spPr>
              <a:xfrm flipV="1">
                <a:off x="6712274" y="5450607"/>
                <a:ext cx="918787" cy="910906"/>
              </a:xfrm>
              <a:prstGeom prst="straightConnector1">
                <a:avLst/>
              </a:prstGeom>
              <a:ln w="38100" cap="rnd">
                <a:solidFill>
                  <a:schemeClr val="accent5">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49ABF301-B256-CD4D-A9AF-1691010257A9}"/>
                  </a:ext>
                </a:extLst>
              </p:cNvPr>
              <p:cNvCxnSpPr>
                <a:cxnSpLocks/>
              </p:cNvCxnSpPr>
              <p:nvPr/>
            </p:nvCxnSpPr>
            <p:spPr>
              <a:xfrm>
                <a:off x="8017778" y="6294071"/>
                <a:ext cx="0" cy="19892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5" name="Rectangle 154">
                    <a:extLst>
                      <a:ext uri="{FF2B5EF4-FFF2-40B4-BE49-F238E27FC236}">
                        <a16:creationId xmlns:a16="http://schemas.microsoft.com/office/drawing/2014/main" id="{28629628-0360-754E-8A1E-52738ABB266D}"/>
                      </a:ext>
                    </a:extLst>
                  </p:cNvPr>
                  <p:cNvSpPr/>
                  <p:nvPr/>
                </p:nvSpPr>
                <p:spPr>
                  <a:xfrm>
                    <a:off x="7876790" y="6446617"/>
                    <a:ext cx="324128"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lumMod val="50000"/>
                                </a:schemeClr>
                              </a:solidFill>
                              <a:latin typeface="Cambria Math" panose="02040503050406030204" pitchFamily="18" charset="0"/>
                            </a:rPr>
                            <m:t>1</m:t>
                          </m:r>
                        </m:oMath>
                      </m:oMathPara>
                    </a14:m>
                    <a:endParaRPr lang="en-US" sz="1400" dirty="0">
                      <a:solidFill>
                        <a:schemeClr val="bg1">
                          <a:lumMod val="50000"/>
                        </a:schemeClr>
                      </a:solidFill>
                    </a:endParaRPr>
                  </a:p>
                </p:txBody>
              </p:sp>
            </mc:Choice>
            <mc:Fallback xmlns="">
              <p:sp>
                <p:nvSpPr>
                  <p:cNvPr id="155" name="Rectangle 154">
                    <a:extLst>
                      <a:ext uri="{FF2B5EF4-FFF2-40B4-BE49-F238E27FC236}">
                        <a16:creationId xmlns:a16="http://schemas.microsoft.com/office/drawing/2014/main" id="{28629628-0360-754E-8A1E-52738ABB266D}"/>
                      </a:ext>
                    </a:extLst>
                  </p:cNvPr>
                  <p:cNvSpPr>
                    <a:spLocks noRot="1" noChangeAspect="1" noMove="1" noResize="1" noEditPoints="1" noAdjustHandles="1" noChangeArrowheads="1" noChangeShapeType="1" noTextEdit="1"/>
                  </p:cNvSpPr>
                  <p:nvPr/>
                </p:nvSpPr>
                <p:spPr>
                  <a:xfrm>
                    <a:off x="7876790" y="6446617"/>
                    <a:ext cx="324128" cy="307777"/>
                  </a:xfrm>
                  <a:prstGeom prst="rect">
                    <a:avLst/>
                  </a:prstGeom>
                  <a:blipFill>
                    <a:blip r:embed="rId18"/>
                    <a:stretch>
                      <a:fillRect/>
                    </a:stretch>
                  </a:blipFill>
                </p:spPr>
                <p:txBody>
                  <a:bodyPr/>
                  <a:lstStyle/>
                  <a:p>
                    <a:r>
                      <a:rPr lang="en-US">
                        <a:noFill/>
                      </a:rPr>
                      <a:t> </a:t>
                    </a:r>
                  </a:p>
                </p:txBody>
              </p:sp>
            </mc:Fallback>
          </mc:AlternateContent>
          <p:cxnSp>
            <p:nvCxnSpPr>
              <p:cNvPr id="156" name="Straight Connector 155">
                <a:extLst>
                  <a:ext uri="{FF2B5EF4-FFF2-40B4-BE49-F238E27FC236}">
                    <a16:creationId xmlns:a16="http://schemas.microsoft.com/office/drawing/2014/main" id="{1148383A-BC4B-224B-A395-45E457BB9539}"/>
                  </a:ext>
                </a:extLst>
              </p:cNvPr>
              <p:cNvCxnSpPr>
                <a:cxnSpLocks/>
              </p:cNvCxnSpPr>
              <p:nvPr/>
            </p:nvCxnSpPr>
            <p:spPr>
              <a:xfrm rot="16200000">
                <a:off x="6706964" y="4979040"/>
                <a:ext cx="0" cy="19892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7" name="Rectangle 156">
                    <a:extLst>
                      <a:ext uri="{FF2B5EF4-FFF2-40B4-BE49-F238E27FC236}">
                        <a16:creationId xmlns:a16="http://schemas.microsoft.com/office/drawing/2014/main" id="{B9BAB3CC-04C7-844A-BF11-4BD2341C7F48}"/>
                      </a:ext>
                    </a:extLst>
                  </p:cNvPr>
                  <p:cNvSpPr/>
                  <p:nvPr/>
                </p:nvSpPr>
                <p:spPr>
                  <a:xfrm>
                    <a:off x="6321257" y="4956149"/>
                    <a:ext cx="286553"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lumMod val="50000"/>
                                </a:schemeClr>
                              </a:solidFill>
                              <a:latin typeface="Cambria Math" panose="02040503050406030204" pitchFamily="18" charset="0"/>
                            </a:rPr>
                            <m:t>𝑖</m:t>
                          </m:r>
                        </m:oMath>
                      </m:oMathPara>
                    </a14:m>
                    <a:endParaRPr lang="en-US" sz="1400" dirty="0">
                      <a:solidFill>
                        <a:schemeClr val="bg1">
                          <a:lumMod val="50000"/>
                        </a:schemeClr>
                      </a:solidFill>
                    </a:endParaRPr>
                  </a:p>
                </p:txBody>
              </p:sp>
            </mc:Choice>
            <mc:Fallback xmlns="">
              <p:sp>
                <p:nvSpPr>
                  <p:cNvPr id="157" name="Rectangle 156">
                    <a:extLst>
                      <a:ext uri="{FF2B5EF4-FFF2-40B4-BE49-F238E27FC236}">
                        <a16:creationId xmlns:a16="http://schemas.microsoft.com/office/drawing/2014/main" id="{B9BAB3CC-04C7-844A-BF11-4BD2341C7F48}"/>
                      </a:ext>
                    </a:extLst>
                  </p:cNvPr>
                  <p:cNvSpPr>
                    <a:spLocks noRot="1" noChangeAspect="1" noMove="1" noResize="1" noEditPoints="1" noAdjustHandles="1" noChangeArrowheads="1" noChangeShapeType="1" noTextEdit="1"/>
                  </p:cNvSpPr>
                  <p:nvPr/>
                </p:nvSpPr>
                <p:spPr>
                  <a:xfrm>
                    <a:off x="6321257" y="4956149"/>
                    <a:ext cx="286553" cy="307777"/>
                  </a:xfrm>
                  <a:prstGeom prst="rect">
                    <a:avLst/>
                  </a:prstGeom>
                  <a:blipFill>
                    <a:blip r:embed="rId19"/>
                    <a:stretch>
                      <a:fillRect/>
                    </a:stretch>
                  </a:blipFill>
                </p:spPr>
                <p:txBody>
                  <a:bodyPr/>
                  <a:lstStyle/>
                  <a:p>
                    <a:r>
                      <a:rPr lang="en-US">
                        <a:noFill/>
                      </a:rPr>
                      <a:t> </a:t>
                    </a:r>
                  </a:p>
                </p:txBody>
              </p:sp>
            </mc:Fallback>
          </mc:AlternateContent>
          <p:sp>
            <p:nvSpPr>
              <p:cNvPr id="158" name="Arc 157">
                <a:extLst>
                  <a:ext uri="{FF2B5EF4-FFF2-40B4-BE49-F238E27FC236}">
                    <a16:creationId xmlns:a16="http://schemas.microsoft.com/office/drawing/2014/main" id="{FA9C858C-8B20-1B4E-BE9A-42629E4760FA}"/>
                  </a:ext>
                </a:extLst>
              </p:cNvPr>
              <p:cNvSpPr>
                <a:spLocks noChangeAspect="1"/>
              </p:cNvSpPr>
              <p:nvPr/>
            </p:nvSpPr>
            <p:spPr>
              <a:xfrm>
                <a:off x="5365535" y="5082735"/>
                <a:ext cx="2651188" cy="2651188"/>
              </a:xfrm>
              <a:prstGeom prst="arc">
                <a:avLst>
                  <a:gd name="adj1" fmla="val 16224575"/>
                  <a:gd name="adj2" fmla="val 2150667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026A150D-8D9D-1E4F-A7A0-F8856F5C5858}"/>
                      </a:ext>
                    </a:extLst>
                  </p:cNvPr>
                  <p:cNvSpPr txBox="1"/>
                  <p:nvPr/>
                </p:nvSpPr>
                <p:spPr>
                  <a:xfrm>
                    <a:off x="6847110" y="6092367"/>
                    <a:ext cx="32944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r-Latn-RS" sz="1400" i="1" smtClean="0">
                              <a:latin typeface="Cambria Math" panose="02040503050406030204" pitchFamily="18" charset="0"/>
                              <a:ea typeface="Cambria Math" panose="02040503050406030204" pitchFamily="18" charset="0"/>
                            </a:rPr>
                            <m:t>𝜑</m:t>
                          </m:r>
                        </m:oMath>
                      </m:oMathPara>
                    </a14:m>
                    <a:endParaRPr lang="en-US" sz="1400" dirty="0"/>
                  </a:p>
                </p:txBody>
              </p:sp>
            </mc:Choice>
            <mc:Fallback xmlns="">
              <p:sp>
                <p:nvSpPr>
                  <p:cNvPr id="188" name="TextBox 187">
                    <a:extLst>
                      <a:ext uri="{FF2B5EF4-FFF2-40B4-BE49-F238E27FC236}">
                        <a16:creationId xmlns:a16="http://schemas.microsoft.com/office/drawing/2014/main" id="{026A150D-8D9D-1E4F-A7A0-F8856F5C5858}"/>
                      </a:ext>
                    </a:extLst>
                  </p:cNvPr>
                  <p:cNvSpPr txBox="1">
                    <a:spLocks noRot="1" noChangeAspect="1" noMove="1" noResize="1" noEditPoints="1" noAdjustHandles="1" noChangeArrowheads="1" noChangeShapeType="1" noTextEdit="1"/>
                  </p:cNvSpPr>
                  <p:nvPr/>
                </p:nvSpPr>
                <p:spPr>
                  <a:xfrm>
                    <a:off x="6847110" y="6092367"/>
                    <a:ext cx="329442" cy="307777"/>
                  </a:xfrm>
                  <a:prstGeom prst="rect">
                    <a:avLst/>
                  </a:prstGeom>
                  <a:blipFill>
                    <a:blip r:embed="rId23"/>
                    <a:stretch>
                      <a:fillRect/>
                    </a:stretch>
                  </a:blipFill>
                </p:spPr>
                <p:txBody>
                  <a:bodyPr/>
                  <a:lstStyle/>
                  <a:p>
                    <a:r>
                      <a:rPr lang="en-US">
                        <a:noFill/>
                      </a:rPr>
                      <a:t> </a:t>
                    </a:r>
                  </a:p>
                </p:txBody>
              </p:sp>
            </mc:Fallback>
          </mc:AlternateContent>
          <p:sp>
            <p:nvSpPr>
              <p:cNvPr id="189" name="Arc 188">
                <a:extLst>
                  <a:ext uri="{FF2B5EF4-FFF2-40B4-BE49-F238E27FC236}">
                    <a16:creationId xmlns:a16="http://schemas.microsoft.com/office/drawing/2014/main" id="{FD37C9D1-04FB-5C49-9DA9-B3E0F32A6513}"/>
                  </a:ext>
                </a:extLst>
              </p:cNvPr>
              <p:cNvSpPr/>
              <p:nvPr/>
            </p:nvSpPr>
            <p:spPr>
              <a:xfrm rot="19746590">
                <a:off x="6959839" y="6036677"/>
                <a:ext cx="203263" cy="432609"/>
              </a:xfrm>
              <a:prstGeom prst="arc">
                <a:avLst>
                  <a:gd name="adj1" fmla="val 16997935"/>
                  <a:gd name="adj2" fmla="val 4054774"/>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cxnSp>
            <p:nvCxnSpPr>
              <p:cNvPr id="190" name="Straight Connector 189">
                <a:extLst>
                  <a:ext uri="{FF2B5EF4-FFF2-40B4-BE49-F238E27FC236}">
                    <a16:creationId xmlns:a16="http://schemas.microsoft.com/office/drawing/2014/main" id="{589D0E65-D354-8F45-ADC0-77056CA74EA5}"/>
                  </a:ext>
                </a:extLst>
              </p:cNvPr>
              <p:cNvCxnSpPr>
                <a:cxnSpLocks/>
              </p:cNvCxnSpPr>
              <p:nvPr/>
            </p:nvCxnSpPr>
            <p:spPr>
              <a:xfrm>
                <a:off x="7625090" y="5464373"/>
                <a:ext cx="0" cy="902867"/>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1" name="Straight Connector 190">
                <a:extLst>
                  <a:ext uri="{FF2B5EF4-FFF2-40B4-BE49-F238E27FC236}">
                    <a16:creationId xmlns:a16="http://schemas.microsoft.com/office/drawing/2014/main" id="{F4657757-0859-F548-82F4-5AE6121E8CAC}"/>
                  </a:ext>
                </a:extLst>
              </p:cNvPr>
              <p:cNvCxnSpPr>
                <a:cxnSpLocks/>
              </p:cNvCxnSpPr>
              <p:nvPr/>
            </p:nvCxnSpPr>
            <p:spPr>
              <a:xfrm>
                <a:off x="6697150" y="5462928"/>
                <a:ext cx="899545"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2" name="TextBox 191">
                    <a:extLst>
                      <a:ext uri="{FF2B5EF4-FFF2-40B4-BE49-F238E27FC236}">
                        <a16:creationId xmlns:a16="http://schemas.microsoft.com/office/drawing/2014/main" id="{F38DF998-4472-F74F-BD0F-58BE45CE48C2}"/>
                      </a:ext>
                    </a:extLst>
                  </p:cNvPr>
                  <p:cNvSpPr txBox="1"/>
                  <p:nvPr/>
                </p:nvSpPr>
                <p:spPr>
                  <a:xfrm>
                    <a:off x="6319460" y="5251511"/>
                    <a:ext cx="284721" cy="53444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sr-Latn-RS" sz="1400" i="1" smtClean="0">
                                  <a:latin typeface="Cambria Math" panose="02040503050406030204" pitchFamily="18" charset="0"/>
                                </a:rPr>
                              </m:ctrlPr>
                            </m:fPr>
                            <m:num>
                              <m:r>
                                <a:rPr lang="en-US" sz="1400" b="0" i="1" smtClean="0">
                                  <a:latin typeface="Cambria Math" panose="02040503050406030204" pitchFamily="18" charset="0"/>
                                  <a:ea typeface="Cambria Math" panose="02040503050406030204" pitchFamily="18" charset="0"/>
                                </a:rPr>
                                <m:t>𝑖</m:t>
                              </m:r>
                            </m:num>
                            <m:den>
                              <m:rad>
                                <m:radPr>
                                  <m:degHide m:val="on"/>
                                  <m:ctrlPr>
                                    <a:rPr lang="en-US" sz="1400" i="1">
                                      <a:latin typeface="Cambria Math" panose="02040503050406030204" pitchFamily="18" charset="0"/>
                                      <a:ea typeface="Cambria Math" panose="02040503050406030204" pitchFamily="18" charset="0"/>
                                    </a:rPr>
                                  </m:ctrlPr>
                                </m:radPr>
                                <m:deg/>
                                <m:e>
                                  <m:r>
                                    <a:rPr lang="en-US" sz="1400" i="1">
                                      <a:latin typeface="Cambria Math" panose="02040503050406030204" pitchFamily="18" charset="0"/>
                                      <a:ea typeface="Cambria Math" panose="02040503050406030204" pitchFamily="18" charset="0"/>
                                    </a:rPr>
                                    <m:t>2</m:t>
                                  </m:r>
                                </m:e>
                              </m:rad>
                            </m:den>
                          </m:f>
                        </m:oMath>
                      </m:oMathPara>
                    </a14:m>
                    <a:endParaRPr lang="en-US" sz="1400" dirty="0"/>
                  </a:p>
                </p:txBody>
              </p:sp>
            </mc:Choice>
            <mc:Fallback xmlns="">
              <p:sp>
                <p:nvSpPr>
                  <p:cNvPr id="192" name="TextBox 191">
                    <a:extLst>
                      <a:ext uri="{FF2B5EF4-FFF2-40B4-BE49-F238E27FC236}">
                        <a16:creationId xmlns:a16="http://schemas.microsoft.com/office/drawing/2014/main" id="{F38DF998-4472-F74F-BD0F-58BE45CE48C2}"/>
                      </a:ext>
                    </a:extLst>
                  </p:cNvPr>
                  <p:cNvSpPr txBox="1">
                    <a:spLocks noRot="1" noChangeAspect="1" noMove="1" noResize="1" noEditPoints="1" noAdjustHandles="1" noChangeArrowheads="1" noChangeShapeType="1" noTextEdit="1"/>
                  </p:cNvSpPr>
                  <p:nvPr/>
                </p:nvSpPr>
                <p:spPr>
                  <a:xfrm>
                    <a:off x="6319460" y="5251511"/>
                    <a:ext cx="284721" cy="534442"/>
                  </a:xfrm>
                  <a:prstGeom prst="rect">
                    <a:avLst/>
                  </a:prstGeom>
                  <a:blipFill>
                    <a:blip r:embed="rId24"/>
                    <a:stretch>
                      <a:fillRect r="-2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7" name="TextBox 196">
                    <a:extLst>
                      <a:ext uri="{FF2B5EF4-FFF2-40B4-BE49-F238E27FC236}">
                        <a16:creationId xmlns:a16="http://schemas.microsoft.com/office/drawing/2014/main" id="{6FCEEFC1-7D00-2941-8901-12B2C2C4EF9B}"/>
                      </a:ext>
                    </a:extLst>
                  </p:cNvPr>
                  <p:cNvSpPr txBox="1"/>
                  <p:nvPr/>
                </p:nvSpPr>
                <p:spPr>
                  <a:xfrm>
                    <a:off x="7462042" y="6352442"/>
                    <a:ext cx="284721" cy="5373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sr-Latn-RS" sz="1400" i="1" smtClean="0">
                                  <a:latin typeface="Cambria Math" panose="02040503050406030204" pitchFamily="18" charset="0"/>
                                </a:rPr>
                              </m:ctrlPr>
                            </m:fPr>
                            <m:num>
                              <m:r>
                                <a:rPr lang="en-US" sz="1400" b="0" i="1" smtClean="0">
                                  <a:latin typeface="Cambria Math" panose="02040503050406030204" pitchFamily="18" charset="0"/>
                                </a:rPr>
                                <m:t>1</m:t>
                              </m:r>
                            </m:num>
                            <m:den>
                              <m:rad>
                                <m:radPr>
                                  <m:degHide m:val="on"/>
                                  <m:ctrlPr>
                                    <a:rPr lang="en-US" sz="1400" i="1">
                                      <a:latin typeface="Cambria Math" panose="02040503050406030204" pitchFamily="18" charset="0"/>
                                      <a:ea typeface="Cambria Math" panose="02040503050406030204" pitchFamily="18" charset="0"/>
                                    </a:rPr>
                                  </m:ctrlPr>
                                </m:radPr>
                                <m:deg/>
                                <m:e>
                                  <m:r>
                                    <a:rPr lang="en-US" sz="1400" i="1">
                                      <a:latin typeface="Cambria Math" panose="02040503050406030204" pitchFamily="18" charset="0"/>
                                      <a:ea typeface="Cambria Math" panose="02040503050406030204" pitchFamily="18" charset="0"/>
                                    </a:rPr>
                                    <m:t>2</m:t>
                                  </m:r>
                                </m:e>
                              </m:rad>
                            </m:den>
                          </m:f>
                        </m:oMath>
                      </m:oMathPara>
                    </a14:m>
                    <a:endParaRPr lang="en-US" sz="1400" dirty="0"/>
                  </a:p>
                </p:txBody>
              </p:sp>
            </mc:Choice>
            <mc:Fallback xmlns="">
              <p:sp>
                <p:nvSpPr>
                  <p:cNvPr id="197" name="TextBox 196">
                    <a:extLst>
                      <a:ext uri="{FF2B5EF4-FFF2-40B4-BE49-F238E27FC236}">
                        <a16:creationId xmlns:a16="http://schemas.microsoft.com/office/drawing/2014/main" id="{6FCEEFC1-7D00-2941-8901-12B2C2C4EF9B}"/>
                      </a:ext>
                    </a:extLst>
                  </p:cNvPr>
                  <p:cNvSpPr txBox="1">
                    <a:spLocks noRot="1" noChangeAspect="1" noMove="1" noResize="1" noEditPoints="1" noAdjustHandles="1" noChangeArrowheads="1" noChangeShapeType="1" noTextEdit="1"/>
                  </p:cNvSpPr>
                  <p:nvPr/>
                </p:nvSpPr>
                <p:spPr>
                  <a:xfrm>
                    <a:off x="7462042" y="6352442"/>
                    <a:ext cx="284721" cy="537327"/>
                  </a:xfrm>
                  <a:prstGeom prst="rect">
                    <a:avLst/>
                  </a:prstGeom>
                  <a:blipFill>
                    <a:blip r:embed="rId25"/>
                    <a:stretch>
                      <a:fillRect r="-25000"/>
                    </a:stretch>
                  </a:blipFill>
                </p:spPr>
                <p:txBody>
                  <a:bodyPr/>
                  <a:lstStyle/>
                  <a:p>
                    <a:r>
                      <a:rPr lang="en-US">
                        <a:noFill/>
                      </a:rPr>
                      <a:t> </a:t>
                    </a:r>
                  </a:p>
                </p:txBody>
              </p:sp>
            </mc:Fallback>
          </mc:AlternateContent>
        </p:grpSp>
        <p:grpSp>
          <p:nvGrpSpPr>
            <p:cNvPr id="208" name="Group 207">
              <a:extLst>
                <a:ext uri="{FF2B5EF4-FFF2-40B4-BE49-F238E27FC236}">
                  <a16:creationId xmlns:a16="http://schemas.microsoft.com/office/drawing/2014/main" id="{C44B1A6E-EE21-5F47-8A56-3642C6D76BB3}"/>
                </a:ext>
              </a:extLst>
            </p:cNvPr>
            <p:cNvGrpSpPr/>
            <p:nvPr/>
          </p:nvGrpSpPr>
          <p:grpSpPr>
            <a:xfrm>
              <a:off x="9069666" y="4761353"/>
              <a:ext cx="2960429" cy="2913376"/>
              <a:chOff x="7969757" y="4779457"/>
              <a:chExt cx="2960429" cy="2913376"/>
            </a:xfrm>
          </p:grpSpPr>
          <p:cxnSp>
            <p:nvCxnSpPr>
              <p:cNvPr id="160" name="Straight Arrow Connector 159">
                <a:extLst>
                  <a:ext uri="{FF2B5EF4-FFF2-40B4-BE49-F238E27FC236}">
                    <a16:creationId xmlns:a16="http://schemas.microsoft.com/office/drawing/2014/main" id="{048CF76A-1FFA-584B-9EB2-005BBD9EE64B}"/>
                  </a:ext>
                </a:extLst>
              </p:cNvPr>
              <p:cNvCxnSpPr>
                <a:cxnSpLocks/>
              </p:cNvCxnSpPr>
              <p:nvPr/>
            </p:nvCxnSpPr>
            <p:spPr>
              <a:xfrm flipH="1" flipV="1">
                <a:off x="9302604" y="4779457"/>
                <a:ext cx="0" cy="1871882"/>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EA2D32C6-DE21-A74F-9D92-1A18FAAE7493}"/>
                  </a:ext>
                </a:extLst>
              </p:cNvPr>
              <p:cNvCxnSpPr>
                <a:cxnSpLocks/>
              </p:cNvCxnSpPr>
              <p:nvPr/>
            </p:nvCxnSpPr>
            <p:spPr>
              <a:xfrm>
                <a:off x="8968427" y="6326150"/>
                <a:ext cx="1961759"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2" name="TextBox 161">
                <a:extLst>
                  <a:ext uri="{FF2B5EF4-FFF2-40B4-BE49-F238E27FC236}">
                    <a16:creationId xmlns:a16="http://schemas.microsoft.com/office/drawing/2014/main" id="{6AEE47E0-92CA-C049-BF88-342B607E4BD4}"/>
                  </a:ext>
                </a:extLst>
              </p:cNvPr>
              <p:cNvSpPr txBox="1"/>
              <p:nvPr/>
            </p:nvSpPr>
            <p:spPr>
              <a:xfrm>
                <a:off x="9020876" y="6356682"/>
                <a:ext cx="301686" cy="307777"/>
              </a:xfrm>
              <a:prstGeom prst="rect">
                <a:avLst/>
              </a:prstGeom>
              <a:noFill/>
            </p:spPr>
            <p:txBody>
              <a:bodyPr wrap="none" rtlCol="0">
                <a:spAutoFit/>
              </a:bodyPr>
              <a:lstStyle/>
              <a:p>
                <a:r>
                  <a:rPr lang="en-US" sz="1400" dirty="0">
                    <a:latin typeface="+mj-lt"/>
                  </a:rPr>
                  <a:t>O</a:t>
                </a:r>
              </a:p>
            </p:txBody>
          </p:sp>
          <p:cxnSp>
            <p:nvCxnSpPr>
              <p:cNvPr id="163" name="Straight Arrow Connector 162">
                <a:extLst>
                  <a:ext uri="{FF2B5EF4-FFF2-40B4-BE49-F238E27FC236}">
                    <a16:creationId xmlns:a16="http://schemas.microsoft.com/office/drawing/2014/main" id="{B6240948-04CA-E04C-AA8B-165A8637B16D}"/>
                  </a:ext>
                </a:extLst>
              </p:cNvPr>
              <p:cNvCxnSpPr>
                <a:cxnSpLocks/>
                <a:endCxn id="168" idx="0"/>
              </p:cNvCxnSpPr>
              <p:nvPr/>
            </p:nvCxnSpPr>
            <p:spPr>
              <a:xfrm flipV="1">
                <a:off x="9300050" y="5041680"/>
                <a:ext cx="0" cy="1273413"/>
              </a:xfrm>
              <a:prstGeom prst="straightConnector1">
                <a:avLst/>
              </a:prstGeom>
              <a:ln w="38100" cap="rnd">
                <a:solidFill>
                  <a:schemeClr val="accent5">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4" name="Straight Connector 163">
                <a:extLst>
                  <a:ext uri="{FF2B5EF4-FFF2-40B4-BE49-F238E27FC236}">
                    <a16:creationId xmlns:a16="http://schemas.microsoft.com/office/drawing/2014/main" id="{A6E0CE74-9881-5942-8D60-0F8CC1C7241C}"/>
                  </a:ext>
                </a:extLst>
              </p:cNvPr>
              <p:cNvCxnSpPr>
                <a:cxnSpLocks/>
              </p:cNvCxnSpPr>
              <p:nvPr/>
            </p:nvCxnSpPr>
            <p:spPr>
              <a:xfrm>
                <a:off x="10622000" y="6252981"/>
                <a:ext cx="0" cy="19892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5" name="Rectangle 164">
                    <a:extLst>
                      <a:ext uri="{FF2B5EF4-FFF2-40B4-BE49-F238E27FC236}">
                        <a16:creationId xmlns:a16="http://schemas.microsoft.com/office/drawing/2014/main" id="{698DF7FE-40CE-8C44-AF91-9BB1F13A3D09}"/>
                      </a:ext>
                    </a:extLst>
                  </p:cNvPr>
                  <p:cNvSpPr/>
                  <p:nvPr/>
                </p:nvSpPr>
                <p:spPr>
                  <a:xfrm>
                    <a:off x="10481012" y="6405527"/>
                    <a:ext cx="324128"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lumMod val="50000"/>
                                </a:schemeClr>
                              </a:solidFill>
                              <a:latin typeface="Cambria Math" panose="02040503050406030204" pitchFamily="18" charset="0"/>
                            </a:rPr>
                            <m:t>1</m:t>
                          </m:r>
                        </m:oMath>
                      </m:oMathPara>
                    </a14:m>
                    <a:endParaRPr lang="en-US" sz="1400" dirty="0">
                      <a:solidFill>
                        <a:schemeClr val="bg1">
                          <a:lumMod val="50000"/>
                        </a:schemeClr>
                      </a:solidFill>
                    </a:endParaRPr>
                  </a:p>
                </p:txBody>
              </p:sp>
            </mc:Choice>
            <mc:Fallback xmlns="">
              <p:sp>
                <p:nvSpPr>
                  <p:cNvPr id="165" name="Rectangle 164">
                    <a:extLst>
                      <a:ext uri="{FF2B5EF4-FFF2-40B4-BE49-F238E27FC236}">
                        <a16:creationId xmlns:a16="http://schemas.microsoft.com/office/drawing/2014/main" id="{698DF7FE-40CE-8C44-AF91-9BB1F13A3D09}"/>
                      </a:ext>
                    </a:extLst>
                  </p:cNvPr>
                  <p:cNvSpPr>
                    <a:spLocks noRot="1" noChangeAspect="1" noMove="1" noResize="1" noEditPoints="1" noAdjustHandles="1" noChangeArrowheads="1" noChangeShapeType="1" noTextEdit="1"/>
                  </p:cNvSpPr>
                  <p:nvPr/>
                </p:nvSpPr>
                <p:spPr>
                  <a:xfrm>
                    <a:off x="10481012" y="6405527"/>
                    <a:ext cx="324128" cy="307777"/>
                  </a:xfrm>
                  <a:prstGeom prst="rect">
                    <a:avLst/>
                  </a:prstGeom>
                  <a:blipFill>
                    <a:blip r:embed="rId26"/>
                    <a:stretch>
                      <a:fillRect/>
                    </a:stretch>
                  </a:blipFill>
                </p:spPr>
                <p:txBody>
                  <a:bodyPr/>
                  <a:lstStyle/>
                  <a:p>
                    <a:r>
                      <a:rPr lang="en-US">
                        <a:noFill/>
                      </a:rPr>
                      <a:t> </a:t>
                    </a:r>
                  </a:p>
                </p:txBody>
              </p:sp>
            </mc:Fallback>
          </mc:AlternateContent>
          <p:cxnSp>
            <p:nvCxnSpPr>
              <p:cNvPr id="166" name="Straight Connector 165">
                <a:extLst>
                  <a:ext uri="{FF2B5EF4-FFF2-40B4-BE49-F238E27FC236}">
                    <a16:creationId xmlns:a16="http://schemas.microsoft.com/office/drawing/2014/main" id="{B1D3BDF2-FB22-1543-8BDA-8E3C1F2C21CA}"/>
                  </a:ext>
                </a:extLst>
              </p:cNvPr>
              <p:cNvCxnSpPr>
                <a:cxnSpLocks/>
              </p:cNvCxnSpPr>
              <p:nvPr/>
            </p:nvCxnSpPr>
            <p:spPr>
              <a:xfrm rot="16200000">
                <a:off x="9311186" y="4937950"/>
                <a:ext cx="0" cy="19892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7" name="Rectangle 166">
                    <a:extLst>
                      <a:ext uri="{FF2B5EF4-FFF2-40B4-BE49-F238E27FC236}">
                        <a16:creationId xmlns:a16="http://schemas.microsoft.com/office/drawing/2014/main" id="{80724DB6-C8B3-7049-BAF0-564B05CC9894}"/>
                      </a:ext>
                    </a:extLst>
                  </p:cNvPr>
                  <p:cNvSpPr/>
                  <p:nvPr/>
                </p:nvSpPr>
                <p:spPr>
                  <a:xfrm>
                    <a:off x="8925479" y="4915059"/>
                    <a:ext cx="286553"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lumMod val="50000"/>
                                </a:schemeClr>
                              </a:solidFill>
                              <a:latin typeface="Cambria Math" panose="02040503050406030204" pitchFamily="18" charset="0"/>
                            </a:rPr>
                            <m:t>𝑖</m:t>
                          </m:r>
                        </m:oMath>
                      </m:oMathPara>
                    </a14:m>
                    <a:endParaRPr lang="en-US" sz="1400" dirty="0">
                      <a:solidFill>
                        <a:schemeClr val="bg1">
                          <a:lumMod val="50000"/>
                        </a:schemeClr>
                      </a:solidFill>
                    </a:endParaRPr>
                  </a:p>
                </p:txBody>
              </p:sp>
            </mc:Choice>
            <mc:Fallback xmlns="">
              <p:sp>
                <p:nvSpPr>
                  <p:cNvPr id="167" name="Rectangle 166">
                    <a:extLst>
                      <a:ext uri="{FF2B5EF4-FFF2-40B4-BE49-F238E27FC236}">
                        <a16:creationId xmlns:a16="http://schemas.microsoft.com/office/drawing/2014/main" id="{80724DB6-C8B3-7049-BAF0-564B05CC9894}"/>
                      </a:ext>
                    </a:extLst>
                  </p:cNvPr>
                  <p:cNvSpPr>
                    <a:spLocks noRot="1" noChangeAspect="1" noMove="1" noResize="1" noEditPoints="1" noAdjustHandles="1" noChangeArrowheads="1" noChangeShapeType="1" noTextEdit="1"/>
                  </p:cNvSpPr>
                  <p:nvPr/>
                </p:nvSpPr>
                <p:spPr>
                  <a:xfrm>
                    <a:off x="8925479" y="4915059"/>
                    <a:ext cx="286553" cy="307777"/>
                  </a:xfrm>
                  <a:prstGeom prst="rect">
                    <a:avLst/>
                  </a:prstGeom>
                  <a:blipFill>
                    <a:blip r:embed="rId27"/>
                    <a:stretch>
                      <a:fillRect/>
                    </a:stretch>
                  </a:blipFill>
                </p:spPr>
                <p:txBody>
                  <a:bodyPr/>
                  <a:lstStyle/>
                  <a:p>
                    <a:r>
                      <a:rPr lang="en-US">
                        <a:noFill/>
                      </a:rPr>
                      <a:t> </a:t>
                    </a:r>
                  </a:p>
                </p:txBody>
              </p:sp>
            </mc:Fallback>
          </mc:AlternateContent>
          <p:sp>
            <p:nvSpPr>
              <p:cNvPr id="168" name="Arc 167">
                <a:extLst>
                  <a:ext uri="{FF2B5EF4-FFF2-40B4-BE49-F238E27FC236}">
                    <a16:creationId xmlns:a16="http://schemas.microsoft.com/office/drawing/2014/main" id="{B93AA29D-E5DD-3B46-A727-CB4DB9ACE58E}"/>
                  </a:ext>
                </a:extLst>
              </p:cNvPr>
              <p:cNvSpPr>
                <a:spLocks noChangeAspect="1"/>
              </p:cNvSpPr>
              <p:nvPr/>
            </p:nvSpPr>
            <p:spPr>
              <a:xfrm>
                <a:off x="7969757" y="5041645"/>
                <a:ext cx="2651188" cy="2651188"/>
              </a:xfrm>
              <a:prstGeom prst="arc">
                <a:avLst>
                  <a:gd name="adj1" fmla="val 16224575"/>
                  <a:gd name="adj2" fmla="val 2150667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98" name="TextBox 197">
                    <a:extLst>
                      <a:ext uri="{FF2B5EF4-FFF2-40B4-BE49-F238E27FC236}">
                        <a16:creationId xmlns:a16="http://schemas.microsoft.com/office/drawing/2014/main" id="{DB896E64-3A9F-954B-AD95-FBCCEC8EAE6F}"/>
                      </a:ext>
                    </a:extLst>
                  </p:cNvPr>
                  <p:cNvSpPr txBox="1"/>
                  <p:nvPr/>
                </p:nvSpPr>
                <p:spPr>
                  <a:xfrm>
                    <a:off x="9250799" y="5990680"/>
                    <a:ext cx="32944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r-Latn-RS" sz="1400" i="1" smtClean="0">
                              <a:latin typeface="Cambria Math" panose="02040503050406030204" pitchFamily="18" charset="0"/>
                              <a:ea typeface="Cambria Math" panose="02040503050406030204" pitchFamily="18" charset="0"/>
                            </a:rPr>
                            <m:t>𝜑</m:t>
                          </m:r>
                        </m:oMath>
                      </m:oMathPara>
                    </a14:m>
                    <a:endParaRPr lang="en-US" sz="1400" dirty="0"/>
                  </a:p>
                </p:txBody>
              </p:sp>
            </mc:Choice>
            <mc:Fallback xmlns="">
              <p:sp>
                <p:nvSpPr>
                  <p:cNvPr id="198" name="TextBox 197">
                    <a:extLst>
                      <a:ext uri="{FF2B5EF4-FFF2-40B4-BE49-F238E27FC236}">
                        <a16:creationId xmlns:a16="http://schemas.microsoft.com/office/drawing/2014/main" id="{DB896E64-3A9F-954B-AD95-FBCCEC8EAE6F}"/>
                      </a:ext>
                    </a:extLst>
                  </p:cNvPr>
                  <p:cNvSpPr txBox="1">
                    <a:spLocks noRot="1" noChangeAspect="1" noMove="1" noResize="1" noEditPoints="1" noAdjustHandles="1" noChangeArrowheads="1" noChangeShapeType="1" noTextEdit="1"/>
                  </p:cNvSpPr>
                  <p:nvPr/>
                </p:nvSpPr>
                <p:spPr>
                  <a:xfrm>
                    <a:off x="9250799" y="5990680"/>
                    <a:ext cx="329442" cy="307777"/>
                  </a:xfrm>
                  <a:prstGeom prst="rect">
                    <a:avLst/>
                  </a:prstGeom>
                  <a:blipFill>
                    <a:blip r:embed="rId28"/>
                    <a:stretch>
                      <a:fillRect/>
                    </a:stretch>
                  </a:blipFill>
                </p:spPr>
                <p:txBody>
                  <a:bodyPr/>
                  <a:lstStyle/>
                  <a:p>
                    <a:r>
                      <a:rPr lang="en-US">
                        <a:noFill/>
                      </a:rPr>
                      <a:t> </a:t>
                    </a:r>
                  </a:p>
                </p:txBody>
              </p:sp>
            </mc:Fallback>
          </mc:AlternateContent>
          <p:sp>
            <p:nvSpPr>
              <p:cNvPr id="199" name="Arc 198">
                <a:extLst>
                  <a:ext uri="{FF2B5EF4-FFF2-40B4-BE49-F238E27FC236}">
                    <a16:creationId xmlns:a16="http://schemas.microsoft.com/office/drawing/2014/main" id="{35023DC3-5DD7-CE4C-AD4D-8AE383BB30F6}"/>
                  </a:ext>
                </a:extLst>
              </p:cNvPr>
              <p:cNvSpPr/>
              <p:nvPr/>
            </p:nvSpPr>
            <p:spPr>
              <a:xfrm rot="19746590">
                <a:off x="9257392" y="5919470"/>
                <a:ext cx="302419" cy="523588"/>
              </a:xfrm>
              <a:prstGeom prst="arc">
                <a:avLst>
                  <a:gd name="adj1" fmla="val 16822245"/>
                  <a:gd name="adj2" fmla="val 422315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grpSp>
          <p:nvGrpSpPr>
            <p:cNvPr id="205" name="Group 204">
              <a:extLst>
                <a:ext uri="{FF2B5EF4-FFF2-40B4-BE49-F238E27FC236}">
                  <a16:creationId xmlns:a16="http://schemas.microsoft.com/office/drawing/2014/main" id="{40C2786B-6820-C342-9009-8EF8409F6AF8}"/>
                </a:ext>
              </a:extLst>
            </p:cNvPr>
            <p:cNvGrpSpPr/>
            <p:nvPr/>
          </p:nvGrpSpPr>
          <p:grpSpPr>
            <a:xfrm>
              <a:off x="-848167" y="4761353"/>
              <a:ext cx="3016352" cy="2899588"/>
              <a:chOff x="101168" y="4902727"/>
              <a:chExt cx="3016352" cy="2899588"/>
            </a:xfrm>
          </p:grpSpPr>
          <p:cxnSp>
            <p:nvCxnSpPr>
              <p:cNvPr id="124" name="Straight Arrow Connector 123">
                <a:extLst>
                  <a:ext uri="{FF2B5EF4-FFF2-40B4-BE49-F238E27FC236}">
                    <a16:creationId xmlns:a16="http://schemas.microsoft.com/office/drawing/2014/main" id="{9F30A02C-647D-6342-BAA9-1037A7732F0D}"/>
                  </a:ext>
                </a:extLst>
              </p:cNvPr>
              <p:cNvCxnSpPr>
                <a:cxnSpLocks/>
              </p:cNvCxnSpPr>
              <p:nvPr/>
            </p:nvCxnSpPr>
            <p:spPr>
              <a:xfrm flipH="1" flipV="1">
                <a:off x="1489937" y="4902727"/>
                <a:ext cx="0" cy="1871882"/>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5B8E7FAD-3BDC-CC4D-9A4D-E9316F4B3D65}"/>
                  </a:ext>
                </a:extLst>
              </p:cNvPr>
              <p:cNvCxnSpPr>
                <a:cxnSpLocks/>
              </p:cNvCxnSpPr>
              <p:nvPr/>
            </p:nvCxnSpPr>
            <p:spPr>
              <a:xfrm>
                <a:off x="1155761" y="6449420"/>
                <a:ext cx="1961759"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6" name="TextBox 125">
                <a:extLst>
                  <a:ext uri="{FF2B5EF4-FFF2-40B4-BE49-F238E27FC236}">
                    <a16:creationId xmlns:a16="http://schemas.microsoft.com/office/drawing/2014/main" id="{A398034D-BAB4-9043-BF4F-8E3474E38543}"/>
                  </a:ext>
                </a:extLst>
              </p:cNvPr>
              <p:cNvSpPr txBox="1"/>
              <p:nvPr/>
            </p:nvSpPr>
            <p:spPr>
              <a:xfrm>
                <a:off x="1208210" y="6479952"/>
                <a:ext cx="301686" cy="307777"/>
              </a:xfrm>
              <a:prstGeom prst="rect">
                <a:avLst/>
              </a:prstGeom>
              <a:noFill/>
            </p:spPr>
            <p:txBody>
              <a:bodyPr wrap="none" rtlCol="0">
                <a:spAutoFit/>
              </a:bodyPr>
              <a:lstStyle/>
              <a:p>
                <a:r>
                  <a:rPr lang="en-US" sz="1400" dirty="0">
                    <a:latin typeface="+mj-lt"/>
                  </a:rPr>
                  <a:t>O</a:t>
                </a:r>
              </a:p>
            </p:txBody>
          </p:sp>
          <p:cxnSp>
            <p:nvCxnSpPr>
              <p:cNvPr id="128" name="Straight Arrow Connector 127">
                <a:extLst>
                  <a:ext uri="{FF2B5EF4-FFF2-40B4-BE49-F238E27FC236}">
                    <a16:creationId xmlns:a16="http://schemas.microsoft.com/office/drawing/2014/main" id="{56C47919-D5D5-F84F-85ED-BB4BAF42A69D}"/>
                  </a:ext>
                </a:extLst>
              </p:cNvPr>
              <p:cNvCxnSpPr>
                <a:cxnSpLocks/>
              </p:cNvCxnSpPr>
              <p:nvPr/>
            </p:nvCxnSpPr>
            <p:spPr>
              <a:xfrm>
                <a:off x="1489937" y="6449420"/>
                <a:ext cx="1317853" cy="5105"/>
              </a:xfrm>
              <a:prstGeom prst="straightConnector1">
                <a:avLst/>
              </a:prstGeom>
              <a:ln w="38100" cap="rnd">
                <a:solidFill>
                  <a:schemeClr val="accent5">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108ED2B7-015B-3E4D-ACDF-843BFFB76DBD}"/>
                  </a:ext>
                </a:extLst>
              </p:cNvPr>
              <p:cNvCxnSpPr>
                <a:cxnSpLocks/>
              </p:cNvCxnSpPr>
              <p:nvPr/>
            </p:nvCxnSpPr>
            <p:spPr>
              <a:xfrm>
                <a:off x="2809333" y="6376251"/>
                <a:ext cx="0" cy="19892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0" name="Rectangle 129">
                    <a:extLst>
                      <a:ext uri="{FF2B5EF4-FFF2-40B4-BE49-F238E27FC236}">
                        <a16:creationId xmlns:a16="http://schemas.microsoft.com/office/drawing/2014/main" id="{8DE3EC18-F495-6B42-8CED-EE5A0D082E0B}"/>
                      </a:ext>
                    </a:extLst>
                  </p:cNvPr>
                  <p:cNvSpPr/>
                  <p:nvPr/>
                </p:nvSpPr>
                <p:spPr>
                  <a:xfrm>
                    <a:off x="2668346" y="6528797"/>
                    <a:ext cx="324127"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lumMod val="50000"/>
                                </a:schemeClr>
                              </a:solidFill>
                              <a:latin typeface="Cambria Math" panose="02040503050406030204" pitchFamily="18" charset="0"/>
                            </a:rPr>
                            <m:t>1</m:t>
                          </m:r>
                        </m:oMath>
                      </m:oMathPara>
                    </a14:m>
                    <a:endParaRPr lang="en-US" sz="1400" dirty="0">
                      <a:solidFill>
                        <a:schemeClr val="bg1">
                          <a:lumMod val="50000"/>
                        </a:schemeClr>
                      </a:solidFill>
                    </a:endParaRPr>
                  </a:p>
                </p:txBody>
              </p:sp>
            </mc:Choice>
            <mc:Fallback xmlns="">
              <p:sp>
                <p:nvSpPr>
                  <p:cNvPr id="130" name="Rectangle 129">
                    <a:extLst>
                      <a:ext uri="{FF2B5EF4-FFF2-40B4-BE49-F238E27FC236}">
                        <a16:creationId xmlns:a16="http://schemas.microsoft.com/office/drawing/2014/main" id="{8DE3EC18-F495-6B42-8CED-EE5A0D082E0B}"/>
                      </a:ext>
                    </a:extLst>
                  </p:cNvPr>
                  <p:cNvSpPr>
                    <a:spLocks noRot="1" noChangeAspect="1" noMove="1" noResize="1" noEditPoints="1" noAdjustHandles="1" noChangeArrowheads="1" noChangeShapeType="1" noTextEdit="1"/>
                  </p:cNvSpPr>
                  <p:nvPr/>
                </p:nvSpPr>
                <p:spPr>
                  <a:xfrm>
                    <a:off x="2668346" y="6528797"/>
                    <a:ext cx="324127" cy="307777"/>
                  </a:xfrm>
                  <a:prstGeom prst="rect">
                    <a:avLst/>
                  </a:prstGeom>
                  <a:blipFill>
                    <a:blip r:embed="rId29"/>
                    <a:stretch>
                      <a:fillRect/>
                    </a:stretch>
                  </a:blipFill>
                </p:spPr>
                <p:txBody>
                  <a:bodyPr/>
                  <a:lstStyle/>
                  <a:p>
                    <a:r>
                      <a:rPr lang="en-US">
                        <a:noFill/>
                      </a:rPr>
                      <a:t> </a:t>
                    </a:r>
                  </a:p>
                </p:txBody>
              </p:sp>
            </mc:Fallback>
          </mc:AlternateContent>
          <p:cxnSp>
            <p:nvCxnSpPr>
              <p:cNvPr id="131" name="Straight Connector 130">
                <a:extLst>
                  <a:ext uri="{FF2B5EF4-FFF2-40B4-BE49-F238E27FC236}">
                    <a16:creationId xmlns:a16="http://schemas.microsoft.com/office/drawing/2014/main" id="{CCD2F436-F043-8245-8B3D-1229C7B9646A}"/>
                  </a:ext>
                </a:extLst>
              </p:cNvPr>
              <p:cNvCxnSpPr>
                <a:cxnSpLocks/>
              </p:cNvCxnSpPr>
              <p:nvPr/>
            </p:nvCxnSpPr>
            <p:spPr>
              <a:xfrm rot="16200000">
                <a:off x="1498519" y="5061220"/>
                <a:ext cx="0" cy="198923"/>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2" name="Rectangle 131">
                    <a:extLst>
                      <a:ext uri="{FF2B5EF4-FFF2-40B4-BE49-F238E27FC236}">
                        <a16:creationId xmlns:a16="http://schemas.microsoft.com/office/drawing/2014/main" id="{D1D40F42-D6F8-AA40-B9F6-596AEF8507FE}"/>
                      </a:ext>
                    </a:extLst>
                  </p:cNvPr>
                  <p:cNvSpPr/>
                  <p:nvPr/>
                </p:nvSpPr>
                <p:spPr>
                  <a:xfrm>
                    <a:off x="1112812" y="5038328"/>
                    <a:ext cx="286552"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400" b="0" i="1" smtClean="0">
                              <a:solidFill>
                                <a:schemeClr val="bg1">
                                  <a:lumMod val="50000"/>
                                </a:schemeClr>
                              </a:solidFill>
                              <a:latin typeface="Cambria Math" panose="02040503050406030204" pitchFamily="18" charset="0"/>
                            </a:rPr>
                            <m:t>𝑖</m:t>
                          </m:r>
                        </m:oMath>
                      </m:oMathPara>
                    </a14:m>
                    <a:endParaRPr lang="en-US" sz="1400" dirty="0">
                      <a:solidFill>
                        <a:schemeClr val="bg1">
                          <a:lumMod val="50000"/>
                        </a:schemeClr>
                      </a:solidFill>
                    </a:endParaRPr>
                  </a:p>
                </p:txBody>
              </p:sp>
            </mc:Choice>
            <mc:Fallback xmlns="">
              <p:sp>
                <p:nvSpPr>
                  <p:cNvPr id="132" name="Rectangle 131">
                    <a:extLst>
                      <a:ext uri="{FF2B5EF4-FFF2-40B4-BE49-F238E27FC236}">
                        <a16:creationId xmlns:a16="http://schemas.microsoft.com/office/drawing/2014/main" id="{D1D40F42-D6F8-AA40-B9F6-596AEF8507FE}"/>
                      </a:ext>
                    </a:extLst>
                  </p:cNvPr>
                  <p:cNvSpPr>
                    <a:spLocks noRot="1" noChangeAspect="1" noMove="1" noResize="1" noEditPoints="1" noAdjustHandles="1" noChangeArrowheads="1" noChangeShapeType="1" noTextEdit="1"/>
                  </p:cNvSpPr>
                  <p:nvPr/>
                </p:nvSpPr>
                <p:spPr>
                  <a:xfrm>
                    <a:off x="1112812" y="5038328"/>
                    <a:ext cx="286552" cy="307777"/>
                  </a:xfrm>
                  <a:prstGeom prst="rect">
                    <a:avLst/>
                  </a:prstGeom>
                  <a:blipFill>
                    <a:blip r:embed="rId30"/>
                    <a:stretch>
                      <a:fillRect/>
                    </a:stretch>
                  </a:blipFill>
                </p:spPr>
                <p:txBody>
                  <a:bodyPr/>
                  <a:lstStyle/>
                  <a:p>
                    <a:r>
                      <a:rPr lang="en-US">
                        <a:noFill/>
                      </a:rPr>
                      <a:t> </a:t>
                    </a:r>
                  </a:p>
                </p:txBody>
              </p:sp>
            </mc:Fallback>
          </mc:AlternateContent>
          <p:sp>
            <p:nvSpPr>
              <p:cNvPr id="201" name="Arc 200">
                <a:extLst>
                  <a:ext uri="{FF2B5EF4-FFF2-40B4-BE49-F238E27FC236}">
                    <a16:creationId xmlns:a16="http://schemas.microsoft.com/office/drawing/2014/main" id="{665C7CC0-49E5-FC45-86C9-439F11E2C6AB}"/>
                  </a:ext>
                </a:extLst>
              </p:cNvPr>
              <p:cNvSpPr>
                <a:spLocks noChangeAspect="1"/>
              </p:cNvSpPr>
              <p:nvPr/>
            </p:nvSpPr>
            <p:spPr>
              <a:xfrm>
                <a:off x="101168" y="5151127"/>
                <a:ext cx="2651188" cy="2651188"/>
              </a:xfrm>
              <a:prstGeom prst="arc">
                <a:avLst>
                  <a:gd name="adj1" fmla="val 16224575"/>
                  <a:gd name="adj2" fmla="val 2150667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400"/>
              </a:p>
            </p:txBody>
          </p:sp>
        </p:grpSp>
        <p:cxnSp>
          <p:nvCxnSpPr>
            <p:cNvPr id="203" name="Straight Connector 202">
              <a:extLst>
                <a:ext uri="{FF2B5EF4-FFF2-40B4-BE49-F238E27FC236}">
                  <a16:creationId xmlns:a16="http://schemas.microsoft.com/office/drawing/2014/main" id="{FD465040-2313-304F-88FE-4171EE2A9850}"/>
                </a:ext>
              </a:extLst>
            </p:cNvPr>
            <p:cNvCxnSpPr>
              <a:cxnSpLocks/>
            </p:cNvCxnSpPr>
            <p:nvPr/>
          </p:nvCxnSpPr>
          <p:spPr>
            <a:xfrm flipV="1">
              <a:off x="212700" y="4085618"/>
              <a:ext cx="11683108" cy="0"/>
            </a:xfrm>
            <a:prstGeom prst="line">
              <a:avLst/>
            </a:prstGeom>
            <a:ln w="25400" cmpd="dbl">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35598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9"/>
                                        </p:tgtEl>
                                        <p:attrNameLst>
                                          <p:attrName>style.visibility</p:attrName>
                                        </p:attrNameLst>
                                      </p:cBhvr>
                                      <p:to>
                                        <p:strVal val="visible"/>
                                      </p:to>
                                    </p:set>
                                    <p:animEffect transition="in" filter="dissolve">
                                      <p:cBhvr>
                                        <p:cTn id="7" dur="500"/>
                                        <p:tgtEl>
                                          <p:spTgt spid="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54216F21-4D27-E04D-977B-00AE5956F3B1}"/>
              </a:ext>
            </a:extLst>
          </p:cNvPr>
          <p:cNvCxnSpPr>
            <a:cxnSpLocks/>
          </p:cNvCxnSpPr>
          <p:nvPr/>
        </p:nvCxnSpPr>
        <p:spPr>
          <a:xfrm flipH="1">
            <a:off x="1464162" y="2138161"/>
            <a:ext cx="2042722" cy="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7" name="Arc 26">
            <a:extLst>
              <a:ext uri="{FF2B5EF4-FFF2-40B4-BE49-F238E27FC236}">
                <a16:creationId xmlns:a16="http://schemas.microsoft.com/office/drawing/2014/main" id="{3A5526E9-04F5-A64E-B008-B3DBEF694E4A}"/>
              </a:ext>
            </a:extLst>
          </p:cNvPr>
          <p:cNvSpPr/>
          <p:nvPr/>
        </p:nvSpPr>
        <p:spPr>
          <a:xfrm>
            <a:off x="-1354537" y="1291633"/>
            <a:ext cx="5735487" cy="5835612"/>
          </a:xfrm>
          <a:prstGeom prst="arc">
            <a:avLst>
              <a:gd name="adj1" fmla="val 15785584"/>
              <a:gd name="adj2" fmla="val 799373"/>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 name="Title 1">
            <a:extLst>
              <a:ext uri="{FF2B5EF4-FFF2-40B4-BE49-F238E27FC236}">
                <a16:creationId xmlns:a16="http://schemas.microsoft.com/office/drawing/2014/main" id="{FE235276-CEFB-F04F-A258-E46090814734}"/>
              </a:ext>
            </a:extLst>
          </p:cNvPr>
          <p:cNvSpPr>
            <a:spLocks noGrp="1"/>
          </p:cNvSpPr>
          <p:nvPr>
            <p:ph type="title"/>
          </p:nvPr>
        </p:nvSpPr>
        <p:spPr>
          <a:xfrm>
            <a:off x="0" y="0"/>
            <a:ext cx="12192000" cy="928688"/>
          </a:xfrm>
        </p:spPr>
        <p:txBody>
          <a:bodyPr/>
          <a:lstStyle/>
          <a:p>
            <a:r>
              <a:rPr lang="en-ZA" dirty="0"/>
              <a:t>Polar form of a complex number</a:t>
            </a:r>
            <a:endParaRPr lang="en-US" dirty="0"/>
          </a:p>
        </p:txBody>
      </p:sp>
      <p:sp>
        <p:nvSpPr>
          <p:cNvPr id="3" name="Slide Number Placeholder 2">
            <a:extLst>
              <a:ext uri="{FF2B5EF4-FFF2-40B4-BE49-F238E27FC236}">
                <a16:creationId xmlns:a16="http://schemas.microsoft.com/office/drawing/2014/main" id="{3367C838-9351-8842-800F-7598661F33AF}"/>
              </a:ext>
            </a:extLst>
          </p:cNvPr>
          <p:cNvSpPr>
            <a:spLocks noGrp="1"/>
          </p:cNvSpPr>
          <p:nvPr>
            <p:ph type="sldNum" sz="quarter" idx="12"/>
          </p:nvPr>
        </p:nvSpPr>
        <p:spPr/>
        <p:txBody>
          <a:bodyPr/>
          <a:lstStyle/>
          <a:p>
            <a:fld id="{591A223C-FA10-BC46-A853-03BA373D023C}" type="slidenum">
              <a:rPr lang="en-US" smtClean="0"/>
              <a:t>12</a:t>
            </a:fld>
            <a:endParaRPr lang="en-US"/>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1AE95B44-7D03-D442-8CDC-710E1C963A08}"/>
                  </a:ext>
                </a:extLst>
              </p:cNvPr>
              <p:cNvSpPr/>
              <p:nvPr/>
            </p:nvSpPr>
            <p:spPr>
              <a:xfrm>
                <a:off x="3547905" y="4160057"/>
                <a:ext cx="386388"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𝑥</m:t>
                      </m:r>
                    </m:oMath>
                  </m:oMathPara>
                </a14:m>
                <a:endParaRPr lang="en-US" sz="2000" dirty="0"/>
              </a:p>
            </p:txBody>
          </p:sp>
        </mc:Choice>
        <mc:Fallback xmlns="">
          <p:sp>
            <p:nvSpPr>
              <p:cNvPr id="6" name="Rectangle 5">
                <a:extLst>
                  <a:ext uri="{FF2B5EF4-FFF2-40B4-BE49-F238E27FC236}">
                    <a16:creationId xmlns:a16="http://schemas.microsoft.com/office/drawing/2014/main" id="{1AE95B44-7D03-D442-8CDC-710E1C963A08}"/>
                  </a:ext>
                </a:extLst>
              </p:cNvPr>
              <p:cNvSpPr>
                <a:spLocks noRot="1" noChangeAspect="1" noMove="1" noResize="1" noEditPoints="1" noAdjustHandles="1" noChangeArrowheads="1" noChangeShapeType="1" noTextEdit="1"/>
              </p:cNvSpPr>
              <p:nvPr/>
            </p:nvSpPr>
            <p:spPr>
              <a:xfrm>
                <a:off x="3547905" y="4160057"/>
                <a:ext cx="386388" cy="40011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6398F405-6083-7445-915B-A5423C6D644D}"/>
                  </a:ext>
                </a:extLst>
              </p:cNvPr>
              <p:cNvSpPr/>
              <p:nvPr/>
            </p:nvSpPr>
            <p:spPr>
              <a:xfrm>
                <a:off x="1053529" y="1701011"/>
                <a:ext cx="391004"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𝑦</m:t>
                      </m:r>
                    </m:oMath>
                  </m:oMathPara>
                </a14:m>
                <a:endParaRPr lang="en-US" sz="2000" dirty="0"/>
              </a:p>
            </p:txBody>
          </p:sp>
        </mc:Choice>
        <mc:Fallback xmlns="">
          <p:sp>
            <p:nvSpPr>
              <p:cNvPr id="7" name="Rectangle 6">
                <a:extLst>
                  <a:ext uri="{FF2B5EF4-FFF2-40B4-BE49-F238E27FC236}">
                    <a16:creationId xmlns:a16="http://schemas.microsoft.com/office/drawing/2014/main" id="{6398F405-6083-7445-915B-A5423C6D644D}"/>
                  </a:ext>
                </a:extLst>
              </p:cNvPr>
              <p:cNvSpPr>
                <a:spLocks noRot="1" noChangeAspect="1" noMove="1" noResize="1" noEditPoints="1" noAdjustHandles="1" noChangeArrowheads="1" noChangeShapeType="1" noTextEdit="1"/>
              </p:cNvSpPr>
              <p:nvPr/>
            </p:nvSpPr>
            <p:spPr>
              <a:xfrm>
                <a:off x="1053529" y="1701011"/>
                <a:ext cx="391004" cy="400110"/>
              </a:xfrm>
              <a:prstGeom prst="rect">
                <a:avLst/>
              </a:prstGeom>
              <a:blipFill>
                <a:blip r:embed="rId4"/>
                <a:stretch>
                  <a:fillRect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96437356-95F1-4A44-87EF-85A46AD5B937}"/>
                  </a:ext>
                </a:extLst>
              </p:cNvPr>
              <p:cNvSpPr/>
              <p:nvPr/>
            </p:nvSpPr>
            <p:spPr>
              <a:xfrm>
                <a:off x="4459906" y="3745918"/>
                <a:ext cx="538160"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𝑅𝑒</m:t>
                      </m:r>
                    </m:oMath>
                  </m:oMathPara>
                </a14:m>
                <a:endParaRPr lang="en-US" sz="2000" dirty="0"/>
              </a:p>
            </p:txBody>
          </p:sp>
        </mc:Choice>
        <mc:Fallback xmlns="">
          <p:sp>
            <p:nvSpPr>
              <p:cNvPr id="8" name="Rectangle 7">
                <a:extLst>
                  <a:ext uri="{FF2B5EF4-FFF2-40B4-BE49-F238E27FC236}">
                    <a16:creationId xmlns:a16="http://schemas.microsoft.com/office/drawing/2014/main" id="{96437356-95F1-4A44-87EF-85A46AD5B937}"/>
                  </a:ext>
                </a:extLst>
              </p:cNvPr>
              <p:cNvSpPr>
                <a:spLocks noRot="1" noChangeAspect="1" noMove="1" noResize="1" noEditPoints="1" noAdjustHandles="1" noChangeArrowheads="1" noChangeShapeType="1" noTextEdit="1"/>
              </p:cNvSpPr>
              <p:nvPr/>
            </p:nvSpPr>
            <p:spPr>
              <a:xfrm>
                <a:off x="4459906" y="3745918"/>
                <a:ext cx="538160" cy="4001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02C70AAB-22B9-3743-8C85-64F703A3C917}"/>
                  </a:ext>
                </a:extLst>
              </p:cNvPr>
              <p:cNvSpPr/>
              <p:nvPr/>
            </p:nvSpPr>
            <p:spPr>
              <a:xfrm>
                <a:off x="1453508" y="840789"/>
                <a:ext cx="559319"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𝐼𝑚</m:t>
                      </m:r>
                    </m:oMath>
                  </m:oMathPara>
                </a14:m>
                <a:endParaRPr lang="en-US" sz="2000" dirty="0"/>
              </a:p>
            </p:txBody>
          </p:sp>
        </mc:Choice>
        <mc:Fallback xmlns="">
          <p:sp>
            <p:nvSpPr>
              <p:cNvPr id="9" name="Rectangle 8">
                <a:extLst>
                  <a:ext uri="{FF2B5EF4-FFF2-40B4-BE49-F238E27FC236}">
                    <a16:creationId xmlns:a16="http://schemas.microsoft.com/office/drawing/2014/main" id="{02C70AAB-22B9-3743-8C85-64F703A3C917}"/>
                  </a:ext>
                </a:extLst>
              </p:cNvPr>
              <p:cNvSpPr>
                <a:spLocks noRot="1" noChangeAspect="1" noMove="1" noResize="1" noEditPoints="1" noAdjustHandles="1" noChangeArrowheads="1" noChangeShapeType="1" noTextEdit="1"/>
              </p:cNvSpPr>
              <p:nvPr/>
            </p:nvSpPr>
            <p:spPr>
              <a:xfrm>
                <a:off x="1453508" y="840789"/>
                <a:ext cx="559319" cy="400110"/>
              </a:xfrm>
              <a:prstGeom prst="rect">
                <a:avLst/>
              </a:prstGeom>
              <a:blipFill>
                <a:blip r:embed="rId6"/>
                <a:stretch>
                  <a:fillRect/>
                </a:stretch>
              </a:blipFill>
            </p:spPr>
            <p:txBody>
              <a:bodyPr/>
              <a:lstStyle/>
              <a:p>
                <a:r>
                  <a:rPr lang="en-US">
                    <a:noFill/>
                  </a:rPr>
                  <a:t> </a:t>
                </a:r>
              </a:p>
            </p:txBody>
          </p:sp>
        </mc:Fallback>
      </mc:AlternateContent>
      <p:sp>
        <p:nvSpPr>
          <p:cNvPr id="10" name="Oval 9">
            <a:extLst>
              <a:ext uri="{FF2B5EF4-FFF2-40B4-BE49-F238E27FC236}">
                <a16:creationId xmlns:a16="http://schemas.microsoft.com/office/drawing/2014/main" id="{91E23940-8FFA-A042-8245-0875EDB9FF53}"/>
              </a:ext>
            </a:extLst>
          </p:cNvPr>
          <p:cNvSpPr/>
          <p:nvPr/>
        </p:nvSpPr>
        <p:spPr>
          <a:xfrm>
            <a:off x="3443750" y="2046052"/>
            <a:ext cx="184219" cy="184219"/>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1B1696CE-9E11-F04E-AAFF-FE007219F440}"/>
                  </a:ext>
                </a:extLst>
              </p:cNvPr>
              <p:cNvSpPr/>
              <p:nvPr/>
            </p:nvSpPr>
            <p:spPr>
              <a:xfrm>
                <a:off x="1676635" y="2560827"/>
                <a:ext cx="1142912"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𝑧</m:t>
                          </m:r>
                        </m:e>
                      </m:d>
                    </m:oMath>
                  </m:oMathPara>
                </a14:m>
                <a:endParaRPr lang="en-US" sz="2400" dirty="0"/>
              </a:p>
            </p:txBody>
          </p:sp>
        </mc:Choice>
        <mc:Fallback xmlns="">
          <p:sp>
            <p:nvSpPr>
              <p:cNvPr id="11" name="Rectangle 10">
                <a:extLst>
                  <a:ext uri="{FF2B5EF4-FFF2-40B4-BE49-F238E27FC236}">
                    <a16:creationId xmlns:a16="http://schemas.microsoft.com/office/drawing/2014/main" id="{1B1696CE-9E11-F04E-AAFF-FE007219F440}"/>
                  </a:ext>
                </a:extLst>
              </p:cNvPr>
              <p:cNvSpPr>
                <a:spLocks noRot="1" noChangeAspect="1" noMove="1" noResize="1" noEditPoints="1" noAdjustHandles="1" noChangeArrowheads="1" noChangeShapeType="1" noTextEdit="1"/>
              </p:cNvSpPr>
              <p:nvPr/>
            </p:nvSpPr>
            <p:spPr>
              <a:xfrm>
                <a:off x="1676635" y="2560827"/>
                <a:ext cx="1142912" cy="461665"/>
              </a:xfrm>
              <a:prstGeom prst="rect">
                <a:avLst/>
              </a:prstGeom>
              <a:blipFill>
                <a:blip r:embed="rId7"/>
                <a:stretch>
                  <a:fillRect/>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F4313093-9181-0D43-B420-5389FBCB9B53}"/>
              </a:ext>
            </a:extLst>
          </p:cNvPr>
          <p:cNvCxnSpPr>
            <a:cxnSpLocks/>
          </p:cNvCxnSpPr>
          <p:nvPr/>
        </p:nvCxnSpPr>
        <p:spPr>
          <a:xfrm flipV="1">
            <a:off x="1464162" y="891523"/>
            <a:ext cx="0" cy="4001815"/>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870FCA6-0DAD-1842-A820-CC6A75E3227A}"/>
              </a:ext>
            </a:extLst>
          </p:cNvPr>
          <p:cNvCxnSpPr>
            <a:cxnSpLocks/>
          </p:cNvCxnSpPr>
          <p:nvPr/>
        </p:nvCxnSpPr>
        <p:spPr>
          <a:xfrm>
            <a:off x="557514" y="4185506"/>
            <a:ext cx="4122057" cy="0"/>
          </a:xfrm>
          <a:prstGeom prst="straightConnector1">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177EA50-4E21-3F40-BC70-6101621D177C}"/>
              </a:ext>
            </a:extLst>
          </p:cNvPr>
          <p:cNvSpPr txBox="1"/>
          <p:nvPr/>
        </p:nvSpPr>
        <p:spPr>
          <a:xfrm>
            <a:off x="979943" y="4129517"/>
            <a:ext cx="383438" cy="461665"/>
          </a:xfrm>
          <a:prstGeom prst="rect">
            <a:avLst/>
          </a:prstGeom>
          <a:noFill/>
        </p:spPr>
        <p:txBody>
          <a:bodyPr wrap="square" rtlCol="0">
            <a:spAutoFit/>
          </a:bodyPr>
          <a:lstStyle/>
          <a:p>
            <a:r>
              <a:rPr lang="en-US" sz="2400" i="1" dirty="0">
                <a:latin typeface="+mj-lt"/>
              </a:rPr>
              <a:t>O</a:t>
            </a:r>
          </a:p>
        </p:txBody>
      </p:sp>
      <p:cxnSp>
        <p:nvCxnSpPr>
          <p:cNvPr id="15" name="Straight Connector 14">
            <a:extLst>
              <a:ext uri="{FF2B5EF4-FFF2-40B4-BE49-F238E27FC236}">
                <a16:creationId xmlns:a16="http://schemas.microsoft.com/office/drawing/2014/main" id="{3B0B9456-D874-484F-AE46-47D6EDC42992}"/>
              </a:ext>
            </a:extLst>
          </p:cNvPr>
          <p:cNvCxnSpPr>
            <a:cxnSpLocks/>
          </p:cNvCxnSpPr>
          <p:nvPr/>
        </p:nvCxnSpPr>
        <p:spPr>
          <a:xfrm>
            <a:off x="3533075" y="2230271"/>
            <a:ext cx="0" cy="1952767"/>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8C88032A-5EAF-9A47-8D15-97471709AF4D}"/>
                  </a:ext>
                </a:extLst>
              </p:cNvPr>
              <p:cNvSpPr/>
              <p:nvPr/>
            </p:nvSpPr>
            <p:spPr>
              <a:xfrm>
                <a:off x="1841873" y="3684363"/>
                <a:ext cx="468590"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1"/>
                          </a:solidFill>
                          <a:latin typeface="Cambria Math" panose="02040503050406030204" pitchFamily="18" charset="0"/>
                          <a:ea typeface="Cambria Math" panose="02040503050406030204" pitchFamily="18" charset="0"/>
                        </a:rPr>
                        <m:t>𝜑</m:t>
                      </m:r>
                    </m:oMath>
                  </m:oMathPara>
                </a14:m>
                <a:endParaRPr lang="en-US" sz="2400" dirty="0">
                  <a:solidFill>
                    <a:srgbClr val="FF0000"/>
                  </a:solidFill>
                </a:endParaRPr>
              </a:p>
            </p:txBody>
          </p:sp>
        </mc:Choice>
        <mc:Fallback xmlns="">
          <p:sp>
            <p:nvSpPr>
              <p:cNvPr id="17" name="Rectangle 16">
                <a:extLst>
                  <a:ext uri="{FF2B5EF4-FFF2-40B4-BE49-F238E27FC236}">
                    <a16:creationId xmlns:a16="http://schemas.microsoft.com/office/drawing/2014/main" id="{8C88032A-5EAF-9A47-8D15-97471709AF4D}"/>
                  </a:ext>
                </a:extLst>
              </p:cNvPr>
              <p:cNvSpPr>
                <a:spLocks noRot="1" noChangeAspect="1" noMove="1" noResize="1" noEditPoints="1" noAdjustHandles="1" noChangeArrowheads="1" noChangeShapeType="1" noTextEdit="1"/>
              </p:cNvSpPr>
              <p:nvPr/>
            </p:nvSpPr>
            <p:spPr>
              <a:xfrm>
                <a:off x="1841873" y="3684363"/>
                <a:ext cx="468590" cy="461665"/>
              </a:xfrm>
              <a:prstGeom prst="rect">
                <a:avLst/>
              </a:prstGeom>
              <a:blipFill>
                <a:blip r:embed="rId8"/>
                <a:stretch>
                  <a:fillRect b="-8108"/>
                </a:stretch>
              </a:blipFill>
            </p:spPr>
            <p:txBody>
              <a:bodyPr/>
              <a:lstStyle/>
              <a:p>
                <a:r>
                  <a:rPr lang="en-US">
                    <a:noFill/>
                  </a:rPr>
                  <a:t> </a:t>
                </a:r>
              </a:p>
            </p:txBody>
          </p:sp>
        </mc:Fallback>
      </mc:AlternateContent>
      <p:sp>
        <p:nvSpPr>
          <p:cNvPr id="18" name="Arc 17">
            <a:extLst>
              <a:ext uri="{FF2B5EF4-FFF2-40B4-BE49-F238E27FC236}">
                <a16:creationId xmlns:a16="http://schemas.microsoft.com/office/drawing/2014/main" id="{CE9C0C29-D518-134B-9C06-F5A1C7D49C12}"/>
              </a:ext>
            </a:extLst>
          </p:cNvPr>
          <p:cNvSpPr/>
          <p:nvPr/>
        </p:nvSpPr>
        <p:spPr>
          <a:xfrm rot="2370109">
            <a:off x="1174962" y="3544820"/>
            <a:ext cx="1426616" cy="1009806"/>
          </a:xfrm>
          <a:prstGeom prst="arc">
            <a:avLst>
              <a:gd name="adj1" fmla="val 15483893"/>
              <a:gd name="adj2" fmla="val 19968348"/>
            </a:avLst>
          </a:prstGeom>
          <a:ln>
            <a:headEnd type="arrow" w="lg" len="lg"/>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66C8E3F1-462B-054A-8AC2-38FEF5F109EF}"/>
              </a:ext>
            </a:extLst>
          </p:cNvPr>
          <p:cNvCxnSpPr>
            <a:cxnSpLocks/>
            <a:endCxn id="10" idx="3"/>
          </p:cNvCxnSpPr>
          <p:nvPr/>
        </p:nvCxnSpPr>
        <p:spPr>
          <a:xfrm flipV="1">
            <a:off x="1479835" y="2203293"/>
            <a:ext cx="1990893" cy="1979745"/>
          </a:xfrm>
          <a:prstGeom prst="straightConnector1">
            <a:avLst/>
          </a:prstGeom>
          <a:ln w="63500" cap="rnd">
            <a:solidFill>
              <a:schemeClr val="accent5">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Rectangle 53">
                <a:extLst>
                  <a:ext uri="{FF2B5EF4-FFF2-40B4-BE49-F238E27FC236}">
                    <a16:creationId xmlns:a16="http://schemas.microsoft.com/office/drawing/2014/main" id="{EB00CE73-03A6-1F4F-8A01-13B2F1CF056B}"/>
                  </a:ext>
                </a:extLst>
              </p:cNvPr>
              <p:cNvSpPr/>
              <p:nvPr/>
            </p:nvSpPr>
            <p:spPr>
              <a:xfrm>
                <a:off x="2296905" y="4185506"/>
                <a:ext cx="951094"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r>
                            <a:rPr lang="en-US" sz="2400" i="1">
                              <a:latin typeface="Cambria Math" panose="02040503050406030204" pitchFamily="18" charset="0"/>
                              <a:ea typeface="Cambria Math" panose="02040503050406030204" pitchFamily="18" charset="0"/>
                            </a:rPr>
                            <m:t>𝜑</m:t>
                          </m:r>
                        </m:e>
                      </m:func>
                    </m:oMath>
                  </m:oMathPara>
                </a14:m>
                <a:endParaRPr lang="en-US" sz="2400" dirty="0"/>
              </a:p>
            </p:txBody>
          </p:sp>
        </mc:Choice>
        <mc:Fallback xmlns="">
          <p:sp>
            <p:nvSpPr>
              <p:cNvPr id="54" name="Rectangle 53">
                <a:extLst>
                  <a:ext uri="{FF2B5EF4-FFF2-40B4-BE49-F238E27FC236}">
                    <a16:creationId xmlns:a16="http://schemas.microsoft.com/office/drawing/2014/main" id="{EB00CE73-03A6-1F4F-8A01-13B2F1CF056B}"/>
                  </a:ext>
                </a:extLst>
              </p:cNvPr>
              <p:cNvSpPr>
                <a:spLocks noRot="1" noChangeAspect="1" noMove="1" noResize="1" noEditPoints="1" noAdjustHandles="1" noChangeArrowheads="1" noChangeShapeType="1" noTextEdit="1"/>
              </p:cNvSpPr>
              <p:nvPr/>
            </p:nvSpPr>
            <p:spPr>
              <a:xfrm>
                <a:off x="2296905" y="4185506"/>
                <a:ext cx="951094" cy="461665"/>
              </a:xfrm>
              <a:prstGeom prst="rect">
                <a:avLst/>
              </a:prstGeom>
              <a:blipFill>
                <a:blip r:embed="rId9"/>
                <a:stretch>
                  <a:fillRect b="-810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043A23DC-2D3A-034E-951D-09D5A9881509}"/>
                  </a:ext>
                </a:extLst>
              </p:cNvPr>
              <p:cNvSpPr/>
              <p:nvPr/>
            </p:nvSpPr>
            <p:spPr>
              <a:xfrm rot="16200000">
                <a:off x="2864609" y="3161332"/>
                <a:ext cx="90781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400" i="1" smtClean="0">
                              <a:latin typeface="Cambria Math" panose="02040503050406030204" pitchFamily="18" charset="0"/>
                            </a:rPr>
                          </m:ctrlPr>
                        </m:funcPr>
                        <m:fName>
                          <m:r>
                            <m:rPr>
                              <m:sty m:val="p"/>
                            </m:rPr>
                            <a:rPr lang="en-US" sz="2400" b="0" i="0" smtClean="0">
                              <a:latin typeface="Cambria Math" panose="02040503050406030204" pitchFamily="18" charset="0"/>
                            </a:rPr>
                            <m:t>sin</m:t>
                          </m:r>
                        </m:fName>
                        <m:e>
                          <m:r>
                            <a:rPr lang="en-US" sz="2400" i="1">
                              <a:latin typeface="Cambria Math" panose="02040503050406030204" pitchFamily="18" charset="0"/>
                              <a:ea typeface="Cambria Math" panose="02040503050406030204" pitchFamily="18" charset="0"/>
                            </a:rPr>
                            <m:t>𝜑</m:t>
                          </m:r>
                        </m:e>
                      </m:func>
                    </m:oMath>
                  </m:oMathPara>
                </a14:m>
                <a:endParaRPr lang="en-US" sz="2400" dirty="0"/>
              </a:p>
            </p:txBody>
          </p:sp>
        </mc:Choice>
        <mc:Fallback xmlns="">
          <p:sp>
            <p:nvSpPr>
              <p:cNvPr id="55" name="Rectangle 54">
                <a:extLst>
                  <a:ext uri="{FF2B5EF4-FFF2-40B4-BE49-F238E27FC236}">
                    <a16:creationId xmlns:a16="http://schemas.microsoft.com/office/drawing/2014/main" id="{043A23DC-2D3A-034E-951D-09D5A9881509}"/>
                  </a:ext>
                </a:extLst>
              </p:cNvPr>
              <p:cNvSpPr>
                <a:spLocks noRot="1" noChangeAspect="1" noMove="1" noResize="1" noEditPoints="1" noAdjustHandles="1" noChangeArrowheads="1" noChangeShapeType="1" noTextEdit="1"/>
              </p:cNvSpPr>
              <p:nvPr/>
            </p:nvSpPr>
            <p:spPr>
              <a:xfrm rot="16200000">
                <a:off x="2864609" y="3161332"/>
                <a:ext cx="907813" cy="461665"/>
              </a:xfrm>
              <a:prstGeom prst="rect">
                <a:avLst/>
              </a:prstGeom>
              <a:blipFill>
                <a:blip r:embed="rId10"/>
                <a:stretch>
                  <a:fillRect r="-108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095C842C-CAB6-1D4A-A8C5-2AFDD29A6741}"/>
                  </a:ext>
                </a:extLst>
              </p:cNvPr>
              <p:cNvSpPr/>
              <p:nvPr/>
            </p:nvSpPr>
            <p:spPr>
              <a:xfrm>
                <a:off x="4346940" y="4172716"/>
                <a:ext cx="386388"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1</m:t>
                      </m:r>
                    </m:oMath>
                  </m:oMathPara>
                </a14:m>
                <a:endParaRPr lang="en-US" sz="2000" dirty="0"/>
              </a:p>
            </p:txBody>
          </p:sp>
        </mc:Choice>
        <mc:Fallback xmlns="">
          <p:sp>
            <p:nvSpPr>
              <p:cNvPr id="52" name="Rectangle 51">
                <a:extLst>
                  <a:ext uri="{FF2B5EF4-FFF2-40B4-BE49-F238E27FC236}">
                    <a16:creationId xmlns:a16="http://schemas.microsoft.com/office/drawing/2014/main" id="{095C842C-CAB6-1D4A-A8C5-2AFDD29A6741}"/>
                  </a:ext>
                </a:extLst>
              </p:cNvPr>
              <p:cNvSpPr>
                <a:spLocks noRot="1" noChangeAspect="1" noMove="1" noResize="1" noEditPoints="1" noAdjustHandles="1" noChangeArrowheads="1" noChangeShapeType="1" noTextEdit="1"/>
              </p:cNvSpPr>
              <p:nvPr/>
            </p:nvSpPr>
            <p:spPr>
              <a:xfrm>
                <a:off x="4346940" y="4172716"/>
                <a:ext cx="386388" cy="40011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15566C6D-6729-C743-A2D1-A3DA8FCE7665}"/>
                  </a:ext>
                </a:extLst>
              </p:cNvPr>
              <p:cNvSpPr/>
              <p:nvPr/>
            </p:nvSpPr>
            <p:spPr>
              <a:xfrm>
                <a:off x="1035079" y="911959"/>
                <a:ext cx="386388"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𝑖</m:t>
                      </m:r>
                    </m:oMath>
                  </m:oMathPara>
                </a14:m>
                <a:endParaRPr lang="en-US" sz="2000" dirty="0"/>
              </a:p>
            </p:txBody>
          </p:sp>
        </mc:Choice>
        <mc:Fallback xmlns="">
          <p:sp>
            <p:nvSpPr>
              <p:cNvPr id="53" name="Rectangle 52">
                <a:extLst>
                  <a:ext uri="{FF2B5EF4-FFF2-40B4-BE49-F238E27FC236}">
                    <a16:creationId xmlns:a16="http://schemas.microsoft.com/office/drawing/2014/main" id="{15566C6D-6729-C743-A2D1-A3DA8FCE7665}"/>
                  </a:ext>
                </a:extLst>
              </p:cNvPr>
              <p:cNvSpPr>
                <a:spLocks noRot="1" noChangeAspect="1" noMove="1" noResize="1" noEditPoints="1" noAdjustHandles="1" noChangeArrowheads="1" noChangeShapeType="1" noTextEdit="1"/>
              </p:cNvSpPr>
              <p:nvPr/>
            </p:nvSpPr>
            <p:spPr>
              <a:xfrm>
                <a:off x="1035079" y="911959"/>
                <a:ext cx="386388" cy="400110"/>
              </a:xfrm>
              <a:prstGeom prst="rect">
                <a:avLst/>
              </a:prstGeom>
              <a:blipFill>
                <a:blip r:embed="rId12"/>
                <a:stretch>
                  <a:fillRect/>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B4FBB237-1946-5F4A-A8A9-EB3729D40511}"/>
              </a:ext>
            </a:extLst>
          </p:cNvPr>
          <p:cNvGrpSpPr/>
          <p:nvPr/>
        </p:nvGrpSpPr>
        <p:grpSpPr>
          <a:xfrm>
            <a:off x="6096000" y="1053803"/>
            <a:ext cx="4701736" cy="1006436"/>
            <a:chOff x="6097104" y="1420028"/>
            <a:chExt cx="4701736" cy="1006436"/>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EA8C16C-9598-2D40-A758-84A8DF3DFC96}"/>
                    </a:ext>
                  </a:extLst>
                </p:cNvPr>
                <p:cNvSpPr/>
                <p:nvPr/>
              </p:nvSpPr>
              <p:spPr>
                <a:xfrm>
                  <a:off x="6224602" y="1420028"/>
                  <a:ext cx="4552080" cy="461665"/>
                </a:xfrm>
                <a:prstGeom prst="rect">
                  <a:avLst/>
                </a:prstGeom>
              </p:spPr>
              <p:txBody>
                <a:bodyPr wrap="none">
                  <a:spAutoFit/>
                </a:bodyPr>
                <a:lstStyle/>
                <a:p>
                  <a14:m>
                    <m:oMath xmlns:m="http://schemas.openxmlformats.org/officeDocument/2006/math">
                      <m:r>
                        <a:rPr lang="en-US" sz="2400" i="1" smtClean="0">
                          <a:latin typeface="Cambria Math" panose="02040503050406030204" pitchFamily="18" charset="0"/>
                        </a:rPr>
                        <m:t>𝑧</m:t>
                      </m:r>
                      <m:r>
                        <a:rPr lang="en-US" sz="2400" i="1" smtClean="0">
                          <a:latin typeface="Cambria Math" panose="02040503050406030204" pitchFamily="18" charset="0"/>
                        </a:rPr>
                        <m:t>=</m:t>
                      </m:r>
                      <m:r>
                        <a:rPr lang="en-US" sz="2400" i="1" smtClean="0">
                          <a:latin typeface="Cambria Math" panose="02040503050406030204" pitchFamily="18" charset="0"/>
                        </a:rPr>
                        <m:t>𝑥</m:t>
                      </m:r>
                      <m:r>
                        <a:rPr lang="en-US" sz="2400" i="1" smtClean="0">
                          <a:latin typeface="Cambria Math" panose="02040503050406030204" pitchFamily="18" charset="0"/>
                        </a:rPr>
                        <m:t>+</m:t>
                      </m:r>
                      <m:r>
                        <a:rPr lang="en-US" sz="2400" i="1" smtClean="0">
                          <a:latin typeface="Cambria Math" panose="02040503050406030204" pitchFamily="18" charset="0"/>
                        </a:rPr>
                        <m:t>𝑖𝑦</m:t>
                      </m:r>
                    </m:oMath>
                  </a14:m>
                  <a:r>
                    <a:rPr lang="en-US" sz="2400" dirty="0"/>
                    <a:t> </a:t>
                  </a:r>
                  <a14:m>
                    <m:oMath xmlns:m="http://schemas.openxmlformats.org/officeDocument/2006/math">
                      <m:r>
                        <a:rPr lang="en-US" sz="2400" b="0" i="0" smtClean="0">
                          <a:latin typeface="Cambria Math" panose="02040503050406030204" pitchFamily="18" charset="0"/>
                        </a:rPr>
                        <m:t>  </m:t>
                      </m:r>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𝑧</m:t>
                          </m:r>
                        </m:e>
                      </m:d>
                      <m:d>
                        <m:dPr>
                          <m:ctrlPr>
                            <a:rPr lang="en-US" sz="2400" i="1" smtClean="0">
                              <a:latin typeface="Cambria Math" panose="02040503050406030204" pitchFamily="18" charset="0"/>
                            </a:rPr>
                          </m:ctrlPr>
                        </m:dPr>
                        <m:e>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r>
                                <a:rPr lang="en-US" sz="2400" i="1">
                                  <a:latin typeface="Cambria Math" panose="02040503050406030204" pitchFamily="18" charset="0"/>
                                  <a:ea typeface="Cambria Math" panose="02040503050406030204" pitchFamily="18" charset="0"/>
                                </a:rPr>
                                <m:t>𝜑</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𝑖</m:t>
                              </m:r>
                              <m:func>
                                <m:funcPr>
                                  <m:ctrlPr>
                                    <a:rPr lang="en-US" sz="2400" b="0" i="1" smtClean="0">
                                      <a:latin typeface="Cambria Math" panose="02040503050406030204" pitchFamily="18" charset="0"/>
                                      <a:ea typeface="Cambria Math" panose="02040503050406030204" pitchFamily="18" charset="0"/>
                                    </a:rPr>
                                  </m:ctrlPr>
                                </m:funcPr>
                                <m:fName>
                                  <m:r>
                                    <m:rPr>
                                      <m:sty m:val="p"/>
                                    </m:rPr>
                                    <a:rPr lang="en-US" sz="2400" b="0" i="0" smtClean="0">
                                      <a:latin typeface="Cambria Math" panose="02040503050406030204" pitchFamily="18" charset="0"/>
                                      <a:ea typeface="Cambria Math" panose="02040503050406030204" pitchFamily="18" charset="0"/>
                                    </a:rPr>
                                    <m:t>sin</m:t>
                                  </m:r>
                                </m:fName>
                                <m:e>
                                  <m:r>
                                    <a:rPr lang="en-US" sz="2400" i="1">
                                      <a:latin typeface="Cambria Math" panose="02040503050406030204" pitchFamily="18" charset="0"/>
                                      <a:ea typeface="Cambria Math" panose="02040503050406030204" pitchFamily="18" charset="0"/>
                                    </a:rPr>
                                    <m:t>𝜑</m:t>
                                  </m:r>
                                </m:e>
                              </m:func>
                            </m:e>
                          </m:func>
                        </m:e>
                      </m:d>
                    </m:oMath>
                  </a14:m>
                  <a:endParaRPr lang="en-US" sz="2400" i="1" dirty="0">
                    <a:latin typeface="Cambria Math" panose="02040503050406030204" pitchFamily="18" charset="0"/>
                  </a:endParaRPr>
                </a:p>
              </p:txBody>
            </p:sp>
          </mc:Choice>
          <mc:Fallback xmlns="">
            <p:sp>
              <p:nvSpPr>
                <p:cNvPr id="5" name="Rectangle 4">
                  <a:extLst>
                    <a:ext uri="{FF2B5EF4-FFF2-40B4-BE49-F238E27FC236}">
                      <a16:creationId xmlns:a16="http://schemas.microsoft.com/office/drawing/2014/main" id="{7EA8C16C-9598-2D40-A758-84A8DF3DFC96}"/>
                    </a:ext>
                  </a:extLst>
                </p:cNvPr>
                <p:cNvSpPr>
                  <a:spLocks noRot="1" noChangeAspect="1" noMove="1" noResize="1" noEditPoints="1" noAdjustHandles="1" noChangeArrowheads="1" noChangeShapeType="1" noTextEdit="1"/>
                </p:cNvSpPr>
                <p:nvPr/>
              </p:nvSpPr>
              <p:spPr>
                <a:xfrm>
                  <a:off x="6224602" y="1420028"/>
                  <a:ext cx="4552080" cy="461665"/>
                </a:xfrm>
                <a:prstGeom prst="rect">
                  <a:avLst/>
                </a:prstGeom>
                <a:blipFill>
                  <a:blip r:embed="rId17"/>
                  <a:stretch>
                    <a:fillRect b="-189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172DAC1A-E2B4-6C4B-873C-2EB9156A1614}"/>
                    </a:ext>
                  </a:extLst>
                </p:cNvPr>
                <p:cNvSpPr/>
                <p:nvPr/>
              </p:nvSpPr>
              <p:spPr>
                <a:xfrm>
                  <a:off x="6097104" y="1964799"/>
                  <a:ext cx="470173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a:latin typeface="Cambria Math" panose="02040503050406030204" pitchFamily="18" charset="0"/>
                              </a:rPr>
                            </m:ctrlPr>
                          </m:sSupPr>
                          <m:e>
                            <m:r>
                              <a:rPr lang="en-US" sz="2400" i="1">
                                <a:latin typeface="Cambria Math" panose="02040503050406030204" pitchFamily="18" charset="0"/>
                              </a:rPr>
                              <m:t>𝑧</m:t>
                            </m:r>
                          </m:e>
                          <m:sup>
                            <m:r>
                              <a:rPr lang="en-US" sz="2400" i="1">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m:t>
                        </m:r>
                        <m:r>
                          <a:rPr lang="en-US" sz="2400" i="1">
                            <a:latin typeface="Cambria Math" panose="02040503050406030204" pitchFamily="18" charset="0"/>
                          </a:rPr>
                          <m:t>𝑖𝑦</m:t>
                        </m:r>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𝑧</m:t>
                            </m:r>
                          </m:e>
                        </m:d>
                        <m:d>
                          <m:dPr>
                            <m:ctrlPr>
                              <a:rPr lang="en-US" sz="2400" i="1">
                                <a:latin typeface="Cambria Math" panose="02040503050406030204" pitchFamily="18" charset="0"/>
                              </a:rPr>
                            </m:ctrlPr>
                          </m:dPr>
                          <m:e>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r>
                                  <a:rPr lang="en-US" sz="2400" i="1">
                                    <a:latin typeface="Cambria Math" panose="02040503050406030204" pitchFamily="18" charset="0"/>
                                    <a:ea typeface="Cambria Math" panose="02040503050406030204" pitchFamily="18" charset="0"/>
                                  </a:rPr>
                                  <m:t>𝜑</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sin</m:t>
                                    </m:r>
                                  </m:fName>
                                  <m:e>
                                    <m:r>
                                      <a:rPr lang="en-US" sz="2400" i="1">
                                        <a:latin typeface="Cambria Math" panose="02040503050406030204" pitchFamily="18" charset="0"/>
                                        <a:ea typeface="Cambria Math" panose="02040503050406030204" pitchFamily="18" charset="0"/>
                                      </a:rPr>
                                      <m:t>𝜑</m:t>
                                    </m:r>
                                  </m:e>
                                </m:func>
                              </m:e>
                            </m:func>
                          </m:e>
                        </m:d>
                      </m:oMath>
                    </m:oMathPara>
                  </a14:m>
                  <a:endParaRPr lang="en-US" sz="2400" dirty="0"/>
                </a:p>
              </p:txBody>
            </p:sp>
          </mc:Choice>
          <mc:Fallback xmlns="">
            <p:sp>
              <p:nvSpPr>
                <p:cNvPr id="20" name="Rectangle 19">
                  <a:extLst>
                    <a:ext uri="{FF2B5EF4-FFF2-40B4-BE49-F238E27FC236}">
                      <a16:creationId xmlns:a16="http://schemas.microsoft.com/office/drawing/2014/main" id="{172DAC1A-E2B4-6C4B-873C-2EB9156A1614}"/>
                    </a:ext>
                  </a:extLst>
                </p:cNvPr>
                <p:cNvSpPr>
                  <a:spLocks noRot="1" noChangeAspect="1" noMove="1" noResize="1" noEditPoints="1" noAdjustHandles="1" noChangeArrowheads="1" noChangeShapeType="1" noTextEdit="1"/>
                </p:cNvSpPr>
                <p:nvPr/>
              </p:nvSpPr>
              <p:spPr>
                <a:xfrm>
                  <a:off x="6097104" y="1964799"/>
                  <a:ext cx="4701736" cy="461665"/>
                </a:xfrm>
                <a:prstGeom prst="rect">
                  <a:avLst/>
                </a:prstGeom>
                <a:blipFill>
                  <a:blip r:embed="rId18"/>
                  <a:stretch>
                    <a:fillRect b="-16216"/>
                  </a:stretch>
                </a:blipFill>
              </p:spPr>
              <p:txBody>
                <a:bodyPr/>
                <a:lstStyle/>
                <a:p>
                  <a:r>
                    <a:rPr lang="en-US">
                      <a:noFill/>
                    </a:rPr>
                    <a:t> </a:t>
                  </a:r>
                </a:p>
              </p:txBody>
            </p:sp>
          </mc:Fallback>
        </mc:AlternateContent>
      </p:grpSp>
      <p:grpSp>
        <p:nvGrpSpPr>
          <p:cNvPr id="26" name="Group 25">
            <a:extLst>
              <a:ext uri="{FF2B5EF4-FFF2-40B4-BE49-F238E27FC236}">
                <a16:creationId xmlns:a16="http://schemas.microsoft.com/office/drawing/2014/main" id="{9635F3F5-0559-4F4C-A435-538A48ECA65E}"/>
              </a:ext>
            </a:extLst>
          </p:cNvPr>
          <p:cNvGrpSpPr/>
          <p:nvPr/>
        </p:nvGrpSpPr>
        <p:grpSpPr>
          <a:xfrm>
            <a:off x="5534963" y="2396330"/>
            <a:ext cx="5438799" cy="2063913"/>
            <a:chOff x="5534963" y="2396330"/>
            <a:chExt cx="5438799" cy="2063913"/>
          </a:xfrm>
        </p:grpSpPr>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412DEF2A-E522-3D4C-8B45-F77B76C6921D}"/>
                    </a:ext>
                  </a:extLst>
                </p:cNvPr>
                <p:cNvSpPr/>
                <p:nvPr/>
              </p:nvSpPr>
              <p:spPr>
                <a:xfrm>
                  <a:off x="6164977" y="3409480"/>
                  <a:ext cx="4676921" cy="4735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𝑧</m:t>
                        </m:r>
                        <m:r>
                          <a:rPr lang="en-US" sz="2400" b="0" i="1" smtClean="0">
                            <a:latin typeface="Cambria Math" panose="02040503050406030204" pitchFamily="18" charset="0"/>
                          </a:rPr>
                          <m:t>  =|</m:t>
                        </m:r>
                        <m:r>
                          <a:rPr lang="en-US" sz="2400" i="1">
                            <a:latin typeface="Cambria Math" panose="02040503050406030204" pitchFamily="18" charset="0"/>
                          </a:rPr>
                          <m:t>𝑧</m:t>
                        </m:r>
                        <m:r>
                          <a:rPr lang="en-US" sz="2400" i="1">
                            <a:latin typeface="Cambria Math" panose="02040503050406030204" pitchFamily="18" charset="0"/>
                          </a:rPr>
                          <m:t>|</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r>
                                      <a:rPr lang="en-US" sz="2400" i="1">
                                        <a:latin typeface="Cambria Math" panose="02040503050406030204" pitchFamily="18" charset="0"/>
                                        <a:ea typeface="Cambria Math" panose="02040503050406030204" pitchFamily="18" charset="0"/>
                                      </a:rPr>
                                      <m:t>𝜑</m:t>
                                    </m:r>
                                  </m:e>
                                </m:func>
                                <m:r>
                                  <m:rPr>
                                    <m:lit/>
                                  </m:rPr>
                                  <a:rPr lang="en-US" sz="2400" i="1">
                                    <a:latin typeface="Cambria Math" panose="02040503050406030204" pitchFamily="18" charset="0"/>
                                  </a:rPr>
                                  <m:t>+</m:t>
                                </m:r>
                                <m:r>
                                  <a:rPr lang="en-US" sz="2400" i="1">
                                    <a:latin typeface="Cambria Math" panose="02040503050406030204" pitchFamily="18" charset="0"/>
                                  </a:rPr>
                                  <m:t>𝑖</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sin</m:t>
                                    </m:r>
                                  </m:fName>
                                  <m:e>
                                    <m:r>
                                      <a:rPr lang="en-US" sz="2400" i="1">
                                        <a:latin typeface="Cambria Math" panose="02040503050406030204" pitchFamily="18" charset="0"/>
                                        <a:ea typeface="Cambria Math" panose="02040503050406030204" pitchFamily="18" charset="0"/>
                                      </a:rPr>
                                      <m:t>𝜑</m:t>
                                    </m:r>
                                  </m:e>
                                </m:func>
                              </m:e>
                            </m:d>
                            <m:r>
                              <a:rPr lang="en-US" sz="2400" i="1">
                                <a:latin typeface="Cambria Math" panose="02040503050406030204" pitchFamily="18" charset="0"/>
                              </a:rPr>
                              <m:t>=|</m:t>
                            </m:r>
                            <m:r>
                              <a:rPr lang="en-US" sz="2400" i="1">
                                <a:latin typeface="Cambria Math" panose="02040503050406030204" pitchFamily="18" charset="0"/>
                              </a:rPr>
                              <m:t>𝑧</m:t>
                            </m:r>
                            <m:r>
                              <a:rPr lang="en-US" sz="2400" i="1">
                                <a:latin typeface="Cambria Math" panose="02040503050406030204" pitchFamily="18" charset="0"/>
                              </a:rPr>
                              <m:t>|</m:t>
                            </m:r>
                            <m:r>
                              <a:rPr lang="en-US" sz="2400" i="1">
                                <a:latin typeface="Cambria Math" panose="02040503050406030204" pitchFamily="18" charset="0"/>
                              </a:rPr>
                              <m:t>𝑒</m:t>
                            </m:r>
                          </m:e>
                          <m:sup>
                            <m:r>
                              <a:rPr lang="en-US" sz="2400" i="1">
                                <a:latin typeface="Cambria Math" panose="02040503050406030204" pitchFamily="18" charset="0"/>
                              </a:rPr>
                              <m:t>𝑖</m:t>
                            </m:r>
                            <m:r>
                              <a:rPr lang="en-US" sz="2400" i="1">
                                <a:latin typeface="Cambria Math" panose="02040503050406030204" pitchFamily="18" charset="0"/>
                                <a:ea typeface="Cambria Math" panose="02040503050406030204" pitchFamily="18" charset="0"/>
                              </a:rPr>
                              <m:t>𝜑</m:t>
                            </m:r>
                          </m:sup>
                        </m:sSup>
                      </m:oMath>
                    </m:oMathPara>
                  </a14:m>
                  <a:endParaRPr lang="en-US" sz="2400" dirty="0"/>
                </a:p>
              </p:txBody>
            </p:sp>
          </mc:Choice>
          <mc:Fallback xmlns="">
            <p:sp>
              <p:nvSpPr>
                <p:cNvPr id="39" name="Rectangle 38">
                  <a:extLst>
                    <a:ext uri="{FF2B5EF4-FFF2-40B4-BE49-F238E27FC236}">
                      <a16:creationId xmlns:a16="http://schemas.microsoft.com/office/drawing/2014/main" id="{412DEF2A-E522-3D4C-8B45-F77B76C6921D}"/>
                    </a:ext>
                  </a:extLst>
                </p:cNvPr>
                <p:cNvSpPr>
                  <a:spLocks noRot="1" noChangeAspect="1" noMove="1" noResize="1" noEditPoints="1" noAdjustHandles="1" noChangeArrowheads="1" noChangeShapeType="1" noTextEdit="1"/>
                </p:cNvSpPr>
                <p:nvPr/>
              </p:nvSpPr>
              <p:spPr>
                <a:xfrm>
                  <a:off x="6164977" y="3409480"/>
                  <a:ext cx="4676921" cy="473591"/>
                </a:xfrm>
                <a:prstGeom prst="rect">
                  <a:avLst/>
                </a:prstGeom>
                <a:blipFill>
                  <a:blip r:embed="rId19"/>
                  <a:stretch>
                    <a:fillRect b="-179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3910A51A-9229-684B-BF3C-EECFF2480417}"/>
                    </a:ext>
                  </a:extLst>
                </p:cNvPr>
                <p:cNvSpPr/>
                <p:nvPr/>
              </p:nvSpPr>
              <p:spPr>
                <a:xfrm>
                  <a:off x="5534963" y="2396330"/>
                  <a:ext cx="5252079" cy="473591"/>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400" i="1" smtClean="0">
                                <a:latin typeface="Cambria Math" panose="02040503050406030204" pitchFamily="18" charset="0"/>
                              </a:rPr>
                            </m:ctrlPr>
                          </m:funcPr>
                          <m:fName>
                            <m:sSup>
                              <m:sSupPr>
                                <m:ctrlPr>
                                  <a:rPr lang="en-US" sz="2400" i="1">
                                    <a:latin typeface="Cambria Math" panose="02040503050406030204" pitchFamily="18" charset="0"/>
                                  </a:rPr>
                                </m:ctrlPr>
                              </m:sSupPr>
                              <m:e>
                                <m:r>
                                  <m:rPr>
                                    <m:nor/>
                                  </m:rPr>
                                  <a:rPr lang="en-ZA" sz="2400" dirty="0"/>
                                  <m:t>Euler</m:t>
                                </m:r>
                                <m:r>
                                  <m:rPr>
                                    <m:nor/>
                                  </m:rPr>
                                  <a:rPr lang="en-ZA" sz="2400" dirty="0"/>
                                  <m:t>’</m:t>
                                </m:r>
                                <m:r>
                                  <m:rPr>
                                    <m:nor/>
                                  </m:rPr>
                                  <a:rPr lang="en-ZA" sz="2400" dirty="0"/>
                                  <m:t>s</m:t>
                                </m:r>
                                <m:r>
                                  <m:rPr>
                                    <m:nor/>
                                  </m:rPr>
                                  <a:rPr lang="en-ZA" sz="2400" dirty="0"/>
                                  <m:t> </m:t>
                                </m:r>
                                <m:r>
                                  <m:rPr>
                                    <m:nor/>
                                  </m:rPr>
                                  <a:rPr lang="en-ZA" sz="2400" dirty="0"/>
                                  <m:t>formula</m:t>
                                </m:r>
                                <m:r>
                                  <a:rPr lang="en-US" sz="2400" b="0" i="1" dirty="0" smtClean="0">
                                    <a:latin typeface="Cambria Math" panose="02040503050406030204" pitchFamily="18" charset="0"/>
                                  </a:rPr>
                                  <m:t>: </m:t>
                                </m:r>
                                <m:r>
                                  <a:rPr lang="en-US" sz="2400" i="1">
                                    <a:latin typeface="Cambria Math" panose="02040503050406030204" pitchFamily="18" charset="0"/>
                                  </a:rPr>
                                  <m:t>𝑒</m:t>
                                </m:r>
                              </m:e>
                              <m:sup>
                                <m:r>
                                  <a:rPr lang="en-US" sz="2400" i="1">
                                    <a:latin typeface="Cambria Math" panose="02040503050406030204" pitchFamily="18" charset="0"/>
                                  </a:rPr>
                                  <m:t>𝑖</m:t>
                                </m:r>
                                <m:r>
                                  <a:rPr lang="en-US" sz="2400" i="1">
                                    <a:latin typeface="Cambria Math" panose="02040503050406030204" pitchFamily="18" charset="0"/>
                                    <a:ea typeface="Cambria Math" panose="02040503050406030204" pitchFamily="18" charset="0"/>
                                  </a:rPr>
                                  <m:t>𝜑</m:t>
                                </m:r>
                              </m:sup>
                            </m:sSup>
                            <m:r>
                              <a:rPr lang="en-US" sz="2400" i="1">
                                <a:latin typeface="Cambria Math" panose="02040503050406030204" pitchFamily="18" charset="0"/>
                              </a:rPr>
                              <m:t>=</m:t>
                            </m:r>
                            <m:r>
                              <m:rPr>
                                <m:sty m:val="p"/>
                              </m:rPr>
                              <a:rPr lang="en-US" sz="2400">
                                <a:latin typeface="Cambria Math" panose="02040503050406030204" pitchFamily="18" charset="0"/>
                              </a:rPr>
                              <m:t>cos</m:t>
                            </m:r>
                          </m:fName>
                          <m:e>
                            <m:r>
                              <a:rPr lang="en-US" sz="2400" i="1">
                                <a:latin typeface="Cambria Math" panose="02040503050406030204" pitchFamily="18" charset="0"/>
                                <a:ea typeface="Cambria Math" panose="02040503050406030204" pitchFamily="18" charset="0"/>
                              </a:rPr>
                              <m:t>𝜑</m:t>
                            </m:r>
                          </m:e>
                        </m:func>
                        <m:r>
                          <m:rPr>
                            <m:lit/>
                          </m:rPr>
                          <a:rPr lang="en-US" sz="2400" i="1">
                            <a:latin typeface="Cambria Math" panose="02040503050406030204" pitchFamily="18" charset="0"/>
                          </a:rPr>
                          <m:t>+</m:t>
                        </m:r>
                        <m:r>
                          <a:rPr lang="en-US" sz="2400" i="1">
                            <a:latin typeface="Cambria Math" panose="02040503050406030204" pitchFamily="18" charset="0"/>
                          </a:rPr>
                          <m:t>𝑖</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sin</m:t>
                            </m:r>
                          </m:fName>
                          <m:e>
                            <m:r>
                              <a:rPr lang="en-US" sz="2400" i="1">
                                <a:latin typeface="Cambria Math" panose="02040503050406030204" pitchFamily="18" charset="0"/>
                                <a:ea typeface="Cambria Math" panose="02040503050406030204" pitchFamily="18" charset="0"/>
                              </a:rPr>
                              <m:t>𝜑</m:t>
                            </m:r>
                          </m:e>
                        </m:func>
                      </m:oMath>
                    </m:oMathPara>
                  </a14:m>
                  <a:endParaRPr lang="en-US" sz="2400" dirty="0"/>
                </a:p>
              </p:txBody>
            </p:sp>
          </mc:Choice>
          <mc:Fallback xmlns="">
            <p:sp>
              <p:nvSpPr>
                <p:cNvPr id="66" name="Rectangle 65">
                  <a:extLst>
                    <a:ext uri="{FF2B5EF4-FFF2-40B4-BE49-F238E27FC236}">
                      <a16:creationId xmlns:a16="http://schemas.microsoft.com/office/drawing/2014/main" id="{3910A51A-9229-684B-BF3C-EECFF2480417}"/>
                    </a:ext>
                  </a:extLst>
                </p:cNvPr>
                <p:cNvSpPr>
                  <a:spLocks noRot="1" noChangeAspect="1" noMove="1" noResize="1" noEditPoints="1" noAdjustHandles="1" noChangeArrowheads="1" noChangeShapeType="1" noTextEdit="1"/>
                </p:cNvSpPr>
                <p:nvPr/>
              </p:nvSpPr>
              <p:spPr>
                <a:xfrm>
                  <a:off x="5534963" y="2396330"/>
                  <a:ext cx="5252079" cy="473591"/>
                </a:xfrm>
                <a:prstGeom prst="rect">
                  <a:avLst/>
                </a:prstGeom>
                <a:blipFill>
                  <a:blip r:embed="rId20"/>
                  <a:stretch>
                    <a:fillRect t="-2632" b="-2368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F057BEFF-D2C4-4D42-8800-FD1624CD7C94}"/>
                    </a:ext>
                  </a:extLst>
                </p:cNvPr>
                <p:cNvSpPr/>
                <p:nvPr/>
              </p:nvSpPr>
              <p:spPr>
                <a:xfrm>
                  <a:off x="6203802" y="3986652"/>
                  <a:ext cx="4769960" cy="4735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rPr>
                            </m:ctrlPr>
                          </m:sSupPr>
                          <m:e>
                            <m:r>
                              <a:rPr lang="en-US" sz="2400" i="1">
                                <a:latin typeface="Cambria Math" panose="02040503050406030204" pitchFamily="18" charset="0"/>
                              </a:rPr>
                              <m:t>𝑧</m:t>
                            </m:r>
                          </m:e>
                          <m:sup>
                            <m:r>
                              <a:rPr lang="en-US" sz="2400" i="1">
                                <a:latin typeface="Cambria Math" panose="02040503050406030204" pitchFamily="18" charset="0"/>
                              </a:rPr>
                              <m:t>∗</m:t>
                            </m:r>
                          </m:sup>
                        </m:sSup>
                        <m:r>
                          <a:rPr lang="en-US" sz="2400" b="0" i="1" smtClean="0">
                            <a:latin typeface="Cambria Math" panose="02040503050406030204" pitchFamily="18" charset="0"/>
                          </a:rPr>
                          <m:t>=|</m:t>
                        </m:r>
                        <m:r>
                          <a:rPr lang="en-US" sz="2400" i="1">
                            <a:latin typeface="Cambria Math" panose="02040503050406030204" pitchFamily="18" charset="0"/>
                          </a:rPr>
                          <m:t>𝑧</m:t>
                        </m:r>
                        <m:r>
                          <a:rPr lang="en-US" sz="2400" i="1">
                            <a:latin typeface="Cambria Math" panose="02040503050406030204" pitchFamily="18" charset="0"/>
                          </a:rPr>
                          <m:t>|</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r>
                                      <a:rPr lang="en-US" sz="2400" i="1">
                                        <a:latin typeface="Cambria Math" panose="02040503050406030204" pitchFamily="18" charset="0"/>
                                        <a:ea typeface="Cambria Math" panose="02040503050406030204" pitchFamily="18" charset="0"/>
                                      </a:rPr>
                                      <m:t>𝜑</m:t>
                                    </m:r>
                                  </m:e>
                                </m:func>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𝑖</m:t>
                                </m:r>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sin</m:t>
                                    </m:r>
                                  </m:fName>
                                  <m:e>
                                    <m:r>
                                      <a:rPr lang="en-US" sz="2400" i="1">
                                        <a:latin typeface="Cambria Math" panose="02040503050406030204" pitchFamily="18" charset="0"/>
                                        <a:ea typeface="Cambria Math" panose="02040503050406030204" pitchFamily="18" charset="0"/>
                                      </a:rPr>
                                      <m:t>𝜑</m:t>
                                    </m:r>
                                  </m:e>
                                </m:func>
                              </m:e>
                            </m:d>
                            <m:r>
                              <a:rPr lang="en-US" sz="2400" i="1">
                                <a:latin typeface="Cambria Math" panose="02040503050406030204" pitchFamily="18" charset="0"/>
                              </a:rPr>
                              <m:t>=|</m:t>
                            </m:r>
                            <m:r>
                              <a:rPr lang="en-US" sz="2400" i="1">
                                <a:latin typeface="Cambria Math" panose="02040503050406030204" pitchFamily="18" charset="0"/>
                              </a:rPr>
                              <m:t>𝑧</m:t>
                            </m:r>
                            <m:r>
                              <a:rPr lang="en-US" sz="2400" i="1">
                                <a:latin typeface="Cambria Math" panose="02040503050406030204" pitchFamily="18" charset="0"/>
                              </a:rPr>
                              <m:t>|</m:t>
                            </m:r>
                            <m:r>
                              <a:rPr lang="en-US" sz="2400" i="1">
                                <a:latin typeface="Cambria Math" panose="02040503050406030204" pitchFamily="18" charset="0"/>
                              </a:rPr>
                              <m:t>𝑒</m:t>
                            </m:r>
                          </m:e>
                          <m:sup>
                            <m:r>
                              <a:rPr lang="en-US" sz="2400" b="0" i="1" smtClean="0">
                                <a:latin typeface="Cambria Math" panose="02040503050406030204" pitchFamily="18" charset="0"/>
                              </a:rPr>
                              <m:t>−</m:t>
                            </m:r>
                            <m:r>
                              <a:rPr lang="en-US" sz="2400" i="1">
                                <a:latin typeface="Cambria Math" panose="02040503050406030204" pitchFamily="18" charset="0"/>
                              </a:rPr>
                              <m:t>𝑖</m:t>
                            </m:r>
                            <m:r>
                              <a:rPr lang="en-US" sz="2400" i="1">
                                <a:latin typeface="Cambria Math" panose="02040503050406030204" pitchFamily="18" charset="0"/>
                                <a:ea typeface="Cambria Math" panose="02040503050406030204" pitchFamily="18" charset="0"/>
                              </a:rPr>
                              <m:t>𝜑</m:t>
                            </m:r>
                          </m:sup>
                        </m:sSup>
                      </m:oMath>
                    </m:oMathPara>
                  </a14:m>
                  <a:endParaRPr lang="en-US" sz="2400" dirty="0"/>
                </a:p>
              </p:txBody>
            </p:sp>
          </mc:Choice>
          <mc:Fallback xmlns="">
            <p:sp>
              <p:nvSpPr>
                <p:cNvPr id="40" name="Rectangle 39">
                  <a:extLst>
                    <a:ext uri="{FF2B5EF4-FFF2-40B4-BE49-F238E27FC236}">
                      <a16:creationId xmlns:a16="http://schemas.microsoft.com/office/drawing/2014/main" id="{F057BEFF-D2C4-4D42-8800-FD1624CD7C94}"/>
                    </a:ext>
                  </a:extLst>
                </p:cNvPr>
                <p:cNvSpPr>
                  <a:spLocks noRot="1" noChangeAspect="1" noMove="1" noResize="1" noEditPoints="1" noAdjustHandles="1" noChangeArrowheads="1" noChangeShapeType="1" noTextEdit="1"/>
                </p:cNvSpPr>
                <p:nvPr/>
              </p:nvSpPr>
              <p:spPr>
                <a:xfrm>
                  <a:off x="6203802" y="3986652"/>
                  <a:ext cx="4769960" cy="473591"/>
                </a:xfrm>
                <a:prstGeom prst="rect">
                  <a:avLst/>
                </a:prstGeom>
                <a:blipFill>
                  <a:blip r:embed="rId21"/>
                  <a:stretch>
                    <a:fillRect b="-15789"/>
                  </a:stretch>
                </a:blipFill>
              </p:spPr>
              <p:txBody>
                <a:bodyPr/>
                <a:lstStyle/>
                <a:p>
                  <a:r>
                    <a:rPr lang="en-US">
                      <a:noFill/>
                    </a:rPr>
                    <a:t> </a:t>
                  </a:r>
                </a:p>
              </p:txBody>
            </p:sp>
          </mc:Fallback>
        </mc:AlternateContent>
        <p:sp>
          <p:nvSpPr>
            <p:cNvPr id="34" name="Down Arrow 33">
              <a:extLst>
                <a:ext uri="{FF2B5EF4-FFF2-40B4-BE49-F238E27FC236}">
                  <a16:creationId xmlns:a16="http://schemas.microsoft.com/office/drawing/2014/main" id="{7143D4FD-933E-294D-B700-07DE8EFBAA1B}"/>
                </a:ext>
              </a:extLst>
            </p:cNvPr>
            <p:cNvSpPr/>
            <p:nvPr/>
          </p:nvSpPr>
          <p:spPr>
            <a:xfrm>
              <a:off x="7811351" y="2955811"/>
              <a:ext cx="379338" cy="386347"/>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a:extLst>
              <a:ext uri="{FF2B5EF4-FFF2-40B4-BE49-F238E27FC236}">
                <a16:creationId xmlns:a16="http://schemas.microsoft.com/office/drawing/2014/main" id="{C3474D63-AA83-A041-BEE7-F266432742DC}"/>
              </a:ext>
            </a:extLst>
          </p:cNvPr>
          <p:cNvGrpSpPr/>
          <p:nvPr/>
        </p:nvGrpSpPr>
        <p:grpSpPr>
          <a:xfrm>
            <a:off x="5766406" y="4774888"/>
            <a:ext cx="5075492" cy="1451507"/>
            <a:chOff x="5766406" y="4902553"/>
            <a:chExt cx="5075492" cy="1451507"/>
          </a:xfrm>
        </p:grpSpPr>
        <p:sp>
          <p:nvSpPr>
            <p:cNvPr id="35" name="Down Arrow 34">
              <a:extLst>
                <a:ext uri="{FF2B5EF4-FFF2-40B4-BE49-F238E27FC236}">
                  <a16:creationId xmlns:a16="http://schemas.microsoft.com/office/drawing/2014/main" id="{D15E433C-D6E0-9B4E-83C1-028AD8DD3225}"/>
                </a:ext>
              </a:extLst>
            </p:cNvPr>
            <p:cNvSpPr/>
            <p:nvPr/>
          </p:nvSpPr>
          <p:spPr>
            <a:xfrm>
              <a:off x="7850261" y="4990148"/>
              <a:ext cx="379338" cy="386347"/>
            </a:xfrm>
            <a:prstGeom prst="downArrow">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6BA314-3AF9-664F-8D14-AF69B39F3F8A}"/>
                    </a:ext>
                  </a:extLst>
                </p:cNvPr>
                <p:cNvSpPr txBox="1"/>
                <p:nvPr/>
              </p:nvSpPr>
              <p:spPr>
                <a:xfrm>
                  <a:off x="5766406" y="5892395"/>
                  <a:ext cx="507549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ZA" sz="2400" i="1">
                                <a:latin typeface="Cambria Math" panose="02040503050406030204" pitchFamily="18" charset="0"/>
                              </a:rPr>
                            </m:ctrlPr>
                          </m:sSupPr>
                          <m:e>
                            <m:r>
                              <a:rPr lang="sr-Latn-RS" sz="2400" i="1">
                                <a:latin typeface="Cambria Math" panose="02040503050406030204" pitchFamily="18" charset="0"/>
                              </a:rPr>
                              <m:t>(</m:t>
                            </m:r>
                            <m:func>
                              <m:funcPr>
                                <m:ctrlPr>
                                  <a:rPr lang="en-ZA" sz="2400" i="1">
                                    <a:latin typeface="Cambria Math" panose="02040503050406030204" pitchFamily="18" charset="0"/>
                                  </a:rPr>
                                </m:ctrlPr>
                              </m:funcPr>
                              <m:fName>
                                <m:r>
                                  <m:rPr>
                                    <m:sty m:val="p"/>
                                  </m:rPr>
                                  <a:rPr lang="sr-Latn-RS" sz="2400">
                                    <a:latin typeface="Cambria Math" panose="02040503050406030204" pitchFamily="18" charset="0"/>
                                  </a:rPr>
                                  <m:t>cos</m:t>
                                </m:r>
                              </m:fName>
                              <m:e>
                                <m:r>
                                  <a:rPr lang="sr-Latn-RS" sz="2400" i="1">
                                    <a:latin typeface="Cambria Math" panose="02040503050406030204" pitchFamily="18" charset="0"/>
                                  </a:rPr>
                                  <m:t>𝜑</m:t>
                                </m:r>
                              </m:e>
                            </m:func>
                            <m:r>
                              <a:rPr lang="sr-Latn-RS" sz="2400" i="1">
                                <a:latin typeface="Cambria Math" panose="02040503050406030204" pitchFamily="18" charset="0"/>
                              </a:rPr>
                              <m:t>+</m:t>
                            </m:r>
                            <m:r>
                              <a:rPr lang="sr-Latn-RS" sz="2400" i="1">
                                <a:latin typeface="Cambria Math" panose="02040503050406030204" pitchFamily="18" charset="0"/>
                              </a:rPr>
                              <m:t>𝑖</m:t>
                            </m:r>
                            <m:func>
                              <m:funcPr>
                                <m:ctrlPr>
                                  <a:rPr lang="en-ZA" sz="2400" i="1">
                                    <a:latin typeface="Cambria Math" panose="02040503050406030204" pitchFamily="18" charset="0"/>
                                  </a:rPr>
                                </m:ctrlPr>
                              </m:funcPr>
                              <m:fName>
                                <m:r>
                                  <m:rPr>
                                    <m:sty m:val="p"/>
                                  </m:rPr>
                                  <a:rPr lang="sr-Latn-RS" sz="2400">
                                    <a:latin typeface="Cambria Math" panose="02040503050406030204" pitchFamily="18" charset="0"/>
                                  </a:rPr>
                                  <m:t>sin</m:t>
                                </m:r>
                              </m:fName>
                              <m:e>
                                <m:r>
                                  <a:rPr lang="sr-Latn-RS" sz="2400" i="1">
                                    <a:latin typeface="Cambria Math" panose="02040503050406030204" pitchFamily="18" charset="0"/>
                                  </a:rPr>
                                  <m:t>𝜑</m:t>
                                </m:r>
                              </m:e>
                            </m:func>
                            <m:r>
                              <a:rPr lang="sr-Latn-RS" sz="2400" i="1">
                                <a:latin typeface="Cambria Math" panose="02040503050406030204" pitchFamily="18" charset="0"/>
                              </a:rPr>
                              <m:t>)</m:t>
                            </m:r>
                          </m:e>
                          <m:sup>
                            <m:r>
                              <a:rPr lang="sr-Latn-RS" sz="2400" i="1">
                                <a:latin typeface="Cambria Math" panose="02040503050406030204" pitchFamily="18" charset="0"/>
                              </a:rPr>
                              <m:t>𝑛</m:t>
                            </m:r>
                          </m:sup>
                        </m:sSup>
                        <m:r>
                          <a:rPr lang="sr-Latn-RS" sz="2400" i="1">
                            <a:latin typeface="Cambria Math" panose="02040503050406030204" pitchFamily="18" charset="0"/>
                          </a:rPr>
                          <m:t>=</m:t>
                        </m:r>
                        <m:func>
                          <m:funcPr>
                            <m:ctrlPr>
                              <a:rPr lang="en-ZA" sz="2400" i="1">
                                <a:latin typeface="Cambria Math" panose="02040503050406030204" pitchFamily="18" charset="0"/>
                              </a:rPr>
                            </m:ctrlPr>
                          </m:funcPr>
                          <m:fName>
                            <m:r>
                              <m:rPr>
                                <m:sty m:val="p"/>
                              </m:rPr>
                              <a:rPr lang="sr-Latn-RS" sz="2400">
                                <a:latin typeface="Cambria Math" panose="02040503050406030204" pitchFamily="18" charset="0"/>
                              </a:rPr>
                              <m:t>cos</m:t>
                            </m:r>
                          </m:fName>
                          <m:e>
                            <m:r>
                              <a:rPr lang="sr-Latn-RS" sz="2400" i="1">
                                <a:latin typeface="Cambria Math" panose="02040503050406030204" pitchFamily="18" charset="0"/>
                              </a:rPr>
                              <m:t>𝑛</m:t>
                            </m:r>
                            <m:r>
                              <a:rPr lang="sr-Latn-RS" sz="2400" i="1">
                                <a:latin typeface="Cambria Math" panose="02040503050406030204" pitchFamily="18" charset="0"/>
                              </a:rPr>
                              <m:t>𝜑</m:t>
                            </m:r>
                            <m:r>
                              <a:rPr lang="sr-Latn-RS" sz="2400" i="1">
                                <a:latin typeface="Cambria Math" panose="02040503050406030204" pitchFamily="18" charset="0"/>
                              </a:rPr>
                              <m:t>+</m:t>
                            </m:r>
                            <m:r>
                              <a:rPr lang="sr-Latn-RS" sz="2400" i="1">
                                <a:latin typeface="Cambria Math" panose="02040503050406030204" pitchFamily="18" charset="0"/>
                              </a:rPr>
                              <m:t>𝑖</m:t>
                            </m:r>
                            <m:func>
                              <m:funcPr>
                                <m:ctrlPr>
                                  <a:rPr lang="en-ZA" sz="2400" i="1">
                                    <a:latin typeface="Cambria Math" panose="02040503050406030204" pitchFamily="18" charset="0"/>
                                  </a:rPr>
                                </m:ctrlPr>
                              </m:funcPr>
                              <m:fName>
                                <m:r>
                                  <m:rPr>
                                    <m:sty m:val="p"/>
                                  </m:rPr>
                                  <a:rPr lang="sr-Latn-RS" sz="2400">
                                    <a:latin typeface="Cambria Math" panose="02040503050406030204" pitchFamily="18" charset="0"/>
                                  </a:rPr>
                                  <m:t>sin</m:t>
                                </m:r>
                              </m:fName>
                              <m:e>
                                <m:r>
                                  <a:rPr lang="sr-Latn-RS" sz="2400" i="1">
                                    <a:latin typeface="Cambria Math" panose="02040503050406030204" pitchFamily="18" charset="0"/>
                                  </a:rPr>
                                  <m:t>𝑛</m:t>
                                </m:r>
                                <m:r>
                                  <a:rPr lang="sr-Latn-RS" sz="2400" i="1">
                                    <a:latin typeface="Cambria Math" panose="02040503050406030204" pitchFamily="18" charset="0"/>
                                  </a:rPr>
                                  <m:t>𝜑</m:t>
                                </m:r>
                              </m:e>
                            </m:func>
                          </m:e>
                        </m:func>
                      </m:oMath>
                    </m:oMathPara>
                  </a14:m>
                  <a:endParaRPr lang="en-US" sz="2400" dirty="0"/>
                </a:p>
              </p:txBody>
            </p:sp>
          </mc:Choice>
          <mc:Fallback xmlns="">
            <p:sp>
              <p:nvSpPr>
                <p:cNvPr id="21" name="TextBox 20">
                  <a:extLst>
                    <a:ext uri="{FF2B5EF4-FFF2-40B4-BE49-F238E27FC236}">
                      <a16:creationId xmlns:a16="http://schemas.microsoft.com/office/drawing/2014/main" id="{6B6BA314-3AF9-664F-8D14-AF69B39F3F8A}"/>
                    </a:ext>
                  </a:extLst>
                </p:cNvPr>
                <p:cNvSpPr txBox="1">
                  <a:spLocks noRot="1" noChangeAspect="1" noMove="1" noResize="1" noEditPoints="1" noAdjustHandles="1" noChangeArrowheads="1" noChangeShapeType="1" noTextEdit="1"/>
                </p:cNvSpPr>
                <p:nvPr/>
              </p:nvSpPr>
              <p:spPr>
                <a:xfrm>
                  <a:off x="5766406" y="5892395"/>
                  <a:ext cx="5075492" cy="461665"/>
                </a:xfrm>
                <a:prstGeom prst="rect">
                  <a:avLst/>
                </a:prstGeom>
                <a:blipFill>
                  <a:blip r:embed="rId22"/>
                  <a:stretch>
                    <a:fillRect b="-16216"/>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F9555A7A-9BEC-3A42-99D0-4BA48262500F}"/>
                </a:ext>
              </a:extLst>
            </p:cNvPr>
            <p:cNvSpPr txBox="1"/>
            <p:nvPr/>
          </p:nvSpPr>
          <p:spPr>
            <a:xfrm>
              <a:off x="6891610" y="5383742"/>
              <a:ext cx="2718565" cy="461665"/>
            </a:xfrm>
            <a:prstGeom prst="rect">
              <a:avLst/>
            </a:prstGeom>
            <a:noFill/>
          </p:spPr>
          <p:txBody>
            <a:bodyPr wrap="none" rtlCol="0">
              <a:spAutoFit/>
            </a:bodyPr>
            <a:lstStyle/>
            <a:p>
              <a:r>
                <a:rPr lang="en-ZA" sz="2400" dirty="0"/>
                <a:t>De </a:t>
              </a:r>
              <a:r>
                <a:rPr lang="en-ZA" sz="2400" dirty="0" err="1"/>
                <a:t>Moivre’s</a:t>
              </a:r>
              <a:r>
                <a:rPr lang="en-ZA" sz="2400" dirty="0"/>
                <a:t> formula</a:t>
              </a:r>
              <a:endParaRPr lang="en-US" sz="2400"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29516EB-2217-E14D-B69F-78906B20F27A}"/>
                    </a:ext>
                  </a:extLst>
                </p:cNvPr>
                <p:cNvSpPr txBox="1"/>
                <p:nvPr/>
              </p:nvSpPr>
              <p:spPr>
                <a:xfrm>
                  <a:off x="8233973" y="4902553"/>
                  <a:ext cx="2000676" cy="46634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ZA" sz="2400" i="1">
                                <a:latin typeface="Cambria Math" panose="02040503050406030204" pitchFamily="18" charset="0"/>
                              </a:rPr>
                            </m:ctrlPr>
                          </m:sSupPr>
                          <m:e>
                            <m:sSup>
                              <m:sSupPr>
                                <m:ctrlPr>
                                  <a:rPr lang="en-ZA" sz="2400" i="1">
                                    <a:latin typeface="Cambria Math" panose="02040503050406030204" pitchFamily="18" charset="0"/>
                                  </a:rPr>
                                </m:ctrlPr>
                              </m:sSupPr>
                              <m:e>
                                <m:r>
                                  <a:rPr lang="sr-Latn-RS" sz="2400" i="1">
                                    <a:latin typeface="Cambria Math" panose="02040503050406030204" pitchFamily="18" charset="0"/>
                                  </a:rPr>
                                  <m:t>(</m:t>
                                </m:r>
                                <m:r>
                                  <a:rPr lang="sr-Latn-RS" sz="2400" i="1">
                                    <a:latin typeface="Cambria Math" panose="02040503050406030204" pitchFamily="18" charset="0"/>
                                  </a:rPr>
                                  <m:t>𝑒</m:t>
                                </m:r>
                              </m:e>
                              <m:sup>
                                <m:r>
                                  <a:rPr lang="sr-Latn-RS" sz="2400" i="1">
                                    <a:latin typeface="Cambria Math" panose="02040503050406030204" pitchFamily="18" charset="0"/>
                                  </a:rPr>
                                  <m:t>𝑖</m:t>
                                </m:r>
                                <m:r>
                                  <a:rPr lang="sr-Latn-RS" sz="2400" i="1">
                                    <a:latin typeface="Cambria Math" panose="02040503050406030204" pitchFamily="18" charset="0"/>
                                  </a:rPr>
                                  <m:t>𝜑</m:t>
                                </m:r>
                              </m:sup>
                            </m:sSup>
                            <m:r>
                              <a:rPr lang="sr-Latn-RS" sz="2400" i="1">
                                <a:latin typeface="Cambria Math" panose="02040503050406030204" pitchFamily="18" charset="0"/>
                              </a:rPr>
                              <m:t>)</m:t>
                            </m:r>
                          </m:e>
                          <m:sup>
                            <m:r>
                              <a:rPr lang="sr-Latn-RS" sz="2400" i="1">
                                <a:latin typeface="Cambria Math" panose="02040503050406030204" pitchFamily="18" charset="0"/>
                              </a:rPr>
                              <m:t>𝑛</m:t>
                            </m:r>
                          </m:sup>
                        </m:sSup>
                        <m:r>
                          <a:rPr lang="sr-Latn-RS" sz="2400" i="1">
                            <a:latin typeface="Cambria Math" panose="02040503050406030204" pitchFamily="18" charset="0"/>
                          </a:rPr>
                          <m:t>=</m:t>
                        </m:r>
                        <m:sSup>
                          <m:sSupPr>
                            <m:ctrlPr>
                              <a:rPr lang="en-ZA" sz="2400" i="1">
                                <a:latin typeface="Cambria Math" panose="02040503050406030204" pitchFamily="18" charset="0"/>
                              </a:rPr>
                            </m:ctrlPr>
                          </m:sSupPr>
                          <m:e>
                            <m:r>
                              <a:rPr lang="sr-Latn-RS" sz="2400" i="1">
                                <a:latin typeface="Cambria Math" panose="02040503050406030204" pitchFamily="18" charset="0"/>
                              </a:rPr>
                              <m:t>𝑒</m:t>
                            </m:r>
                          </m:e>
                          <m:sup>
                            <m:r>
                              <a:rPr lang="sr-Latn-RS" sz="2400" i="1">
                                <a:latin typeface="Cambria Math" panose="02040503050406030204" pitchFamily="18" charset="0"/>
                              </a:rPr>
                              <m:t>𝑖</m:t>
                            </m:r>
                            <m:r>
                              <a:rPr lang="sr-Latn-RS" sz="2400" i="1">
                                <a:latin typeface="Cambria Math" panose="02040503050406030204" pitchFamily="18" charset="0"/>
                              </a:rPr>
                              <m:t>𝜑</m:t>
                            </m:r>
                            <m:r>
                              <a:rPr lang="sr-Latn-RS" sz="2400" i="1">
                                <a:latin typeface="Cambria Math" panose="02040503050406030204" pitchFamily="18" charset="0"/>
                              </a:rPr>
                              <m:t>𝑛</m:t>
                            </m:r>
                          </m:sup>
                        </m:sSup>
                      </m:oMath>
                    </m:oMathPara>
                  </a14:m>
                  <a:endParaRPr lang="en-US" sz="2400" dirty="0"/>
                </a:p>
              </p:txBody>
            </p:sp>
          </mc:Choice>
          <mc:Fallback xmlns="">
            <p:sp>
              <p:nvSpPr>
                <p:cNvPr id="24" name="TextBox 23">
                  <a:extLst>
                    <a:ext uri="{FF2B5EF4-FFF2-40B4-BE49-F238E27FC236}">
                      <a16:creationId xmlns:a16="http://schemas.microsoft.com/office/drawing/2014/main" id="{029516EB-2217-E14D-B69F-78906B20F27A}"/>
                    </a:ext>
                  </a:extLst>
                </p:cNvPr>
                <p:cNvSpPr txBox="1">
                  <a:spLocks noRot="1" noChangeAspect="1" noMove="1" noResize="1" noEditPoints="1" noAdjustHandles="1" noChangeArrowheads="1" noChangeShapeType="1" noTextEdit="1"/>
                </p:cNvSpPr>
                <p:nvPr/>
              </p:nvSpPr>
              <p:spPr>
                <a:xfrm>
                  <a:off x="8233973" y="4902553"/>
                  <a:ext cx="2000676" cy="466346"/>
                </a:xfrm>
                <a:prstGeom prst="rect">
                  <a:avLst/>
                </a:prstGeom>
                <a:blipFill>
                  <a:blip r:embed="rId23"/>
                  <a:stretch>
                    <a:fillRect l="-633" b="-15789"/>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7FE8FBE-2A8E-3147-BAA8-E88B5BE6D0EA}"/>
                  </a:ext>
                </a:extLst>
              </p:cNvPr>
              <p:cNvSpPr txBox="1"/>
              <p:nvPr/>
            </p:nvSpPr>
            <p:spPr>
              <a:xfrm>
                <a:off x="557514" y="5207032"/>
                <a:ext cx="4097243" cy="1200329"/>
              </a:xfrm>
              <a:prstGeom prst="rect">
                <a:avLst/>
              </a:prstGeom>
              <a:noFill/>
            </p:spPr>
            <p:txBody>
              <a:bodyPr wrap="square" rtlCol="0">
                <a:spAutoFit/>
              </a:bodyPr>
              <a:lstStyle/>
              <a:p>
                <a:pPr algn="ctr"/>
                <a:r>
                  <a:rPr lang="en-ZA" sz="2400" dirty="0"/>
                  <a:t>Polar form expresses a complex number using its magnitude </a:t>
                </a:r>
                <a14:m>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𝑧</m:t>
                        </m:r>
                      </m:e>
                    </m:d>
                  </m:oMath>
                </a14:m>
                <a:endParaRPr lang="en-US" sz="2400" dirty="0"/>
              </a:p>
              <a:p>
                <a:pPr algn="ctr"/>
                <a:r>
                  <a:rPr lang="en-ZA" sz="2400" dirty="0"/>
                  <a:t> and angle </a:t>
                </a:r>
                <a14:m>
                  <m:oMath xmlns:m="http://schemas.openxmlformats.org/officeDocument/2006/math">
                    <m:r>
                      <a:rPr lang="en-US" sz="2400" i="1">
                        <a:latin typeface="Cambria Math" panose="02040503050406030204" pitchFamily="18" charset="0"/>
                        <a:ea typeface="Cambria Math" panose="02040503050406030204" pitchFamily="18" charset="0"/>
                      </a:rPr>
                      <m:t>𝜑</m:t>
                    </m:r>
                  </m:oMath>
                </a14:m>
                <a:r>
                  <a:rPr lang="en-ZA" sz="2400" dirty="0"/>
                  <a:t>.</a:t>
                </a:r>
                <a:endParaRPr lang="en-US" sz="2400" dirty="0"/>
              </a:p>
            </p:txBody>
          </p:sp>
        </mc:Choice>
        <mc:Fallback xmlns="">
          <p:sp>
            <p:nvSpPr>
              <p:cNvPr id="23" name="TextBox 22">
                <a:extLst>
                  <a:ext uri="{FF2B5EF4-FFF2-40B4-BE49-F238E27FC236}">
                    <a16:creationId xmlns:a16="http://schemas.microsoft.com/office/drawing/2014/main" id="{F7FE8FBE-2A8E-3147-BAA8-E88B5BE6D0EA}"/>
                  </a:ext>
                </a:extLst>
              </p:cNvPr>
              <p:cNvSpPr txBox="1">
                <a:spLocks noRot="1" noChangeAspect="1" noMove="1" noResize="1" noEditPoints="1" noAdjustHandles="1" noChangeArrowheads="1" noChangeShapeType="1" noTextEdit="1"/>
              </p:cNvSpPr>
              <p:nvPr/>
            </p:nvSpPr>
            <p:spPr>
              <a:xfrm>
                <a:off x="557514" y="5207032"/>
                <a:ext cx="4097243" cy="1200329"/>
              </a:xfrm>
              <a:prstGeom prst="rect">
                <a:avLst/>
              </a:prstGeom>
              <a:blipFill>
                <a:blip r:embed="rId24"/>
                <a:stretch>
                  <a:fillRect l="-1852" t="-3125" r="-3395" b="-9375"/>
                </a:stretch>
              </a:blipFill>
            </p:spPr>
            <p:txBody>
              <a:bodyPr/>
              <a:lstStyle/>
              <a:p>
                <a:r>
                  <a:rPr lang="en-US">
                    <a:noFill/>
                  </a:rPr>
                  <a:t> </a:t>
                </a:r>
              </a:p>
            </p:txBody>
          </p:sp>
        </mc:Fallback>
      </mc:AlternateContent>
    </p:spTree>
    <p:extLst>
      <p:ext uri="{BB962C8B-B14F-4D97-AF65-F5344CB8AC3E}">
        <p14:creationId xmlns:p14="http://schemas.microsoft.com/office/powerpoint/2010/main" val="4147286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dissolve">
                                      <p:cBhvr>
                                        <p:cTn id="12" dur="5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dissolve">
                                      <p:cBhvr>
                                        <p:cTn id="1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A696B-AB87-9E49-A1AB-1A8388D9BB32}"/>
              </a:ext>
            </a:extLst>
          </p:cNvPr>
          <p:cNvSpPr>
            <a:spLocks noGrp="1"/>
          </p:cNvSpPr>
          <p:nvPr>
            <p:ph type="title"/>
          </p:nvPr>
        </p:nvSpPr>
        <p:spPr>
          <a:xfrm>
            <a:off x="0" y="0"/>
            <a:ext cx="12192000" cy="928688"/>
          </a:xfrm>
        </p:spPr>
        <p:txBody>
          <a:bodyPr/>
          <a:lstStyle/>
          <a:p>
            <a:r>
              <a:rPr lang="en-ZA" dirty="0"/>
              <a:t>Complex numbers on the unit circle</a:t>
            </a:r>
            <a:endParaRPr lang="en-US" dirty="0"/>
          </a:p>
        </p:txBody>
      </p:sp>
      <p:sp>
        <p:nvSpPr>
          <p:cNvPr id="3" name="Slide Number Placeholder 2">
            <a:extLst>
              <a:ext uri="{FF2B5EF4-FFF2-40B4-BE49-F238E27FC236}">
                <a16:creationId xmlns:a16="http://schemas.microsoft.com/office/drawing/2014/main" id="{DEF6B82C-D7CB-B541-8AD0-E65102348DC9}"/>
              </a:ext>
            </a:extLst>
          </p:cNvPr>
          <p:cNvSpPr>
            <a:spLocks noGrp="1"/>
          </p:cNvSpPr>
          <p:nvPr>
            <p:ph type="sldNum" sz="quarter" idx="12"/>
          </p:nvPr>
        </p:nvSpPr>
        <p:spPr/>
        <p:txBody>
          <a:bodyPr/>
          <a:lstStyle/>
          <a:p>
            <a:fld id="{591A223C-FA10-BC46-A853-03BA373D023C}" type="slidenum">
              <a:rPr lang="en-US" smtClean="0"/>
              <a:t>13</a:t>
            </a:fld>
            <a:endParaRPr lang="en-US"/>
          </a:p>
        </p:txBody>
      </p:sp>
      <p:sp>
        <p:nvSpPr>
          <p:cNvPr id="47" name="Rectangle 46">
            <a:extLst>
              <a:ext uri="{FF2B5EF4-FFF2-40B4-BE49-F238E27FC236}">
                <a16:creationId xmlns:a16="http://schemas.microsoft.com/office/drawing/2014/main" id="{3A4F47C1-000A-3B4A-8F74-52D75E77BEB3}"/>
              </a:ext>
            </a:extLst>
          </p:cNvPr>
          <p:cNvSpPr/>
          <p:nvPr/>
        </p:nvSpPr>
        <p:spPr>
          <a:xfrm>
            <a:off x="4598879" y="5027703"/>
            <a:ext cx="184731" cy="461665"/>
          </a:xfrm>
          <a:prstGeom prst="rect">
            <a:avLst/>
          </a:prstGeom>
        </p:spPr>
        <p:txBody>
          <a:bodyPr wrap="none">
            <a:spAutoFit/>
          </a:bodyPr>
          <a:lstStyle/>
          <a:p>
            <a:endParaRPr lang="en-US" sz="2400" dirty="0"/>
          </a:p>
        </p:txBody>
      </p:sp>
      <p:sp>
        <p:nvSpPr>
          <p:cNvPr id="4" name="Oval 36">
            <a:extLst>
              <a:ext uri="{FF2B5EF4-FFF2-40B4-BE49-F238E27FC236}">
                <a16:creationId xmlns:a16="http://schemas.microsoft.com/office/drawing/2014/main" id="{F83BFCE8-5610-444B-90F8-FB369BD995A0}"/>
              </a:ext>
            </a:extLst>
          </p:cNvPr>
          <p:cNvSpPr/>
          <p:nvPr/>
        </p:nvSpPr>
        <p:spPr>
          <a:xfrm>
            <a:off x="863873" y="2308815"/>
            <a:ext cx="2037938" cy="2093428"/>
          </a:xfrm>
          <a:custGeom>
            <a:avLst/>
            <a:gdLst>
              <a:gd name="connsiteX0" fmla="*/ 0 w 2880000"/>
              <a:gd name="connsiteY0" fmla="*/ 1440000 h 2880000"/>
              <a:gd name="connsiteX1" fmla="*/ 1440000 w 2880000"/>
              <a:gd name="connsiteY1" fmla="*/ 0 h 2880000"/>
              <a:gd name="connsiteX2" fmla="*/ 2880000 w 2880000"/>
              <a:gd name="connsiteY2" fmla="*/ 1440000 h 2880000"/>
              <a:gd name="connsiteX3" fmla="*/ 1440000 w 2880000"/>
              <a:gd name="connsiteY3" fmla="*/ 2880000 h 2880000"/>
              <a:gd name="connsiteX4" fmla="*/ 0 w 2880000"/>
              <a:gd name="connsiteY4" fmla="*/ 1440000 h 2880000"/>
              <a:gd name="connsiteX0" fmla="*/ 1440000 w 2880000"/>
              <a:gd name="connsiteY0" fmla="*/ 2880000 h 2971440"/>
              <a:gd name="connsiteX1" fmla="*/ 0 w 2880000"/>
              <a:gd name="connsiteY1" fmla="*/ 1440000 h 2971440"/>
              <a:gd name="connsiteX2" fmla="*/ 1440000 w 2880000"/>
              <a:gd name="connsiteY2" fmla="*/ 0 h 2971440"/>
              <a:gd name="connsiteX3" fmla="*/ 2880000 w 2880000"/>
              <a:gd name="connsiteY3" fmla="*/ 1440000 h 2971440"/>
              <a:gd name="connsiteX4" fmla="*/ 1531440 w 2880000"/>
              <a:gd name="connsiteY4" fmla="*/ 2971440 h 2971440"/>
              <a:gd name="connsiteX0" fmla="*/ 1440000 w 2880000"/>
              <a:gd name="connsiteY0" fmla="*/ 2880000 h 2880000"/>
              <a:gd name="connsiteX1" fmla="*/ 0 w 2880000"/>
              <a:gd name="connsiteY1" fmla="*/ 1440000 h 2880000"/>
              <a:gd name="connsiteX2" fmla="*/ 1440000 w 2880000"/>
              <a:gd name="connsiteY2" fmla="*/ 0 h 2880000"/>
              <a:gd name="connsiteX3" fmla="*/ 2880000 w 2880000"/>
              <a:gd name="connsiteY3" fmla="*/ 1440000 h 2880000"/>
              <a:gd name="connsiteX0" fmla="*/ 0 w 2880000"/>
              <a:gd name="connsiteY0" fmla="*/ 1440000 h 1440000"/>
              <a:gd name="connsiteX1" fmla="*/ 1440000 w 2880000"/>
              <a:gd name="connsiteY1" fmla="*/ 0 h 1440000"/>
              <a:gd name="connsiteX2" fmla="*/ 2880000 w 2880000"/>
              <a:gd name="connsiteY2" fmla="*/ 1440000 h 1440000"/>
              <a:gd name="connsiteX0" fmla="*/ 0 w 1440000"/>
              <a:gd name="connsiteY0" fmla="*/ 0 h 1440000"/>
              <a:gd name="connsiteX1" fmla="*/ 1440000 w 1440000"/>
              <a:gd name="connsiteY1" fmla="*/ 1440000 h 1440000"/>
              <a:gd name="connsiteX0" fmla="*/ 0 w 1440000"/>
              <a:gd name="connsiteY0" fmla="*/ 0 h 1397092"/>
              <a:gd name="connsiteX1" fmla="*/ 1440000 w 1440000"/>
              <a:gd name="connsiteY1" fmla="*/ 1397092 h 1397092"/>
            </a:gdLst>
            <a:ahLst/>
            <a:cxnLst>
              <a:cxn ang="0">
                <a:pos x="connsiteX0" y="connsiteY0"/>
              </a:cxn>
              <a:cxn ang="0">
                <a:pos x="connsiteX1" y="connsiteY1"/>
              </a:cxn>
            </a:cxnLst>
            <a:rect l="l" t="t" r="r" b="b"/>
            <a:pathLst>
              <a:path w="1440000" h="1397092">
                <a:moveTo>
                  <a:pt x="0" y="0"/>
                </a:moveTo>
                <a:cubicBezTo>
                  <a:pt x="795290" y="0"/>
                  <a:pt x="1440000" y="601802"/>
                  <a:pt x="1440000" y="1397092"/>
                </a:cubicBezTo>
              </a:path>
            </a:pathLst>
          </a:cu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5B3F34E7-672A-2D43-8F98-FA214708D4BB}"/>
              </a:ext>
            </a:extLst>
          </p:cNvPr>
          <p:cNvCxnSpPr>
            <a:cxnSpLocks/>
          </p:cNvCxnSpPr>
          <p:nvPr/>
        </p:nvCxnSpPr>
        <p:spPr>
          <a:xfrm>
            <a:off x="364992" y="4357068"/>
            <a:ext cx="3075720" cy="0"/>
          </a:xfrm>
          <a:prstGeom prst="line">
            <a:avLst/>
          </a:prstGeom>
          <a:ln>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E9CF74A-6D1F-2D44-8824-64335B6FE88D}"/>
              </a:ext>
            </a:extLst>
          </p:cNvPr>
          <p:cNvCxnSpPr>
            <a:cxnSpLocks/>
          </p:cNvCxnSpPr>
          <p:nvPr/>
        </p:nvCxnSpPr>
        <p:spPr>
          <a:xfrm flipV="1">
            <a:off x="863873" y="1611150"/>
            <a:ext cx="0" cy="3217001"/>
          </a:xfrm>
          <a:prstGeom prst="line">
            <a:avLst/>
          </a:prstGeom>
          <a:ln>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17666224-895E-4849-86AB-DA26C9452421}"/>
                  </a:ext>
                </a:extLst>
              </p:cNvPr>
              <p:cNvSpPr/>
              <p:nvPr/>
            </p:nvSpPr>
            <p:spPr>
              <a:xfrm>
                <a:off x="411463" y="1989585"/>
                <a:ext cx="33227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a:solidFill>
                            <a:srgbClr val="002060"/>
                          </a:solidFill>
                          <a:latin typeface="Cambria Math" panose="02040503050406030204" pitchFamily="18" charset="0"/>
                          <a:ea typeface="Cambria Math" panose="02040503050406030204" pitchFamily="18" charset="0"/>
                        </a:rPr>
                        <m:t>𝑖</m:t>
                      </m:r>
                    </m:oMath>
                  </m:oMathPara>
                </a14:m>
                <a:endParaRPr lang="en-US" sz="2000" dirty="0"/>
              </a:p>
            </p:txBody>
          </p:sp>
        </mc:Choice>
        <mc:Fallback xmlns="">
          <p:sp>
            <p:nvSpPr>
              <p:cNvPr id="7" name="Rectangle 6">
                <a:extLst>
                  <a:ext uri="{FF2B5EF4-FFF2-40B4-BE49-F238E27FC236}">
                    <a16:creationId xmlns:a16="http://schemas.microsoft.com/office/drawing/2014/main" id="{17666224-895E-4849-86AB-DA26C9452421}"/>
                  </a:ext>
                </a:extLst>
              </p:cNvPr>
              <p:cNvSpPr>
                <a:spLocks noRot="1" noChangeAspect="1" noMove="1" noResize="1" noEditPoints="1" noAdjustHandles="1" noChangeArrowheads="1" noChangeShapeType="1" noTextEdit="1"/>
              </p:cNvSpPr>
              <p:nvPr/>
            </p:nvSpPr>
            <p:spPr>
              <a:xfrm>
                <a:off x="411463" y="1989585"/>
                <a:ext cx="332270" cy="400110"/>
              </a:xfrm>
              <a:prstGeom prst="rect">
                <a:avLst/>
              </a:prstGeom>
              <a:blipFill>
                <a:blip r:embed="rId3"/>
                <a:stretch>
                  <a:fillRect/>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A78E9A69-35A3-2741-8A8E-55962C1B1D41}"/>
              </a:ext>
            </a:extLst>
          </p:cNvPr>
          <p:cNvCxnSpPr>
            <a:cxnSpLocks/>
          </p:cNvCxnSpPr>
          <p:nvPr/>
        </p:nvCxnSpPr>
        <p:spPr>
          <a:xfrm>
            <a:off x="2718022" y="3499768"/>
            <a:ext cx="0" cy="857300"/>
          </a:xfrm>
          <a:prstGeom prst="line">
            <a:avLst/>
          </a:prstGeom>
          <a:ln>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4930AD43-9B7F-E34A-A6B6-04863D5F1450}"/>
                  </a:ext>
                </a:extLst>
              </p:cNvPr>
              <p:cNvSpPr/>
              <p:nvPr/>
            </p:nvSpPr>
            <p:spPr>
              <a:xfrm>
                <a:off x="1691633" y="3928418"/>
                <a:ext cx="663165"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i="1" smtClean="0">
                              <a:solidFill>
                                <a:schemeClr val="accent1">
                                  <a:lumMod val="75000"/>
                                </a:schemeClr>
                              </a:solidFill>
                              <a:latin typeface="Cambria Math" panose="02040503050406030204" pitchFamily="18" charset="0"/>
                              <a:ea typeface="Cambria Math" panose="02040503050406030204" pitchFamily="18" charset="0"/>
                            </a:rPr>
                          </m:ctrlPr>
                        </m:sSubPr>
                        <m:e>
                          <m:r>
                            <a:rPr lang="en-US" sz="2000" i="1">
                              <a:solidFill>
                                <a:schemeClr val="accent1">
                                  <a:lumMod val="75000"/>
                                </a:schemeClr>
                              </a:solidFill>
                              <a:latin typeface="Cambria Math" panose="02040503050406030204" pitchFamily="18" charset="0"/>
                              <a:ea typeface="Cambria Math" panose="02040503050406030204" pitchFamily="18" charset="0"/>
                            </a:rPr>
                            <m:t>𝜑</m:t>
                          </m:r>
                        </m:e>
                        <m:sub>
                          <m:r>
                            <a:rPr lang="en-US" sz="2000" b="0" i="1" smtClean="0">
                              <a:solidFill>
                                <a:schemeClr val="accent1">
                                  <a:lumMod val="75000"/>
                                </a:schemeClr>
                              </a:solidFill>
                              <a:latin typeface="Cambria Math" panose="02040503050406030204" pitchFamily="18" charset="0"/>
                              <a:ea typeface="Cambria Math" panose="02040503050406030204" pitchFamily="18" charset="0"/>
                            </a:rPr>
                            <m:t>1</m:t>
                          </m:r>
                        </m:sub>
                      </m:sSub>
                    </m:oMath>
                  </m:oMathPara>
                </a14:m>
                <a:endParaRPr lang="en-US" sz="2000" dirty="0">
                  <a:solidFill>
                    <a:schemeClr val="accent1">
                      <a:lumMod val="75000"/>
                    </a:schemeClr>
                  </a:solidFill>
                </a:endParaRPr>
              </a:p>
            </p:txBody>
          </p:sp>
        </mc:Choice>
        <mc:Fallback xmlns="">
          <p:sp>
            <p:nvSpPr>
              <p:cNvPr id="10" name="Rectangle 9">
                <a:extLst>
                  <a:ext uri="{FF2B5EF4-FFF2-40B4-BE49-F238E27FC236}">
                    <a16:creationId xmlns:a16="http://schemas.microsoft.com/office/drawing/2014/main" id="{4930AD43-9B7F-E34A-A6B6-04863D5F1450}"/>
                  </a:ext>
                </a:extLst>
              </p:cNvPr>
              <p:cNvSpPr>
                <a:spLocks noRot="1" noChangeAspect="1" noMove="1" noResize="1" noEditPoints="1" noAdjustHandles="1" noChangeArrowheads="1" noChangeShapeType="1" noTextEdit="1"/>
              </p:cNvSpPr>
              <p:nvPr/>
            </p:nvSpPr>
            <p:spPr>
              <a:xfrm>
                <a:off x="1691633" y="3928418"/>
                <a:ext cx="663165" cy="400110"/>
              </a:xfrm>
              <a:prstGeom prst="rect">
                <a:avLst/>
              </a:prstGeom>
              <a:blipFill>
                <a:blip r:embed="rId4"/>
                <a:stretch>
                  <a:fillRect b="-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681194A-5C1B-674B-B54A-AF53B4F83F6A}"/>
                  </a:ext>
                </a:extLst>
              </p:cNvPr>
              <p:cNvSpPr/>
              <p:nvPr/>
            </p:nvSpPr>
            <p:spPr>
              <a:xfrm>
                <a:off x="1317195" y="4336798"/>
                <a:ext cx="1346022"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2000" i="1">
                              <a:latin typeface="Cambria Math" panose="02040503050406030204" pitchFamily="18" charset="0"/>
                            </a:rPr>
                          </m:ctrlPr>
                        </m:funcPr>
                        <m:fName>
                          <m:r>
                            <a:rPr lang="en-US" sz="2000" i="1">
                              <a:latin typeface="Cambria Math" panose="02040503050406030204" pitchFamily="18" charset="0"/>
                            </a:rPr>
                            <m:t>𝑐𝑜𝑠</m:t>
                          </m:r>
                        </m:fName>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𝜑</m:t>
                              </m:r>
                            </m:e>
                            <m:sub>
                              <m:r>
                                <a:rPr lang="en-US" sz="2000" i="1">
                                  <a:latin typeface="Cambria Math" panose="02040503050406030204" pitchFamily="18" charset="0"/>
                                  <a:ea typeface="Cambria Math" panose="02040503050406030204" pitchFamily="18" charset="0"/>
                                </a:rPr>
                                <m:t>1</m:t>
                              </m:r>
                            </m:sub>
                          </m:sSub>
                        </m:e>
                      </m:func>
                    </m:oMath>
                  </m:oMathPara>
                </a14:m>
                <a:endParaRPr lang="en-US" sz="2000" i="1" dirty="0"/>
              </a:p>
            </p:txBody>
          </p:sp>
        </mc:Choice>
        <mc:Fallback xmlns="">
          <p:sp>
            <p:nvSpPr>
              <p:cNvPr id="11" name="Rectangle 10">
                <a:extLst>
                  <a:ext uri="{FF2B5EF4-FFF2-40B4-BE49-F238E27FC236}">
                    <a16:creationId xmlns:a16="http://schemas.microsoft.com/office/drawing/2014/main" id="{E681194A-5C1B-674B-B54A-AF53B4F83F6A}"/>
                  </a:ext>
                </a:extLst>
              </p:cNvPr>
              <p:cNvSpPr>
                <a:spLocks noRot="1" noChangeAspect="1" noMove="1" noResize="1" noEditPoints="1" noAdjustHandles="1" noChangeArrowheads="1" noChangeShapeType="1" noTextEdit="1"/>
              </p:cNvSpPr>
              <p:nvPr/>
            </p:nvSpPr>
            <p:spPr>
              <a:xfrm>
                <a:off x="1317195" y="4336798"/>
                <a:ext cx="1346022" cy="400110"/>
              </a:xfrm>
              <a:prstGeom prst="rect">
                <a:avLst/>
              </a:prstGeom>
              <a:blipFill>
                <a:blip r:embed="rId5"/>
                <a:stretch>
                  <a:fillRect b="-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9E447C44-3FED-474E-8887-4ECF6F0EA678}"/>
                  </a:ext>
                </a:extLst>
              </p:cNvPr>
              <p:cNvSpPr/>
              <p:nvPr/>
            </p:nvSpPr>
            <p:spPr>
              <a:xfrm rot="16200000">
                <a:off x="2311134" y="3746481"/>
                <a:ext cx="1360283"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2000" i="1" smtClean="0">
                              <a:latin typeface="Cambria Math" panose="02040503050406030204" pitchFamily="18" charset="0"/>
                            </a:rPr>
                          </m:ctrlPr>
                        </m:funcPr>
                        <m:fName>
                          <m:r>
                            <a:rPr lang="en-US" sz="2000" b="0" i="1" smtClean="0">
                              <a:latin typeface="Cambria Math" panose="02040503050406030204" pitchFamily="18" charset="0"/>
                            </a:rPr>
                            <m:t>𝑠𝑖𝑛</m:t>
                          </m:r>
                        </m:fName>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𝜑</m:t>
                              </m:r>
                            </m:e>
                            <m:sub>
                              <m:r>
                                <a:rPr lang="en-US" sz="2000" i="1">
                                  <a:latin typeface="Cambria Math" panose="02040503050406030204" pitchFamily="18" charset="0"/>
                                  <a:ea typeface="Cambria Math" panose="02040503050406030204" pitchFamily="18" charset="0"/>
                                </a:rPr>
                                <m:t>1</m:t>
                              </m:r>
                            </m:sub>
                          </m:sSub>
                        </m:e>
                      </m:func>
                    </m:oMath>
                  </m:oMathPara>
                </a14:m>
                <a:endParaRPr lang="en-US" sz="2000" i="1" dirty="0"/>
              </a:p>
            </p:txBody>
          </p:sp>
        </mc:Choice>
        <mc:Fallback xmlns="">
          <p:sp>
            <p:nvSpPr>
              <p:cNvPr id="12" name="Rectangle 11">
                <a:extLst>
                  <a:ext uri="{FF2B5EF4-FFF2-40B4-BE49-F238E27FC236}">
                    <a16:creationId xmlns:a16="http://schemas.microsoft.com/office/drawing/2014/main" id="{9E447C44-3FED-474E-8887-4ECF6F0EA678}"/>
                  </a:ext>
                </a:extLst>
              </p:cNvPr>
              <p:cNvSpPr>
                <a:spLocks noRot="1" noChangeAspect="1" noMove="1" noResize="1" noEditPoints="1" noAdjustHandles="1" noChangeArrowheads="1" noChangeShapeType="1" noTextEdit="1"/>
              </p:cNvSpPr>
              <p:nvPr/>
            </p:nvSpPr>
            <p:spPr>
              <a:xfrm rot="16200000">
                <a:off x="2311134" y="3746481"/>
                <a:ext cx="1360283" cy="400110"/>
              </a:xfrm>
              <a:prstGeom prst="rect">
                <a:avLst/>
              </a:prstGeom>
              <a:blipFill>
                <a:blip r:embed="rId6"/>
                <a:stretch>
                  <a:fillRect r="-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E26F5D5E-DA90-DD4B-99CF-FBE5032F8BBF}"/>
                  </a:ext>
                </a:extLst>
              </p:cNvPr>
              <p:cNvSpPr/>
              <p:nvPr/>
            </p:nvSpPr>
            <p:spPr>
              <a:xfrm>
                <a:off x="3213899" y="3946537"/>
                <a:ext cx="53816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𝑅𝑒</m:t>
                      </m:r>
                    </m:oMath>
                  </m:oMathPara>
                </a14:m>
                <a:endParaRPr lang="en-US" sz="2000" i="1" dirty="0"/>
              </a:p>
            </p:txBody>
          </p:sp>
        </mc:Choice>
        <mc:Fallback xmlns="">
          <p:sp>
            <p:nvSpPr>
              <p:cNvPr id="15" name="Rectangle 14">
                <a:extLst>
                  <a:ext uri="{FF2B5EF4-FFF2-40B4-BE49-F238E27FC236}">
                    <a16:creationId xmlns:a16="http://schemas.microsoft.com/office/drawing/2014/main" id="{E26F5D5E-DA90-DD4B-99CF-FBE5032F8BBF}"/>
                  </a:ext>
                </a:extLst>
              </p:cNvPr>
              <p:cNvSpPr>
                <a:spLocks noRot="1" noChangeAspect="1" noMove="1" noResize="1" noEditPoints="1" noAdjustHandles="1" noChangeArrowheads="1" noChangeShapeType="1" noTextEdit="1"/>
              </p:cNvSpPr>
              <p:nvPr/>
            </p:nvSpPr>
            <p:spPr>
              <a:xfrm>
                <a:off x="3213899" y="3946537"/>
                <a:ext cx="538160" cy="40011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7A2AE12F-F14D-0B45-82C3-663BA65BD7CE}"/>
                  </a:ext>
                </a:extLst>
              </p:cNvPr>
              <p:cNvSpPr/>
              <p:nvPr/>
            </p:nvSpPr>
            <p:spPr>
              <a:xfrm>
                <a:off x="822699" y="1606548"/>
                <a:ext cx="55932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𝐼𝑚</m:t>
                      </m:r>
                    </m:oMath>
                  </m:oMathPara>
                </a14:m>
                <a:endParaRPr lang="en-US" sz="2000" i="1" dirty="0"/>
              </a:p>
            </p:txBody>
          </p:sp>
        </mc:Choice>
        <mc:Fallback xmlns="">
          <p:sp>
            <p:nvSpPr>
              <p:cNvPr id="16" name="Rectangle 15">
                <a:extLst>
                  <a:ext uri="{FF2B5EF4-FFF2-40B4-BE49-F238E27FC236}">
                    <a16:creationId xmlns:a16="http://schemas.microsoft.com/office/drawing/2014/main" id="{7A2AE12F-F14D-0B45-82C3-663BA65BD7CE}"/>
                  </a:ext>
                </a:extLst>
              </p:cNvPr>
              <p:cNvSpPr>
                <a:spLocks noRot="1" noChangeAspect="1" noMove="1" noResize="1" noEditPoints="1" noAdjustHandles="1" noChangeArrowheads="1" noChangeShapeType="1" noTextEdit="1"/>
              </p:cNvSpPr>
              <p:nvPr/>
            </p:nvSpPr>
            <p:spPr>
              <a:xfrm>
                <a:off x="822699" y="1606548"/>
                <a:ext cx="559320" cy="400110"/>
              </a:xfrm>
              <a:prstGeom prst="rect">
                <a:avLst/>
              </a:prstGeom>
              <a:blipFill>
                <a:blip r:embed="rId8"/>
                <a:stretch>
                  <a:fillRect/>
                </a:stretch>
              </a:blipFill>
            </p:spPr>
            <p:txBody>
              <a:bodyPr/>
              <a:lstStyle/>
              <a:p>
                <a:r>
                  <a:rPr lang="en-US">
                    <a:noFill/>
                  </a:rPr>
                  <a:t> </a:t>
                </a:r>
              </a:p>
            </p:txBody>
          </p:sp>
        </mc:Fallback>
      </mc:AlternateContent>
      <p:cxnSp>
        <p:nvCxnSpPr>
          <p:cNvPr id="21" name="Straight Connector 20">
            <a:extLst>
              <a:ext uri="{FF2B5EF4-FFF2-40B4-BE49-F238E27FC236}">
                <a16:creationId xmlns:a16="http://schemas.microsoft.com/office/drawing/2014/main" id="{0F34D778-F3EF-C641-A750-950D6711BBA8}"/>
              </a:ext>
            </a:extLst>
          </p:cNvPr>
          <p:cNvCxnSpPr>
            <a:cxnSpLocks/>
          </p:cNvCxnSpPr>
          <p:nvPr/>
        </p:nvCxnSpPr>
        <p:spPr>
          <a:xfrm rot="20100000">
            <a:off x="774126" y="3930720"/>
            <a:ext cx="2039435"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5458F962-3E48-8B44-A0BA-4F64E20A9DA4}"/>
              </a:ext>
            </a:extLst>
          </p:cNvPr>
          <p:cNvSpPr/>
          <p:nvPr/>
        </p:nvSpPr>
        <p:spPr>
          <a:xfrm>
            <a:off x="2624579" y="3409768"/>
            <a:ext cx="180000" cy="1800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Merge 28">
            <a:extLst>
              <a:ext uri="{FF2B5EF4-FFF2-40B4-BE49-F238E27FC236}">
                <a16:creationId xmlns:a16="http://schemas.microsoft.com/office/drawing/2014/main" id="{6D4F2E77-115B-9644-B8F0-C1AD8E367F63}"/>
              </a:ext>
            </a:extLst>
          </p:cNvPr>
          <p:cNvSpPr/>
          <p:nvPr/>
        </p:nvSpPr>
        <p:spPr>
          <a:xfrm rot="10800000">
            <a:off x="869664" y="4051263"/>
            <a:ext cx="888294" cy="305803"/>
          </a:xfrm>
          <a:custGeom>
            <a:avLst/>
            <a:gdLst>
              <a:gd name="connsiteX0" fmla="*/ 0 w 10000"/>
              <a:gd name="connsiteY0" fmla="*/ 0 h 10000"/>
              <a:gd name="connsiteX1" fmla="*/ 10000 w 10000"/>
              <a:gd name="connsiteY1" fmla="*/ 0 h 10000"/>
              <a:gd name="connsiteX2" fmla="*/ 5000 w 10000"/>
              <a:gd name="connsiteY2" fmla="*/ 10000 h 10000"/>
              <a:gd name="connsiteX3" fmla="*/ 0 w 10000"/>
              <a:gd name="connsiteY3" fmla="*/ 0 h 10000"/>
              <a:gd name="connsiteX0" fmla="*/ 0 w 10000"/>
              <a:gd name="connsiteY0" fmla="*/ 0 h 7840"/>
              <a:gd name="connsiteX1" fmla="*/ 10000 w 10000"/>
              <a:gd name="connsiteY1" fmla="*/ 0 h 7840"/>
              <a:gd name="connsiteX2" fmla="*/ 2117 w 10000"/>
              <a:gd name="connsiteY2" fmla="*/ 7840 h 7840"/>
              <a:gd name="connsiteX3" fmla="*/ 0 w 10000"/>
              <a:gd name="connsiteY3" fmla="*/ 0 h 7840"/>
              <a:gd name="connsiteX0" fmla="*/ 0 w 10000"/>
              <a:gd name="connsiteY0" fmla="*/ 0 h 9038"/>
              <a:gd name="connsiteX1" fmla="*/ 10000 w 10000"/>
              <a:gd name="connsiteY1" fmla="*/ 0 h 9038"/>
              <a:gd name="connsiteX2" fmla="*/ 1802 w 10000"/>
              <a:gd name="connsiteY2" fmla="*/ 9038 h 9038"/>
              <a:gd name="connsiteX3" fmla="*/ 0 w 10000"/>
              <a:gd name="connsiteY3" fmla="*/ 0 h 9038"/>
              <a:gd name="connsiteX0" fmla="*/ 0 w 11112"/>
              <a:gd name="connsiteY0" fmla="*/ 0 h 10000"/>
              <a:gd name="connsiteX1" fmla="*/ 11112 w 11112"/>
              <a:gd name="connsiteY1" fmla="*/ 0 h 10000"/>
              <a:gd name="connsiteX2" fmla="*/ 2914 w 11112"/>
              <a:gd name="connsiteY2" fmla="*/ 10000 h 10000"/>
              <a:gd name="connsiteX3" fmla="*/ 0 w 11112"/>
              <a:gd name="connsiteY3" fmla="*/ 0 h 10000"/>
            </a:gdLst>
            <a:ahLst/>
            <a:cxnLst>
              <a:cxn ang="0">
                <a:pos x="connsiteX0" y="connsiteY0"/>
              </a:cxn>
              <a:cxn ang="0">
                <a:pos x="connsiteX1" y="connsiteY1"/>
              </a:cxn>
              <a:cxn ang="0">
                <a:pos x="connsiteX2" y="connsiteY2"/>
              </a:cxn>
              <a:cxn ang="0">
                <a:pos x="connsiteX3" y="connsiteY3"/>
              </a:cxn>
            </a:cxnLst>
            <a:rect l="l" t="t" r="r" b="b"/>
            <a:pathLst>
              <a:path w="11112" h="10000">
                <a:moveTo>
                  <a:pt x="0" y="0"/>
                </a:moveTo>
                <a:lnTo>
                  <a:pt x="11112" y="0"/>
                </a:lnTo>
                <a:lnTo>
                  <a:pt x="2914" y="1000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706C957F-7D12-B149-8BE2-F92E766D566C}"/>
                  </a:ext>
                </a:extLst>
              </p:cNvPr>
              <p:cNvSpPr/>
              <p:nvPr/>
            </p:nvSpPr>
            <p:spPr>
              <a:xfrm>
                <a:off x="2797915" y="3055177"/>
                <a:ext cx="5306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solidFill>
                                <a:schemeClr val="accent1">
                                  <a:lumMod val="75000"/>
                                </a:schemeClr>
                              </a:solidFill>
                              <a:latin typeface="Cambria Math" panose="02040503050406030204" pitchFamily="18" charset="0"/>
                              <a:ea typeface="Cambria Math" panose="02040503050406030204" pitchFamily="18" charset="0"/>
                            </a:rPr>
                          </m:ctrlPr>
                        </m:sSubPr>
                        <m:e>
                          <m:r>
                            <a:rPr lang="en-US" sz="2400" b="0" i="1" smtClean="0">
                              <a:solidFill>
                                <a:schemeClr val="accent1">
                                  <a:lumMod val="75000"/>
                                </a:schemeClr>
                              </a:solidFill>
                              <a:latin typeface="Cambria Math" panose="02040503050406030204" pitchFamily="18" charset="0"/>
                              <a:ea typeface="Cambria Math" panose="02040503050406030204" pitchFamily="18" charset="0"/>
                            </a:rPr>
                            <m:t>𝑧</m:t>
                          </m:r>
                        </m:e>
                        <m:sub>
                          <m:r>
                            <a:rPr lang="en-US" sz="2400" b="0" i="1" smtClean="0">
                              <a:solidFill>
                                <a:schemeClr val="accent1">
                                  <a:lumMod val="75000"/>
                                </a:schemeClr>
                              </a:solidFill>
                              <a:latin typeface="Cambria Math" panose="02040503050406030204" pitchFamily="18" charset="0"/>
                              <a:ea typeface="Cambria Math" panose="02040503050406030204" pitchFamily="18" charset="0"/>
                            </a:rPr>
                            <m:t>1</m:t>
                          </m:r>
                        </m:sub>
                      </m:sSub>
                    </m:oMath>
                  </m:oMathPara>
                </a14:m>
                <a:endParaRPr lang="en-US" sz="2400" dirty="0">
                  <a:solidFill>
                    <a:schemeClr val="accent1">
                      <a:lumMod val="75000"/>
                    </a:schemeClr>
                  </a:solidFill>
                </a:endParaRPr>
              </a:p>
            </p:txBody>
          </p:sp>
        </mc:Choice>
        <mc:Fallback xmlns="">
          <p:sp>
            <p:nvSpPr>
              <p:cNvPr id="34" name="Rectangle 33">
                <a:extLst>
                  <a:ext uri="{FF2B5EF4-FFF2-40B4-BE49-F238E27FC236}">
                    <a16:creationId xmlns:a16="http://schemas.microsoft.com/office/drawing/2014/main" id="{706C957F-7D12-B149-8BE2-F92E766D566C}"/>
                  </a:ext>
                </a:extLst>
              </p:cNvPr>
              <p:cNvSpPr>
                <a:spLocks noRot="1" noChangeAspect="1" noMove="1" noResize="1" noEditPoints="1" noAdjustHandles="1" noChangeArrowheads="1" noChangeShapeType="1" noTextEdit="1"/>
              </p:cNvSpPr>
              <p:nvPr/>
            </p:nvSpPr>
            <p:spPr>
              <a:xfrm>
                <a:off x="2797915" y="3055177"/>
                <a:ext cx="530658" cy="461665"/>
              </a:xfrm>
              <a:prstGeom prst="rect">
                <a:avLst/>
              </a:prstGeom>
              <a:blipFill>
                <a:blip r:embed="rId9"/>
                <a:stretch>
                  <a:fillRect/>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EB58F2D9-6A80-6D48-AD5B-41B0E2B19F19}"/>
              </a:ext>
            </a:extLst>
          </p:cNvPr>
          <p:cNvGrpSpPr/>
          <p:nvPr/>
        </p:nvGrpSpPr>
        <p:grpSpPr>
          <a:xfrm>
            <a:off x="855989" y="2308815"/>
            <a:ext cx="1796950" cy="2236962"/>
            <a:chOff x="855989" y="1818945"/>
            <a:chExt cx="1796950" cy="2236962"/>
          </a:xfrm>
        </p:grpSpPr>
        <p:cxnSp>
          <p:nvCxnSpPr>
            <p:cNvPr id="22" name="Straight Connector 21">
              <a:extLst>
                <a:ext uri="{FF2B5EF4-FFF2-40B4-BE49-F238E27FC236}">
                  <a16:creationId xmlns:a16="http://schemas.microsoft.com/office/drawing/2014/main" id="{15C88058-4A8D-BB47-A8CD-6558BE68B567}"/>
                </a:ext>
              </a:extLst>
            </p:cNvPr>
            <p:cNvCxnSpPr>
              <a:cxnSpLocks/>
            </p:cNvCxnSpPr>
            <p:nvPr/>
          </p:nvCxnSpPr>
          <p:spPr>
            <a:xfrm rot="18300000">
              <a:off x="427544" y="3036190"/>
              <a:ext cx="2039435" cy="0"/>
            </a:xfrm>
            <a:prstGeom prst="line">
              <a:avLst/>
            </a:prstGeom>
            <a:ln w="127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917BE86B-9329-4A47-A065-99C36EF97168}"/>
                </a:ext>
              </a:extLst>
            </p:cNvPr>
            <p:cNvSpPr/>
            <p:nvPr/>
          </p:nvSpPr>
          <p:spPr>
            <a:xfrm>
              <a:off x="1960325" y="2096129"/>
              <a:ext cx="180000" cy="18000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Merge 28">
              <a:extLst>
                <a:ext uri="{FF2B5EF4-FFF2-40B4-BE49-F238E27FC236}">
                  <a16:creationId xmlns:a16="http://schemas.microsoft.com/office/drawing/2014/main" id="{2CBC44E8-1491-4247-8D46-D6B30EDD075A}"/>
                </a:ext>
              </a:extLst>
            </p:cNvPr>
            <p:cNvSpPr/>
            <p:nvPr/>
          </p:nvSpPr>
          <p:spPr>
            <a:xfrm rot="10800000">
              <a:off x="855989" y="3416759"/>
              <a:ext cx="662821" cy="458213"/>
            </a:xfrm>
            <a:custGeom>
              <a:avLst/>
              <a:gdLst>
                <a:gd name="connsiteX0" fmla="*/ 0 w 10000"/>
                <a:gd name="connsiteY0" fmla="*/ 0 h 10000"/>
                <a:gd name="connsiteX1" fmla="*/ 10000 w 10000"/>
                <a:gd name="connsiteY1" fmla="*/ 0 h 10000"/>
                <a:gd name="connsiteX2" fmla="*/ 5000 w 10000"/>
                <a:gd name="connsiteY2" fmla="*/ 10000 h 10000"/>
                <a:gd name="connsiteX3" fmla="*/ 0 w 10000"/>
                <a:gd name="connsiteY3" fmla="*/ 0 h 10000"/>
                <a:gd name="connsiteX0" fmla="*/ 0 w 10000"/>
                <a:gd name="connsiteY0" fmla="*/ 0 h 7840"/>
                <a:gd name="connsiteX1" fmla="*/ 10000 w 10000"/>
                <a:gd name="connsiteY1" fmla="*/ 0 h 7840"/>
                <a:gd name="connsiteX2" fmla="*/ 2117 w 10000"/>
                <a:gd name="connsiteY2" fmla="*/ 7840 h 7840"/>
                <a:gd name="connsiteX3" fmla="*/ 0 w 10000"/>
                <a:gd name="connsiteY3" fmla="*/ 0 h 7840"/>
                <a:gd name="connsiteX0" fmla="*/ 0 w 10000"/>
                <a:gd name="connsiteY0" fmla="*/ 0 h 9038"/>
                <a:gd name="connsiteX1" fmla="*/ 10000 w 10000"/>
                <a:gd name="connsiteY1" fmla="*/ 0 h 9038"/>
                <a:gd name="connsiteX2" fmla="*/ 1802 w 10000"/>
                <a:gd name="connsiteY2" fmla="*/ 9038 h 9038"/>
                <a:gd name="connsiteX3" fmla="*/ 0 w 10000"/>
                <a:gd name="connsiteY3" fmla="*/ 0 h 9038"/>
                <a:gd name="connsiteX0" fmla="*/ 0 w 10000"/>
                <a:gd name="connsiteY0" fmla="*/ 0 h 11557"/>
                <a:gd name="connsiteX1" fmla="*/ 10000 w 10000"/>
                <a:gd name="connsiteY1" fmla="*/ 0 h 11557"/>
                <a:gd name="connsiteX2" fmla="*/ 6806 w 10000"/>
                <a:gd name="connsiteY2" fmla="*/ 11557 h 11557"/>
                <a:gd name="connsiteX3" fmla="*/ 0 w 10000"/>
                <a:gd name="connsiteY3" fmla="*/ 0 h 11557"/>
                <a:gd name="connsiteX0" fmla="*/ 0 w 6584"/>
                <a:gd name="connsiteY0" fmla="*/ 0 h 11661"/>
                <a:gd name="connsiteX1" fmla="*/ 6584 w 6584"/>
                <a:gd name="connsiteY1" fmla="*/ 104 h 11661"/>
                <a:gd name="connsiteX2" fmla="*/ 3390 w 6584"/>
                <a:gd name="connsiteY2" fmla="*/ 11661 h 11661"/>
                <a:gd name="connsiteX3" fmla="*/ 0 w 6584"/>
                <a:gd name="connsiteY3" fmla="*/ 0 h 11661"/>
                <a:gd name="connsiteX0" fmla="*/ 0 w 11327"/>
                <a:gd name="connsiteY0" fmla="*/ 89 h 9911"/>
                <a:gd name="connsiteX1" fmla="*/ 11327 w 11327"/>
                <a:gd name="connsiteY1" fmla="*/ 0 h 9911"/>
                <a:gd name="connsiteX2" fmla="*/ 6476 w 11327"/>
                <a:gd name="connsiteY2" fmla="*/ 9911 h 9911"/>
                <a:gd name="connsiteX3" fmla="*/ 0 w 11327"/>
                <a:gd name="connsiteY3" fmla="*/ 89 h 9911"/>
                <a:gd name="connsiteX0" fmla="*/ 0 w 11118"/>
                <a:gd name="connsiteY0" fmla="*/ 90 h 10000"/>
                <a:gd name="connsiteX1" fmla="*/ 11118 w 11118"/>
                <a:gd name="connsiteY1" fmla="*/ 0 h 10000"/>
                <a:gd name="connsiteX2" fmla="*/ 6835 w 11118"/>
                <a:gd name="connsiteY2" fmla="*/ 10000 h 10000"/>
                <a:gd name="connsiteX3" fmla="*/ 0 w 11118"/>
                <a:gd name="connsiteY3" fmla="*/ 90 h 10000"/>
                <a:gd name="connsiteX0" fmla="*/ 0 w 11118"/>
                <a:gd name="connsiteY0" fmla="*/ 90 h 12965"/>
                <a:gd name="connsiteX1" fmla="*/ 11118 w 11118"/>
                <a:gd name="connsiteY1" fmla="*/ 0 h 12965"/>
                <a:gd name="connsiteX2" fmla="*/ 5610 w 11118"/>
                <a:gd name="connsiteY2" fmla="*/ 12965 h 12965"/>
                <a:gd name="connsiteX3" fmla="*/ 0 w 11118"/>
                <a:gd name="connsiteY3" fmla="*/ 90 h 12965"/>
              </a:gdLst>
              <a:ahLst/>
              <a:cxnLst>
                <a:cxn ang="0">
                  <a:pos x="connsiteX0" y="connsiteY0"/>
                </a:cxn>
                <a:cxn ang="0">
                  <a:pos x="connsiteX1" y="connsiteY1"/>
                </a:cxn>
                <a:cxn ang="0">
                  <a:pos x="connsiteX2" y="connsiteY2"/>
                </a:cxn>
                <a:cxn ang="0">
                  <a:pos x="connsiteX3" y="connsiteY3"/>
                </a:cxn>
              </a:cxnLst>
              <a:rect l="l" t="t" r="r" b="b"/>
              <a:pathLst>
                <a:path w="11118" h="12965">
                  <a:moveTo>
                    <a:pt x="0" y="90"/>
                  </a:moveTo>
                  <a:lnTo>
                    <a:pt x="11118" y="0"/>
                  </a:lnTo>
                  <a:lnTo>
                    <a:pt x="5610" y="12965"/>
                  </a:lnTo>
                  <a:lnTo>
                    <a:pt x="0" y="90"/>
                  </a:ln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7278E912-0B17-7849-BBE5-7B707BB63051}"/>
                    </a:ext>
                  </a:extLst>
                </p:cNvPr>
                <p:cNvSpPr/>
                <p:nvPr/>
              </p:nvSpPr>
              <p:spPr>
                <a:xfrm>
                  <a:off x="1106077" y="3157908"/>
                  <a:ext cx="663165"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i="1" smtClean="0">
                                <a:solidFill>
                                  <a:schemeClr val="accent4">
                                    <a:lumMod val="75000"/>
                                  </a:schemeClr>
                                </a:solidFill>
                                <a:latin typeface="Cambria Math" panose="02040503050406030204" pitchFamily="18" charset="0"/>
                                <a:ea typeface="Cambria Math" panose="02040503050406030204" pitchFamily="18" charset="0"/>
                              </a:rPr>
                            </m:ctrlPr>
                          </m:sSubPr>
                          <m:e>
                            <m:r>
                              <a:rPr lang="en-US" sz="2000" i="1">
                                <a:solidFill>
                                  <a:schemeClr val="accent4">
                                    <a:lumMod val="75000"/>
                                  </a:schemeClr>
                                </a:solidFill>
                                <a:latin typeface="Cambria Math" panose="02040503050406030204" pitchFamily="18" charset="0"/>
                                <a:ea typeface="Cambria Math" panose="02040503050406030204" pitchFamily="18" charset="0"/>
                              </a:rPr>
                              <m:t>𝜑</m:t>
                            </m:r>
                          </m:e>
                          <m:sub>
                            <m:r>
                              <a:rPr lang="en-US" sz="2000" b="0" i="1" smtClean="0">
                                <a:solidFill>
                                  <a:schemeClr val="accent4">
                                    <a:lumMod val="75000"/>
                                  </a:schemeClr>
                                </a:solidFill>
                                <a:latin typeface="Cambria Math" panose="02040503050406030204" pitchFamily="18" charset="0"/>
                                <a:ea typeface="Cambria Math" panose="02040503050406030204" pitchFamily="18" charset="0"/>
                              </a:rPr>
                              <m:t>2</m:t>
                            </m:r>
                          </m:sub>
                        </m:sSub>
                      </m:oMath>
                    </m:oMathPara>
                  </a14:m>
                  <a:endParaRPr lang="en-US" sz="2000" dirty="0">
                    <a:solidFill>
                      <a:schemeClr val="accent4">
                        <a:lumMod val="75000"/>
                      </a:schemeClr>
                    </a:solidFill>
                  </a:endParaRPr>
                </a:p>
              </p:txBody>
            </p:sp>
          </mc:Choice>
          <mc:Fallback xmlns="">
            <p:sp>
              <p:nvSpPr>
                <p:cNvPr id="32" name="Rectangle 31">
                  <a:extLst>
                    <a:ext uri="{FF2B5EF4-FFF2-40B4-BE49-F238E27FC236}">
                      <a16:creationId xmlns:a16="http://schemas.microsoft.com/office/drawing/2014/main" id="{7278E912-0B17-7849-BBE5-7B707BB63051}"/>
                    </a:ext>
                  </a:extLst>
                </p:cNvPr>
                <p:cNvSpPr>
                  <a:spLocks noRot="1" noChangeAspect="1" noMove="1" noResize="1" noEditPoints="1" noAdjustHandles="1" noChangeArrowheads="1" noChangeShapeType="1" noTextEdit="1"/>
                </p:cNvSpPr>
                <p:nvPr/>
              </p:nvSpPr>
              <p:spPr>
                <a:xfrm>
                  <a:off x="1106077" y="3157908"/>
                  <a:ext cx="663165" cy="400110"/>
                </a:xfrm>
                <a:prstGeom prst="rect">
                  <a:avLst/>
                </a:prstGeom>
                <a:blipFill>
                  <a:blip r:embed="rId10"/>
                  <a:stretch>
                    <a:fillRect b="-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EB24C1D4-F3A5-2D4E-A1A4-A80521462CD6}"/>
                    </a:ext>
                  </a:extLst>
                </p:cNvPr>
                <p:cNvSpPr/>
                <p:nvPr/>
              </p:nvSpPr>
              <p:spPr>
                <a:xfrm>
                  <a:off x="2115164" y="1818945"/>
                  <a:ext cx="53777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solidFill>
                                  <a:schemeClr val="accent4">
                                    <a:lumMod val="75000"/>
                                  </a:schemeClr>
                                </a:solidFill>
                                <a:latin typeface="Cambria Math" panose="02040503050406030204" pitchFamily="18" charset="0"/>
                                <a:ea typeface="Cambria Math" panose="02040503050406030204" pitchFamily="18" charset="0"/>
                              </a:rPr>
                            </m:ctrlPr>
                          </m:sSubPr>
                          <m:e>
                            <m:r>
                              <a:rPr lang="en-US" sz="2400" b="0" i="1" smtClean="0">
                                <a:solidFill>
                                  <a:schemeClr val="accent4">
                                    <a:lumMod val="75000"/>
                                  </a:schemeClr>
                                </a:solidFill>
                                <a:latin typeface="Cambria Math" panose="02040503050406030204" pitchFamily="18" charset="0"/>
                                <a:ea typeface="Cambria Math" panose="02040503050406030204" pitchFamily="18" charset="0"/>
                              </a:rPr>
                              <m:t>𝑧</m:t>
                            </m:r>
                          </m:e>
                          <m:sub>
                            <m:r>
                              <a:rPr lang="en-US" sz="2400" b="0" i="1" smtClean="0">
                                <a:solidFill>
                                  <a:schemeClr val="accent4">
                                    <a:lumMod val="75000"/>
                                  </a:schemeClr>
                                </a:solidFill>
                                <a:latin typeface="Cambria Math" panose="02040503050406030204" pitchFamily="18" charset="0"/>
                                <a:ea typeface="Cambria Math" panose="02040503050406030204" pitchFamily="18" charset="0"/>
                              </a:rPr>
                              <m:t>2</m:t>
                            </m:r>
                          </m:sub>
                        </m:sSub>
                      </m:oMath>
                    </m:oMathPara>
                  </a14:m>
                  <a:endParaRPr lang="en-US" sz="2400" dirty="0">
                    <a:solidFill>
                      <a:schemeClr val="accent4">
                        <a:lumMod val="75000"/>
                      </a:schemeClr>
                    </a:solidFill>
                  </a:endParaRPr>
                </a:p>
              </p:txBody>
            </p:sp>
          </mc:Choice>
          <mc:Fallback xmlns="">
            <p:sp>
              <p:nvSpPr>
                <p:cNvPr id="35" name="Rectangle 34">
                  <a:extLst>
                    <a:ext uri="{FF2B5EF4-FFF2-40B4-BE49-F238E27FC236}">
                      <a16:creationId xmlns:a16="http://schemas.microsoft.com/office/drawing/2014/main" id="{EB24C1D4-F3A5-2D4E-A1A4-A80521462CD6}"/>
                    </a:ext>
                  </a:extLst>
                </p:cNvPr>
                <p:cNvSpPr>
                  <a:spLocks noRot="1" noChangeAspect="1" noMove="1" noResize="1" noEditPoints="1" noAdjustHandles="1" noChangeArrowheads="1" noChangeShapeType="1" noTextEdit="1"/>
                </p:cNvSpPr>
                <p:nvPr/>
              </p:nvSpPr>
              <p:spPr>
                <a:xfrm>
                  <a:off x="2115164" y="1818945"/>
                  <a:ext cx="537775" cy="461665"/>
                </a:xfrm>
                <a:prstGeom prst="rect">
                  <a:avLst/>
                </a:prstGeom>
                <a:blipFill>
                  <a:blip r:embed="rId11"/>
                  <a:stretch>
                    <a:fillRect/>
                  </a:stretch>
                </a:blipFill>
              </p:spPr>
              <p:txBody>
                <a:bodyPr/>
                <a:lstStyle/>
                <a:p>
                  <a:r>
                    <a:rPr lang="en-US">
                      <a:noFill/>
                    </a:rPr>
                    <a:t> </a:t>
                  </a:r>
                </a:p>
              </p:txBody>
            </p:sp>
          </mc:Fallback>
        </mc:AlternateContent>
      </p:grpSp>
      <p:grpSp>
        <p:nvGrpSpPr>
          <p:cNvPr id="39" name="Group 38">
            <a:extLst>
              <a:ext uri="{FF2B5EF4-FFF2-40B4-BE49-F238E27FC236}">
                <a16:creationId xmlns:a16="http://schemas.microsoft.com/office/drawing/2014/main" id="{651474E6-5841-6A48-8FA0-58E20761C56C}"/>
              </a:ext>
            </a:extLst>
          </p:cNvPr>
          <p:cNvGrpSpPr/>
          <p:nvPr/>
        </p:nvGrpSpPr>
        <p:grpSpPr>
          <a:xfrm>
            <a:off x="138013" y="1853547"/>
            <a:ext cx="7930569" cy="3841163"/>
            <a:chOff x="138013" y="1363677"/>
            <a:chExt cx="7930569" cy="3841163"/>
          </a:xfrm>
        </p:grpSpPr>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C51F67A3-9E4A-7042-B463-ED8453CB837F}"/>
                    </a:ext>
                  </a:extLst>
                </p:cNvPr>
                <p:cNvSpPr/>
                <p:nvPr/>
              </p:nvSpPr>
              <p:spPr>
                <a:xfrm>
                  <a:off x="138013" y="4288692"/>
                  <a:ext cx="7930569" cy="91614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b="0" i="1" smtClean="0">
                                <a:solidFill>
                                  <a:schemeClr val="tx1"/>
                                </a:solidFill>
                                <a:latin typeface="Cambria Math" panose="02040503050406030204" pitchFamily="18" charset="0"/>
                                <a:ea typeface="Cambria Math" panose="02040503050406030204" pitchFamily="18" charset="0"/>
                              </a:rPr>
                            </m:ctrlPr>
                          </m:dPr>
                          <m:e>
                            <m:m>
                              <m:mPr>
                                <m:mcs>
                                  <m:mc>
                                    <m:mcPr>
                                      <m:count m:val="1"/>
                                      <m:mcJc m:val="center"/>
                                    </m:mcPr>
                                  </m:mc>
                                </m:mcs>
                                <m:ctrlPr>
                                  <a:rPr lang="en-US" sz="2400" b="0" i="1" smtClean="0">
                                    <a:solidFill>
                                      <a:schemeClr val="tx1"/>
                                    </a:solidFill>
                                    <a:latin typeface="Cambria Math" panose="02040503050406030204" pitchFamily="18" charset="0"/>
                                    <a:ea typeface="Cambria Math" panose="02040503050406030204" pitchFamily="18" charset="0"/>
                                  </a:rPr>
                                </m:ctrlPr>
                              </m:mPr>
                              <m:mr>
                                <m:e>
                                  <m:sSub>
                                    <m:sSubPr>
                                      <m:ctrlPr>
                                        <a:rPr lang="en-US" sz="2400" b="0" i="1" smtClean="0">
                                          <a:solidFill>
                                            <a:schemeClr val="tx1"/>
                                          </a:solidFill>
                                          <a:latin typeface="Cambria Math" panose="02040503050406030204" pitchFamily="18" charset="0"/>
                                          <a:ea typeface="Cambria Math" panose="02040503050406030204" pitchFamily="18" charset="0"/>
                                        </a:rPr>
                                      </m:ctrlPr>
                                    </m:sSubPr>
                                    <m:e>
                                      <m:r>
                                        <a:rPr lang="en-US" sz="2400" b="0" i="1" smtClean="0">
                                          <a:solidFill>
                                            <a:schemeClr val="tx1"/>
                                          </a:solidFill>
                                          <a:latin typeface="Cambria Math" panose="02040503050406030204" pitchFamily="18" charset="0"/>
                                          <a:ea typeface="Cambria Math" panose="02040503050406030204" pitchFamily="18" charset="0"/>
                                        </a:rPr>
                                        <m:t>𝑧</m:t>
                                      </m:r>
                                    </m:e>
                                    <m:sub>
                                      <m:r>
                                        <a:rPr lang="en-US" sz="2400" b="0" i="1" smtClean="0">
                                          <a:solidFill>
                                            <a:schemeClr val="tx1"/>
                                          </a:solidFill>
                                          <a:latin typeface="Cambria Math" panose="02040503050406030204" pitchFamily="18" charset="0"/>
                                          <a:ea typeface="Cambria Math" panose="02040503050406030204" pitchFamily="18" charset="0"/>
                                        </a:rPr>
                                        <m:t>1</m:t>
                                      </m:r>
                                    </m:sub>
                                  </m:sSub>
                                  <m:r>
                                    <a:rPr lang="en-US" sz="2400" i="1">
                                      <a:latin typeface="Cambria Math" panose="02040503050406030204" pitchFamily="18" charset="0"/>
                                      <a:ea typeface="Cambria Math" panose="02040503050406030204" pitchFamily="18" charset="0"/>
                                    </a:rPr>
                                    <m:t>=</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cos</m:t>
                                      </m:r>
                                    </m:fName>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𝜑</m:t>
                                          </m:r>
                                        </m:e>
                                        <m:sub>
                                          <m:r>
                                            <a:rPr lang="en-US" sz="2400" i="1">
                                              <a:latin typeface="Cambria Math" panose="02040503050406030204" pitchFamily="18" charset="0"/>
                                              <a:ea typeface="Cambria Math" panose="02040503050406030204" pitchFamily="18" charset="0"/>
                                            </a:rPr>
                                            <m:t>1</m:t>
                                          </m:r>
                                        </m:sub>
                                      </m:sSub>
                                      <m:r>
                                        <a:rPr lang="en-US" sz="2400" i="1">
                                          <a:latin typeface="Cambria Math" panose="02040503050406030204" pitchFamily="18" charset="0"/>
                                          <a:ea typeface="Cambria Math" panose="02040503050406030204" pitchFamily="18" charset="0"/>
                                        </a:rPr>
                                        <m:t>+</m:t>
                                      </m:r>
                                      <m:func>
                                        <m:funcPr>
                                          <m:ctrlPr>
                                            <a:rPr lang="en-US" sz="2400" i="1">
                                              <a:latin typeface="Cambria Math" panose="02040503050406030204" pitchFamily="18" charset="0"/>
                                              <a:ea typeface="Cambria Math" panose="02040503050406030204" pitchFamily="18" charset="0"/>
                                            </a:rPr>
                                          </m:ctrlPr>
                                        </m:funcPr>
                                        <m:fName>
                                          <m:r>
                                            <a:rPr lang="en-US" sz="2400" i="1">
                                              <a:latin typeface="Cambria Math" panose="02040503050406030204" pitchFamily="18" charset="0"/>
                                              <a:ea typeface="Cambria Math" panose="02040503050406030204" pitchFamily="18" charset="0"/>
                                            </a:rPr>
                                            <m:t>𝑖</m:t>
                                          </m:r>
                                          <m:r>
                                            <a:rPr lang="en-US" sz="2400" i="1">
                                              <a:latin typeface="Cambria Math" panose="02040503050406030204" pitchFamily="18" charset="0"/>
                                              <a:ea typeface="Cambria Math" panose="02040503050406030204" pitchFamily="18" charset="0"/>
                                            </a:rPr>
                                            <m:t> </m:t>
                                          </m:r>
                                          <m:r>
                                            <m:rPr>
                                              <m:sty m:val="p"/>
                                            </m:rPr>
                                            <a:rPr lang="en-US" sz="2400">
                                              <a:latin typeface="Cambria Math" panose="02040503050406030204" pitchFamily="18" charset="0"/>
                                              <a:ea typeface="Cambria Math" panose="02040503050406030204" pitchFamily="18" charset="0"/>
                                            </a:rPr>
                                            <m:t>sin</m:t>
                                          </m:r>
                                        </m:fName>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𝜑</m:t>
                                              </m:r>
                                            </m:e>
                                            <m:sub>
                                              <m:r>
                                                <a:rPr lang="en-US" sz="2400" i="1">
                                                  <a:latin typeface="Cambria Math" panose="02040503050406030204" pitchFamily="18" charset="0"/>
                                                  <a:ea typeface="Cambria Math" panose="02040503050406030204" pitchFamily="18" charset="0"/>
                                                </a:rPr>
                                                <m:t>1</m:t>
                                              </m:r>
                                            </m:sub>
                                          </m:sSub>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𝑖</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𝜑</m:t>
                                                  </m:r>
                                                </m:e>
                                                <m:sub>
                                                  <m:r>
                                                    <a:rPr lang="en-US" sz="2400" i="1">
                                                      <a:latin typeface="Cambria Math" panose="02040503050406030204" pitchFamily="18" charset="0"/>
                                                      <a:ea typeface="Cambria Math" panose="02040503050406030204" pitchFamily="18" charset="0"/>
                                                    </a:rPr>
                                                    <m:t>1</m:t>
                                                  </m:r>
                                                </m:sub>
                                              </m:sSub>
                                            </m:sup>
                                          </m:sSup>
                                        </m:e>
                                      </m:func>
                                    </m:e>
                                  </m:func>
                                </m:e>
                              </m:mr>
                              <m:mr>
                                <m:e>
                                  <m:sSub>
                                    <m:sSubPr>
                                      <m:ctrlPr>
                                        <a:rPr lang="en-US" sz="240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𝑧</m:t>
                                      </m:r>
                                    </m:e>
                                    <m:sub>
                                      <m:r>
                                        <a:rPr lang="en-US" sz="2400" b="0" i="1" smtClean="0">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cos</m:t>
                                      </m:r>
                                    </m:fName>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𝜑</m:t>
                                          </m:r>
                                        </m:e>
                                        <m:sub>
                                          <m:r>
                                            <a:rPr lang="en-US" sz="2400" i="1">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m:t>
                                      </m:r>
                                      <m:func>
                                        <m:funcPr>
                                          <m:ctrlPr>
                                            <a:rPr lang="en-US" sz="2400" i="1">
                                              <a:latin typeface="Cambria Math" panose="02040503050406030204" pitchFamily="18" charset="0"/>
                                              <a:ea typeface="Cambria Math" panose="02040503050406030204" pitchFamily="18" charset="0"/>
                                            </a:rPr>
                                          </m:ctrlPr>
                                        </m:funcPr>
                                        <m:fName>
                                          <m:r>
                                            <a:rPr lang="en-US" sz="2400" i="1">
                                              <a:latin typeface="Cambria Math" panose="02040503050406030204" pitchFamily="18" charset="0"/>
                                              <a:ea typeface="Cambria Math" panose="02040503050406030204" pitchFamily="18" charset="0"/>
                                            </a:rPr>
                                            <m:t>𝑖</m:t>
                                          </m:r>
                                          <m:r>
                                            <a:rPr lang="en-US" sz="2400">
                                              <a:latin typeface="Cambria Math" panose="02040503050406030204" pitchFamily="18" charset="0"/>
                                              <a:ea typeface="Cambria Math" panose="02040503050406030204" pitchFamily="18" charset="0"/>
                                            </a:rPr>
                                            <m:t> </m:t>
                                          </m:r>
                                          <m:r>
                                            <m:rPr>
                                              <m:sty m:val="p"/>
                                            </m:rPr>
                                            <a:rPr lang="en-US" sz="2400">
                                              <a:latin typeface="Cambria Math" panose="02040503050406030204" pitchFamily="18" charset="0"/>
                                              <a:ea typeface="Cambria Math" panose="02040503050406030204" pitchFamily="18" charset="0"/>
                                            </a:rPr>
                                            <m:t>sin</m:t>
                                          </m:r>
                                        </m:fName>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𝜑</m:t>
                                              </m:r>
                                            </m:e>
                                            <m:sub>
                                              <m:r>
                                                <a:rPr lang="en-US" sz="2400" i="1">
                                                  <a:latin typeface="Cambria Math" panose="02040503050406030204" pitchFamily="18" charset="0"/>
                                                  <a:ea typeface="Cambria Math" panose="02040503050406030204" pitchFamily="18" charset="0"/>
                                                </a:rPr>
                                                <m:t>2</m:t>
                                              </m:r>
                                            </m:sub>
                                          </m:sSub>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𝑖</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𝜑</m:t>
                                                  </m:r>
                                                </m:e>
                                                <m:sub>
                                                  <m:r>
                                                    <a:rPr lang="en-US" sz="2400" i="1">
                                                      <a:latin typeface="Cambria Math" panose="02040503050406030204" pitchFamily="18" charset="0"/>
                                                      <a:ea typeface="Cambria Math" panose="02040503050406030204" pitchFamily="18" charset="0"/>
                                                    </a:rPr>
                                                    <m:t>2</m:t>
                                                  </m:r>
                                                </m:sub>
                                              </m:sSub>
                                            </m:sup>
                                          </m:sSup>
                                        </m:e>
                                      </m:func>
                                    </m:e>
                                  </m:func>
                                </m:e>
                              </m:mr>
                            </m:m>
                          </m:e>
                        </m:d>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𝑧</m:t>
                            </m:r>
                          </m:e>
                          <m:sub>
                            <m:r>
                              <a:rPr lang="en-US" sz="2400" i="1">
                                <a:latin typeface="Cambria Math" panose="02040503050406030204" pitchFamily="18" charset="0"/>
                                <a:ea typeface="Cambria Math" panose="02040503050406030204" pitchFamily="18" charset="0"/>
                              </a:rPr>
                              <m:t>1</m:t>
                            </m:r>
                          </m:sub>
                        </m:sSub>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𝑧</m:t>
                            </m:r>
                          </m:e>
                          <m:sub>
                            <m:r>
                              <a:rPr lang="en-US" sz="2400" b="0" i="1" smtClean="0">
                                <a:latin typeface="Cambria Math" panose="02040503050406030204" pitchFamily="18" charset="0"/>
                                <a:ea typeface="Cambria Math" panose="02040503050406030204" pitchFamily="18" charset="0"/>
                              </a:rPr>
                              <m:t>2</m:t>
                            </m:r>
                          </m:sub>
                        </m:sSub>
                        <m:r>
                          <a:rPr lang="en-US" sz="2400" b="0" i="1" smtClean="0">
                            <a:solidFill>
                              <a:schemeClr val="tx1"/>
                            </a:solidFill>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𝑖</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𝜑</m:t>
                                </m:r>
                              </m:e>
                              <m:sub>
                                <m:r>
                                  <a:rPr lang="en-US" sz="2400" i="1">
                                    <a:latin typeface="Cambria Math" panose="02040503050406030204" pitchFamily="18" charset="0"/>
                                    <a:ea typeface="Cambria Math" panose="02040503050406030204" pitchFamily="18" charset="0"/>
                                  </a:rPr>
                                  <m:t>1</m:t>
                                </m:r>
                              </m:sub>
                            </m:sSub>
                          </m:sup>
                        </m:sSup>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r>
                              <a:rPr lang="en-US" sz="2400" i="1">
                                <a:latin typeface="Cambria Math" panose="02040503050406030204" pitchFamily="18" charset="0"/>
                                <a:ea typeface="Cambria Math" panose="02040503050406030204" pitchFamily="18" charset="0"/>
                              </a:rPr>
                              <m:t>𝑖</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𝜑</m:t>
                                </m:r>
                              </m:e>
                              <m:sub>
                                <m:r>
                                  <a:rPr lang="en-US" sz="2400" b="0" i="1" smtClean="0">
                                    <a:latin typeface="Cambria Math" panose="02040503050406030204" pitchFamily="18" charset="0"/>
                                    <a:ea typeface="Cambria Math" panose="02040503050406030204" pitchFamily="18" charset="0"/>
                                  </a:rPr>
                                  <m:t>2</m:t>
                                </m:r>
                              </m:sub>
                            </m:sSub>
                          </m:sup>
                        </m:sSup>
                        <m:r>
                          <a:rPr lang="en-US" sz="2400" b="0" i="1" smtClean="0">
                            <a:latin typeface="Cambria Math" panose="02040503050406030204" pitchFamily="18" charset="0"/>
                            <a:ea typeface="Cambria Math" panose="02040503050406030204" pitchFamily="18" charset="0"/>
                          </a:rPr>
                          <m:t>=</m:t>
                        </m:r>
                        <m:sSup>
                          <m:sSupPr>
                            <m:ctrlPr>
                              <a:rPr lang="en-US" sz="2400" i="1" smtClean="0">
                                <a:solidFill>
                                  <a:schemeClr val="tx1"/>
                                </a:solidFill>
                                <a:latin typeface="Cambria Math" panose="02040503050406030204" pitchFamily="18" charset="0"/>
                                <a:ea typeface="Cambria Math" panose="02040503050406030204" pitchFamily="18" charset="0"/>
                              </a:rPr>
                            </m:ctrlPr>
                          </m:sSupPr>
                          <m:e>
                            <m:r>
                              <a:rPr lang="en-US" sz="2400" i="1">
                                <a:solidFill>
                                  <a:schemeClr val="tx1"/>
                                </a:solidFill>
                                <a:latin typeface="Cambria Math" panose="02040503050406030204" pitchFamily="18" charset="0"/>
                                <a:ea typeface="Cambria Math" panose="02040503050406030204" pitchFamily="18" charset="0"/>
                              </a:rPr>
                              <m:t>𝑒</m:t>
                            </m:r>
                          </m:e>
                          <m:sup>
                            <m:sSub>
                              <m:sSubPr>
                                <m:ctrlPr>
                                  <a:rPr lang="en-US" sz="2400" i="1">
                                    <a:solidFill>
                                      <a:schemeClr val="tx1"/>
                                    </a:solidFill>
                                    <a:latin typeface="Cambria Math" panose="02040503050406030204" pitchFamily="18" charset="0"/>
                                    <a:ea typeface="Cambria Math" panose="02040503050406030204" pitchFamily="18" charset="0"/>
                                  </a:rPr>
                                </m:ctrlPr>
                              </m:sSubPr>
                              <m:e>
                                <m:r>
                                  <a:rPr lang="en-US" sz="2400" b="0" i="1" smtClean="0">
                                    <a:solidFill>
                                      <a:schemeClr val="tx1"/>
                                    </a:solidFill>
                                    <a:latin typeface="Cambria Math" panose="02040503050406030204" pitchFamily="18" charset="0"/>
                                    <a:ea typeface="Cambria Math" panose="02040503050406030204" pitchFamily="18" charset="0"/>
                                  </a:rPr>
                                  <m:t>𝑖</m:t>
                                </m:r>
                                <m:r>
                                  <a:rPr lang="en-US" sz="2400" b="0" i="1" smtClean="0">
                                    <a:solidFill>
                                      <a:schemeClr val="tx1"/>
                                    </a:solidFill>
                                    <a:latin typeface="Cambria Math" panose="02040503050406030204" pitchFamily="18" charset="0"/>
                                    <a:ea typeface="Cambria Math" panose="02040503050406030204" pitchFamily="18" charset="0"/>
                                  </a:rPr>
                                  <m:t>(</m:t>
                                </m:r>
                                <m:r>
                                  <a:rPr lang="en-US" sz="2400" i="1">
                                    <a:solidFill>
                                      <a:schemeClr val="tx1"/>
                                    </a:solidFill>
                                    <a:latin typeface="Cambria Math" panose="02040503050406030204" pitchFamily="18" charset="0"/>
                                    <a:ea typeface="Cambria Math" panose="02040503050406030204" pitchFamily="18" charset="0"/>
                                  </a:rPr>
                                  <m:t>𝜑</m:t>
                                </m:r>
                              </m:e>
                              <m:sub>
                                <m:r>
                                  <a:rPr lang="en-US" sz="2400" i="1">
                                    <a:solidFill>
                                      <a:schemeClr val="tx1"/>
                                    </a:solidFill>
                                    <a:latin typeface="Cambria Math" panose="02040503050406030204" pitchFamily="18" charset="0"/>
                                    <a:ea typeface="Cambria Math" panose="02040503050406030204" pitchFamily="18" charset="0"/>
                                  </a:rPr>
                                  <m:t>1</m:t>
                                </m:r>
                              </m:sub>
                            </m:sSub>
                            <m:r>
                              <a:rPr lang="en-US" sz="2400" i="1">
                                <a:solidFill>
                                  <a:schemeClr val="tx1"/>
                                </a:solidFill>
                                <a:latin typeface="Cambria Math" panose="02040503050406030204" pitchFamily="18" charset="0"/>
                                <a:ea typeface="Cambria Math" panose="02040503050406030204" pitchFamily="18" charset="0"/>
                              </a:rPr>
                              <m:t>+</m:t>
                            </m:r>
                            <m:sSub>
                              <m:sSubPr>
                                <m:ctrlPr>
                                  <a:rPr lang="en-US" sz="2400" i="1">
                                    <a:solidFill>
                                      <a:schemeClr val="tx1"/>
                                    </a:solidFill>
                                    <a:latin typeface="Cambria Math" panose="02040503050406030204" pitchFamily="18" charset="0"/>
                                    <a:ea typeface="Cambria Math" panose="02040503050406030204" pitchFamily="18" charset="0"/>
                                  </a:rPr>
                                </m:ctrlPr>
                              </m:sSubPr>
                              <m:e>
                                <m:r>
                                  <a:rPr lang="en-US" sz="2400" i="1">
                                    <a:solidFill>
                                      <a:schemeClr val="tx1"/>
                                    </a:solidFill>
                                    <a:latin typeface="Cambria Math" panose="02040503050406030204" pitchFamily="18" charset="0"/>
                                    <a:ea typeface="Cambria Math" panose="02040503050406030204" pitchFamily="18" charset="0"/>
                                  </a:rPr>
                                  <m:t>𝜑</m:t>
                                </m:r>
                              </m:e>
                              <m:sub>
                                <m:r>
                                  <a:rPr lang="en-US" sz="2400" i="1">
                                    <a:solidFill>
                                      <a:schemeClr val="tx1"/>
                                    </a:solidFill>
                                    <a:latin typeface="Cambria Math" panose="02040503050406030204" pitchFamily="18" charset="0"/>
                                    <a:ea typeface="Cambria Math" panose="02040503050406030204" pitchFamily="18" charset="0"/>
                                  </a:rPr>
                                  <m:t>2</m:t>
                                </m:r>
                              </m:sub>
                            </m:sSub>
                            <m:r>
                              <a:rPr lang="en-US" sz="2400" b="0" i="1" smtClean="0">
                                <a:solidFill>
                                  <a:schemeClr val="tx1"/>
                                </a:solidFill>
                                <a:latin typeface="Cambria Math" panose="02040503050406030204" pitchFamily="18" charset="0"/>
                                <a:ea typeface="Cambria Math" panose="02040503050406030204" pitchFamily="18" charset="0"/>
                              </a:rPr>
                              <m:t>)</m:t>
                            </m:r>
                          </m:sup>
                        </m:sSup>
                      </m:oMath>
                    </m:oMathPara>
                  </a14:m>
                  <a:endParaRPr lang="en-US" sz="2400" b="0" dirty="0">
                    <a:solidFill>
                      <a:schemeClr val="tx1"/>
                    </a:solidFill>
                    <a:ea typeface="Cambria Math" panose="02040503050406030204" pitchFamily="18" charset="0"/>
                  </a:endParaRPr>
                </a:p>
              </p:txBody>
            </p:sp>
          </mc:Choice>
          <mc:Fallback xmlns="">
            <p:sp>
              <p:nvSpPr>
                <p:cNvPr id="41" name="Rectangle 40">
                  <a:extLst>
                    <a:ext uri="{FF2B5EF4-FFF2-40B4-BE49-F238E27FC236}">
                      <a16:creationId xmlns:a16="http://schemas.microsoft.com/office/drawing/2014/main" id="{C51F67A3-9E4A-7042-B463-ED8453CB837F}"/>
                    </a:ext>
                  </a:extLst>
                </p:cNvPr>
                <p:cNvSpPr>
                  <a:spLocks noRot="1" noChangeAspect="1" noMove="1" noResize="1" noEditPoints="1" noAdjustHandles="1" noChangeArrowheads="1" noChangeShapeType="1" noTextEdit="1"/>
                </p:cNvSpPr>
                <p:nvPr/>
              </p:nvSpPr>
              <p:spPr>
                <a:xfrm>
                  <a:off x="138013" y="4288692"/>
                  <a:ext cx="7930569" cy="916148"/>
                </a:xfrm>
                <a:prstGeom prst="rect">
                  <a:avLst/>
                </a:prstGeom>
                <a:blipFill>
                  <a:blip r:embed="rId12"/>
                  <a:stretch>
                    <a:fillRect t="-197260" b="-289041"/>
                  </a:stretch>
                </a:blipFill>
              </p:spPr>
              <p:txBody>
                <a:bodyPr/>
                <a:lstStyle/>
                <a:p>
                  <a:r>
                    <a:rPr lang="en-US">
                      <a:noFill/>
                    </a:rPr>
                    <a:t> </a:t>
                  </a:r>
                </a:p>
              </p:txBody>
            </p:sp>
          </mc:Fallback>
        </mc:AlternateContent>
        <p:cxnSp>
          <p:nvCxnSpPr>
            <p:cNvPr id="19" name="Straight Connector 18">
              <a:extLst>
                <a:ext uri="{FF2B5EF4-FFF2-40B4-BE49-F238E27FC236}">
                  <a16:creationId xmlns:a16="http://schemas.microsoft.com/office/drawing/2014/main" id="{827F0670-4F67-CA49-AA49-E3989801BDF4}"/>
                </a:ext>
              </a:extLst>
            </p:cNvPr>
            <p:cNvCxnSpPr>
              <a:cxnSpLocks/>
            </p:cNvCxnSpPr>
            <p:nvPr/>
          </p:nvCxnSpPr>
          <p:spPr>
            <a:xfrm rot="16800000">
              <a:off x="19753" y="2866138"/>
              <a:ext cx="2039435" cy="0"/>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890A48B8-7A8B-8C46-9C1C-B8A8A3DEE2AC}"/>
                </a:ext>
              </a:extLst>
            </p:cNvPr>
            <p:cNvSpPr/>
            <p:nvPr/>
          </p:nvSpPr>
          <p:spPr>
            <a:xfrm>
              <a:off x="1144267" y="1751277"/>
              <a:ext cx="180000" cy="180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08DB4A9E-F104-1A4A-98D2-A07747ED92C1}"/>
                    </a:ext>
                  </a:extLst>
                </p:cNvPr>
                <p:cNvSpPr/>
                <p:nvPr/>
              </p:nvSpPr>
              <p:spPr>
                <a:xfrm rot="17700593">
                  <a:off x="700793" y="2675921"/>
                  <a:ext cx="1073742"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B050"/>
                                </a:solidFill>
                                <a:latin typeface="Cambria Math" panose="02040503050406030204" pitchFamily="18" charset="0"/>
                                <a:ea typeface="Cambria Math" panose="02040503050406030204" pitchFamily="18" charset="0"/>
                              </a:rPr>
                            </m:ctrlPr>
                          </m:sSubPr>
                          <m:e>
                            <m:r>
                              <a:rPr lang="en-US" sz="2000" i="1">
                                <a:solidFill>
                                  <a:srgbClr val="00B050"/>
                                </a:solidFill>
                                <a:latin typeface="Cambria Math" panose="02040503050406030204" pitchFamily="18" charset="0"/>
                                <a:ea typeface="Cambria Math" panose="02040503050406030204" pitchFamily="18" charset="0"/>
                              </a:rPr>
                              <m:t>𝜑</m:t>
                            </m:r>
                          </m:e>
                          <m:sub>
                            <m:r>
                              <a:rPr lang="en-US" sz="2000" b="0" i="1" smtClean="0">
                                <a:solidFill>
                                  <a:srgbClr val="00B050"/>
                                </a:solidFill>
                                <a:latin typeface="Cambria Math" panose="02040503050406030204" pitchFamily="18" charset="0"/>
                                <a:ea typeface="Cambria Math" panose="02040503050406030204" pitchFamily="18" charset="0"/>
                              </a:rPr>
                              <m:t>1</m:t>
                            </m:r>
                          </m:sub>
                        </m:sSub>
                        <m:r>
                          <a:rPr lang="en-US" sz="2000" b="0" i="1" smtClean="0">
                            <a:solidFill>
                              <a:srgbClr val="00B050"/>
                            </a:solidFill>
                            <a:latin typeface="Cambria Math" panose="02040503050406030204" pitchFamily="18" charset="0"/>
                            <a:ea typeface="Cambria Math" panose="02040503050406030204" pitchFamily="18" charset="0"/>
                          </a:rPr>
                          <m:t>+</m:t>
                        </m:r>
                        <m:sSub>
                          <m:sSubPr>
                            <m:ctrlPr>
                              <a:rPr lang="en-US" sz="2000" i="1" smtClean="0">
                                <a:solidFill>
                                  <a:srgbClr val="00B050"/>
                                </a:solidFill>
                                <a:latin typeface="Cambria Math" panose="02040503050406030204" pitchFamily="18" charset="0"/>
                                <a:ea typeface="Cambria Math" panose="02040503050406030204" pitchFamily="18" charset="0"/>
                              </a:rPr>
                            </m:ctrlPr>
                          </m:sSubPr>
                          <m:e>
                            <m:r>
                              <a:rPr lang="en-US" sz="2000" i="1">
                                <a:solidFill>
                                  <a:srgbClr val="00B050"/>
                                </a:solidFill>
                                <a:latin typeface="Cambria Math" panose="02040503050406030204" pitchFamily="18" charset="0"/>
                                <a:ea typeface="Cambria Math" panose="02040503050406030204" pitchFamily="18" charset="0"/>
                              </a:rPr>
                              <m:t>𝜑</m:t>
                            </m:r>
                          </m:e>
                          <m:sub>
                            <m:r>
                              <a:rPr lang="en-US" sz="2000" b="0" i="1" smtClean="0">
                                <a:solidFill>
                                  <a:srgbClr val="00B050"/>
                                </a:solidFill>
                                <a:latin typeface="Cambria Math" panose="02040503050406030204" pitchFamily="18" charset="0"/>
                                <a:ea typeface="Cambria Math" panose="02040503050406030204" pitchFamily="18" charset="0"/>
                              </a:rPr>
                              <m:t>2</m:t>
                            </m:r>
                          </m:sub>
                        </m:sSub>
                      </m:oMath>
                    </m:oMathPara>
                  </a14:m>
                  <a:endParaRPr lang="en-US" sz="2000" dirty="0">
                    <a:solidFill>
                      <a:srgbClr val="00B050"/>
                    </a:solidFill>
                  </a:endParaRPr>
                </a:p>
              </p:txBody>
            </p:sp>
          </mc:Choice>
          <mc:Fallback xmlns="">
            <p:sp>
              <p:nvSpPr>
                <p:cNvPr id="33" name="Rectangle 32">
                  <a:extLst>
                    <a:ext uri="{FF2B5EF4-FFF2-40B4-BE49-F238E27FC236}">
                      <a16:creationId xmlns:a16="http://schemas.microsoft.com/office/drawing/2014/main" id="{08DB4A9E-F104-1A4A-98D2-A07747ED92C1}"/>
                    </a:ext>
                  </a:extLst>
                </p:cNvPr>
                <p:cNvSpPr>
                  <a:spLocks noRot="1" noChangeAspect="1" noMove="1" noResize="1" noEditPoints="1" noAdjustHandles="1" noChangeArrowheads="1" noChangeShapeType="1" noTextEdit="1"/>
                </p:cNvSpPr>
                <p:nvPr/>
              </p:nvSpPr>
              <p:spPr>
                <a:xfrm rot="17700593">
                  <a:off x="700793" y="2675921"/>
                  <a:ext cx="1073742" cy="40011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3DA8BCED-B51B-9C4C-9FBC-4601ED41FA02}"/>
                    </a:ext>
                  </a:extLst>
                </p:cNvPr>
                <p:cNvSpPr/>
                <p:nvPr/>
              </p:nvSpPr>
              <p:spPr>
                <a:xfrm>
                  <a:off x="1396325" y="1363677"/>
                  <a:ext cx="81483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solidFill>
                                  <a:schemeClr val="accent1">
                                    <a:lumMod val="75000"/>
                                  </a:schemeClr>
                                </a:solidFill>
                                <a:latin typeface="Cambria Math" panose="02040503050406030204" pitchFamily="18" charset="0"/>
                                <a:ea typeface="Cambria Math" panose="02040503050406030204" pitchFamily="18" charset="0"/>
                              </a:rPr>
                            </m:ctrlPr>
                          </m:sSubPr>
                          <m:e>
                            <m:r>
                              <a:rPr lang="en-US" sz="2400" b="0" i="1" smtClean="0">
                                <a:solidFill>
                                  <a:schemeClr val="accent1">
                                    <a:lumMod val="75000"/>
                                  </a:schemeClr>
                                </a:solidFill>
                                <a:latin typeface="Cambria Math" panose="02040503050406030204" pitchFamily="18" charset="0"/>
                                <a:ea typeface="Cambria Math" panose="02040503050406030204" pitchFamily="18" charset="0"/>
                              </a:rPr>
                              <m:t>𝑧</m:t>
                            </m:r>
                          </m:e>
                          <m:sub>
                            <m:r>
                              <a:rPr lang="en-US" sz="2400" b="0" i="1" smtClean="0">
                                <a:solidFill>
                                  <a:schemeClr val="accent1">
                                    <a:lumMod val="75000"/>
                                  </a:schemeClr>
                                </a:solidFill>
                                <a:latin typeface="Cambria Math" panose="02040503050406030204" pitchFamily="18" charset="0"/>
                                <a:ea typeface="Cambria Math" panose="02040503050406030204" pitchFamily="18" charset="0"/>
                              </a:rPr>
                              <m:t>1</m:t>
                            </m:r>
                          </m:sub>
                        </m:sSub>
                        <m:sSub>
                          <m:sSubPr>
                            <m:ctrlPr>
                              <a:rPr lang="en-US" sz="2400" b="0" i="1" smtClean="0">
                                <a:solidFill>
                                  <a:schemeClr val="accent4">
                                    <a:lumMod val="75000"/>
                                  </a:schemeClr>
                                </a:solidFill>
                                <a:latin typeface="Cambria Math" panose="02040503050406030204" pitchFamily="18" charset="0"/>
                                <a:ea typeface="Cambria Math" panose="02040503050406030204" pitchFamily="18" charset="0"/>
                              </a:rPr>
                            </m:ctrlPr>
                          </m:sSubPr>
                          <m:e>
                            <m:r>
                              <a:rPr lang="en-US" sz="2400" b="0" i="1" smtClean="0">
                                <a:solidFill>
                                  <a:schemeClr val="accent4">
                                    <a:lumMod val="75000"/>
                                  </a:schemeClr>
                                </a:solidFill>
                                <a:latin typeface="Cambria Math" panose="02040503050406030204" pitchFamily="18" charset="0"/>
                                <a:ea typeface="Cambria Math" panose="02040503050406030204" pitchFamily="18" charset="0"/>
                              </a:rPr>
                              <m:t>𝑧</m:t>
                            </m:r>
                          </m:e>
                          <m:sub>
                            <m:r>
                              <a:rPr lang="en-US" sz="2400" b="0" i="1" smtClean="0">
                                <a:solidFill>
                                  <a:schemeClr val="accent4">
                                    <a:lumMod val="75000"/>
                                  </a:schemeClr>
                                </a:solidFill>
                                <a:latin typeface="Cambria Math" panose="02040503050406030204" pitchFamily="18" charset="0"/>
                                <a:ea typeface="Cambria Math" panose="02040503050406030204" pitchFamily="18" charset="0"/>
                              </a:rPr>
                              <m:t>2</m:t>
                            </m:r>
                          </m:sub>
                        </m:sSub>
                      </m:oMath>
                    </m:oMathPara>
                  </a14:m>
                  <a:endParaRPr lang="en-US" sz="2400" dirty="0">
                    <a:solidFill>
                      <a:schemeClr val="accent4">
                        <a:lumMod val="75000"/>
                      </a:schemeClr>
                    </a:solidFill>
                  </a:endParaRPr>
                </a:p>
              </p:txBody>
            </p:sp>
          </mc:Choice>
          <mc:Fallback xmlns="">
            <p:sp>
              <p:nvSpPr>
                <p:cNvPr id="36" name="Rectangle 35">
                  <a:extLst>
                    <a:ext uri="{FF2B5EF4-FFF2-40B4-BE49-F238E27FC236}">
                      <a16:creationId xmlns:a16="http://schemas.microsoft.com/office/drawing/2014/main" id="{3DA8BCED-B51B-9C4C-9FBC-4601ED41FA02}"/>
                    </a:ext>
                  </a:extLst>
                </p:cNvPr>
                <p:cNvSpPr>
                  <a:spLocks noRot="1" noChangeAspect="1" noMove="1" noResize="1" noEditPoints="1" noAdjustHandles="1" noChangeArrowheads="1" noChangeShapeType="1" noTextEdit="1"/>
                </p:cNvSpPr>
                <p:nvPr/>
              </p:nvSpPr>
              <p:spPr>
                <a:xfrm>
                  <a:off x="1396325" y="1363677"/>
                  <a:ext cx="814838" cy="461665"/>
                </a:xfrm>
                <a:prstGeom prst="rect">
                  <a:avLst/>
                </a:prstGeom>
                <a:blipFill>
                  <a:blip r:embed="rId14"/>
                  <a:stretch>
                    <a:fillRect b="-2703"/>
                  </a:stretch>
                </a:blipFill>
              </p:spPr>
              <p:txBody>
                <a:bodyPr/>
                <a:lstStyle/>
                <a:p>
                  <a:r>
                    <a:rPr lang="en-US">
                      <a:noFill/>
                    </a:rPr>
                    <a:t> </a:t>
                  </a:r>
                </a:p>
              </p:txBody>
            </p:sp>
          </mc:Fallback>
        </mc:AlternateContent>
        <p:sp>
          <p:nvSpPr>
            <p:cNvPr id="30" name="Merge 28">
              <a:extLst>
                <a:ext uri="{FF2B5EF4-FFF2-40B4-BE49-F238E27FC236}">
                  <a16:creationId xmlns:a16="http://schemas.microsoft.com/office/drawing/2014/main" id="{0A948147-ED66-5640-BC11-291C8AA6162B}"/>
                </a:ext>
              </a:extLst>
            </p:cNvPr>
            <p:cNvSpPr/>
            <p:nvPr/>
          </p:nvSpPr>
          <p:spPr>
            <a:xfrm rot="10800000">
              <a:off x="855989" y="3399488"/>
              <a:ext cx="466051" cy="474055"/>
            </a:xfrm>
            <a:custGeom>
              <a:avLst/>
              <a:gdLst>
                <a:gd name="connsiteX0" fmla="*/ 0 w 10000"/>
                <a:gd name="connsiteY0" fmla="*/ 0 h 10000"/>
                <a:gd name="connsiteX1" fmla="*/ 10000 w 10000"/>
                <a:gd name="connsiteY1" fmla="*/ 0 h 10000"/>
                <a:gd name="connsiteX2" fmla="*/ 5000 w 10000"/>
                <a:gd name="connsiteY2" fmla="*/ 10000 h 10000"/>
                <a:gd name="connsiteX3" fmla="*/ 0 w 10000"/>
                <a:gd name="connsiteY3" fmla="*/ 0 h 10000"/>
                <a:gd name="connsiteX0" fmla="*/ 0 w 10000"/>
                <a:gd name="connsiteY0" fmla="*/ 0 h 7840"/>
                <a:gd name="connsiteX1" fmla="*/ 10000 w 10000"/>
                <a:gd name="connsiteY1" fmla="*/ 0 h 7840"/>
                <a:gd name="connsiteX2" fmla="*/ 2117 w 10000"/>
                <a:gd name="connsiteY2" fmla="*/ 7840 h 7840"/>
                <a:gd name="connsiteX3" fmla="*/ 0 w 10000"/>
                <a:gd name="connsiteY3" fmla="*/ 0 h 7840"/>
                <a:gd name="connsiteX0" fmla="*/ 0 w 10000"/>
                <a:gd name="connsiteY0" fmla="*/ 0 h 9038"/>
                <a:gd name="connsiteX1" fmla="*/ 10000 w 10000"/>
                <a:gd name="connsiteY1" fmla="*/ 0 h 9038"/>
                <a:gd name="connsiteX2" fmla="*/ 1802 w 10000"/>
                <a:gd name="connsiteY2" fmla="*/ 9038 h 9038"/>
                <a:gd name="connsiteX3" fmla="*/ 0 w 10000"/>
                <a:gd name="connsiteY3" fmla="*/ 0 h 9038"/>
                <a:gd name="connsiteX0" fmla="*/ 0 w 10000"/>
                <a:gd name="connsiteY0" fmla="*/ 0 h 15191"/>
                <a:gd name="connsiteX1" fmla="*/ 10000 w 10000"/>
                <a:gd name="connsiteY1" fmla="*/ 0 h 15191"/>
                <a:gd name="connsiteX2" fmla="*/ 8911 w 10000"/>
                <a:gd name="connsiteY2" fmla="*/ 15191 h 15191"/>
                <a:gd name="connsiteX3" fmla="*/ 0 w 10000"/>
                <a:gd name="connsiteY3" fmla="*/ 0 h 15191"/>
                <a:gd name="connsiteX0" fmla="*/ 0 w 5830"/>
                <a:gd name="connsiteY0" fmla="*/ 0 h 15502"/>
                <a:gd name="connsiteX1" fmla="*/ 5830 w 5830"/>
                <a:gd name="connsiteY1" fmla="*/ 311 h 15502"/>
                <a:gd name="connsiteX2" fmla="*/ 4741 w 5830"/>
                <a:gd name="connsiteY2" fmla="*/ 15502 h 15502"/>
                <a:gd name="connsiteX3" fmla="*/ 0 w 5830"/>
                <a:gd name="connsiteY3" fmla="*/ 0 h 15502"/>
              </a:gdLst>
              <a:ahLst/>
              <a:cxnLst>
                <a:cxn ang="0">
                  <a:pos x="connsiteX0" y="connsiteY0"/>
                </a:cxn>
                <a:cxn ang="0">
                  <a:pos x="connsiteX1" y="connsiteY1"/>
                </a:cxn>
                <a:cxn ang="0">
                  <a:pos x="connsiteX2" y="connsiteY2"/>
                </a:cxn>
                <a:cxn ang="0">
                  <a:pos x="connsiteX3" y="connsiteY3"/>
                </a:cxn>
              </a:cxnLst>
              <a:rect l="l" t="t" r="r" b="b"/>
              <a:pathLst>
                <a:path w="5830" h="15502">
                  <a:moveTo>
                    <a:pt x="0" y="0"/>
                  </a:moveTo>
                  <a:lnTo>
                    <a:pt x="5830" y="311"/>
                  </a:lnTo>
                  <a:lnTo>
                    <a:pt x="4741" y="15502"/>
                  </a:lnTo>
                  <a:lnTo>
                    <a:pt x="0" y="0"/>
                  </a:lnTo>
                  <a:close/>
                </a:path>
              </a:pathLst>
            </a:custGeom>
            <a:solidFill>
              <a:srgbClr val="009D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3E1EE37E-C771-4A44-9476-C5CA3212CD4A}"/>
                  </a:ext>
                </a:extLst>
              </p:cNvPr>
              <p:cNvSpPr/>
              <p:nvPr/>
            </p:nvSpPr>
            <p:spPr>
              <a:xfrm>
                <a:off x="2797005" y="4402243"/>
                <a:ext cx="36580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rgbClr val="002060"/>
                          </a:solidFill>
                          <a:latin typeface="Cambria Math" panose="02040503050406030204" pitchFamily="18" charset="0"/>
                          <a:ea typeface="Cambria Math" panose="02040503050406030204" pitchFamily="18" charset="0"/>
                        </a:rPr>
                        <m:t>1</m:t>
                      </m:r>
                    </m:oMath>
                  </m:oMathPara>
                </a14:m>
                <a:endParaRPr lang="en-US" dirty="0"/>
              </a:p>
            </p:txBody>
          </p:sp>
        </mc:Choice>
        <mc:Fallback xmlns="">
          <p:sp>
            <p:nvSpPr>
              <p:cNvPr id="46" name="Rectangle 45">
                <a:extLst>
                  <a:ext uri="{FF2B5EF4-FFF2-40B4-BE49-F238E27FC236}">
                    <a16:creationId xmlns:a16="http://schemas.microsoft.com/office/drawing/2014/main" id="{3E1EE37E-C771-4A44-9476-C5CA3212CD4A}"/>
                  </a:ext>
                </a:extLst>
              </p:cNvPr>
              <p:cNvSpPr>
                <a:spLocks noRot="1" noChangeAspect="1" noMove="1" noResize="1" noEditPoints="1" noAdjustHandles="1" noChangeArrowheads="1" noChangeShapeType="1" noTextEdit="1"/>
              </p:cNvSpPr>
              <p:nvPr/>
            </p:nvSpPr>
            <p:spPr>
              <a:xfrm>
                <a:off x="2797005" y="4402243"/>
                <a:ext cx="365805" cy="369332"/>
              </a:xfrm>
              <a:prstGeom prst="rect">
                <a:avLst/>
              </a:prstGeom>
              <a:blipFill>
                <a:blip r:embed="rId15"/>
                <a:stretch>
                  <a:fillRect/>
                </a:stretch>
              </a:blipFill>
            </p:spPr>
            <p:txBody>
              <a:bodyPr/>
              <a:lstStyle/>
              <a:p>
                <a:r>
                  <a:rPr lang="en-US">
                    <a:noFill/>
                  </a:rPr>
                  <a:t> </a:t>
                </a:r>
              </a:p>
            </p:txBody>
          </p:sp>
        </mc:Fallback>
      </mc:AlternateContent>
      <p:sp>
        <p:nvSpPr>
          <p:cNvPr id="40" name="Rectangle 39">
            <a:extLst>
              <a:ext uri="{FF2B5EF4-FFF2-40B4-BE49-F238E27FC236}">
                <a16:creationId xmlns:a16="http://schemas.microsoft.com/office/drawing/2014/main" id="{CE648977-F5CB-9C41-A7BF-0E20FA410A13}"/>
              </a:ext>
            </a:extLst>
          </p:cNvPr>
          <p:cNvSpPr/>
          <p:nvPr/>
        </p:nvSpPr>
        <p:spPr>
          <a:xfrm>
            <a:off x="4543062" y="4545777"/>
            <a:ext cx="184731" cy="461665"/>
          </a:xfrm>
          <a:prstGeom prst="rect">
            <a:avLst/>
          </a:prstGeom>
        </p:spPr>
        <p:txBody>
          <a:bodyPr wrap="none">
            <a:spAutoFit/>
          </a:bodyPr>
          <a:lstStyle/>
          <a:p>
            <a:endParaRPr lang="en-US" sz="2400" dirty="0">
              <a:solidFill>
                <a:schemeClr val="tx1"/>
              </a:solidFill>
            </a:endParaRPr>
          </a:p>
        </p:txBody>
      </p:sp>
      <p:sp>
        <p:nvSpPr>
          <p:cNvPr id="20" name="TextBox 19">
            <a:extLst>
              <a:ext uri="{FF2B5EF4-FFF2-40B4-BE49-F238E27FC236}">
                <a16:creationId xmlns:a16="http://schemas.microsoft.com/office/drawing/2014/main" id="{C642AAEA-7E81-EF45-BD85-241DA5EC35E1}"/>
              </a:ext>
            </a:extLst>
          </p:cNvPr>
          <p:cNvSpPr txBox="1"/>
          <p:nvPr/>
        </p:nvSpPr>
        <p:spPr>
          <a:xfrm>
            <a:off x="1858780" y="4207431"/>
            <a:ext cx="184731" cy="369332"/>
          </a:xfrm>
          <a:prstGeom prst="rect">
            <a:avLst/>
          </a:prstGeom>
          <a:noFill/>
        </p:spPr>
        <p:txBody>
          <a:bodyPr wrap="none" rtlCol="0">
            <a:spAutoFit/>
          </a:bodyPr>
          <a:lstStyle/>
          <a:p>
            <a:endParaRPr lang="en-US" dirty="0"/>
          </a:p>
        </p:txBody>
      </p:sp>
      <p:grpSp>
        <p:nvGrpSpPr>
          <p:cNvPr id="127" name="Group 126">
            <a:extLst>
              <a:ext uri="{FF2B5EF4-FFF2-40B4-BE49-F238E27FC236}">
                <a16:creationId xmlns:a16="http://schemas.microsoft.com/office/drawing/2014/main" id="{AFBE21EA-9C17-934B-886F-98EB386C0180}"/>
              </a:ext>
            </a:extLst>
          </p:cNvPr>
          <p:cNvGrpSpPr/>
          <p:nvPr/>
        </p:nvGrpSpPr>
        <p:grpSpPr>
          <a:xfrm>
            <a:off x="5177116" y="1606548"/>
            <a:ext cx="6445058" cy="4795196"/>
            <a:chOff x="5177116" y="1116678"/>
            <a:chExt cx="6445058" cy="4795196"/>
          </a:xfrm>
        </p:grpSpPr>
        <p:grpSp>
          <p:nvGrpSpPr>
            <p:cNvPr id="126" name="Group 125">
              <a:extLst>
                <a:ext uri="{FF2B5EF4-FFF2-40B4-BE49-F238E27FC236}">
                  <a16:creationId xmlns:a16="http://schemas.microsoft.com/office/drawing/2014/main" id="{8F2DF5E4-95A9-4844-A647-C5B4CEB2DF78}"/>
                </a:ext>
              </a:extLst>
            </p:cNvPr>
            <p:cNvGrpSpPr/>
            <p:nvPr/>
          </p:nvGrpSpPr>
          <p:grpSpPr>
            <a:xfrm>
              <a:off x="5177116" y="1116678"/>
              <a:ext cx="6445058" cy="4795196"/>
              <a:chOff x="5177116" y="1116678"/>
              <a:chExt cx="6445058" cy="4795196"/>
            </a:xfrm>
          </p:grpSpPr>
          <p:grpSp>
            <p:nvGrpSpPr>
              <p:cNvPr id="86" name="Group 85">
                <a:extLst>
                  <a:ext uri="{FF2B5EF4-FFF2-40B4-BE49-F238E27FC236}">
                    <a16:creationId xmlns:a16="http://schemas.microsoft.com/office/drawing/2014/main" id="{BAF85EBB-69AA-294E-AC49-688B745DE411}"/>
                  </a:ext>
                </a:extLst>
              </p:cNvPr>
              <p:cNvGrpSpPr/>
              <p:nvPr/>
            </p:nvGrpSpPr>
            <p:grpSpPr>
              <a:xfrm>
                <a:off x="8704324" y="1148509"/>
                <a:ext cx="2917850" cy="919804"/>
                <a:chOff x="6380820" y="4935308"/>
                <a:chExt cx="2917850" cy="919804"/>
              </a:xfrm>
            </p:grpSpPr>
            <mc:AlternateContent xmlns:mc="http://schemas.openxmlformats.org/markup-compatibility/2006" xmlns:a14="http://schemas.microsoft.com/office/drawing/2010/main">
              <mc:Choice Requires="a14">
                <p:sp>
                  <p:nvSpPr>
                    <p:cNvPr id="87" name="Rectangle 86">
                      <a:extLst>
                        <a:ext uri="{FF2B5EF4-FFF2-40B4-BE49-F238E27FC236}">
                          <a16:creationId xmlns:a16="http://schemas.microsoft.com/office/drawing/2014/main" id="{5209959C-B18B-F840-B45A-211302D06E15}"/>
                        </a:ext>
                      </a:extLst>
                    </p:cNvPr>
                    <p:cNvSpPr/>
                    <p:nvPr/>
                  </p:nvSpPr>
                  <p:spPr>
                    <a:xfrm>
                      <a:off x="6380820" y="4935308"/>
                      <a:ext cx="2917850" cy="919804"/>
                    </a:xfrm>
                    <a:prstGeom prst="rect">
                      <a:avLst/>
                    </a:prstGeom>
                    <a:solidFill>
                      <a:schemeClr val="accent4">
                        <a:lumMod val="20000"/>
                        <a:lumOff val="80000"/>
                      </a:schemeClr>
                    </a:solidFill>
                    <a:ln>
                      <a:noFill/>
                    </a:ln>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𝑧</m:t>
                            </m:r>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𝑖</m:t>
                                </m:r>
                                <m:r>
                                  <a:rPr lang="en-US" sz="2400" i="1">
                                    <a:latin typeface="Cambria Math" panose="02040503050406030204" pitchFamily="18" charset="0"/>
                                    <a:ea typeface="Cambria Math" panose="02040503050406030204" pitchFamily="18" charset="0"/>
                                  </a:rPr>
                                  <m:t>𝜑</m:t>
                                </m:r>
                              </m:sup>
                            </m:sSup>
                          </m:oMath>
                        </m:oMathPara>
                      </a14:m>
                      <a:endParaRPr lang="en-US" sz="2400" i="1" dirty="0">
                        <a:latin typeface="Cambria Math" panose="02040503050406030204" pitchFamily="18" charset="0"/>
                      </a:endParaRPr>
                    </a:p>
                    <a:p>
                      <a14:m>
                        <m:oMath xmlns:m="http://schemas.openxmlformats.org/officeDocument/2006/math">
                          <m:sSup>
                            <m:sSupPr>
                              <m:ctrlPr>
                                <a:rPr lang="en-US" sz="2200" i="1" smtClean="0">
                                  <a:latin typeface="Cambria Math" panose="02040503050406030204" pitchFamily="18" charset="0"/>
                                </a:rPr>
                              </m:ctrlPr>
                            </m:sSupPr>
                            <m:e>
                              <m:sSup>
                                <m:sSupPr>
                                  <m:ctrlPr>
                                    <a:rPr lang="en-US" sz="2200" i="1">
                                      <a:latin typeface="Cambria Math" panose="02040503050406030204" pitchFamily="18" charset="0"/>
                                    </a:rPr>
                                  </m:ctrlPr>
                                </m:sSupPr>
                                <m:e>
                                  <m:r>
                                    <a:rPr lang="en-US" sz="2200" b="0" i="1" smtClean="0">
                                      <a:latin typeface="Cambria Math" panose="02040503050406030204" pitchFamily="18" charset="0"/>
                                    </a:rPr>
                                    <m:t>𝑖</m:t>
                                  </m:r>
                                  <m:r>
                                    <a:rPr lang="en-US" sz="2200" i="1">
                                      <a:latin typeface="Cambria Math" panose="02040503050406030204" pitchFamily="18" charset="0"/>
                                    </a:rPr>
                                    <m:t>𝑒</m:t>
                                  </m:r>
                                </m:e>
                                <m:sup>
                                  <m:r>
                                    <a:rPr lang="en-US" sz="2200" i="1">
                                      <a:latin typeface="Cambria Math" panose="02040503050406030204" pitchFamily="18" charset="0"/>
                                    </a:rPr>
                                    <m:t>𝑖</m:t>
                                  </m:r>
                                  <m:r>
                                    <a:rPr lang="en-US" sz="2200" i="1">
                                      <a:latin typeface="Cambria Math" panose="02040503050406030204" pitchFamily="18" charset="0"/>
                                      <a:ea typeface="Cambria Math" panose="02040503050406030204" pitchFamily="18" charset="0"/>
                                    </a:rPr>
                                    <m:t>𝜑</m:t>
                                  </m:r>
                                </m:sup>
                              </m:sSup>
                              <m:r>
                                <a:rPr lang="en-US" sz="2200" b="0" i="1" smtClean="0">
                                  <a:latin typeface="Cambria Math" panose="02040503050406030204" pitchFamily="18" charset="0"/>
                                </a:rPr>
                                <m:t>=</m:t>
                              </m:r>
                              <m:r>
                                <a:rPr lang="en-US" sz="2200" i="1">
                                  <a:latin typeface="Cambria Math" panose="02040503050406030204" pitchFamily="18" charset="0"/>
                                </a:rPr>
                                <m:t>𝑒</m:t>
                              </m:r>
                            </m:e>
                            <m:sup>
                              <m:r>
                                <a:rPr lang="en-US" sz="2200" i="1">
                                  <a:latin typeface="Cambria Math" panose="02040503050406030204" pitchFamily="18" charset="0"/>
                                </a:rPr>
                                <m:t>𝑖</m:t>
                              </m:r>
                              <m:f>
                                <m:fPr>
                                  <m:ctrlPr>
                                    <a:rPr lang="en-US" sz="2200" i="1">
                                      <a:latin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𝜋</m:t>
                                  </m:r>
                                </m:num>
                                <m:den>
                                  <m:r>
                                    <a:rPr lang="en-US" sz="2200" i="1">
                                      <a:latin typeface="Cambria Math" panose="02040503050406030204" pitchFamily="18" charset="0"/>
                                    </a:rPr>
                                    <m:t>2</m:t>
                                  </m:r>
                                </m:den>
                              </m:f>
                            </m:sup>
                          </m:sSup>
                        </m:oMath>
                      </a14:m>
                      <a:r>
                        <a:rPr lang="en-US" sz="2200" dirty="0"/>
                        <a:t> </a:t>
                      </a:r>
                      <a14:m>
                        <m:oMath xmlns:m="http://schemas.openxmlformats.org/officeDocument/2006/math">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𝑖</m:t>
                              </m:r>
                              <m:r>
                                <a:rPr lang="en-US" sz="2200" i="1">
                                  <a:latin typeface="Cambria Math" panose="02040503050406030204" pitchFamily="18" charset="0"/>
                                  <a:ea typeface="Cambria Math" panose="02040503050406030204" pitchFamily="18" charset="0"/>
                                </a:rPr>
                                <m:t>𝜑</m:t>
                              </m:r>
                            </m:sup>
                          </m:sSup>
                        </m:oMath>
                      </a14:m>
                      <a:r>
                        <a:rPr lang="en-US" sz="2200" dirty="0"/>
                        <a:t>= </a:t>
                      </a:r>
                      <a14:m>
                        <m:oMath xmlns:m="http://schemas.openxmlformats.org/officeDocument/2006/math">
                          <m:sSup>
                            <m:sSupPr>
                              <m:ctrlPr>
                                <a:rPr lang="en-US" sz="2200" i="1">
                                  <a:latin typeface="Cambria Math" panose="02040503050406030204" pitchFamily="18" charset="0"/>
                                </a:rPr>
                              </m:ctrlPr>
                            </m:sSupPr>
                            <m:e>
                              <m:r>
                                <a:rPr lang="en-US" sz="2200" i="1">
                                  <a:latin typeface="Cambria Math" panose="02040503050406030204" pitchFamily="18" charset="0"/>
                                </a:rPr>
                                <m:t>𝑒</m:t>
                              </m:r>
                            </m:e>
                            <m:sup>
                              <m:r>
                                <a:rPr lang="en-US" sz="2200" i="1">
                                  <a:latin typeface="Cambria Math" panose="02040503050406030204" pitchFamily="18" charset="0"/>
                                </a:rPr>
                                <m:t>𝑖</m:t>
                              </m:r>
                              <m:r>
                                <a:rPr lang="en-US" sz="2200" b="0" i="1" smtClean="0">
                                  <a:latin typeface="Cambria Math" panose="02040503050406030204" pitchFamily="18" charset="0"/>
                                </a:rPr>
                                <m:t>(</m:t>
                              </m:r>
                              <m:r>
                                <a:rPr lang="en-US" sz="2200" i="1">
                                  <a:latin typeface="Cambria Math" panose="02040503050406030204" pitchFamily="18" charset="0"/>
                                  <a:ea typeface="Cambria Math" panose="02040503050406030204" pitchFamily="18" charset="0"/>
                                </a:rPr>
                                <m:t>𝜑</m:t>
                              </m:r>
                              <m:r>
                                <a:rPr lang="en-US" sz="2200" b="0" i="1" smtClean="0">
                                  <a:latin typeface="Cambria Math" panose="02040503050406030204" pitchFamily="18" charset="0"/>
                                  <a:ea typeface="Cambria Math" panose="02040503050406030204" pitchFamily="18" charset="0"/>
                                </a:rPr>
                                <m:t>+</m:t>
                              </m:r>
                              <m:f>
                                <m:fPr>
                                  <m:ctrlPr>
                                    <a:rPr lang="en-US" sz="2200" i="1">
                                      <a:latin typeface="Cambria Math" panose="02040503050406030204" pitchFamily="18" charset="0"/>
                                    </a:rPr>
                                  </m:ctrlPr>
                                </m:fPr>
                                <m:num>
                                  <m:r>
                                    <a:rPr lang="en-US" sz="2200" i="1">
                                      <a:latin typeface="Cambria Math" panose="02040503050406030204" pitchFamily="18" charset="0"/>
                                      <a:ea typeface="Cambria Math" panose="02040503050406030204" pitchFamily="18" charset="0"/>
                                    </a:rPr>
                                    <m:t>𝜋</m:t>
                                  </m:r>
                                </m:num>
                                <m:den>
                                  <m:r>
                                    <a:rPr lang="en-US" sz="2200" i="1">
                                      <a:latin typeface="Cambria Math" panose="02040503050406030204" pitchFamily="18" charset="0"/>
                                    </a:rPr>
                                    <m:t>2</m:t>
                                  </m:r>
                                </m:den>
                              </m:f>
                              <m:r>
                                <a:rPr lang="en-US" sz="2200" b="0" i="1" smtClean="0">
                                  <a:latin typeface="Cambria Math" panose="02040503050406030204" pitchFamily="18" charset="0"/>
                                </a:rPr>
                                <m:t>)</m:t>
                              </m:r>
                            </m:sup>
                          </m:sSup>
                        </m:oMath>
                      </a14:m>
                      <a:endParaRPr lang="en-US" sz="2200" dirty="0"/>
                    </a:p>
                  </p:txBody>
                </p:sp>
              </mc:Choice>
              <mc:Fallback xmlns="">
                <p:sp>
                  <p:nvSpPr>
                    <p:cNvPr id="87" name="Rectangle 86">
                      <a:extLst>
                        <a:ext uri="{FF2B5EF4-FFF2-40B4-BE49-F238E27FC236}">
                          <a16:creationId xmlns:a16="http://schemas.microsoft.com/office/drawing/2014/main" id="{5209959C-B18B-F840-B45A-211302D06E15}"/>
                        </a:ext>
                      </a:extLst>
                    </p:cNvPr>
                    <p:cNvSpPr>
                      <a:spLocks noRot="1" noChangeAspect="1" noMove="1" noResize="1" noEditPoints="1" noAdjustHandles="1" noChangeArrowheads="1" noChangeShapeType="1" noTextEdit="1"/>
                    </p:cNvSpPr>
                    <p:nvPr/>
                  </p:nvSpPr>
                  <p:spPr>
                    <a:xfrm>
                      <a:off x="6380820" y="4935308"/>
                      <a:ext cx="2917850" cy="919804"/>
                    </a:xfrm>
                    <a:prstGeom prst="rect">
                      <a:avLst/>
                    </a:prstGeom>
                    <a:blipFill>
                      <a:blip r:embed="rId16"/>
                      <a:stretch>
                        <a:fillRect b="-12329"/>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DE782A9C-5186-A844-B1C8-690B1067681F}"/>
                        </a:ext>
                      </a:extLst>
                    </p:cNvPr>
                    <p:cNvSpPr/>
                    <p:nvPr/>
                  </p:nvSpPr>
                  <p:spPr>
                    <a:xfrm>
                      <a:off x="8283530" y="4952110"/>
                      <a:ext cx="642868" cy="430887"/>
                    </a:xfrm>
                    <a:prstGeom prst="rect">
                      <a:avLst/>
                    </a:prstGeom>
                    <a:solidFill>
                      <a:schemeClr val="bg1"/>
                    </a:solidFill>
                    <a:ln>
                      <a:noFill/>
                    </a:ln>
                  </p:spPr>
                  <p:txBody>
                    <a:bodyPr wrap="none">
                      <a:spAutoFit/>
                    </a:bodyPr>
                    <a:lstStyle/>
                    <a:p>
                      <a:pPr/>
                      <a14:m>
                        <m:oMathPara xmlns:m="http://schemas.openxmlformats.org/officeDocument/2006/math">
                          <m:oMathParaPr>
                            <m:jc m:val="centerGroup"/>
                          </m:oMathParaPr>
                          <m:oMath xmlns:m="http://schemas.openxmlformats.org/officeDocument/2006/math">
                            <m:r>
                              <a:rPr lang="en-US" sz="2200" i="1">
                                <a:solidFill>
                                  <a:srgbClr val="FF0000"/>
                                </a:solidFill>
                                <a:latin typeface="Cambria Math" panose="02040503050406030204" pitchFamily="18" charset="0"/>
                              </a:rPr>
                              <m:t>|</m:t>
                            </m:r>
                            <m:r>
                              <a:rPr lang="en-US" sz="2200" i="1">
                                <a:solidFill>
                                  <a:srgbClr val="FF0000"/>
                                </a:solidFill>
                                <a:latin typeface="Cambria Math" panose="02040503050406030204" pitchFamily="18" charset="0"/>
                                <a:ea typeface="Cambria Math" panose="02040503050406030204" pitchFamily="18" charset="0"/>
                              </a:rPr>
                              <m:t>∙</m:t>
                            </m:r>
                            <m:r>
                              <a:rPr lang="en-US" sz="2200" b="0" i="1" smtClean="0">
                                <a:solidFill>
                                  <a:srgbClr val="FF0000"/>
                                </a:solidFill>
                                <a:latin typeface="Cambria Math" panose="02040503050406030204" pitchFamily="18" charset="0"/>
                              </a:rPr>
                              <m:t>𝑖</m:t>
                            </m:r>
                          </m:oMath>
                        </m:oMathPara>
                      </a14:m>
                      <a:endParaRPr lang="en-US" sz="2200" dirty="0">
                        <a:solidFill>
                          <a:srgbClr val="FF0000"/>
                        </a:solidFill>
                      </a:endParaRPr>
                    </a:p>
                  </p:txBody>
                </p:sp>
              </mc:Choice>
              <mc:Fallback xmlns="">
                <p:sp>
                  <p:nvSpPr>
                    <p:cNvPr id="88" name="Rectangle 87">
                      <a:extLst>
                        <a:ext uri="{FF2B5EF4-FFF2-40B4-BE49-F238E27FC236}">
                          <a16:creationId xmlns:a16="http://schemas.microsoft.com/office/drawing/2014/main" id="{DE782A9C-5186-A844-B1C8-690B1067681F}"/>
                        </a:ext>
                      </a:extLst>
                    </p:cNvPr>
                    <p:cNvSpPr>
                      <a:spLocks noRot="1" noChangeAspect="1" noMove="1" noResize="1" noEditPoints="1" noAdjustHandles="1" noChangeArrowheads="1" noChangeShapeType="1" noTextEdit="1"/>
                    </p:cNvSpPr>
                    <p:nvPr/>
                  </p:nvSpPr>
                  <p:spPr>
                    <a:xfrm>
                      <a:off x="8283530" y="4952110"/>
                      <a:ext cx="642868" cy="430887"/>
                    </a:xfrm>
                    <a:prstGeom prst="rect">
                      <a:avLst/>
                    </a:prstGeom>
                    <a:blipFill>
                      <a:blip r:embed="rId17"/>
                      <a:stretch>
                        <a:fillRect b="-17143"/>
                      </a:stretch>
                    </a:blipFill>
                    <a:ln>
                      <a:noFill/>
                    </a:ln>
                  </p:spPr>
                  <p:txBody>
                    <a:bodyPr/>
                    <a:lstStyle/>
                    <a:p>
                      <a:r>
                        <a:rPr lang="en-US">
                          <a:noFill/>
                        </a:rPr>
                        <a:t> </a:t>
                      </a:r>
                    </a:p>
                  </p:txBody>
                </p:sp>
              </mc:Fallback>
            </mc:AlternateContent>
          </p:grpSp>
          <p:grpSp>
            <p:nvGrpSpPr>
              <p:cNvPr id="43" name="Group 42">
                <a:extLst>
                  <a:ext uri="{FF2B5EF4-FFF2-40B4-BE49-F238E27FC236}">
                    <a16:creationId xmlns:a16="http://schemas.microsoft.com/office/drawing/2014/main" id="{FB746433-D1D4-BC45-86AC-7810E1B7A0B2}"/>
                  </a:ext>
                </a:extLst>
              </p:cNvPr>
              <p:cNvGrpSpPr/>
              <p:nvPr/>
            </p:nvGrpSpPr>
            <p:grpSpPr>
              <a:xfrm>
                <a:off x="5177116" y="1116678"/>
                <a:ext cx="4950161" cy="4795196"/>
                <a:chOff x="3931709" y="1116678"/>
                <a:chExt cx="4950161" cy="4795196"/>
              </a:xfrm>
            </p:grpSpPr>
            <p:sp>
              <p:nvSpPr>
                <p:cNvPr id="28" name="Arc 27">
                  <a:extLst>
                    <a:ext uri="{FF2B5EF4-FFF2-40B4-BE49-F238E27FC236}">
                      <a16:creationId xmlns:a16="http://schemas.microsoft.com/office/drawing/2014/main" id="{55FD99FC-055F-B34A-BB26-F023719E1C55}"/>
                    </a:ext>
                  </a:extLst>
                </p:cNvPr>
                <p:cNvSpPr/>
                <p:nvPr/>
              </p:nvSpPr>
              <p:spPr>
                <a:xfrm>
                  <a:off x="3931709" y="1805596"/>
                  <a:ext cx="4123828" cy="4106278"/>
                </a:xfrm>
                <a:prstGeom prst="arc">
                  <a:avLst>
                    <a:gd name="adj1" fmla="val 14093069"/>
                    <a:gd name="adj2" fmla="val 10576"/>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5" name="Rectangle 84">
                      <a:extLst>
                        <a:ext uri="{FF2B5EF4-FFF2-40B4-BE49-F238E27FC236}">
                          <a16:creationId xmlns:a16="http://schemas.microsoft.com/office/drawing/2014/main" id="{46DA298D-B146-4F4A-A610-D9649B335E2A}"/>
                        </a:ext>
                      </a:extLst>
                    </p:cNvPr>
                    <p:cNvSpPr/>
                    <p:nvPr/>
                  </p:nvSpPr>
                  <p:spPr>
                    <a:xfrm>
                      <a:off x="4443456" y="1320965"/>
                      <a:ext cx="1199431" cy="5957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smtClean="0">
                                    <a:solidFill>
                                      <a:schemeClr val="tx1"/>
                                    </a:solidFill>
                                    <a:latin typeface="Cambria Math" panose="02040503050406030204" pitchFamily="18" charset="0"/>
                                  </a:rPr>
                                </m:ctrlPr>
                              </m:sSupPr>
                              <m:e>
                                <m:r>
                                  <a:rPr lang="en-US" sz="2400" i="1">
                                    <a:solidFill>
                                      <a:schemeClr val="tx1"/>
                                    </a:solidFill>
                                    <a:latin typeface="Cambria Math" panose="02040503050406030204" pitchFamily="18" charset="0"/>
                                  </a:rPr>
                                  <m:t>𝑒</m:t>
                                </m:r>
                              </m:e>
                              <m:sup>
                                <m:r>
                                  <a:rPr lang="en-US" sz="2400" i="1">
                                    <a:solidFill>
                                      <a:schemeClr val="tx1"/>
                                    </a:solidFill>
                                    <a:latin typeface="Cambria Math" panose="02040503050406030204" pitchFamily="18" charset="0"/>
                                  </a:rPr>
                                  <m:t>𝑖</m:t>
                                </m:r>
                                <m:r>
                                  <a:rPr lang="en-US" sz="2400" i="1">
                                    <a:solidFill>
                                      <a:schemeClr val="tx1"/>
                                    </a:solidFill>
                                    <a:latin typeface="Cambria Math" panose="02040503050406030204" pitchFamily="18" charset="0"/>
                                  </a:rPr>
                                  <m:t>(</m:t>
                                </m:r>
                                <m:r>
                                  <a:rPr lang="en-US" sz="2400" i="1">
                                    <a:solidFill>
                                      <a:schemeClr val="tx1"/>
                                    </a:solidFill>
                                    <a:latin typeface="Cambria Math" panose="02040503050406030204" pitchFamily="18" charset="0"/>
                                    <a:ea typeface="Cambria Math" panose="02040503050406030204" pitchFamily="18" charset="0"/>
                                  </a:rPr>
                                  <m:t>𝜑</m:t>
                                </m:r>
                                <m:r>
                                  <a:rPr lang="en-US" sz="2400" i="1">
                                    <a:solidFill>
                                      <a:schemeClr val="tx1"/>
                                    </a:solidFill>
                                    <a:latin typeface="Cambria Math" panose="02040503050406030204" pitchFamily="18" charset="0"/>
                                    <a:ea typeface="Cambria Math" panose="02040503050406030204" pitchFamily="18" charset="0"/>
                                  </a:rPr>
                                  <m:t>+</m:t>
                                </m:r>
                                <m:f>
                                  <m:fPr>
                                    <m:ctrlPr>
                                      <a:rPr lang="en-US" sz="2400" i="1">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ea typeface="Cambria Math" panose="02040503050406030204" pitchFamily="18" charset="0"/>
                                      </a:rPr>
                                      <m:t>𝜋</m:t>
                                    </m:r>
                                  </m:num>
                                  <m:den>
                                    <m:r>
                                      <a:rPr lang="en-US" sz="2400" i="1">
                                        <a:solidFill>
                                          <a:schemeClr val="tx1"/>
                                        </a:solidFill>
                                        <a:latin typeface="Cambria Math" panose="02040503050406030204" pitchFamily="18" charset="0"/>
                                      </a:rPr>
                                      <m:t>2</m:t>
                                    </m:r>
                                  </m:den>
                                </m:f>
                                <m:r>
                                  <a:rPr lang="en-US" sz="2400" i="1">
                                    <a:solidFill>
                                      <a:schemeClr val="tx1"/>
                                    </a:solidFill>
                                    <a:latin typeface="Cambria Math" panose="02040503050406030204" pitchFamily="18" charset="0"/>
                                  </a:rPr>
                                  <m:t>)</m:t>
                                </m:r>
                              </m:sup>
                            </m:sSup>
                          </m:oMath>
                        </m:oMathPara>
                      </a14:m>
                      <a:endParaRPr lang="en-US" sz="2400" dirty="0">
                        <a:solidFill>
                          <a:schemeClr val="tx1"/>
                        </a:solidFill>
                      </a:endParaRPr>
                    </a:p>
                  </p:txBody>
                </p:sp>
              </mc:Choice>
              <mc:Fallback xmlns="">
                <p:sp>
                  <p:nvSpPr>
                    <p:cNvPr id="85" name="Rectangle 84">
                      <a:extLst>
                        <a:ext uri="{FF2B5EF4-FFF2-40B4-BE49-F238E27FC236}">
                          <a16:creationId xmlns:a16="http://schemas.microsoft.com/office/drawing/2014/main" id="{46DA298D-B146-4F4A-A610-D9649B335E2A}"/>
                        </a:ext>
                      </a:extLst>
                    </p:cNvPr>
                    <p:cNvSpPr>
                      <a:spLocks noRot="1" noChangeAspect="1" noMove="1" noResize="1" noEditPoints="1" noAdjustHandles="1" noChangeArrowheads="1" noChangeShapeType="1" noTextEdit="1"/>
                    </p:cNvSpPr>
                    <p:nvPr/>
                  </p:nvSpPr>
                  <p:spPr>
                    <a:xfrm>
                      <a:off x="4443456" y="1320965"/>
                      <a:ext cx="1199431" cy="595741"/>
                    </a:xfrm>
                    <a:prstGeom prst="rect">
                      <a:avLst/>
                    </a:prstGeom>
                    <a:blipFill>
                      <a:blip r:embed="rId19"/>
                      <a:stretch>
                        <a:fillRect/>
                      </a:stretch>
                    </a:blipFill>
                  </p:spPr>
                  <p:txBody>
                    <a:bodyPr/>
                    <a:lstStyle/>
                    <a:p>
                      <a:r>
                        <a:rPr lang="en-US">
                          <a:noFill/>
                        </a:rPr>
                        <a:t> </a:t>
                      </a:r>
                    </a:p>
                  </p:txBody>
                </p:sp>
              </mc:Fallback>
            </mc:AlternateContent>
            <p:sp>
              <p:nvSpPr>
                <p:cNvPr id="122" name="Arc 121">
                  <a:extLst>
                    <a:ext uri="{FF2B5EF4-FFF2-40B4-BE49-F238E27FC236}">
                      <a16:creationId xmlns:a16="http://schemas.microsoft.com/office/drawing/2014/main" id="{3DB6D97F-8AF1-3F49-BE90-973712A4E9E3}"/>
                    </a:ext>
                  </a:extLst>
                </p:cNvPr>
                <p:cNvSpPr/>
                <p:nvPr/>
              </p:nvSpPr>
              <p:spPr>
                <a:xfrm rot="1949334" flipH="1">
                  <a:off x="5840104" y="3549764"/>
                  <a:ext cx="409575" cy="368300"/>
                </a:xfrm>
                <a:prstGeom prst="arc">
                  <a:avLst>
                    <a:gd name="adj1" fmla="val 12642440"/>
                    <a:gd name="adj2" fmla="val 21500093"/>
                  </a:avLst>
                </a:prstGeom>
                <a:ln cap="rnd">
                  <a:solidFill>
                    <a:schemeClr val="accent2"/>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3" name="Rectangle 122">
                      <a:extLst>
                        <a:ext uri="{FF2B5EF4-FFF2-40B4-BE49-F238E27FC236}">
                          <a16:creationId xmlns:a16="http://schemas.microsoft.com/office/drawing/2014/main" id="{9BE02750-9D47-4A44-A31C-A110C48891C5}"/>
                        </a:ext>
                      </a:extLst>
                    </p:cNvPr>
                    <p:cNvSpPr/>
                    <p:nvPr/>
                  </p:nvSpPr>
                  <p:spPr>
                    <a:xfrm>
                      <a:off x="5977966" y="3210756"/>
                      <a:ext cx="63478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type m:val="lin"/>
                                <m:ctrlPr>
                                  <a:rPr lang="en-US" i="1" smtClean="0">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𝜋</m:t>
                                </m:r>
                              </m:num>
                              <m:den>
                                <m:r>
                                  <a:rPr lang="en-US" b="0" i="1" smtClean="0">
                                    <a:latin typeface="Cambria Math" panose="02040503050406030204" pitchFamily="18" charset="0"/>
                                    <a:ea typeface="Cambria Math" panose="02040503050406030204" pitchFamily="18" charset="0"/>
                                  </a:rPr>
                                  <m:t>2</m:t>
                                </m:r>
                              </m:den>
                            </m:f>
                          </m:oMath>
                        </m:oMathPara>
                      </a14:m>
                      <a:endParaRPr lang="en-US" dirty="0"/>
                    </a:p>
                  </p:txBody>
                </p:sp>
              </mc:Choice>
              <mc:Fallback xmlns="">
                <p:sp>
                  <p:nvSpPr>
                    <p:cNvPr id="123" name="Rectangle 122">
                      <a:extLst>
                        <a:ext uri="{FF2B5EF4-FFF2-40B4-BE49-F238E27FC236}">
                          <a16:creationId xmlns:a16="http://schemas.microsoft.com/office/drawing/2014/main" id="{9BE02750-9D47-4A44-A31C-A110C48891C5}"/>
                        </a:ext>
                      </a:extLst>
                    </p:cNvPr>
                    <p:cNvSpPr>
                      <a:spLocks noRot="1" noChangeAspect="1" noMove="1" noResize="1" noEditPoints="1" noAdjustHandles="1" noChangeArrowheads="1" noChangeShapeType="1" noTextEdit="1"/>
                    </p:cNvSpPr>
                    <p:nvPr/>
                  </p:nvSpPr>
                  <p:spPr>
                    <a:xfrm>
                      <a:off x="5977966" y="3210756"/>
                      <a:ext cx="634789" cy="369332"/>
                    </a:xfrm>
                    <a:prstGeom prst="rect">
                      <a:avLst/>
                    </a:prstGeom>
                    <a:blipFill>
                      <a:blip r:embed="rId20"/>
                      <a:stretch>
                        <a:fillRect l="-23529" t="-110000" r="-3922" b="-163333"/>
                      </a:stretch>
                    </a:blipFill>
                  </p:spPr>
                  <p:txBody>
                    <a:bodyPr/>
                    <a:lstStyle/>
                    <a:p>
                      <a:r>
                        <a:rPr lang="en-US">
                          <a:noFill/>
                        </a:rPr>
                        <a:t> </a:t>
                      </a:r>
                    </a:p>
                  </p:txBody>
                </p:sp>
              </mc:Fallback>
            </mc:AlternateContent>
            <p:cxnSp>
              <p:nvCxnSpPr>
                <p:cNvPr id="91" name="Straight Connector 90">
                  <a:extLst>
                    <a:ext uri="{FF2B5EF4-FFF2-40B4-BE49-F238E27FC236}">
                      <a16:creationId xmlns:a16="http://schemas.microsoft.com/office/drawing/2014/main" id="{05DC2EDC-55CC-2C4B-BEE7-1BEE3E3DFEEA}"/>
                    </a:ext>
                  </a:extLst>
                </p:cNvPr>
                <p:cNvCxnSpPr>
                  <a:cxnSpLocks/>
                </p:cNvCxnSpPr>
                <p:nvPr/>
              </p:nvCxnSpPr>
              <p:spPr>
                <a:xfrm>
                  <a:off x="5494803" y="3867198"/>
                  <a:ext cx="3075720" cy="0"/>
                </a:xfrm>
                <a:prstGeom prst="line">
                  <a:avLst/>
                </a:prstGeom>
                <a:ln>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6D21FE40-3FB6-1040-B29F-C0F7A93FEFF4}"/>
                    </a:ext>
                  </a:extLst>
                </p:cNvPr>
                <p:cNvCxnSpPr>
                  <a:cxnSpLocks/>
                </p:cNvCxnSpPr>
                <p:nvPr/>
              </p:nvCxnSpPr>
              <p:spPr>
                <a:xfrm flipV="1">
                  <a:off x="5993684" y="1121280"/>
                  <a:ext cx="0" cy="3217001"/>
                </a:xfrm>
                <a:prstGeom prst="line">
                  <a:avLst/>
                </a:prstGeom>
                <a:ln>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3" name="Rectangle 92">
                      <a:extLst>
                        <a:ext uri="{FF2B5EF4-FFF2-40B4-BE49-F238E27FC236}">
                          <a16:creationId xmlns:a16="http://schemas.microsoft.com/office/drawing/2014/main" id="{A247B6D2-F162-8D4F-9D4B-9C4B8A4B437F}"/>
                        </a:ext>
                      </a:extLst>
                    </p:cNvPr>
                    <p:cNvSpPr/>
                    <p:nvPr/>
                  </p:nvSpPr>
                  <p:spPr>
                    <a:xfrm>
                      <a:off x="5660039" y="1408356"/>
                      <a:ext cx="36112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solidFill>
                                  <a:srgbClr val="002060"/>
                                </a:solidFill>
                                <a:latin typeface="Cambria Math" panose="02040503050406030204" pitchFamily="18" charset="0"/>
                                <a:ea typeface="Cambria Math" panose="02040503050406030204" pitchFamily="18" charset="0"/>
                              </a:rPr>
                              <m:t>𝑖</m:t>
                            </m:r>
                          </m:oMath>
                        </m:oMathPara>
                      </a14:m>
                      <a:endParaRPr lang="en-US" sz="2400" dirty="0"/>
                    </a:p>
                  </p:txBody>
                </p:sp>
              </mc:Choice>
              <mc:Fallback xmlns="">
                <p:sp>
                  <p:nvSpPr>
                    <p:cNvPr id="93" name="Rectangle 92">
                      <a:extLst>
                        <a:ext uri="{FF2B5EF4-FFF2-40B4-BE49-F238E27FC236}">
                          <a16:creationId xmlns:a16="http://schemas.microsoft.com/office/drawing/2014/main" id="{A247B6D2-F162-8D4F-9D4B-9C4B8A4B437F}"/>
                        </a:ext>
                      </a:extLst>
                    </p:cNvPr>
                    <p:cNvSpPr>
                      <a:spLocks noRot="1" noChangeAspect="1" noMove="1" noResize="1" noEditPoints="1" noAdjustHandles="1" noChangeArrowheads="1" noChangeShapeType="1" noTextEdit="1"/>
                    </p:cNvSpPr>
                    <p:nvPr/>
                  </p:nvSpPr>
                  <p:spPr>
                    <a:xfrm>
                      <a:off x="5660039" y="1408356"/>
                      <a:ext cx="361125" cy="461665"/>
                    </a:xfrm>
                    <a:prstGeom prst="rect">
                      <a:avLst/>
                    </a:prstGeom>
                    <a:blipFill>
                      <a:blip r:embed="rId21"/>
                      <a:stretch>
                        <a:fillRect/>
                      </a:stretch>
                    </a:blipFill>
                  </p:spPr>
                  <p:txBody>
                    <a:bodyPr/>
                    <a:lstStyle/>
                    <a:p>
                      <a:r>
                        <a:rPr lang="en-US">
                          <a:noFill/>
                        </a:rPr>
                        <a:t> </a:t>
                      </a:r>
                    </a:p>
                  </p:txBody>
                </p:sp>
              </mc:Fallback>
            </mc:AlternateContent>
            <p:cxnSp>
              <p:nvCxnSpPr>
                <p:cNvPr id="94" name="Straight Connector 93">
                  <a:extLst>
                    <a:ext uri="{FF2B5EF4-FFF2-40B4-BE49-F238E27FC236}">
                      <a16:creationId xmlns:a16="http://schemas.microsoft.com/office/drawing/2014/main" id="{9B020DF2-99B1-FA42-8467-CC23534C012C}"/>
                    </a:ext>
                  </a:extLst>
                </p:cNvPr>
                <p:cNvCxnSpPr>
                  <a:cxnSpLocks/>
                </p:cNvCxnSpPr>
                <p:nvPr/>
              </p:nvCxnSpPr>
              <p:spPr>
                <a:xfrm>
                  <a:off x="7847833" y="3009898"/>
                  <a:ext cx="0" cy="857300"/>
                </a:xfrm>
                <a:prstGeom prst="line">
                  <a:avLst/>
                </a:prstGeom>
                <a:ln>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8" name="Rectangle 97">
                      <a:extLst>
                        <a:ext uri="{FF2B5EF4-FFF2-40B4-BE49-F238E27FC236}">
                          <a16:creationId xmlns:a16="http://schemas.microsoft.com/office/drawing/2014/main" id="{6D56088A-B401-4345-AA41-3E2845086DB5}"/>
                        </a:ext>
                      </a:extLst>
                    </p:cNvPr>
                    <p:cNvSpPr/>
                    <p:nvPr/>
                  </p:nvSpPr>
                  <p:spPr>
                    <a:xfrm>
                      <a:off x="8343710" y="3456667"/>
                      <a:ext cx="53816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𝑅𝑒</m:t>
                            </m:r>
                          </m:oMath>
                        </m:oMathPara>
                      </a14:m>
                      <a:endParaRPr lang="en-US" sz="2000" i="1" dirty="0"/>
                    </a:p>
                  </p:txBody>
                </p:sp>
              </mc:Choice>
              <mc:Fallback xmlns="">
                <p:sp>
                  <p:nvSpPr>
                    <p:cNvPr id="98" name="Rectangle 97">
                      <a:extLst>
                        <a:ext uri="{FF2B5EF4-FFF2-40B4-BE49-F238E27FC236}">
                          <a16:creationId xmlns:a16="http://schemas.microsoft.com/office/drawing/2014/main" id="{6D56088A-B401-4345-AA41-3E2845086DB5}"/>
                        </a:ext>
                      </a:extLst>
                    </p:cNvPr>
                    <p:cNvSpPr>
                      <a:spLocks noRot="1" noChangeAspect="1" noMove="1" noResize="1" noEditPoints="1" noAdjustHandles="1" noChangeArrowheads="1" noChangeShapeType="1" noTextEdit="1"/>
                    </p:cNvSpPr>
                    <p:nvPr/>
                  </p:nvSpPr>
                  <p:spPr>
                    <a:xfrm>
                      <a:off x="8343710" y="3456667"/>
                      <a:ext cx="538160" cy="400110"/>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Rectangle 98">
                      <a:extLst>
                        <a:ext uri="{FF2B5EF4-FFF2-40B4-BE49-F238E27FC236}">
                          <a16:creationId xmlns:a16="http://schemas.microsoft.com/office/drawing/2014/main" id="{B9102AC8-93AC-FF49-A649-308462C4A9C9}"/>
                        </a:ext>
                      </a:extLst>
                    </p:cNvPr>
                    <p:cNvSpPr/>
                    <p:nvPr/>
                  </p:nvSpPr>
                  <p:spPr>
                    <a:xfrm>
                      <a:off x="5952510" y="1116678"/>
                      <a:ext cx="55932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𝐼𝑚</m:t>
                            </m:r>
                          </m:oMath>
                        </m:oMathPara>
                      </a14:m>
                      <a:endParaRPr lang="en-US" sz="2000" i="1" dirty="0"/>
                    </a:p>
                  </p:txBody>
                </p:sp>
              </mc:Choice>
              <mc:Fallback xmlns="">
                <p:sp>
                  <p:nvSpPr>
                    <p:cNvPr id="99" name="Rectangle 98">
                      <a:extLst>
                        <a:ext uri="{FF2B5EF4-FFF2-40B4-BE49-F238E27FC236}">
                          <a16:creationId xmlns:a16="http://schemas.microsoft.com/office/drawing/2014/main" id="{B9102AC8-93AC-FF49-A649-308462C4A9C9}"/>
                        </a:ext>
                      </a:extLst>
                    </p:cNvPr>
                    <p:cNvSpPr>
                      <a:spLocks noRot="1" noChangeAspect="1" noMove="1" noResize="1" noEditPoints="1" noAdjustHandles="1" noChangeArrowheads="1" noChangeShapeType="1" noTextEdit="1"/>
                    </p:cNvSpPr>
                    <p:nvPr/>
                  </p:nvSpPr>
                  <p:spPr>
                    <a:xfrm>
                      <a:off x="5952510" y="1116678"/>
                      <a:ext cx="559320" cy="400110"/>
                    </a:xfrm>
                    <a:prstGeom prst="rect">
                      <a:avLst/>
                    </a:prstGeom>
                    <a:blipFill>
                      <a:blip r:embed="rId23"/>
                      <a:stretch>
                        <a:fillRect/>
                      </a:stretch>
                    </a:blipFill>
                  </p:spPr>
                  <p:txBody>
                    <a:bodyPr/>
                    <a:lstStyle/>
                    <a:p>
                      <a:r>
                        <a:rPr lang="en-US">
                          <a:noFill/>
                        </a:rPr>
                        <a:t> </a:t>
                      </a:r>
                    </a:p>
                  </p:txBody>
                </p:sp>
              </mc:Fallback>
            </mc:AlternateContent>
            <p:cxnSp>
              <p:nvCxnSpPr>
                <p:cNvPr id="100" name="Straight Connector 99">
                  <a:extLst>
                    <a:ext uri="{FF2B5EF4-FFF2-40B4-BE49-F238E27FC236}">
                      <a16:creationId xmlns:a16="http://schemas.microsoft.com/office/drawing/2014/main" id="{569DBB2F-8A7A-584D-8908-2D6ECF765392}"/>
                    </a:ext>
                  </a:extLst>
                </p:cNvPr>
                <p:cNvCxnSpPr>
                  <a:cxnSpLocks/>
                </p:cNvCxnSpPr>
                <p:nvPr/>
              </p:nvCxnSpPr>
              <p:spPr>
                <a:xfrm rot="20100000">
                  <a:off x="5903937" y="3440850"/>
                  <a:ext cx="2039435"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01" name="Oval 100">
                  <a:extLst>
                    <a:ext uri="{FF2B5EF4-FFF2-40B4-BE49-F238E27FC236}">
                      <a16:creationId xmlns:a16="http://schemas.microsoft.com/office/drawing/2014/main" id="{11E00886-CFB4-EB4E-8E27-DCA6EABC5EEC}"/>
                    </a:ext>
                  </a:extLst>
                </p:cNvPr>
                <p:cNvSpPr/>
                <p:nvPr/>
              </p:nvSpPr>
              <p:spPr>
                <a:xfrm>
                  <a:off x="7754390" y="2919898"/>
                  <a:ext cx="180000" cy="1800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06" name="Rectangle 105">
                      <a:extLst>
                        <a:ext uri="{FF2B5EF4-FFF2-40B4-BE49-F238E27FC236}">
                          <a16:creationId xmlns:a16="http://schemas.microsoft.com/office/drawing/2014/main" id="{E62AA4BE-52E5-1341-80C3-2135B67801AD}"/>
                        </a:ext>
                      </a:extLst>
                    </p:cNvPr>
                    <p:cNvSpPr/>
                    <p:nvPr/>
                  </p:nvSpPr>
                  <p:spPr>
                    <a:xfrm>
                      <a:off x="7926816" y="3912373"/>
                      <a:ext cx="36580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solidFill>
                                  <a:srgbClr val="002060"/>
                                </a:solidFill>
                                <a:latin typeface="Cambria Math" panose="02040503050406030204" pitchFamily="18" charset="0"/>
                                <a:ea typeface="Cambria Math" panose="02040503050406030204" pitchFamily="18" charset="0"/>
                              </a:rPr>
                              <m:t>1</m:t>
                            </m:r>
                          </m:oMath>
                        </m:oMathPara>
                      </a14:m>
                      <a:endParaRPr lang="en-US" dirty="0"/>
                    </a:p>
                  </p:txBody>
                </p:sp>
              </mc:Choice>
              <mc:Fallback xmlns="">
                <p:sp>
                  <p:nvSpPr>
                    <p:cNvPr id="106" name="Rectangle 105">
                      <a:extLst>
                        <a:ext uri="{FF2B5EF4-FFF2-40B4-BE49-F238E27FC236}">
                          <a16:creationId xmlns:a16="http://schemas.microsoft.com/office/drawing/2014/main" id="{E62AA4BE-52E5-1341-80C3-2135B67801AD}"/>
                        </a:ext>
                      </a:extLst>
                    </p:cNvPr>
                    <p:cNvSpPr>
                      <a:spLocks noRot="1" noChangeAspect="1" noMove="1" noResize="1" noEditPoints="1" noAdjustHandles="1" noChangeArrowheads="1" noChangeShapeType="1" noTextEdit="1"/>
                    </p:cNvSpPr>
                    <p:nvPr/>
                  </p:nvSpPr>
                  <p:spPr>
                    <a:xfrm>
                      <a:off x="7926816" y="3912373"/>
                      <a:ext cx="365805" cy="369332"/>
                    </a:xfrm>
                    <a:prstGeom prst="rect">
                      <a:avLst/>
                    </a:prstGeom>
                    <a:blipFill>
                      <a:blip r:embed="rId24"/>
                      <a:stretch>
                        <a:fillRect/>
                      </a:stretch>
                    </a:blipFill>
                  </p:spPr>
                  <p:txBody>
                    <a:bodyPr/>
                    <a:lstStyle/>
                    <a:p>
                      <a:r>
                        <a:rPr lang="en-US">
                          <a:noFill/>
                        </a:rPr>
                        <a:t> </a:t>
                      </a:r>
                    </a:p>
                  </p:txBody>
                </p:sp>
              </mc:Fallback>
            </mc:AlternateContent>
            <p:sp>
              <p:nvSpPr>
                <p:cNvPr id="108" name="TextBox 107">
                  <a:extLst>
                    <a:ext uri="{FF2B5EF4-FFF2-40B4-BE49-F238E27FC236}">
                      <a16:creationId xmlns:a16="http://schemas.microsoft.com/office/drawing/2014/main" id="{D7F9A271-8EB7-8242-84DA-753AAE9AB35E}"/>
                    </a:ext>
                  </a:extLst>
                </p:cNvPr>
                <p:cNvSpPr txBox="1"/>
                <p:nvPr/>
              </p:nvSpPr>
              <p:spPr>
                <a:xfrm>
                  <a:off x="6988591" y="3717561"/>
                  <a:ext cx="184731" cy="369332"/>
                </a:xfrm>
                <a:prstGeom prst="rect">
                  <a:avLst/>
                </a:prstGeom>
                <a:noFill/>
              </p:spPr>
              <p:txBody>
                <a:bodyPr wrap="none" rtlCol="0">
                  <a:spAutoFit/>
                </a:bodyPr>
                <a:lstStyle/>
                <a:p>
                  <a:endParaRPr lang="en-US" dirty="0"/>
                </a:p>
              </p:txBody>
            </p:sp>
            <mc:AlternateContent xmlns:mc="http://schemas.openxmlformats.org/markup-compatibility/2006" xmlns:a14="http://schemas.microsoft.com/office/drawing/2010/main">
              <mc:Choice Requires="a14">
                <p:sp>
                  <p:nvSpPr>
                    <p:cNvPr id="119" name="Rectangle 118">
                      <a:extLst>
                        <a:ext uri="{FF2B5EF4-FFF2-40B4-BE49-F238E27FC236}">
                          <a16:creationId xmlns:a16="http://schemas.microsoft.com/office/drawing/2014/main" id="{3CF8FC04-42A3-924E-BF06-12096A07A343}"/>
                        </a:ext>
                      </a:extLst>
                    </p:cNvPr>
                    <p:cNvSpPr/>
                    <p:nvPr/>
                  </p:nvSpPr>
                  <p:spPr>
                    <a:xfrm>
                      <a:off x="6494917" y="3470896"/>
                      <a:ext cx="468590"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i="1" smtClean="0">
                                <a:solidFill>
                                  <a:schemeClr val="tx1"/>
                                </a:solidFill>
                                <a:latin typeface="Cambria Math" panose="02040503050406030204" pitchFamily="18" charset="0"/>
                                <a:ea typeface="Cambria Math" panose="02040503050406030204" pitchFamily="18" charset="0"/>
                              </a:rPr>
                              <m:t>𝜑</m:t>
                            </m:r>
                          </m:oMath>
                        </m:oMathPara>
                      </a14:m>
                      <a:endParaRPr lang="en-US" sz="2000" dirty="0">
                        <a:solidFill>
                          <a:srgbClr val="FF0000"/>
                        </a:solidFill>
                      </a:endParaRPr>
                    </a:p>
                  </p:txBody>
                </p:sp>
              </mc:Choice>
              <mc:Fallback xmlns="">
                <p:sp>
                  <p:nvSpPr>
                    <p:cNvPr id="119" name="Rectangle 118">
                      <a:extLst>
                        <a:ext uri="{FF2B5EF4-FFF2-40B4-BE49-F238E27FC236}">
                          <a16:creationId xmlns:a16="http://schemas.microsoft.com/office/drawing/2014/main" id="{3CF8FC04-42A3-924E-BF06-12096A07A343}"/>
                        </a:ext>
                      </a:extLst>
                    </p:cNvPr>
                    <p:cNvSpPr>
                      <a:spLocks noRot="1" noChangeAspect="1" noMove="1" noResize="1" noEditPoints="1" noAdjustHandles="1" noChangeArrowheads="1" noChangeShapeType="1" noTextEdit="1"/>
                    </p:cNvSpPr>
                    <p:nvPr/>
                  </p:nvSpPr>
                  <p:spPr>
                    <a:xfrm>
                      <a:off x="6494917" y="3470896"/>
                      <a:ext cx="468590" cy="400110"/>
                    </a:xfrm>
                    <a:prstGeom prst="rect">
                      <a:avLst/>
                    </a:prstGeom>
                    <a:blipFill>
                      <a:blip r:embed="rId25"/>
                      <a:stretch>
                        <a:fillRect b="-6061"/>
                      </a:stretch>
                    </a:blipFill>
                  </p:spPr>
                  <p:txBody>
                    <a:bodyPr/>
                    <a:lstStyle/>
                    <a:p>
                      <a:r>
                        <a:rPr lang="en-US">
                          <a:noFill/>
                        </a:rPr>
                        <a:t> </a:t>
                      </a:r>
                    </a:p>
                  </p:txBody>
                </p:sp>
              </mc:Fallback>
            </mc:AlternateContent>
            <p:cxnSp>
              <p:nvCxnSpPr>
                <p:cNvPr id="120" name="Straight Connector 119">
                  <a:extLst>
                    <a:ext uri="{FF2B5EF4-FFF2-40B4-BE49-F238E27FC236}">
                      <a16:creationId xmlns:a16="http://schemas.microsoft.com/office/drawing/2014/main" id="{3792742A-8FAB-9E46-B699-6927365DDBD1}"/>
                    </a:ext>
                  </a:extLst>
                </p:cNvPr>
                <p:cNvCxnSpPr>
                  <a:cxnSpLocks/>
                </p:cNvCxnSpPr>
                <p:nvPr/>
              </p:nvCxnSpPr>
              <p:spPr>
                <a:xfrm rot="3900000">
                  <a:off x="4548023" y="2954973"/>
                  <a:ext cx="2039435"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sp>
              <p:nvSpPr>
                <p:cNvPr id="121" name="Oval 120">
                  <a:extLst>
                    <a:ext uri="{FF2B5EF4-FFF2-40B4-BE49-F238E27FC236}">
                      <a16:creationId xmlns:a16="http://schemas.microsoft.com/office/drawing/2014/main" id="{D24A0C07-DE5D-C64C-B90A-6EEE4B837E10}"/>
                    </a:ext>
                  </a:extLst>
                </p:cNvPr>
                <p:cNvSpPr/>
                <p:nvPr/>
              </p:nvSpPr>
              <p:spPr>
                <a:xfrm>
                  <a:off x="5027963" y="1900684"/>
                  <a:ext cx="180000" cy="1800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mc:AlternateContent xmlns:mc="http://schemas.openxmlformats.org/markup-compatibility/2006" xmlns:a14="http://schemas.microsoft.com/office/drawing/2010/main">
          <mc:Choice Requires="a14">
            <p:sp>
              <p:nvSpPr>
                <p:cNvPr id="125" name="Rectangle 124">
                  <a:extLst>
                    <a:ext uri="{FF2B5EF4-FFF2-40B4-BE49-F238E27FC236}">
                      <a16:creationId xmlns:a16="http://schemas.microsoft.com/office/drawing/2014/main" id="{6EEBEF69-F22C-2E4D-9228-19FE90A006FC}"/>
                    </a:ext>
                  </a:extLst>
                </p:cNvPr>
                <p:cNvSpPr/>
                <p:nvPr/>
              </p:nvSpPr>
              <p:spPr>
                <a:xfrm>
                  <a:off x="9154988" y="2565307"/>
                  <a:ext cx="1242904" cy="4735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𝑧</m:t>
                        </m:r>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𝑒</m:t>
                            </m:r>
                          </m:e>
                          <m:sup>
                            <m:r>
                              <a:rPr lang="en-US" sz="2400" i="1">
                                <a:latin typeface="Cambria Math" panose="02040503050406030204" pitchFamily="18" charset="0"/>
                              </a:rPr>
                              <m:t>𝑖</m:t>
                            </m:r>
                            <m:r>
                              <a:rPr lang="en-US" sz="2400" i="1">
                                <a:latin typeface="Cambria Math" panose="02040503050406030204" pitchFamily="18" charset="0"/>
                                <a:ea typeface="Cambria Math" panose="02040503050406030204" pitchFamily="18" charset="0"/>
                              </a:rPr>
                              <m:t>𝜑</m:t>
                            </m:r>
                          </m:sup>
                        </m:sSup>
                      </m:oMath>
                    </m:oMathPara>
                  </a14:m>
                  <a:endParaRPr lang="en-US" sz="2400" dirty="0"/>
                </a:p>
              </p:txBody>
            </p:sp>
          </mc:Choice>
          <mc:Fallback xmlns="">
            <p:sp>
              <p:nvSpPr>
                <p:cNvPr id="125" name="Rectangle 124">
                  <a:extLst>
                    <a:ext uri="{FF2B5EF4-FFF2-40B4-BE49-F238E27FC236}">
                      <a16:creationId xmlns:a16="http://schemas.microsoft.com/office/drawing/2014/main" id="{6EEBEF69-F22C-2E4D-9228-19FE90A006FC}"/>
                    </a:ext>
                  </a:extLst>
                </p:cNvPr>
                <p:cNvSpPr>
                  <a:spLocks noRot="1" noChangeAspect="1" noMove="1" noResize="1" noEditPoints="1" noAdjustHandles="1" noChangeArrowheads="1" noChangeShapeType="1" noTextEdit="1"/>
                </p:cNvSpPr>
                <p:nvPr/>
              </p:nvSpPr>
              <p:spPr>
                <a:xfrm>
                  <a:off x="9154988" y="2565307"/>
                  <a:ext cx="1242904" cy="473591"/>
                </a:xfrm>
                <a:prstGeom prst="rect">
                  <a:avLst/>
                </a:prstGeom>
                <a:blipFill>
                  <a:blip r:embed="rId26"/>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77393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7"/>
                                        </p:tgtEl>
                                        <p:attrNameLst>
                                          <p:attrName>style.visibility</p:attrName>
                                        </p:attrNameLst>
                                      </p:cBhvr>
                                      <p:to>
                                        <p:strVal val="visible"/>
                                      </p:to>
                                    </p:set>
                                    <p:animEffect transition="in" filter="dissolve">
                                      <p:cBhvr>
                                        <p:cTn id="12" dur="500"/>
                                        <p:tgtEl>
                                          <p:spTgt spid="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C4D816B0-73FC-2941-9741-4BC8F3E8131D}"/>
              </a:ext>
            </a:extLst>
          </p:cNvPr>
          <p:cNvGrpSpPr/>
          <p:nvPr/>
        </p:nvGrpSpPr>
        <p:grpSpPr>
          <a:xfrm>
            <a:off x="220133" y="2999905"/>
            <a:ext cx="2602770" cy="2653116"/>
            <a:chOff x="220133" y="2999905"/>
            <a:chExt cx="2602770" cy="2653116"/>
          </a:xfrm>
        </p:grpSpPr>
        <p:cxnSp>
          <p:nvCxnSpPr>
            <p:cNvPr id="36" name="Straight Connector 35">
              <a:extLst>
                <a:ext uri="{FF2B5EF4-FFF2-40B4-BE49-F238E27FC236}">
                  <a16:creationId xmlns:a16="http://schemas.microsoft.com/office/drawing/2014/main" id="{4BFF415B-8B83-634B-A8C7-D661168449BA}"/>
                </a:ext>
              </a:extLst>
            </p:cNvPr>
            <p:cNvCxnSpPr>
              <a:cxnSpLocks/>
            </p:cNvCxnSpPr>
            <p:nvPr/>
          </p:nvCxnSpPr>
          <p:spPr>
            <a:xfrm>
              <a:off x="220133" y="4392249"/>
              <a:ext cx="2602770" cy="0"/>
            </a:xfrm>
            <a:prstGeom prst="line">
              <a:avLst/>
            </a:prstGeom>
            <a:ln>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2FCA949-F09F-AB44-B577-9C219EED9181}"/>
                </a:ext>
              </a:extLst>
            </p:cNvPr>
            <p:cNvCxnSpPr>
              <a:cxnSpLocks/>
              <a:stCxn id="32" idx="0"/>
            </p:cNvCxnSpPr>
            <p:nvPr/>
          </p:nvCxnSpPr>
          <p:spPr>
            <a:xfrm flipV="1">
              <a:off x="1419650" y="2999905"/>
              <a:ext cx="14828" cy="2653116"/>
            </a:xfrm>
            <a:prstGeom prst="line">
              <a:avLst/>
            </a:prstGeom>
            <a:ln>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2" name="Slide Number Placeholder 1">
            <a:extLst>
              <a:ext uri="{FF2B5EF4-FFF2-40B4-BE49-F238E27FC236}">
                <a16:creationId xmlns:a16="http://schemas.microsoft.com/office/drawing/2014/main" id="{5DCE1B3F-F13E-0646-9EDA-7FC63C458F41}"/>
              </a:ext>
            </a:extLst>
          </p:cNvPr>
          <p:cNvSpPr>
            <a:spLocks noGrp="1"/>
          </p:cNvSpPr>
          <p:nvPr>
            <p:ph type="sldNum" sz="quarter" idx="12"/>
          </p:nvPr>
        </p:nvSpPr>
        <p:spPr/>
        <p:txBody>
          <a:bodyPr/>
          <a:lstStyle/>
          <a:p>
            <a:fld id="{591A223C-FA10-BC46-A853-03BA373D023C}" type="slidenum">
              <a:rPr lang="en-US" smtClean="0"/>
              <a:t>14</a:t>
            </a:fld>
            <a:endParaRPr lang="en-US"/>
          </a:p>
        </p:txBody>
      </p:sp>
      <p:sp>
        <p:nvSpPr>
          <p:cNvPr id="3" name="Title 2">
            <a:extLst>
              <a:ext uri="{FF2B5EF4-FFF2-40B4-BE49-F238E27FC236}">
                <a16:creationId xmlns:a16="http://schemas.microsoft.com/office/drawing/2014/main" id="{6ECFF6BF-F2D1-7F49-B76E-220E7DB6FB74}"/>
              </a:ext>
            </a:extLst>
          </p:cNvPr>
          <p:cNvSpPr>
            <a:spLocks noGrp="1"/>
          </p:cNvSpPr>
          <p:nvPr>
            <p:ph type="title"/>
          </p:nvPr>
        </p:nvSpPr>
        <p:spPr/>
        <p:txBody>
          <a:bodyPr/>
          <a:lstStyle/>
          <a:p>
            <a:r>
              <a:rPr lang="en-ZA" dirty="0"/>
              <a:t>n-</a:t>
            </a:r>
            <a:r>
              <a:rPr lang="en-ZA" dirty="0" err="1"/>
              <a:t>th</a:t>
            </a:r>
            <a:r>
              <a:rPr lang="en-ZA" dirty="0"/>
              <a:t> roots of unity</a:t>
            </a:r>
            <a:endParaRPr lang="en-US" dirty="0"/>
          </a:p>
        </p:txBody>
      </p:sp>
      <p:sp>
        <p:nvSpPr>
          <p:cNvPr id="6" name="Oval 5">
            <a:extLst>
              <a:ext uri="{FF2B5EF4-FFF2-40B4-BE49-F238E27FC236}">
                <a16:creationId xmlns:a16="http://schemas.microsoft.com/office/drawing/2014/main" id="{2B557CB9-2809-4948-8952-65482A91BBBC}"/>
              </a:ext>
            </a:extLst>
          </p:cNvPr>
          <p:cNvSpPr/>
          <p:nvPr/>
        </p:nvSpPr>
        <p:spPr>
          <a:xfrm>
            <a:off x="374465" y="3348631"/>
            <a:ext cx="2098737" cy="210204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04CFEEFD-9170-8E44-80D5-26CC152E0FF3}"/>
              </a:ext>
            </a:extLst>
          </p:cNvPr>
          <p:cNvCxnSpPr>
            <a:cxnSpLocks/>
            <a:endCxn id="6" idx="6"/>
          </p:cNvCxnSpPr>
          <p:nvPr/>
        </p:nvCxnSpPr>
        <p:spPr>
          <a:xfrm>
            <a:off x="1419650" y="4399654"/>
            <a:ext cx="1053553"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E4E1B3CF-7211-3C43-8367-F832BC716C47}"/>
              </a:ext>
            </a:extLst>
          </p:cNvPr>
          <p:cNvSpPr/>
          <p:nvPr/>
        </p:nvSpPr>
        <p:spPr>
          <a:xfrm>
            <a:off x="2423548" y="4345251"/>
            <a:ext cx="99309" cy="9930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F73456B9-352A-2942-810C-C85F28834099}"/>
              </a:ext>
            </a:extLst>
          </p:cNvPr>
          <p:cNvSpPr/>
          <p:nvPr/>
        </p:nvSpPr>
        <p:spPr>
          <a:xfrm>
            <a:off x="3426492" y="3348631"/>
            <a:ext cx="2098737" cy="210204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5F1B23CA-0894-EE4B-A237-5161496F4995}"/>
              </a:ext>
            </a:extLst>
          </p:cNvPr>
          <p:cNvCxnSpPr>
            <a:cxnSpLocks/>
            <a:endCxn id="10" idx="6"/>
          </p:cNvCxnSpPr>
          <p:nvPr/>
        </p:nvCxnSpPr>
        <p:spPr>
          <a:xfrm>
            <a:off x="3426492" y="4394906"/>
            <a:ext cx="2098737" cy="47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4DA1C30D-1549-9447-B564-06E50E8CF7E8}"/>
              </a:ext>
            </a:extLst>
          </p:cNvPr>
          <p:cNvSpPr/>
          <p:nvPr/>
        </p:nvSpPr>
        <p:spPr>
          <a:xfrm>
            <a:off x="5475575" y="4345251"/>
            <a:ext cx="99309" cy="9930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13C8A59-95BB-7D4A-8020-59289374F504}"/>
              </a:ext>
            </a:extLst>
          </p:cNvPr>
          <p:cNvSpPr/>
          <p:nvPr/>
        </p:nvSpPr>
        <p:spPr>
          <a:xfrm>
            <a:off x="3385619" y="4345251"/>
            <a:ext cx="99309" cy="9930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C96507A-EDD9-3644-B313-ABCE7E1B442B}"/>
              </a:ext>
            </a:extLst>
          </p:cNvPr>
          <p:cNvSpPr/>
          <p:nvPr/>
        </p:nvSpPr>
        <p:spPr>
          <a:xfrm>
            <a:off x="6437646" y="3348631"/>
            <a:ext cx="2098737" cy="210204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24399667-6809-D643-BD3B-823B1B8C70A7}"/>
              </a:ext>
            </a:extLst>
          </p:cNvPr>
          <p:cNvCxnSpPr>
            <a:cxnSpLocks/>
            <a:endCxn id="15" idx="6"/>
          </p:cNvCxnSpPr>
          <p:nvPr/>
        </p:nvCxnSpPr>
        <p:spPr>
          <a:xfrm>
            <a:off x="7482831" y="4399654"/>
            <a:ext cx="1053553"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452E069E-B77B-1E40-9925-E7BB2C39B2A9}"/>
              </a:ext>
            </a:extLst>
          </p:cNvPr>
          <p:cNvSpPr/>
          <p:nvPr/>
        </p:nvSpPr>
        <p:spPr>
          <a:xfrm>
            <a:off x="8486729" y="4345251"/>
            <a:ext cx="99309" cy="9930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C6E70712-221D-224A-9446-7A500C4B809F}"/>
              </a:ext>
            </a:extLst>
          </p:cNvPr>
          <p:cNvCxnSpPr>
            <a:cxnSpLocks/>
          </p:cNvCxnSpPr>
          <p:nvPr/>
        </p:nvCxnSpPr>
        <p:spPr>
          <a:xfrm flipH="1" flipV="1">
            <a:off x="6960440" y="3487677"/>
            <a:ext cx="547632" cy="91198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115DB80-5FE2-4E49-815A-52D4413B695A}"/>
              </a:ext>
            </a:extLst>
          </p:cNvPr>
          <p:cNvCxnSpPr>
            <a:cxnSpLocks/>
          </p:cNvCxnSpPr>
          <p:nvPr/>
        </p:nvCxnSpPr>
        <p:spPr>
          <a:xfrm flipV="1">
            <a:off x="6960440" y="4394908"/>
            <a:ext cx="536554" cy="920382"/>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CA0B0946-A938-6C40-8149-2F018E47D8FB}"/>
              </a:ext>
            </a:extLst>
          </p:cNvPr>
          <p:cNvSpPr/>
          <p:nvPr/>
        </p:nvSpPr>
        <p:spPr>
          <a:xfrm>
            <a:off x="6910785" y="5257234"/>
            <a:ext cx="99309" cy="9930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9B6F44F-1F64-4F44-836A-FB8490C44FF1}"/>
              </a:ext>
            </a:extLst>
          </p:cNvPr>
          <p:cNvSpPr/>
          <p:nvPr/>
        </p:nvSpPr>
        <p:spPr>
          <a:xfrm>
            <a:off x="6910785" y="3440203"/>
            <a:ext cx="99309" cy="9930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06B08502-9A57-7945-B9F9-5039380E43EF}"/>
              </a:ext>
            </a:extLst>
          </p:cNvPr>
          <p:cNvSpPr/>
          <p:nvPr/>
        </p:nvSpPr>
        <p:spPr>
          <a:xfrm>
            <a:off x="9489673" y="3345974"/>
            <a:ext cx="2098737" cy="210204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AFB67245-BE07-BD46-AD45-B1C4854DED9E}"/>
              </a:ext>
            </a:extLst>
          </p:cNvPr>
          <p:cNvCxnSpPr>
            <a:cxnSpLocks/>
            <a:endCxn id="23" idx="6"/>
          </p:cNvCxnSpPr>
          <p:nvPr/>
        </p:nvCxnSpPr>
        <p:spPr>
          <a:xfrm>
            <a:off x="9489673" y="4392249"/>
            <a:ext cx="2098737" cy="47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FED3ECCB-BF8C-5D4E-9331-722C21A562ED}"/>
              </a:ext>
            </a:extLst>
          </p:cNvPr>
          <p:cNvSpPr/>
          <p:nvPr/>
        </p:nvSpPr>
        <p:spPr>
          <a:xfrm>
            <a:off x="11538756" y="4342595"/>
            <a:ext cx="99309" cy="9930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331B7D7A-D626-D74D-9F83-2DCA2ADD34B1}"/>
              </a:ext>
            </a:extLst>
          </p:cNvPr>
          <p:cNvSpPr/>
          <p:nvPr/>
        </p:nvSpPr>
        <p:spPr>
          <a:xfrm>
            <a:off x="9448800" y="4342595"/>
            <a:ext cx="99309" cy="9930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Connector 26">
            <a:extLst>
              <a:ext uri="{FF2B5EF4-FFF2-40B4-BE49-F238E27FC236}">
                <a16:creationId xmlns:a16="http://schemas.microsoft.com/office/drawing/2014/main" id="{B645FCBA-8194-594B-8CC6-F04ED6078FB3}"/>
              </a:ext>
            </a:extLst>
          </p:cNvPr>
          <p:cNvCxnSpPr>
            <a:cxnSpLocks/>
          </p:cNvCxnSpPr>
          <p:nvPr/>
        </p:nvCxnSpPr>
        <p:spPr>
          <a:xfrm rot="5400000">
            <a:off x="9492048" y="4396277"/>
            <a:ext cx="2098737" cy="4748"/>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B7390074-C755-EF4E-A373-95A52E4E8F41}"/>
              </a:ext>
            </a:extLst>
          </p:cNvPr>
          <p:cNvSpPr/>
          <p:nvPr/>
        </p:nvSpPr>
        <p:spPr>
          <a:xfrm>
            <a:off x="10489387" y="3291573"/>
            <a:ext cx="99309" cy="9930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F5F9155-6777-6545-8E5E-976BB5A78B13}"/>
              </a:ext>
            </a:extLst>
          </p:cNvPr>
          <p:cNvSpPr/>
          <p:nvPr/>
        </p:nvSpPr>
        <p:spPr>
          <a:xfrm>
            <a:off x="10498036" y="5408425"/>
            <a:ext cx="99309" cy="99309"/>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6F72777A-0462-354C-B30F-10ADF957B9E9}"/>
                  </a:ext>
                </a:extLst>
              </p:cNvPr>
              <p:cNvSpPr/>
              <p:nvPr/>
            </p:nvSpPr>
            <p:spPr>
              <a:xfrm>
                <a:off x="3442421" y="1512753"/>
                <a:ext cx="5307158" cy="646331"/>
              </a:xfrm>
              <a:prstGeom prst="rect">
                <a:avLst/>
              </a:prstGeom>
            </p:spPr>
            <p:txBody>
              <a:bodyPr wrap="none">
                <a:spAutoFit/>
              </a:bodyPr>
              <a:lstStyle/>
              <a:p>
                <a14:m>
                  <m:oMath xmlns:m="http://schemas.openxmlformats.org/officeDocument/2006/math">
                    <m:sSup>
                      <m:sSupPr>
                        <m:ctrlPr>
                          <a:rPr lang="en-US" sz="3600" i="1" smtClean="0">
                            <a:solidFill>
                              <a:srgbClr val="002060"/>
                            </a:solidFill>
                            <a:latin typeface="Cambria Math" panose="02040503050406030204" pitchFamily="18" charset="0"/>
                            <a:ea typeface="Cambria Math" panose="02040503050406030204" pitchFamily="18" charset="0"/>
                          </a:rPr>
                        </m:ctrlPr>
                      </m:sSupPr>
                      <m:e>
                        <m:r>
                          <a:rPr lang="en-US" sz="3600" b="0" i="1">
                            <a:solidFill>
                              <a:srgbClr val="002060"/>
                            </a:solidFill>
                            <a:latin typeface="Cambria Math" panose="02040503050406030204" pitchFamily="18" charset="0"/>
                            <a:ea typeface="Cambria Math" panose="02040503050406030204" pitchFamily="18" charset="0"/>
                          </a:rPr>
                          <m:t>𝑧</m:t>
                        </m:r>
                      </m:e>
                      <m:sup>
                        <m:r>
                          <a:rPr lang="en-US" sz="3600" b="0" i="1">
                            <a:solidFill>
                              <a:srgbClr val="002060"/>
                            </a:solidFill>
                            <a:latin typeface="Cambria Math" panose="02040503050406030204" pitchFamily="18" charset="0"/>
                            <a:ea typeface="Cambria Math" panose="02040503050406030204" pitchFamily="18" charset="0"/>
                          </a:rPr>
                          <m:t>𝑛</m:t>
                        </m:r>
                      </m:sup>
                    </m:sSup>
                    <m:r>
                      <a:rPr lang="en-US" sz="3600" b="0" i="1">
                        <a:solidFill>
                          <a:srgbClr val="002060"/>
                        </a:solidFill>
                        <a:latin typeface="Cambria Math" panose="02040503050406030204" pitchFamily="18" charset="0"/>
                        <a:ea typeface="Cambria Math" panose="02040503050406030204" pitchFamily="18" charset="0"/>
                      </a:rPr>
                      <m:t>=1</m:t>
                    </m:r>
                  </m:oMath>
                </a14:m>
                <a:r>
                  <a:rPr lang="en-US" sz="3600" dirty="0"/>
                  <a:t>,        </a:t>
                </a:r>
                <a14:m>
                  <m:oMath xmlns:m="http://schemas.openxmlformats.org/officeDocument/2006/math">
                    <m:r>
                      <a:rPr lang="en-US" sz="3600" b="0" i="1">
                        <a:solidFill>
                          <a:srgbClr val="002060"/>
                        </a:solidFill>
                        <a:latin typeface="Cambria Math" panose="02040503050406030204" pitchFamily="18" charset="0"/>
                        <a:ea typeface="Cambria Math" panose="02040503050406030204" pitchFamily="18" charset="0"/>
                      </a:rPr>
                      <m:t>𝑛</m:t>
                    </m:r>
                    <m:r>
                      <a:rPr lang="en-US" sz="3600" b="0">
                        <a:solidFill>
                          <a:srgbClr val="002060"/>
                        </a:solidFill>
                        <a:latin typeface="Cambria Math" panose="02040503050406030204" pitchFamily="18" charset="0"/>
                        <a:ea typeface="Cambria Math" panose="02040503050406030204" pitchFamily="18" charset="0"/>
                      </a:rPr>
                      <m:t>={0,1,2,</m:t>
                    </m:r>
                    <m:r>
                      <a:rPr lang="en-US" sz="3600" b="0" i="1">
                        <a:solidFill>
                          <a:srgbClr val="002060"/>
                        </a:solidFill>
                        <a:latin typeface="Cambria Math" panose="02040503050406030204" pitchFamily="18" charset="0"/>
                        <a:ea typeface="Cambria Math" panose="02040503050406030204" pitchFamily="18" charset="0"/>
                      </a:rPr>
                      <m:t>⋯</m:t>
                    </m:r>
                    <m:r>
                      <a:rPr lang="en-US" sz="3600" b="0">
                        <a:solidFill>
                          <a:srgbClr val="002060"/>
                        </a:solidFill>
                        <a:latin typeface="Cambria Math" panose="02040503050406030204" pitchFamily="18" charset="0"/>
                        <a:ea typeface="Cambria Math" panose="02040503050406030204" pitchFamily="18" charset="0"/>
                      </a:rPr>
                      <m:t>}</m:t>
                    </m:r>
                  </m:oMath>
                </a14:m>
                <a:endParaRPr lang="en-US" sz="3600" dirty="0"/>
              </a:p>
            </p:txBody>
          </p:sp>
        </mc:Choice>
        <mc:Fallback xmlns="">
          <p:sp>
            <p:nvSpPr>
              <p:cNvPr id="30" name="Rectangle 29">
                <a:extLst>
                  <a:ext uri="{FF2B5EF4-FFF2-40B4-BE49-F238E27FC236}">
                    <a16:creationId xmlns:a16="http://schemas.microsoft.com/office/drawing/2014/main" id="{6F72777A-0462-354C-B30F-10ADF957B9E9}"/>
                  </a:ext>
                </a:extLst>
              </p:cNvPr>
              <p:cNvSpPr>
                <a:spLocks noRot="1" noChangeAspect="1" noMove="1" noResize="1" noEditPoints="1" noAdjustHandles="1" noChangeArrowheads="1" noChangeShapeType="1" noTextEdit="1"/>
              </p:cNvSpPr>
              <p:nvPr/>
            </p:nvSpPr>
            <p:spPr>
              <a:xfrm>
                <a:off x="3442421" y="1512753"/>
                <a:ext cx="5307158" cy="646331"/>
              </a:xfrm>
              <a:prstGeom prst="rect">
                <a:avLst/>
              </a:prstGeom>
              <a:blipFill>
                <a:blip r:embed="rId3"/>
                <a:stretch>
                  <a:fillRect l="-239" t="-13462" r="-1193" b="-32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61F644D5-C38B-0F46-B290-D828C62B5EEB}"/>
                  </a:ext>
                </a:extLst>
              </p:cNvPr>
              <p:cNvSpPr txBox="1"/>
              <p:nvPr/>
            </p:nvSpPr>
            <p:spPr>
              <a:xfrm>
                <a:off x="837663" y="5653021"/>
                <a:ext cx="1163973" cy="646331"/>
              </a:xfrm>
              <a:prstGeom prst="rect">
                <a:avLst/>
              </a:prstGeom>
              <a:noFill/>
            </p:spPr>
            <p:txBody>
              <a:bodyPr wrap="none" rtlCol="0">
                <a:spAutoFit/>
              </a:bodyPr>
              <a:lstStyle/>
              <a:p>
                <a14:m>
                  <m:oMath xmlns:m="http://schemas.openxmlformats.org/officeDocument/2006/math">
                    <m:r>
                      <a:rPr lang="en-US" sz="3600" i="1">
                        <a:solidFill>
                          <a:srgbClr val="002060"/>
                        </a:solidFill>
                        <a:latin typeface="Cambria Math" panose="02040503050406030204" pitchFamily="18" charset="0"/>
                        <a:ea typeface="Cambria Math" panose="02040503050406030204" pitchFamily="18" charset="0"/>
                      </a:rPr>
                      <m:t>𝑛</m:t>
                    </m:r>
                    <m:r>
                      <a:rPr lang="en-US" sz="3600">
                        <a:solidFill>
                          <a:srgbClr val="002060"/>
                        </a:solidFill>
                        <a:latin typeface="Cambria Math" panose="02040503050406030204" pitchFamily="18" charset="0"/>
                        <a:ea typeface="Cambria Math" panose="02040503050406030204" pitchFamily="18" charset="0"/>
                      </a:rPr>
                      <m:t>=</m:t>
                    </m:r>
                  </m:oMath>
                </a14:m>
                <a:r>
                  <a:rPr lang="en-US" sz="3600" dirty="0"/>
                  <a:t>1</a:t>
                </a:r>
              </a:p>
            </p:txBody>
          </p:sp>
        </mc:Choice>
        <mc:Fallback xmlns="">
          <p:sp>
            <p:nvSpPr>
              <p:cNvPr id="32" name="TextBox 31">
                <a:extLst>
                  <a:ext uri="{FF2B5EF4-FFF2-40B4-BE49-F238E27FC236}">
                    <a16:creationId xmlns:a16="http://schemas.microsoft.com/office/drawing/2014/main" id="{61F644D5-C38B-0F46-B290-D828C62B5EEB}"/>
                  </a:ext>
                </a:extLst>
              </p:cNvPr>
              <p:cNvSpPr txBox="1">
                <a:spLocks noRot="1" noChangeAspect="1" noMove="1" noResize="1" noEditPoints="1" noAdjustHandles="1" noChangeArrowheads="1" noChangeShapeType="1" noTextEdit="1"/>
              </p:cNvSpPr>
              <p:nvPr/>
            </p:nvSpPr>
            <p:spPr>
              <a:xfrm>
                <a:off x="837663" y="5653021"/>
                <a:ext cx="1163973" cy="646331"/>
              </a:xfrm>
              <a:prstGeom prst="rect">
                <a:avLst/>
              </a:prstGeom>
              <a:blipFill>
                <a:blip r:embed="rId4"/>
                <a:stretch>
                  <a:fillRect l="-1075" t="-13462" r="-13978" b="-32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1E9E4993-822D-4C4F-A69D-357E06BF1343}"/>
                  </a:ext>
                </a:extLst>
              </p:cNvPr>
              <p:cNvSpPr txBox="1"/>
              <p:nvPr/>
            </p:nvSpPr>
            <p:spPr>
              <a:xfrm>
                <a:off x="3893873" y="5653020"/>
                <a:ext cx="1417247"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i="1" smtClean="0">
                          <a:solidFill>
                            <a:srgbClr val="002060"/>
                          </a:solidFill>
                          <a:latin typeface="Cambria Math" panose="02040503050406030204" pitchFamily="18" charset="0"/>
                          <a:ea typeface="Cambria Math" panose="02040503050406030204" pitchFamily="18" charset="0"/>
                        </a:rPr>
                        <m:t>𝑛</m:t>
                      </m:r>
                      <m:r>
                        <a:rPr lang="en-US" sz="3600">
                          <a:solidFill>
                            <a:srgbClr val="002060"/>
                          </a:solidFill>
                          <a:latin typeface="Cambria Math" panose="02040503050406030204" pitchFamily="18" charset="0"/>
                          <a:ea typeface="Cambria Math" panose="02040503050406030204" pitchFamily="18" charset="0"/>
                        </a:rPr>
                        <m:t>=</m:t>
                      </m:r>
                      <m:r>
                        <a:rPr lang="en-US" sz="3600" b="0" i="0" smtClean="0">
                          <a:solidFill>
                            <a:srgbClr val="002060"/>
                          </a:solidFill>
                          <a:latin typeface="Cambria Math" panose="02040503050406030204" pitchFamily="18" charset="0"/>
                          <a:ea typeface="Cambria Math" panose="02040503050406030204" pitchFamily="18" charset="0"/>
                        </a:rPr>
                        <m:t>2</m:t>
                      </m:r>
                    </m:oMath>
                  </m:oMathPara>
                </a14:m>
                <a:endParaRPr lang="en-US" sz="3600" dirty="0"/>
              </a:p>
            </p:txBody>
          </p:sp>
        </mc:Choice>
        <mc:Fallback xmlns="">
          <p:sp>
            <p:nvSpPr>
              <p:cNvPr id="33" name="TextBox 32">
                <a:extLst>
                  <a:ext uri="{FF2B5EF4-FFF2-40B4-BE49-F238E27FC236}">
                    <a16:creationId xmlns:a16="http://schemas.microsoft.com/office/drawing/2014/main" id="{1E9E4993-822D-4C4F-A69D-357E06BF1343}"/>
                  </a:ext>
                </a:extLst>
              </p:cNvPr>
              <p:cNvSpPr txBox="1">
                <a:spLocks noRot="1" noChangeAspect="1" noMove="1" noResize="1" noEditPoints="1" noAdjustHandles="1" noChangeArrowheads="1" noChangeShapeType="1" noTextEdit="1"/>
              </p:cNvSpPr>
              <p:nvPr/>
            </p:nvSpPr>
            <p:spPr>
              <a:xfrm>
                <a:off x="3893873" y="5653020"/>
                <a:ext cx="1417247" cy="646331"/>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A6973F04-2950-CC44-AC25-14F27BB4814A}"/>
                  </a:ext>
                </a:extLst>
              </p:cNvPr>
              <p:cNvSpPr txBox="1"/>
              <p:nvPr/>
            </p:nvSpPr>
            <p:spPr>
              <a:xfrm>
                <a:off x="6950083" y="5653019"/>
                <a:ext cx="1417247"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i="1" smtClean="0">
                          <a:solidFill>
                            <a:srgbClr val="002060"/>
                          </a:solidFill>
                          <a:latin typeface="Cambria Math" panose="02040503050406030204" pitchFamily="18" charset="0"/>
                          <a:ea typeface="Cambria Math" panose="02040503050406030204" pitchFamily="18" charset="0"/>
                        </a:rPr>
                        <m:t>𝑛</m:t>
                      </m:r>
                      <m:r>
                        <a:rPr lang="en-US" sz="3600">
                          <a:solidFill>
                            <a:srgbClr val="002060"/>
                          </a:solidFill>
                          <a:latin typeface="Cambria Math" panose="02040503050406030204" pitchFamily="18" charset="0"/>
                          <a:ea typeface="Cambria Math" panose="02040503050406030204" pitchFamily="18" charset="0"/>
                        </a:rPr>
                        <m:t>=</m:t>
                      </m:r>
                      <m:r>
                        <a:rPr lang="en-US" sz="3600" b="0" i="0" smtClean="0">
                          <a:solidFill>
                            <a:srgbClr val="002060"/>
                          </a:solidFill>
                          <a:latin typeface="Cambria Math" panose="02040503050406030204" pitchFamily="18" charset="0"/>
                          <a:ea typeface="Cambria Math" panose="02040503050406030204" pitchFamily="18" charset="0"/>
                        </a:rPr>
                        <m:t>3</m:t>
                      </m:r>
                    </m:oMath>
                  </m:oMathPara>
                </a14:m>
                <a:endParaRPr lang="en-US" sz="3600" dirty="0"/>
              </a:p>
            </p:txBody>
          </p:sp>
        </mc:Choice>
        <mc:Fallback xmlns="">
          <p:sp>
            <p:nvSpPr>
              <p:cNvPr id="34" name="TextBox 33">
                <a:extLst>
                  <a:ext uri="{FF2B5EF4-FFF2-40B4-BE49-F238E27FC236}">
                    <a16:creationId xmlns:a16="http://schemas.microsoft.com/office/drawing/2014/main" id="{A6973F04-2950-CC44-AC25-14F27BB4814A}"/>
                  </a:ext>
                </a:extLst>
              </p:cNvPr>
              <p:cNvSpPr txBox="1">
                <a:spLocks noRot="1" noChangeAspect="1" noMove="1" noResize="1" noEditPoints="1" noAdjustHandles="1" noChangeArrowheads="1" noChangeShapeType="1" noTextEdit="1"/>
              </p:cNvSpPr>
              <p:nvPr/>
            </p:nvSpPr>
            <p:spPr>
              <a:xfrm>
                <a:off x="6950083" y="5653019"/>
                <a:ext cx="1417247" cy="64633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97E6FE48-783F-0C44-95B3-142183891892}"/>
                  </a:ext>
                </a:extLst>
              </p:cNvPr>
              <p:cNvSpPr txBox="1"/>
              <p:nvPr/>
            </p:nvSpPr>
            <p:spPr>
              <a:xfrm>
                <a:off x="9880072" y="5647281"/>
                <a:ext cx="1417247"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i="1" smtClean="0">
                          <a:solidFill>
                            <a:srgbClr val="002060"/>
                          </a:solidFill>
                          <a:latin typeface="Cambria Math" panose="02040503050406030204" pitchFamily="18" charset="0"/>
                          <a:ea typeface="Cambria Math" panose="02040503050406030204" pitchFamily="18" charset="0"/>
                        </a:rPr>
                        <m:t>𝑛</m:t>
                      </m:r>
                      <m:r>
                        <a:rPr lang="en-US" sz="3600">
                          <a:solidFill>
                            <a:srgbClr val="002060"/>
                          </a:solidFill>
                          <a:latin typeface="Cambria Math" panose="02040503050406030204" pitchFamily="18" charset="0"/>
                          <a:ea typeface="Cambria Math" panose="02040503050406030204" pitchFamily="18" charset="0"/>
                        </a:rPr>
                        <m:t>=</m:t>
                      </m:r>
                      <m:r>
                        <a:rPr lang="en-US" sz="3600" b="0" i="0" smtClean="0">
                          <a:solidFill>
                            <a:srgbClr val="002060"/>
                          </a:solidFill>
                          <a:latin typeface="Cambria Math" panose="02040503050406030204" pitchFamily="18" charset="0"/>
                          <a:ea typeface="Cambria Math" panose="02040503050406030204" pitchFamily="18" charset="0"/>
                        </a:rPr>
                        <m:t>4</m:t>
                      </m:r>
                    </m:oMath>
                  </m:oMathPara>
                </a14:m>
                <a:endParaRPr lang="en-US" sz="3600" dirty="0"/>
              </a:p>
            </p:txBody>
          </p:sp>
        </mc:Choice>
        <mc:Fallback xmlns="">
          <p:sp>
            <p:nvSpPr>
              <p:cNvPr id="35" name="TextBox 34">
                <a:extLst>
                  <a:ext uri="{FF2B5EF4-FFF2-40B4-BE49-F238E27FC236}">
                    <a16:creationId xmlns:a16="http://schemas.microsoft.com/office/drawing/2014/main" id="{97E6FE48-783F-0C44-95B3-142183891892}"/>
                  </a:ext>
                </a:extLst>
              </p:cNvPr>
              <p:cNvSpPr txBox="1">
                <a:spLocks noRot="1" noChangeAspect="1" noMove="1" noResize="1" noEditPoints="1" noAdjustHandles="1" noChangeArrowheads="1" noChangeShapeType="1" noTextEdit="1"/>
              </p:cNvSpPr>
              <p:nvPr/>
            </p:nvSpPr>
            <p:spPr>
              <a:xfrm>
                <a:off x="9880072" y="5647281"/>
                <a:ext cx="1417247" cy="64633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210B2BB2-32D5-FB44-BCDA-F27AF2F1404E}"/>
                  </a:ext>
                </a:extLst>
              </p:cNvPr>
              <p:cNvSpPr txBox="1"/>
              <p:nvPr/>
            </p:nvSpPr>
            <p:spPr>
              <a:xfrm>
                <a:off x="2514075" y="4439248"/>
                <a:ext cx="50392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2060"/>
                          </a:solidFill>
                          <a:latin typeface="Cambria Math" panose="02040503050406030204" pitchFamily="18" charset="0"/>
                          <a:ea typeface="Cambria Math" panose="02040503050406030204" pitchFamily="18" charset="0"/>
                        </a:rPr>
                        <m:t>𝑅𝑒</m:t>
                      </m:r>
                    </m:oMath>
                  </m:oMathPara>
                </a14:m>
                <a:endParaRPr lang="en-US" dirty="0"/>
              </a:p>
            </p:txBody>
          </p:sp>
        </mc:Choice>
        <mc:Fallback xmlns="">
          <p:sp>
            <p:nvSpPr>
              <p:cNvPr id="52" name="TextBox 51">
                <a:extLst>
                  <a:ext uri="{FF2B5EF4-FFF2-40B4-BE49-F238E27FC236}">
                    <a16:creationId xmlns:a16="http://schemas.microsoft.com/office/drawing/2014/main" id="{210B2BB2-32D5-FB44-BCDA-F27AF2F1404E}"/>
                  </a:ext>
                </a:extLst>
              </p:cNvPr>
              <p:cNvSpPr txBox="1">
                <a:spLocks noRot="1" noChangeAspect="1" noMove="1" noResize="1" noEditPoints="1" noAdjustHandles="1" noChangeArrowheads="1" noChangeShapeType="1" noTextEdit="1"/>
              </p:cNvSpPr>
              <p:nvPr/>
            </p:nvSpPr>
            <p:spPr>
              <a:xfrm>
                <a:off x="2514075" y="4439248"/>
                <a:ext cx="503921"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A7154665-E429-8F49-9008-F9E05042A750}"/>
                  </a:ext>
                </a:extLst>
              </p:cNvPr>
              <p:cNvSpPr txBox="1"/>
              <p:nvPr/>
            </p:nvSpPr>
            <p:spPr>
              <a:xfrm>
                <a:off x="923143" y="2790931"/>
                <a:ext cx="52367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2060"/>
                          </a:solidFill>
                          <a:latin typeface="Cambria Math" panose="02040503050406030204" pitchFamily="18" charset="0"/>
                          <a:ea typeface="Cambria Math" panose="02040503050406030204" pitchFamily="18" charset="0"/>
                        </a:rPr>
                        <m:t>𝐼𝑚</m:t>
                      </m:r>
                    </m:oMath>
                  </m:oMathPara>
                </a14:m>
                <a:endParaRPr lang="en-US" dirty="0"/>
              </a:p>
            </p:txBody>
          </p:sp>
        </mc:Choice>
        <mc:Fallback xmlns="">
          <p:sp>
            <p:nvSpPr>
              <p:cNvPr id="53" name="TextBox 52">
                <a:extLst>
                  <a:ext uri="{FF2B5EF4-FFF2-40B4-BE49-F238E27FC236}">
                    <a16:creationId xmlns:a16="http://schemas.microsoft.com/office/drawing/2014/main" id="{A7154665-E429-8F49-9008-F9E05042A750}"/>
                  </a:ext>
                </a:extLst>
              </p:cNvPr>
              <p:cNvSpPr txBox="1">
                <a:spLocks noRot="1" noChangeAspect="1" noMove="1" noResize="1" noEditPoints="1" noAdjustHandles="1" noChangeArrowheads="1" noChangeShapeType="1" noTextEdit="1"/>
              </p:cNvSpPr>
              <p:nvPr/>
            </p:nvSpPr>
            <p:spPr>
              <a:xfrm>
                <a:off x="923143" y="2790931"/>
                <a:ext cx="523670" cy="369332"/>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774652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10A2F-90E7-BA4A-A5FD-EC218538C250}"/>
              </a:ext>
            </a:extLst>
          </p:cNvPr>
          <p:cNvSpPr>
            <a:spLocks noGrp="1"/>
          </p:cNvSpPr>
          <p:nvPr>
            <p:ph type="title"/>
          </p:nvPr>
        </p:nvSpPr>
        <p:spPr>
          <a:xfrm>
            <a:off x="0" y="0"/>
            <a:ext cx="12192000" cy="928688"/>
          </a:xfrm>
        </p:spPr>
        <p:txBody>
          <a:bodyPr/>
          <a:lstStyle/>
          <a:p>
            <a:r>
              <a:rPr lang="en-ZA" dirty="0"/>
              <a:t>n-</a:t>
            </a:r>
            <a:r>
              <a:rPr lang="en-ZA" dirty="0" err="1"/>
              <a:t>th</a:t>
            </a:r>
            <a:r>
              <a:rPr lang="en-ZA" dirty="0"/>
              <a:t> roots of unity</a:t>
            </a:r>
            <a:endParaRPr lang="en-US" dirty="0"/>
          </a:p>
        </p:txBody>
      </p:sp>
      <p:sp>
        <p:nvSpPr>
          <p:cNvPr id="3" name="Slide Number Placeholder 2">
            <a:extLst>
              <a:ext uri="{FF2B5EF4-FFF2-40B4-BE49-F238E27FC236}">
                <a16:creationId xmlns:a16="http://schemas.microsoft.com/office/drawing/2014/main" id="{D9872124-7A33-9443-8FF5-387643132050}"/>
              </a:ext>
            </a:extLst>
          </p:cNvPr>
          <p:cNvSpPr>
            <a:spLocks noGrp="1"/>
          </p:cNvSpPr>
          <p:nvPr>
            <p:ph type="sldNum" sz="quarter" idx="12"/>
          </p:nvPr>
        </p:nvSpPr>
        <p:spPr/>
        <p:txBody>
          <a:bodyPr/>
          <a:lstStyle/>
          <a:p>
            <a:fld id="{591A223C-FA10-BC46-A853-03BA373D023C}" type="slidenum">
              <a:rPr lang="en-US" smtClean="0"/>
              <a:t>15</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435017A-790F-3448-B02E-737AAC06EE28}"/>
                  </a:ext>
                </a:extLst>
              </p:cNvPr>
              <p:cNvSpPr/>
              <p:nvPr/>
            </p:nvSpPr>
            <p:spPr>
              <a:xfrm>
                <a:off x="2139128" y="1380802"/>
                <a:ext cx="1479700"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3200" b="1" i="1" smtClean="0">
                              <a:solidFill>
                                <a:srgbClr val="002060"/>
                              </a:solidFill>
                              <a:latin typeface="Cambria Math" panose="02040503050406030204" pitchFamily="18" charset="0"/>
                              <a:ea typeface="Cambria Math" panose="02040503050406030204" pitchFamily="18" charset="0"/>
                            </a:rPr>
                          </m:ctrlPr>
                        </m:sSupPr>
                        <m:e>
                          <m:r>
                            <a:rPr lang="en-US" sz="3200" b="1" i="1">
                              <a:solidFill>
                                <a:srgbClr val="002060"/>
                              </a:solidFill>
                              <a:latin typeface="Cambria Math" panose="02040503050406030204" pitchFamily="18" charset="0"/>
                              <a:ea typeface="Cambria Math" panose="02040503050406030204" pitchFamily="18" charset="0"/>
                            </a:rPr>
                            <m:t>𝒛</m:t>
                          </m:r>
                        </m:e>
                        <m:sup>
                          <m:r>
                            <a:rPr lang="en-US" sz="3200" b="1" i="1">
                              <a:solidFill>
                                <a:srgbClr val="002060"/>
                              </a:solidFill>
                              <a:latin typeface="Cambria Math" panose="02040503050406030204" pitchFamily="18" charset="0"/>
                              <a:ea typeface="Cambria Math" panose="02040503050406030204" pitchFamily="18" charset="0"/>
                            </a:rPr>
                            <m:t>𝒏</m:t>
                          </m:r>
                        </m:sup>
                      </m:sSup>
                      <m:r>
                        <a:rPr lang="en-US" sz="3200" b="1" i="1">
                          <a:solidFill>
                            <a:srgbClr val="002060"/>
                          </a:solidFill>
                          <a:latin typeface="Cambria Math" panose="02040503050406030204" pitchFamily="18" charset="0"/>
                          <a:ea typeface="Cambria Math" panose="02040503050406030204" pitchFamily="18" charset="0"/>
                        </a:rPr>
                        <m:t>=</m:t>
                      </m:r>
                      <m:r>
                        <a:rPr lang="en-US" sz="3200" b="1" i="1">
                          <a:solidFill>
                            <a:srgbClr val="002060"/>
                          </a:solidFill>
                          <a:latin typeface="Cambria Math" panose="02040503050406030204" pitchFamily="18" charset="0"/>
                          <a:ea typeface="Cambria Math" panose="02040503050406030204" pitchFamily="18" charset="0"/>
                        </a:rPr>
                        <m:t>𝟏</m:t>
                      </m:r>
                    </m:oMath>
                  </m:oMathPara>
                </a14:m>
                <a:endParaRPr lang="en-US" sz="3200" b="1" dirty="0"/>
              </a:p>
            </p:txBody>
          </p:sp>
        </mc:Choice>
        <mc:Fallback xmlns="">
          <p:sp>
            <p:nvSpPr>
              <p:cNvPr id="4" name="Rectangle 3">
                <a:extLst>
                  <a:ext uri="{FF2B5EF4-FFF2-40B4-BE49-F238E27FC236}">
                    <a16:creationId xmlns:a16="http://schemas.microsoft.com/office/drawing/2014/main" id="{F435017A-790F-3448-B02E-737AAC06EE28}"/>
                  </a:ext>
                </a:extLst>
              </p:cNvPr>
              <p:cNvSpPr>
                <a:spLocks noRot="1" noChangeAspect="1" noMove="1" noResize="1" noEditPoints="1" noAdjustHandles="1" noChangeArrowheads="1" noChangeShapeType="1" noTextEdit="1"/>
              </p:cNvSpPr>
              <p:nvPr/>
            </p:nvSpPr>
            <p:spPr>
              <a:xfrm>
                <a:off x="2139128" y="1380802"/>
                <a:ext cx="1479700" cy="584775"/>
              </a:xfrm>
              <a:prstGeom prst="rect">
                <a:avLst/>
              </a:prstGeom>
              <a:blipFill>
                <a:blip r:embed="rId3"/>
                <a:stretch>
                  <a:fillRect/>
                </a:stretch>
              </a:blipFill>
            </p:spPr>
            <p:txBody>
              <a:bodyPr/>
              <a:lstStyle/>
              <a:p>
                <a:r>
                  <a:rPr lang="en-US">
                    <a:noFill/>
                  </a:rPr>
                  <a:t> </a:t>
                </a:r>
              </a:p>
            </p:txBody>
          </p:sp>
        </mc:Fallback>
      </mc:AlternateContent>
      <p:sp>
        <p:nvSpPr>
          <p:cNvPr id="65" name="Rectangle 64">
            <a:extLst>
              <a:ext uri="{FF2B5EF4-FFF2-40B4-BE49-F238E27FC236}">
                <a16:creationId xmlns:a16="http://schemas.microsoft.com/office/drawing/2014/main" id="{B52C8FFD-D1F1-A248-9D98-3D3D90230305}"/>
              </a:ext>
            </a:extLst>
          </p:cNvPr>
          <p:cNvSpPr/>
          <p:nvPr/>
        </p:nvSpPr>
        <p:spPr>
          <a:xfrm>
            <a:off x="55172" y="4177898"/>
            <a:ext cx="266420" cy="523220"/>
          </a:xfrm>
          <a:prstGeom prst="rect">
            <a:avLst/>
          </a:prstGeom>
        </p:spPr>
        <p:txBody>
          <a:bodyPr wrap="none">
            <a:spAutoFit/>
          </a:bodyPr>
          <a:lstStyle/>
          <a:p>
            <a:r>
              <a:rPr lang="en-US" sz="2800" dirty="0"/>
              <a:t> </a:t>
            </a:r>
          </a:p>
        </p:txBody>
      </p:sp>
      <mc:AlternateContent xmlns:mc="http://schemas.openxmlformats.org/markup-compatibility/2006" xmlns:a14="http://schemas.microsoft.com/office/drawing/2010/main">
        <mc:Choice Requires="a14">
          <p:sp>
            <p:nvSpPr>
              <p:cNvPr id="64" name="Rectangle 63">
                <a:extLst>
                  <a:ext uri="{FF2B5EF4-FFF2-40B4-BE49-F238E27FC236}">
                    <a16:creationId xmlns:a16="http://schemas.microsoft.com/office/drawing/2014/main" id="{164FF50D-CAE6-0245-B58E-1C0B612D24C2}"/>
                  </a:ext>
                </a:extLst>
              </p:cNvPr>
              <p:cNvSpPr/>
              <p:nvPr/>
            </p:nvSpPr>
            <p:spPr>
              <a:xfrm>
                <a:off x="184546" y="3507783"/>
                <a:ext cx="5186997" cy="7186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rgbClr val="002060"/>
                          </a:solidFill>
                          <a:latin typeface="Cambria Math" panose="02040503050406030204" pitchFamily="18" charset="0"/>
                          <a:ea typeface="Cambria Math" panose="02040503050406030204" pitchFamily="18" charset="0"/>
                        </a:rPr>
                        <m:t>𝑧</m:t>
                      </m:r>
                      <m:r>
                        <a:rPr lang="en-US" sz="2800" b="0" i="1">
                          <a:solidFill>
                            <a:srgbClr val="002060"/>
                          </a:solidFill>
                          <a:latin typeface="Cambria Math" panose="02040503050406030204" pitchFamily="18" charset="0"/>
                          <a:ea typeface="Cambria Math" panose="02040503050406030204" pitchFamily="18" charset="0"/>
                        </a:rPr>
                        <m:t>=</m:t>
                      </m:r>
                      <m:sSup>
                        <m:sSupPr>
                          <m:ctrlPr>
                            <a:rPr lang="en-US" sz="2800" b="0" i="1" smtClean="0">
                              <a:solidFill>
                                <a:srgbClr val="002060"/>
                              </a:solidFill>
                              <a:latin typeface="Cambria Math" panose="02040503050406030204" pitchFamily="18" charset="0"/>
                              <a:ea typeface="Cambria Math" panose="02040503050406030204" pitchFamily="18" charset="0"/>
                            </a:rPr>
                          </m:ctrlPr>
                        </m:sSupPr>
                        <m:e>
                          <m:r>
                            <a:rPr lang="en-US" sz="2800" b="0" i="1" smtClean="0">
                              <a:solidFill>
                                <a:srgbClr val="002060"/>
                              </a:solidFill>
                              <a:latin typeface="Cambria Math" panose="02040503050406030204" pitchFamily="18" charset="0"/>
                              <a:ea typeface="Cambria Math" panose="02040503050406030204" pitchFamily="18" charset="0"/>
                            </a:rPr>
                            <m:t>1</m:t>
                          </m:r>
                        </m:e>
                        <m:sup>
                          <m:f>
                            <m:fPr>
                              <m:ctrlPr>
                                <a:rPr lang="en-US" sz="2800" b="0" i="1" smtClean="0">
                                  <a:solidFill>
                                    <a:srgbClr val="002060"/>
                                  </a:solidFill>
                                  <a:latin typeface="Cambria Math" panose="02040503050406030204" pitchFamily="18" charset="0"/>
                                  <a:ea typeface="Cambria Math" panose="02040503050406030204" pitchFamily="18" charset="0"/>
                                </a:rPr>
                              </m:ctrlPr>
                            </m:fPr>
                            <m:num>
                              <m:r>
                                <a:rPr lang="en-US" sz="2800" b="0" i="1" smtClean="0">
                                  <a:solidFill>
                                    <a:srgbClr val="002060"/>
                                  </a:solidFill>
                                  <a:latin typeface="Cambria Math" panose="02040503050406030204" pitchFamily="18" charset="0"/>
                                  <a:ea typeface="Cambria Math" panose="02040503050406030204" pitchFamily="18" charset="0"/>
                                </a:rPr>
                                <m:t>1</m:t>
                              </m:r>
                            </m:num>
                            <m:den>
                              <m:r>
                                <a:rPr lang="en-US" sz="2800" b="0" i="1" smtClean="0">
                                  <a:solidFill>
                                    <a:srgbClr val="002060"/>
                                  </a:solidFill>
                                  <a:latin typeface="Cambria Math" panose="02040503050406030204" pitchFamily="18" charset="0"/>
                                  <a:ea typeface="Cambria Math" panose="02040503050406030204" pitchFamily="18" charset="0"/>
                                </a:rPr>
                                <m:t>𝑛</m:t>
                              </m:r>
                            </m:den>
                          </m:f>
                        </m:sup>
                      </m:sSup>
                      <m:r>
                        <a:rPr lang="en-US" sz="2800" b="0" i="1" smtClean="0">
                          <a:solidFill>
                            <a:srgbClr val="002060"/>
                          </a:solidFill>
                          <a:latin typeface="Cambria Math" panose="02040503050406030204" pitchFamily="18" charset="0"/>
                          <a:ea typeface="Cambria Math" panose="02040503050406030204" pitchFamily="18" charset="0"/>
                        </a:rPr>
                        <m:t>=</m:t>
                      </m:r>
                      <m:sSup>
                        <m:sSupPr>
                          <m:ctrlPr>
                            <a:rPr lang="en-US" sz="2800" i="1">
                              <a:solidFill>
                                <a:srgbClr val="002060"/>
                              </a:solidFill>
                              <a:latin typeface="Cambria Math" panose="02040503050406030204" pitchFamily="18" charset="0"/>
                              <a:ea typeface="Cambria Math" panose="02040503050406030204" pitchFamily="18" charset="0"/>
                            </a:rPr>
                          </m:ctrlPr>
                        </m:sSupPr>
                        <m:e>
                          <m:d>
                            <m:dPr>
                              <m:ctrlPr>
                                <a:rPr lang="en-US" sz="2800" i="1">
                                  <a:solidFill>
                                    <a:srgbClr val="002060"/>
                                  </a:solidFill>
                                  <a:latin typeface="Cambria Math" panose="02040503050406030204" pitchFamily="18" charset="0"/>
                                  <a:ea typeface="Cambria Math" panose="02040503050406030204" pitchFamily="18" charset="0"/>
                                </a:rPr>
                              </m:ctrlPr>
                            </m:dPr>
                            <m:e>
                              <m:func>
                                <m:funcPr>
                                  <m:ctrlPr>
                                    <a:rPr lang="en-US" sz="2800" i="1">
                                      <a:solidFill>
                                        <a:srgbClr val="002060"/>
                                      </a:solidFill>
                                      <a:latin typeface="Cambria Math" panose="02040503050406030204" pitchFamily="18" charset="0"/>
                                      <a:ea typeface="Cambria Math" panose="02040503050406030204" pitchFamily="18" charset="0"/>
                                    </a:rPr>
                                  </m:ctrlPr>
                                </m:funcPr>
                                <m:fName>
                                  <m:r>
                                    <m:rPr>
                                      <m:sty m:val="p"/>
                                    </m:rPr>
                                    <a:rPr lang="en-US" sz="2800">
                                      <a:solidFill>
                                        <a:srgbClr val="002060"/>
                                      </a:solidFill>
                                      <a:latin typeface="Cambria Math" panose="02040503050406030204" pitchFamily="18" charset="0"/>
                                      <a:ea typeface="Cambria Math" panose="02040503050406030204" pitchFamily="18" charset="0"/>
                                    </a:rPr>
                                    <m:t>cos</m:t>
                                  </m:r>
                                </m:fName>
                                <m:e>
                                  <m:r>
                                    <a:rPr lang="en-US" sz="2800" i="1">
                                      <a:solidFill>
                                        <a:srgbClr val="002060"/>
                                      </a:solidFill>
                                      <a:latin typeface="Cambria Math" panose="02040503050406030204" pitchFamily="18" charset="0"/>
                                      <a:ea typeface="Cambria Math" panose="02040503050406030204" pitchFamily="18" charset="0"/>
                                    </a:rPr>
                                    <m:t>2</m:t>
                                  </m:r>
                                  <m:r>
                                    <a:rPr lang="en-US" sz="2800" i="1">
                                      <a:solidFill>
                                        <a:srgbClr val="002060"/>
                                      </a:solidFill>
                                      <a:latin typeface="Cambria Math" panose="02040503050406030204" pitchFamily="18" charset="0"/>
                                      <a:ea typeface="Cambria Math" panose="02040503050406030204" pitchFamily="18" charset="0"/>
                                    </a:rPr>
                                    <m:t>𝜋</m:t>
                                  </m:r>
                                  <m:r>
                                    <a:rPr lang="en-US" sz="2800" i="1">
                                      <a:solidFill>
                                        <a:srgbClr val="002060"/>
                                      </a:solidFill>
                                      <a:latin typeface="Cambria Math" panose="02040503050406030204" pitchFamily="18" charset="0"/>
                                      <a:ea typeface="Cambria Math" panose="02040503050406030204" pitchFamily="18" charset="0"/>
                                    </a:rPr>
                                    <m:t>𝑘</m:t>
                                  </m:r>
                                  <m:r>
                                    <a:rPr lang="en-US" sz="2800" i="1">
                                      <a:solidFill>
                                        <a:srgbClr val="002060"/>
                                      </a:solidFill>
                                      <a:latin typeface="Cambria Math" panose="02040503050406030204" pitchFamily="18" charset="0"/>
                                      <a:ea typeface="Cambria Math" panose="02040503050406030204" pitchFamily="18" charset="0"/>
                                    </a:rPr>
                                    <m:t>+</m:t>
                                  </m:r>
                                  <m:r>
                                    <a:rPr lang="en-US" sz="2800" i="1">
                                      <a:solidFill>
                                        <a:srgbClr val="002060"/>
                                      </a:solidFill>
                                      <a:latin typeface="Cambria Math" panose="02040503050406030204" pitchFamily="18" charset="0"/>
                                      <a:ea typeface="Cambria Math" panose="02040503050406030204" pitchFamily="18" charset="0"/>
                                    </a:rPr>
                                    <m:t>𝑖</m:t>
                                  </m:r>
                                  <m:func>
                                    <m:funcPr>
                                      <m:ctrlPr>
                                        <a:rPr lang="en-US" sz="2800" i="1">
                                          <a:solidFill>
                                            <a:srgbClr val="002060"/>
                                          </a:solidFill>
                                          <a:latin typeface="Cambria Math" panose="02040503050406030204" pitchFamily="18" charset="0"/>
                                          <a:ea typeface="Cambria Math" panose="02040503050406030204" pitchFamily="18" charset="0"/>
                                        </a:rPr>
                                      </m:ctrlPr>
                                    </m:funcPr>
                                    <m:fName>
                                      <m:r>
                                        <m:rPr>
                                          <m:sty m:val="p"/>
                                        </m:rPr>
                                        <a:rPr lang="en-US" sz="2800">
                                          <a:solidFill>
                                            <a:srgbClr val="002060"/>
                                          </a:solidFill>
                                          <a:latin typeface="Cambria Math" panose="02040503050406030204" pitchFamily="18" charset="0"/>
                                          <a:ea typeface="Cambria Math" panose="02040503050406030204" pitchFamily="18" charset="0"/>
                                        </a:rPr>
                                        <m:t>sin</m:t>
                                      </m:r>
                                    </m:fName>
                                    <m:e>
                                      <m:r>
                                        <a:rPr lang="en-US" sz="2800" i="1">
                                          <a:solidFill>
                                            <a:srgbClr val="002060"/>
                                          </a:solidFill>
                                          <a:latin typeface="Cambria Math" panose="02040503050406030204" pitchFamily="18" charset="0"/>
                                          <a:ea typeface="Cambria Math" panose="02040503050406030204" pitchFamily="18" charset="0"/>
                                        </a:rPr>
                                        <m:t>2</m:t>
                                      </m:r>
                                      <m:r>
                                        <a:rPr lang="en-US" sz="2800" i="1">
                                          <a:solidFill>
                                            <a:srgbClr val="002060"/>
                                          </a:solidFill>
                                          <a:latin typeface="Cambria Math" panose="02040503050406030204" pitchFamily="18" charset="0"/>
                                          <a:ea typeface="Cambria Math" panose="02040503050406030204" pitchFamily="18" charset="0"/>
                                        </a:rPr>
                                        <m:t>𝜋</m:t>
                                      </m:r>
                                      <m:r>
                                        <a:rPr lang="en-US" sz="2800" i="1">
                                          <a:solidFill>
                                            <a:srgbClr val="002060"/>
                                          </a:solidFill>
                                          <a:latin typeface="Cambria Math" panose="02040503050406030204" pitchFamily="18" charset="0"/>
                                          <a:ea typeface="Cambria Math" panose="02040503050406030204" pitchFamily="18" charset="0"/>
                                        </a:rPr>
                                        <m:t>𝑘</m:t>
                                      </m:r>
                                    </m:e>
                                  </m:func>
                                </m:e>
                              </m:func>
                            </m:e>
                          </m:d>
                        </m:e>
                        <m:sup>
                          <m:f>
                            <m:fPr>
                              <m:ctrlPr>
                                <a:rPr lang="en-US" sz="2800" i="1">
                                  <a:solidFill>
                                    <a:srgbClr val="002060"/>
                                  </a:solidFill>
                                  <a:latin typeface="Cambria Math" panose="02040503050406030204" pitchFamily="18" charset="0"/>
                                  <a:ea typeface="Cambria Math" panose="02040503050406030204" pitchFamily="18" charset="0"/>
                                </a:rPr>
                              </m:ctrlPr>
                            </m:fPr>
                            <m:num>
                              <m:r>
                                <a:rPr lang="en-US" sz="2800" i="1">
                                  <a:solidFill>
                                    <a:srgbClr val="002060"/>
                                  </a:solidFill>
                                  <a:latin typeface="Cambria Math" panose="02040503050406030204" pitchFamily="18" charset="0"/>
                                  <a:ea typeface="Cambria Math" panose="02040503050406030204" pitchFamily="18" charset="0"/>
                                </a:rPr>
                                <m:t>1</m:t>
                              </m:r>
                            </m:num>
                            <m:den>
                              <m:r>
                                <a:rPr lang="en-US" sz="2800" i="1">
                                  <a:solidFill>
                                    <a:srgbClr val="002060"/>
                                  </a:solidFill>
                                  <a:latin typeface="Cambria Math" panose="02040503050406030204" pitchFamily="18" charset="0"/>
                                  <a:ea typeface="Cambria Math" panose="02040503050406030204" pitchFamily="18" charset="0"/>
                                </a:rPr>
                                <m:t>𝑛</m:t>
                              </m:r>
                            </m:den>
                          </m:f>
                        </m:sup>
                      </m:sSup>
                    </m:oMath>
                  </m:oMathPara>
                </a14:m>
                <a:endParaRPr lang="en-US" sz="2800" i="1" dirty="0"/>
              </a:p>
            </p:txBody>
          </p:sp>
        </mc:Choice>
        <mc:Fallback xmlns="">
          <p:sp>
            <p:nvSpPr>
              <p:cNvPr id="64" name="Rectangle 63">
                <a:extLst>
                  <a:ext uri="{FF2B5EF4-FFF2-40B4-BE49-F238E27FC236}">
                    <a16:creationId xmlns:a16="http://schemas.microsoft.com/office/drawing/2014/main" id="{164FF50D-CAE6-0245-B58E-1C0B612D24C2}"/>
                  </a:ext>
                </a:extLst>
              </p:cNvPr>
              <p:cNvSpPr>
                <a:spLocks noRot="1" noChangeAspect="1" noMove="1" noResize="1" noEditPoints="1" noAdjustHandles="1" noChangeArrowheads="1" noChangeShapeType="1" noTextEdit="1"/>
              </p:cNvSpPr>
              <p:nvPr/>
            </p:nvSpPr>
            <p:spPr>
              <a:xfrm>
                <a:off x="184546" y="3507783"/>
                <a:ext cx="5186997" cy="718658"/>
              </a:xfrm>
              <a:prstGeom prst="rect">
                <a:avLst/>
              </a:prstGeom>
              <a:blipFill>
                <a:blip r:embed="rId4"/>
                <a:stretch>
                  <a:fillRect/>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5505333C-E6A8-3540-BF28-5B5229C36BB8}"/>
              </a:ext>
            </a:extLst>
          </p:cNvPr>
          <p:cNvGrpSpPr/>
          <p:nvPr/>
        </p:nvGrpSpPr>
        <p:grpSpPr>
          <a:xfrm>
            <a:off x="184546" y="4516090"/>
            <a:ext cx="11615424" cy="1584149"/>
            <a:chOff x="212035" y="4494151"/>
            <a:chExt cx="11615424" cy="1584149"/>
          </a:xfrm>
        </p:grpSpPr>
        <mc:AlternateContent xmlns:mc="http://schemas.openxmlformats.org/markup-compatibility/2006" xmlns:a14="http://schemas.microsoft.com/office/drawing/2010/main">
          <mc:Choice Requires="a14">
            <p:sp>
              <p:nvSpPr>
                <p:cNvPr id="66" name="Rectangle 65">
                  <a:extLst>
                    <a:ext uri="{FF2B5EF4-FFF2-40B4-BE49-F238E27FC236}">
                      <a16:creationId xmlns:a16="http://schemas.microsoft.com/office/drawing/2014/main" id="{46DC6D33-4E3D-DA4D-BCA4-F89A27A920B6}"/>
                    </a:ext>
                  </a:extLst>
                </p:cNvPr>
                <p:cNvSpPr/>
                <p:nvPr/>
              </p:nvSpPr>
              <p:spPr>
                <a:xfrm>
                  <a:off x="212035" y="4494151"/>
                  <a:ext cx="913724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80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m:rPr>
                                <m:nor/>
                              </m:rPr>
                              <a:rPr lang="en-ZA" sz="2800" dirty="0">
                                <a:solidFill>
                                  <a:schemeClr val="tx1">
                                    <a:lumMod val="50000"/>
                                    <a:lumOff val="50000"/>
                                  </a:schemeClr>
                                </a:solidFill>
                              </a:rPr>
                              <m:t>De</m:t>
                            </m:r>
                            <m:r>
                              <m:rPr>
                                <m:nor/>
                              </m:rPr>
                              <a:rPr lang="en-ZA" sz="2800" dirty="0">
                                <a:solidFill>
                                  <a:schemeClr val="tx1">
                                    <a:lumMod val="50000"/>
                                    <a:lumOff val="50000"/>
                                  </a:schemeClr>
                                </a:solidFill>
                              </a:rPr>
                              <m:t> </m:t>
                            </m:r>
                            <m:r>
                              <m:rPr>
                                <m:nor/>
                              </m:rPr>
                              <a:rPr lang="en-ZA" sz="2800" dirty="0">
                                <a:solidFill>
                                  <a:schemeClr val="tx1">
                                    <a:lumMod val="50000"/>
                                    <a:lumOff val="50000"/>
                                  </a:schemeClr>
                                </a:solidFill>
                              </a:rPr>
                              <m:t>Moivre</m:t>
                            </m:r>
                            <m:r>
                              <m:rPr>
                                <m:nor/>
                              </m:rPr>
                              <a:rPr lang="en-ZA" sz="2800" dirty="0">
                                <a:solidFill>
                                  <a:schemeClr val="tx1">
                                    <a:lumMod val="50000"/>
                                    <a:lumOff val="50000"/>
                                  </a:schemeClr>
                                </a:solidFill>
                              </a:rPr>
                              <m:t>’</m:t>
                            </m:r>
                            <m:r>
                              <m:rPr>
                                <m:nor/>
                              </m:rPr>
                              <a:rPr lang="en-ZA" sz="2800" dirty="0">
                                <a:solidFill>
                                  <a:schemeClr val="tx1">
                                    <a:lumMod val="50000"/>
                                    <a:lumOff val="50000"/>
                                  </a:schemeClr>
                                </a:solidFill>
                              </a:rPr>
                              <m:t>s</m:t>
                            </m:r>
                            <m:r>
                              <m:rPr>
                                <m:nor/>
                              </m:rPr>
                              <a:rPr lang="en-ZA" sz="2800" dirty="0">
                                <a:solidFill>
                                  <a:schemeClr val="tx1">
                                    <a:lumMod val="50000"/>
                                    <a:lumOff val="50000"/>
                                  </a:schemeClr>
                                </a:solidFill>
                              </a:rPr>
                              <m:t> </m:t>
                            </m:r>
                            <m:r>
                              <m:rPr>
                                <m:nor/>
                              </m:rPr>
                              <a:rPr lang="en-US" sz="2800" b="0" i="0" dirty="0" smtClean="0">
                                <a:solidFill>
                                  <a:schemeClr val="tx1">
                                    <a:lumMod val="50000"/>
                                    <a:lumOff val="50000"/>
                                  </a:schemeClr>
                                </a:solidFill>
                              </a:rPr>
                              <m:t>theorem</m:t>
                            </m:r>
                            <m:r>
                              <m:rPr>
                                <m:nor/>
                              </m:rPr>
                              <a:rPr lang="en-US" sz="2800" dirty="0">
                                <a:solidFill>
                                  <a:schemeClr val="tx1">
                                    <a:lumMod val="50000"/>
                                    <a:lumOff val="50000"/>
                                  </a:schemeClr>
                                </a:solidFill>
                                <a:latin typeface="+mj-lt"/>
                              </a:rPr>
                              <m:t>:</m:t>
                            </m:r>
                            <m:r>
                              <a:rPr lang="en-US" sz="2800" b="0" i="1" dirty="0" smtClean="0">
                                <a:solidFill>
                                  <a:schemeClr val="tx1">
                                    <a:lumMod val="50000"/>
                                    <a:lumOff val="50000"/>
                                  </a:schemeClr>
                                </a:solidFill>
                                <a:latin typeface="Cambria Math" panose="02040503050406030204" pitchFamily="18" charset="0"/>
                              </a:rPr>
                              <m:t>  </m:t>
                            </m:r>
                            <m:d>
                              <m:dPr>
                                <m:ctrlPr>
                                  <a:rPr lang="en-US" sz="2800" i="1">
                                    <a:solidFill>
                                      <a:schemeClr val="tx1">
                                        <a:lumMod val="50000"/>
                                        <a:lumOff val="50000"/>
                                      </a:schemeClr>
                                    </a:solidFill>
                                    <a:latin typeface="Cambria Math" panose="02040503050406030204" pitchFamily="18" charset="0"/>
                                    <a:ea typeface="Cambria Math" panose="02040503050406030204" pitchFamily="18" charset="0"/>
                                  </a:rPr>
                                </m:ctrlPr>
                              </m:dPr>
                              <m:e>
                                <m:func>
                                  <m:funcPr>
                                    <m:ctrlPr>
                                      <a:rPr lang="en-US" sz="2800" i="1">
                                        <a:solidFill>
                                          <a:schemeClr val="tx1">
                                            <a:lumMod val="50000"/>
                                            <a:lumOff val="50000"/>
                                          </a:schemeClr>
                                        </a:solidFill>
                                        <a:latin typeface="Cambria Math" panose="02040503050406030204" pitchFamily="18" charset="0"/>
                                        <a:ea typeface="Cambria Math" panose="02040503050406030204" pitchFamily="18" charset="0"/>
                                      </a:rPr>
                                    </m:ctrlPr>
                                  </m:funcPr>
                                  <m:fName>
                                    <m:r>
                                      <m:rPr>
                                        <m:sty m:val="p"/>
                                      </m:rPr>
                                      <a:rPr lang="en-US" sz="2800">
                                        <a:solidFill>
                                          <a:schemeClr val="tx1">
                                            <a:lumMod val="50000"/>
                                            <a:lumOff val="50000"/>
                                          </a:schemeClr>
                                        </a:solidFill>
                                        <a:latin typeface="Cambria Math" panose="02040503050406030204" pitchFamily="18" charset="0"/>
                                        <a:ea typeface="Cambria Math" panose="02040503050406030204" pitchFamily="18" charset="0"/>
                                      </a:rPr>
                                      <m:t>cos</m:t>
                                    </m:r>
                                  </m:fName>
                                  <m:e>
                                    <m:r>
                                      <a:rPr lang="en-US" sz="2800" b="0" i="1" smtClean="0">
                                        <a:solidFill>
                                          <a:schemeClr val="tx1">
                                            <a:lumMod val="50000"/>
                                            <a:lumOff val="50000"/>
                                          </a:schemeClr>
                                        </a:solidFill>
                                        <a:latin typeface="Cambria Math" panose="02040503050406030204" pitchFamily="18" charset="0"/>
                                        <a:ea typeface="Cambria Math" panose="02040503050406030204" pitchFamily="18" charset="0"/>
                                      </a:rPr>
                                      <m:t>𝑥</m:t>
                                    </m:r>
                                    <m:r>
                                      <a:rPr lang="en-US" sz="2800" i="1">
                                        <a:solidFill>
                                          <a:schemeClr val="tx1">
                                            <a:lumMod val="50000"/>
                                            <a:lumOff val="50000"/>
                                          </a:schemeClr>
                                        </a:solidFill>
                                        <a:latin typeface="Cambria Math" panose="02040503050406030204" pitchFamily="18" charset="0"/>
                                        <a:ea typeface="Cambria Math" panose="02040503050406030204" pitchFamily="18" charset="0"/>
                                      </a:rPr>
                                      <m:t>+</m:t>
                                    </m:r>
                                    <m:r>
                                      <a:rPr lang="en-US" sz="2800" i="1">
                                        <a:solidFill>
                                          <a:schemeClr val="tx1">
                                            <a:lumMod val="50000"/>
                                            <a:lumOff val="50000"/>
                                          </a:schemeClr>
                                        </a:solidFill>
                                        <a:latin typeface="Cambria Math" panose="02040503050406030204" pitchFamily="18" charset="0"/>
                                        <a:ea typeface="Cambria Math" panose="02040503050406030204" pitchFamily="18" charset="0"/>
                                      </a:rPr>
                                      <m:t>𝑖</m:t>
                                    </m:r>
                                    <m:func>
                                      <m:funcPr>
                                        <m:ctrlPr>
                                          <a:rPr lang="en-US" sz="2800" i="1">
                                            <a:solidFill>
                                              <a:schemeClr val="tx1">
                                                <a:lumMod val="50000"/>
                                                <a:lumOff val="50000"/>
                                              </a:schemeClr>
                                            </a:solidFill>
                                            <a:latin typeface="Cambria Math" panose="02040503050406030204" pitchFamily="18" charset="0"/>
                                            <a:ea typeface="Cambria Math" panose="02040503050406030204" pitchFamily="18" charset="0"/>
                                          </a:rPr>
                                        </m:ctrlPr>
                                      </m:funcPr>
                                      <m:fName>
                                        <m:r>
                                          <m:rPr>
                                            <m:sty m:val="p"/>
                                          </m:rPr>
                                          <a:rPr lang="en-US" sz="2800">
                                            <a:solidFill>
                                              <a:schemeClr val="tx1">
                                                <a:lumMod val="50000"/>
                                                <a:lumOff val="50000"/>
                                              </a:schemeClr>
                                            </a:solidFill>
                                            <a:latin typeface="Cambria Math" panose="02040503050406030204" pitchFamily="18" charset="0"/>
                                            <a:ea typeface="Cambria Math" panose="02040503050406030204" pitchFamily="18" charset="0"/>
                                          </a:rPr>
                                          <m:t>sin</m:t>
                                        </m:r>
                                      </m:fName>
                                      <m:e>
                                        <m:r>
                                          <a:rPr lang="en-US" sz="2800" b="0" i="1" smtClean="0">
                                            <a:solidFill>
                                              <a:schemeClr val="tx1">
                                                <a:lumMod val="50000"/>
                                                <a:lumOff val="50000"/>
                                              </a:schemeClr>
                                            </a:solidFill>
                                            <a:latin typeface="Cambria Math" panose="02040503050406030204" pitchFamily="18" charset="0"/>
                                            <a:ea typeface="Cambria Math" panose="02040503050406030204" pitchFamily="18" charset="0"/>
                                          </a:rPr>
                                          <m:t>𝑥</m:t>
                                        </m:r>
                                      </m:e>
                                    </m:func>
                                  </m:e>
                                </m:func>
                              </m:e>
                            </m:d>
                          </m:e>
                          <m:sup>
                            <m:r>
                              <a:rPr lang="en-US" sz="2800" b="0" i="1" smtClean="0">
                                <a:solidFill>
                                  <a:schemeClr val="tx1">
                                    <a:lumMod val="50000"/>
                                    <a:lumOff val="50000"/>
                                  </a:schemeClr>
                                </a:solidFill>
                                <a:latin typeface="Cambria Math" panose="02040503050406030204" pitchFamily="18" charset="0"/>
                                <a:ea typeface="Cambria Math" panose="02040503050406030204" pitchFamily="18" charset="0"/>
                              </a:rPr>
                              <m:t>𝑛</m:t>
                            </m:r>
                          </m:sup>
                        </m:sSup>
                        <m:r>
                          <a:rPr lang="en-US" sz="2800" b="0" i="1" smtClean="0">
                            <a:solidFill>
                              <a:schemeClr val="tx1">
                                <a:lumMod val="50000"/>
                                <a:lumOff val="50000"/>
                              </a:schemeClr>
                            </a:solidFill>
                            <a:latin typeface="Cambria Math" panose="02040503050406030204" pitchFamily="18" charset="0"/>
                            <a:ea typeface="Cambria Math" panose="02040503050406030204" pitchFamily="18" charset="0"/>
                          </a:rPr>
                          <m:t>=</m:t>
                        </m:r>
                        <m:func>
                          <m:funcPr>
                            <m:ctrlPr>
                              <a:rPr lang="en-US" sz="2800" i="1">
                                <a:solidFill>
                                  <a:schemeClr val="tx1">
                                    <a:lumMod val="50000"/>
                                    <a:lumOff val="50000"/>
                                  </a:schemeClr>
                                </a:solidFill>
                                <a:latin typeface="Cambria Math" panose="02040503050406030204" pitchFamily="18" charset="0"/>
                                <a:ea typeface="Cambria Math" panose="02040503050406030204" pitchFamily="18" charset="0"/>
                              </a:rPr>
                            </m:ctrlPr>
                          </m:funcPr>
                          <m:fName>
                            <m:r>
                              <m:rPr>
                                <m:sty m:val="p"/>
                              </m:rPr>
                              <a:rPr lang="en-US" sz="2800">
                                <a:solidFill>
                                  <a:schemeClr val="tx1">
                                    <a:lumMod val="50000"/>
                                    <a:lumOff val="50000"/>
                                  </a:schemeClr>
                                </a:solidFill>
                                <a:latin typeface="Cambria Math" panose="02040503050406030204" pitchFamily="18" charset="0"/>
                                <a:ea typeface="Cambria Math" panose="02040503050406030204" pitchFamily="18" charset="0"/>
                              </a:rPr>
                              <m:t>cos</m:t>
                            </m:r>
                          </m:fName>
                          <m:e>
                            <m:r>
                              <a:rPr lang="en-US" sz="2800" b="0" i="1" smtClean="0">
                                <a:solidFill>
                                  <a:schemeClr val="tx1">
                                    <a:lumMod val="50000"/>
                                    <a:lumOff val="50000"/>
                                  </a:schemeClr>
                                </a:solidFill>
                                <a:latin typeface="Cambria Math" panose="02040503050406030204" pitchFamily="18" charset="0"/>
                                <a:ea typeface="Cambria Math" panose="02040503050406030204" pitchFamily="18" charset="0"/>
                              </a:rPr>
                              <m:t>𝑛</m:t>
                            </m:r>
                            <m:r>
                              <a:rPr lang="en-US" sz="2800" i="1">
                                <a:solidFill>
                                  <a:schemeClr val="tx1">
                                    <a:lumMod val="50000"/>
                                    <a:lumOff val="50000"/>
                                  </a:schemeClr>
                                </a:solidFill>
                                <a:latin typeface="Cambria Math" panose="02040503050406030204" pitchFamily="18" charset="0"/>
                                <a:ea typeface="Cambria Math" panose="02040503050406030204" pitchFamily="18" charset="0"/>
                              </a:rPr>
                              <m:t>𝑥</m:t>
                            </m:r>
                            <m:r>
                              <a:rPr lang="en-US" sz="2800" i="1">
                                <a:solidFill>
                                  <a:schemeClr val="tx1">
                                    <a:lumMod val="50000"/>
                                    <a:lumOff val="50000"/>
                                  </a:schemeClr>
                                </a:solidFill>
                                <a:latin typeface="Cambria Math" panose="02040503050406030204" pitchFamily="18" charset="0"/>
                                <a:ea typeface="Cambria Math" panose="02040503050406030204" pitchFamily="18" charset="0"/>
                              </a:rPr>
                              <m:t>+</m:t>
                            </m:r>
                            <m:r>
                              <a:rPr lang="en-US" sz="2800" i="1">
                                <a:solidFill>
                                  <a:schemeClr val="tx1">
                                    <a:lumMod val="50000"/>
                                    <a:lumOff val="50000"/>
                                  </a:schemeClr>
                                </a:solidFill>
                                <a:latin typeface="Cambria Math" panose="02040503050406030204" pitchFamily="18" charset="0"/>
                                <a:ea typeface="Cambria Math" panose="02040503050406030204" pitchFamily="18" charset="0"/>
                              </a:rPr>
                              <m:t>𝑖</m:t>
                            </m:r>
                            <m:func>
                              <m:funcPr>
                                <m:ctrlPr>
                                  <a:rPr lang="en-US" sz="2800" i="1">
                                    <a:solidFill>
                                      <a:schemeClr val="tx1">
                                        <a:lumMod val="50000"/>
                                        <a:lumOff val="50000"/>
                                      </a:schemeClr>
                                    </a:solidFill>
                                    <a:latin typeface="Cambria Math" panose="02040503050406030204" pitchFamily="18" charset="0"/>
                                    <a:ea typeface="Cambria Math" panose="02040503050406030204" pitchFamily="18" charset="0"/>
                                  </a:rPr>
                                </m:ctrlPr>
                              </m:funcPr>
                              <m:fName>
                                <m:r>
                                  <m:rPr>
                                    <m:sty m:val="p"/>
                                  </m:rPr>
                                  <a:rPr lang="en-US" sz="2800">
                                    <a:solidFill>
                                      <a:schemeClr val="tx1">
                                        <a:lumMod val="50000"/>
                                        <a:lumOff val="50000"/>
                                      </a:schemeClr>
                                    </a:solidFill>
                                    <a:latin typeface="Cambria Math" panose="02040503050406030204" pitchFamily="18" charset="0"/>
                                    <a:ea typeface="Cambria Math" panose="02040503050406030204" pitchFamily="18" charset="0"/>
                                  </a:rPr>
                                  <m:t>sin</m:t>
                                </m:r>
                              </m:fName>
                              <m:e>
                                <m:r>
                                  <a:rPr lang="en-US" sz="2800" b="0" i="1" smtClean="0">
                                    <a:solidFill>
                                      <a:schemeClr val="tx1">
                                        <a:lumMod val="50000"/>
                                        <a:lumOff val="50000"/>
                                      </a:schemeClr>
                                    </a:solidFill>
                                    <a:latin typeface="Cambria Math" panose="02040503050406030204" pitchFamily="18" charset="0"/>
                                    <a:ea typeface="Cambria Math" panose="02040503050406030204" pitchFamily="18" charset="0"/>
                                  </a:rPr>
                                  <m:t>𝑛</m:t>
                                </m:r>
                                <m:r>
                                  <a:rPr lang="en-US" sz="2800" i="1">
                                    <a:solidFill>
                                      <a:schemeClr val="tx1">
                                        <a:lumMod val="50000"/>
                                        <a:lumOff val="50000"/>
                                      </a:schemeClr>
                                    </a:solidFill>
                                    <a:latin typeface="Cambria Math" panose="02040503050406030204" pitchFamily="18" charset="0"/>
                                    <a:ea typeface="Cambria Math" panose="02040503050406030204" pitchFamily="18" charset="0"/>
                                  </a:rPr>
                                  <m:t>𝑥</m:t>
                                </m:r>
                              </m:e>
                            </m:func>
                          </m:e>
                        </m:func>
                      </m:oMath>
                    </m:oMathPara>
                  </a14:m>
                  <a:endParaRPr lang="en-US" sz="2800" dirty="0">
                    <a:solidFill>
                      <a:schemeClr val="tx1">
                        <a:lumMod val="50000"/>
                        <a:lumOff val="50000"/>
                      </a:schemeClr>
                    </a:solidFill>
                    <a:latin typeface="+mj-lt"/>
                  </a:endParaRPr>
                </a:p>
              </p:txBody>
            </p:sp>
          </mc:Choice>
          <mc:Fallback xmlns="">
            <p:sp>
              <p:nvSpPr>
                <p:cNvPr id="66" name="Rectangle 65">
                  <a:extLst>
                    <a:ext uri="{FF2B5EF4-FFF2-40B4-BE49-F238E27FC236}">
                      <a16:creationId xmlns:a16="http://schemas.microsoft.com/office/drawing/2014/main" id="{46DC6D33-4E3D-DA4D-BCA4-F89A27A920B6}"/>
                    </a:ext>
                  </a:extLst>
                </p:cNvPr>
                <p:cNvSpPr>
                  <a:spLocks noRot="1" noChangeAspect="1" noMove="1" noResize="1" noEditPoints="1" noAdjustHandles="1" noChangeArrowheads="1" noChangeShapeType="1" noTextEdit="1"/>
                </p:cNvSpPr>
                <p:nvPr/>
              </p:nvSpPr>
              <p:spPr>
                <a:xfrm>
                  <a:off x="212035" y="4494151"/>
                  <a:ext cx="9137245" cy="523220"/>
                </a:xfrm>
                <a:prstGeom prst="rect">
                  <a:avLst/>
                </a:prstGeom>
                <a:blipFill>
                  <a:blip r:embed="rId5"/>
                  <a:stretch>
                    <a:fillRect t="-9524" b="-2381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Rectangle 66">
                  <a:extLst>
                    <a:ext uri="{FF2B5EF4-FFF2-40B4-BE49-F238E27FC236}">
                      <a16:creationId xmlns:a16="http://schemas.microsoft.com/office/drawing/2014/main" id="{B7281BBC-F5D5-3F49-B38B-BC3655F38042}"/>
                    </a:ext>
                  </a:extLst>
                </p:cNvPr>
                <p:cNvSpPr/>
                <p:nvPr/>
              </p:nvSpPr>
              <p:spPr>
                <a:xfrm>
                  <a:off x="212035" y="5167986"/>
                  <a:ext cx="11615424" cy="9103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chemeClr val="tx1"/>
                            </a:solidFill>
                            <a:latin typeface="Cambria Math" panose="02040503050406030204" pitchFamily="18" charset="0"/>
                            <a:ea typeface="Cambria Math" panose="02040503050406030204" pitchFamily="18" charset="0"/>
                          </a:rPr>
                          <m:t>𝑧</m:t>
                        </m:r>
                        <m:r>
                          <a:rPr lang="en-US" sz="2800" b="0" i="1">
                            <a:solidFill>
                              <a:schemeClr val="tx1"/>
                            </a:solidFill>
                            <a:latin typeface="Cambria Math" panose="02040503050406030204" pitchFamily="18" charset="0"/>
                            <a:ea typeface="Cambria Math" panose="02040503050406030204" pitchFamily="18" charset="0"/>
                          </a:rPr>
                          <m:t>=</m:t>
                        </m:r>
                        <m:func>
                          <m:funcPr>
                            <m:ctrlPr>
                              <a:rPr lang="en-US" sz="2800" i="1">
                                <a:solidFill>
                                  <a:schemeClr val="tx1"/>
                                </a:solidFill>
                                <a:latin typeface="Cambria Math" panose="02040503050406030204" pitchFamily="18" charset="0"/>
                                <a:ea typeface="Cambria Math" panose="02040503050406030204" pitchFamily="18" charset="0"/>
                              </a:rPr>
                            </m:ctrlPr>
                          </m:funcPr>
                          <m:fName>
                            <m:r>
                              <m:rPr>
                                <m:sty m:val="p"/>
                              </m:rPr>
                              <a:rPr lang="en-US" sz="2800">
                                <a:solidFill>
                                  <a:schemeClr val="tx1"/>
                                </a:solidFill>
                                <a:latin typeface="Cambria Math" panose="02040503050406030204" pitchFamily="18" charset="0"/>
                                <a:ea typeface="Cambria Math" panose="02040503050406030204" pitchFamily="18" charset="0"/>
                              </a:rPr>
                              <m:t>cos</m:t>
                            </m:r>
                          </m:fName>
                          <m:e>
                            <m:f>
                              <m:fPr>
                                <m:ctrlPr>
                                  <a:rPr lang="en-US" sz="2800" i="1">
                                    <a:solidFill>
                                      <a:schemeClr val="tx1"/>
                                    </a:solidFill>
                                    <a:latin typeface="Cambria Math" panose="02040503050406030204" pitchFamily="18" charset="0"/>
                                    <a:ea typeface="Cambria Math" panose="02040503050406030204" pitchFamily="18" charset="0"/>
                                  </a:rPr>
                                </m:ctrlPr>
                              </m:fPr>
                              <m:num>
                                <m:r>
                                  <a:rPr lang="en-US" sz="2800" i="1">
                                    <a:solidFill>
                                      <a:schemeClr val="tx1"/>
                                    </a:solidFill>
                                    <a:latin typeface="Cambria Math" panose="02040503050406030204" pitchFamily="18" charset="0"/>
                                    <a:ea typeface="Cambria Math" panose="02040503050406030204" pitchFamily="18" charset="0"/>
                                  </a:rPr>
                                  <m:t>2</m:t>
                                </m:r>
                                <m:r>
                                  <a:rPr lang="en-US" sz="2800" i="1">
                                    <a:solidFill>
                                      <a:schemeClr val="tx1"/>
                                    </a:solidFill>
                                    <a:latin typeface="Cambria Math" panose="02040503050406030204" pitchFamily="18" charset="0"/>
                                    <a:ea typeface="Cambria Math" panose="02040503050406030204" pitchFamily="18" charset="0"/>
                                  </a:rPr>
                                  <m:t>𝜋</m:t>
                                </m:r>
                                <m:r>
                                  <a:rPr lang="en-US" sz="2800" i="1">
                                    <a:solidFill>
                                      <a:schemeClr val="tx1"/>
                                    </a:solidFill>
                                    <a:latin typeface="Cambria Math" panose="02040503050406030204" pitchFamily="18" charset="0"/>
                                    <a:ea typeface="Cambria Math" panose="02040503050406030204" pitchFamily="18" charset="0"/>
                                  </a:rPr>
                                  <m:t>𝑘</m:t>
                                </m:r>
                              </m:num>
                              <m:den>
                                <m:r>
                                  <a:rPr lang="en-US" sz="2800" i="1">
                                    <a:solidFill>
                                      <a:schemeClr val="tx1"/>
                                    </a:solidFill>
                                    <a:latin typeface="Cambria Math" panose="02040503050406030204" pitchFamily="18" charset="0"/>
                                    <a:ea typeface="Cambria Math" panose="02040503050406030204" pitchFamily="18" charset="0"/>
                                  </a:rPr>
                                  <m:t>𝑛</m:t>
                                </m:r>
                              </m:den>
                            </m:f>
                            <m:r>
                              <a:rPr lang="en-US" sz="2800" i="1">
                                <a:solidFill>
                                  <a:schemeClr val="tx1"/>
                                </a:solidFill>
                                <a:latin typeface="Cambria Math" panose="02040503050406030204" pitchFamily="18" charset="0"/>
                                <a:ea typeface="Cambria Math" panose="02040503050406030204" pitchFamily="18" charset="0"/>
                              </a:rPr>
                              <m:t>+</m:t>
                            </m:r>
                            <m:r>
                              <a:rPr lang="en-US" sz="2800" i="1">
                                <a:solidFill>
                                  <a:schemeClr val="tx1"/>
                                </a:solidFill>
                                <a:latin typeface="Cambria Math" panose="02040503050406030204" pitchFamily="18" charset="0"/>
                                <a:ea typeface="Cambria Math" panose="02040503050406030204" pitchFamily="18" charset="0"/>
                              </a:rPr>
                              <m:t>𝑖</m:t>
                            </m:r>
                            <m:func>
                              <m:funcPr>
                                <m:ctrlPr>
                                  <a:rPr lang="en-US" sz="2800" i="1">
                                    <a:solidFill>
                                      <a:schemeClr val="tx1"/>
                                    </a:solidFill>
                                    <a:latin typeface="Cambria Math" panose="02040503050406030204" pitchFamily="18" charset="0"/>
                                    <a:ea typeface="Cambria Math" panose="02040503050406030204" pitchFamily="18" charset="0"/>
                                  </a:rPr>
                                </m:ctrlPr>
                              </m:funcPr>
                              <m:fName>
                                <m:r>
                                  <m:rPr>
                                    <m:sty m:val="p"/>
                                  </m:rPr>
                                  <a:rPr lang="en-US" sz="2800">
                                    <a:solidFill>
                                      <a:schemeClr val="tx1"/>
                                    </a:solidFill>
                                    <a:latin typeface="Cambria Math" panose="02040503050406030204" pitchFamily="18" charset="0"/>
                                    <a:ea typeface="Cambria Math" panose="02040503050406030204" pitchFamily="18" charset="0"/>
                                  </a:rPr>
                                  <m:t>sin</m:t>
                                </m:r>
                              </m:fName>
                              <m:e>
                                <m:f>
                                  <m:fPr>
                                    <m:ctrlPr>
                                      <a:rPr lang="en-US" sz="2800" i="1">
                                        <a:solidFill>
                                          <a:schemeClr val="tx1"/>
                                        </a:solidFill>
                                        <a:latin typeface="Cambria Math" panose="02040503050406030204" pitchFamily="18" charset="0"/>
                                        <a:ea typeface="Cambria Math" panose="02040503050406030204" pitchFamily="18" charset="0"/>
                                      </a:rPr>
                                    </m:ctrlPr>
                                  </m:fPr>
                                  <m:num>
                                    <m:r>
                                      <a:rPr lang="en-US" sz="2800" i="1">
                                        <a:solidFill>
                                          <a:schemeClr val="tx1"/>
                                        </a:solidFill>
                                        <a:latin typeface="Cambria Math" panose="02040503050406030204" pitchFamily="18" charset="0"/>
                                        <a:ea typeface="Cambria Math" panose="02040503050406030204" pitchFamily="18" charset="0"/>
                                      </a:rPr>
                                      <m:t>2</m:t>
                                    </m:r>
                                    <m:r>
                                      <a:rPr lang="en-US" sz="2800" i="1">
                                        <a:solidFill>
                                          <a:schemeClr val="tx1"/>
                                        </a:solidFill>
                                        <a:latin typeface="Cambria Math" panose="02040503050406030204" pitchFamily="18" charset="0"/>
                                        <a:ea typeface="Cambria Math" panose="02040503050406030204" pitchFamily="18" charset="0"/>
                                      </a:rPr>
                                      <m:t>𝜋</m:t>
                                    </m:r>
                                    <m:r>
                                      <a:rPr lang="en-US" sz="2800" i="1">
                                        <a:solidFill>
                                          <a:schemeClr val="tx1"/>
                                        </a:solidFill>
                                        <a:latin typeface="Cambria Math" panose="02040503050406030204" pitchFamily="18" charset="0"/>
                                        <a:ea typeface="Cambria Math" panose="02040503050406030204" pitchFamily="18" charset="0"/>
                                      </a:rPr>
                                      <m:t>𝑘</m:t>
                                    </m:r>
                                  </m:num>
                                  <m:den>
                                    <m:r>
                                      <a:rPr lang="en-US" sz="2800" i="1">
                                        <a:solidFill>
                                          <a:schemeClr val="tx1"/>
                                        </a:solidFill>
                                        <a:latin typeface="Cambria Math" panose="02040503050406030204" pitchFamily="18" charset="0"/>
                                        <a:ea typeface="Cambria Math" panose="02040503050406030204" pitchFamily="18" charset="0"/>
                                      </a:rPr>
                                      <m:t>𝑛</m:t>
                                    </m:r>
                                  </m:den>
                                </m:f>
                              </m:e>
                            </m:func>
                          </m:e>
                        </m:func>
                        <m:r>
                          <a:rPr lang="en-US" sz="2800" b="0" i="1" smtClean="0">
                            <a:solidFill>
                              <a:schemeClr val="tx1"/>
                            </a:solidFill>
                            <a:latin typeface="Cambria Math" panose="02040503050406030204" pitchFamily="18" charset="0"/>
                            <a:ea typeface="Cambria Math" panose="02040503050406030204" pitchFamily="18" charset="0"/>
                          </a:rPr>
                          <m:t>=</m:t>
                        </m:r>
                        <m:d>
                          <m:dPr>
                            <m:begChr m:val=""/>
                            <m:endChr m:val="|"/>
                            <m:ctrlPr>
                              <a:rPr lang="en-US" sz="2800" i="1">
                                <a:solidFill>
                                  <a:schemeClr val="tx1"/>
                                </a:solidFill>
                                <a:latin typeface="Cambria Math" panose="02040503050406030204" pitchFamily="18" charset="0"/>
                                <a:ea typeface="Cambria Math" panose="02040503050406030204" pitchFamily="18" charset="0"/>
                              </a:rPr>
                            </m:ctrlPr>
                          </m:dPr>
                          <m:e>
                            <m:sSup>
                              <m:sSupPr>
                                <m:ctrlPr>
                                  <a:rPr lang="en-US" sz="2800" i="1">
                                    <a:solidFill>
                                      <a:schemeClr val="tx1"/>
                                    </a:solidFill>
                                    <a:latin typeface="Cambria Math" panose="02040503050406030204" pitchFamily="18" charset="0"/>
                                    <a:ea typeface="Cambria Math" panose="02040503050406030204" pitchFamily="18" charset="0"/>
                                  </a:rPr>
                                </m:ctrlPr>
                              </m:sSupPr>
                              <m:e>
                                <m:r>
                                  <a:rPr lang="en-US" sz="2800" i="1">
                                    <a:solidFill>
                                      <a:schemeClr val="tx1"/>
                                    </a:solidFill>
                                    <a:latin typeface="Cambria Math" panose="02040503050406030204" pitchFamily="18" charset="0"/>
                                    <a:ea typeface="Cambria Math" panose="02040503050406030204" pitchFamily="18" charset="0"/>
                                  </a:rPr>
                                  <m:t>𝑒</m:t>
                                </m:r>
                              </m:e>
                              <m:sup>
                                <m:f>
                                  <m:fPr>
                                    <m:ctrlPr>
                                      <a:rPr lang="en-US" sz="2800" i="1">
                                        <a:solidFill>
                                          <a:schemeClr val="tx1"/>
                                        </a:solidFill>
                                        <a:latin typeface="Cambria Math" panose="02040503050406030204" pitchFamily="18" charset="0"/>
                                        <a:ea typeface="Cambria Math" panose="02040503050406030204" pitchFamily="18" charset="0"/>
                                      </a:rPr>
                                    </m:ctrlPr>
                                  </m:fPr>
                                  <m:num>
                                    <m:r>
                                      <a:rPr lang="en-US" sz="2800" i="1">
                                        <a:solidFill>
                                          <a:schemeClr val="tx1"/>
                                        </a:solidFill>
                                        <a:latin typeface="Cambria Math" panose="02040503050406030204" pitchFamily="18" charset="0"/>
                                        <a:ea typeface="Cambria Math" panose="02040503050406030204" pitchFamily="18" charset="0"/>
                                      </a:rPr>
                                      <m:t>2</m:t>
                                    </m:r>
                                    <m:r>
                                      <a:rPr lang="en-US" sz="2800" i="1">
                                        <a:solidFill>
                                          <a:schemeClr val="tx1"/>
                                        </a:solidFill>
                                        <a:latin typeface="Cambria Math" panose="02040503050406030204" pitchFamily="18" charset="0"/>
                                        <a:ea typeface="Cambria Math" panose="02040503050406030204" pitchFamily="18" charset="0"/>
                                      </a:rPr>
                                      <m:t>𝜋</m:t>
                                    </m:r>
                                    <m:r>
                                      <a:rPr lang="en-US" sz="2800" i="1">
                                        <a:solidFill>
                                          <a:schemeClr val="tx1"/>
                                        </a:solidFill>
                                        <a:latin typeface="Cambria Math" panose="02040503050406030204" pitchFamily="18" charset="0"/>
                                        <a:ea typeface="Cambria Math" panose="02040503050406030204" pitchFamily="18" charset="0"/>
                                      </a:rPr>
                                      <m:t>𝑖</m:t>
                                    </m:r>
                                  </m:num>
                                  <m:den>
                                    <m:r>
                                      <a:rPr lang="en-US" sz="2800" i="1">
                                        <a:solidFill>
                                          <a:schemeClr val="tx1"/>
                                        </a:solidFill>
                                        <a:latin typeface="Cambria Math" panose="02040503050406030204" pitchFamily="18" charset="0"/>
                                        <a:ea typeface="Cambria Math" panose="02040503050406030204" pitchFamily="18" charset="0"/>
                                      </a:rPr>
                                      <m:t>𝑛</m:t>
                                    </m:r>
                                  </m:den>
                                </m:f>
                                <m:r>
                                  <a:rPr lang="sr-Latn-RS" sz="2800" b="0" i="1" smtClean="0">
                                    <a:solidFill>
                                      <a:schemeClr val="tx1"/>
                                    </a:solidFill>
                                    <a:latin typeface="Cambria Math" panose="02040503050406030204" pitchFamily="18" charset="0"/>
                                    <a:ea typeface="Cambria Math" panose="02040503050406030204" pitchFamily="18" charset="0"/>
                                  </a:rPr>
                                  <m:t>𝑘</m:t>
                                </m:r>
                              </m:sup>
                            </m:sSup>
                            <m:r>
                              <a:rPr lang="en-US" sz="2800" b="0" i="1" smtClean="0">
                                <a:solidFill>
                                  <a:schemeClr val="tx1"/>
                                </a:solidFill>
                                <a:latin typeface="Cambria Math" panose="02040503050406030204" pitchFamily="18" charset="0"/>
                                <a:ea typeface="Cambria Math" panose="02040503050406030204" pitchFamily="18" charset="0"/>
                              </a:rPr>
                              <m:t>=</m:t>
                            </m:r>
                            <m:sSup>
                              <m:sSupPr>
                                <m:ctrlPr>
                                  <a:rPr lang="en-US" sz="2800" b="0" i="1" smtClean="0">
                                    <a:solidFill>
                                      <a:schemeClr val="tx1"/>
                                    </a:solidFill>
                                    <a:latin typeface="Cambria Math" panose="02040503050406030204" pitchFamily="18" charset="0"/>
                                    <a:ea typeface="Cambria Math" panose="02040503050406030204" pitchFamily="18" charset="0"/>
                                  </a:rPr>
                                </m:ctrlPr>
                              </m:sSupPr>
                              <m:e>
                                <m:r>
                                  <a:rPr lang="en-US" sz="2800" i="1">
                                    <a:solidFill>
                                      <a:schemeClr val="tx1">
                                        <a:lumMod val="50000"/>
                                        <a:lumOff val="50000"/>
                                      </a:schemeClr>
                                    </a:solidFill>
                                    <a:latin typeface="Cambria Math" panose="02040503050406030204" pitchFamily="18" charset="0"/>
                                    <a:ea typeface="Cambria Math" panose="02040503050406030204" pitchFamily="18" charset="0"/>
                                  </a:rPr>
                                  <m:t>𝜔</m:t>
                                </m:r>
                              </m:e>
                              <m:sup>
                                <m:r>
                                  <a:rPr lang="en-US" sz="2800" b="0" i="1" smtClean="0">
                                    <a:solidFill>
                                      <a:schemeClr val="tx1"/>
                                    </a:solidFill>
                                    <a:latin typeface="Cambria Math" panose="02040503050406030204" pitchFamily="18" charset="0"/>
                                    <a:ea typeface="Cambria Math" panose="02040503050406030204" pitchFamily="18" charset="0"/>
                                  </a:rPr>
                                  <m:t>𝑘</m:t>
                                </m:r>
                              </m:sup>
                            </m:sSup>
                            <m:r>
                              <a:rPr lang="en-US" sz="2800" b="0" i="1" smtClean="0">
                                <a:solidFill>
                                  <a:schemeClr val="tx1"/>
                                </a:solidFill>
                                <a:latin typeface="Cambria Math" panose="02040503050406030204" pitchFamily="18" charset="0"/>
                                <a:ea typeface="Cambria Math" panose="02040503050406030204" pitchFamily="18" charset="0"/>
                              </a:rPr>
                              <m:t>  </m:t>
                            </m:r>
                          </m:e>
                        </m:d>
                        <m:r>
                          <a:rPr lang="en-US" sz="2800" b="0" i="1" smtClean="0">
                            <a:solidFill>
                              <a:schemeClr val="tx1"/>
                            </a:solidFill>
                            <a:latin typeface="Cambria Math" panose="02040503050406030204" pitchFamily="18" charset="0"/>
                            <a:ea typeface="Cambria Math" panose="02040503050406030204" pitchFamily="18" charset="0"/>
                          </a:rPr>
                          <m:t>  </m:t>
                        </m:r>
                        <m:sSup>
                          <m:sSupPr>
                            <m:ctrlPr>
                              <a:rPr lang="en-US" sz="2800" i="1" smtClean="0">
                                <a:solidFill>
                                  <a:schemeClr val="tx1">
                                    <a:lumMod val="50000"/>
                                    <a:lumOff val="50000"/>
                                  </a:schemeClr>
                                </a:solidFill>
                                <a:latin typeface="Cambria Math" panose="02040503050406030204" pitchFamily="18" charset="0"/>
                                <a:ea typeface="Cambria Math" panose="02040503050406030204" pitchFamily="18" charset="0"/>
                              </a:rPr>
                            </m:ctrlPr>
                          </m:sSupPr>
                          <m:e>
                            <m:r>
                              <a:rPr lang="en-US" sz="2800" i="1">
                                <a:solidFill>
                                  <a:schemeClr val="tx1">
                                    <a:lumMod val="50000"/>
                                    <a:lumOff val="50000"/>
                                  </a:schemeClr>
                                </a:solidFill>
                                <a:latin typeface="Cambria Math" panose="02040503050406030204" pitchFamily="18" charset="0"/>
                                <a:ea typeface="Cambria Math" panose="02040503050406030204" pitchFamily="18" charset="0"/>
                              </a:rPr>
                              <m:t>𝜔</m:t>
                            </m:r>
                            <m:r>
                              <a:rPr lang="en-US" sz="2800" i="1">
                                <a:solidFill>
                                  <a:schemeClr val="tx1">
                                    <a:lumMod val="50000"/>
                                    <a:lumOff val="50000"/>
                                  </a:schemeClr>
                                </a:solidFill>
                                <a:latin typeface="Cambria Math" panose="02040503050406030204" pitchFamily="18" charset="0"/>
                                <a:ea typeface="Cambria Math" panose="02040503050406030204" pitchFamily="18" charset="0"/>
                              </a:rPr>
                              <m:t>=</m:t>
                            </m:r>
                            <m:r>
                              <a:rPr lang="en-US" sz="2800" i="1">
                                <a:solidFill>
                                  <a:schemeClr val="tx1">
                                    <a:lumMod val="50000"/>
                                    <a:lumOff val="50000"/>
                                  </a:schemeClr>
                                </a:solidFill>
                                <a:latin typeface="Cambria Math" panose="02040503050406030204" pitchFamily="18" charset="0"/>
                                <a:ea typeface="Cambria Math" panose="02040503050406030204" pitchFamily="18" charset="0"/>
                              </a:rPr>
                              <m:t>𝑒</m:t>
                            </m:r>
                          </m:e>
                          <m:sup>
                            <m:f>
                              <m:fPr>
                                <m:ctrlPr>
                                  <a:rPr lang="en-US" sz="2800" i="1">
                                    <a:solidFill>
                                      <a:schemeClr val="tx1">
                                        <a:lumMod val="50000"/>
                                        <a:lumOff val="50000"/>
                                      </a:schemeClr>
                                    </a:solidFill>
                                    <a:latin typeface="Cambria Math" panose="02040503050406030204" pitchFamily="18" charset="0"/>
                                    <a:ea typeface="Cambria Math" panose="02040503050406030204" pitchFamily="18" charset="0"/>
                                  </a:rPr>
                                </m:ctrlPr>
                              </m:fPr>
                              <m:num>
                                <m:r>
                                  <a:rPr lang="en-US" sz="2800" i="1">
                                    <a:solidFill>
                                      <a:schemeClr val="tx1">
                                        <a:lumMod val="50000"/>
                                        <a:lumOff val="50000"/>
                                      </a:schemeClr>
                                    </a:solidFill>
                                    <a:latin typeface="Cambria Math" panose="02040503050406030204" pitchFamily="18" charset="0"/>
                                    <a:ea typeface="Cambria Math" panose="02040503050406030204" pitchFamily="18" charset="0"/>
                                  </a:rPr>
                                  <m:t>2</m:t>
                                </m:r>
                                <m:r>
                                  <a:rPr lang="en-US" sz="2800" i="1">
                                    <a:solidFill>
                                      <a:schemeClr val="tx1">
                                        <a:lumMod val="50000"/>
                                        <a:lumOff val="50000"/>
                                      </a:schemeClr>
                                    </a:solidFill>
                                    <a:latin typeface="Cambria Math" panose="02040503050406030204" pitchFamily="18" charset="0"/>
                                    <a:ea typeface="Cambria Math" panose="02040503050406030204" pitchFamily="18" charset="0"/>
                                  </a:rPr>
                                  <m:t>𝜋</m:t>
                                </m:r>
                                <m:r>
                                  <a:rPr lang="en-US" sz="2800" i="1">
                                    <a:solidFill>
                                      <a:schemeClr val="tx1">
                                        <a:lumMod val="50000"/>
                                        <a:lumOff val="50000"/>
                                      </a:schemeClr>
                                    </a:solidFill>
                                    <a:latin typeface="Cambria Math" panose="02040503050406030204" pitchFamily="18" charset="0"/>
                                    <a:ea typeface="Cambria Math" panose="02040503050406030204" pitchFamily="18" charset="0"/>
                                  </a:rPr>
                                  <m:t>𝑖</m:t>
                                </m:r>
                              </m:num>
                              <m:den>
                                <m:r>
                                  <a:rPr lang="en-US" sz="2800" i="1">
                                    <a:solidFill>
                                      <a:schemeClr val="tx1">
                                        <a:lumMod val="50000"/>
                                        <a:lumOff val="50000"/>
                                      </a:schemeClr>
                                    </a:solidFill>
                                    <a:latin typeface="Cambria Math" panose="02040503050406030204" pitchFamily="18" charset="0"/>
                                    <a:ea typeface="Cambria Math" panose="02040503050406030204" pitchFamily="18" charset="0"/>
                                  </a:rPr>
                                  <m:t>𝑛</m:t>
                                </m:r>
                              </m:den>
                            </m:f>
                          </m:sup>
                        </m:sSup>
                        <m:r>
                          <a:rPr lang="en-US" sz="2800" b="0" i="1" smtClean="0">
                            <a:solidFill>
                              <a:schemeClr val="tx1">
                                <a:lumMod val="50000"/>
                                <a:lumOff val="50000"/>
                              </a:schemeClr>
                            </a:solidFill>
                            <a:latin typeface="Cambria Math" panose="02040503050406030204" pitchFamily="18" charset="0"/>
                            <a:ea typeface="Cambria Math" panose="02040503050406030204" pitchFamily="18" charset="0"/>
                          </a:rPr>
                          <m:t>,  </m:t>
                        </m:r>
                        <m:r>
                          <a:rPr lang="en-US" sz="2800" i="1">
                            <a:solidFill>
                              <a:schemeClr val="tx1">
                                <a:lumMod val="50000"/>
                                <a:lumOff val="50000"/>
                              </a:schemeClr>
                            </a:solidFill>
                            <a:latin typeface="Cambria Math" panose="02040503050406030204" pitchFamily="18" charset="0"/>
                            <a:ea typeface="Cambria Math" panose="02040503050406030204" pitchFamily="18" charset="0"/>
                          </a:rPr>
                          <m:t>𝑘</m:t>
                        </m:r>
                        <m:r>
                          <a:rPr lang="en-US" sz="2800" i="1">
                            <a:solidFill>
                              <a:schemeClr val="tx1">
                                <a:lumMod val="50000"/>
                                <a:lumOff val="50000"/>
                              </a:schemeClr>
                            </a:solidFill>
                            <a:latin typeface="Cambria Math" panose="02040503050406030204" pitchFamily="18" charset="0"/>
                            <a:ea typeface="Cambria Math" panose="02040503050406030204" pitchFamily="18" charset="0"/>
                          </a:rPr>
                          <m:t>=</m:t>
                        </m:r>
                        <m:d>
                          <m:dPr>
                            <m:begChr m:val="{"/>
                            <m:endChr m:val="}"/>
                            <m:ctrlPr>
                              <a:rPr lang="en-US" sz="2800" i="1">
                                <a:solidFill>
                                  <a:schemeClr val="tx1">
                                    <a:lumMod val="50000"/>
                                    <a:lumOff val="50000"/>
                                  </a:schemeClr>
                                </a:solidFill>
                                <a:latin typeface="Cambria Math" panose="02040503050406030204" pitchFamily="18" charset="0"/>
                                <a:ea typeface="Cambria Math" panose="02040503050406030204" pitchFamily="18" charset="0"/>
                              </a:rPr>
                            </m:ctrlPr>
                          </m:dPr>
                          <m:e>
                            <m:r>
                              <a:rPr lang="en-US" sz="2800" b="0" i="1" smtClean="0">
                                <a:solidFill>
                                  <a:schemeClr val="tx1">
                                    <a:lumMod val="50000"/>
                                    <a:lumOff val="50000"/>
                                  </a:schemeClr>
                                </a:solidFill>
                                <a:latin typeface="Cambria Math" panose="02040503050406030204" pitchFamily="18" charset="0"/>
                                <a:ea typeface="Cambria Math" panose="02040503050406030204" pitchFamily="18" charset="0"/>
                              </a:rPr>
                              <m:t>0</m:t>
                            </m:r>
                            <m:r>
                              <a:rPr lang="en-US" sz="2800" i="1">
                                <a:solidFill>
                                  <a:schemeClr val="tx1">
                                    <a:lumMod val="50000"/>
                                    <a:lumOff val="50000"/>
                                  </a:schemeClr>
                                </a:solidFill>
                                <a:latin typeface="Cambria Math" panose="02040503050406030204" pitchFamily="18" charset="0"/>
                                <a:ea typeface="Cambria Math" panose="02040503050406030204" pitchFamily="18" charset="0"/>
                              </a:rPr>
                              <m:t>,</m:t>
                            </m:r>
                            <m:r>
                              <a:rPr lang="en-US" sz="2800" b="0" i="1" smtClean="0">
                                <a:solidFill>
                                  <a:schemeClr val="tx1">
                                    <a:lumMod val="50000"/>
                                    <a:lumOff val="50000"/>
                                  </a:schemeClr>
                                </a:solidFill>
                                <a:latin typeface="Cambria Math" panose="02040503050406030204" pitchFamily="18" charset="0"/>
                                <a:ea typeface="Cambria Math" panose="02040503050406030204" pitchFamily="18" charset="0"/>
                              </a:rPr>
                              <m:t>1,</m:t>
                            </m:r>
                            <m:r>
                              <a:rPr lang="en-US" sz="2800" i="1">
                                <a:solidFill>
                                  <a:schemeClr val="tx1">
                                    <a:lumMod val="50000"/>
                                    <a:lumOff val="50000"/>
                                  </a:schemeClr>
                                </a:solidFill>
                                <a:latin typeface="Cambria Math" panose="02040503050406030204" pitchFamily="18" charset="0"/>
                                <a:ea typeface="Cambria Math" panose="02040503050406030204" pitchFamily="18" charset="0"/>
                              </a:rPr>
                              <m:t>⋯,</m:t>
                            </m:r>
                            <m:r>
                              <a:rPr lang="en-US" sz="2800" i="1">
                                <a:solidFill>
                                  <a:schemeClr val="tx1">
                                    <a:lumMod val="50000"/>
                                    <a:lumOff val="50000"/>
                                  </a:schemeClr>
                                </a:solidFill>
                                <a:latin typeface="Cambria Math" panose="02040503050406030204" pitchFamily="18" charset="0"/>
                                <a:ea typeface="Cambria Math" panose="02040503050406030204" pitchFamily="18" charset="0"/>
                              </a:rPr>
                              <m:t>𝑛</m:t>
                            </m:r>
                            <m:r>
                              <a:rPr lang="en-US" sz="2800" b="0" i="1" smtClean="0">
                                <a:solidFill>
                                  <a:schemeClr val="tx1">
                                    <a:lumMod val="50000"/>
                                    <a:lumOff val="50000"/>
                                  </a:schemeClr>
                                </a:solidFill>
                                <a:latin typeface="Cambria Math" panose="02040503050406030204" pitchFamily="18" charset="0"/>
                                <a:ea typeface="Cambria Math" panose="02040503050406030204" pitchFamily="18" charset="0"/>
                              </a:rPr>
                              <m:t>−1</m:t>
                            </m:r>
                          </m:e>
                        </m:d>
                      </m:oMath>
                    </m:oMathPara>
                  </a14:m>
                  <a:endParaRPr lang="en-US" sz="2800" i="1" dirty="0">
                    <a:solidFill>
                      <a:schemeClr val="tx1">
                        <a:lumMod val="50000"/>
                        <a:lumOff val="50000"/>
                      </a:schemeClr>
                    </a:solidFill>
                  </a:endParaRPr>
                </a:p>
              </p:txBody>
            </p:sp>
          </mc:Choice>
          <mc:Fallback xmlns="">
            <p:sp>
              <p:nvSpPr>
                <p:cNvPr id="67" name="Rectangle 66">
                  <a:extLst>
                    <a:ext uri="{FF2B5EF4-FFF2-40B4-BE49-F238E27FC236}">
                      <a16:creationId xmlns:a16="http://schemas.microsoft.com/office/drawing/2014/main" id="{B7281BBC-F5D5-3F49-B38B-BC3655F38042}"/>
                    </a:ext>
                  </a:extLst>
                </p:cNvPr>
                <p:cNvSpPr>
                  <a:spLocks noRot="1" noChangeAspect="1" noMove="1" noResize="1" noEditPoints="1" noAdjustHandles="1" noChangeArrowheads="1" noChangeShapeType="1" noTextEdit="1"/>
                </p:cNvSpPr>
                <p:nvPr/>
              </p:nvSpPr>
              <p:spPr>
                <a:xfrm>
                  <a:off x="212035" y="5167986"/>
                  <a:ext cx="11615424" cy="910314"/>
                </a:xfrm>
                <a:prstGeom prst="rect">
                  <a:avLst/>
                </a:prstGeom>
                <a:blipFill>
                  <a:blip r:embed="rId6"/>
                  <a:stretch>
                    <a:fillRect t="-100000" b="-131944"/>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DDCE59CD-98CC-8B4C-A317-4CE62DFFBEC3}"/>
                  </a:ext>
                </a:extLst>
              </p:cNvPr>
              <p:cNvSpPr/>
              <p:nvPr/>
            </p:nvSpPr>
            <p:spPr>
              <a:xfrm>
                <a:off x="184546" y="2687455"/>
                <a:ext cx="9723239" cy="53713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800" i="1" smtClean="0">
                              <a:solidFill>
                                <a:srgbClr val="002060"/>
                              </a:solidFill>
                              <a:latin typeface="Cambria Math" panose="02040503050406030204" pitchFamily="18" charset="0"/>
                              <a:ea typeface="Cambria Math" panose="02040503050406030204" pitchFamily="18" charset="0"/>
                            </a:rPr>
                          </m:ctrlPr>
                        </m:sSupPr>
                        <m:e>
                          <m:r>
                            <a:rPr lang="en-US" sz="2800" b="0" i="1">
                              <a:solidFill>
                                <a:srgbClr val="002060"/>
                              </a:solidFill>
                              <a:latin typeface="Cambria Math" panose="02040503050406030204" pitchFamily="18" charset="0"/>
                              <a:ea typeface="Cambria Math" panose="02040503050406030204" pitchFamily="18" charset="0"/>
                            </a:rPr>
                            <m:t>𝑧</m:t>
                          </m:r>
                        </m:e>
                        <m:sup>
                          <m:r>
                            <a:rPr lang="en-US" sz="2800" b="0" i="1">
                              <a:solidFill>
                                <a:srgbClr val="002060"/>
                              </a:solidFill>
                              <a:latin typeface="Cambria Math" panose="02040503050406030204" pitchFamily="18" charset="0"/>
                              <a:ea typeface="Cambria Math" panose="02040503050406030204" pitchFamily="18" charset="0"/>
                            </a:rPr>
                            <m:t>𝑛</m:t>
                          </m:r>
                        </m:sup>
                      </m:sSup>
                      <m:r>
                        <a:rPr lang="en-US" sz="2800" b="0" i="1">
                          <a:solidFill>
                            <a:srgbClr val="002060"/>
                          </a:solidFill>
                          <a:latin typeface="Cambria Math" panose="02040503050406030204" pitchFamily="18" charset="0"/>
                          <a:ea typeface="Cambria Math" panose="02040503050406030204" pitchFamily="18" charset="0"/>
                        </a:rPr>
                        <m:t>=1</m:t>
                      </m:r>
                      <m:r>
                        <a:rPr lang="en-US" sz="2800" b="0" i="1" smtClean="0">
                          <a:solidFill>
                            <a:srgbClr val="002060"/>
                          </a:solidFill>
                          <a:latin typeface="Cambria Math" panose="02040503050406030204" pitchFamily="18" charset="0"/>
                          <a:ea typeface="Cambria Math" panose="02040503050406030204" pitchFamily="18" charset="0"/>
                        </a:rPr>
                        <m:t>=</m:t>
                      </m:r>
                      <m:sSup>
                        <m:sSupPr>
                          <m:ctrlPr>
                            <a:rPr lang="en-US" sz="2800" i="1" smtClean="0">
                              <a:solidFill>
                                <a:srgbClr val="002060"/>
                              </a:solidFill>
                              <a:latin typeface="Cambria Math" panose="02040503050406030204" pitchFamily="18" charset="0"/>
                              <a:ea typeface="Cambria Math" panose="02040503050406030204" pitchFamily="18" charset="0"/>
                            </a:rPr>
                          </m:ctrlPr>
                        </m:sSupPr>
                        <m:e>
                          <m:r>
                            <a:rPr lang="en-US" sz="2800" b="0" i="1" smtClean="0">
                              <a:solidFill>
                                <a:srgbClr val="002060"/>
                              </a:solidFill>
                              <a:latin typeface="Cambria Math" panose="02040503050406030204" pitchFamily="18" charset="0"/>
                              <a:ea typeface="Cambria Math" panose="02040503050406030204" pitchFamily="18" charset="0"/>
                            </a:rPr>
                            <m:t>𝑒</m:t>
                          </m:r>
                        </m:e>
                        <m:sup>
                          <m:r>
                            <a:rPr lang="en-US" sz="2800" b="0" i="1" smtClean="0">
                              <a:solidFill>
                                <a:srgbClr val="002060"/>
                              </a:solidFill>
                              <a:latin typeface="Cambria Math" panose="02040503050406030204" pitchFamily="18" charset="0"/>
                              <a:ea typeface="Cambria Math" panose="02040503050406030204" pitchFamily="18" charset="0"/>
                            </a:rPr>
                            <m:t>𝑖</m:t>
                          </m:r>
                          <m:r>
                            <a:rPr lang="en-US" sz="2800" b="0" i="1" smtClean="0">
                              <a:solidFill>
                                <a:srgbClr val="002060"/>
                              </a:solidFill>
                              <a:latin typeface="Cambria Math" panose="02040503050406030204" pitchFamily="18" charset="0"/>
                              <a:ea typeface="Cambria Math" panose="02040503050406030204" pitchFamily="18" charset="0"/>
                            </a:rPr>
                            <m:t>2</m:t>
                          </m:r>
                          <m:r>
                            <a:rPr lang="en-US" sz="2800" b="0" i="1" smtClean="0">
                              <a:solidFill>
                                <a:srgbClr val="002060"/>
                              </a:solidFill>
                              <a:latin typeface="Cambria Math" panose="02040503050406030204" pitchFamily="18" charset="0"/>
                              <a:ea typeface="Cambria Math" panose="02040503050406030204" pitchFamily="18" charset="0"/>
                            </a:rPr>
                            <m:t>𝜋</m:t>
                          </m:r>
                          <m:r>
                            <a:rPr lang="en-US" sz="2800" b="0" i="1" smtClean="0">
                              <a:solidFill>
                                <a:srgbClr val="002060"/>
                              </a:solidFill>
                              <a:latin typeface="Cambria Math" panose="02040503050406030204" pitchFamily="18" charset="0"/>
                              <a:ea typeface="Cambria Math" panose="02040503050406030204" pitchFamily="18" charset="0"/>
                            </a:rPr>
                            <m:t>𝑘</m:t>
                          </m:r>
                        </m:sup>
                      </m:sSup>
                      <m:r>
                        <a:rPr lang="en-US" sz="2800" b="0" i="1" smtClean="0">
                          <a:solidFill>
                            <a:srgbClr val="002060"/>
                          </a:solidFill>
                          <a:latin typeface="Cambria Math" panose="02040503050406030204" pitchFamily="18" charset="0"/>
                          <a:ea typeface="Cambria Math" panose="02040503050406030204" pitchFamily="18" charset="0"/>
                        </a:rPr>
                        <m:t>=</m:t>
                      </m:r>
                      <m:func>
                        <m:funcPr>
                          <m:ctrlPr>
                            <a:rPr lang="en-US" sz="28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2800" b="0" i="0" smtClean="0">
                              <a:solidFill>
                                <a:srgbClr val="002060"/>
                              </a:solidFill>
                              <a:latin typeface="Cambria Math" panose="02040503050406030204" pitchFamily="18" charset="0"/>
                              <a:ea typeface="Cambria Math" panose="02040503050406030204" pitchFamily="18" charset="0"/>
                            </a:rPr>
                            <m:t>cos</m:t>
                          </m:r>
                        </m:fName>
                        <m:e>
                          <m:r>
                            <a:rPr lang="en-US" sz="2800" i="1">
                              <a:solidFill>
                                <a:srgbClr val="002060"/>
                              </a:solidFill>
                              <a:latin typeface="Cambria Math" panose="02040503050406030204" pitchFamily="18" charset="0"/>
                              <a:ea typeface="Cambria Math" panose="02040503050406030204" pitchFamily="18" charset="0"/>
                            </a:rPr>
                            <m:t>2</m:t>
                          </m:r>
                          <m:r>
                            <a:rPr lang="en-US" sz="2800" i="1">
                              <a:solidFill>
                                <a:srgbClr val="002060"/>
                              </a:solidFill>
                              <a:latin typeface="Cambria Math" panose="02040503050406030204" pitchFamily="18" charset="0"/>
                              <a:ea typeface="Cambria Math" panose="02040503050406030204" pitchFamily="18" charset="0"/>
                            </a:rPr>
                            <m:t>𝜋</m:t>
                          </m:r>
                          <m:r>
                            <a:rPr lang="en-US" sz="2800" i="1">
                              <a:solidFill>
                                <a:srgbClr val="002060"/>
                              </a:solidFill>
                              <a:latin typeface="Cambria Math" panose="02040503050406030204" pitchFamily="18" charset="0"/>
                              <a:ea typeface="Cambria Math" panose="02040503050406030204" pitchFamily="18" charset="0"/>
                            </a:rPr>
                            <m:t>𝑘</m:t>
                          </m:r>
                          <m:r>
                            <a:rPr lang="en-US" sz="2800" b="0" i="1" smtClean="0">
                              <a:solidFill>
                                <a:srgbClr val="002060"/>
                              </a:solidFill>
                              <a:latin typeface="Cambria Math" panose="02040503050406030204" pitchFamily="18" charset="0"/>
                              <a:ea typeface="Cambria Math" panose="02040503050406030204" pitchFamily="18" charset="0"/>
                            </a:rPr>
                            <m:t>+</m:t>
                          </m:r>
                          <m:r>
                            <a:rPr lang="en-US" sz="2800" b="0" i="1" smtClean="0">
                              <a:solidFill>
                                <a:srgbClr val="002060"/>
                              </a:solidFill>
                              <a:latin typeface="Cambria Math" panose="02040503050406030204" pitchFamily="18" charset="0"/>
                              <a:ea typeface="Cambria Math" panose="02040503050406030204" pitchFamily="18" charset="0"/>
                            </a:rPr>
                            <m:t>𝑖</m:t>
                          </m:r>
                          <m:func>
                            <m:funcPr>
                              <m:ctrlPr>
                                <a:rPr lang="en-US" sz="2800" b="0" i="1" smtClean="0">
                                  <a:solidFill>
                                    <a:srgbClr val="002060"/>
                                  </a:solidFill>
                                  <a:latin typeface="Cambria Math" panose="02040503050406030204" pitchFamily="18" charset="0"/>
                                  <a:ea typeface="Cambria Math" panose="02040503050406030204" pitchFamily="18" charset="0"/>
                                </a:rPr>
                              </m:ctrlPr>
                            </m:funcPr>
                            <m:fName>
                              <m:r>
                                <m:rPr>
                                  <m:sty m:val="p"/>
                                </m:rPr>
                                <a:rPr lang="en-US" sz="2800" b="0" i="0" smtClean="0">
                                  <a:solidFill>
                                    <a:srgbClr val="002060"/>
                                  </a:solidFill>
                                  <a:latin typeface="Cambria Math" panose="02040503050406030204" pitchFamily="18" charset="0"/>
                                  <a:ea typeface="Cambria Math" panose="02040503050406030204" pitchFamily="18" charset="0"/>
                                </a:rPr>
                                <m:t>sin</m:t>
                              </m:r>
                            </m:fName>
                            <m:e>
                              <m:r>
                                <a:rPr lang="en-US" sz="2800" i="1">
                                  <a:solidFill>
                                    <a:srgbClr val="002060"/>
                                  </a:solidFill>
                                  <a:latin typeface="Cambria Math" panose="02040503050406030204" pitchFamily="18" charset="0"/>
                                  <a:ea typeface="Cambria Math" panose="02040503050406030204" pitchFamily="18" charset="0"/>
                                </a:rPr>
                                <m:t>2</m:t>
                              </m:r>
                              <m:r>
                                <a:rPr lang="en-US" sz="2800" i="1">
                                  <a:solidFill>
                                    <a:srgbClr val="002060"/>
                                  </a:solidFill>
                                  <a:latin typeface="Cambria Math" panose="02040503050406030204" pitchFamily="18" charset="0"/>
                                  <a:ea typeface="Cambria Math" panose="02040503050406030204" pitchFamily="18" charset="0"/>
                                </a:rPr>
                                <m:t>𝜋</m:t>
                              </m:r>
                              <m:r>
                                <a:rPr lang="en-US" sz="2800" i="1">
                                  <a:solidFill>
                                    <a:srgbClr val="002060"/>
                                  </a:solidFill>
                                  <a:latin typeface="Cambria Math" panose="02040503050406030204" pitchFamily="18" charset="0"/>
                                  <a:ea typeface="Cambria Math" panose="02040503050406030204" pitchFamily="18" charset="0"/>
                                </a:rPr>
                                <m:t>𝑘</m:t>
                              </m:r>
                            </m:e>
                          </m:func>
                        </m:e>
                      </m:func>
                      <m:r>
                        <a:rPr lang="en-US" sz="2800" b="0" i="1" smtClean="0">
                          <a:solidFill>
                            <a:srgbClr val="002060"/>
                          </a:solidFill>
                          <a:latin typeface="Cambria Math" panose="02040503050406030204" pitchFamily="18" charset="0"/>
                          <a:ea typeface="Cambria Math" panose="02040503050406030204" pitchFamily="18" charset="0"/>
                        </a:rPr>
                        <m:t>,  </m:t>
                      </m:r>
                      <m:r>
                        <a:rPr lang="en-US" sz="2800" i="1">
                          <a:solidFill>
                            <a:schemeClr val="tx1">
                              <a:lumMod val="50000"/>
                              <a:lumOff val="50000"/>
                            </a:schemeClr>
                          </a:solidFill>
                          <a:latin typeface="Cambria Math" panose="02040503050406030204" pitchFamily="18" charset="0"/>
                          <a:ea typeface="Cambria Math" panose="02040503050406030204" pitchFamily="18" charset="0"/>
                        </a:rPr>
                        <m:t>𝑘</m:t>
                      </m:r>
                      <m:r>
                        <a:rPr lang="en-US" sz="2800" i="1">
                          <a:solidFill>
                            <a:schemeClr val="tx1">
                              <a:lumMod val="50000"/>
                              <a:lumOff val="50000"/>
                            </a:schemeClr>
                          </a:solidFill>
                          <a:latin typeface="Cambria Math" panose="02040503050406030204" pitchFamily="18" charset="0"/>
                          <a:ea typeface="Cambria Math" panose="02040503050406030204" pitchFamily="18" charset="0"/>
                        </a:rPr>
                        <m:t>=</m:t>
                      </m:r>
                      <m:d>
                        <m:dPr>
                          <m:begChr m:val="{"/>
                          <m:endChr m:val="}"/>
                          <m:ctrlPr>
                            <a:rPr lang="en-US" sz="2800" i="1">
                              <a:solidFill>
                                <a:schemeClr val="tx1">
                                  <a:lumMod val="50000"/>
                                  <a:lumOff val="50000"/>
                                </a:schemeClr>
                              </a:solidFill>
                              <a:latin typeface="Cambria Math" panose="02040503050406030204" pitchFamily="18" charset="0"/>
                              <a:ea typeface="Cambria Math" panose="02040503050406030204" pitchFamily="18" charset="0"/>
                            </a:rPr>
                          </m:ctrlPr>
                        </m:dPr>
                        <m:e>
                          <m:r>
                            <a:rPr lang="en-US" sz="2800" i="1">
                              <a:solidFill>
                                <a:schemeClr val="tx1">
                                  <a:lumMod val="50000"/>
                                  <a:lumOff val="50000"/>
                                </a:schemeClr>
                              </a:solidFill>
                              <a:latin typeface="Cambria Math" panose="02040503050406030204" pitchFamily="18" charset="0"/>
                              <a:ea typeface="Cambria Math" panose="02040503050406030204" pitchFamily="18" charset="0"/>
                            </a:rPr>
                            <m:t>0,1,⋯,</m:t>
                          </m:r>
                          <m:r>
                            <a:rPr lang="en-US" sz="2800" i="1">
                              <a:solidFill>
                                <a:schemeClr val="tx1">
                                  <a:lumMod val="50000"/>
                                  <a:lumOff val="50000"/>
                                </a:schemeClr>
                              </a:solidFill>
                              <a:latin typeface="Cambria Math" panose="02040503050406030204" pitchFamily="18" charset="0"/>
                              <a:ea typeface="Cambria Math" panose="02040503050406030204" pitchFamily="18" charset="0"/>
                            </a:rPr>
                            <m:t>𝑛</m:t>
                          </m:r>
                          <m:r>
                            <a:rPr lang="en-US" sz="2800" i="1">
                              <a:solidFill>
                                <a:schemeClr val="tx1">
                                  <a:lumMod val="50000"/>
                                  <a:lumOff val="50000"/>
                                </a:schemeClr>
                              </a:solidFill>
                              <a:latin typeface="Cambria Math" panose="02040503050406030204" pitchFamily="18" charset="0"/>
                              <a:ea typeface="Cambria Math" panose="02040503050406030204" pitchFamily="18" charset="0"/>
                            </a:rPr>
                            <m:t>−1</m:t>
                          </m:r>
                        </m:e>
                      </m:d>
                    </m:oMath>
                  </m:oMathPara>
                </a14:m>
                <a:endParaRPr lang="en-US" sz="2800" i="1" dirty="0"/>
              </a:p>
            </p:txBody>
          </p:sp>
        </mc:Choice>
        <mc:Fallback xmlns="">
          <p:sp>
            <p:nvSpPr>
              <p:cNvPr id="5" name="Rectangle 4">
                <a:extLst>
                  <a:ext uri="{FF2B5EF4-FFF2-40B4-BE49-F238E27FC236}">
                    <a16:creationId xmlns:a16="http://schemas.microsoft.com/office/drawing/2014/main" id="{DDCE59CD-98CC-8B4C-A317-4CE62DFFBEC3}"/>
                  </a:ext>
                </a:extLst>
              </p:cNvPr>
              <p:cNvSpPr>
                <a:spLocks noRot="1" noChangeAspect="1" noMove="1" noResize="1" noEditPoints="1" noAdjustHandles="1" noChangeArrowheads="1" noChangeShapeType="1" noTextEdit="1"/>
              </p:cNvSpPr>
              <p:nvPr/>
            </p:nvSpPr>
            <p:spPr>
              <a:xfrm>
                <a:off x="184546" y="2687455"/>
                <a:ext cx="9723239" cy="537135"/>
              </a:xfrm>
              <a:prstGeom prst="rect">
                <a:avLst/>
              </a:prstGeom>
              <a:blipFill>
                <a:blip r:embed="rId9"/>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4E6BB754-8A37-774A-AB36-1C7D5E8827AD}"/>
              </a:ext>
            </a:extLst>
          </p:cNvPr>
          <p:cNvSpPr txBox="1"/>
          <p:nvPr/>
        </p:nvSpPr>
        <p:spPr>
          <a:xfrm>
            <a:off x="3836243" y="1079303"/>
            <a:ext cx="4382610" cy="461665"/>
          </a:xfrm>
          <a:prstGeom prst="rect">
            <a:avLst/>
          </a:prstGeom>
          <a:noFill/>
        </p:spPr>
        <p:txBody>
          <a:bodyPr wrap="none" rtlCol="0">
            <a:spAutoFit/>
          </a:bodyPr>
          <a:lstStyle/>
          <a:p>
            <a:r>
              <a:rPr lang="en-US" sz="2400" dirty="0"/>
              <a:t>Fundamental Theorem of Algebra</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EEAB370-A5DA-C344-97D5-BFDD26A22DE9}"/>
                  </a:ext>
                </a:extLst>
              </p:cNvPr>
              <p:cNvSpPr txBox="1"/>
              <p:nvPr/>
            </p:nvSpPr>
            <p:spPr>
              <a:xfrm>
                <a:off x="8436268" y="1282050"/>
                <a:ext cx="2056973" cy="584775"/>
              </a:xfrm>
              <a:prstGeom prst="rect">
                <a:avLst/>
              </a:prstGeom>
              <a:noFill/>
            </p:spPr>
            <p:txBody>
              <a:bodyPr wrap="none" rtlCol="0">
                <a:spAutoFit/>
              </a:bodyPr>
              <a:lstStyle/>
              <a:p>
                <a14:m>
                  <m:oMath xmlns:m="http://schemas.openxmlformats.org/officeDocument/2006/math">
                    <m:r>
                      <a:rPr lang="en-US" sz="3200" b="1" i="1">
                        <a:solidFill>
                          <a:srgbClr val="002060"/>
                        </a:solidFill>
                        <a:latin typeface="Cambria Math" panose="02040503050406030204" pitchFamily="18" charset="0"/>
                        <a:ea typeface="Cambria Math" panose="02040503050406030204" pitchFamily="18" charset="0"/>
                      </a:rPr>
                      <m:t>𝒏</m:t>
                    </m:r>
                  </m:oMath>
                </a14:m>
                <a:r>
                  <a:rPr lang="en-US" sz="3200" dirty="0"/>
                  <a:t> solutions</a:t>
                </a:r>
              </a:p>
            </p:txBody>
          </p:sp>
        </mc:Choice>
        <mc:Fallback xmlns="">
          <p:sp>
            <p:nvSpPr>
              <p:cNvPr id="8" name="TextBox 7">
                <a:extLst>
                  <a:ext uri="{FF2B5EF4-FFF2-40B4-BE49-F238E27FC236}">
                    <a16:creationId xmlns:a16="http://schemas.microsoft.com/office/drawing/2014/main" id="{6EEAB370-A5DA-C344-97D5-BFDD26A22DE9}"/>
                  </a:ext>
                </a:extLst>
              </p:cNvPr>
              <p:cNvSpPr txBox="1">
                <a:spLocks noRot="1" noChangeAspect="1" noMove="1" noResize="1" noEditPoints="1" noAdjustHandles="1" noChangeArrowheads="1" noChangeShapeType="1" noTextEdit="1"/>
              </p:cNvSpPr>
              <p:nvPr/>
            </p:nvSpPr>
            <p:spPr>
              <a:xfrm>
                <a:off x="8436268" y="1282050"/>
                <a:ext cx="2056973" cy="584775"/>
              </a:xfrm>
              <a:prstGeom prst="rect">
                <a:avLst/>
              </a:prstGeom>
              <a:blipFill>
                <a:blip r:embed="rId10"/>
                <a:stretch>
                  <a:fillRect t="-10638" r="-6135" b="-29787"/>
                </a:stretch>
              </a:blipFill>
            </p:spPr>
            <p:txBody>
              <a:bodyPr/>
              <a:lstStyle/>
              <a:p>
                <a:r>
                  <a:rPr lang="en-US">
                    <a:noFill/>
                  </a:rPr>
                  <a:t> </a:t>
                </a:r>
              </a:p>
            </p:txBody>
          </p:sp>
        </mc:Fallback>
      </mc:AlternateContent>
      <p:sp>
        <p:nvSpPr>
          <p:cNvPr id="9" name="Right Arrow 8">
            <a:extLst>
              <a:ext uri="{FF2B5EF4-FFF2-40B4-BE49-F238E27FC236}">
                <a16:creationId xmlns:a16="http://schemas.microsoft.com/office/drawing/2014/main" id="{C4BE271B-11C3-7844-B306-7FEB8D7D895D}"/>
              </a:ext>
            </a:extLst>
          </p:cNvPr>
          <p:cNvSpPr/>
          <p:nvPr/>
        </p:nvSpPr>
        <p:spPr>
          <a:xfrm>
            <a:off x="3836243" y="1507281"/>
            <a:ext cx="4382610" cy="359544"/>
          </a:xfrm>
          <a:prstGeom prst="rightArrow">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493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10A2F-90E7-BA4A-A5FD-EC218538C250}"/>
              </a:ext>
            </a:extLst>
          </p:cNvPr>
          <p:cNvSpPr>
            <a:spLocks noGrp="1"/>
          </p:cNvSpPr>
          <p:nvPr>
            <p:ph type="title"/>
          </p:nvPr>
        </p:nvSpPr>
        <p:spPr>
          <a:xfrm>
            <a:off x="0" y="0"/>
            <a:ext cx="12192000" cy="928688"/>
          </a:xfrm>
        </p:spPr>
        <p:txBody>
          <a:bodyPr>
            <a:normAutofit/>
          </a:bodyPr>
          <a:lstStyle/>
          <a:p>
            <a:r>
              <a:rPr lang="en-ZA" dirty="0"/>
              <a:t>Example of finding the 5th roots of unity</a:t>
            </a:r>
            <a:endParaRPr lang="en-US" dirty="0"/>
          </a:p>
        </p:txBody>
      </p:sp>
      <p:sp>
        <p:nvSpPr>
          <p:cNvPr id="3" name="Slide Number Placeholder 2">
            <a:extLst>
              <a:ext uri="{FF2B5EF4-FFF2-40B4-BE49-F238E27FC236}">
                <a16:creationId xmlns:a16="http://schemas.microsoft.com/office/drawing/2014/main" id="{D9872124-7A33-9443-8FF5-387643132050}"/>
              </a:ext>
            </a:extLst>
          </p:cNvPr>
          <p:cNvSpPr>
            <a:spLocks noGrp="1"/>
          </p:cNvSpPr>
          <p:nvPr>
            <p:ph type="sldNum" sz="quarter" idx="12"/>
          </p:nvPr>
        </p:nvSpPr>
        <p:spPr/>
        <p:txBody>
          <a:bodyPr/>
          <a:lstStyle/>
          <a:p>
            <a:fld id="{591A223C-FA10-BC46-A853-03BA373D023C}" type="slidenum">
              <a:rPr lang="en-US" smtClean="0"/>
              <a:t>16</a:t>
            </a:fld>
            <a:endParaRPr lang="en-US"/>
          </a:p>
        </p:txBody>
      </p:sp>
      <p:grpSp>
        <p:nvGrpSpPr>
          <p:cNvPr id="227" name="Group 226">
            <a:extLst>
              <a:ext uri="{FF2B5EF4-FFF2-40B4-BE49-F238E27FC236}">
                <a16:creationId xmlns:a16="http://schemas.microsoft.com/office/drawing/2014/main" id="{9655F910-D8C0-AE47-9308-DB5BE779A278}"/>
              </a:ext>
            </a:extLst>
          </p:cNvPr>
          <p:cNvGrpSpPr/>
          <p:nvPr/>
        </p:nvGrpSpPr>
        <p:grpSpPr>
          <a:xfrm>
            <a:off x="2203820" y="1214945"/>
            <a:ext cx="8328071" cy="982231"/>
            <a:chOff x="128046" y="925495"/>
            <a:chExt cx="8328071" cy="982231"/>
          </a:xfrm>
        </p:grpSpPr>
        <p:sp>
          <p:nvSpPr>
            <p:cNvPr id="223" name="Rounded Rectangle 222">
              <a:extLst>
                <a:ext uri="{FF2B5EF4-FFF2-40B4-BE49-F238E27FC236}">
                  <a16:creationId xmlns:a16="http://schemas.microsoft.com/office/drawing/2014/main" id="{5C9B543D-8F3C-8643-ABF3-08B80F47A2B2}"/>
                </a:ext>
              </a:extLst>
            </p:cNvPr>
            <p:cNvSpPr/>
            <p:nvPr/>
          </p:nvSpPr>
          <p:spPr>
            <a:xfrm>
              <a:off x="128046" y="925495"/>
              <a:ext cx="8328071" cy="982231"/>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9" name="Rectangle 138">
                  <a:extLst>
                    <a:ext uri="{FF2B5EF4-FFF2-40B4-BE49-F238E27FC236}">
                      <a16:creationId xmlns:a16="http://schemas.microsoft.com/office/drawing/2014/main" id="{BD40D28A-FECD-3543-A015-F0325F03E787}"/>
                    </a:ext>
                  </a:extLst>
                </p:cNvPr>
                <p:cNvSpPr/>
                <p:nvPr/>
              </p:nvSpPr>
              <p:spPr>
                <a:xfrm>
                  <a:off x="128047" y="925495"/>
                  <a:ext cx="6324295" cy="9103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chemeClr val="tx1"/>
                            </a:solidFill>
                            <a:latin typeface="Cambria Math" panose="02040503050406030204" pitchFamily="18" charset="0"/>
                            <a:ea typeface="Cambria Math" panose="02040503050406030204" pitchFamily="18" charset="0"/>
                          </a:rPr>
                          <m:t>𝑧</m:t>
                        </m:r>
                        <m:r>
                          <a:rPr lang="en-US" sz="2800" b="0" i="1">
                            <a:solidFill>
                              <a:schemeClr val="tx1"/>
                            </a:solidFill>
                            <a:latin typeface="Cambria Math" panose="02040503050406030204" pitchFamily="18" charset="0"/>
                            <a:ea typeface="Cambria Math" panose="02040503050406030204" pitchFamily="18" charset="0"/>
                          </a:rPr>
                          <m:t>=</m:t>
                        </m:r>
                        <m:func>
                          <m:funcPr>
                            <m:ctrlPr>
                              <a:rPr lang="en-US" sz="2800" i="1">
                                <a:solidFill>
                                  <a:schemeClr val="tx1"/>
                                </a:solidFill>
                                <a:latin typeface="Cambria Math" panose="02040503050406030204" pitchFamily="18" charset="0"/>
                                <a:ea typeface="Cambria Math" panose="02040503050406030204" pitchFamily="18" charset="0"/>
                              </a:rPr>
                            </m:ctrlPr>
                          </m:funcPr>
                          <m:fName>
                            <m:r>
                              <m:rPr>
                                <m:sty m:val="p"/>
                              </m:rPr>
                              <a:rPr lang="en-US" sz="2800">
                                <a:solidFill>
                                  <a:schemeClr val="tx1"/>
                                </a:solidFill>
                                <a:latin typeface="Cambria Math" panose="02040503050406030204" pitchFamily="18" charset="0"/>
                                <a:ea typeface="Cambria Math" panose="02040503050406030204" pitchFamily="18" charset="0"/>
                              </a:rPr>
                              <m:t>cos</m:t>
                            </m:r>
                          </m:fName>
                          <m:e>
                            <m:f>
                              <m:fPr>
                                <m:ctrlPr>
                                  <a:rPr lang="en-US" sz="2800" i="1">
                                    <a:solidFill>
                                      <a:schemeClr val="tx1"/>
                                    </a:solidFill>
                                    <a:latin typeface="Cambria Math" panose="02040503050406030204" pitchFamily="18" charset="0"/>
                                    <a:ea typeface="Cambria Math" panose="02040503050406030204" pitchFamily="18" charset="0"/>
                                  </a:rPr>
                                </m:ctrlPr>
                              </m:fPr>
                              <m:num>
                                <m:r>
                                  <a:rPr lang="en-US" sz="2800" i="1">
                                    <a:solidFill>
                                      <a:schemeClr val="tx1"/>
                                    </a:solidFill>
                                    <a:latin typeface="Cambria Math" panose="02040503050406030204" pitchFamily="18" charset="0"/>
                                    <a:ea typeface="Cambria Math" panose="02040503050406030204" pitchFamily="18" charset="0"/>
                                  </a:rPr>
                                  <m:t>2</m:t>
                                </m:r>
                                <m:r>
                                  <a:rPr lang="en-US" sz="2800" i="1">
                                    <a:solidFill>
                                      <a:schemeClr val="tx1"/>
                                    </a:solidFill>
                                    <a:latin typeface="Cambria Math" panose="02040503050406030204" pitchFamily="18" charset="0"/>
                                    <a:ea typeface="Cambria Math" panose="02040503050406030204" pitchFamily="18" charset="0"/>
                                  </a:rPr>
                                  <m:t>𝜋</m:t>
                                </m:r>
                                <m:r>
                                  <a:rPr lang="en-US" sz="2800" i="1">
                                    <a:solidFill>
                                      <a:schemeClr val="tx1"/>
                                    </a:solidFill>
                                    <a:latin typeface="Cambria Math" panose="02040503050406030204" pitchFamily="18" charset="0"/>
                                    <a:ea typeface="Cambria Math" panose="02040503050406030204" pitchFamily="18" charset="0"/>
                                  </a:rPr>
                                  <m:t>𝑘</m:t>
                                </m:r>
                              </m:num>
                              <m:den>
                                <m:r>
                                  <a:rPr lang="en-US" sz="2800" b="0" i="1" smtClean="0">
                                    <a:solidFill>
                                      <a:schemeClr val="tx1"/>
                                    </a:solidFill>
                                    <a:latin typeface="Cambria Math" panose="02040503050406030204" pitchFamily="18" charset="0"/>
                                    <a:ea typeface="Cambria Math" panose="02040503050406030204" pitchFamily="18" charset="0"/>
                                  </a:rPr>
                                  <m:t>5</m:t>
                                </m:r>
                              </m:den>
                            </m:f>
                            <m:r>
                              <a:rPr lang="en-US" sz="2800" i="1">
                                <a:solidFill>
                                  <a:schemeClr val="tx1"/>
                                </a:solidFill>
                                <a:latin typeface="Cambria Math" panose="02040503050406030204" pitchFamily="18" charset="0"/>
                                <a:ea typeface="Cambria Math" panose="02040503050406030204" pitchFamily="18" charset="0"/>
                              </a:rPr>
                              <m:t>+</m:t>
                            </m:r>
                            <m:r>
                              <a:rPr lang="en-US" sz="2800" i="1">
                                <a:solidFill>
                                  <a:schemeClr val="tx1"/>
                                </a:solidFill>
                                <a:latin typeface="Cambria Math" panose="02040503050406030204" pitchFamily="18" charset="0"/>
                                <a:ea typeface="Cambria Math" panose="02040503050406030204" pitchFamily="18" charset="0"/>
                              </a:rPr>
                              <m:t>𝑖</m:t>
                            </m:r>
                            <m:func>
                              <m:funcPr>
                                <m:ctrlPr>
                                  <a:rPr lang="en-US" sz="2800" i="1">
                                    <a:solidFill>
                                      <a:schemeClr val="tx1"/>
                                    </a:solidFill>
                                    <a:latin typeface="Cambria Math" panose="02040503050406030204" pitchFamily="18" charset="0"/>
                                    <a:ea typeface="Cambria Math" panose="02040503050406030204" pitchFamily="18" charset="0"/>
                                  </a:rPr>
                                </m:ctrlPr>
                              </m:funcPr>
                              <m:fName>
                                <m:r>
                                  <m:rPr>
                                    <m:sty m:val="p"/>
                                  </m:rPr>
                                  <a:rPr lang="en-US" sz="2800">
                                    <a:solidFill>
                                      <a:schemeClr val="tx1"/>
                                    </a:solidFill>
                                    <a:latin typeface="Cambria Math" panose="02040503050406030204" pitchFamily="18" charset="0"/>
                                    <a:ea typeface="Cambria Math" panose="02040503050406030204" pitchFamily="18" charset="0"/>
                                  </a:rPr>
                                  <m:t>sin</m:t>
                                </m:r>
                              </m:fName>
                              <m:e>
                                <m:f>
                                  <m:fPr>
                                    <m:ctrlPr>
                                      <a:rPr lang="en-US" sz="2800" i="1">
                                        <a:solidFill>
                                          <a:schemeClr val="tx1"/>
                                        </a:solidFill>
                                        <a:latin typeface="Cambria Math" panose="02040503050406030204" pitchFamily="18" charset="0"/>
                                        <a:ea typeface="Cambria Math" panose="02040503050406030204" pitchFamily="18" charset="0"/>
                                      </a:rPr>
                                    </m:ctrlPr>
                                  </m:fPr>
                                  <m:num>
                                    <m:r>
                                      <a:rPr lang="en-US" sz="2800" i="1">
                                        <a:solidFill>
                                          <a:schemeClr val="tx1"/>
                                        </a:solidFill>
                                        <a:latin typeface="Cambria Math" panose="02040503050406030204" pitchFamily="18" charset="0"/>
                                        <a:ea typeface="Cambria Math" panose="02040503050406030204" pitchFamily="18" charset="0"/>
                                      </a:rPr>
                                      <m:t>2</m:t>
                                    </m:r>
                                    <m:r>
                                      <a:rPr lang="en-US" sz="2800" i="1">
                                        <a:solidFill>
                                          <a:schemeClr val="tx1"/>
                                        </a:solidFill>
                                        <a:latin typeface="Cambria Math" panose="02040503050406030204" pitchFamily="18" charset="0"/>
                                        <a:ea typeface="Cambria Math" panose="02040503050406030204" pitchFamily="18" charset="0"/>
                                      </a:rPr>
                                      <m:t>𝜋</m:t>
                                    </m:r>
                                    <m:r>
                                      <a:rPr lang="en-US" sz="2800" i="1">
                                        <a:solidFill>
                                          <a:schemeClr val="tx1"/>
                                        </a:solidFill>
                                        <a:latin typeface="Cambria Math" panose="02040503050406030204" pitchFamily="18" charset="0"/>
                                        <a:ea typeface="Cambria Math" panose="02040503050406030204" pitchFamily="18" charset="0"/>
                                      </a:rPr>
                                      <m:t>𝑘</m:t>
                                    </m:r>
                                  </m:num>
                                  <m:den>
                                    <m:r>
                                      <a:rPr lang="en-US" sz="2800" b="0" i="1" smtClean="0">
                                        <a:solidFill>
                                          <a:schemeClr val="tx1"/>
                                        </a:solidFill>
                                        <a:latin typeface="Cambria Math" panose="02040503050406030204" pitchFamily="18" charset="0"/>
                                        <a:ea typeface="Cambria Math" panose="02040503050406030204" pitchFamily="18" charset="0"/>
                                      </a:rPr>
                                      <m:t>5</m:t>
                                    </m:r>
                                  </m:den>
                                </m:f>
                              </m:e>
                            </m:func>
                          </m:e>
                        </m:func>
                        <m:d>
                          <m:dPr>
                            <m:begChr m:val=""/>
                            <m:endChr m:val="|"/>
                            <m:ctrlPr>
                              <a:rPr lang="en-US" sz="2800" i="1">
                                <a:solidFill>
                                  <a:schemeClr val="tx1"/>
                                </a:solidFill>
                                <a:latin typeface="Cambria Math" panose="02040503050406030204" pitchFamily="18" charset="0"/>
                                <a:ea typeface="Cambria Math" panose="02040503050406030204" pitchFamily="18" charset="0"/>
                              </a:rPr>
                            </m:ctrlPr>
                          </m:dPr>
                          <m:e>
                            <m:r>
                              <a:rPr lang="en-US" sz="2800" b="0" i="1" smtClean="0">
                                <a:solidFill>
                                  <a:schemeClr val="tx1"/>
                                </a:solidFill>
                                <a:latin typeface="Cambria Math" panose="02040503050406030204" pitchFamily="18" charset="0"/>
                                <a:ea typeface="Cambria Math" panose="02040503050406030204" pitchFamily="18" charset="0"/>
                              </a:rPr>
                              <m:t>=</m:t>
                            </m:r>
                            <m:sSubSup>
                              <m:sSubSupPr>
                                <m:ctrlPr>
                                  <a:rPr lang="en-US" sz="2800" i="1">
                                    <a:latin typeface="Cambria Math" panose="02040503050406030204" pitchFamily="18" charset="0"/>
                                    <a:ea typeface="Cambria Math" panose="02040503050406030204" pitchFamily="18" charset="0"/>
                                  </a:rPr>
                                </m:ctrlPr>
                              </m:sSubSupPr>
                              <m:e>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𝑒</m:t>
                                    </m:r>
                                  </m:e>
                                  <m:sup>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2</m:t>
                                        </m:r>
                                        <m:r>
                                          <a:rPr lang="en-US" sz="2800" i="1">
                                            <a:latin typeface="Cambria Math" panose="02040503050406030204" pitchFamily="18" charset="0"/>
                                            <a:ea typeface="Cambria Math" panose="02040503050406030204" pitchFamily="18" charset="0"/>
                                          </a:rPr>
                                          <m:t>𝜋</m:t>
                                        </m:r>
                                        <m:r>
                                          <a:rPr lang="en-US" sz="2800" i="1">
                                            <a:latin typeface="Cambria Math" panose="02040503050406030204" pitchFamily="18" charset="0"/>
                                            <a:ea typeface="Cambria Math" panose="02040503050406030204" pitchFamily="18" charset="0"/>
                                          </a:rPr>
                                          <m:t>𝑖</m:t>
                                        </m:r>
                                      </m:num>
                                      <m:den>
                                        <m:r>
                                          <a:rPr lang="en-US" sz="2800" b="0" i="1" smtClean="0">
                                            <a:latin typeface="Cambria Math" panose="02040503050406030204" pitchFamily="18" charset="0"/>
                                            <a:ea typeface="Cambria Math" panose="02040503050406030204" pitchFamily="18" charset="0"/>
                                          </a:rPr>
                                          <m:t>5</m:t>
                                        </m:r>
                                      </m:den>
                                    </m:f>
                                    <m:r>
                                      <a:rPr lang="sr-Latn-RS" sz="2800" b="0" i="1" smtClean="0">
                                        <a:latin typeface="Cambria Math" panose="02040503050406030204" pitchFamily="18" charset="0"/>
                                        <a:ea typeface="Cambria Math" panose="02040503050406030204" pitchFamily="18" charset="0"/>
                                      </a:rPr>
                                      <m:t>𝑘</m:t>
                                    </m:r>
                                  </m:sup>
                                </m:sSup>
                                <m:r>
                                  <a:rPr lang="en-US" sz="2800" b="0" i="1" smtClean="0">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𝜔</m:t>
                                </m:r>
                              </m:e>
                              <m:sub>
                                <m:r>
                                  <a:rPr lang="en-US" sz="2800" b="0" i="1" smtClean="0">
                                    <a:latin typeface="Cambria Math" panose="02040503050406030204" pitchFamily="18" charset="0"/>
                                    <a:ea typeface="Cambria Math" panose="02040503050406030204" pitchFamily="18" charset="0"/>
                                  </a:rPr>
                                  <m:t>5</m:t>
                                </m:r>
                              </m:sub>
                              <m:sup>
                                <m:r>
                                  <a:rPr lang="en-US" sz="2800" i="1">
                                    <a:latin typeface="Cambria Math" panose="02040503050406030204" pitchFamily="18" charset="0"/>
                                    <a:ea typeface="Cambria Math" panose="02040503050406030204" pitchFamily="18" charset="0"/>
                                  </a:rPr>
                                  <m:t>𝑘</m:t>
                                </m:r>
                              </m:sup>
                            </m:sSubSup>
                            <m:r>
                              <a:rPr lang="en-US" sz="2800" b="0" i="1" smtClean="0">
                                <a:latin typeface="Cambria Math" panose="02040503050406030204" pitchFamily="18" charset="0"/>
                                <a:ea typeface="Cambria Math" panose="02040503050406030204" pitchFamily="18" charset="0"/>
                              </a:rPr>
                              <m:t>  </m:t>
                            </m:r>
                          </m:e>
                        </m:d>
                      </m:oMath>
                    </m:oMathPara>
                  </a14:m>
                  <a:endParaRPr lang="en-US" sz="2800" i="1" dirty="0">
                    <a:solidFill>
                      <a:schemeClr val="tx1">
                        <a:lumMod val="50000"/>
                        <a:lumOff val="50000"/>
                      </a:schemeClr>
                    </a:solidFill>
                  </a:endParaRPr>
                </a:p>
              </p:txBody>
            </p:sp>
          </mc:Choice>
          <mc:Fallback xmlns="">
            <p:sp>
              <p:nvSpPr>
                <p:cNvPr id="139" name="Rectangle 138">
                  <a:extLst>
                    <a:ext uri="{FF2B5EF4-FFF2-40B4-BE49-F238E27FC236}">
                      <a16:creationId xmlns:a16="http://schemas.microsoft.com/office/drawing/2014/main" id="{BD40D28A-FECD-3543-A015-F0325F03E787}"/>
                    </a:ext>
                  </a:extLst>
                </p:cNvPr>
                <p:cNvSpPr>
                  <a:spLocks noRot="1" noChangeAspect="1" noMove="1" noResize="1" noEditPoints="1" noAdjustHandles="1" noChangeArrowheads="1" noChangeShapeType="1" noTextEdit="1"/>
                </p:cNvSpPr>
                <p:nvPr/>
              </p:nvSpPr>
              <p:spPr>
                <a:xfrm>
                  <a:off x="128047" y="925495"/>
                  <a:ext cx="6324295" cy="910377"/>
                </a:xfrm>
                <a:prstGeom prst="rect">
                  <a:avLst/>
                </a:prstGeom>
                <a:blipFill>
                  <a:blip r:embed="rId3"/>
                  <a:stretch>
                    <a:fillRect t="-149296" r="-13427" b="-2042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0" name="Rectangle 219">
                  <a:extLst>
                    <a:ext uri="{FF2B5EF4-FFF2-40B4-BE49-F238E27FC236}">
                      <a16:creationId xmlns:a16="http://schemas.microsoft.com/office/drawing/2014/main" id="{56DAC5FC-8FB4-DD40-8B5A-49144B10DF46}"/>
                    </a:ext>
                  </a:extLst>
                </p:cNvPr>
                <p:cNvSpPr/>
                <p:nvPr/>
              </p:nvSpPr>
              <p:spPr>
                <a:xfrm>
                  <a:off x="6186823" y="1291174"/>
                  <a:ext cx="184935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smtClean="0">
                            <a:solidFill>
                              <a:schemeClr val="tx1">
                                <a:lumMod val="65000"/>
                                <a:lumOff val="35000"/>
                              </a:schemeClr>
                            </a:solidFill>
                            <a:latin typeface="Cambria Math" panose="02040503050406030204" pitchFamily="18" charset="0"/>
                            <a:ea typeface="Cambria Math" panose="02040503050406030204" pitchFamily="18" charset="0"/>
                          </a:rPr>
                          <m:t>𝑘</m:t>
                        </m:r>
                        <m:r>
                          <a:rPr lang="en-US" sz="2000" i="1" smtClean="0">
                            <a:solidFill>
                              <a:schemeClr val="tx1">
                                <a:lumMod val="65000"/>
                                <a:lumOff val="35000"/>
                              </a:schemeClr>
                            </a:solidFill>
                            <a:latin typeface="Cambria Math" panose="02040503050406030204" pitchFamily="18" charset="0"/>
                            <a:ea typeface="Cambria Math" panose="02040503050406030204" pitchFamily="18" charset="0"/>
                          </a:rPr>
                          <m:t>=</m:t>
                        </m:r>
                        <m:d>
                          <m:dPr>
                            <m:begChr m:val="{"/>
                            <m:endChr m:val="}"/>
                            <m:ctrlPr>
                              <a:rPr lang="en-US" sz="2000" i="1">
                                <a:solidFill>
                                  <a:schemeClr val="tx1">
                                    <a:lumMod val="65000"/>
                                    <a:lumOff val="35000"/>
                                  </a:schemeClr>
                                </a:solidFill>
                                <a:latin typeface="Cambria Math" panose="02040503050406030204" pitchFamily="18" charset="0"/>
                                <a:ea typeface="Cambria Math" panose="02040503050406030204" pitchFamily="18" charset="0"/>
                              </a:rPr>
                            </m:ctrlPr>
                          </m:dPr>
                          <m:e>
                            <m:r>
                              <a:rPr lang="en-US" sz="2000" i="1">
                                <a:solidFill>
                                  <a:schemeClr val="tx1">
                                    <a:lumMod val="65000"/>
                                    <a:lumOff val="35000"/>
                                  </a:schemeClr>
                                </a:solidFill>
                                <a:latin typeface="Cambria Math" panose="02040503050406030204" pitchFamily="18" charset="0"/>
                                <a:ea typeface="Cambria Math" panose="02040503050406030204" pitchFamily="18" charset="0"/>
                              </a:rPr>
                              <m:t>0,1,</m:t>
                            </m:r>
                            <m:r>
                              <a:rPr lang="en-US" sz="2000" b="0" i="1" smtClean="0">
                                <a:solidFill>
                                  <a:schemeClr val="tx1">
                                    <a:lumMod val="65000"/>
                                    <a:lumOff val="35000"/>
                                  </a:schemeClr>
                                </a:solidFill>
                                <a:latin typeface="Cambria Math" panose="02040503050406030204" pitchFamily="18" charset="0"/>
                                <a:ea typeface="Cambria Math" panose="02040503050406030204" pitchFamily="18" charset="0"/>
                              </a:rPr>
                              <m:t>2,3,4</m:t>
                            </m:r>
                          </m:e>
                        </m:d>
                      </m:oMath>
                    </m:oMathPara>
                  </a14:m>
                  <a:endParaRPr lang="en-US" sz="2000" dirty="0">
                    <a:solidFill>
                      <a:schemeClr val="tx1">
                        <a:lumMod val="65000"/>
                        <a:lumOff val="35000"/>
                      </a:schemeClr>
                    </a:solidFill>
                  </a:endParaRPr>
                </a:p>
              </p:txBody>
            </p:sp>
          </mc:Choice>
          <mc:Fallback xmlns="">
            <p:sp>
              <p:nvSpPr>
                <p:cNvPr id="220" name="Rectangle 219">
                  <a:extLst>
                    <a:ext uri="{FF2B5EF4-FFF2-40B4-BE49-F238E27FC236}">
                      <a16:creationId xmlns:a16="http://schemas.microsoft.com/office/drawing/2014/main" id="{56DAC5FC-8FB4-DD40-8B5A-49144B10DF46}"/>
                    </a:ext>
                  </a:extLst>
                </p:cNvPr>
                <p:cNvSpPr>
                  <a:spLocks noRot="1" noChangeAspect="1" noMove="1" noResize="1" noEditPoints="1" noAdjustHandles="1" noChangeArrowheads="1" noChangeShapeType="1" noTextEdit="1"/>
                </p:cNvSpPr>
                <p:nvPr/>
              </p:nvSpPr>
              <p:spPr>
                <a:xfrm>
                  <a:off x="6186823" y="1291174"/>
                  <a:ext cx="1849352" cy="400110"/>
                </a:xfrm>
                <a:prstGeom prst="rect">
                  <a:avLst/>
                </a:prstGeom>
                <a:blipFill>
                  <a:blip r:embed="rId4"/>
                  <a:stretch>
                    <a:fillRect/>
                  </a:stretch>
                </a:blipFill>
              </p:spPr>
              <p:txBody>
                <a:bodyPr/>
                <a:lstStyle/>
                <a:p>
                  <a:r>
                    <a:rPr lang="en-US">
                      <a:noFill/>
                    </a:rPr>
                    <a:t> </a:t>
                  </a:r>
                </a:p>
              </p:txBody>
            </p:sp>
          </mc:Fallback>
        </mc:AlternateContent>
      </p:grpSp>
      <p:sp>
        <p:nvSpPr>
          <p:cNvPr id="225" name="TextBox 224">
            <a:extLst>
              <a:ext uri="{FF2B5EF4-FFF2-40B4-BE49-F238E27FC236}">
                <a16:creationId xmlns:a16="http://schemas.microsoft.com/office/drawing/2014/main" id="{849D0300-D000-F24F-886F-C49B2FFF9EA2}"/>
              </a:ext>
            </a:extLst>
          </p:cNvPr>
          <p:cNvSpPr txBox="1"/>
          <p:nvPr/>
        </p:nvSpPr>
        <p:spPr>
          <a:xfrm>
            <a:off x="13106400" y="7261412"/>
            <a:ext cx="184731" cy="369332"/>
          </a:xfrm>
          <a:prstGeom prst="rect">
            <a:avLst/>
          </a:prstGeom>
          <a:noFill/>
        </p:spPr>
        <p:txBody>
          <a:bodyPr wrap="none" rtlCol="0">
            <a:spAutoFit/>
          </a:bodyPr>
          <a:lstStyle/>
          <a:p>
            <a:endParaRPr lang="en-US" dirty="0"/>
          </a:p>
        </p:txBody>
      </p:sp>
      <p:grpSp>
        <p:nvGrpSpPr>
          <p:cNvPr id="5" name="Group 4">
            <a:extLst>
              <a:ext uri="{FF2B5EF4-FFF2-40B4-BE49-F238E27FC236}">
                <a16:creationId xmlns:a16="http://schemas.microsoft.com/office/drawing/2014/main" id="{45DAF2CB-359A-1B49-8C3B-66CBF1F84FED}"/>
              </a:ext>
            </a:extLst>
          </p:cNvPr>
          <p:cNvGrpSpPr/>
          <p:nvPr/>
        </p:nvGrpSpPr>
        <p:grpSpPr>
          <a:xfrm>
            <a:off x="73372" y="2371409"/>
            <a:ext cx="12118628" cy="4126107"/>
            <a:chOff x="73372" y="2371409"/>
            <a:chExt cx="12118628" cy="4126107"/>
          </a:xfrm>
        </p:grpSpPr>
        <p:sp>
          <p:nvSpPr>
            <p:cNvPr id="159" name="Rectangle 158">
              <a:extLst>
                <a:ext uri="{FF2B5EF4-FFF2-40B4-BE49-F238E27FC236}">
                  <a16:creationId xmlns:a16="http://schemas.microsoft.com/office/drawing/2014/main" id="{C7B5B5AA-84DA-554F-BD2F-92D7844EBDAB}"/>
                </a:ext>
              </a:extLst>
            </p:cNvPr>
            <p:cNvSpPr/>
            <p:nvPr/>
          </p:nvSpPr>
          <p:spPr>
            <a:xfrm>
              <a:off x="7429501" y="5401054"/>
              <a:ext cx="349424" cy="686231"/>
            </a:xfrm>
            <a:prstGeom prst="rect">
              <a:avLst/>
            </a:prstGeom>
          </p:spPr>
          <p:txBody>
            <a:bodyPr wrap="none">
              <a:spAutoFit/>
            </a:bodyPr>
            <a:lstStyle/>
            <a:p>
              <a:r>
                <a:rPr lang="en-US" sz="2800" dirty="0"/>
                <a:t> </a:t>
              </a:r>
            </a:p>
          </p:txBody>
        </p:sp>
        <p:sp>
          <p:nvSpPr>
            <p:cNvPr id="160" name="Oval 159">
              <a:extLst>
                <a:ext uri="{FF2B5EF4-FFF2-40B4-BE49-F238E27FC236}">
                  <a16:creationId xmlns:a16="http://schemas.microsoft.com/office/drawing/2014/main" id="{D8438D6A-3D92-E94F-8EDC-3D81CFDA45ED}"/>
                </a:ext>
              </a:extLst>
            </p:cNvPr>
            <p:cNvSpPr/>
            <p:nvPr/>
          </p:nvSpPr>
          <p:spPr>
            <a:xfrm>
              <a:off x="8392195" y="3057465"/>
              <a:ext cx="3069034" cy="3069035"/>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160">
              <a:extLst>
                <a:ext uri="{FF2B5EF4-FFF2-40B4-BE49-F238E27FC236}">
                  <a16:creationId xmlns:a16="http://schemas.microsoft.com/office/drawing/2014/main" id="{4F4AE415-2593-5E43-AAE6-7C030585153A}"/>
                </a:ext>
              </a:extLst>
            </p:cNvPr>
            <p:cNvCxnSpPr>
              <a:cxnSpLocks/>
            </p:cNvCxnSpPr>
            <p:nvPr/>
          </p:nvCxnSpPr>
          <p:spPr>
            <a:xfrm>
              <a:off x="9926713" y="2720243"/>
              <a:ext cx="0" cy="3777273"/>
            </a:xfrm>
            <a:prstGeom prst="line">
              <a:avLst/>
            </a:prstGeom>
            <a:ln>
              <a:solidFill>
                <a:schemeClr val="bg1">
                  <a:lumMod val="65000"/>
                </a:schemeClr>
              </a:solidFill>
              <a:headEnd type="triangle" w="lg" len="lg"/>
            </a:ln>
          </p:spPr>
          <p:style>
            <a:lnRef idx="1">
              <a:schemeClr val="accent1"/>
            </a:lnRef>
            <a:fillRef idx="0">
              <a:schemeClr val="accent1"/>
            </a:fillRef>
            <a:effectRef idx="0">
              <a:schemeClr val="accent1"/>
            </a:effectRef>
            <a:fontRef idx="minor">
              <a:schemeClr val="tx1"/>
            </a:fontRef>
          </p:style>
        </p:cxnSp>
        <p:cxnSp>
          <p:nvCxnSpPr>
            <p:cNvPr id="162" name="Straight Connector 161">
              <a:extLst>
                <a:ext uri="{FF2B5EF4-FFF2-40B4-BE49-F238E27FC236}">
                  <a16:creationId xmlns:a16="http://schemas.microsoft.com/office/drawing/2014/main" id="{F598C8CC-CFF0-C942-9A17-9B30C6758C02}"/>
                </a:ext>
              </a:extLst>
            </p:cNvPr>
            <p:cNvCxnSpPr>
              <a:cxnSpLocks/>
            </p:cNvCxnSpPr>
            <p:nvPr/>
          </p:nvCxnSpPr>
          <p:spPr>
            <a:xfrm>
              <a:off x="8038076" y="4594195"/>
              <a:ext cx="3777273" cy="0"/>
            </a:xfrm>
            <a:prstGeom prst="line">
              <a:avLst/>
            </a:prstGeom>
            <a:ln>
              <a:solidFill>
                <a:schemeClr val="bg1">
                  <a:lumMod val="6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3" name="Rectangle 162">
                  <a:extLst>
                    <a:ext uri="{FF2B5EF4-FFF2-40B4-BE49-F238E27FC236}">
                      <a16:creationId xmlns:a16="http://schemas.microsoft.com/office/drawing/2014/main" id="{CE835DF4-1322-E647-99B9-E76E7B38CB7E}"/>
                    </a:ext>
                  </a:extLst>
                </p:cNvPr>
                <p:cNvSpPr/>
                <p:nvPr/>
              </p:nvSpPr>
              <p:spPr>
                <a:xfrm>
                  <a:off x="11526205" y="4600135"/>
                  <a:ext cx="42351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163" name="Rectangle 162">
                  <a:extLst>
                    <a:ext uri="{FF2B5EF4-FFF2-40B4-BE49-F238E27FC236}">
                      <a16:creationId xmlns:a16="http://schemas.microsoft.com/office/drawing/2014/main" id="{CE835DF4-1322-E647-99B9-E76E7B38CB7E}"/>
                    </a:ext>
                  </a:extLst>
                </p:cNvPr>
                <p:cNvSpPr>
                  <a:spLocks noRot="1" noChangeAspect="1" noMove="1" noResize="1" noEditPoints="1" noAdjustHandles="1" noChangeArrowheads="1" noChangeShapeType="1" noTextEdit="1"/>
                </p:cNvSpPr>
                <p:nvPr/>
              </p:nvSpPr>
              <p:spPr>
                <a:xfrm>
                  <a:off x="11526205" y="4600135"/>
                  <a:ext cx="423514"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4" name="Rectangle 163">
                  <a:extLst>
                    <a:ext uri="{FF2B5EF4-FFF2-40B4-BE49-F238E27FC236}">
                      <a16:creationId xmlns:a16="http://schemas.microsoft.com/office/drawing/2014/main" id="{04F02095-CFD1-0D4C-979C-4B46D59856C1}"/>
                    </a:ext>
                  </a:extLst>
                </p:cNvPr>
                <p:cNvSpPr/>
                <p:nvPr/>
              </p:nvSpPr>
              <p:spPr>
                <a:xfrm>
                  <a:off x="7730242" y="4504394"/>
                  <a:ext cx="65274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164" name="Rectangle 163">
                  <a:extLst>
                    <a:ext uri="{FF2B5EF4-FFF2-40B4-BE49-F238E27FC236}">
                      <a16:creationId xmlns:a16="http://schemas.microsoft.com/office/drawing/2014/main" id="{04F02095-CFD1-0D4C-979C-4B46D59856C1}"/>
                    </a:ext>
                  </a:extLst>
                </p:cNvPr>
                <p:cNvSpPr>
                  <a:spLocks noRot="1" noChangeAspect="1" noMove="1" noResize="1" noEditPoints="1" noAdjustHandles="1" noChangeArrowheads="1" noChangeShapeType="1" noTextEdit="1"/>
                </p:cNvSpPr>
                <p:nvPr/>
              </p:nvSpPr>
              <p:spPr>
                <a:xfrm>
                  <a:off x="7730242" y="4504394"/>
                  <a:ext cx="652743"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5" name="Rectangle 164">
                  <a:extLst>
                    <a:ext uri="{FF2B5EF4-FFF2-40B4-BE49-F238E27FC236}">
                      <a16:creationId xmlns:a16="http://schemas.microsoft.com/office/drawing/2014/main" id="{E3DE7C06-A369-4347-8829-EA963066404E}"/>
                    </a:ext>
                  </a:extLst>
                </p:cNvPr>
                <p:cNvSpPr/>
                <p:nvPr/>
              </p:nvSpPr>
              <p:spPr>
                <a:xfrm>
                  <a:off x="9488062" y="2650990"/>
                  <a:ext cx="36112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𝑖</m:t>
                        </m:r>
                      </m:oMath>
                    </m:oMathPara>
                  </a14:m>
                  <a:endParaRPr lang="en-US" sz="2400" dirty="0"/>
                </a:p>
              </p:txBody>
            </p:sp>
          </mc:Choice>
          <mc:Fallback xmlns="">
            <p:sp>
              <p:nvSpPr>
                <p:cNvPr id="165" name="Rectangle 164">
                  <a:extLst>
                    <a:ext uri="{FF2B5EF4-FFF2-40B4-BE49-F238E27FC236}">
                      <a16:creationId xmlns:a16="http://schemas.microsoft.com/office/drawing/2014/main" id="{E3DE7C06-A369-4347-8829-EA963066404E}"/>
                    </a:ext>
                  </a:extLst>
                </p:cNvPr>
                <p:cNvSpPr>
                  <a:spLocks noRot="1" noChangeAspect="1" noMove="1" noResize="1" noEditPoints="1" noAdjustHandles="1" noChangeArrowheads="1" noChangeShapeType="1" noTextEdit="1"/>
                </p:cNvSpPr>
                <p:nvPr/>
              </p:nvSpPr>
              <p:spPr>
                <a:xfrm>
                  <a:off x="9488062" y="2650990"/>
                  <a:ext cx="361125"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6" name="Rectangle 165">
                  <a:extLst>
                    <a:ext uri="{FF2B5EF4-FFF2-40B4-BE49-F238E27FC236}">
                      <a16:creationId xmlns:a16="http://schemas.microsoft.com/office/drawing/2014/main" id="{5E1BC0C0-CB6C-074C-AC9E-036ACB1D7829}"/>
                    </a:ext>
                  </a:extLst>
                </p:cNvPr>
                <p:cNvSpPr/>
                <p:nvPr/>
              </p:nvSpPr>
              <p:spPr>
                <a:xfrm>
                  <a:off x="9335189" y="6031210"/>
                  <a:ext cx="59035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𝑖</m:t>
                        </m:r>
                      </m:oMath>
                    </m:oMathPara>
                  </a14:m>
                  <a:endParaRPr lang="en-US" sz="2400" dirty="0"/>
                </a:p>
              </p:txBody>
            </p:sp>
          </mc:Choice>
          <mc:Fallback xmlns="">
            <p:sp>
              <p:nvSpPr>
                <p:cNvPr id="166" name="Rectangle 165">
                  <a:extLst>
                    <a:ext uri="{FF2B5EF4-FFF2-40B4-BE49-F238E27FC236}">
                      <a16:creationId xmlns:a16="http://schemas.microsoft.com/office/drawing/2014/main" id="{5E1BC0C0-CB6C-074C-AC9E-036ACB1D7829}"/>
                    </a:ext>
                  </a:extLst>
                </p:cNvPr>
                <p:cNvSpPr>
                  <a:spLocks noRot="1" noChangeAspect="1" noMove="1" noResize="1" noEditPoints="1" noAdjustHandles="1" noChangeArrowheads="1" noChangeShapeType="1" noTextEdit="1"/>
                </p:cNvSpPr>
                <p:nvPr/>
              </p:nvSpPr>
              <p:spPr>
                <a:xfrm>
                  <a:off x="9335189" y="6031210"/>
                  <a:ext cx="590353" cy="461665"/>
                </a:xfrm>
                <a:prstGeom prst="rect">
                  <a:avLst/>
                </a:prstGeom>
                <a:blipFill>
                  <a:blip r:embed="rId8"/>
                  <a:stretch>
                    <a:fillRect/>
                  </a:stretch>
                </a:blipFill>
              </p:spPr>
              <p:txBody>
                <a:bodyPr/>
                <a:lstStyle/>
                <a:p>
                  <a:r>
                    <a:rPr lang="en-US">
                      <a:noFill/>
                    </a:rPr>
                    <a:t> </a:t>
                  </a:r>
                </a:p>
              </p:txBody>
            </p:sp>
          </mc:Fallback>
        </mc:AlternateContent>
        <p:grpSp>
          <p:nvGrpSpPr>
            <p:cNvPr id="202" name="Group 201">
              <a:extLst>
                <a:ext uri="{FF2B5EF4-FFF2-40B4-BE49-F238E27FC236}">
                  <a16:creationId xmlns:a16="http://schemas.microsoft.com/office/drawing/2014/main" id="{5211254B-2CCC-8F46-A3F5-51C4446785A7}"/>
                </a:ext>
              </a:extLst>
            </p:cNvPr>
            <p:cNvGrpSpPr/>
            <p:nvPr/>
          </p:nvGrpSpPr>
          <p:grpSpPr>
            <a:xfrm>
              <a:off x="9930877" y="4521931"/>
              <a:ext cx="1612165" cy="140581"/>
              <a:chOff x="10426993" y="3578804"/>
              <a:chExt cx="1229203" cy="107187"/>
            </a:xfrm>
          </p:grpSpPr>
          <p:sp>
            <p:nvSpPr>
              <p:cNvPr id="167" name="Oval 166">
                <a:extLst>
                  <a:ext uri="{FF2B5EF4-FFF2-40B4-BE49-F238E27FC236}">
                    <a16:creationId xmlns:a16="http://schemas.microsoft.com/office/drawing/2014/main" id="{CEFFB88E-41D9-5941-B972-9D1A7515693D}"/>
                  </a:ext>
                </a:extLst>
              </p:cNvPr>
              <p:cNvSpPr/>
              <p:nvPr/>
            </p:nvSpPr>
            <p:spPr>
              <a:xfrm rot="5400000">
                <a:off x="11549009" y="3578804"/>
                <a:ext cx="107187" cy="107187"/>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8" name="Straight Connector 167">
                <a:extLst>
                  <a:ext uri="{FF2B5EF4-FFF2-40B4-BE49-F238E27FC236}">
                    <a16:creationId xmlns:a16="http://schemas.microsoft.com/office/drawing/2014/main" id="{34DA16D8-BCCF-8146-8DD0-59FC8FE307B1}"/>
                  </a:ext>
                </a:extLst>
              </p:cNvPr>
              <p:cNvCxnSpPr>
                <a:cxnSpLocks/>
              </p:cNvCxnSpPr>
              <p:nvPr/>
            </p:nvCxnSpPr>
            <p:spPr>
              <a:xfrm flipH="1">
                <a:off x="10426993" y="3632215"/>
                <a:ext cx="1116000" cy="0"/>
              </a:xfrm>
              <a:prstGeom prst="line">
                <a:avLst/>
              </a:prstGeom>
              <a:ln w="12700" cap="rnd">
                <a:solidFill>
                  <a:schemeClr val="bg1">
                    <a:lumMod val="50000"/>
                  </a:schemeClr>
                </a:solidFill>
                <a:headEnd type="triangle" w="lg" len="lg"/>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70" name="Rectangle 169">
                  <a:extLst>
                    <a:ext uri="{FF2B5EF4-FFF2-40B4-BE49-F238E27FC236}">
                      <a16:creationId xmlns:a16="http://schemas.microsoft.com/office/drawing/2014/main" id="{3C5B6CE6-C5A7-634D-9233-10043383471E}"/>
                    </a:ext>
                  </a:extLst>
                </p:cNvPr>
                <p:cNvSpPr/>
                <p:nvPr/>
              </p:nvSpPr>
              <p:spPr>
                <a:xfrm>
                  <a:off x="11583820" y="4050444"/>
                  <a:ext cx="60818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𝑅𝑒</m:t>
                        </m:r>
                      </m:oMath>
                    </m:oMathPara>
                  </a14:m>
                  <a:endParaRPr lang="en-US" sz="2400" dirty="0"/>
                </a:p>
              </p:txBody>
            </p:sp>
          </mc:Choice>
          <mc:Fallback xmlns="">
            <p:sp>
              <p:nvSpPr>
                <p:cNvPr id="170" name="Rectangle 169">
                  <a:extLst>
                    <a:ext uri="{FF2B5EF4-FFF2-40B4-BE49-F238E27FC236}">
                      <a16:creationId xmlns:a16="http://schemas.microsoft.com/office/drawing/2014/main" id="{3C5B6CE6-C5A7-634D-9233-10043383471E}"/>
                    </a:ext>
                  </a:extLst>
                </p:cNvPr>
                <p:cNvSpPr>
                  <a:spLocks noRot="1" noChangeAspect="1" noMove="1" noResize="1" noEditPoints="1" noAdjustHandles="1" noChangeArrowheads="1" noChangeShapeType="1" noTextEdit="1"/>
                </p:cNvSpPr>
                <p:nvPr/>
              </p:nvSpPr>
              <p:spPr>
                <a:xfrm>
                  <a:off x="11583820" y="4050444"/>
                  <a:ext cx="608180"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1" name="Rectangle 170">
                  <a:extLst>
                    <a:ext uri="{FF2B5EF4-FFF2-40B4-BE49-F238E27FC236}">
                      <a16:creationId xmlns:a16="http://schemas.microsoft.com/office/drawing/2014/main" id="{31B2E85C-8655-1144-BCA9-2E98E0888103}"/>
                    </a:ext>
                  </a:extLst>
                </p:cNvPr>
                <p:cNvSpPr/>
                <p:nvPr/>
              </p:nvSpPr>
              <p:spPr>
                <a:xfrm>
                  <a:off x="9922647" y="2371409"/>
                  <a:ext cx="63395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𝐼𝑚</m:t>
                        </m:r>
                      </m:oMath>
                    </m:oMathPara>
                  </a14:m>
                  <a:endParaRPr lang="en-US" sz="2400" dirty="0"/>
                </a:p>
              </p:txBody>
            </p:sp>
          </mc:Choice>
          <mc:Fallback xmlns="">
            <p:sp>
              <p:nvSpPr>
                <p:cNvPr id="171" name="Rectangle 170">
                  <a:extLst>
                    <a:ext uri="{FF2B5EF4-FFF2-40B4-BE49-F238E27FC236}">
                      <a16:creationId xmlns:a16="http://schemas.microsoft.com/office/drawing/2014/main" id="{31B2E85C-8655-1144-BCA9-2E98E0888103}"/>
                    </a:ext>
                  </a:extLst>
                </p:cNvPr>
                <p:cNvSpPr>
                  <a:spLocks noRot="1" noChangeAspect="1" noMove="1" noResize="1" noEditPoints="1" noAdjustHandles="1" noChangeArrowheads="1" noChangeShapeType="1" noTextEdit="1"/>
                </p:cNvSpPr>
                <p:nvPr/>
              </p:nvSpPr>
              <p:spPr>
                <a:xfrm>
                  <a:off x="9922647" y="2371409"/>
                  <a:ext cx="633956" cy="461665"/>
                </a:xfrm>
                <a:prstGeom prst="rect">
                  <a:avLst/>
                </a:prstGeom>
                <a:blipFill>
                  <a:blip r:embed="rId10"/>
                  <a:stretch>
                    <a:fillRect/>
                  </a:stretch>
                </a:blipFill>
              </p:spPr>
              <p:txBody>
                <a:bodyPr/>
                <a:lstStyle/>
                <a:p>
                  <a:r>
                    <a:rPr lang="en-US">
                      <a:noFill/>
                    </a:rPr>
                    <a:t> </a:t>
                  </a:r>
                </a:p>
              </p:txBody>
            </p:sp>
          </mc:Fallback>
        </mc:AlternateContent>
        <p:grpSp>
          <p:nvGrpSpPr>
            <p:cNvPr id="203" name="Group 202">
              <a:extLst>
                <a:ext uri="{FF2B5EF4-FFF2-40B4-BE49-F238E27FC236}">
                  <a16:creationId xmlns:a16="http://schemas.microsoft.com/office/drawing/2014/main" id="{D2B8B96F-5BE1-6F46-9506-5C9187C66A4A}"/>
                </a:ext>
              </a:extLst>
            </p:cNvPr>
            <p:cNvGrpSpPr/>
            <p:nvPr/>
          </p:nvGrpSpPr>
          <p:grpSpPr>
            <a:xfrm rot="17280000">
              <a:off x="9379534" y="3771400"/>
              <a:ext cx="1612165" cy="140581"/>
              <a:chOff x="10426993" y="3578804"/>
              <a:chExt cx="1229203" cy="107187"/>
            </a:xfrm>
          </p:grpSpPr>
          <p:sp>
            <p:nvSpPr>
              <p:cNvPr id="204" name="Oval 203">
                <a:extLst>
                  <a:ext uri="{FF2B5EF4-FFF2-40B4-BE49-F238E27FC236}">
                    <a16:creationId xmlns:a16="http://schemas.microsoft.com/office/drawing/2014/main" id="{CE700AE6-F2F7-6C4E-92BF-EB9B10D43A20}"/>
                  </a:ext>
                </a:extLst>
              </p:cNvPr>
              <p:cNvSpPr/>
              <p:nvPr/>
            </p:nvSpPr>
            <p:spPr>
              <a:xfrm rot="5400000">
                <a:off x="11549009" y="3578804"/>
                <a:ext cx="107187" cy="107187"/>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5" name="Straight Connector 204">
                <a:extLst>
                  <a:ext uri="{FF2B5EF4-FFF2-40B4-BE49-F238E27FC236}">
                    <a16:creationId xmlns:a16="http://schemas.microsoft.com/office/drawing/2014/main" id="{6ABAB9DA-BCC2-CC4B-943A-02F8663DA891}"/>
                  </a:ext>
                </a:extLst>
              </p:cNvPr>
              <p:cNvCxnSpPr>
                <a:cxnSpLocks/>
              </p:cNvCxnSpPr>
              <p:nvPr/>
            </p:nvCxnSpPr>
            <p:spPr>
              <a:xfrm flipH="1">
                <a:off x="10426993" y="3632215"/>
                <a:ext cx="1116000" cy="0"/>
              </a:xfrm>
              <a:prstGeom prst="line">
                <a:avLst/>
              </a:prstGeom>
              <a:ln w="12700" cap="rnd">
                <a:solidFill>
                  <a:schemeClr val="bg1">
                    <a:lumMod val="50000"/>
                  </a:schemeClr>
                </a:solidFill>
                <a:headEnd type="triangle" w="lg" len="lg"/>
                <a:tailEnd type="none"/>
              </a:ln>
            </p:spPr>
            <p:style>
              <a:lnRef idx="1">
                <a:schemeClr val="accent1"/>
              </a:lnRef>
              <a:fillRef idx="0">
                <a:schemeClr val="accent1"/>
              </a:fillRef>
              <a:effectRef idx="0">
                <a:schemeClr val="accent1"/>
              </a:effectRef>
              <a:fontRef idx="minor">
                <a:schemeClr val="tx1"/>
              </a:fontRef>
            </p:style>
          </p:cxnSp>
        </p:grpSp>
        <p:grpSp>
          <p:nvGrpSpPr>
            <p:cNvPr id="206" name="Group 205">
              <a:extLst>
                <a:ext uri="{FF2B5EF4-FFF2-40B4-BE49-F238E27FC236}">
                  <a16:creationId xmlns:a16="http://schemas.microsoft.com/office/drawing/2014/main" id="{9CA79355-6D90-3C4A-A196-B54A75BE6A20}"/>
                </a:ext>
              </a:extLst>
            </p:cNvPr>
            <p:cNvGrpSpPr/>
            <p:nvPr/>
          </p:nvGrpSpPr>
          <p:grpSpPr>
            <a:xfrm rot="12960000">
              <a:off x="8479349" y="4057455"/>
              <a:ext cx="1612165" cy="140581"/>
              <a:chOff x="10426993" y="3578804"/>
              <a:chExt cx="1229203" cy="107187"/>
            </a:xfrm>
          </p:grpSpPr>
          <p:sp>
            <p:nvSpPr>
              <p:cNvPr id="207" name="Oval 206">
                <a:extLst>
                  <a:ext uri="{FF2B5EF4-FFF2-40B4-BE49-F238E27FC236}">
                    <a16:creationId xmlns:a16="http://schemas.microsoft.com/office/drawing/2014/main" id="{CD3A90D7-F2A6-C045-AB93-C0124ED79954}"/>
                  </a:ext>
                </a:extLst>
              </p:cNvPr>
              <p:cNvSpPr/>
              <p:nvPr/>
            </p:nvSpPr>
            <p:spPr>
              <a:xfrm rot="5400000">
                <a:off x="11549009" y="3578804"/>
                <a:ext cx="107187" cy="107187"/>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8" name="Straight Connector 207">
                <a:extLst>
                  <a:ext uri="{FF2B5EF4-FFF2-40B4-BE49-F238E27FC236}">
                    <a16:creationId xmlns:a16="http://schemas.microsoft.com/office/drawing/2014/main" id="{BF0AE706-E1DF-C249-A480-692E38AE1C73}"/>
                  </a:ext>
                </a:extLst>
              </p:cNvPr>
              <p:cNvCxnSpPr>
                <a:cxnSpLocks/>
              </p:cNvCxnSpPr>
              <p:nvPr/>
            </p:nvCxnSpPr>
            <p:spPr>
              <a:xfrm flipH="1">
                <a:off x="10426993" y="3632215"/>
                <a:ext cx="1116000" cy="0"/>
              </a:xfrm>
              <a:prstGeom prst="line">
                <a:avLst/>
              </a:prstGeom>
              <a:ln w="12700" cap="rnd">
                <a:solidFill>
                  <a:schemeClr val="bg1">
                    <a:lumMod val="50000"/>
                  </a:schemeClr>
                </a:solidFill>
                <a:headEnd type="triangle" w="lg" len="lg"/>
                <a:tailEnd type="none"/>
              </a:ln>
            </p:spPr>
            <p:style>
              <a:lnRef idx="1">
                <a:schemeClr val="accent1"/>
              </a:lnRef>
              <a:fillRef idx="0">
                <a:schemeClr val="accent1"/>
              </a:fillRef>
              <a:effectRef idx="0">
                <a:schemeClr val="accent1"/>
              </a:effectRef>
              <a:fontRef idx="minor">
                <a:schemeClr val="tx1"/>
              </a:fontRef>
            </p:style>
          </p:cxnSp>
        </p:grpSp>
        <p:grpSp>
          <p:nvGrpSpPr>
            <p:cNvPr id="209" name="Group 208">
              <a:extLst>
                <a:ext uri="{FF2B5EF4-FFF2-40B4-BE49-F238E27FC236}">
                  <a16:creationId xmlns:a16="http://schemas.microsoft.com/office/drawing/2014/main" id="{D26997D2-2C30-E342-965F-E976C85E1DEC}"/>
                </a:ext>
              </a:extLst>
            </p:cNvPr>
            <p:cNvGrpSpPr/>
            <p:nvPr/>
          </p:nvGrpSpPr>
          <p:grpSpPr>
            <a:xfrm rot="8640000">
              <a:off x="8483542" y="4988179"/>
              <a:ext cx="1612165" cy="140581"/>
              <a:chOff x="10426993" y="3578804"/>
              <a:chExt cx="1229203" cy="107187"/>
            </a:xfrm>
          </p:grpSpPr>
          <p:sp>
            <p:nvSpPr>
              <p:cNvPr id="210" name="Oval 209">
                <a:extLst>
                  <a:ext uri="{FF2B5EF4-FFF2-40B4-BE49-F238E27FC236}">
                    <a16:creationId xmlns:a16="http://schemas.microsoft.com/office/drawing/2014/main" id="{0B05F89D-80A0-A642-9F4D-7B7EDA33B9DD}"/>
                  </a:ext>
                </a:extLst>
              </p:cNvPr>
              <p:cNvSpPr/>
              <p:nvPr/>
            </p:nvSpPr>
            <p:spPr>
              <a:xfrm rot="5400000">
                <a:off x="11549009" y="3578804"/>
                <a:ext cx="107187" cy="107187"/>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1" name="Straight Connector 210">
                <a:extLst>
                  <a:ext uri="{FF2B5EF4-FFF2-40B4-BE49-F238E27FC236}">
                    <a16:creationId xmlns:a16="http://schemas.microsoft.com/office/drawing/2014/main" id="{1876070B-7985-6849-BCA8-63F92CF8A47B}"/>
                  </a:ext>
                </a:extLst>
              </p:cNvPr>
              <p:cNvCxnSpPr>
                <a:cxnSpLocks/>
              </p:cNvCxnSpPr>
              <p:nvPr/>
            </p:nvCxnSpPr>
            <p:spPr>
              <a:xfrm flipH="1">
                <a:off x="10426993" y="3632215"/>
                <a:ext cx="1116000" cy="0"/>
              </a:xfrm>
              <a:prstGeom prst="line">
                <a:avLst/>
              </a:prstGeom>
              <a:ln w="12700" cap="rnd">
                <a:solidFill>
                  <a:schemeClr val="bg1">
                    <a:lumMod val="50000"/>
                  </a:schemeClr>
                </a:solidFill>
                <a:headEnd type="triangle" w="lg" len="lg"/>
                <a:tailEnd type="none"/>
              </a:ln>
            </p:spPr>
            <p:style>
              <a:lnRef idx="1">
                <a:schemeClr val="accent1"/>
              </a:lnRef>
              <a:fillRef idx="0">
                <a:schemeClr val="accent1"/>
              </a:fillRef>
              <a:effectRef idx="0">
                <a:schemeClr val="accent1"/>
              </a:effectRef>
              <a:fontRef idx="minor">
                <a:schemeClr val="tx1"/>
              </a:fontRef>
            </p:style>
          </p:cxnSp>
        </p:grpSp>
        <p:grpSp>
          <p:nvGrpSpPr>
            <p:cNvPr id="212" name="Group 211">
              <a:extLst>
                <a:ext uri="{FF2B5EF4-FFF2-40B4-BE49-F238E27FC236}">
                  <a16:creationId xmlns:a16="http://schemas.microsoft.com/office/drawing/2014/main" id="{17ED78A8-143B-A344-B5AF-EA027F8870A7}"/>
                </a:ext>
              </a:extLst>
            </p:cNvPr>
            <p:cNvGrpSpPr/>
            <p:nvPr/>
          </p:nvGrpSpPr>
          <p:grpSpPr>
            <a:xfrm rot="4320000">
              <a:off x="9371146" y="5282887"/>
              <a:ext cx="1612165" cy="140581"/>
              <a:chOff x="10426993" y="3578804"/>
              <a:chExt cx="1229203" cy="107187"/>
            </a:xfrm>
          </p:grpSpPr>
          <p:sp>
            <p:nvSpPr>
              <p:cNvPr id="213" name="Oval 212">
                <a:extLst>
                  <a:ext uri="{FF2B5EF4-FFF2-40B4-BE49-F238E27FC236}">
                    <a16:creationId xmlns:a16="http://schemas.microsoft.com/office/drawing/2014/main" id="{88CEE982-9C5A-C545-B48C-D0C6247A6954}"/>
                  </a:ext>
                </a:extLst>
              </p:cNvPr>
              <p:cNvSpPr/>
              <p:nvPr/>
            </p:nvSpPr>
            <p:spPr>
              <a:xfrm rot="5400000">
                <a:off x="11549009" y="3578804"/>
                <a:ext cx="107187" cy="107187"/>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4" name="Straight Connector 213">
                <a:extLst>
                  <a:ext uri="{FF2B5EF4-FFF2-40B4-BE49-F238E27FC236}">
                    <a16:creationId xmlns:a16="http://schemas.microsoft.com/office/drawing/2014/main" id="{6D7EC612-A0F8-8144-8E6F-04C65CE760F6}"/>
                  </a:ext>
                </a:extLst>
              </p:cNvPr>
              <p:cNvCxnSpPr>
                <a:cxnSpLocks/>
              </p:cNvCxnSpPr>
              <p:nvPr/>
            </p:nvCxnSpPr>
            <p:spPr>
              <a:xfrm flipH="1">
                <a:off x="10426993" y="3632215"/>
                <a:ext cx="1116000" cy="0"/>
              </a:xfrm>
              <a:prstGeom prst="line">
                <a:avLst/>
              </a:prstGeom>
              <a:ln w="12700" cap="rnd">
                <a:solidFill>
                  <a:schemeClr val="bg1">
                    <a:lumMod val="50000"/>
                  </a:schemeClr>
                </a:solidFill>
                <a:headEnd type="triangle" w="lg" len="lg"/>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15" name="Rectangle 214">
                  <a:extLst>
                    <a:ext uri="{FF2B5EF4-FFF2-40B4-BE49-F238E27FC236}">
                      <a16:creationId xmlns:a16="http://schemas.microsoft.com/office/drawing/2014/main" id="{AD3569A7-270C-4144-86EB-BC94C03C9136}"/>
                    </a:ext>
                  </a:extLst>
                </p:cNvPr>
                <p:cNvSpPr/>
                <p:nvPr/>
              </p:nvSpPr>
              <p:spPr>
                <a:xfrm>
                  <a:off x="10444550" y="2689488"/>
                  <a:ext cx="619144" cy="4734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b="0" i="1" smtClean="0">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1</m:t>
                            </m:r>
                          </m:sup>
                        </m:sSubSup>
                      </m:oMath>
                    </m:oMathPara>
                  </a14:m>
                  <a:endParaRPr lang="en-US" sz="2400" dirty="0"/>
                </a:p>
              </p:txBody>
            </p:sp>
          </mc:Choice>
          <mc:Fallback xmlns="">
            <p:sp>
              <p:nvSpPr>
                <p:cNvPr id="215" name="Rectangle 214">
                  <a:extLst>
                    <a:ext uri="{FF2B5EF4-FFF2-40B4-BE49-F238E27FC236}">
                      <a16:creationId xmlns:a16="http://schemas.microsoft.com/office/drawing/2014/main" id="{AD3569A7-270C-4144-86EB-BC94C03C9136}"/>
                    </a:ext>
                  </a:extLst>
                </p:cNvPr>
                <p:cNvSpPr>
                  <a:spLocks noRot="1" noChangeAspect="1" noMove="1" noResize="1" noEditPoints="1" noAdjustHandles="1" noChangeArrowheads="1" noChangeShapeType="1" noTextEdit="1"/>
                </p:cNvSpPr>
                <p:nvPr/>
              </p:nvSpPr>
              <p:spPr>
                <a:xfrm>
                  <a:off x="10444550" y="2689488"/>
                  <a:ext cx="619144" cy="473463"/>
                </a:xfrm>
                <a:prstGeom prst="rect">
                  <a:avLst/>
                </a:prstGeom>
                <a:blipFill>
                  <a:blip r:embed="rId11"/>
                  <a:stretch>
                    <a:fillRect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6" name="Rectangle 215">
                  <a:extLst>
                    <a:ext uri="{FF2B5EF4-FFF2-40B4-BE49-F238E27FC236}">
                      <a16:creationId xmlns:a16="http://schemas.microsoft.com/office/drawing/2014/main" id="{B5D21E69-2E0D-3E49-AD8B-9734F22AAA28}"/>
                    </a:ext>
                  </a:extLst>
                </p:cNvPr>
                <p:cNvSpPr/>
                <p:nvPr/>
              </p:nvSpPr>
              <p:spPr>
                <a:xfrm>
                  <a:off x="8115462" y="3079270"/>
                  <a:ext cx="625749" cy="4742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b="0" i="1" smtClean="0">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2</m:t>
                            </m:r>
                          </m:sup>
                        </m:sSubSup>
                      </m:oMath>
                    </m:oMathPara>
                  </a14:m>
                  <a:endParaRPr lang="en-US" sz="2400" dirty="0"/>
                </a:p>
              </p:txBody>
            </p:sp>
          </mc:Choice>
          <mc:Fallback xmlns="">
            <p:sp>
              <p:nvSpPr>
                <p:cNvPr id="216" name="Rectangle 215">
                  <a:extLst>
                    <a:ext uri="{FF2B5EF4-FFF2-40B4-BE49-F238E27FC236}">
                      <a16:creationId xmlns:a16="http://schemas.microsoft.com/office/drawing/2014/main" id="{B5D21E69-2E0D-3E49-AD8B-9734F22AAA28}"/>
                    </a:ext>
                  </a:extLst>
                </p:cNvPr>
                <p:cNvSpPr>
                  <a:spLocks noRot="1" noChangeAspect="1" noMove="1" noResize="1" noEditPoints="1" noAdjustHandles="1" noChangeArrowheads="1" noChangeShapeType="1" noTextEdit="1"/>
                </p:cNvSpPr>
                <p:nvPr/>
              </p:nvSpPr>
              <p:spPr>
                <a:xfrm>
                  <a:off x="8115462" y="3079270"/>
                  <a:ext cx="625749" cy="474232"/>
                </a:xfrm>
                <a:prstGeom prst="rect">
                  <a:avLst/>
                </a:prstGeom>
                <a:blipFill>
                  <a:blip r:embed="rId12"/>
                  <a:stretch>
                    <a:fillRect b="-5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7" name="Rectangle 216">
                  <a:extLst>
                    <a:ext uri="{FF2B5EF4-FFF2-40B4-BE49-F238E27FC236}">
                      <a16:creationId xmlns:a16="http://schemas.microsoft.com/office/drawing/2014/main" id="{A9A503BF-5223-424F-9829-BFE80DA548F0}"/>
                    </a:ext>
                  </a:extLst>
                </p:cNvPr>
                <p:cNvSpPr/>
                <p:nvPr/>
              </p:nvSpPr>
              <p:spPr>
                <a:xfrm>
                  <a:off x="7939534" y="5367891"/>
                  <a:ext cx="625749" cy="476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b="0" i="1" smtClean="0">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3</m:t>
                            </m:r>
                          </m:sup>
                        </m:sSubSup>
                      </m:oMath>
                    </m:oMathPara>
                  </a14:m>
                  <a:endParaRPr lang="en-US" sz="2400" dirty="0"/>
                </a:p>
              </p:txBody>
            </p:sp>
          </mc:Choice>
          <mc:Fallback xmlns="">
            <p:sp>
              <p:nvSpPr>
                <p:cNvPr id="217" name="Rectangle 216">
                  <a:extLst>
                    <a:ext uri="{FF2B5EF4-FFF2-40B4-BE49-F238E27FC236}">
                      <a16:creationId xmlns:a16="http://schemas.microsoft.com/office/drawing/2014/main" id="{A9A503BF-5223-424F-9829-BFE80DA548F0}"/>
                    </a:ext>
                  </a:extLst>
                </p:cNvPr>
                <p:cNvSpPr>
                  <a:spLocks noRot="1" noChangeAspect="1" noMove="1" noResize="1" noEditPoints="1" noAdjustHandles="1" noChangeArrowheads="1" noChangeShapeType="1" noTextEdit="1"/>
                </p:cNvSpPr>
                <p:nvPr/>
              </p:nvSpPr>
              <p:spPr>
                <a:xfrm>
                  <a:off x="7939534" y="5367891"/>
                  <a:ext cx="625749" cy="476092"/>
                </a:xfrm>
                <a:prstGeom prst="rect">
                  <a:avLst/>
                </a:prstGeom>
                <a:blipFill>
                  <a:blip r:embed="rId13"/>
                  <a:stretch>
                    <a:fillRect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8" name="Rectangle 217">
                  <a:extLst>
                    <a:ext uri="{FF2B5EF4-FFF2-40B4-BE49-F238E27FC236}">
                      <a16:creationId xmlns:a16="http://schemas.microsoft.com/office/drawing/2014/main" id="{B6FBDD1D-C7B2-9D49-9370-0E89DFFF4469}"/>
                    </a:ext>
                  </a:extLst>
                </p:cNvPr>
                <p:cNvSpPr/>
                <p:nvPr/>
              </p:nvSpPr>
              <p:spPr>
                <a:xfrm>
                  <a:off x="10334793" y="5958102"/>
                  <a:ext cx="625749" cy="4726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b="0" i="1" smtClean="0">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4</m:t>
                            </m:r>
                          </m:sup>
                        </m:sSubSup>
                      </m:oMath>
                    </m:oMathPara>
                  </a14:m>
                  <a:endParaRPr lang="en-US" sz="2400" dirty="0"/>
                </a:p>
              </p:txBody>
            </p:sp>
          </mc:Choice>
          <mc:Fallback xmlns="">
            <p:sp>
              <p:nvSpPr>
                <p:cNvPr id="218" name="Rectangle 217">
                  <a:extLst>
                    <a:ext uri="{FF2B5EF4-FFF2-40B4-BE49-F238E27FC236}">
                      <a16:creationId xmlns:a16="http://schemas.microsoft.com/office/drawing/2014/main" id="{B6FBDD1D-C7B2-9D49-9370-0E89DFFF4469}"/>
                    </a:ext>
                  </a:extLst>
                </p:cNvPr>
                <p:cNvSpPr>
                  <a:spLocks noRot="1" noChangeAspect="1" noMove="1" noResize="1" noEditPoints="1" noAdjustHandles="1" noChangeArrowheads="1" noChangeShapeType="1" noTextEdit="1"/>
                </p:cNvSpPr>
                <p:nvPr/>
              </p:nvSpPr>
              <p:spPr>
                <a:xfrm>
                  <a:off x="10334793" y="5958102"/>
                  <a:ext cx="625749" cy="472694"/>
                </a:xfrm>
                <a:prstGeom prst="rect">
                  <a:avLst/>
                </a:prstGeom>
                <a:blipFill>
                  <a:blip r:embed="rId14"/>
                  <a:stretch>
                    <a:fillRect b="-5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0" name="Rectangle 229">
                  <a:extLst>
                    <a:ext uri="{FF2B5EF4-FFF2-40B4-BE49-F238E27FC236}">
                      <a16:creationId xmlns:a16="http://schemas.microsoft.com/office/drawing/2014/main" id="{3290D4BC-D99D-1240-AC07-9EAFEA95EF14}"/>
                    </a:ext>
                  </a:extLst>
                </p:cNvPr>
                <p:cNvSpPr/>
                <p:nvPr/>
              </p:nvSpPr>
              <p:spPr>
                <a:xfrm>
                  <a:off x="10081813" y="4042729"/>
                  <a:ext cx="93346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smtClean="0">
                            <a:solidFill>
                              <a:srgbClr val="002060"/>
                            </a:solidFill>
                            <a:latin typeface="Cambria Math" panose="02040503050406030204" pitchFamily="18" charset="0"/>
                            <a:ea typeface="Cambria Math" panose="02040503050406030204" pitchFamily="18" charset="0"/>
                          </a:rPr>
                          <m:t>2</m:t>
                        </m:r>
                        <m:r>
                          <a:rPr lang="en-US" sz="2400" i="1">
                            <a:solidFill>
                              <a:srgbClr val="002060"/>
                            </a:solidFill>
                            <a:latin typeface="Cambria Math" panose="02040503050406030204" pitchFamily="18" charset="0"/>
                            <a:ea typeface="Cambria Math" panose="02040503050406030204" pitchFamily="18" charset="0"/>
                          </a:rPr>
                          <m:t>𝜋</m:t>
                        </m:r>
                        <m:r>
                          <a:rPr lang="en-US" sz="2400" i="1">
                            <a:solidFill>
                              <a:srgbClr val="002060"/>
                            </a:solidFill>
                            <a:latin typeface="Cambria Math" panose="02040503050406030204" pitchFamily="18" charset="0"/>
                            <a:ea typeface="Cambria Math" panose="02040503050406030204" pitchFamily="18" charset="0"/>
                          </a:rPr>
                          <m:t>/5</m:t>
                        </m:r>
                      </m:oMath>
                    </m:oMathPara>
                  </a14:m>
                  <a:endParaRPr lang="en-US" sz="2400" dirty="0"/>
                </a:p>
              </p:txBody>
            </p:sp>
          </mc:Choice>
          <mc:Fallback xmlns="">
            <p:sp>
              <p:nvSpPr>
                <p:cNvPr id="230" name="Rectangle 229">
                  <a:extLst>
                    <a:ext uri="{FF2B5EF4-FFF2-40B4-BE49-F238E27FC236}">
                      <a16:creationId xmlns:a16="http://schemas.microsoft.com/office/drawing/2014/main" id="{3290D4BC-D99D-1240-AC07-9EAFEA95EF14}"/>
                    </a:ext>
                  </a:extLst>
                </p:cNvPr>
                <p:cNvSpPr>
                  <a:spLocks noRot="1" noChangeAspect="1" noMove="1" noResize="1" noEditPoints="1" noAdjustHandles="1" noChangeArrowheads="1" noChangeShapeType="1" noTextEdit="1"/>
                </p:cNvSpPr>
                <p:nvPr/>
              </p:nvSpPr>
              <p:spPr>
                <a:xfrm>
                  <a:off x="10081813" y="4042729"/>
                  <a:ext cx="933461" cy="461665"/>
                </a:xfrm>
                <a:prstGeom prst="rect">
                  <a:avLst/>
                </a:prstGeom>
                <a:blipFill>
                  <a:blip r:embed="rId15"/>
                  <a:stretch>
                    <a:fillRect b="-131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BE2E4F0-40A5-B14A-9E38-A4F85ECECF6D}"/>
                    </a:ext>
                  </a:extLst>
                </p:cNvPr>
                <p:cNvSpPr txBox="1"/>
                <p:nvPr/>
              </p:nvSpPr>
              <p:spPr>
                <a:xfrm>
                  <a:off x="73372" y="2637158"/>
                  <a:ext cx="7514045" cy="3773662"/>
                </a:xfrm>
                <a:prstGeom prst="rect">
                  <a:avLst/>
                </a:prstGeom>
                <a:solidFill>
                  <a:schemeClr val="bg1">
                    <a:lumMod val="95000"/>
                  </a:schemeClr>
                </a:solidFill>
              </p:spPr>
              <p:txBody>
                <a:bodyPr wrap="none" rtlCol="0">
                  <a:spAutoFit/>
                </a:bodyPr>
                <a:lstStyle/>
                <a:p>
                  <a:pPr/>
                  <a14:m>
                    <m:oMathPara xmlns:m="http://schemas.openxmlformats.org/officeDocument/2006/math">
                      <m:oMathParaPr>
                        <m:jc m:val="centerGroup"/>
                      </m:oMathParaPr>
                      <m:oMath xmlns:m="http://schemas.openxmlformats.org/officeDocument/2006/math">
                        <m:m>
                          <m:mPr>
                            <m:mcs>
                              <m:mc>
                                <m:mcPr>
                                  <m:count m:val="5"/>
                                  <m:mcJc m:val="center"/>
                                </m:mcPr>
                              </m:mc>
                            </m:mcs>
                            <m:ctrlPr>
                              <a:rPr lang="en-US" sz="2400" i="1" smtClean="0">
                                <a:latin typeface="Cambria Math" panose="02040503050406030204" pitchFamily="18" charset="0"/>
                                <a:ea typeface="Cambria Math" panose="02040503050406030204" pitchFamily="18" charset="0"/>
                              </a:rPr>
                            </m:ctrlPr>
                          </m:mPr>
                          <m:mr>
                            <m:e>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0</m:t>
                                  </m:r>
                                </m:sup>
                              </m:sSubSup>
                            </m:e>
                            <m:e>
                              <m:r>
                                <a:rPr lang="en-US" sz="2400" b="0" i="1" smtClean="0">
                                  <a:latin typeface="Cambria Math" panose="02040503050406030204" pitchFamily="18" charset="0"/>
                                  <a:ea typeface="Cambria Math" panose="02040503050406030204" pitchFamily="18" charset="0"/>
                                </a:rPr>
                                <m:t>=</m:t>
                              </m:r>
                            </m:e>
                            <m:e>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cos</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×0</m:t>
                                      </m:r>
                                    </m:num>
                                    <m:den>
                                      <m:r>
                                        <a:rPr lang="en-US" sz="2400" b="0" i="1" smtClean="0">
                                          <a:latin typeface="Cambria Math" panose="02040503050406030204" pitchFamily="18" charset="0"/>
                                          <a:ea typeface="Cambria Math" panose="02040503050406030204" pitchFamily="18" charset="0"/>
                                        </a:rPr>
                                        <m:t>5</m:t>
                                      </m:r>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sin</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×0</m:t>
                                          </m:r>
                                        </m:num>
                                        <m:den>
                                          <m:r>
                                            <a:rPr lang="en-US" sz="2400" b="0" i="1" smtClean="0">
                                              <a:latin typeface="Cambria Math" panose="02040503050406030204" pitchFamily="18" charset="0"/>
                                              <a:ea typeface="Cambria Math" panose="02040503050406030204" pitchFamily="18" charset="0"/>
                                            </a:rPr>
                                            <m:t>5</m:t>
                                          </m:r>
                                        </m:den>
                                      </m:f>
                                    </m:e>
                                  </m:func>
                                </m:e>
                              </m:func>
                            </m:e>
                            <m:e>
                              <m:r>
                                <a:rPr lang="en-US" sz="2400" b="0" i="1" smtClean="0">
                                  <a:latin typeface="Cambria Math" panose="02040503050406030204" pitchFamily="18" charset="0"/>
                                  <a:ea typeface="Cambria Math" panose="02040503050406030204" pitchFamily="18" charset="0"/>
                                </a:rPr>
                                <m:t>=</m:t>
                              </m:r>
                            </m:e>
                            <m:e>
                              <m:r>
                                <a:rPr lang="en-US" sz="2400" b="0" i="1" smtClean="0">
                                  <a:latin typeface="Cambria Math" panose="02040503050406030204" pitchFamily="18" charset="0"/>
                                  <a:ea typeface="Cambria Math" panose="02040503050406030204" pitchFamily="18" charset="0"/>
                                </a:rPr>
                                <m:t>1</m:t>
                              </m:r>
                            </m:e>
                          </m:mr>
                          <m:mr>
                            <m:e>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1</m:t>
                                  </m:r>
                                </m:sup>
                              </m:sSubSup>
                            </m:e>
                            <m:e>
                              <m:r>
                                <a:rPr lang="en-US" sz="2400" b="0" i="1" smtClean="0">
                                  <a:latin typeface="Cambria Math" panose="02040503050406030204" pitchFamily="18" charset="0"/>
                                  <a:ea typeface="Cambria Math" panose="02040503050406030204" pitchFamily="18" charset="0"/>
                                </a:rPr>
                                <m:t>=</m:t>
                              </m:r>
                            </m:e>
                            <m:e>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cos</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×1</m:t>
                                      </m:r>
                                    </m:num>
                                    <m:den>
                                      <m:r>
                                        <a:rPr lang="en-US" sz="2400" i="1">
                                          <a:latin typeface="Cambria Math" panose="02040503050406030204" pitchFamily="18" charset="0"/>
                                          <a:ea typeface="Cambria Math" panose="02040503050406030204" pitchFamily="18" charset="0"/>
                                        </a:rPr>
                                        <m:t>5</m:t>
                                      </m:r>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sin</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×1</m:t>
                                          </m:r>
                                        </m:num>
                                        <m:den>
                                          <m:r>
                                            <a:rPr lang="en-US" sz="2400" i="1">
                                              <a:latin typeface="Cambria Math" panose="02040503050406030204" pitchFamily="18" charset="0"/>
                                              <a:ea typeface="Cambria Math" panose="02040503050406030204" pitchFamily="18" charset="0"/>
                                            </a:rPr>
                                            <m:t>5</m:t>
                                          </m:r>
                                        </m:den>
                                      </m:f>
                                    </m:e>
                                  </m:func>
                                </m:e>
                              </m:func>
                            </m:e>
                            <m:e>
                              <m:r>
                                <a:rPr lang="en-US" sz="2400" b="0" i="1" smtClean="0">
                                  <a:latin typeface="Cambria Math" panose="02040503050406030204" pitchFamily="18" charset="0"/>
                                  <a:ea typeface="Cambria Math" panose="02040503050406030204" pitchFamily="18" charset="0"/>
                                </a:rPr>
                                <m:t>=</m:t>
                              </m:r>
                            </m:e>
                            <m:e>
                              <m:r>
                                <a:rPr lang="en-US" sz="2400" i="1">
                                  <a:latin typeface="Cambria Math" panose="02040503050406030204" pitchFamily="18" charset="0"/>
                                  <a:ea typeface="Cambria Math" panose="02040503050406030204" pitchFamily="18" charset="0"/>
                                </a:rPr>
                                <m:t>0.309+</m:t>
                              </m:r>
                              <m:r>
                                <a:rPr lang="en-US" sz="2400" i="1">
                                  <a:latin typeface="Cambria Math" panose="02040503050406030204" pitchFamily="18" charset="0"/>
                                  <a:ea typeface="Cambria Math" panose="02040503050406030204" pitchFamily="18" charset="0"/>
                                </a:rPr>
                                <m:t>𝑖</m:t>
                              </m:r>
                              <m:r>
                                <a:rPr lang="en-US" sz="2400" i="1">
                                  <a:latin typeface="Cambria Math" panose="02040503050406030204" pitchFamily="18" charset="0"/>
                                  <a:ea typeface="Cambria Math" panose="02040503050406030204" pitchFamily="18" charset="0"/>
                                </a:rPr>
                                <m:t> 0.951</m:t>
                              </m:r>
                            </m:e>
                          </m:mr>
                          <m:mr>
                            <m:e>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2</m:t>
                                  </m:r>
                                </m:sup>
                              </m:sSubSup>
                            </m:e>
                            <m:e>
                              <m:r>
                                <a:rPr lang="en-US" sz="2400" b="0" i="1" smtClean="0">
                                  <a:latin typeface="Cambria Math" panose="02040503050406030204" pitchFamily="18" charset="0"/>
                                  <a:ea typeface="Cambria Math" panose="02040503050406030204" pitchFamily="18" charset="0"/>
                                </a:rPr>
                                <m:t>=</m:t>
                              </m:r>
                            </m:e>
                            <m:e>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cos</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×2</m:t>
                                      </m:r>
                                    </m:num>
                                    <m:den>
                                      <m:r>
                                        <a:rPr lang="en-US" sz="2400" i="1">
                                          <a:latin typeface="Cambria Math" panose="02040503050406030204" pitchFamily="18" charset="0"/>
                                          <a:ea typeface="Cambria Math" panose="02040503050406030204" pitchFamily="18" charset="0"/>
                                        </a:rPr>
                                        <m:t>5</m:t>
                                      </m:r>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sin</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×2</m:t>
                                          </m:r>
                                        </m:num>
                                        <m:den>
                                          <m:r>
                                            <a:rPr lang="en-US" sz="2400" i="1">
                                              <a:latin typeface="Cambria Math" panose="02040503050406030204" pitchFamily="18" charset="0"/>
                                              <a:ea typeface="Cambria Math" panose="02040503050406030204" pitchFamily="18" charset="0"/>
                                            </a:rPr>
                                            <m:t>5</m:t>
                                          </m:r>
                                        </m:den>
                                      </m:f>
                                    </m:e>
                                  </m:func>
                                </m:e>
                              </m:func>
                            </m:e>
                            <m:e>
                              <m:r>
                                <a:rPr lang="en-US" sz="2400" b="0" i="1" smtClean="0">
                                  <a:latin typeface="Cambria Math" panose="02040503050406030204" pitchFamily="18" charset="0"/>
                                  <a:ea typeface="Cambria Math" panose="02040503050406030204" pitchFamily="18" charset="0"/>
                                </a:rPr>
                                <m:t>=</m:t>
                              </m:r>
                            </m:e>
                            <m:e>
                              <m:r>
                                <a:rPr lang="en-US" sz="2400" i="1">
                                  <a:latin typeface="Cambria Math" panose="02040503050406030204" pitchFamily="18" charset="0"/>
                                  <a:ea typeface="Cambria Math" panose="02040503050406030204" pitchFamily="18" charset="0"/>
                                </a:rPr>
                                <m:t>−0.809+</m:t>
                              </m:r>
                              <m:r>
                                <a:rPr lang="en-US" sz="2400" i="1">
                                  <a:latin typeface="Cambria Math" panose="02040503050406030204" pitchFamily="18" charset="0"/>
                                  <a:ea typeface="Cambria Math" panose="02040503050406030204" pitchFamily="18" charset="0"/>
                                </a:rPr>
                                <m:t>𝑖</m:t>
                              </m:r>
                              <m:r>
                                <a:rPr lang="en-US" sz="2400" i="1">
                                  <a:latin typeface="Cambria Math" panose="02040503050406030204" pitchFamily="18" charset="0"/>
                                  <a:ea typeface="Cambria Math" panose="02040503050406030204" pitchFamily="18" charset="0"/>
                                </a:rPr>
                                <m:t> 0.587</m:t>
                              </m:r>
                            </m:e>
                          </m:mr>
                          <m:mr>
                            <m:e>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3</m:t>
                                  </m:r>
                                </m:sup>
                              </m:sSubSup>
                            </m:e>
                            <m:e>
                              <m:r>
                                <a:rPr lang="en-US" sz="2400" b="0" i="1" smtClean="0">
                                  <a:latin typeface="Cambria Math" panose="02040503050406030204" pitchFamily="18" charset="0"/>
                                  <a:ea typeface="Cambria Math" panose="02040503050406030204" pitchFamily="18" charset="0"/>
                                </a:rPr>
                                <m:t>=</m:t>
                              </m:r>
                            </m:e>
                            <m:e>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cos</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×3</m:t>
                                      </m:r>
                                    </m:num>
                                    <m:den>
                                      <m:r>
                                        <a:rPr lang="en-US" sz="2400" i="1">
                                          <a:latin typeface="Cambria Math" panose="02040503050406030204" pitchFamily="18" charset="0"/>
                                          <a:ea typeface="Cambria Math" panose="02040503050406030204" pitchFamily="18" charset="0"/>
                                        </a:rPr>
                                        <m:t>5</m:t>
                                      </m:r>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sin</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×3</m:t>
                                          </m:r>
                                        </m:num>
                                        <m:den>
                                          <m:r>
                                            <a:rPr lang="en-US" sz="2400" i="1">
                                              <a:latin typeface="Cambria Math" panose="02040503050406030204" pitchFamily="18" charset="0"/>
                                              <a:ea typeface="Cambria Math" panose="02040503050406030204" pitchFamily="18" charset="0"/>
                                            </a:rPr>
                                            <m:t>5</m:t>
                                          </m:r>
                                        </m:den>
                                      </m:f>
                                    </m:e>
                                  </m:func>
                                </m:e>
                              </m:func>
                            </m:e>
                            <m:e>
                              <m:r>
                                <a:rPr lang="en-US" sz="2400" b="0" i="1" smtClean="0">
                                  <a:latin typeface="Cambria Math" panose="02040503050406030204" pitchFamily="18" charset="0"/>
                                  <a:ea typeface="Cambria Math" panose="02040503050406030204" pitchFamily="18" charset="0"/>
                                </a:rPr>
                                <m:t>=</m:t>
                              </m:r>
                            </m:e>
                            <m:e>
                              <m:r>
                                <a:rPr lang="en-US" sz="2400" i="1">
                                  <a:latin typeface="Cambria Math" panose="02040503050406030204" pitchFamily="18" charset="0"/>
                                  <a:ea typeface="Cambria Math" panose="02040503050406030204" pitchFamily="18" charset="0"/>
                                </a:rPr>
                                <m:t>−0.809−</m:t>
                              </m:r>
                              <m:r>
                                <a:rPr lang="en-US" sz="2400" i="1">
                                  <a:latin typeface="Cambria Math" panose="02040503050406030204" pitchFamily="18" charset="0"/>
                                  <a:ea typeface="Cambria Math" panose="02040503050406030204" pitchFamily="18" charset="0"/>
                                </a:rPr>
                                <m:t>𝑖</m:t>
                              </m:r>
                              <m:r>
                                <a:rPr lang="en-US" sz="2400" i="1">
                                  <a:latin typeface="Cambria Math" panose="02040503050406030204" pitchFamily="18" charset="0"/>
                                  <a:ea typeface="Cambria Math" panose="02040503050406030204" pitchFamily="18" charset="0"/>
                                </a:rPr>
                                <m:t> 0.587</m:t>
                              </m:r>
                            </m:e>
                          </m:mr>
                          <m:mr>
                            <m:e>
                              <m:sSubSup>
                                <m:sSubSupPr>
                                  <m:ctrlPr>
                                    <a:rPr lang="en-US" sz="2400" i="1">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i="1">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4</m:t>
                                  </m:r>
                                </m:sup>
                              </m:sSubSup>
                            </m:e>
                            <m:e>
                              <m:r>
                                <a:rPr lang="en-US" sz="2400" b="0" i="1" smtClean="0">
                                  <a:latin typeface="Cambria Math" panose="02040503050406030204" pitchFamily="18" charset="0"/>
                                  <a:ea typeface="Cambria Math" panose="02040503050406030204" pitchFamily="18" charset="0"/>
                                </a:rPr>
                                <m:t>=</m:t>
                              </m:r>
                            </m:e>
                            <m:e>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cos</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×4</m:t>
                                      </m:r>
                                    </m:num>
                                    <m:den>
                                      <m:r>
                                        <a:rPr lang="en-US" sz="2400" i="1">
                                          <a:latin typeface="Cambria Math" panose="02040503050406030204" pitchFamily="18" charset="0"/>
                                          <a:ea typeface="Cambria Math" panose="02040503050406030204" pitchFamily="18" charset="0"/>
                                        </a:rPr>
                                        <m:t>5</m:t>
                                      </m:r>
                                    </m:den>
                                  </m:f>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𝑖</m:t>
                                  </m:r>
                                  <m:func>
                                    <m:funcPr>
                                      <m:ctrlPr>
                                        <a:rPr lang="en-US" sz="2400" i="1">
                                          <a:latin typeface="Cambria Math" panose="02040503050406030204" pitchFamily="18" charset="0"/>
                                          <a:ea typeface="Cambria Math" panose="02040503050406030204" pitchFamily="18" charset="0"/>
                                        </a:rPr>
                                      </m:ctrlPr>
                                    </m:funcPr>
                                    <m:fName>
                                      <m:r>
                                        <m:rPr>
                                          <m:sty m:val="p"/>
                                        </m:rPr>
                                        <a:rPr lang="en-US" sz="2400">
                                          <a:latin typeface="Cambria Math" panose="02040503050406030204" pitchFamily="18" charset="0"/>
                                          <a:ea typeface="Cambria Math" panose="02040503050406030204" pitchFamily="18" charset="0"/>
                                        </a:rPr>
                                        <m:t>sin</m:t>
                                      </m:r>
                                    </m:fName>
                                    <m:e>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×4</m:t>
                                          </m:r>
                                        </m:num>
                                        <m:den>
                                          <m:r>
                                            <a:rPr lang="en-US" sz="2400" i="1">
                                              <a:latin typeface="Cambria Math" panose="02040503050406030204" pitchFamily="18" charset="0"/>
                                              <a:ea typeface="Cambria Math" panose="02040503050406030204" pitchFamily="18" charset="0"/>
                                            </a:rPr>
                                            <m:t>5</m:t>
                                          </m:r>
                                        </m:den>
                                      </m:f>
                                    </m:e>
                                  </m:func>
                                </m:e>
                              </m:func>
                            </m:e>
                            <m:e>
                              <m:r>
                                <a:rPr lang="en-US" sz="2400" b="0" i="1" smtClean="0">
                                  <a:latin typeface="Cambria Math" panose="02040503050406030204" pitchFamily="18" charset="0"/>
                                  <a:ea typeface="Cambria Math" panose="02040503050406030204" pitchFamily="18" charset="0"/>
                                </a:rPr>
                                <m:t>=</m:t>
                              </m:r>
                            </m:e>
                            <m:e>
                              <m:r>
                                <a:rPr lang="en-US" sz="2400" i="1">
                                  <a:latin typeface="Cambria Math" panose="02040503050406030204" pitchFamily="18" charset="0"/>
                                  <a:ea typeface="Cambria Math" panose="02040503050406030204" pitchFamily="18" charset="0"/>
                                </a:rPr>
                                <m:t>0.309−</m:t>
                              </m:r>
                              <m:r>
                                <a:rPr lang="en-US" sz="2400" i="1">
                                  <a:latin typeface="Cambria Math" panose="02040503050406030204" pitchFamily="18" charset="0"/>
                                  <a:ea typeface="Cambria Math" panose="02040503050406030204" pitchFamily="18" charset="0"/>
                                </a:rPr>
                                <m:t>𝑖</m:t>
                              </m:r>
                              <m:r>
                                <a:rPr lang="en-US" sz="2400" i="1">
                                  <a:latin typeface="Cambria Math" panose="02040503050406030204" pitchFamily="18" charset="0"/>
                                  <a:ea typeface="Cambria Math" panose="02040503050406030204" pitchFamily="18" charset="0"/>
                                </a:rPr>
                                <m:t> 0.951</m:t>
                              </m:r>
                            </m:e>
                          </m:mr>
                        </m:m>
                      </m:oMath>
                    </m:oMathPara>
                  </a14:m>
                  <a:endParaRPr lang="en-US" sz="2400" dirty="0"/>
                </a:p>
              </p:txBody>
            </p:sp>
          </mc:Choice>
          <mc:Fallback xmlns="">
            <p:sp>
              <p:nvSpPr>
                <p:cNvPr id="4" name="TextBox 3">
                  <a:extLst>
                    <a:ext uri="{FF2B5EF4-FFF2-40B4-BE49-F238E27FC236}">
                      <a16:creationId xmlns:a16="http://schemas.microsoft.com/office/drawing/2014/main" id="{BBE2E4F0-40A5-B14A-9E38-A4F85ECECF6D}"/>
                    </a:ext>
                  </a:extLst>
                </p:cNvPr>
                <p:cNvSpPr txBox="1">
                  <a:spLocks noRot="1" noChangeAspect="1" noMove="1" noResize="1" noEditPoints="1" noAdjustHandles="1" noChangeArrowheads="1" noChangeShapeType="1" noTextEdit="1"/>
                </p:cNvSpPr>
                <p:nvPr/>
              </p:nvSpPr>
              <p:spPr>
                <a:xfrm>
                  <a:off x="73372" y="2637158"/>
                  <a:ext cx="7514045" cy="3773662"/>
                </a:xfrm>
                <a:prstGeom prst="rect">
                  <a:avLst/>
                </a:prstGeom>
                <a:blipFill>
                  <a:blip r:embed="rId16"/>
                  <a:stretch>
                    <a:fillRect b="-336"/>
                  </a:stretch>
                </a:blipFill>
              </p:spPr>
              <p:txBody>
                <a:bodyPr/>
                <a:lstStyle/>
                <a:p>
                  <a:r>
                    <a:rPr lang="en-US">
                      <a:noFill/>
                    </a:rPr>
                    <a:t> </a:t>
                  </a:r>
                </a:p>
              </p:txBody>
            </p:sp>
          </mc:Fallback>
        </mc:AlternateContent>
      </p:grpSp>
    </p:spTree>
    <p:extLst>
      <p:ext uri="{BB962C8B-B14F-4D97-AF65-F5344CB8AC3E}">
        <p14:creationId xmlns:p14="http://schemas.microsoft.com/office/powerpoint/2010/main" val="3689892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10A2F-90E7-BA4A-A5FD-EC218538C250}"/>
              </a:ext>
            </a:extLst>
          </p:cNvPr>
          <p:cNvSpPr>
            <a:spLocks noGrp="1"/>
          </p:cNvSpPr>
          <p:nvPr>
            <p:ph type="title"/>
          </p:nvPr>
        </p:nvSpPr>
        <p:spPr>
          <a:xfrm>
            <a:off x="0" y="0"/>
            <a:ext cx="12192000" cy="928688"/>
          </a:xfrm>
        </p:spPr>
        <p:txBody>
          <a:bodyPr/>
          <a:lstStyle/>
          <a:p>
            <a:r>
              <a:rPr lang="en-ZA" dirty="0"/>
              <a:t>Some properties of the n-</a:t>
            </a:r>
            <a:r>
              <a:rPr lang="en-ZA" dirty="0" err="1"/>
              <a:t>th</a:t>
            </a:r>
            <a:r>
              <a:rPr lang="en-ZA" dirty="0"/>
              <a:t> roots of unity</a:t>
            </a:r>
            <a:endParaRPr lang="en-US" dirty="0"/>
          </a:p>
        </p:txBody>
      </p:sp>
      <p:sp>
        <p:nvSpPr>
          <p:cNvPr id="3" name="Slide Number Placeholder 2">
            <a:extLst>
              <a:ext uri="{FF2B5EF4-FFF2-40B4-BE49-F238E27FC236}">
                <a16:creationId xmlns:a16="http://schemas.microsoft.com/office/drawing/2014/main" id="{D9872124-7A33-9443-8FF5-387643132050}"/>
              </a:ext>
            </a:extLst>
          </p:cNvPr>
          <p:cNvSpPr>
            <a:spLocks noGrp="1"/>
          </p:cNvSpPr>
          <p:nvPr>
            <p:ph type="sldNum" sz="quarter" idx="12"/>
          </p:nvPr>
        </p:nvSpPr>
        <p:spPr/>
        <p:txBody>
          <a:bodyPr/>
          <a:lstStyle/>
          <a:p>
            <a:fld id="{591A223C-FA10-BC46-A853-03BA373D023C}" type="slidenum">
              <a:rPr lang="en-US" smtClean="0"/>
              <a:t>17</a:t>
            </a:fld>
            <a:endParaRPr lang="en-US"/>
          </a:p>
        </p:txBody>
      </p:sp>
      <p:grpSp>
        <p:nvGrpSpPr>
          <p:cNvPr id="227" name="Group 226">
            <a:extLst>
              <a:ext uri="{FF2B5EF4-FFF2-40B4-BE49-F238E27FC236}">
                <a16:creationId xmlns:a16="http://schemas.microsoft.com/office/drawing/2014/main" id="{9655F910-D8C0-AE47-9308-DB5BE779A278}"/>
              </a:ext>
            </a:extLst>
          </p:cNvPr>
          <p:cNvGrpSpPr/>
          <p:nvPr/>
        </p:nvGrpSpPr>
        <p:grpSpPr>
          <a:xfrm>
            <a:off x="2193307" y="1016030"/>
            <a:ext cx="8376014" cy="982231"/>
            <a:chOff x="128046" y="925495"/>
            <a:chExt cx="8376014" cy="982231"/>
          </a:xfrm>
        </p:grpSpPr>
        <p:sp>
          <p:nvSpPr>
            <p:cNvPr id="223" name="Rounded Rectangle 222">
              <a:extLst>
                <a:ext uri="{FF2B5EF4-FFF2-40B4-BE49-F238E27FC236}">
                  <a16:creationId xmlns:a16="http://schemas.microsoft.com/office/drawing/2014/main" id="{5C9B543D-8F3C-8643-ABF3-08B80F47A2B2}"/>
                </a:ext>
              </a:extLst>
            </p:cNvPr>
            <p:cNvSpPr/>
            <p:nvPr/>
          </p:nvSpPr>
          <p:spPr>
            <a:xfrm>
              <a:off x="128046" y="925495"/>
              <a:ext cx="8328071" cy="982231"/>
            </a:xfrm>
            <a:prstGeom prst="round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9" name="Rectangle 138">
                  <a:extLst>
                    <a:ext uri="{FF2B5EF4-FFF2-40B4-BE49-F238E27FC236}">
                      <a16:creationId xmlns:a16="http://schemas.microsoft.com/office/drawing/2014/main" id="{BD40D28A-FECD-3543-A015-F0325F03E787}"/>
                    </a:ext>
                  </a:extLst>
                </p:cNvPr>
                <p:cNvSpPr/>
                <p:nvPr/>
              </p:nvSpPr>
              <p:spPr>
                <a:xfrm>
                  <a:off x="128047" y="925495"/>
                  <a:ext cx="6258123" cy="91031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solidFill>
                              <a:schemeClr val="tx1"/>
                            </a:solidFill>
                            <a:latin typeface="Cambria Math" panose="02040503050406030204" pitchFamily="18" charset="0"/>
                            <a:ea typeface="Cambria Math" panose="02040503050406030204" pitchFamily="18" charset="0"/>
                          </a:rPr>
                          <m:t>𝑧</m:t>
                        </m:r>
                        <m:r>
                          <a:rPr lang="en-US" sz="2800" b="0" i="1">
                            <a:solidFill>
                              <a:schemeClr val="tx1"/>
                            </a:solidFill>
                            <a:latin typeface="Cambria Math" panose="02040503050406030204" pitchFamily="18" charset="0"/>
                            <a:ea typeface="Cambria Math" panose="02040503050406030204" pitchFamily="18" charset="0"/>
                          </a:rPr>
                          <m:t>=</m:t>
                        </m:r>
                        <m:func>
                          <m:funcPr>
                            <m:ctrlPr>
                              <a:rPr lang="en-US" sz="2800" i="1">
                                <a:solidFill>
                                  <a:schemeClr val="tx1"/>
                                </a:solidFill>
                                <a:latin typeface="Cambria Math" panose="02040503050406030204" pitchFamily="18" charset="0"/>
                                <a:ea typeface="Cambria Math" panose="02040503050406030204" pitchFamily="18" charset="0"/>
                              </a:rPr>
                            </m:ctrlPr>
                          </m:funcPr>
                          <m:fName>
                            <m:r>
                              <m:rPr>
                                <m:sty m:val="p"/>
                              </m:rPr>
                              <a:rPr lang="en-US" sz="2800">
                                <a:solidFill>
                                  <a:schemeClr val="tx1"/>
                                </a:solidFill>
                                <a:latin typeface="Cambria Math" panose="02040503050406030204" pitchFamily="18" charset="0"/>
                                <a:ea typeface="Cambria Math" panose="02040503050406030204" pitchFamily="18" charset="0"/>
                              </a:rPr>
                              <m:t>cos</m:t>
                            </m:r>
                          </m:fName>
                          <m:e>
                            <m:f>
                              <m:fPr>
                                <m:ctrlPr>
                                  <a:rPr lang="en-US" sz="2800" i="1">
                                    <a:solidFill>
                                      <a:schemeClr val="tx1"/>
                                    </a:solidFill>
                                    <a:latin typeface="Cambria Math" panose="02040503050406030204" pitchFamily="18" charset="0"/>
                                    <a:ea typeface="Cambria Math" panose="02040503050406030204" pitchFamily="18" charset="0"/>
                                  </a:rPr>
                                </m:ctrlPr>
                              </m:fPr>
                              <m:num>
                                <m:r>
                                  <a:rPr lang="en-US" sz="2800" i="1">
                                    <a:solidFill>
                                      <a:schemeClr val="tx1"/>
                                    </a:solidFill>
                                    <a:latin typeface="Cambria Math" panose="02040503050406030204" pitchFamily="18" charset="0"/>
                                    <a:ea typeface="Cambria Math" panose="02040503050406030204" pitchFamily="18" charset="0"/>
                                  </a:rPr>
                                  <m:t>2</m:t>
                                </m:r>
                                <m:r>
                                  <a:rPr lang="en-US" sz="2800" i="1">
                                    <a:solidFill>
                                      <a:schemeClr val="tx1"/>
                                    </a:solidFill>
                                    <a:latin typeface="Cambria Math" panose="02040503050406030204" pitchFamily="18" charset="0"/>
                                    <a:ea typeface="Cambria Math" panose="02040503050406030204" pitchFamily="18" charset="0"/>
                                  </a:rPr>
                                  <m:t>𝜋</m:t>
                                </m:r>
                                <m:r>
                                  <a:rPr lang="en-US" sz="2800" i="1">
                                    <a:solidFill>
                                      <a:schemeClr val="tx1"/>
                                    </a:solidFill>
                                    <a:latin typeface="Cambria Math" panose="02040503050406030204" pitchFamily="18" charset="0"/>
                                    <a:ea typeface="Cambria Math" panose="02040503050406030204" pitchFamily="18" charset="0"/>
                                  </a:rPr>
                                  <m:t>𝑘</m:t>
                                </m:r>
                              </m:num>
                              <m:den>
                                <m:r>
                                  <a:rPr lang="en-US" sz="2800" i="1">
                                    <a:solidFill>
                                      <a:schemeClr val="tx1"/>
                                    </a:solidFill>
                                    <a:latin typeface="Cambria Math" panose="02040503050406030204" pitchFamily="18" charset="0"/>
                                    <a:ea typeface="Cambria Math" panose="02040503050406030204" pitchFamily="18" charset="0"/>
                                  </a:rPr>
                                  <m:t>𝑛</m:t>
                                </m:r>
                              </m:den>
                            </m:f>
                            <m:r>
                              <a:rPr lang="en-US" sz="2800" i="1">
                                <a:solidFill>
                                  <a:schemeClr val="tx1"/>
                                </a:solidFill>
                                <a:latin typeface="Cambria Math" panose="02040503050406030204" pitchFamily="18" charset="0"/>
                                <a:ea typeface="Cambria Math" panose="02040503050406030204" pitchFamily="18" charset="0"/>
                              </a:rPr>
                              <m:t>+</m:t>
                            </m:r>
                            <m:r>
                              <a:rPr lang="en-US" sz="2800" i="1">
                                <a:solidFill>
                                  <a:schemeClr val="tx1"/>
                                </a:solidFill>
                                <a:latin typeface="Cambria Math" panose="02040503050406030204" pitchFamily="18" charset="0"/>
                                <a:ea typeface="Cambria Math" panose="02040503050406030204" pitchFamily="18" charset="0"/>
                              </a:rPr>
                              <m:t>𝑖</m:t>
                            </m:r>
                            <m:func>
                              <m:funcPr>
                                <m:ctrlPr>
                                  <a:rPr lang="en-US" sz="2800" i="1">
                                    <a:solidFill>
                                      <a:schemeClr val="tx1"/>
                                    </a:solidFill>
                                    <a:latin typeface="Cambria Math" panose="02040503050406030204" pitchFamily="18" charset="0"/>
                                    <a:ea typeface="Cambria Math" panose="02040503050406030204" pitchFamily="18" charset="0"/>
                                  </a:rPr>
                                </m:ctrlPr>
                              </m:funcPr>
                              <m:fName>
                                <m:r>
                                  <m:rPr>
                                    <m:sty m:val="p"/>
                                  </m:rPr>
                                  <a:rPr lang="en-US" sz="2800">
                                    <a:solidFill>
                                      <a:schemeClr val="tx1"/>
                                    </a:solidFill>
                                    <a:latin typeface="Cambria Math" panose="02040503050406030204" pitchFamily="18" charset="0"/>
                                    <a:ea typeface="Cambria Math" panose="02040503050406030204" pitchFamily="18" charset="0"/>
                                  </a:rPr>
                                  <m:t>sin</m:t>
                                </m:r>
                              </m:fName>
                              <m:e>
                                <m:f>
                                  <m:fPr>
                                    <m:ctrlPr>
                                      <a:rPr lang="en-US" sz="2800" i="1">
                                        <a:solidFill>
                                          <a:schemeClr val="tx1"/>
                                        </a:solidFill>
                                        <a:latin typeface="Cambria Math" panose="02040503050406030204" pitchFamily="18" charset="0"/>
                                        <a:ea typeface="Cambria Math" panose="02040503050406030204" pitchFamily="18" charset="0"/>
                                      </a:rPr>
                                    </m:ctrlPr>
                                  </m:fPr>
                                  <m:num>
                                    <m:r>
                                      <a:rPr lang="en-US" sz="2800" i="1">
                                        <a:solidFill>
                                          <a:schemeClr val="tx1"/>
                                        </a:solidFill>
                                        <a:latin typeface="Cambria Math" panose="02040503050406030204" pitchFamily="18" charset="0"/>
                                        <a:ea typeface="Cambria Math" panose="02040503050406030204" pitchFamily="18" charset="0"/>
                                      </a:rPr>
                                      <m:t>2</m:t>
                                    </m:r>
                                    <m:r>
                                      <a:rPr lang="en-US" sz="2800" i="1">
                                        <a:solidFill>
                                          <a:schemeClr val="tx1"/>
                                        </a:solidFill>
                                        <a:latin typeface="Cambria Math" panose="02040503050406030204" pitchFamily="18" charset="0"/>
                                        <a:ea typeface="Cambria Math" panose="02040503050406030204" pitchFamily="18" charset="0"/>
                                      </a:rPr>
                                      <m:t>𝜋</m:t>
                                    </m:r>
                                    <m:r>
                                      <a:rPr lang="en-US" sz="2800" i="1">
                                        <a:solidFill>
                                          <a:schemeClr val="tx1"/>
                                        </a:solidFill>
                                        <a:latin typeface="Cambria Math" panose="02040503050406030204" pitchFamily="18" charset="0"/>
                                        <a:ea typeface="Cambria Math" panose="02040503050406030204" pitchFamily="18" charset="0"/>
                                      </a:rPr>
                                      <m:t>𝑘</m:t>
                                    </m:r>
                                  </m:num>
                                  <m:den>
                                    <m:r>
                                      <a:rPr lang="en-US" sz="2800" i="1">
                                        <a:solidFill>
                                          <a:schemeClr val="tx1"/>
                                        </a:solidFill>
                                        <a:latin typeface="Cambria Math" panose="02040503050406030204" pitchFamily="18" charset="0"/>
                                        <a:ea typeface="Cambria Math" panose="02040503050406030204" pitchFamily="18" charset="0"/>
                                      </a:rPr>
                                      <m:t>𝑛</m:t>
                                    </m:r>
                                  </m:den>
                                </m:f>
                              </m:e>
                            </m:func>
                          </m:e>
                        </m:func>
                        <m:d>
                          <m:dPr>
                            <m:begChr m:val=""/>
                            <m:endChr m:val="|"/>
                            <m:ctrlPr>
                              <a:rPr lang="en-US" sz="2800" i="1">
                                <a:solidFill>
                                  <a:schemeClr val="tx1"/>
                                </a:solidFill>
                                <a:latin typeface="Cambria Math" panose="02040503050406030204" pitchFamily="18" charset="0"/>
                                <a:ea typeface="Cambria Math" panose="02040503050406030204" pitchFamily="18" charset="0"/>
                              </a:rPr>
                            </m:ctrlPr>
                          </m:dPr>
                          <m:e>
                            <m:r>
                              <a:rPr lang="en-US" sz="2800" b="0" i="1" smtClean="0">
                                <a:solidFill>
                                  <a:schemeClr val="tx1"/>
                                </a:solidFill>
                                <a:latin typeface="Cambria Math" panose="02040503050406030204" pitchFamily="18" charset="0"/>
                                <a:ea typeface="Cambria Math" panose="02040503050406030204" pitchFamily="18" charset="0"/>
                              </a:rPr>
                              <m:t>=</m:t>
                            </m:r>
                            <m:sSubSup>
                              <m:sSubSupPr>
                                <m:ctrlPr>
                                  <a:rPr lang="en-US" sz="2800" i="1">
                                    <a:latin typeface="Cambria Math" panose="02040503050406030204" pitchFamily="18" charset="0"/>
                                    <a:ea typeface="Cambria Math" panose="02040503050406030204" pitchFamily="18" charset="0"/>
                                  </a:rPr>
                                </m:ctrlPr>
                              </m:sSubSupPr>
                              <m:e>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𝑒</m:t>
                                    </m:r>
                                  </m:e>
                                  <m:sup>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2</m:t>
                                        </m:r>
                                        <m:r>
                                          <a:rPr lang="en-US" sz="2800" i="1">
                                            <a:latin typeface="Cambria Math" panose="02040503050406030204" pitchFamily="18" charset="0"/>
                                            <a:ea typeface="Cambria Math" panose="02040503050406030204" pitchFamily="18" charset="0"/>
                                          </a:rPr>
                                          <m:t>𝜋</m:t>
                                        </m:r>
                                        <m:r>
                                          <a:rPr lang="en-US" sz="2800" i="1">
                                            <a:latin typeface="Cambria Math" panose="02040503050406030204" pitchFamily="18" charset="0"/>
                                            <a:ea typeface="Cambria Math" panose="02040503050406030204" pitchFamily="18" charset="0"/>
                                          </a:rPr>
                                          <m:t>𝑖</m:t>
                                        </m:r>
                                      </m:num>
                                      <m:den>
                                        <m:r>
                                          <a:rPr lang="en-US" sz="2800" i="1">
                                            <a:latin typeface="Cambria Math" panose="02040503050406030204" pitchFamily="18" charset="0"/>
                                            <a:ea typeface="Cambria Math" panose="02040503050406030204" pitchFamily="18" charset="0"/>
                                          </a:rPr>
                                          <m:t>𝑛</m:t>
                                        </m:r>
                                      </m:den>
                                    </m:f>
                                    <m:r>
                                      <a:rPr lang="sr-Latn-RS" sz="2800" b="0" i="1" smtClean="0">
                                        <a:latin typeface="Cambria Math" panose="02040503050406030204" pitchFamily="18" charset="0"/>
                                        <a:ea typeface="Cambria Math" panose="02040503050406030204" pitchFamily="18" charset="0"/>
                                      </a:rPr>
                                      <m:t>𝑘</m:t>
                                    </m:r>
                                  </m:sup>
                                </m:sSup>
                                <m:r>
                                  <a:rPr lang="en-US" sz="2800" b="0" i="1" smtClean="0">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𝜔</m:t>
                                </m:r>
                              </m:e>
                              <m:sub>
                                <m:r>
                                  <a:rPr lang="en-US" sz="2800" i="1">
                                    <a:latin typeface="Cambria Math" panose="02040503050406030204" pitchFamily="18" charset="0"/>
                                    <a:ea typeface="Cambria Math" panose="02040503050406030204" pitchFamily="18" charset="0"/>
                                  </a:rPr>
                                  <m:t>𝑛</m:t>
                                </m:r>
                              </m:sub>
                              <m:sup>
                                <m:r>
                                  <a:rPr lang="en-US" sz="2800" i="1">
                                    <a:latin typeface="Cambria Math" panose="02040503050406030204" pitchFamily="18" charset="0"/>
                                    <a:ea typeface="Cambria Math" panose="02040503050406030204" pitchFamily="18" charset="0"/>
                                  </a:rPr>
                                  <m:t>𝑘</m:t>
                                </m:r>
                              </m:sup>
                            </m:sSubSup>
                            <m:r>
                              <a:rPr lang="en-US" sz="2800" b="0" i="1" smtClean="0">
                                <a:latin typeface="Cambria Math" panose="02040503050406030204" pitchFamily="18" charset="0"/>
                                <a:ea typeface="Cambria Math" panose="02040503050406030204" pitchFamily="18" charset="0"/>
                              </a:rPr>
                              <m:t>  </m:t>
                            </m:r>
                          </m:e>
                        </m:d>
                      </m:oMath>
                    </m:oMathPara>
                  </a14:m>
                  <a:endParaRPr lang="en-US" sz="2800" i="1" dirty="0">
                    <a:solidFill>
                      <a:schemeClr val="tx1">
                        <a:lumMod val="50000"/>
                        <a:lumOff val="50000"/>
                      </a:schemeClr>
                    </a:solidFill>
                  </a:endParaRPr>
                </a:p>
              </p:txBody>
            </p:sp>
          </mc:Choice>
          <mc:Fallback xmlns="">
            <p:sp>
              <p:nvSpPr>
                <p:cNvPr id="139" name="Rectangle 138">
                  <a:extLst>
                    <a:ext uri="{FF2B5EF4-FFF2-40B4-BE49-F238E27FC236}">
                      <a16:creationId xmlns:a16="http://schemas.microsoft.com/office/drawing/2014/main" id="{BD40D28A-FECD-3543-A015-F0325F03E787}"/>
                    </a:ext>
                  </a:extLst>
                </p:cNvPr>
                <p:cNvSpPr>
                  <a:spLocks noRot="1" noChangeAspect="1" noMove="1" noResize="1" noEditPoints="1" noAdjustHandles="1" noChangeArrowheads="1" noChangeShapeType="1" noTextEdit="1"/>
                </p:cNvSpPr>
                <p:nvPr/>
              </p:nvSpPr>
              <p:spPr>
                <a:xfrm>
                  <a:off x="128047" y="925495"/>
                  <a:ext cx="6258123" cy="910314"/>
                </a:xfrm>
                <a:prstGeom prst="rect">
                  <a:avLst/>
                </a:prstGeom>
                <a:blipFill>
                  <a:blip r:embed="rId3"/>
                  <a:stretch>
                    <a:fillRect t="-143836" r="-14402" b="-1958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0" name="Rectangle 219">
                  <a:extLst>
                    <a:ext uri="{FF2B5EF4-FFF2-40B4-BE49-F238E27FC236}">
                      <a16:creationId xmlns:a16="http://schemas.microsoft.com/office/drawing/2014/main" id="{56DAC5FC-8FB4-DD40-8B5A-49144B10DF46}"/>
                    </a:ext>
                  </a:extLst>
                </p:cNvPr>
                <p:cNvSpPr/>
                <p:nvPr/>
              </p:nvSpPr>
              <p:spPr>
                <a:xfrm>
                  <a:off x="6186823" y="1291174"/>
                  <a:ext cx="231723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smtClean="0">
                            <a:solidFill>
                              <a:schemeClr val="tx1">
                                <a:lumMod val="65000"/>
                                <a:lumOff val="35000"/>
                              </a:schemeClr>
                            </a:solidFill>
                            <a:latin typeface="Cambria Math" panose="02040503050406030204" pitchFamily="18" charset="0"/>
                            <a:ea typeface="Cambria Math" panose="02040503050406030204" pitchFamily="18" charset="0"/>
                          </a:rPr>
                          <m:t>𝑘</m:t>
                        </m:r>
                        <m:r>
                          <a:rPr lang="en-US" sz="2000" i="1" smtClean="0">
                            <a:solidFill>
                              <a:schemeClr val="tx1">
                                <a:lumMod val="65000"/>
                                <a:lumOff val="35000"/>
                              </a:schemeClr>
                            </a:solidFill>
                            <a:latin typeface="Cambria Math" panose="02040503050406030204" pitchFamily="18" charset="0"/>
                            <a:ea typeface="Cambria Math" panose="02040503050406030204" pitchFamily="18" charset="0"/>
                          </a:rPr>
                          <m:t>=</m:t>
                        </m:r>
                        <m:d>
                          <m:dPr>
                            <m:begChr m:val="{"/>
                            <m:endChr m:val="}"/>
                            <m:ctrlPr>
                              <a:rPr lang="en-US" sz="2000" i="1">
                                <a:solidFill>
                                  <a:schemeClr val="tx1">
                                    <a:lumMod val="65000"/>
                                    <a:lumOff val="35000"/>
                                  </a:schemeClr>
                                </a:solidFill>
                                <a:latin typeface="Cambria Math" panose="02040503050406030204" pitchFamily="18" charset="0"/>
                                <a:ea typeface="Cambria Math" panose="02040503050406030204" pitchFamily="18" charset="0"/>
                              </a:rPr>
                            </m:ctrlPr>
                          </m:dPr>
                          <m:e>
                            <m:r>
                              <a:rPr lang="en-US" sz="2000" i="1">
                                <a:solidFill>
                                  <a:schemeClr val="tx1">
                                    <a:lumMod val="65000"/>
                                    <a:lumOff val="35000"/>
                                  </a:schemeClr>
                                </a:solidFill>
                                <a:latin typeface="Cambria Math" panose="02040503050406030204" pitchFamily="18" charset="0"/>
                                <a:ea typeface="Cambria Math" panose="02040503050406030204" pitchFamily="18" charset="0"/>
                              </a:rPr>
                              <m:t>0,1,⋯,</m:t>
                            </m:r>
                            <m:r>
                              <a:rPr lang="en-US" sz="2000" i="1">
                                <a:solidFill>
                                  <a:schemeClr val="tx1">
                                    <a:lumMod val="65000"/>
                                    <a:lumOff val="35000"/>
                                  </a:schemeClr>
                                </a:solidFill>
                                <a:latin typeface="Cambria Math" panose="02040503050406030204" pitchFamily="18" charset="0"/>
                                <a:ea typeface="Cambria Math" panose="02040503050406030204" pitchFamily="18" charset="0"/>
                              </a:rPr>
                              <m:t>𝑛</m:t>
                            </m:r>
                            <m:r>
                              <a:rPr lang="en-US" sz="2000" i="1">
                                <a:solidFill>
                                  <a:schemeClr val="tx1">
                                    <a:lumMod val="65000"/>
                                    <a:lumOff val="35000"/>
                                  </a:schemeClr>
                                </a:solidFill>
                                <a:latin typeface="Cambria Math" panose="02040503050406030204" pitchFamily="18" charset="0"/>
                                <a:ea typeface="Cambria Math" panose="02040503050406030204" pitchFamily="18" charset="0"/>
                              </a:rPr>
                              <m:t>−1</m:t>
                            </m:r>
                          </m:e>
                        </m:d>
                      </m:oMath>
                    </m:oMathPara>
                  </a14:m>
                  <a:endParaRPr lang="en-US" sz="2000" dirty="0">
                    <a:solidFill>
                      <a:schemeClr val="tx1">
                        <a:lumMod val="65000"/>
                        <a:lumOff val="35000"/>
                      </a:schemeClr>
                    </a:solidFill>
                  </a:endParaRPr>
                </a:p>
              </p:txBody>
            </p:sp>
          </mc:Choice>
          <mc:Fallback xmlns="">
            <p:sp>
              <p:nvSpPr>
                <p:cNvPr id="220" name="Rectangle 219">
                  <a:extLst>
                    <a:ext uri="{FF2B5EF4-FFF2-40B4-BE49-F238E27FC236}">
                      <a16:creationId xmlns:a16="http://schemas.microsoft.com/office/drawing/2014/main" id="{56DAC5FC-8FB4-DD40-8B5A-49144B10DF46}"/>
                    </a:ext>
                  </a:extLst>
                </p:cNvPr>
                <p:cNvSpPr>
                  <a:spLocks noRot="1" noChangeAspect="1" noMove="1" noResize="1" noEditPoints="1" noAdjustHandles="1" noChangeArrowheads="1" noChangeShapeType="1" noTextEdit="1"/>
                </p:cNvSpPr>
                <p:nvPr/>
              </p:nvSpPr>
              <p:spPr>
                <a:xfrm>
                  <a:off x="6186823" y="1291174"/>
                  <a:ext cx="2317237" cy="400110"/>
                </a:xfrm>
                <a:prstGeom prst="rect">
                  <a:avLst/>
                </a:prstGeom>
                <a:blipFill>
                  <a:blip r:embed="rId6"/>
                  <a:stretch>
                    <a:fillRect/>
                  </a:stretch>
                </a:blipFill>
              </p:spPr>
              <p:txBody>
                <a:bodyPr/>
                <a:lstStyle/>
                <a:p>
                  <a:r>
                    <a:rPr lang="en-US">
                      <a:noFill/>
                    </a:rPr>
                    <a:t> </a:t>
                  </a:r>
                </a:p>
              </p:txBody>
            </p:sp>
          </mc:Fallback>
        </mc:AlternateContent>
      </p:grpSp>
      <p:sp>
        <p:nvSpPr>
          <p:cNvPr id="225" name="TextBox 224">
            <a:extLst>
              <a:ext uri="{FF2B5EF4-FFF2-40B4-BE49-F238E27FC236}">
                <a16:creationId xmlns:a16="http://schemas.microsoft.com/office/drawing/2014/main" id="{849D0300-D000-F24F-886F-C49B2FFF9EA2}"/>
              </a:ext>
            </a:extLst>
          </p:cNvPr>
          <p:cNvSpPr txBox="1"/>
          <p:nvPr/>
        </p:nvSpPr>
        <p:spPr>
          <a:xfrm>
            <a:off x="13106400" y="7261412"/>
            <a:ext cx="184731" cy="369332"/>
          </a:xfrm>
          <a:prstGeom prst="rect">
            <a:avLst/>
          </a:prstGeom>
          <a:noFill/>
        </p:spPr>
        <p:txBody>
          <a:bodyPr wrap="none" rtlCol="0">
            <a:spAutoFit/>
          </a:bodyPr>
          <a:lstStyle/>
          <a:p>
            <a:endParaRPr lang="en-US" dirty="0"/>
          </a:p>
        </p:txBody>
      </p:sp>
      <p:sp>
        <p:nvSpPr>
          <p:cNvPr id="5" name="Rectangle 4">
            <a:extLst>
              <a:ext uri="{FF2B5EF4-FFF2-40B4-BE49-F238E27FC236}">
                <a16:creationId xmlns:a16="http://schemas.microsoft.com/office/drawing/2014/main" id="{7BF69456-ECB7-F34A-967B-9051622C78F5}"/>
              </a:ext>
            </a:extLst>
          </p:cNvPr>
          <p:cNvSpPr/>
          <p:nvPr/>
        </p:nvSpPr>
        <p:spPr>
          <a:xfrm>
            <a:off x="563577" y="2214444"/>
            <a:ext cx="5437534" cy="3957849"/>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grpSp>
        <p:nvGrpSpPr>
          <p:cNvPr id="12" name="Group 11">
            <a:extLst>
              <a:ext uri="{FF2B5EF4-FFF2-40B4-BE49-F238E27FC236}">
                <a16:creationId xmlns:a16="http://schemas.microsoft.com/office/drawing/2014/main" id="{5A1C1999-DCA7-9740-BE9D-FA84289E9CEE}"/>
              </a:ext>
            </a:extLst>
          </p:cNvPr>
          <p:cNvGrpSpPr/>
          <p:nvPr/>
        </p:nvGrpSpPr>
        <p:grpSpPr>
          <a:xfrm>
            <a:off x="616917" y="2266552"/>
            <a:ext cx="4329161" cy="474810"/>
            <a:chOff x="609637" y="2805207"/>
            <a:chExt cx="4329161" cy="474810"/>
          </a:xfrm>
        </p:grpSpPr>
        <mc:AlternateContent xmlns:mc="http://schemas.openxmlformats.org/markup-compatibility/2006" xmlns:a14="http://schemas.microsoft.com/office/drawing/2010/main">
          <mc:Choice Requires="a14">
            <p:sp>
              <p:nvSpPr>
                <p:cNvPr id="91" name="Rectangle 90">
                  <a:extLst>
                    <a:ext uri="{FF2B5EF4-FFF2-40B4-BE49-F238E27FC236}">
                      <a16:creationId xmlns:a16="http://schemas.microsoft.com/office/drawing/2014/main" id="{0D7DDC1D-1307-2443-AF59-EDB19B65EF2E}"/>
                    </a:ext>
                  </a:extLst>
                </p:cNvPr>
                <p:cNvSpPr/>
                <p:nvPr/>
              </p:nvSpPr>
              <p:spPr>
                <a:xfrm>
                  <a:off x="939304" y="2818352"/>
                  <a:ext cx="3999494"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𝜔</m:t>
                        </m:r>
                        <m:r>
                          <a:rPr lang="en-US" sz="2400" b="0" i="1" smtClean="0">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𝜔</m:t>
                            </m:r>
                          </m:e>
                          <m:sup>
                            <m:r>
                              <a:rPr lang="en-US" sz="2400" i="1">
                                <a:latin typeface="Cambria Math" panose="02040503050406030204" pitchFamily="18" charset="0"/>
                                <a:ea typeface="Cambria Math" panose="02040503050406030204" pitchFamily="18" charset="0"/>
                              </a:rPr>
                              <m:t>2</m:t>
                            </m:r>
                          </m:sup>
                        </m:sSup>
                        <m:r>
                          <a:rPr lang="en-US" sz="2400" i="1">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𝜔</m:t>
                            </m:r>
                          </m:e>
                          <m:sup>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−1</m:t>
                            </m:r>
                          </m:sup>
                        </m:sSup>
                        <m:r>
                          <a:rPr lang="en-US" sz="2400" b="0" i="1" smtClean="0">
                            <a:latin typeface="Cambria Math" panose="02040503050406030204" pitchFamily="18" charset="0"/>
                            <a:ea typeface="Cambria Math" panose="02040503050406030204" pitchFamily="18" charset="0"/>
                          </a:rPr>
                          <m:t>=0</m:t>
                        </m:r>
                      </m:oMath>
                    </m:oMathPara>
                  </a14:m>
                  <a:endParaRPr lang="en-US" sz="2400" dirty="0"/>
                </a:p>
              </p:txBody>
            </p:sp>
          </mc:Choice>
          <mc:Fallback xmlns="">
            <p:sp>
              <p:nvSpPr>
                <p:cNvPr id="91" name="Rectangle 90">
                  <a:extLst>
                    <a:ext uri="{FF2B5EF4-FFF2-40B4-BE49-F238E27FC236}">
                      <a16:creationId xmlns:a16="http://schemas.microsoft.com/office/drawing/2014/main" id="{0D7DDC1D-1307-2443-AF59-EDB19B65EF2E}"/>
                    </a:ext>
                  </a:extLst>
                </p:cNvPr>
                <p:cNvSpPr>
                  <a:spLocks noRot="1" noChangeAspect="1" noMove="1" noResize="1" noEditPoints="1" noAdjustHandles="1" noChangeArrowheads="1" noChangeShapeType="1" noTextEdit="1"/>
                </p:cNvSpPr>
                <p:nvPr/>
              </p:nvSpPr>
              <p:spPr>
                <a:xfrm>
                  <a:off x="939304" y="2818352"/>
                  <a:ext cx="3999494" cy="461665"/>
                </a:xfrm>
                <a:prstGeom prst="rect">
                  <a:avLst/>
                </a:prstGeom>
                <a:blipFill>
                  <a:blip r:embed="rId7"/>
                  <a:stretch>
                    <a:fillRect/>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292E719E-5628-0C41-946D-8368AB1E0BC8}"/>
                </a:ext>
              </a:extLst>
            </p:cNvPr>
            <p:cNvSpPr txBox="1"/>
            <p:nvPr/>
          </p:nvSpPr>
          <p:spPr>
            <a:xfrm>
              <a:off x="609637" y="2805207"/>
              <a:ext cx="433132" cy="461665"/>
            </a:xfrm>
            <a:prstGeom prst="rect">
              <a:avLst/>
            </a:prstGeom>
            <a:noFill/>
          </p:spPr>
          <p:txBody>
            <a:bodyPr wrap="none" rtlCol="0">
              <a:spAutoFit/>
            </a:bodyPr>
            <a:lstStyle/>
            <a:p>
              <a:r>
                <a:rPr lang="en-US" sz="2400" dirty="0"/>
                <a:t>1)</a:t>
              </a:r>
            </a:p>
          </p:txBody>
        </p:sp>
      </p:grpSp>
      <p:grpSp>
        <p:nvGrpSpPr>
          <p:cNvPr id="14" name="Group 13">
            <a:extLst>
              <a:ext uri="{FF2B5EF4-FFF2-40B4-BE49-F238E27FC236}">
                <a16:creationId xmlns:a16="http://schemas.microsoft.com/office/drawing/2014/main" id="{B542674F-07A6-5847-823B-C9DDB0C8C499}"/>
              </a:ext>
            </a:extLst>
          </p:cNvPr>
          <p:cNvGrpSpPr/>
          <p:nvPr/>
        </p:nvGrpSpPr>
        <p:grpSpPr>
          <a:xfrm>
            <a:off x="606218" y="2932861"/>
            <a:ext cx="5221933" cy="492976"/>
            <a:chOff x="606218" y="3383497"/>
            <a:chExt cx="5221933" cy="492976"/>
          </a:xfrm>
        </p:grpSpPr>
        <mc:AlternateContent xmlns:mc="http://schemas.openxmlformats.org/markup-compatibility/2006" xmlns:a14="http://schemas.microsoft.com/office/drawing/2010/main">
          <mc:Choice Requires="a14">
            <p:sp>
              <p:nvSpPr>
                <p:cNvPr id="92" name="Rectangle 91">
                  <a:extLst>
                    <a:ext uri="{FF2B5EF4-FFF2-40B4-BE49-F238E27FC236}">
                      <a16:creationId xmlns:a16="http://schemas.microsoft.com/office/drawing/2014/main" id="{ED9E9AEF-3B12-0E40-AA24-34DCBB8A94CD}"/>
                    </a:ext>
                  </a:extLst>
                </p:cNvPr>
                <p:cNvSpPr/>
                <p:nvPr/>
              </p:nvSpPr>
              <p:spPr>
                <a:xfrm>
                  <a:off x="896723" y="3383497"/>
                  <a:ext cx="4931428" cy="48667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1+</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𝜔</m:t>
                            </m:r>
                          </m:e>
                          <m:sup>
                            <m:r>
                              <a:rPr lang="en-US" sz="2400" b="0" i="1" smtClean="0">
                                <a:latin typeface="Cambria Math" panose="02040503050406030204" pitchFamily="18" charset="0"/>
                                <a:ea typeface="Cambria Math" panose="02040503050406030204" pitchFamily="18" charset="0"/>
                              </a:rPr>
                              <m:t>𝑚</m:t>
                            </m:r>
                          </m:sup>
                        </m:sSup>
                        <m:r>
                          <a:rPr lang="en-US" sz="2400" b="0" i="1" smtClean="0">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𝜔</m:t>
                            </m:r>
                          </m:e>
                          <m:sup>
                            <m:r>
                              <a:rPr lang="en-US" sz="2400" i="1">
                                <a:latin typeface="Cambria Math" panose="02040503050406030204" pitchFamily="18" charset="0"/>
                                <a:ea typeface="Cambria Math" panose="02040503050406030204" pitchFamily="18" charset="0"/>
                              </a:rPr>
                              <m:t>2</m:t>
                            </m:r>
                            <m:r>
                              <a:rPr lang="en-US" sz="2400" b="0" i="1" smtClean="0">
                                <a:latin typeface="Cambria Math" panose="02040503050406030204" pitchFamily="18" charset="0"/>
                                <a:ea typeface="Cambria Math" panose="02040503050406030204" pitchFamily="18" charset="0"/>
                              </a:rPr>
                              <m:t>𝑚</m:t>
                            </m:r>
                          </m:sup>
                        </m:sSup>
                        <m:r>
                          <a:rPr lang="en-US" sz="2400" i="1">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𝜔</m:t>
                            </m:r>
                          </m:e>
                          <m:sup>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−1</m:t>
                                </m:r>
                              </m:e>
                            </m:d>
                            <m:r>
                              <a:rPr lang="en-US" sz="2400" b="0" i="1" smtClean="0">
                                <a:latin typeface="Cambria Math" panose="02040503050406030204" pitchFamily="18" charset="0"/>
                                <a:ea typeface="Cambria Math" panose="02040503050406030204" pitchFamily="18" charset="0"/>
                              </a:rPr>
                              <m:t>𝑚</m:t>
                            </m:r>
                          </m:sup>
                        </m:sSup>
                        <m:r>
                          <a:rPr lang="en-US" sz="2400" b="0" i="1" smtClean="0">
                            <a:latin typeface="Cambria Math" panose="02040503050406030204" pitchFamily="18" charset="0"/>
                            <a:ea typeface="Cambria Math" panose="02040503050406030204" pitchFamily="18" charset="0"/>
                          </a:rPr>
                          <m:t>=0</m:t>
                        </m:r>
                      </m:oMath>
                    </m:oMathPara>
                  </a14:m>
                  <a:endParaRPr lang="en-US" sz="2400" dirty="0"/>
                </a:p>
              </p:txBody>
            </p:sp>
          </mc:Choice>
          <mc:Fallback xmlns="">
            <p:sp>
              <p:nvSpPr>
                <p:cNvPr id="92" name="Rectangle 91">
                  <a:extLst>
                    <a:ext uri="{FF2B5EF4-FFF2-40B4-BE49-F238E27FC236}">
                      <a16:creationId xmlns:a16="http://schemas.microsoft.com/office/drawing/2014/main" id="{ED9E9AEF-3B12-0E40-AA24-34DCBB8A94CD}"/>
                    </a:ext>
                  </a:extLst>
                </p:cNvPr>
                <p:cNvSpPr>
                  <a:spLocks noRot="1" noChangeAspect="1" noMove="1" noResize="1" noEditPoints="1" noAdjustHandles="1" noChangeArrowheads="1" noChangeShapeType="1" noTextEdit="1"/>
                </p:cNvSpPr>
                <p:nvPr/>
              </p:nvSpPr>
              <p:spPr>
                <a:xfrm>
                  <a:off x="896723" y="3383497"/>
                  <a:ext cx="4931428" cy="486672"/>
                </a:xfrm>
                <a:prstGeom prst="rect">
                  <a:avLst/>
                </a:prstGeom>
                <a:blipFill>
                  <a:blip r:embed="rId8"/>
                  <a:stretch>
                    <a:fillRect/>
                  </a:stretch>
                </a:blipFill>
              </p:spPr>
              <p:txBody>
                <a:bodyPr/>
                <a:lstStyle/>
                <a:p>
                  <a:r>
                    <a:rPr lang="en-US">
                      <a:noFill/>
                    </a:rPr>
                    <a:t> </a:t>
                  </a:r>
                </a:p>
              </p:txBody>
            </p:sp>
          </mc:Fallback>
        </mc:AlternateContent>
        <p:sp>
          <p:nvSpPr>
            <p:cNvPr id="73" name="TextBox 72">
              <a:extLst>
                <a:ext uri="{FF2B5EF4-FFF2-40B4-BE49-F238E27FC236}">
                  <a16:creationId xmlns:a16="http://schemas.microsoft.com/office/drawing/2014/main" id="{23D7B5D6-2521-D447-8BFB-C3D31008BB17}"/>
                </a:ext>
              </a:extLst>
            </p:cNvPr>
            <p:cNvSpPr txBox="1"/>
            <p:nvPr/>
          </p:nvSpPr>
          <p:spPr>
            <a:xfrm>
              <a:off x="606218" y="3414808"/>
              <a:ext cx="433132" cy="461665"/>
            </a:xfrm>
            <a:prstGeom prst="rect">
              <a:avLst/>
            </a:prstGeom>
            <a:noFill/>
          </p:spPr>
          <p:txBody>
            <a:bodyPr wrap="none" rtlCol="0">
              <a:spAutoFit/>
            </a:bodyPr>
            <a:lstStyle/>
            <a:p>
              <a:r>
                <a:rPr lang="en-US" sz="2400" dirty="0"/>
                <a:t>2)</a:t>
              </a:r>
            </a:p>
          </p:txBody>
        </p:sp>
      </p:grpSp>
      <p:sp>
        <p:nvSpPr>
          <p:cNvPr id="74" name="Rectangle 73">
            <a:extLst>
              <a:ext uri="{FF2B5EF4-FFF2-40B4-BE49-F238E27FC236}">
                <a16:creationId xmlns:a16="http://schemas.microsoft.com/office/drawing/2014/main" id="{D8BA94EE-9C4A-7F4B-A6F7-594225750B9A}"/>
              </a:ext>
            </a:extLst>
          </p:cNvPr>
          <p:cNvSpPr/>
          <p:nvPr/>
        </p:nvSpPr>
        <p:spPr>
          <a:xfrm>
            <a:off x="886563" y="3823526"/>
            <a:ext cx="4675554" cy="461665"/>
          </a:xfrm>
          <a:prstGeom prst="rect">
            <a:avLst/>
          </a:prstGeom>
        </p:spPr>
        <p:txBody>
          <a:bodyPr wrap="square">
            <a:spAutoFit/>
          </a:bodyPr>
          <a:lstStyle/>
          <a:p>
            <a:endParaRPr lang="en-US" sz="2400" dirty="0"/>
          </a:p>
        </p:txBody>
      </p:sp>
      <p:grpSp>
        <p:nvGrpSpPr>
          <p:cNvPr id="15" name="Group 14">
            <a:extLst>
              <a:ext uri="{FF2B5EF4-FFF2-40B4-BE49-F238E27FC236}">
                <a16:creationId xmlns:a16="http://schemas.microsoft.com/office/drawing/2014/main" id="{28D71F06-9754-2C4E-A533-128D4BD7848C}"/>
              </a:ext>
            </a:extLst>
          </p:cNvPr>
          <p:cNvGrpSpPr/>
          <p:nvPr/>
        </p:nvGrpSpPr>
        <p:grpSpPr>
          <a:xfrm>
            <a:off x="606218" y="3607337"/>
            <a:ext cx="4797338" cy="477240"/>
            <a:chOff x="606218" y="3993998"/>
            <a:chExt cx="4797338" cy="477240"/>
          </a:xfrm>
        </p:grpSpPr>
        <p:sp>
          <p:nvSpPr>
            <p:cNvPr id="75" name="TextBox 74">
              <a:extLst>
                <a:ext uri="{FF2B5EF4-FFF2-40B4-BE49-F238E27FC236}">
                  <a16:creationId xmlns:a16="http://schemas.microsoft.com/office/drawing/2014/main" id="{91E9521D-5C75-1745-9A70-535A1B638E35}"/>
                </a:ext>
              </a:extLst>
            </p:cNvPr>
            <p:cNvSpPr txBox="1"/>
            <p:nvPr/>
          </p:nvSpPr>
          <p:spPr>
            <a:xfrm>
              <a:off x="606218" y="3993998"/>
              <a:ext cx="433132" cy="461665"/>
            </a:xfrm>
            <a:prstGeom prst="rect">
              <a:avLst/>
            </a:prstGeom>
            <a:noFill/>
          </p:spPr>
          <p:txBody>
            <a:bodyPr wrap="none" rtlCol="0">
              <a:spAutoFit/>
            </a:bodyPr>
            <a:lstStyle/>
            <a:p>
              <a:r>
                <a:rPr lang="en-US" sz="2400" dirty="0"/>
                <a:t>3)</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09210955-CD1E-114E-B392-4728C30C45CB}"/>
                    </a:ext>
                  </a:extLst>
                </p:cNvPr>
                <p:cNvSpPr/>
                <p:nvPr/>
              </p:nvSpPr>
              <p:spPr>
                <a:xfrm>
                  <a:off x="916045" y="4009573"/>
                  <a:ext cx="4487511"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ea typeface="Cambria Math" panose="02040503050406030204" pitchFamily="18" charset="0"/>
                          </a:rPr>
                          <m:t>𝑚</m:t>
                        </m:r>
                        <m:r>
                          <a:rPr lang="en-US" sz="2400" i="1">
                            <a:latin typeface="Cambria Math" panose="02040503050406030204" pitchFamily="18" charset="0"/>
                            <a:ea typeface="Cambria Math" panose="02040503050406030204" pitchFamily="18" charset="0"/>
                          </a:rPr>
                          <m:t>=0</m:t>
                        </m:r>
                        <m:r>
                          <a:rPr lang="en-US" sz="2400" i="1" smtClean="0">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1+1+⋯+1=</m:t>
                        </m:r>
                        <m:r>
                          <a:rPr lang="en-US" sz="2400" i="1">
                            <a:latin typeface="Cambria Math" panose="02040503050406030204" pitchFamily="18" charset="0"/>
                            <a:ea typeface="Cambria Math" panose="02040503050406030204" pitchFamily="18" charset="0"/>
                          </a:rPr>
                          <m:t>𝑛</m:t>
                        </m:r>
                      </m:oMath>
                    </m:oMathPara>
                  </a14:m>
                  <a:endParaRPr lang="en-US" sz="2400" dirty="0"/>
                </a:p>
              </p:txBody>
            </p:sp>
          </mc:Choice>
          <mc:Fallback xmlns="">
            <p:sp>
              <p:nvSpPr>
                <p:cNvPr id="7" name="Rectangle 6">
                  <a:extLst>
                    <a:ext uri="{FF2B5EF4-FFF2-40B4-BE49-F238E27FC236}">
                      <a16:creationId xmlns:a16="http://schemas.microsoft.com/office/drawing/2014/main" id="{09210955-CD1E-114E-B392-4728C30C45CB}"/>
                    </a:ext>
                  </a:extLst>
                </p:cNvPr>
                <p:cNvSpPr>
                  <a:spLocks noRot="1" noChangeAspect="1" noMove="1" noResize="1" noEditPoints="1" noAdjustHandles="1" noChangeArrowheads="1" noChangeShapeType="1" noTextEdit="1"/>
                </p:cNvSpPr>
                <p:nvPr/>
              </p:nvSpPr>
              <p:spPr>
                <a:xfrm>
                  <a:off x="916045" y="4009573"/>
                  <a:ext cx="4487511" cy="461665"/>
                </a:xfrm>
                <a:prstGeom prst="rect">
                  <a:avLst/>
                </a:prstGeom>
                <a:blipFill>
                  <a:blip r:embed="rId9"/>
                  <a:stretch>
                    <a:fillRect/>
                  </a:stretch>
                </a:blipFill>
              </p:spPr>
              <p:txBody>
                <a:bodyPr/>
                <a:lstStyle/>
                <a:p>
                  <a:r>
                    <a:rPr lang="en-US">
                      <a:noFill/>
                    </a:rPr>
                    <a:t> </a:t>
                  </a:r>
                </a:p>
              </p:txBody>
            </p:sp>
          </mc:Fallback>
        </mc:AlternateContent>
      </p:grpSp>
      <p:grpSp>
        <p:nvGrpSpPr>
          <p:cNvPr id="16" name="Group 15">
            <a:extLst>
              <a:ext uri="{FF2B5EF4-FFF2-40B4-BE49-F238E27FC236}">
                <a16:creationId xmlns:a16="http://schemas.microsoft.com/office/drawing/2014/main" id="{4749667B-2558-A241-929F-E5476DEE56DF}"/>
              </a:ext>
            </a:extLst>
          </p:cNvPr>
          <p:cNvGrpSpPr/>
          <p:nvPr/>
        </p:nvGrpSpPr>
        <p:grpSpPr>
          <a:xfrm>
            <a:off x="606218" y="4266077"/>
            <a:ext cx="2211137" cy="474294"/>
            <a:chOff x="616917" y="4794734"/>
            <a:chExt cx="2211137" cy="474294"/>
          </a:xfrm>
        </p:grpSpPr>
        <p:sp>
          <p:nvSpPr>
            <p:cNvPr id="77" name="TextBox 76">
              <a:extLst>
                <a:ext uri="{FF2B5EF4-FFF2-40B4-BE49-F238E27FC236}">
                  <a16:creationId xmlns:a16="http://schemas.microsoft.com/office/drawing/2014/main" id="{715C7709-9E33-1C42-B855-B61E1C6FE38C}"/>
                </a:ext>
              </a:extLst>
            </p:cNvPr>
            <p:cNvSpPr txBox="1"/>
            <p:nvPr/>
          </p:nvSpPr>
          <p:spPr>
            <a:xfrm>
              <a:off x="616917" y="4794734"/>
              <a:ext cx="433132" cy="461665"/>
            </a:xfrm>
            <a:prstGeom prst="rect">
              <a:avLst/>
            </a:prstGeom>
            <a:noFill/>
          </p:spPr>
          <p:txBody>
            <a:bodyPr wrap="none" rtlCol="0">
              <a:spAutoFit/>
            </a:bodyPr>
            <a:lstStyle/>
            <a:p>
              <a:r>
                <a:rPr lang="en-US" sz="2400" dirty="0"/>
                <a:t>4)</a:t>
              </a:r>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F96E0BA3-1676-D842-AB71-F7CC6010EB00}"/>
                    </a:ext>
                  </a:extLst>
                </p:cNvPr>
                <p:cNvSpPr/>
                <p:nvPr/>
              </p:nvSpPr>
              <p:spPr>
                <a:xfrm>
                  <a:off x="953245" y="4807363"/>
                  <a:ext cx="187480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sz="2400" i="1" smtClean="0">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𝜔</m:t>
                            </m:r>
                          </m:e>
                          <m:sup>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−1</m:t>
                            </m:r>
                          </m:sup>
                        </m:sSup>
                        <m:r>
                          <a:rPr lang="en-US" sz="2400" b="0" i="1" smtClean="0">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𝜔</m:t>
                            </m:r>
                          </m:e>
                          <m:sup>
                            <m:r>
                              <a:rPr lang="en-US" sz="2400" i="1">
                                <a:latin typeface="Cambria Math" panose="02040503050406030204" pitchFamily="18" charset="0"/>
                                <a:ea typeface="Cambria Math" panose="02040503050406030204" pitchFamily="18" charset="0"/>
                              </a:rPr>
                              <m:t>−1</m:t>
                            </m:r>
                          </m:sup>
                        </m:sSup>
                      </m:oMath>
                    </m:oMathPara>
                  </a14:m>
                  <a:endParaRPr lang="en-US" sz="2400" dirty="0"/>
                </a:p>
              </p:txBody>
            </p:sp>
          </mc:Choice>
          <mc:Fallback xmlns="">
            <p:sp>
              <p:nvSpPr>
                <p:cNvPr id="9" name="Rectangle 8">
                  <a:extLst>
                    <a:ext uri="{FF2B5EF4-FFF2-40B4-BE49-F238E27FC236}">
                      <a16:creationId xmlns:a16="http://schemas.microsoft.com/office/drawing/2014/main" id="{F96E0BA3-1676-D842-AB71-F7CC6010EB00}"/>
                    </a:ext>
                  </a:extLst>
                </p:cNvPr>
                <p:cNvSpPr>
                  <a:spLocks noRot="1" noChangeAspect="1" noMove="1" noResize="1" noEditPoints="1" noAdjustHandles="1" noChangeArrowheads="1" noChangeShapeType="1" noTextEdit="1"/>
                </p:cNvSpPr>
                <p:nvPr/>
              </p:nvSpPr>
              <p:spPr>
                <a:xfrm>
                  <a:off x="953245" y="4807363"/>
                  <a:ext cx="1874809" cy="461665"/>
                </a:xfrm>
                <a:prstGeom prst="rect">
                  <a:avLst/>
                </a:prstGeom>
                <a:blipFill>
                  <a:blip r:embed="rId10"/>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E46DBE27-7BA9-794B-8F6F-F41B974074A1}"/>
                  </a:ext>
                </a:extLst>
              </p:cNvPr>
              <p:cNvSpPr/>
              <p:nvPr/>
            </p:nvSpPr>
            <p:spPr>
              <a:xfrm>
                <a:off x="953245" y="4778054"/>
                <a:ext cx="4124271" cy="619400"/>
              </a:xfrm>
              <a:prstGeom prst="rect">
                <a:avLst/>
              </a:prstGeom>
            </p:spPr>
            <p:txBody>
              <a:bodyPr wrap="none">
                <a:spAutoFit/>
              </a:bodyPr>
              <a:lstStyle/>
              <a:p>
                <a14:m>
                  <m:oMath xmlns:m="http://schemas.openxmlformats.org/officeDocument/2006/math">
                    <m:sSup>
                      <m:sSupPr>
                        <m:ctrlPr>
                          <a:rPr lang="en-US" sz="2400" i="1" smtClean="0">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num>
                          <m:den>
                            <m:r>
                              <a:rPr lang="en-US" sz="2400" i="1">
                                <a:latin typeface="Cambria Math" panose="02040503050406030204" pitchFamily="18" charset="0"/>
                                <a:ea typeface="Cambria Math" panose="02040503050406030204" pitchFamily="18" charset="0"/>
                              </a:rPr>
                              <m:t>𝑛</m:t>
                            </m:r>
                          </m:den>
                        </m:f>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−1</m:t>
                            </m:r>
                          </m:e>
                        </m:d>
                      </m:sup>
                    </m:sSup>
                    <m:r>
                      <a:rPr lang="en-US" sz="2400" b="0" i="1" smtClean="0">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num>
                          <m:den>
                            <m:r>
                              <a:rPr lang="en-US" sz="2400" i="1">
                                <a:latin typeface="Cambria Math" panose="02040503050406030204" pitchFamily="18" charset="0"/>
                                <a:ea typeface="Cambria Math" panose="02040503050406030204" pitchFamily="18" charset="0"/>
                              </a:rPr>
                              <m:t>𝑛</m:t>
                            </m:r>
                          </m:den>
                        </m:f>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 </m:t>
                        </m:r>
                      </m:sup>
                    </m:sSup>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𝑒</m:t>
                        </m:r>
                      </m:e>
                      <m:sup>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2</m:t>
                            </m:r>
                            <m:r>
                              <a:rPr lang="en-US" sz="2400" i="1">
                                <a:latin typeface="Cambria Math" panose="02040503050406030204" pitchFamily="18" charset="0"/>
                                <a:ea typeface="Cambria Math" panose="02040503050406030204" pitchFamily="18" charset="0"/>
                              </a:rPr>
                              <m:t>𝜋</m:t>
                            </m:r>
                            <m:r>
                              <a:rPr lang="en-US" sz="2400" i="1">
                                <a:latin typeface="Cambria Math" panose="02040503050406030204" pitchFamily="18" charset="0"/>
                                <a:ea typeface="Cambria Math" panose="02040503050406030204" pitchFamily="18" charset="0"/>
                              </a:rPr>
                              <m:t>𝑖</m:t>
                            </m:r>
                          </m:num>
                          <m:den>
                            <m:r>
                              <a:rPr lang="en-US" sz="2400" i="1">
                                <a:latin typeface="Cambria Math" panose="02040503050406030204" pitchFamily="18" charset="0"/>
                                <a:ea typeface="Cambria Math" panose="02040503050406030204" pitchFamily="18" charset="0"/>
                              </a:rPr>
                              <m:t>𝑛</m:t>
                            </m:r>
                          </m:den>
                        </m:f>
                        <m:r>
                          <a:rPr lang="en-US" sz="2400" b="0" i="1" smtClean="0">
                            <a:latin typeface="Cambria Math" panose="02040503050406030204" pitchFamily="18" charset="0"/>
                            <a:ea typeface="Cambria Math" panose="02040503050406030204" pitchFamily="18" charset="0"/>
                          </a:rPr>
                          <m:t>(−1)</m:t>
                        </m:r>
                      </m:sup>
                    </m:sSup>
                  </m:oMath>
                </a14:m>
                <a:r>
                  <a:rPr lang="en-US" sz="2400" dirty="0"/>
                  <a:t>=</a:t>
                </a:r>
                <a:r>
                  <a:rPr lang="en-US" sz="2400" dirty="0">
                    <a:ea typeface="Cambria Math" panose="02040503050406030204" pitchFamily="18" charset="0"/>
                  </a:rPr>
                  <a:t> </a:t>
                </a:r>
                <a14:m>
                  <m:oMath xmlns:m="http://schemas.openxmlformats.org/officeDocument/2006/math">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𝜔</m:t>
                        </m:r>
                      </m:e>
                      <m:sup>
                        <m:r>
                          <a:rPr lang="en-US" sz="2400" i="1">
                            <a:latin typeface="Cambria Math" panose="02040503050406030204" pitchFamily="18" charset="0"/>
                            <a:ea typeface="Cambria Math" panose="02040503050406030204" pitchFamily="18" charset="0"/>
                          </a:rPr>
                          <m:t>−1</m:t>
                        </m:r>
                      </m:sup>
                    </m:sSup>
                  </m:oMath>
                </a14:m>
                <a:endParaRPr lang="en-US" sz="2400" dirty="0"/>
              </a:p>
            </p:txBody>
          </p:sp>
        </mc:Choice>
        <mc:Fallback xmlns="">
          <p:sp>
            <p:nvSpPr>
              <p:cNvPr id="10" name="Rectangle 9">
                <a:extLst>
                  <a:ext uri="{FF2B5EF4-FFF2-40B4-BE49-F238E27FC236}">
                    <a16:creationId xmlns:a16="http://schemas.microsoft.com/office/drawing/2014/main" id="{E46DBE27-7BA9-794B-8F6F-F41B974074A1}"/>
                  </a:ext>
                </a:extLst>
              </p:cNvPr>
              <p:cNvSpPr>
                <a:spLocks noRot="1" noChangeAspect="1" noMove="1" noResize="1" noEditPoints="1" noAdjustHandles="1" noChangeArrowheads="1" noChangeShapeType="1" noTextEdit="1"/>
              </p:cNvSpPr>
              <p:nvPr/>
            </p:nvSpPr>
            <p:spPr>
              <a:xfrm>
                <a:off x="953245" y="4778054"/>
                <a:ext cx="4124271" cy="619400"/>
              </a:xfrm>
              <a:prstGeom prst="rect">
                <a:avLst/>
              </a:prstGeom>
              <a:blipFill>
                <a:blip r:embed="rId11"/>
                <a:stretch>
                  <a:fillRect b="-20000"/>
                </a:stretch>
              </a:blipFill>
            </p:spPr>
            <p:txBody>
              <a:bodyPr/>
              <a:lstStyle/>
              <a:p>
                <a:r>
                  <a:rPr lang="en-US">
                    <a:noFill/>
                  </a:rPr>
                  <a:t> </a:t>
                </a:r>
              </a:p>
            </p:txBody>
          </p:sp>
        </mc:Fallback>
      </mc:AlternateContent>
      <p:sp>
        <p:nvSpPr>
          <p:cNvPr id="82" name="Rectangle 81">
            <a:extLst>
              <a:ext uri="{FF2B5EF4-FFF2-40B4-BE49-F238E27FC236}">
                <a16:creationId xmlns:a16="http://schemas.microsoft.com/office/drawing/2014/main" id="{BF59480A-A838-4048-84BB-050549A60D4F}"/>
              </a:ext>
            </a:extLst>
          </p:cNvPr>
          <p:cNvSpPr/>
          <p:nvPr/>
        </p:nvSpPr>
        <p:spPr>
          <a:xfrm>
            <a:off x="7186613" y="4964508"/>
            <a:ext cx="349424" cy="686231"/>
          </a:xfrm>
          <a:prstGeom prst="rect">
            <a:avLst/>
          </a:prstGeom>
        </p:spPr>
        <p:txBody>
          <a:bodyPr wrap="none">
            <a:spAutoFit/>
          </a:bodyPr>
          <a:lstStyle/>
          <a:p>
            <a:r>
              <a:rPr lang="en-US" sz="2800" dirty="0"/>
              <a:t> </a:t>
            </a:r>
          </a:p>
        </p:txBody>
      </p:sp>
      <p:sp>
        <p:nvSpPr>
          <p:cNvPr id="83" name="Oval 82">
            <a:extLst>
              <a:ext uri="{FF2B5EF4-FFF2-40B4-BE49-F238E27FC236}">
                <a16:creationId xmlns:a16="http://schemas.microsoft.com/office/drawing/2014/main" id="{9E4EBC03-68EC-8741-BAC3-7FAE97A6C806}"/>
              </a:ext>
            </a:extLst>
          </p:cNvPr>
          <p:cNvSpPr/>
          <p:nvPr/>
        </p:nvSpPr>
        <p:spPr>
          <a:xfrm>
            <a:off x="8149307" y="2620919"/>
            <a:ext cx="3069034" cy="3069035"/>
          </a:xfrm>
          <a:prstGeom prst="ellipse">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Connector 83">
            <a:extLst>
              <a:ext uri="{FF2B5EF4-FFF2-40B4-BE49-F238E27FC236}">
                <a16:creationId xmlns:a16="http://schemas.microsoft.com/office/drawing/2014/main" id="{4112196A-3D08-E644-AE39-A58D02B4BAA3}"/>
              </a:ext>
            </a:extLst>
          </p:cNvPr>
          <p:cNvCxnSpPr>
            <a:cxnSpLocks/>
          </p:cNvCxnSpPr>
          <p:nvPr/>
        </p:nvCxnSpPr>
        <p:spPr>
          <a:xfrm>
            <a:off x="9683825" y="2283697"/>
            <a:ext cx="0" cy="3777273"/>
          </a:xfrm>
          <a:prstGeom prst="line">
            <a:avLst/>
          </a:prstGeom>
          <a:ln>
            <a:solidFill>
              <a:schemeClr val="bg1">
                <a:lumMod val="65000"/>
              </a:schemeClr>
            </a:solidFill>
            <a:headEnd type="triangle" w="lg" len="lg"/>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2E3790D5-BA44-064A-A4D3-470D5D7B27BE}"/>
              </a:ext>
            </a:extLst>
          </p:cNvPr>
          <p:cNvCxnSpPr>
            <a:cxnSpLocks/>
          </p:cNvCxnSpPr>
          <p:nvPr/>
        </p:nvCxnSpPr>
        <p:spPr>
          <a:xfrm>
            <a:off x="7795188" y="4157649"/>
            <a:ext cx="3777273" cy="0"/>
          </a:xfrm>
          <a:prstGeom prst="line">
            <a:avLst/>
          </a:prstGeom>
          <a:ln>
            <a:solidFill>
              <a:schemeClr val="bg1">
                <a:lumMod val="6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6" name="Rectangle 85">
                <a:extLst>
                  <a:ext uri="{FF2B5EF4-FFF2-40B4-BE49-F238E27FC236}">
                    <a16:creationId xmlns:a16="http://schemas.microsoft.com/office/drawing/2014/main" id="{F99E14B8-5FFB-EC48-B6C4-C77365B6A2EA}"/>
                  </a:ext>
                </a:extLst>
              </p:cNvPr>
              <p:cNvSpPr/>
              <p:nvPr/>
            </p:nvSpPr>
            <p:spPr>
              <a:xfrm>
                <a:off x="11283317" y="4163589"/>
                <a:ext cx="42351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86" name="Rectangle 85">
                <a:extLst>
                  <a:ext uri="{FF2B5EF4-FFF2-40B4-BE49-F238E27FC236}">
                    <a16:creationId xmlns:a16="http://schemas.microsoft.com/office/drawing/2014/main" id="{F99E14B8-5FFB-EC48-B6C4-C77365B6A2EA}"/>
                  </a:ext>
                </a:extLst>
              </p:cNvPr>
              <p:cNvSpPr>
                <a:spLocks noRot="1" noChangeAspect="1" noMove="1" noResize="1" noEditPoints="1" noAdjustHandles="1" noChangeArrowheads="1" noChangeShapeType="1" noTextEdit="1"/>
              </p:cNvSpPr>
              <p:nvPr/>
            </p:nvSpPr>
            <p:spPr>
              <a:xfrm>
                <a:off x="11283317" y="4163589"/>
                <a:ext cx="423514"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Rectangle 86">
                <a:extLst>
                  <a:ext uri="{FF2B5EF4-FFF2-40B4-BE49-F238E27FC236}">
                    <a16:creationId xmlns:a16="http://schemas.microsoft.com/office/drawing/2014/main" id="{E602E558-FB5B-0249-B0E8-C49DF1FE30F3}"/>
                  </a:ext>
                </a:extLst>
              </p:cNvPr>
              <p:cNvSpPr/>
              <p:nvPr/>
            </p:nvSpPr>
            <p:spPr>
              <a:xfrm>
                <a:off x="7487354" y="4067848"/>
                <a:ext cx="65274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87" name="Rectangle 86">
                <a:extLst>
                  <a:ext uri="{FF2B5EF4-FFF2-40B4-BE49-F238E27FC236}">
                    <a16:creationId xmlns:a16="http://schemas.microsoft.com/office/drawing/2014/main" id="{E602E558-FB5B-0249-B0E8-C49DF1FE30F3}"/>
                  </a:ext>
                </a:extLst>
              </p:cNvPr>
              <p:cNvSpPr>
                <a:spLocks noRot="1" noChangeAspect="1" noMove="1" noResize="1" noEditPoints="1" noAdjustHandles="1" noChangeArrowheads="1" noChangeShapeType="1" noTextEdit="1"/>
              </p:cNvSpPr>
              <p:nvPr/>
            </p:nvSpPr>
            <p:spPr>
              <a:xfrm>
                <a:off x="7487354" y="4067848"/>
                <a:ext cx="652743" cy="46166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682B8F83-6C76-4248-A169-7DEC71B33B0C}"/>
                  </a:ext>
                </a:extLst>
              </p:cNvPr>
              <p:cNvSpPr/>
              <p:nvPr/>
            </p:nvSpPr>
            <p:spPr>
              <a:xfrm>
                <a:off x="9245174" y="2214444"/>
                <a:ext cx="36112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𝑖</m:t>
                      </m:r>
                    </m:oMath>
                  </m:oMathPara>
                </a14:m>
                <a:endParaRPr lang="en-US" sz="2400" dirty="0"/>
              </a:p>
            </p:txBody>
          </p:sp>
        </mc:Choice>
        <mc:Fallback xmlns="">
          <p:sp>
            <p:nvSpPr>
              <p:cNvPr id="88" name="Rectangle 87">
                <a:extLst>
                  <a:ext uri="{FF2B5EF4-FFF2-40B4-BE49-F238E27FC236}">
                    <a16:creationId xmlns:a16="http://schemas.microsoft.com/office/drawing/2014/main" id="{682B8F83-6C76-4248-A169-7DEC71B33B0C}"/>
                  </a:ext>
                </a:extLst>
              </p:cNvPr>
              <p:cNvSpPr>
                <a:spLocks noRot="1" noChangeAspect="1" noMove="1" noResize="1" noEditPoints="1" noAdjustHandles="1" noChangeArrowheads="1" noChangeShapeType="1" noTextEdit="1"/>
              </p:cNvSpPr>
              <p:nvPr/>
            </p:nvSpPr>
            <p:spPr>
              <a:xfrm>
                <a:off x="9245174" y="2214444"/>
                <a:ext cx="361125" cy="461665"/>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Rectangle 88">
                <a:extLst>
                  <a:ext uri="{FF2B5EF4-FFF2-40B4-BE49-F238E27FC236}">
                    <a16:creationId xmlns:a16="http://schemas.microsoft.com/office/drawing/2014/main" id="{DD876D96-F81F-CA4D-AB7E-D437BBF65BE0}"/>
                  </a:ext>
                </a:extLst>
              </p:cNvPr>
              <p:cNvSpPr/>
              <p:nvPr/>
            </p:nvSpPr>
            <p:spPr>
              <a:xfrm>
                <a:off x="9092301" y="5594664"/>
                <a:ext cx="59035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𝑖</m:t>
                      </m:r>
                    </m:oMath>
                  </m:oMathPara>
                </a14:m>
                <a:endParaRPr lang="en-US" sz="2400" dirty="0"/>
              </a:p>
            </p:txBody>
          </p:sp>
        </mc:Choice>
        <mc:Fallback xmlns="">
          <p:sp>
            <p:nvSpPr>
              <p:cNvPr id="89" name="Rectangle 88">
                <a:extLst>
                  <a:ext uri="{FF2B5EF4-FFF2-40B4-BE49-F238E27FC236}">
                    <a16:creationId xmlns:a16="http://schemas.microsoft.com/office/drawing/2014/main" id="{DD876D96-F81F-CA4D-AB7E-D437BBF65BE0}"/>
                  </a:ext>
                </a:extLst>
              </p:cNvPr>
              <p:cNvSpPr>
                <a:spLocks noRot="1" noChangeAspect="1" noMove="1" noResize="1" noEditPoints="1" noAdjustHandles="1" noChangeArrowheads="1" noChangeShapeType="1" noTextEdit="1"/>
              </p:cNvSpPr>
              <p:nvPr/>
            </p:nvSpPr>
            <p:spPr>
              <a:xfrm>
                <a:off x="9092301" y="5594664"/>
                <a:ext cx="590353" cy="461665"/>
              </a:xfrm>
              <a:prstGeom prst="rect">
                <a:avLst/>
              </a:prstGeom>
              <a:blipFill>
                <a:blip r:embed="rId15"/>
                <a:stretch>
                  <a:fillRect/>
                </a:stretch>
              </a:blipFill>
            </p:spPr>
            <p:txBody>
              <a:bodyPr/>
              <a:lstStyle/>
              <a:p>
                <a:r>
                  <a:rPr lang="en-US">
                    <a:noFill/>
                  </a:rPr>
                  <a:t> </a:t>
                </a:r>
              </a:p>
            </p:txBody>
          </p:sp>
        </mc:Fallback>
      </mc:AlternateContent>
      <p:grpSp>
        <p:nvGrpSpPr>
          <p:cNvPr id="90" name="Group 89">
            <a:extLst>
              <a:ext uri="{FF2B5EF4-FFF2-40B4-BE49-F238E27FC236}">
                <a16:creationId xmlns:a16="http://schemas.microsoft.com/office/drawing/2014/main" id="{9B1F7DA3-554F-834F-AB2C-DF130E59BE91}"/>
              </a:ext>
            </a:extLst>
          </p:cNvPr>
          <p:cNvGrpSpPr/>
          <p:nvPr/>
        </p:nvGrpSpPr>
        <p:grpSpPr>
          <a:xfrm>
            <a:off x="9687989" y="4085385"/>
            <a:ext cx="1612165" cy="140581"/>
            <a:chOff x="10426993" y="3578804"/>
            <a:chExt cx="1229203" cy="107187"/>
          </a:xfrm>
        </p:grpSpPr>
        <p:sp>
          <p:nvSpPr>
            <p:cNvPr id="93" name="Oval 92">
              <a:extLst>
                <a:ext uri="{FF2B5EF4-FFF2-40B4-BE49-F238E27FC236}">
                  <a16:creationId xmlns:a16="http://schemas.microsoft.com/office/drawing/2014/main" id="{913C8F55-830C-AB45-A933-2DF4389408DB}"/>
                </a:ext>
              </a:extLst>
            </p:cNvPr>
            <p:cNvSpPr/>
            <p:nvPr/>
          </p:nvSpPr>
          <p:spPr>
            <a:xfrm rot="5400000">
              <a:off x="11549009" y="3578804"/>
              <a:ext cx="107187" cy="107187"/>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4" name="Straight Connector 93">
              <a:extLst>
                <a:ext uri="{FF2B5EF4-FFF2-40B4-BE49-F238E27FC236}">
                  <a16:creationId xmlns:a16="http://schemas.microsoft.com/office/drawing/2014/main" id="{A3528A83-E075-9945-8FD0-7BA503F88134}"/>
                </a:ext>
              </a:extLst>
            </p:cNvPr>
            <p:cNvCxnSpPr>
              <a:cxnSpLocks/>
            </p:cNvCxnSpPr>
            <p:nvPr/>
          </p:nvCxnSpPr>
          <p:spPr>
            <a:xfrm flipH="1">
              <a:off x="10426993" y="3632215"/>
              <a:ext cx="1116000" cy="0"/>
            </a:xfrm>
            <a:prstGeom prst="line">
              <a:avLst/>
            </a:prstGeom>
            <a:ln w="12700" cap="rnd">
              <a:solidFill>
                <a:schemeClr val="bg1">
                  <a:lumMod val="50000"/>
                </a:schemeClr>
              </a:solidFill>
              <a:headEnd type="triangle" w="lg" len="lg"/>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5" name="Rectangle 94">
                <a:extLst>
                  <a:ext uri="{FF2B5EF4-FFF2-40B4-BE49-F238E27FC236}">
                    <a16:creationId xmlns:a16="http://schemas.microsoft.com/office/drawing/2014/main" id="{0971D1EC-6FBC-7F42-97D4-8BC0CFD6B7CF}"/>
                  </a:ext>
                </a:extLst>
              </p:cNvPr>
              <p:cNvSpPr/>
              <p:nvPr/>
            </p:nvSpPr>
            <p:spPr>
              <a:xfrm>
                <a:off x="11340932" y="3613898"/>
                <a:ext cx="60818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𝑅𝑒</m:t>
                      </m:r>
                    </m:oMath>
                  </m:oMathPara>
                </a14:m>
                <a:endParaRPr lang="en-US" sz="2400" dirty="0"/>
              </a:p>
            </p:txBody>
          </p:sp>
        </mc:Choice>
        <mc:Fallback xmlns="">
          <p:sp>
            <p:nvSpPr>
              <p:cNvPr id="95" name="Rectangle 94">
                <a:extLst>
                  <a:ext uri="{FF2B5EF4-FFF2-40B4-BE49-F238E27FC236}">
                    <a16:creationId xmlns:a16="http://schemas.microsoft.com/office/drawing/2014/main" id="{0971D1EC-6FBC-7F42-97D4-8BC0CFD6B7CF}"/>
                  </a:ext>
                </a:extLst>
              </p:cNvPr>
              <p:cNvSpPr>
                <a:spLocks noRot="1" noChangeAspect="1" noMove="1" noResize="1" noEditPoints="1" noAdjustHandles="1" noChangeArrowheads="1" noChangeShapeType="1" noTextEdit="1"/>
              </p:cNvSpPr>
              <p:nvPr/>
            </p:nvSpPr>
            <p:spPr>
              <a:xfrm>
                <a:off x="11340932" y="3613898"/>
                <a:ext cx="608180" cy="461665"/>
              </a:xfrm>
              <a:prstGeom prst="rect">
                <a:avLst/>
              </a:prstGeom>
              <a:blipFill>
                <a:blip r:embed="rId16"/>
                <a:stretch>
                  <a:fillRect/>
                </a:stretch>
              </a:blipFill>
            </p:spPr>
            <p:txBody>
              <a:bodyPr/>
              <a:lstStyle/>
              <a:p>
                <a:r>
                  <a:rPr lang="en-US">
                    <a:noFill/>
                  </a:rPr>
                  <a:t> </a:t>
                </a:r>
              </a:p>
            </p:txBody>
          </p:sp>
        </mc:Fallback>
      </mc:AlternateContent>
      <p:grpSp>
        <p:nvGrpSpPr>
          <p:cNvPr id="96" name="Group 95">
            <a:extLst>
              <a:ext uri="{FF2B5EF4-FFF2-40B4-BE49-F238E27FC236}">
                <a16:creationId xmlns:a16="http://schemas.microsoft.com/office/drawing/2014/main" id="{69C40B28-7E60-5F43-8156-E23CEF3EDC61}"/>
              </a:ext>
            </a:extLst>
          </p:cNvPr>
          <p:cNvGrpSpPr/>
          <p:nvPr/>
        </p:nvGrpSpPr>
        <p:grpSpPr>
          <a:xfrm rot="17280000">
            <a:off x="9136646" y="3334854"/>
            <a:ext cx="1612165" cy="140581"/>
            <a:chOff x="10426993" y="3578804"/>
            <a:chExt cx="1229203" cy="107187"/>
          </a:xfrm>
        </p:grpSpPr>
        <p:sp>
          <p:nvSpPr>
            <p:cNvPr id="97" name="Oval 96">
              <a:extLst>
                <a:ext uri="{FF2B5EF4-FFF2-40B4-BE49-F238E27FC236}">
                  <a16:creationId xmlns:a16="http://schemas.microsoft.com/office/drawing/2014/main" id="{5C4EB692-6107-7549-BB17-9ADA4694D338}"/>
                </a:ext>
              </a:extLst>
            </p:cNvPr>
            <p:cNvSpPr/>
            <p:nvPr/>
          </p:nvSpPr>
          <p:spPr>
            <a:xfrm rot="5400000">
              <a:off x="11549009" y="3578804"/>
              <a:ext cx="107187" cy="107187"/>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8" name="Straight Connector 97">
              <a:extLst>
                <a:ext uri="{FF2B5EF4-FFF2-40B4-BE49-F238E27FC236}">
                  <a16:creationId xmlns:a16="http://schemas.microsoft.com/office/drawing/2014/main" id="{7D88C9B5-59D9-A74F-882A-08C2C00B0B20}"/>
                </a:ext>
              </a:extLst>
            </p:cNvPr>
            <p:cNvCxnSpPr>
              <a:cxnSpLocks/>
            </p:cNvCxnSpPr>
            <p:nvPr/>
          </p:nvCxnSpPr>
          <p:spPr>
            <a:xfrm flipH="1">
              <a:off x="10426993" y="3632215"/>
              <a:ext cx="1116000" cy="0"/>
            </a:xfrm>
            <a:prstGeom prst="line">
              <a:avLst/>
            </a:prstGeom>
            <a:ln w="12700" cap="rnd">
              <a:solidFill>
                <a:schemeClr val="bg1">
                  <a:lumMod val="50000"/>
                </a:schemeClr>
              </a:solidFill>
              <a:headEnd type="triangle" w="lg" len="lg"/>
              <a:tailEnd type="none"/>
            </a:ln>
          </p:spPr>
          <p:style>
            <a:lnRef idx="1">
              <a:schemeClr val="accent1"/>
            </a:lnRef>
            <a:fillRef idx="0">
              <a:schemeClr val="accent1"/>
            </a:fillRef>
            <a:effectRef idx="0">
              <a:schemeClr val="accent1"/>
            </a:effectRef>
            <a:fontRef idx="minor">
              <a:schemeClr val="tx1"/>
            </a:fontRef>
          </p:style>
        </p:cxnSp>
      </p:grpSp>
      <p:grpSp>
        <p:nvGrpSpPr>
          <p:cNvPr id="100" name="Group 99">
            <a:extLst>
              <a:ext uri="{FF2B5EF4-FFF2-40B4-BE49-F238E27FC236}">
                <a16:creationId xmlns:a16="http://schemas.microsoft.com/office/drawing/2014/main" id="{54B40644-483A-C84D-826F-397C974563B4}"/>
              </a:ext>
            </a:extLst>
          </p:cNvPr>
          <p:cNvGrpSpPr/>
          <p:nvPr/>
        </p:nvGrpSpPr>
        <p:grpSpPr>
          <a:xfrm rot="12960000">
            <a:off x="8236461" y="3620909"/>
            <a:ext cx="1612165" cy="140581"/>
            <a:chOff x="10426993" y="3578804"/>
            <a:chExt cx="1229203" cy="107187"/>
          </a:xfrm>
        </p:grpSpPr>
        <p:sp>
          <p:nvSpPr>
            <p:cNvPr id="101" name="Oval 100">
              <a:extLst>
                <a:ext uri="{FF2B5EF4-FFF2-40B4-BE49-F238E27FC236}">
                  <a16:creationId xmlns:a16="http://schemas.microsoft.com/office/drawing/2014/main" id="{063DBBCA-25ED-8D4F-8A87-536EA7BA7CF4}"/>
                </a:ext>
              </a:extLst>
            </p:cNvPr>
            <p:cNvSpPr/>
            <p:nvPr/>
          </p:nvSpPr>
          <p:spPr>
            <a:xfrm rot="5400000">
              <a:off x="11549009" y="3578804"/>
              <a:ext cx="107187" cy="107187"/>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A7EFD9F8-072F-0E4F-A80F-BA1F79260E79}"/>
                </a:ext>
              </a:extLst>
            </p:cNvPr>
            <p:cNvCxnSpPr>
              <a:cxnSpLocks/>
            </p:cNvCxnSpPr>
            <p:nvPr/>
          </p:nvCxnSpPr>
          <p:spPr>
            <a:xfrm flipH="1">
              <a:off x="10426993" y="3632215"/>
              <a:ext cx="1116000" cy="0"/>
            </a:xfrm>
            <a:prstGeom prst="line">
              <a:avLst/>
            </a:prstGeom>
            <a:ln w="12700" cap="rnd">
              <a:solidFill>
                <a:schemeClr val="bg1">
                  <a:lumMod val="50000"/>
                </a:schemeClr>
              </a:solidFill>
              <a:headEnd type="triangle" w="lg" len="lg"/>
              <a:tailEnd type="none"/>
            </a:ln>
          </p:spPr>
          <p:style>
            <a:lnRef idx="1">
              <a:schemeClr val="accent1"/>
            </a:lnRef>
            <a:fillRef idx="0">
              <a:schemeClr val="accent1"/>
            </a:fillRef>
            <a:effectRef idx="0">
              <a:schemeClr val="accent1"/>
            </a:effectRef>
            <a:fontRef idx="minor">
              <a:schemeClr val="tx1"/>
            </a:fontRef>
          </p:style>
        </p:cxnSp>
      </p:grpSp>
      <p:grpSp>
        <p:nvGrpSpPr>
          <p:cNvPr id="103" name="Group 102">
            <a:extLst>
              <a:ext uri="{FF2B5EF4-FFF2-40B4-BE49-F238E27FC236}">
                <a16:creationId xmlns:a16="http://schemas.microsoft.com/office/drawing/2014/main" id="{3F3BF3F5-1452-B94B-8F76-DFF33256FD30}"/>
              </a:ext>
            </a:extLst>
          </p:cNvPr>
          <p:cNvGrpSpPr/>
          <p:nvPr/>
        </p:nvGrpSpPr>
        <p:grpSpPr>
          <a:xfrm rot="8640000">
            <a:off x="8240654" y="4551633"/>
            <a:ext cx="1612165" cy="140581"/>
            <a:chOff x="10426993" y="3578804"/>
            <a:chExt cx="1229203" cy="107187"/>
          </a:xfrm>
        </p:grpSpPr>
        <p:sp>
          <p:nvSpPr>
            <p:cNvPr id="104" name="Oval 103">
              <a:extLst>
                <a:ext uri="{FF2B5EF4-FFF2-40B4-BE49-F238E27FC236}">
                  <a16:creationId xmlns:a16="http://schemas.microsoft.com/office/drawing/2014/main" id="{3542ABC0-2A32-C744-A5B6-95084616F8C8}"/>
                </a:ext>
              </a:extLst>
            </p:cNvPr>
            <p:cNvSpPr/>
            <p:nvPr/>
          </p:nvSpPr>
          <p:spPr>
            <a:xfrm rot="5400000">
              <a:off x="11549009" y="3578804"/>
              <a:ext cx="107187" cy="107187"/>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69E43B6F-C3DE-B041-9185-68923BA8BC24}"/>
                </a:ext>
              </a:extLst>
            </p:cNvPr>
            <p:cNvCxnSpPr>
              <a:cxnSpLocks/>
            </p:cNvCxnSpPr>
            <p:nvPr/>
          </p:nvCxnSpPr>
          <p:spPr>
            <a:xfrm flipH="1">
              <a:off x="10426993" y="3632215"/>
              <a:ext cx="1116000" cy="0"/>
            </a:xfrm>
            <a:prstGeom prst="line">
              <a:avLst/>
            </a:prstGeom>
            <a:ln w="12700" cap="rnd">
              <a:solidFill>
                <a:schemeClr val="bg1">
                  <a:lumMod val="50000"/>
                </a:schemeClr>
              </a:solidFill>
              <a:headEnd type="triangle" w="lg" len="lg"/>
              <a:tailEnd type="none"/>
            </a:ln>
          </p:spPr>
          <p:style>
            <a:lnRef idx="1">
              <a:schemeClr val="accent1"/>
            </a:lnRef>
            <a:fillRef idx="0">
              <a:schemeClr val="accent1"/>
            </a:fillRef>
            <a:effectRef idx="0">
              <a:schemeClr val="accent1"/>
            </a:effectRef>
            <a:fontRef idx="minor">
              <a:schemeClr val="tx1"/>
            </a:fontRef>
          </p:style>
        </p:cxnSp>
      </p:grpSp>
      <p:grpSp>
        <p:nvGrpSpPr>
          <p:cNvPr id="106" name="Group 105">
            <a:extLst>
              <a:ext uri="{FF2B5EF4-FFF2-40B4-BE49-F238E27FC236}">
                <a16:creationId xmlns:a16="http://schemas.microsoft.com/office/drawing/2014/main" id="{F5825472-5265-164D-AED9-75E7366EED71}"/>
              </a:ext>
            </a:extLst>
          </p:cNvPr>
          <p:cNvGrpSpPr/>
          <p:nvPr/>
        </p:nvGrpSpPr>
        <p:grpSpPr>
          <a:xfrm rot="4320000">
            <a:off x="9128258" y="4846341"/>
            <a:ext cx="1612165" cy="140581"/>
            <a:chOff x="10426993" y="3578804"/>
            <a:chExt cx="1229203" cy="107187"/>
          </a:xfrm>
        </p:grpSpPr>
        <p:sp>
          <p:nvSpPr>
            <p:cNvPr id="107" name="Oval 106">
              <a:extLst>
                <a:ext uri="{FF2B5EF4-FFF2-40B4-BE49-F238E27FC236}">
                  <a16:creationId xmlns:a16="http://schemas.microsoft.com/office/drawing/2014/main" id="{6BD87F3D-6870-7045-BA90-7CCA7228F102}"/>
                </a:ext>
              </a:extLst>
            </p:cNvPr>
            <p:cNvSpPr/>
            <p:nvPr/>
          </p:nvSpPr>
          <p:spPr>
            <a:xfrm rot="5400000">
              <a:off x="11549009" y="3578804"/>
              <a:ext cx="107187" cy="107187"/>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8" name="Straight Connector 107">
              <a:extLst>
                <a:ext uri="{FF2B5EF4-FFF2-40B4-BE49-F238E27FC236}">
                  <a16:creationId xmlns:a16="http://schemas.microsoft.com/office/drawing/2014/main" id="{9BAEA7A2-F28D-CA47-A9F9-0F76FCF976CC}"/>
                </a:ext>
              </a:extLst>
            </p:cNvPr>
            <p:cNvCxnSpPr>
              <a:cxnSpLocks/>
            </p:cNvCxnSpPr>
            <p:nvPr/>
          </p:nvCxnSpPr>
          <p:spPr>
            <a:xfrm flipH="1">
              <a:off x="10426993" y="3632215"/>
              <a:ext cx="1116000" cy="0"/>
            </a:xfrm>
            <a:prstGeom prst="line">
              <a:avLst/>
            </a:prstGeom>
            <a:ln w="12700" cap="rnd">
              <a:solidFill>
                <a:schemeClr val="bg1">
                  <a:lumMod val="50000"/>
                </a:schemeClr>
              </a:solidFill>
              <a:headEnd type="triangle" w="lg" len="lg"/>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09" name="Rectangle 108">
                <a:extLst>
                  <a:ext uri="{FF2B5EF4-FFF2-40B4-BE49-F238E27FC236}">
                    <a16:creationId xmlns:a16="http://schemas.microsoft.com/office/drawing/2014/main" id="{E6D3C821-39F8-9048-8B63-97E6E033C83B}"/>
                  </a:ext>
                </a:extLst>
              </p:cNvPr>
              <p:cNvSpPr/>
              <p:nvPr/>
            </p:nvSpPr>
            <p:spPr>
              <a:xfrm>
                <a:off x="10201662" y="2252942"/>
                <a:ext cx="619144" cy="47346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b="0" i="1" smtClean="0">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1</m:t>
                          </m:r>
                        </m:sup>
                      </m:sSubSup>
                    </m:oMath>
                  </m:oMathPara>
                </a14:m>
                <a:endParaRPr lang="en-US" sz="2400" dirty="0"/>
              </a:p>
            </p:txBody>
          </p:sp>
        </mc:Choice>
        <mc:Fallback xmlns="">
          <p:sp>
            <p:nvSpPr>
              <p:cNvPr id="109" name="Rectangle 108">
                <a:extLst>
                  <a:ext uri="{FF2B5EF4-FFF2-40B4-BE49-F238E27FC236}">
                    <a16:creationId xmlns:a16="http://schemas.microsoft.com/office/drawing/2014/main" id="{E6D3C821-39F8-9048-8B63-97E6E033C83B}"/>
                  </a:ext>
                </a:extLst>
              </p:cNvPr>
              <p:cNvSpPr>
                <a:spLocks noRot="1" noChangeAspect="1" noMove="1" noResize="1" noEditPoints="1" noAdjustHandles="1" noChangeArrowheads="1" noChangeShapeType="1" noTextEdit="1"/>
              </p:cNvSpPr>
              <p:nvPr/>
            </p:nvSpPr>
            <p:spPr>
              <a:xfrm>
                <a:off x="10201662" y="2252942"/>
                <a:ext cx="619144" cy="473463"/>
              </a:xfrm>
              <a:prstGeom prst="rect">
                <a:avLst/>
              </a:prstGeom>
              <a:blipFill>
                <a:blip r:embed="rId17"/>
                <a:stretch>
                  <a:fillRect b="-5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0" name="Rectangle 109">
                <a:extLst>
                  <a:ext uri="{FF2B5EF4-FFF2-40B4-BE49-F238E27FC236}">
                    <a16:creationId xmlns:a16="http://schemas.microsoft.com/office/drawing/2014/main" id="{CF995FBC-F1C1-CE4B-89E1-75E0564632ED}"/>
                  </a:ext>
                </a:extLst>
              </p:cNvPr>
              <p:cNvSpPr/>
              <p:nvPr/>
            </p:nvSpPr>
            <p:spPr>
              <a:xfrm>
                <a:off x="7872574" y="2642724"/>
                <a:ext cx="625749" cy="4742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b="0" i="1" smtClean="0">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2</m:t>
                          </m:r>
                        </m:sup>
                      </m:sSubSup>
                    </m:oMath>
                  </m:oMathPara>
                </a14:m>
                <a:endParaRPr lang="en-US" sz="2400" dirty="0"/>
              </a:p>
            </p:txBody>
          </p:sp>
        </mc:Choice>
        <mc:Fallback xmlns="">
          <p:sp>
            <p:nvSpPr>
              <p:cNvPr id="110" name="Rectangle 109">
                <a:extLst>
                  <a:ext uri="{FF2B5EF4-FFF2-40B4-BE49-F238E27FC236}">
                    <a16:creationId xmlns:a16="http://schemas.microsoft.com/office/drawing/2014/main" id="{CF995FBC-F1C1-CE4B-89E1-75E0564632ED}"/>
                  </a:ext>
                </a:extLst>
              </p:cNvPr>
              <p:cNvSpPr>
                <a:spLocks noRot="1" noChangeAspect="1" noMove="1" noResize="1" noEditPoints="1" noAdjustHandles="1" noChangeArrowheads="1" noChangeShapeType="1" noTextEdit="1"/>
              </p:cNvSpPr>
              <p:nvPr/>
            </p:nvSpPr>
            <p:spPr>
              <a:xfrm>
                <a:off x="7872574" y="2642724"/>
                <a:ext cx="625749" cy="474232"/>
              </a:xfrm>
              <a:prstGeom prst="rect">
                <a:avLst/>
              </a:prstGeom>
              <a:blipFill>
                <a:blip r:embed="rId18"/>
                <a:stretch>
                  <a:fillRect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Rectangle 110">
                <a:extLst>
                  <a:ext uri="{FF2B5EF4-FFF2-40B4-BE49-F238E27FC236}">
                    <a16:creationId xmlns:a16="http://schemas.microsoft.com/office/drawing/2014/main" id="{D62D66E5-D186-BB4D-8515-24E8782A5E3A}"/>
                  </a:ext>
                </a:extLst>
              </p:cNvPr>
              <p:cNvSpPr/>
              <p:nvPr/>
            </p:nvSpPr>
            <p:spPr>
              <a:xfrm>
                <a:off x="7696646" y="4931345"/>
                <a:ext cx="625749" cy="47609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b="0" i="1" smtClean="0">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3</m:t>
                          </m:r>
                        </m:sup>
                      </m:sSubSup>
                    </m:oMath>
                  </m:oMathPara>
                </a14:m>
                <a:endParaRPr lang="en-US" sz="2400" dirty="0"/>
              </a:p>
            </p:txBody>
          </p:sp>
        </mc:Choice>
        <mc:Fallback xmlns="">
          <p:sp>
            <p:nvSpPr>
              <p:cNvPr id="111" name="Rectangle 110">
                <a:extLst>
                  <a:ext uri="{FF2B5EF4-FFF2-40B4-BE49-F238E27FC236}">
                    <a16:creationId xmlns:a16="http://schemas.microsoft.com/office/drawing/2014/main" id="{D62D66E5-D186-BB4D-8515-24E8782A5E3A}"/>
                  </a:ext>
                </a:extLst>
              </p:cNvPr>
              <p:cNvSpPr>
                <a:spLocks noRot="1" noChangeAspect="1" noMove="1" noResize="1" noEditPoints="1" noAdjustHandles="1" noChangeArrowheads="1" noChangeShapeType="1" noTextEdit="1"/>
              </p:cNvSpPr>
              <p:nvPr/>
            </p:nvSpPr>
            <p:spPr>
              <a:xfrm>
                <a:off x="7696646" y="4931345"/>
                <a:ext cx="625749" cy="476092"/>
              </a:xfrm>
              <a:prstGeom prst="rect">
                <a:avLst/>
              </a:prstGeom>
              <a:blipFill>
                <a:blip r:embed="rId19"/>
                <a:stretch>
                  <a:fillRect b="-512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2" name="Rectangle 111">
                <a:extLst>
                  <a:ext uri="{FF2B5EF4-FFF2-40B4-BE49-F238E27FC236}">
                    <a16:creationId xmlns:a16="http://schemas.microsoft.com/office/drawing/2014/main" id="{877FA189-AF57-E746-84C1-824BC1FFF72A}"/>
                  </a:ext>
                </a:extLst>
              </p:cNvPr>
              <p:cNvSpPr/>
              <p:nvPr/>
            </p:nvSpPr>
            <p:spPr>
              <a:xfrm>
                <a:off x="10091905" y="5521556"/>
                <a:ext cx="625749" cy="47269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sz="2400" i="1" smtClean="0">
                              <a:latin typeface="Cambria Math" panose="02040503050406030204" pitchFamily="18" charset="0"/>
                              <a:ea typeface="Cambria Math" panose="02040503050406030204" pitchFamily="18" charset="0"/>
                            </a:rPr>
                          </m:ctrlPr>
                        </m:sSubSupPr>
                        <m:e>
                          <m:r>
                            <a:rPr lang="en-US" sz="2400" i="1">
                              <a:latin typeface="Cambria Math" panose="02040503050406030204" pitchFamily="18" charset="0"/>
                              <a:ea typeface="Cambria Math" panose="02040503050406030204" pitchFamily="18" charset="0"/>
                            </a:rPr>
                            <m:t>𝜔</m:t>
                          </m:r>
                        </m:e>
                        <m:sub>
                          <m:r>
                            <a:rPr lang="en-US" sz="2400" b="0" i="1" smtClean="0">
                              <a:latin typeface="Cambria Math" panose="02040503050406030204" pitchFamily="18" charset="0"/>
                              <a:ea typeface="Cambria Math" panose="02040503050406030204" pitchFamily="18" charset="0"/>
                            </a:rPr>
                            <m:t>5</m:t>
                          </m:r>
                        </m:sub>
                        <m:sup>
                          <m:r>
                            <a:rPr lang="en-US" sz="2400" b="0" i="1" smtClean="0">
                              <a:latin typeface="Cambria Math" panose="02040503050406030204" pitchFamily="18" charset="0"/>
                              <a:ea typeface="Cambria Math" panose="02040503050406030204" pitchFamily="18" charset="0"/>
                            </a:rPr>
                            <m:t>4</m:t>
                          </m:r>
                        </m:sup>
                      </m:sSubSup>
                    </m:oMath>
                  </m:oMathPara>
                </a14:m>
                <a:endParaRPr lang="en-US" sz="2400" dirty="0"/>
              </a:p>
            </p:txBody>
          </p:sp>
        </mc:Choice>
        <mc:Fallback xmlns="">
          <p:sp>
            <p:nvSpPr>
              <p:cNvPr id="112" name="Rectangle 111">
                <a:extLst>
                  <a:ext uri="{FF2B5EF4-FFF2-40B4-BE49-F238E27FC236}">
                    <a16:creationId xmlns:a16="http://schemas.microsoft.com/office/drawing/2014/main" id="{877FA189-AF57-E746-84C1-824BC1FFF72A}"/>
                  </a:ext>
                </a:extLst>
              </p:cNvPr>
              <p:cNvSpPr>
                <a:spLocks noRot="1" noChangeAspect="1" noMove="1" noResize="1" noEditPoints="1" noAdjustHandles="1" noChangeArrowheads="1" noChangeShapeType="1" noTextEdit="1"/>
              </p:cNvSpPr>
              <p:nvPr/>
            </p:nvSpPr>
            <p:spPr>
              <a:xfrm>
                <a:off x="10091905" y="5521556"/>
                <a:ext cx="625749" cy="472694"/>
              </a:xfrm>
              <a:prstGeom prst="rect">
                <a:avLst/>
              </a:prstGeom>
              <a:blipFill>
                <a:blip r:embed="rId20"/>
                <a:stretch>
                  <a:fillRect b="-5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Rectangle 112">
                <a:extLst>
                  <a:ext uri="{FF2B5EF4-FFF2-40B4-BE49-F238E27FC236}">
                    <a16:creationId xmlns:a16="http://schemas.microsoft.com/office/drawing/2014/main" id="{B1A44C64-37A5-054F-87CD-DDAA0112A9F6}"/>
                  </a:ext>
                </a:extLst>
              </p:cNvPr>
              <p:cNvSpPr/>
              <p:nvPr/>
            </p:nvSpPr>
            <p:spPr>
              <a:xfrm>
                <a:off x="9838925" y="3606183"/>
                <a:ext cx="93346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smtClean="0">
                          <a:solidFill>
                            <a:srgbClr val="002060"/>
                          </a:solidFill>
                          <a:latin typeface="Cambria Math" panose="02040503050406030204" pitchFamily="18" charset="0"/>
                          <a:ea typeface="Cambria Math" panose="02040503050406030204" pitchFamily="18" charset="0"/>
                        </a:rPr>
                        <m:t>2</m:t>
                      </m:r>
                      <m:r>
                        <a:rPr lang="en-US" sz="2400" i="1">
                          <a:solidFill>
                            <a:srgbClr val="002060"/>
                          </a:solidFill>
                          <a:latin typeface="Cambria Math" panose="02040503050406030204" pitchFamily="18" charset="0"/>
                          <a:ea typeface="Cambria Math" panose="02040503050406030204" pitchFamily="18" charset="0"/>
                        </a:rPr>
                        <m:t>𝜋</m:t>
                      </m:r>
                      <m:r>
                        <a:rPr lang="en-US" sz="2400" i="1">
                          <a:solidFill>
                            <a:srgbClr val="002060"/>
                          </a:solidFill>
                          <a:latin typeface="Cambria Math" panose="02040503050406030204" pitchFamily="18" charset="0"/>
                          <a:ea typeface="Cambria Math" panose="02040503050406030204" pitchFamily="18" charset="0"/>
                        </a:rPr>
                        <m:t>/5</m:t>
                      </m:r>
                    </m:oMath>
                  </m:oMathPara>
                </a14:m>
                <a:endParaRPr lang="en-US" sz="2400" dirty="0"/>
              </a:p>
            </p:txBody>
          </p:sp>
        </mc:Choice>
        <mc:Fallback xmlns="">
          <p:sp>
            <p:nvSpPr>
              <p:cNvPr id="113" name="Rectangle 112">
                <a:extLst>
                  <a:ext uri="{FF2B5EF4-FFF2-40B4-BE49-F238E27FC236}">
                    <a16:creationId xmlns:a16="http://schemas.microsoft.com/office/drawing/2014/main" id="{B1A44C64-37A5-054F-87CD-DDAA0112A9F6}"/>
                  </a:ext>
                </a:extLst>
              </p:cNvPr>
              <p:cNvSpPr>
                <a:spLocks noRot="1" noChangeAspect="1" noMove="1" noResize="1" noEditPoints="1" noAdjustHandles="1" noChangeArrowheads="1" noChangeShapeType="1" noTextEdit="1"/>
              </p:cNvSpPr>
              <p:nvPr/>
            </p:nvSpPr>
            <p:spPr>
              <a:xfrm>
                <a:off x="9838925" y="3606183"/>
                <a:ext cx="933461" cy="461665"/>
              </a:xfrm>
              <a:prstGeom prst="rect">
                <a:avLst/>
              </a:prstGeom>
              <a:blipFill>
                <a:blip r:embed="rId21"/>
                <a:stretch>
                  <a:fillRect b="-16216"/>
                </a:stretch>
              </a:blipFill>
            </p:spPr>
            <p:txBody>
              <a:bodyPr/>
              <a:lstStyle/>
              <a:p>
                <a:r>
                  <a:rPr lang="en-US">
                    <a:noFill/>
                  </a:rPr>
                  <a:t> </a:t>
                </a:r>
              </a:p>
            </p:txBody>
          </p:sp>
        </mc:Fallback>
      </mc:AlternateContent>
      <p:grpSp>
        <p:nvGrpSpPr>
          <p:cNvPr id="115" name="Group 114">
            <a:extLst>
              <a:ext uri="{FF2B5EF4-FFF2-40B4-BE49-F238E27FC236}">
                <a16:creationId xmlns:a16="http://schemas.microsoft.com/office/drawing/2014/main" id="{6DBC5F14-55BA-5A4A-AA6E-4F62FB002719}"/>
              </a:ext>
            </a:extLst>
          </p:cNvPr>
          <p:cNvGrpSpPr/>
          <p:nvPr/>
        </p:nvGrpSpPr>
        <p:grpSpPr>
          <a:xfrm>
            <a:off x="606218" y="5489402"/>
            <a:ext cx="5221933" cy="474810"/>
            <a:chOff x="609637" y="2805207"/>
            <a:chExt cx="5221933" cy="474810"/>
          </a:xfrm>
        </p:grpSpPr>
        <mc:AlternateContent xmlns:mc="http://schemas.openxmlformats.org/markup-compatibility/2006" xmlns:a14="http://schemas.microsoft.com/office/drawing/2010/main">
          <mc:Choice Requires="a14">
            <p:sp>
              <p:nvSpPr>
                <p:cNvPr id="116" name="Rectangle 115">
                  <a:extLst>
                    <a:ext uri="{FF2B5EF4-FFF2-40B4-BE49-F238E27FC236}">
                      <a16:creationId xmlns:a16="http://schemas.microsoft.com/office/drawing/2014/main" id="{A633AD09-74FF-2542-8036-F8DC75E2A0A5}"/>
                    </a:ext>
                  </a:extLst>
                </p:cNvPr>
                <p:cNvSpPr/>
                <p:nvPr/>
              </p:nvSpPr>
              <p:spPr>
                <a:xfrm>
                  <a:off x="939304" y="2818352"/>
                  <a:ext cx="4892266"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srgbClr val="002060"/>
                            </a:solidFill>
                            <a:latin typeface="Cambria Math" panose="02040503050406030204" pitchFamily="18" charset="0"/>
                            <a:ea typeface="Cambria Math" panose="02040503050406030204" pitchFamily="18" charset="0"/>
                          </a:rPr>
                          <m:t>1×</m:t>
                        </m:r>
                        <m:r>
                          <a:rPr lang="en-US" sz="2400" i="1">
                            <a:latin typeface="Cambria Math" panose="02040503050406030204" pitchFamily="18" charset="0"/>
                            <a:ea typeface="Cambria Math" panose="02040503050406030204" pitchFamily="18" charset="0"/>
                          </a:rPr>
                          <m:t>𝜔</m:t>
                        </m:r>
                        <m:r>
                          <a:rPr lang="en-US" sz="2400" i="1">
                            <a:solidFill>
                              <a:srgbClr val="002060"/>
                            </a:solidFill>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𝜔</m:t>
                            </m:r>
                          </m:e>
                          <m:sup>
                            <m:r>
                              <a:rPr lang="en-US" sz="2400" i="1">
                                <a:latin typeface="Cambria Math" panose="02040503050406030204" pitchFamily="18" charset="0"/>
                                <a:ea typeface="Cambria Math" panose="02040503050406030204" pitchFamily="18" charset="0"/>
                              </a:rPr>
                              <m:t>2</m:t>
                            </m:r>
                          </m:sup>
                        </m:sSup>
                        <m:r>
                          <a:rPr lang="en-US" sz="2400" i="1">
                            <a:solidFill>
                              <a:srgbClr val="002060"/>
                            </a:solidFill>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m:t>
                        </m:r>
                        <m:r>
                          <a:rPr lang="en-US" sz="2400" i="1">
                            <a:solidFill>
                              <a:srgbClr val="002060"/>
                            </a:solidFill>
                            <a:latin typeface="Cambria Math" panose="02040503050406030204" pitchFamily="18" charset="0"/>
                            <a:ea typeface="Cambria Math" panose="02040503050406030204" pitchFamily="18" charset="0"/>
                          </a:rPr>
                          <m:t>×</m:t>
                        </m:r>
                        <m:sSup>
                          <m:sSupPr>
                            <m:ctrlPr>
                              <a:rPr lang="en-US" sz="2400" i="1">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𝜔</m:t>
                            </m:r>
                          </m:e>
                          <m:sup>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−1</m:t>
                            </m:r>
                          </m:sup>
                        </m:sSup>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(−1)</m:t>
                            </m:r>
                          </m:e>
                          <m:sup>
                            <m:r>
                              <a:rPr lang="en-US" sz="2400" b="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−1</m:t>
                            </m:r>
                          </m:sup>
                        </m:sSup>
                      </m:oMath>
                    </m:oMathPara>
                  </a14:m>
                  <a:endParaRPr lang="en-US" sz="2400" dirty="0"/>
                </a:p>
              </p:txBody>
            </p:sp>
          </mc:Choice>
          <mc:Fallback xmlns="">
            <p:sp>
              <p:nvSpPr>
                <p:cNvPr id="116" name="Rectangle 115">
                  <a:extLst>
                    <a:ext uri="{FF2B5EF4-FFF2-40B4-BE49-F238E27FC236}">
                      <a16:creationId xmlns:a16="http://schemas.microsoft.com/office/drawing/2014/main" id="{A633AD09-74FF-2542-8036-F8DC75E2A0A5}"/>
                    </a:ext>
                  </a:extLst>
                </p:cNvPr>
                <p:cNvSpPr>
                  <a:spLocks noRot="1" noChangeAspect="1" noMove="1" noResize="1" noEditPoints="1" noAdjustHandles="1" noChangeArrowheads="1" noChangeShapeType="1" noTextEdit="1"/>
                </p:cNvSpPr>
                <p:nvPr/>
              </p:nvSpPr>
              <p:spPr>
                <a:xfrm>
                  <a:off x="939304" y="2818352"/>
                  <a:ext cx="4892266" cy="461665"/>
                </a:xfrm>
                <a:prstGeom prst="rect">
                  <a:avLst/>
                </a:prstGeom>
                <a:blipFill>
                  <a:blip r:embed="rId22"/>
                  <a:stretch>
                    <a:fillRect b="-15789"/>
                  </a:stretch>
                </a:blipFill>
              </p:spPr>
              <p:txBody>
                <a:bodyPr/>
                <a:lstStyle/>
                <a:p>
                  <a:r>
                    <a:rPr lang="en-US">
                      <a:noFill/>
                    </a:rPr>
                    <a:t> </a:t>
                  </a:r>
                </a:p>
              </p:txBody>
            </p:sp>
          </mc:Fallback>
        </mc:AlternateContent>
        <p:sp>
          <p:nvSpPr>
            <p:cNvPr id="117" name="TextBox 116">
              <a:extLst>
                <a:ext uri="{FF2B5EF4-FFF2-40B4-BE49-F238E27FC236}">
                  <a16:creationId xmlns:a16="http://schemas.microsoft.com/office/drawing/2014/main" id="{9E5DD888-331E-8044-8719-AE2044735BA6}"/>
                </a:ext>
              </a:extLst>
            </p:cNvPr>
            <p:cNvSpPr txBox="1"/>
            <p:nvPr/>
          </p:nvSpPr>
          <p:spPr>
            <a:xfrm>
              <a:off x="609637" y="2805207"/>
              <a:ext cx="433132" cy="461665"/>
            </a:xfrm>
            <a:prstGeom prst="rect">
              <a:avLst/>
            </a:prstGeom>
            <a:noFill/>
          </p:spPr>
          <p:txBody>
            <a:bodyPr wrap="none" rtlCol="0">
              <a:spAutoFit/>
            </a:bodyPr>
            <a:lstStyle/>
            <a:p>
              <a:r>
                <a:rPr lang="en-US" sz="2400" dirty="0"/>
                <a:t>5)</a:t>
              </a:r>
            </a:p>
          </p:txBody>
        </p:sp>
      </p:grpSp>
    </p:spTree>
    <p:extLst>
      <p:ext uri="{BB962C8B-B14F-4D97-AF65-F5344CB8AC3E}">
        <p14:creationId xmlns:p14="http://schemas.microsoft.com/office/powerpoint/2010/main" val="19597702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2E2742-D836-D34A-8DCB-0C4928BDBE83}"/>
              </a:ext>
            </a:extLst>
          </p:cNvPr>
          <p:cNvSpPr>
            <a:spLocks noGrp="1"/>
          </p:cNvSpPr>
          <p:nvPr>
            <p:ph type="sldNum" sz="quarter" idx="12"/>
          </p:nvPr>
        </p:nvSpPr>
        <p:spPr/>
        <p:txBody>
          <a:bodyPr/>
          <a:lstStyle/>
          <a:p>
            <a:fld id="{591A223C-FA10-BC46-A853-03BA373D023C}" type="slidenum">
              <a:rPr lang="en-US" smtClean="0"/>
              <a:t>18</a:t>
            </a:fld>
            <a:endParaRPr lang="en-US"/>
          </a:p>
        </p:txBody>
      </p:sp>
      <p:sp>
        <p:nvSpPr>
          <p:cNvPr id="3" name="Title 2">
            <a:extLst>
              <a:ext uri="{FF2B5EF4-FFF2-40B4-BE49-F238E27FC236}">
                <a16:creationId xmlns:a16="http://schemas.microsoft.com/office/drawing/2014/main" id="{F0AF682D-3D51-934F-B16A-C38468546846}"/>
              </a:ext>
            </a:extLst>
          </p:cNvPr>
          <p:cNvSpPr>
            <a:spLocks noGrp="1"/>
          </p:cNvSpPr>
          <p:nvPr>
            <p:ph type="title"/>
          </p:nvPr>
        </p:nvSpPr>
        <p:spPr>
          <a:xfrm>
            <a:off x="0" y="0"/>
            <a:ext cx="12192000" cy="928688"/>
          </a:xfrm>
        </p:spPr>
        <p:txBody>
          <a:bodyPr/>
          <a:lstStyle/>
          <a:p>
            <a:r>
              <a:rPr lang="en-ZA" dirty="0"/>
              <a:t>Primitive roots of unity</a:t>
            </a:r>
            <a:endParaRPr lang="en-US" dirty="0"/>
          </a:p>
        </p:txBody>
      </p:sp>
      <p:sp>
        <p:nvSpPr>
          <p:cNvPr id="5" name="TextBox 4">
            <a:extLst>
              <a:ext uri="{FF2B5EF4-FFF2-40B4-BE49-F238E27FC236}">
                <a16:creationId xmlns:a16="http://schemas.microsoft.com/office/drawing/2014/main" id="{5E3495C6-107A-4040-8FB4-0CF425BDE356}"/>
              </a:ext>
            </a:extLst>
          </p:cNvPr>
          <p:cNvSpPr txBox="1"/>
          <p:nvPr/>
        </p:nvSpPr>
        <p:spPr>
          <a:xfrm>
            <a:off x="0" y="2925951"/>
            <a:ext cx="4558365" cy="1569660"/>
          </a:xfrm>
          <a:prstGeom prst="rect">
            <a:avLst/>
          </a:prstGeom>
          <a:noFill/>
        </p:spPr>
        <p:txBody>
          <a:bodyPr wrap="square" rtlCol="0">
            <a:spAutoFit/>
          </a:bodyPr>
          <a:lstStyle/>
          <a:p>
            <a:pPr algn="ctr"/>
            <a:r>
              <a:rPr lang="en-ZA" sz="2400" dirty="0">
                <a:latin typeface="+mj-lt"/>
              </a:rPr>
              <a:t>An n-</a:t>
            </a:r>
            <a:r>
              <a:rPr lang="en-ZA" sz="2400" dirty="0" err="1">
                <a:latin typeface="+mj-lt"/>
              </a:rPr>
              <a:t>th</a:t>
            </a:r>
            <a:r>
              <a:rPr lang="en-ZA" sz="2400" dirty="0">
                <a:latin typeface="+mj-lt"/>
              </a:rPr>
              <a:t> root of unity is called primitive if it is not simultaneously an m-</a:t>
            </a:r>
            <a:r>
              <a:rPr lang="en-ZA" sz="2400" dirty="0" err="1">
                <a:latin typeface="+mj-lt"/>
              </a:rPr>
              <a:t>th</a:t>
            </a:r>
            <a:r>
              <a:rPr lang="en-ZA" sz="2400" dirty="0">
                <a:latin typeface="+mj-lt"/>
              </a:rPr>
              <a:t> root of unity for any smaller m.</a:t>
            </a:r>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A405C6B3-B5D8-D241-900D-7FDFD691AFC9}"/>
                  </a:ext>
                </a:extLst>
              </p:cNvPr>
              <p:cNvGraphicFramePr>
                <a:graphicFrameLocks noGrp="1"/>
              </p:cNvGraphicFramePr>
              <p:nvPr>
                <p:extLst>
                  <p:ext uri="{D42A27DB-BD31-4B8C-83A1-F6EECF244321}">
                    <p14:modId xmlns:p14="http://schemas.microsoft.com/office/powerpoint/2010/main" val="2358182872"/>
                  </p:ext>
                </p:extLst>
              </p:nvPr>
            </p:nvGraphicFramePr>
            <p:xfrm>
              <a:off x="4558365" y="1817974"/>
              <a:ext cx="7109779" cy="3507588"/>
            </p:xfrm>
            <a:graphic>
              <a:graphicData uri="http://schemas.openxmlformats.org/drawingml/2006/table">
                <a:tbl>
                  <a:tblPr firstRow="1" firstCol="1" bandRow="1">
                    <a:tableStyleId>{5C22544A-7EE6-4342-B048-85BDC9FD1C3A}</a:tableStyleId>
                  </a:tblPr>
                  <a:tblGrid>
                    <a:gridCol w="487680">
                      <a:extLst>
                        <a:ext uri="{9D8B030D-6E8A-4147-A177-3AD203B41FA5}">
                          <a16:colId xmlns:a16="http://schemas.microsoft.com/office/drawing/2014/main" val="3710722259"/>
                        </a:ext>
                      </a:extLst>
                    </a:gridCol>
                    <a:gridCol w="3430539">
                      <a:extLst>
                        <a:ext uri="{9D8B030D-6E8A-4147-A177-3AD203B41FA5}">
                          <a16:colId xmlns:a16="http://schemas.microsoft.com/office/drawing/2014/main" val="1303432926"/>
                        </a:ext>
                      </a:extLst>
                    </a:gridCol>
                    <a:gridCol w="3191560">
                      <a:extLst>
                        <a:ext uri="{9D8B030D-6E8A-4147-A177-3AD203B41FA5}">
                          <a16:colId xmlns:a16="http://schemas.microsoft.com/office/drawing/2014/main" val="836778258"/>
                        </a:ext>
                      </a:extLst>
                    </a:gridCol>
                  </a:tblGrid>
                  <a:tr h="544226">
                    <a:tc>
                      <a:txBody>
                        <a:bodyPr/>
                        <a:lstStyle/>
                        <a:p>
                          <a:pPr algn="ctr">
                            <a:spcBef>
                              <a:spcPts val="0"/>
                            </a:spcBef>
                            <a:spcAft>
                              <a:spcPts val="0"/>
                            </a:spcAft>
                          </a:pPr>
                          <a:r>
                            <a:rPr lang="sr-Latn-RS" sz="2400" b="0" dirty="0" err="1">
                              <a:effectLst/>
                            </a:rPr>
                            <a:t>n</a:t>
                          </a:r>
                          <a:endParaRPr lang="en-ZA" sz="24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0"/>
                            </a:spcBef>
                            <a:spcAft>
                              <a:spcPts val="0"/>
                            </a:spcAft>
                          </a:pPr>
                          <a:r>
                            <a:rPr lang="en-ZA" sz="2400" b="0" kern="1200" dirty="0">
                              <a:solidFill>
                                <a:schemeClr val="lt1"/>
                              </a:solidFill>
                              <a:latin typeface="+mn-lt"/>
                              <a:ea typeface="+mn-ea"/>
                              <a:cs typeface="+mn-cs"/>
                            </a:rPr>
                            <a:t>roots</a:t>
                          </a:r>
                          <a:endParaRPr lang="en-ZA" sz="24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0"/>
                            </a:spcBef>
                            <a:spcAft>
                              <a:spcPts val="0"/>
                            </a:spcAft>
                          </a:pPr>
                          <a:r>
                            <a:rPr lang="en-ZA" sz="2400" b="0" dirty="0"/>
                            <a:t>primitive</a:t>
                          </a:r>
                          <a:r>
                            <a:rPr lang="sr-Latn-RS" sz="2400" b="0" dirty="0">
                              <a:effectLst/>
                            </a:rPr>
                            <a:t> </a:t>
                          </a:r>
                          <a:r>
                            <a:rPr lang="en-ZA" sz="2400" b="0" kern="1200" dirty="0">
                              <a:solidFill>
                                <a:schemeClr val="lt1"/>
                              </a:solidFill>
                              <a:latin typeface="+mn-lt"/>
                              <a:ea typeface="+mn-ea"/>
                              <a:cs typeface="+mn-cs"/>
                            </a:rPr>
                            <a:t>roots</a:t>
                          </a:r>
                          <a:endParaRPr lang="en-ZA" sz="24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81834030"/>
                      </a:ext>
                    </a:extLst>
                  </a:tr>
                  <a:tr h="404201">
                    <a:tc>
                      <a:txBody>
                        <a:bodyPr/>
                        <a:lstStyle/>
                        <a:p>
                          <a:pPr algn="ctr">
                            <a:spcBef>
                              <a:spcPts val="800"/>
                            </a:spcBef>
                            <a:spcAft>
                              <a:spcPts val="300"/>
                            </a:spcAft>
                          </a:pPr>
                          <a:r>
                            <a:rPr lang="sr-Latn-RS" sz="2400" dirty="0">
                              <a:effectLst/>
                            </a:rPr>
                            <a:t>1</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800"/>
                            </a:spcBef>
                            <a:spcAft>
                              <a:spcPts val="300"/>
                            </a:spcAft>
                          </a:pPr>
                          <a14:m>
                            <m:oMathPara xmlns:m="http://schemas.openxmlformats.org/officeDocument/2006/math">
                              <m:oMathParaPr>
                                <m:jc m:val="centerGroup"/>
                              </m:oMathParaPr>
                              <m:oMath xmlns:m="http://schemas.openxmlformats.org/officeDocument/2006/math">
                                <m:r>
                                  <a:rPr lang="sr-Latn-RS" sz="2400">
                                    <a:effectLst/>
                                    <a:latin typeface="Cambria Math" panose="02040503050406030204" pitchFamily="18" charset="0"/>
                                  </a:rPr>
                                  <m:t>1</m:t>
                                </m:r>
                              </m:oMath>
                            </m:oMathPara>
                          </a14:m>
                          <a:endParaRPr lang="en-ZA" sz="2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800"/>
                            </a:spcBef>
                            <a:spcAft>
                              <a:spcPts val="300"/>
                            </a:spcAft>
                          </a:pPr>
                          <a14:m>
                            <m:oMathPara xmlns:m="http://schemas.openxmlformats.org/officeDocument/2006/math">
                              <m:oMathParaPr>
                                <m:jc m:val="centerGroup"/>
                              </m:oMathParaPr>
                              <m:oMath xmlns:m="http://schemas.openxmlformats.org/officeDocument/2006/math">
                                <m:r>
                                  <a:rPr lang="sr-Latn-RS" sz="2400" smtClean="0">
                                    <a:solidFill>
                                      <a:srgbClr val="FF0000"/>
                                    </a:solidFill>
                                    <a:effectLst/>
                                    <a:latin typeface="Cambria Math" panose="02040503050406030204" pitchFamily="18" charset="0"/>
                                  </a:rPr>
                                  <m:t>1</m:t>
                                </m:r>
                              </m:oMath>
                            </m:oMathPara>
                          </a14:m>
                          <a:endParaRPr lang="en-ZA" sz="2400" dirty="0">
                            <a:solidFill>
                              <a:srgbClr val="FF0000"/>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61721341"/>
                      </a:ext>
                    </a:extLst>
                  </a:tr>
                  <a:tr h="404201">
                    <a:tc>
                      <a:txBody>
                        <a:bodyPr/>
                        <a:lstStyle/>
                        <a:p>
                          <a:pPr algn="ctr">
                            <a:spcBef>
                              <a:spcPts val="800"/>
                            </a:spcBef>
                            <a:spcAft>
                              <a:spcPts val="300"/>
                            </a:spcAft>
                          </a:pPr>
                          <a:r>
                            <a:rPr lang="sr-Latn-RS" sz="2400">
                              <a:effectLst/>
                            </a:rPr>
                            <a:t>2</a:t>
                          </a:r>
                          <a:endParaRPr lang="en-ZA" sz="2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800"/>
                            </a:spcBef>
                            <a:spcAft>
                              <a:spcPts val="300"/>
                            </a:spcAft>
                          </a:pPr>
                          <a14:m>
                            <m:oMathPara xmlns:m="http://schemas.openxmlformats.org/officeDocument/2006/math">
                              <m:oMathParaPr>
                                <m:jc m:val="centerGroup"/>
                              </m:oMathParaPr>
                              <m:oMath xmlns:m="http://schemas.openxmlformats.org/officeDocument/2006/math">
                                <m:r>
                                  <a:rPr lang="sr-Latn-RS" sz="2400" smtClean="0">
                                    <a:solidFill>
                                      <a:srgbClr val="0070C0"/>
                                    </a:solidFill>
                                    <a:effectLst/>
                                    <a:latin typeface="Cambria Math" panose="02040503050406030204" pitchFamily="18" charset="0"/>
                                  </a:rPr>
                                  <m:t>1</m:t>
                                </m:r>
                                <m:r>
                                  <a:rPr lang="sr-Latn-RS" sz="2400">
                                    <a:effectLst/>
                                    <a:latin typeface="Cambria Math" panose="02040503050406030204" pitchFamily="18" charset="0"/>
                                  </a:rPr>
                                  <m:t>,</m:t>
                                </m:r>
                                <m:r>
                                  <a:rPr lang="sr-Latn-RS" sz="2400" smtClean="0">
                                    <a:solidFill>
                                      <a:srgbClr val="FF0000"/>
                                    </a:solidFill>
                                    <a:effectLst/>
                                    <a:latin typeface="Cambria Math" panose="02040503050406030204" pitchFamily="18" charset="0"/>
                                  </a:rPr>
                                  <m:t>−1</m:t>
                                </m:r>
                              </m:oMath>
                            </m:oMathPara>
                          </a14:m>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800"/>
                            </a:spcBef>
                            <a:spcAft>
                              <a:spcPts val="300"/>
                            </a:spcAft>
                          </a:pPr>
                          <a14:m>
                            <m:oMathPara xmlns:m="http://schemas.openxmlformats.org/officeDocument/2006/math">
                              <m:oMathParaPr>
                                <m:jc m:val="centerGroup"/>
                              </m:oMathParaPr>
                              <m:oMath xmlns:m="http://schemas.openxmlformats.org/officeDocument/2006/math">
                                <m:r>
                                  <a:rPr lang="sr-Latn-RS" sz="2400" smtClean="0">
                                    <a:solidFill>
                                      <a:srgbClr val="FF0000"/>
                                    </a:solidFill>
                                    <a:effectLst/>
                                    <a:latin typeface="Cambria Math" panose="02040503050406030204" pitchFamily="18" charset="0"/>
                                  </a:rPr>
                                  <m:t>−1</m:t>
                                </m:r>
                              </m:oMath>
                            </m:oMathPara>
                          </a14:m>
                          <a:endParaRPr lang="en-ZA" sz="2400" dirty="0">
                            <a:solidFill>
                              <a:srgbClr val="FF0000"/>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0860616"/>
                      </a:ext>
                    </a:extLst>
                  </a:tr>
                  <a:tr h="580245">
                    <a:tc>
                      <a:txBody>
                        <a:bodyPr/>
                        <a:lstStyle/>
                        <a:p>
                          <a:pPr algn="ctr">
                            <a:spcBef>
                              <a:spcPts val="800"/>
                            </a:spcBef>
                            <a:spcAft>
                              <a:spcPts val="300"/>
                            </a:spcAft>
                          </a:pPr>
                          <a:r>
                            <a:rPr lang="sr-Latn-RS" sz="2400" dirty="0">
                              <a:effectLst/>
                            </a:rPr>
                            <a:t>3</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800"/>
                            </a:spcBef>
                            <a:spcAft>
                              <a:spcPts val="300"/>
                            </a:spcAft>
                          </a:pPr>
                          <a14:m>
                            <m:oMathPara xmlns:m="http://schemas.openxmlformats.org/officeDocument/2006/math">
                              <m:oMathParaPr>
                                <m:jc m:val="centerGroup"/>
                              </m:oMathParaPr>
                              <m:oMath xmlns:m="http://schemas.openxmlformats.org/officeDocument/2006/math">
                                <m:r>
                                  <a:rPr lang="sr-Latn-RS" sz="2400" smtClean="0">
                                    <a:solidFill>
                                      <a:srgbClr val="0070C0"/>
                                    </a:solidFill>
                                    <a:effectLst/>
                                    <a:latin typeface="Cambria Math" panose="02040503050406030204" pitchFamily="18" charset="0"/>
                                  </a:rPr>
                                  <m:t>1</m:t>
                                </m:r>
                                <m:r>
                                  <a:rPr lang="sr-Latn-RS" sz="2400">
                                    <a:effectLst/>
                                    <a:latin typeface="Cambria Math" panose="02040503050406030204" pitchFamily="18" charset="0"/>
                                  </a:rPr>
                                  <m:t>,</m:t>
                                </m:r>
                                <m:sSup>
                                  <m:sSupPr>
                                    <m:ctrlPr>
                                      <a:rPr lang="en-ZA" sz="2400" i="1" smtClean="0">
                                        <a:solidFill>
                                          <a:srgbClr val="FF0000"/>
                                        </a:solidFill>
                                        <a:effectLst/>
                                        <a:latin typeface="Cambria Math" panose="02040503050406030204" pitchFamily="18" charset="0"/>
                                      </a:rPr>
                                    </m:ctrlPr>
                                  </m:sSupPr>
                                  <m:e>
                                    <m:r>
                                      <a:rPr lang="sr-Latn-RS" sz="2400">
                                        <a:solidFill>
                                          <a:srgbClr val="FF0000"/>
                                        </a:solidFill>
                                        <a:effectLst/>
                                        <a:latin typeface="Cambria Math" panose="02040503050406030204" pitchFamily="18" charset="0"/>
                                      </a:rPr>
                                      <m:t>𝑒</m:t>
                                    </m:r>
                                  </m:e>
                                  <m:sup>
                                    <m:f>
                                      <m:fPr>
                                        <m:ctrlPr>
                                          <a:rPr lang="en-ZA" sz="2400" i="1">
                                            <a:solidFill>
                                              <a:srgbClr val="FF0000"/>
                                            </a:solidFill>
                                            <a:effectLst/>
                                            <a:latin typeface="Cambria Math" panose="02040503050406030204" pitchFamily="18" charset="0"/>
                                          </a:rPr>
                                        </m:ctrlPr>
                                      </m:fPr>
                                      <m:num>
                                        <m:r>
                                          <a:rPr lang="sr-Latn-RS" sz="2400">
                                            <a:solidFill>
                                              <a:srgbClr val="FF0000"/>
                                            </a:solidFill>
                                            <a:effectLst/>
                                            <a:latin typeface="Cambria Math" panose="02040503050406030204" pitchFamily="18" charset="0"/>
                                          </a:rPr>
                                          <m:t>2</m:t>
                                        </m:r>
                                        <m:r>
                                          <a:rPr lang="sr-Latn-RS" sz="2400">
                                            <a:solidFill>
                                              <a:srgbClr val="FF0000"/>
                                            </a:solidFill>
                                            <a:effectLst/>
                                            <a:latin typeface="Cambria Math" panose="02040503050406030204" pitchFamily="18" charset="0"/>
                                          </a:rPr>
                                          <m:t>𝜋</m:t>
                                        </m:r>
                                        <m:r>
                                          <a:rPr lang="sr-Latn-RS" sz="2400">
                                            <a:solidFill>
                                              <a:srgbClr val="FF0000"/>
                                            </a:solidFill>
                                            <a:effectLst/>
                                            <a:latin typeface="Cambria Math" panose="02040503050406030204" pitchFamily="18" charset="0"/>
                                          </a:rPr>
                                          <m:t>𝑖</m:t>
                                        </m:r>
                                      </m:num>
                                      <m:den>
                                        <m:r>
                                          <a:rPr lang="sr-Latn-RS" sz="2400">
                                            <a:solidFill>
                                              <a:srgbClr val="FF0000"/>
                                            </a:solidFill>
                                            <a:effectLst/>
                                            <a:latin typeface="Cambria Math" panose="02040503050406030204" pitchFamily="18" charset="0"/>
                                          </a:rPr>
                                          <m:t>3</m:t>
                                        </m:r>
                                      </m:den>
                                    </m:f>
                                  </m:sup>
                                </m:sSup>
                                <m:r>
                                  <a:rPr lang="sr-Latn-RS" sz="2400">
                                    <a:effectLst/>
                                    <a:latin typeface="Cambria Math" panose="02040503050406030204" pitchFamily="18" charset="0"/>
                                  </a:rPr>
                                  <m:t>,</m:t>
                                </m:r>
                                <m:sSup>
                                  <m:sSupPr>
                                    <m:ctrlPr>
                                      <a:rPr lang="en-ZA" sz="2400" i="1" smtClean="0">
                                        <a:solidFill>
                                          <a:srgbClr val="FF0000"/>
                                        </a:solidFill>
                                        <a:effectLst/>
                                        <a:latin typeface="Cambria Math" panose="02040503050406030204" pitchFamily="18" charset="0"/>
                                      </a:rPr>
                                    </m:ctrlPr>
                                  </m:sSupPr>
                                  <m:e>
                                    <m:r>
                                      <a:rPr lang="sr-Latn-RS" sz="2400">
                                        <a:solidFill>
                                          <a:srgbClr val="FF0000"/>
                                        </a:solidFill>
                                        <a:effectLst/>
                                        <a:latin typeface="Cambria Math" panose="02040503050406030204" pitchFamily="18" charset="0"/>
                                      </a:rPr>
                                      <m:t>𝑒</m:t>
                                    </m:r>
                                  </m:e>
                                  <m:sup>
                                    <m:f>
                                      <m:fPr>
                                        <m:ctrlPr>
                                          <a:rPr lang="en-ZA" sz="2400" i="1">
                                            <a:solidFill>
                                              <a:srgbClr val="FF0000"/>
                                            </a:solidFill>
                                            <a:effectLst/>
                                            <a:latin typeface="Cambria Math" panose="02040503050406030204" pitchFamily="18" charset="0"/>
                                          </a:rPr>
                                        </m:ctrlPr>
                                      </m:fPr>
                                      <m:num>
                                        <m:r>
                                          <a:rPr lang="sr-Latn-RS" sz="2400">
                                            <a:solidFill>
                                              <a:srgbClr val="FF0000"/>
                                            </a:solidFill>
                                            <a:effectLst/>
                                            <a:latin typeface="Cambria Math" panose="02040503050406030204" pitchFamily="18" charset="0"/>
                                          </a:rPr>
                                          <m:t>−2</m:t>
                                        </m:r>
                                        <m:r>
                                          <a:rPr lang="sr-Latn-RS" sz="2400">
                                            <a:solidFill>
                                              <a:srgbClr val="FF0000"/>
                                            </a:solidFill>
                                            <a:effectLst/>
                                            <a:latin typeface="Cambria Math" panose="02040503050406030204" pitchFamily="18" charset="0"/>
                                          </a:rPr>
                                          <m:t>𝜋</m:t>
                                        </m:r>
                                        <m:r>
                                          <a:rPr lang="sr-Latn-RS" sz="2400">
                                            <a:solidFill>
                                              <a:srgbClr val="FF0000"/>
                                            </a:solidFill>
                                            <a:effectLst/>
                                            <a:latin typeface="Cambria Math" panose="02040503050406030204" pitchFamily="18" charset="0"/>
                                          </a:rPr>
                                          <m:t>𝑖</m:t>
                                        </m:r>
                                      </m:num>
                                      <m:den>
                                        <m:r>
                                          <a:rPr lang="sr-Latn-RS" sz="2400">
                                            <a:solidFill>
                                              <a:srgbClr val="FF0000"/>
                                            </a:solidFill>
                                            <a:effectLst/>
                                            <a:latin typeface="Cambria Math" panose="02040503050406030204" pitchFamily="18" charset="0"/>
                                          </a:rPr>
                                          <m:t>3</m:t>
                                        </m:r>
                                      </m:den>
                                    </m:f>
                                  </m:sup>
                                </m:sSup>
                              </m:oMath>
                            </m:oMathPara>
                          </a14:m>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800"/>
                            </a:spcBef>
                            <a:spcAft>
                              <a:spcPts val="300"/>
                            </a:spcAft>
                          </a:pPr>
                          <a14:m>
                            <m:oMathPara xmlns:m="http://schemas.openxmlformats.org/officeDocument/2006/math">
                              <m:oMathParaPr>
                                <m:jc m:val="centerGroup"/>
                              </m:oMathParaPr>
                              <m:oMath xmlns:m="http://schemas.openxmlformats.org/officeDocument/2006/math">
                                <m:sSup>
                                  <m:sSupPr>
                                    <m:ctrlPr>
                                      <a:rPr lang="en-ZA" sz="2400" i="1" smtClean="0">
                                        <a:solidFill>
                                          <a:srgbClr val="FF0000"/>
                                        </a:solidFill>
                                        <a:effectLst/>
                                        <a:latin typeface="Cambria Math" panose="02040503050406030204" pitchFamily="18" charset="0"/>
                                      </a:rPr>
                                    </m:ctrlPr>
                                  </m:sSupPr>
                                  <m:e>
                                    <m:r>
                                      <a:rPr lang="sr-Latn-RS" sz="2400">
                                        <a:solidFill>
                                          <a:srgbClr val="FF0000"/>
                                        </a:solidFill>
                                        <a:effectLst/>
                                        <a:latin typeface="Cambria Math" panose="02040503050406030204" pitchFamily="18" charset="0"/>
                                      </a:rPr>
                                      <m:t>𝑒</m:t>
                                    </m:r>
                                  </m:e>
                                  <m:sup>
                                    <m:f>
                                      <m:fPr>
                                        <m:ctrlPr>
                                          <a:rPr lang="en-ZA" sz="2400" i="1">
                                            <a:solidFill>
                                              <a:srgbClr val="FF0000"/>
                                            </a:solidFill>
                                            <a:effectLst/>
                                            <a:latin typeface="Cambria Math" panose="02040503050406030204" pitchFamily="18" charset="0"/>
                                          </a:rPr>
                                        </m:ctrlPr>
                                      </m:fPr>
                                      <m:num>
                                        <m:r>
                                          <a:rPr lang="sr-Latn-RS" sz="2400">
                                            <a:solidFill>
                                              <a:srgbClr val="FF0000"/>
                                            </a:solidFill>
                                            <a:effectLst/>
                                            <a:latin typeface="Cambria Math" panose="02040503050406030204" pitchFamily="18" charset="0"/>
                                          </a:rPr>
                                          <m:t>2</m:t>
                                        </m:r>
                                        <m:r>
                                          <a:rPr lang="sr-Latn-RS" sz="2400">
                                            <a:solidFill>
                                              <a:srgbClr val="FF0000"/>
                                            </a:solidFill>
                                            <a:effectLst/>
                                            <a:latin typeface="Cambria Math" panose="02040503050406030204" pitchFamily="18" charset="0"/>
                                          </a:rPr>
                                          <m:t>𝜋</m:t>
                                        </m:r>
                                        <m:r>
                                          <a:rPr lang="sr-Latn-RS" sz="2400">
                                            <a:solidFill>
                                              <a:srgbClr val="FF0000"/>
                                            </a:solidFill>
                                            <a:effectLst/>
                                            <a:latin typeface="Cambria Math" panose="02040503050406030204" pitchFamily="18" charset="0"/>
                                          </a:rPr>
                                          <m:t>𝑖</m:t>
                                        </m:r>
                                      </m:num>
                                      <m:den>
                                        <m:r>
                                          <a:rPr lang="sr-Latn-RS" sz="2400">
                                            <a:solidFill>
                                              <a:srgbClr val="FF0000"/>
                                            </a:solidFill>
                                            <a:effectLst/>
                                            <a:latin typeface="Cambria Math" panose="02040503050406030204" pitchFamily="18" charset="0"/>
                                          </a:rPr>
                                          <m:t>3</m:t>
                                        </m:r>
                                      </m:den>
                                    </m:f>
                                  </m:sup>
                                </m:sSup>
                                <m:r>
                                  <a:rPr lang="sr-Latn-RS" sz="2400">
                                    <a:solidFill>
                                      <a:srgbClr val="FF0000"/>
                                    </a:solidFill>
                                    <a:effectLst/>
                                    <a:latin typeface="Cambria Math" panose="02040503050406030204" pitchFamily="18" charset="0"/>
                                  </a:rPr>
                                  <m:t>,</m:t>
                                </m:r>
                                <m:sSup>
                                  <m:sSupPr>
                                    <m:ctrlPr>
                                      <a:rPr lang="en-ZA" sz="2400" i="1">
                                        <a:solidFill>
                                          <a:srgbClr val="FF0000"/>
                                        </a:solidFill>
                                        <a:effectLst/>
                                        <a:latin typeface="Cambria Math" panose="02040503050406030204" pitchFamily="18" charset="0"/>
                                      </a:rPr>
                                    </m:ctrlPr>
                                  </m:sSupPr>
                                  <m:e>
                                    <m:r>
                                      <a:rPr lang="sr-Latn-RS" sz="2400">
                                        <a:solidFill>
                                          <a:srgbClr val="FF0000"/>
                                        </a:solidFill>
                                        <a:effectLst/>
                                        <a:latin typeface="Cambria Math" panose="02040503050406030204" pitchFamily="18" charset="0"/>
                                      </a:rPr>
                                      <m:t>𝑒</m:t>
                                    </m:r>
                                  </m:e>
                                  <m:sup>
                                    <m:f>
                                      <m:fPr>
                                        <m:ctrlPr>
                                          <a:rPr lang="en-ZA" sz="2400" i="1">
                                            <a:solidFill>
                                              <a:srgbClr val="FF0000"/>
                                            </a:solidFill>
                                            <a:effectLst/>
                                            <a:latin typeface="Cambria Math" panose="02040503050406030204" pitchFamily="18" charset="0"/>
                                          </a:rPr>
                                        </m:ctrlPr>
                                      </m:fPr>
                                      <m:num>
                                        <m:r>
                                          <a:rPr lang="sr-Latn-RS" sz="2400">
                                            <a:solidFill>
                                              <a:srgbClr val="FF0000"/>
                                            </a:solidFill>
                                            <a:effectLst/>
                                            <a:latin typeface="Cambria Math" panose="02040503050406030204" pitchFamily="18" charset="0"/>
                                          </a:rPr>
                                          <m:t>−2</m:t>
                                        </m:r>
                                        <m:r>
                                          <a:rPr lang="sr-Latn-RS" sz="2400">
                                            <a:solidFill>
                                              <a:srgbClr val="FF0000"/>
                                            </a:solidFill>
                                            <a:effectLst/>
                                            <a:latin typeface="Cambria Math" panose="02040503050406030204" pitchFamily="18" charset="0"/>
                                          </a:rPr>
                                          <m:t>𝜋</m:t>
                                        </m:r>
                                        <m:r>
                                          <a:rPr lang="sr-Latn-RS" sz="2400">
                                            <a:solidFill>
                                              <a:srgbClr val="FF0000"/>
                                            </a:solidFill>
                                            <a:effectLst/>
                                            <a:latin typeface="Cambria Math" panose="02040503050406030204" pitchFamily="18" charset="0"/>
                                          </a:rPr>
                                          <m:t>𝑖</m:t>
                                        </m:r>
                                      </m:num>
                                      <m:den>
                                        <m:r>
                                          <a:rPr lang="sr-Latn-RS" sz="2400">
                                            <a:solidFill>
                                              <a:srgbClr val="FF0000"/>
                                            </a:solidFill>
                                            <a:effectLst/>
                                            <a:latin typeface="Cambria Math" panose="02040503050406030204" pitchFamily="18" charset="0"/>
                                          </a:rPr>
                                          <m:t>3</m:t>
                                        </m:r>
                                      </m:den>
                                    </m:f>
                                  </m:sup>
                                </m:sSup>
                              </m:oMath>
                            </m:oMathPara>
                          </a14:m>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8088247"/>
                      </a:ext>
                    </a:extLst>
                  </a:tr>
                  <a:tr h="404201">
                    <a:tc>
                      <a:txBody>
                        <a:bodyPr/>
                        <a:lstStyle/>
                        <a:p>
                          <a:pPr algn="ctr">
                            <a:spcBef>
                              <a:spcPts val="800"/>
                            </a:spcBef>
                            <a:spcAft>
                              <a:spcPts val="300"/>
                            </a:spcAft>
                          </a:pPr>
                          <a:r>
                            <a:rPr lang="sr-Latn-RS" sz="2400" dirty="0">
                              <a:effectLst/>
                            </a:rPr>
                            <a:t>4</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800"/>
                            </a:spcBef>
                            <a:spcAft>
                              <a:spcPts val="300"/>
                            </a:spcAft>
                          </a:pPr>
                          <a14:m>
                            <m:oMathPara xmlns:m="http://schemas.openxmlformats.org/officeDocument/2006/math">
                              <m:oMathParaPr>
                                <m:jc m:val="centerGroup"/>
                              </m:oMathParaPr>
                              <m:oMath xmlns:m="http://schemas.openxmlformats.org/officeDocument/2006/math">
                                <m:r>
                                  <a:rPr lang="sr-Latn-RS" sz="2400" smtClean="0">
                                    <a:solidFill>
                                      <a:srgbClr val="0070C0"/>
                                    </a:solidFill>
                                    <a:effectLst/>
                                    <a:latin typeface="Cambria Math" panose="02040503050406030204" pitchFamily="18" charset="0"/>
                                  </a:rPr>
                                  <m:t>1</m:t>
                                </m:r>
                                <m:r>
                                  <a:rPr lang="sr-Latn-RS" sz="2400">
                                    <a:effectLst/>
                                    <a:latin typeface="Cambria Math" panose="02040503050406030204" pitchFamily="18" charset="0"/>
                                  </a:rPr>
                                  <m:t>,</m:t>
                                </m:r>
                                <m:r>
                                  <a:rPr lang="sr-Latn-RS" sz="2400" smtClean="0">
                                    <a:solidFill>
                                      <a:srgbClr val="FF0000"/>
                                    </a:solidFill>
                                    <a:effectLst/>
                                    <a:latin typeface="Cambria Math" panose="02040503050406030204" pitchFamily="18" charset="0"/>
                                  </a:rPr>
                                  <m:t>𝑖</m:t>
                                </m:r>
                                <m:r>
                                  <a:rPr lang="sr-Latn-RS" sz="2400">
                                    <a:effectLst/>
                                    <a:latin typeface="Cambria Math" panose="02040503050406030204" pitchFamily="18" charset="0"/>
                                  </a:rPr>
                                  <m:t>,</m:t>
                                </m:r>
                                <m:r>
                                  <a:rPr lang="sr-Latn-RS" sz="2400" smtClean="0">
                                    <a:solidFill>
                                      <a:schemeClr val="accent5">
                                        <a:lumMod val="75000"/>
                                      </a:schemeClr>
                                    </a:solidFill>
                                    <a:effectLst/>
                                    <a:latin typeface="Cambria Math" panose="02040503050406030204" pitchFamily="18" charset="0"/>
                                  </a:rPr>
                                  <m:t>−1</m:t>
                                </m:r>
                                <m:r>
                                  <a:rPr lang="sr-Latn-RS" sz="2400">
                                    <a:effectLst/>
                                    <a:latin typeface="Cambria Math" panose="02040503050406030204" pitchFamily="18" charset="0"/>
                                  </a:rPr>
                                  <m:t>,</m:t>
                                </m:r>
                                <m:r>
                                  <a:rPr lang="sr-Latn-RS" sz="2400" smtClean="0">
                                    <a:solidFill>
                                      <a:srgbClr val="FF0000"/>
                                    </a:solidFill>
                                    <a:effectLst/>
                                    <a:latin typeface="Cambria Math" panose="02040503050406030204" pitchFamily="18" charset="0"/>
                                  </a:rPr>
                                  <m:t>−</m:t>
                                </m:r>
                                <m:r>
                                  <a:rPr lang="sr-Latn-RS" sz="2400" smtClean="0">
                                    <a:solidFill>
                                      <a:srgbClr val="FF0000"/>
                                    </a:solidFill>
                                    <a:effectLst/>
                                    <a:latin typeface="Cambria Math" panose="02040503050406030204" pitchFamily="18" charset="0"/>
                                  </a:rPr>
                                  <m:t>𝑖</m:t>
                                </m:r>
                              </m:oMath>
                            </m:oMathPara>
                          </a14:m>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800"/>
                            </a:spcBef>
                            <a:spcAft>
                              <a:spcPts val="300"/>
                            </a:spcAft>
                          </a:pPr>
                          <a14:m>
                            <m:oMathPara xmlns:m="http://schemas.openxmlformats.org/officeDocument/2006/math">
                              <m:oMathParaPr>
                                <m:jc m:val="centerGroup"/>
                              </m:oMathParaPr>
                              <m:oMath xmlns:m="http://schemas.openxmlformats.org/officeDocument/2006/math">
                                <m:r>
                                  <a:rPr lang="sr-Latn-RS" sz="2400" smtClean="0">
                                    <a:solidFill>
                                      <a:srgbClr val="FF0000"/>
                                    </a:solidFill>
                                    <a:effectLst/>
                                    <a:latin typeface="Cambria Math" panose="02040503050406030204" pitchFamily="18" charset="0"/>
                                  </a:rPr>
                                  <m:t>𝑖</m:t>
                                </m:r>
                                <m:r>
                                  <a:rPr lang="sr-Latn-RS" sz="2400" smtClean="0">
                                    <a:solidFill>
                                      <a:srgbClr val="FF0000"/>
                                    </a:solidFill>
                                    <a:effectLst/>
                                    <a:latin typeface="Cambria Math" panose="02040503050406030204" pitchFamily="18" charset="0"/>
                                  </a:rPr>
                                  <m:t>,−</m:t>
                                </m:r>
                                <m:r>
                                  <a:rPr lang="sr-Latn-RS" sz="2400" smtClean="0">
                                    <a:solidFill>
                                      <a:srgbClr val="FF0000"/>
                                    </a:solidFill>
                                    <a:effectLst/>
                                    <a:latin typeface="Cambria Math" panose="02040503050406030204" pitchFamily="18" charset="0"/>
                                  </a:rPr>
                                  <m:t>𝑖</m:t>
                                </m:r>
                              </m:oMath>
                            </m:oMathPara>
                          </a14:m>
                          <a:endParaRPr lang="en-ZA" sz="2400" dirty="0">
                            <a:solidFill>
                              <a:srgbClr val="FF0000"/>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37504265"/>
                      </a:ext>
                    </a:extLst>
                  </a:tr>
                  <a:tr h="582152">
                    <a:tc>
                      <a:txBody>
                        <a:bodyPr/>
                        <a:lstStyle/>
                        <a:p>
                          <a:pPr algn="ctr">
                            <a:spcBef>
                              <a:spcPts val="800"/>
                            </a:spcBef>
                            <a:spcAft>
                              <a:spcPts val="300"/>
                            </a:spcAft>
                          </a:pPr>
                          <a:r>
                            <a:rPr lang="sr-Latn-RS" sz="2400" dirty="0">
                              <a:effectLst/>
                            </a:rPr>
                            <a:t>5</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800"/>
                            </a:spcBef>
                            <a:spcAft>
                              <a:spcPts val="300"/>
                            </a:spcAft>
                          </a:pPr>
                          <a14:m>
                            <m:oMathPara xmlns:m="http://schemas.openxmlformats.org/officeDocument/2006/math">
                              <m:oMathParaPr>
                                <m:jc m:val="centerGroup"/>
                              </m:oMathParaPr>
                              <m:oMath xmlns:m="http://schemas.openxmlformats.org/officeDocument/2006/math">
                                <m:r>
                                  <a:rPr lang="sr-Latn-RS" sz="2400" smtClean="0">
                                    <a:solidFill>
                                      <a:srgbClr val="0070C0"/>
                                    </a:solidFill>
                                    <a:effectLst/>
                                    <a:latin typeface="Cambria Math" panose="02040503050406030204" pitchFamily="18" charset="0"/>
                                  </a:rPr>
                                  <m:t>1</m:t>
                                </m:r>
                                <m:r>
                                  <a:rPr lang="sr-Latn-RS" sz="2400">
                                    <a:effectLst/>
                                    <a:latin typeface="Cambria Math" panose="02040503050406030204" pitchFamily="18" charset="0"/>
                                  </a:rPr>
                                  <m:t>,</m:t>
                                </m:r>
                                <m:sSup>
                                  <m:sSupPr>
                                    <m:ctrlPr>
                                      <a:rPr lang="en-ZA" sz="2400" i="1" smtClean="0">
                                        <a:solidFill>
                                          <a:srgbClr val="FF0000"/>
                                        </a:solidFill>
                                        <a:effectLst/>
                                        <a:latin typeface="Cambria Math" panose="02040503050406030204" pitchFamily="18" charset="0"/>
                                      </a:rPr>
                                    </m:ctrlPr>
                                  </m:sSupPr>
                                  <m:e>
                                    <m:r>
                                      <a:rPr lang="sr-Latn-RS" sz="2400">
                                        <a:solidFill>
                                          <a:srgbClr val="FF0000"/>
                                        </a:solidFill>
                                        <a:effectLst/>
                                        <a:latin typeface="Cambria Math" panose="02040503050406030204" pitchFamily="18" charset="0"/>
                                      </a:rPr>
                                      <m:t>𝑒</m:t>
                                    </m:r>
                                  </m:e>
                                  <m:sup>
                                    <m:f>
                                      <m:fPr>
                                        <m:ctrlPr>
                                          <a:rPr lang="en-ZA" sz="2400" i="1">
                                            <a:solidFill>
                                              <a:srgbClr val="FF0000"/>
                                            </a:solidFill>
                                            <a:effectLst/>
                                            <a:latin typeface="Cambria Math" panose="02040503050406030204" pitchFamily="18" charset="0"/>
                                          </a:rPr>
                                        </m:ctrlPr>
                                      </m:fPr>
                                      <m:num>
                                        <m:r>
                                          <a:rPr lang="sr-Latn-RS" sz="2400">
                                            <a:solidFill>
                                              <a:srgbClr val="FF0000"/>
                                            </a:solidFill>
                                            <a:effectLst/>
                                            <a:latin typeface="Cambria Math" panose="02040503050406030204" pitchFamily="18" charset="0"/>
                                          </a:rPr>
                                          <m:t>2</m:t>
                                        </m:r>
                                        <m:r>
                                          <a:rPr lang="sr-Latn-RS" sz="2400">
                                            <a:solidFill>
                                              <a:srgbClr val="FF0000"/>
                                            </a:solidFill>
                                            <a:effectLst/>
                                            <a:latin typeface="Cambria Math" panose="02040503050406030204" pitchFamily="18" charset="0"/>
                                          </a:rPr>
                                          <m:t>𝜋</m:t>
                                        </m:r>
                                        <m:r>
                                          <a:rPr lang="sr-Latn-RS" sz="2400">
                                            <a:solidFill>
                                              <a:srgbClr val="FF0000"/>
                                            </a:solidFill>
                                            <a:effectLst/>
                                            <a:latin typeface="Cambria Math" panose="02040503050406030204" pitchFamily="18" charset="0"/>
                                          </a:rPr>
                                          <m:t>𝑖</m:t>
                                        </m:r>
                                      </m:num>
                                      <m:den>
                                        <m:r>
                                          <a:rPr lang="sr-Latn-RS" sz="2400">
                                            <a:solidFill>
                                              <a:srgbClr val="FF0000"/>
                                            </a:solidFill>
                                            <a:effectLst/>
                                            <a:latin typeface="Cambria Math" panose="02040503050406030204" pitchFamily="18" charset="0"/>
                                          </a:rPr>
                                          <m:t>5</m:t>
                                        </m:r>
                                      </m:den>
                                    </m:f>
                                  </m:sup>
                                </m:sSup>
                                <m:r>
                                  <a:rPr lang="sr-Latn-RS" sz="2400">
                                    <a:solidFill>
                                      <a:srgbClr val="FF0000"/>
                                    </a:solidFill>
                                    <a:effectLst/>
                                    <a:latin typeface="Cambria Math" panose="02040503050406030204" pitchFamily="18" charset="0"/>
                                  </a:rPr>
                                  <m:t>,</m:t>
                                </m:r>
                                <m:sSup>
                                  <m:sSupPr>
                                    <m:ctrlPr>
                                      <a:rPr lang="en-ZA" sz="2400" i="1">
                                        <a:solidFill>
                                          <a:srgbClr val="FF0000"/>
                                        </a:solidFill>
                                        <a:effectLst/>
                                        <a:latin typeface="Cambria Math" panose="02040503050406030204" pitchFamily="18" charset="0"/>
                                      </a:rPr>
                                    </m:ctrlPr>
                                  </m:sSupPr>
                                  <m:e>
                                    <m:r>
                                      <a:rPr lang="sr-Latn-RS" sz="2400">
                                        <a:solidFill>
                                          <a:srgbClr val="FF0000"/>
                                        </a:solidFill>
                                        <a:effectLst/>
                                        <a:latin typeface="Cambria Math" panose="02040503050406030204" pitchFamily="18" charset="0"/>
                                      </a:rPr>
                                      <m:t>𝑒</m:t>
                                    </m:r>
                                  </m:e>
                                  <m:sup>
                                    <m:f>
                                      <m:fPr>
                                        <m:ctrlPr>
                                          <a:rPr lang="en-ZA" sz="2400" i="1">
                                            <a:solidFill>
                                              <a:srgbClr val="FF0000"/>
                                            </a:solidFill>
                                            <a:effectLst/>
                                            <a:latin typeface="Cambria Math" panose="02040503050406030204" pitchFamily="18" charset="0"/>
                                          </a:rPr>
                                        </m:ctrlPr>
                                      </m:fPr>
                                      <m:num>
                                        <m:r>
                                          <a:rPr lang="sr-Latn-RS" sz="2400">
                                            <a:solidFill>
                                              <a:srgbClr val="FF0000"/>
                                            </a:solidFill>
                                            <a:effectLst/>
                                            <a:latin typeface="Cambria Math" panose="02040503050406030204" pitchFamily="18" charset="0"/>
                                          </a:rPr>
                                          <m:t>4</m:t>
                                        </m:r>
                                        <m:r>
                                          <a:rPr lang="sr-Latn-RS" sz="2400">
                                            <a:solidFill>
                                              <a:srgbClr val="FF0000"/>
                                            </a:solidFill>
                                            <a:effectLst/>
                                            <a:latin typeface="Cambria Math" panose="02040503050406030204" pitchFamily="18" charset="0"/>
                                          </a:rPr>
                                          <m:t>𝜋</m:t>
                                        </m:r>
                                        <m:r>
                                          <a:rPr lang="sr-Latn-RS" sz="2400">
                                            <a:solidFill>
                                              <a:srgbClr val="FF0000"/>
                                            </a:solidFill>
                                            <a:effectLst/>
                                            <a:latin typeface="Cambria Math" panose="02040503050406030204" pitchFamily="18" charset="0"/>
                                          </a:rPr>
                                          <m:t>𝑖</m:t>
                                        </m:r>
                                      </m:num>
                                      <m:den>
                                        <m:r>
                                          <a:rPr lang="sr-Latn-RS" sz="2400">
                                            <a:solidFill>
                                              <a:srgbClr val="FF0000"/>
                                            </a:solidFill>
                                            <a:effectLst/>
                                            <a:latin typeface="Cambria Math" panose="02040503050406030204" pitchFamily="18" charset="0"/>
                                          </a:rPr>
                                          <m:t>5</m:t>
                                        </m:r>
                                      </m:den>
                                    </m:f>
                                  </m:sup>
                                </m:sSup>
                                <m:r>
                                  <a:rPr lang="sr-Latn-RS" sz="2400">
                                    <a:solidFill>
                                      <a:srgbClr val="FF0000"/>
                                    </a:solidFill>
                                    <a:effectLst/>
                                    <a:latin typeface="Cambria Math" panose="02040503050406030204" pitchFamily="18" charset="0"/>
                                  </a:rPr>
                                  <m:t>,</m:t>
                                </m:r>
                                <m:sSup>
                                  <m:sSupPr>
                                    <m:ctrlPr>
                                      <a:rPr lang="en-ZA" sz="2400" i="1">
                                        <a:solidFill>
                                          <a:srgbClr val="FF0000"/>
                                        </a:solidFill>
                                        <a:effectLst/>
                                        <a:latin typeface="Cambria Math" panose="02040503050406030204" pitchFamily="18" charset="0"/>
                                      </a:rPr>
                                    </m:ctrlPr>
                                  </m:sSupPr>
                                  <m:e>
                                    <m:r>
                                      <a:rPr lang="sr-Latn-RS" sz="2400">
                                        <a:solidFill>
                                          <a:srgbClr val="FF0000"/>
                                        </a:solidFill>
                                        <a:effectLst/>
                                        <a:latin typeface="Cambria Math" panose="02040503050406030204" pitchFamily="18" charset="0"/>
                                      </a:rPr>
                                      <m:t>𝑒</m:t>
                                    </m:r>
                                  </m:e>
                                  <m:sup>
                                    <m:f>
                                      <m:fPr>
                                        <m:ctrlPr>
                                          <a:rPr lang="en-ZA" sz="2400" i="1">
                                            <a:solidFill>
                                              <a:srgbClr val="FF0000"/>
                                            </a:solidFill>
                                            <a:effectLst/>
                                            <a:latin typeface="Cambria Math" panose="02040503050406030204" pitchFamily="18" charset="0"/>
                                          </a:rPr>
                                        </m:ctrlPr>
                                      </m:fPr>
                                      <m:num>
                                        <m:r>
                                          <a:rPr lang="sr-Latn-RS" sz="2400">
                                            <a:solidFill>
                                              <a:srgbClr val="FF0000"/>
                                            </a:solidFill>
                                            <a:effectLst/>
                                            <a:latin typeface="Cambria Math" panose="02040503050406030204" pitchFamily="18" charset="0"/>
                                          </a:rPr>
                                          <m:t>−4</m:t>
                                        </m:r>
                                        <m:r>
                                          <a:rPr lang="sr-Latn-RS" sz="2400">
                                            <a:solidFill>
                                              <a:srgbClr val="FF0000"/>
                                            </a:solidFill>
                                            <a:effectLst/>
                                            <a:latin typeface="Cambria Math" panose="02040503050406030204" pitchFamily="18" charset="0"/>
                                          </a:rPr>
                                          <m:t>𝜋</m:t>
                                        </m:r>
                                        <m:r>
                                          <a:rPr lang="sr-Latn-RS" sz="2400">
                                            <a:solidFill>
                                              <a:srgbClr val="FF0000"/>
                                            </a:solidFill>
                                            <a:effectLst/>
                                            <a:latin typeface="Cambria Math" panose="02040503050406030204" pitchFamily="18" charset="0"/>
                                          </a:rPr>
                                          <m:t>𝑖</m:t>
                                        </m:r>
                                      </m:num>
                                      <m:den>
                                        <m:r>
                                          <a:rPr lang="sr-Latn-RS" sz="2400">
                                            <a:solidFill>
                                              <a:srgbClr val="FF0000"/>
                                            </a:solidFill>
                                            <a:effectLst/>
                                            <a:latin typeface="Cambria Math" panose="02040503050406030204" pitchFamily="18" charset="0"/>
                                          </a:rPr>
                                          <m:t>5</m:t>
                                        </m:r>
                                      </m:den>
                                    </m:f>
                                  </m:sup>
                                </m:sSup>
                                <m:r>
                                  <a:rPr lang="sr-Latn-RS" sz="2400">
                                    <a:solidFill>
                                      <a:srgbClr val="FF0000"/>
                                    </a:solidFill>
                                    <a:effectLst/>
                                    <a:latin typeface="Cambria Math" panose="02040503050406030204" pitchFamily="18" charset="0"/>
                                  </a:rPr>
                                  <m:t>,</m:t>
                                </m:r>
                                <m:sSup>
                                  <m:sSupPr>
                                    <m:ctrlPr>
                                      <a:rPr lang="en-ZA" sz="2400" i="1">
                                        <a:solidFill>
                                          <a:srgbClr val="FF0000"/>
                                        </a:solidFill>
                                        <a:effectLst/>
                                        <a:latin typeface="Cambria Math" panose="02040503050406030204" pitchFamily="18" charset="0"/>
                                      </a:rPr>
                                    </m:ctrlPr>
                                  </m:sSupPr>
                                  <m:e>
                                    <m:r>
                                      <a:rPr lang="sr-Latn-RS" sz="2400">
                                        <a:solidFill>
                                          <a:srgbClr val="FF0000"/>
                                        </a:solidFill>
                                        <a:effectLst/>
                                        <a:latin typeface="Cambria Math" panose="02040503050406030204" pitchFamily="18" charset="0"/>
                                      </a:rPr>
                                      <m:t>𝑒</m:t>
                                    </m:r>
                                  </m:e>
                                  <m:sup>
                                    <m:f>
                                      <m:fPr>
                                        <m:ctrlPr>
                                          <a:rPr lang="en-ZA" sz="2400" i="1">
                                            <a:solidFill>
                                              <a:srgbClr val="FF0000"/>
                                            </a:solidFill>
                                            <a:effectLst/>
                                            <a:latin typeface="Cambria Math" panose="02040503050406030204" pitchFamily="18" charset="0"/>
                                          </a:rPr>
                                        </m:ctrlPr>
                                      </m:fPr>
                                      <m:num>
                                        <m:r>
                                          <a:rPr lang="sr-Latn-RS" sz="2400">
                                            <a:solidFill>
                                              <a:srgbClr val="FF0000"/>
                                            </a:solidFill>
                                            <a:effectLst/>
                                            <a:latin typeface="Cambria Math" panose="02040503050406030204" pitchFamily="18" charset="0"/>
                                          </a:rPr>
                                          <m:t>−2</m:t>
                                        </m:r>
                                        <m:r>
                                          <a:rPr lang="sr-Latn-RS" sz="2400">
                                            <a:solidFill>
                                              <a:srgbClr val="FF0000"/>
                                            </a:solidFill>
                                            <a:effectLst/>
                                            <a:latin typeface="Cambria Math" panose="02040503050406030204" pitchFamily="18" charset="0"/>
                                          </a:rPr>
                                          <m:t>𝜋</m:t>
                                        </m:r>
                                        <m:r>
                                          <a:rPr lang="sr-Latn-RS" sz="2400">
                                            <a:solidFill>
                                              <a:srgbClr val="FF0000"/>
                                            </a:solidFill>
                                            <a:effectLst/>
                                            <a:latin typeface="Cambria Math" panose="02040503050406030204" pitchFamily="18" charset="0"/>
                                          </a:rPr>
                                          <m:t>𝑖</m:t>
                                        </m:r>
                                      </m:num>
                                      <m:den>
                                        <m:r>
                                          <a:rPr lang="sr-Latn-RS" sz="2400">
                                            <a:solidFill>
                                              <a:srgbClr val="FF0000"/>
                                            </a:solidFill>
                                            <a:effectLst/>
                                            <a:latin typeface="Cambria Math" panose="02040503050406030204" pitchFamily="18" charset="0"/>
                                          </a:rPr>
                                          <m:t>5</m:t>
                                        </m:r>
                                      </m:den>
                                    </m:f>
                                  </m:sup>
                                </m:sSup>
                              </m:oMath>
                            </m:oMathPara>
                          </a14:m>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800"/>
                            </a:spcBef>
                            <a:spcAft>
                              <a:spcPts val="300"/>
                            </a:spcAft>
                          </a:pPr>
                          <a14:m>
                            <m:oMathPara xmlns:m="http://schemas.openxmlformats.org/officeDocument/2006/math">
                              <m:oMathParaPr>
                                <m:jc m:val="centerGroup"/>
                              </m:oMathParaPr>
                              <m:oMath xmlns:m="http://schemas.openxmlformats.org/officeDocument/2006/math">
                                <m:sSup>
                                  <m:sSupPr>
                                    <m:ctrlPr>
                                      <a:rPr lang="en-ZA" sz="2400" i="1" smtClean="0">
                                        <a:solidFill>
                                          <a:srgbClr val="FF0000"/>
                                        </a:solidFill>
                                        <a:effectLst/>
                                        <a:latin typeface="Cambria Math" panose="02040503050406030204" pitchFamily="18" charset="0"/>
                                      </a:rPr>
                                    </m:ctrlPr>
                                  </m:sSupPr>
                                  <m:e>
                                    <m:r>
                                      <a:rPr lang="sr-Latn-RS" sz="2400">
                                        <a:solidFill>
                                          <a:srgbClr val="FF0000"/>
                                        </a:solidFill>
                                        <a:effectLst/>
                                        <a:latin typeface="Cambria Math" panose="02040503050406030204" pitchFamily="18" charset="0"/>
                                      </a:rPr>
                                      <m:t>𝑒</m:t>
                                    </m:r>
                                  </m:e>
                                  <m:sup>
                                    <m:f>
                                      <m:fPr>
                                        <m:ctrlPr>
                                          <a:rPr lang="en-ZA" sz="2400" i="1">
                                            <a:solidFill>
                                              <a:srgbClr val="FF0000"/>
                                            </a:solidFill>
                                            <a:effectLst/>
                                            <a:latin typeface="Cambria Math" panose="02040503050406030204" pitchFamily="18" charset="0"/>
                                          </a:rPr>
                                        </m:ctrlPr>
                                      </m:fPr>
                                      <m:num>
                                        <m:r>
                                          <a:rPr lang="sr-Latn-RS" sz="2400">
                                            <a:solidFill>
                                              <a:srgbClr val="FF0000"/>
                                            </a:solidFill>
                                            <a:effectLst/>
                                            <a:latin typeface="Cambria Math" panose="02040503050406030204" pitchFamily="18" charset="0"/>
                                          </a:rPr>
                                          <m:t>2</m:t>
                                        </m:r>
                                        <m:r>
                                          <a:rPr lang="sr-Latn-RS" sz="2400">
                                            <a:solidFill>
                                              <a:srgbClr val="FF0000"/>
                                            </a:solidFill>
                                            <a:effectLst/>
                                            <a:latin typeface="Cambria Math" panose="02040503050406030204" pitchFamily="18" charset="0"/>
                                          </a:rPr>
                                          <m:t>𝜋</m:t>
                                        </m:r>
                                        <m:r>
                                          <a:rPr lang="sr-Latn-RS" sz="2400">
                                            <a:solidFill>
                                              <a:srgbClr val="FF0000"/>
                                            </a:solidFill>
                                            <a:effectLst/>
                                            <a:latin typeface="Cambria Math" panose="02040503050406030204" pitchFamily="18" charset="0"/>
                                          </a:rPr>
                                          <m:t>𝑖</m:t>
                                        </m:r>
                                      </m:num>
                                      <m:den>
                                        <m:r>
                                          <a:rPr lang="sr-Latn-RS" sz="2400">
                                            <a:solidFill>
                                              <a:srgbClr val="FF0000"/>
                                            </a:solidFill>
                                            <a:effectLst/>
                                            <a:latin typeface="Cambria Math" panose="02040503050406030204" pitchFamily="18" charset="0"/>
                                          </a:rPr>
                                          <m:t>5</m:t>
                                        </m:r>
                                      </m:den>
                                    </m:f>
                                  </m:sup>
                                </m:sSup>
                                <m:r>
                                  <a:rPr lang="sr-Latn-RS" sz="2400">
                                    <a:solidFill>
                                      <a:srgbClr val="FF0000"/>
                                    </a:solidFill>
                                    <a:effectLst/>
                                    <a:latin typeface="Cambria Math" panose="02040503050406030204" pitchFamily="18" charset="0"/>
                                  </a:rPr>
                                  <m:t>,</m:t>
                                </m:r>
                                <m:sSup>
                                  <m:sSupPr>
                                    <m:ctrlPr>
                                      <a:rPr lang="en-ZA" sz="2400" i="1">
                                        <a:solidFill>
                                          <a:srgbClr val="FF0000"/>
                                        </a:solidFill>
                                        <a:effectLst/>
                                        <a:latin typeface="Cambria Math" panose="02040503050406030204" pitchFamily="18" charset="0"/>
                                      </a:rPr>
                                    </m:ctrlPr>
                                  </m:sSupPr>
                                  <m:e>
                                    <m:r>
                                      <a:rPr lang="sr-Latn-RS" sz="2400">
                                        <a:solidFill>
                                          <a:srgbClr val="FF0000"/>
                                        </a:solidFill>
                                        <a:effectLst/>
                                        <a:latin typeface="Cambria Math" panose="02040503050406030204" pitchFamily="18" charset="0"/>
                                      </a:rPr>
                                      <m:t>𝑒</m:t>
                                    </m:r>
                                  </m:e>
                                  <m:sup>
                                    <m:f>
                                      <m:fPr>
                                        <m:ctrlPr>
                                          <a:rPr lang="en-ZA" sz="2400" i="1">
                                            <a:solidFill>
                                              <a:srgbClr val="FF0000"/>
                                            </a:solidFill>
                                            <a:effectLst/>
                                            <a:latin typeface="Cambria Math" panose="02040503050406030204" pitchFamily="18" charset="0"/>
                                          </a:rPr>
                                        </m:ctrlPr>
                                      </m:fPr>
                                      <m:num>
                                        <m:r>
                                          <a:rPr lang="sr-Latn-RS" sz="2400">
                                            <a:solidFill>
                                              <a:srgbClr val="FF0000"/>
                                            </a:solidFill>
                                            <a:effectLst/>
                                            <a:latin typeface="Cambria Math" panose="02040503050406030204" pitchFamily="18" charset="0"/>
                                          </a:rPr>
                                          <m:t>4</m:t>
                                        </m:r>
                                        <m:r>
                                          <a:rPr lang="sr-Latn-RS" sz="2400">
                                            <a:solidFill>
                                              <a:srgbClr val="FF0000"/>
                                            </a:solidFill>
                                            <a:effectLst/>
                                            <a:latin typeface="Cambria Math" panose="02040503050406030204" pitchFamily="18" charset="0"/>
                                          </a:rPr>
                                          <m:t>𝜋</m:t>
                                        </m:r>
                                        <m:r>
                                          <a:rPr lang="sr-Latn-RS" sz="2400">
                                            <a:solidFill>
                                              <a:srgbClr val="FF0000"/>
                                            </a:solidFill>
                                            <a:effectLst/>
                                            <a:latin typeface="Cambria Math" panose="02040503050406030204" pitchFamily="18" charset="0"/>
                                          </a:rPr>
                                          <m:t>𝑖</m:t>
                                        </m:r>
                                      </m:num>
                                      <m:den>
                                        <m:r>
                                          <a:rPr lang="sr-Latn-RS" sz="2400">
                                            <a:solidFill>
                                              <a:srgbClr val="FF0000"/>
                                            </a:solidFill>
                                            <a:effectLst/>
                                            <a:latin typeface="Cambria Math" panose="02040503050406030204" pitchFamily="18" charset="0"/>
                                          </a:rPr>
                                          <m:t>5</m:t>
                                        </m:r>
                                      </m:den>
                                    </m:f>
                                  </m:sup>
                                </m:sSup>
                                <m:r>
                                  <a:rPr lang="sr-Latn-RS" sz="2400">
                                    <a:solidFill>
                                      <a:srgbClr val="FF0000"/>
                                    </a:solidFill>
                                    <a:effectLst/>
                                    <a:latin typeface="Cambria Math" panose="02040503050406030204" pitchFamily="18" charset="0"/>
                                  </a:rPr>
                                  <m:t>,</m:t>
                                </m:r>
                                <m:sSup>
                                  <m:sSupPr>
                                    <m:ctrlPr>
                                      <a:rPr lang="en-ZA" sz="2400" i="1">
                                        <a:solidFill>
                                          <a:srgbClr val="FF0000"/>
                                        </a:solidFill>
                                        <a:effectLst/>
                                        <a:latin typeface="Cambria Math" panose="02040503050406030204" pitchFamily="18" charset="0"/>
                                      </a:rPr>
                                    </m:ctrlPr>
                                  </m:sSupPr>
                                  <m:e>
                                    <m:r>
                                      <a:rPr lang="sr-Latn-RS" sz="2400">
                                        <a:solidFill>
                                          <a:srgbClr val="FF0000"/>
                                        </a:solidFill>
                                        <a:effectLst/>
                                        <a:latin typeface="Cambria Math" panose="02040503050406030204" pitchFamily="18" charset="0"/>
                                      </a:rPr>
                                      <m:t>𝑒</m:t>
                                    </m:r>
                                  </m:e>
                                  <m:sup>
                                    <m:f>
                                      <m:fPr>
                                        <m:ctrlPr>
                                          <a:rPr lang="en-ZA" sz="2400" i="1">
                                            <a:solidFill>
                                              <a:srgbClr val="FF0000"/>
                                            </a:solidFill>
                                            <a:effectLst/>
                                            <a:latin typeface="Cambria Math" panose="02040503050406030204" pitchFamily="18" charset="0"/>
                                          </a:rPr>
                                        </m:ctrlPr>
                                      </m:fPr>
                                      <m:num>
                                        <m:r>
                                          <a:rPr lang="sr-Latn-RS" sz="2400">
                                            <a:solidFill>
                                              <a:srgbClr val="FF0000"/>
                                            </a:solidFill>
                                            <a:effectLst/>
                                            <a:latin typeface="Cambria Math" panose="02040503050406030204" pitchFamily="18" charset="0"/>
                                          </a:rPr>
                                          <m:t>−4</m:t>
                                        </m:r>
                                        <m:r>
                                          <a:rPr lang="sr-Latn-RS" sz="2400">
                                            <a:solidFill>
                                              <a:srgbClr val="FF0000"/>
                                            </a:solidFill>
                                            <a:effectLst/>
                                            <a:latin typeface="Cambria Math" panose="02040503050406030204" pitchFamily="18" charset="0"/>
                                          </a:rPr>
                                          <m:t>𝜋</m:t>
                                        </m:r>
                                        <m:r>
                                          <a:rPr lang="sr-Latn-RS" sz="2400">
                                            <a:solidFill>
                                              <a:srgbClr val="FF0000"/>
                                            </a:solidFill>
                                            <a:effectLst/>
                                            <a:latin typeface="Cambria Math" panose="02040503050406030204" pitchFamily="18" charset="0"/>
                                          </a:rPr>
                                          <m:t>𝑖</m:t>
                                        </m:r>
                                      </m:num>
                                      <m:den>
                                        <m:r>
                                          <a:rPr lang="sr-Latn-RS" sz="2400">
                                            <a:solidFill>
                                              <a:srgbClr val="FF0000"/>
                                            </a:solidFill>
                                            <a:effectLst/>
                                            <a:latin typeface="Cambria Math" panose="02040503050406030204" pitchFamily="18" charset="0"/>
                                          </a:rPr>
                                          <m:t>5</m:t>
                                        </m:r>
                                      </m:den>
                                    </m:f>
                                  </m:sup>
                                </m:sSup>
                                <m:r>
                                  <a:rPr lang="sr-Latn-RS" sz="2400">
                                    <a:solidFill>
                                      <a:srgbClr val="FF0000"/>
                                    </a:solidFill>
                                    <a:effectLst/>
                                    <a:latin typeface="Cambria Math" panose="02040503050406030204" pitchFamily="18" charset="0"/>
                                  </a:rPr>
                                  <m:t>,</m:t>
                                </m:r>
                                <m:sSup>
                                  <m:sSupPr>
                                    <m:ctrlPr>
                                      <a:rPr lang="en-ZA" sz="2400" i="1">
                                        <a:solidFill>
                                          <a:srgbClr val="FF0000"/>
                                        </a:solidFill>
                                        <a:effectLst/>
                                        <a:latin typeface="Cambria Math" panose="02040503050406030204" pitchFamily="18" charset="0"/>
                                      </a:rPr>
                                    </m:ctrlPr>
                                  </m:sSupPr>
                                  <m:e>
                                    <m:r>
                                      <a:rPr lang="sr-Latn-RS" sz="2400">
                                        <a:solidFill>
                                          <a:srgbClr val="FF0000"/>
                                        </a:solidFill>
                                        <a:effectLst/>
                                        <a:latin typeface="Cambria Math" panose="02040503050406030204" pitchFamily="18" charset="0"/>
                                      </a:rPr>
                                      <m:t>𝑒</m:t>
                                    </m:r>
                                  </m:e>
                                  <m:sup>
                                    <m:f>
                                      <m:fPr>
                                        <m:ctrlPr>
                                          <a:rPr lang="en-ZA" sz="2400" i="1">
                                            <a:solidFill>
                                              <a:srgbClr val="FF0000"/>
                                            </a:solidFill>
                                            <a:effectLst/>
                                            <a:latin typeface="Cambria Math" panose="02040503050406030204" pitchFamily="18" charset="0"/>
                                          </a:rPr>
                                        </m:ctrlPr>
                                      </m:fPr>
                                      <m:num>
                                        <m:r>
                                          <a:rPr lang="sr-Latn-RS" sz="2400">
                                            <a:solidFill>
                                              <a:srgbClr val="FF0000"/>
                                            </a:solidFill>
                                            <a:effectLst/>
                                            <a:latin typeface="Cambria Math" panose="02040503050406030204" pitchFamily="18" charset="0"/>
                                          </a:rPr>
                                          <m:t>−2</m:t>
                                        </m:r>
                                        <m:r>
                                          <a:rPr lang="sr-Latn-RS" sz="2400">
                                            <a:solidFill>
                                              <a:srgbClr val="FF0000"/>
                                            </a:solidFill>
                                            <a:effectLst/>
                                            <a:latin typeface="Cambria Math" panose="02040503050406030204" pitchFamily="18" charset="0"/>
                                          </a:rPr>
                                          <m:t>𝜋</m:t>
                                        </m:r>
                                        <m:r>
                                          <a:rPr lang="sr-Latn-RS" sz="2400">
                                            <a:solidFill>
                                              <a:srgbClr val="FF0000"/>
                                            </a:solidFill>
                                            <a:effectLst/>
                                            <a:latin typeface="Cambria Math" panose="02040503050406030204" pitchFamily="18" charset="0"/>
                                          </a:rPr>
                                          <m:t>𝑖</m:t>
                                        </m:r>
                                      </m:num>
                                      <m:den>
                                        <m:r>
                                          <a:rPr lang="sr-Latn-RS" sz="2400">
                                            <a:solidFill>
                                              <a:srgbClr val="FF0000"/>
                                            </a:solidFill>
                                            <a:effectLst/>
                                            <a:latin typeface="Cambria Math" panose="02040503050406030204" pitchFamily="18" charset="0"/>
                                          </a:rPr>
                                          <m:t>5</m:t>
                                        </m:r>
                                      </m:den>
                                    </m:f>
                                  </m:sup>
                                </m:sSup>
                              </m:oMath>
                            </m:oMathPara>
                          </a14:m>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08686489"/>
                      </a:ext>
                    </a:extLst>
                  </a:tr>
                  <a:tr h="580245">
                    <a:tc>
                      <a:txBody>
                        <a:bodyPr/>
                        <a:lstStyle/>
                        <a:p>
                          <a:pPr algn="ctr">
                            <a:spcBef>
                              <a:spcPts val="800"/>
                            </a:spcBef>
                            <a:spcAft>
                              <a:spcPts val="300"/>
                            </a:spcAft>
                          </a:pPr>
                          <a:r>
                            <a:rPr lang="sr-Latn-RS" sz="2400" dirty="0">
                              <a:effectLst/>
                            </a:rPr>
                            <a:t>6</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800"/>
                            </a:spcBef>
                            <a:spcAft>
                              <a:spcPts val="300"/>
                            </a:spcAft>
                          </a:pPr>
                          <a14:m>
                            <m:oMathPara xmlns:m="http://schemas.openxmlformats.org/officeDocument/2006/math">
                              <m:oMathParaPr>
                                <m:jc m:val="centerGroup"/>
                              </m:oMathParaPr>
                              <m:oMath xmlns:m="http://schemas.openxmlformats.org/officeDocument/2006/math">
                                <m:sSup>
                                  <m:sSupPr>
                                    <m:ctrlPr>
                                      <a:rPr lang="en-ZA" sz="2400" i="1" smtClean="0">
                                        <a:solidFill>
                                          <a:srgbClr val="FF0000"/>
                                        </a:solidFill>
                                        <a:effectLst/>
                                        <a:latin typeface="Cambria Math" panose="02040503050406030204" pitchFamily="18" charset="0"/>
                                      </a:rPr>
                                    </m:ctrlPr>
                                  </m:sSupPr>
                                  <m:e>
                                    <m:r>
                                      <a:rPr lang="sr-Latn-RS" sz="2400" smtClean="0">
                                        <a:solidFill>
                                          <a:schemeClr val="accent5">
                                            <a:lumMod val="75000"/>
                                          </a:schemeClr>
                                        </a:solidFill>
                                        <a:effectLst/>
                                        <a:latin typeface="Cambria Math" panose="02040503050406030204" pitchFamily="18" charset="0"/>
                                      </a:rPr>
                                      <m:t>1</m:t>
                                    </m:r>
                                    <m:r>
                                      <a:rPr lang="sr-Latn-RS" sz="2400">
                                        <a:solidFill>
                                          <a:srgbClr val="FF0000"/>
                                        </a:solidFill>
                                        <a:effectLst/>
                                        <a:latin typeface="Cambria Math" panose="02040503050406030204" pitchFamily="18" charset="0"/>
                                      </a:rPr>
                                      <m:t>, </m:t>
                                    </m:r>
                                    <m:r>
                                      <a:rPr lang="sr-Latn-RS" sz="2400">
                                        <a:solidFill>
                                          <a:srgbClr val="FF0000"/>
                                        </a:solidFill>
                                        <a:effectLst/>
                                        <a:latin typeface="Cambria Math" panose="02040503050406030204" pitchFamily="18" charset="0"/>
                                      </a:rPr>
                                      <m:t>𝑒</m:t>
                                    </m:r>
                                  </m:e>
                                  <m:sup>
                                    <m:f>
                                      <m:fPr>
                                        <m:ctrlPr>
                                          <a:rPr lang="en-ZA" sz="2400" i="1">
                                            <a:solidFill>
                                              <a:srgbClr val="FF0000"/>
                                            </a:solidFill>
                                            <a:effectLst/>
                                            <a:latin typeface="Cambria Math" panose="02040503050406030204" pitchFamily="18" charset="0"/>
                                          </a:rPr>
                                        </m:ctrlPr>
                                      </m:fPr>
                                      <m:num>
                                        <m:r>
                                          <a:rPr lang="sr-Latn-RS" sz="2400">
                                            <a:solidFill>
                                              <a:srgbClr val="FF0000"/>
                                            </a:solidFill>
                                            <a:effectLst/>
                                            <a:latin typeface="Cambria Math" panose="02040503050406030204" pitchFamily="18" charset="0"/>
                                          </a:rPr>
                                          <m:t>𝜋</m:t>
                                        </m:r>
                                        <m:r>
                                          <a:rPr lang="sr-Latn-RS" sz="2400">
                                            <a:solidFill>
                                              <a:srgbClr val="FF0000"/>
                                            </a:solidFill>
                                            <a:effectLst/>
                                            <a:latin typeface="Cambria Math" panose="02040503050406030204" pitchFamily="18" charset="0"/>
                                          </a:rPr>
                                          <m:t>𝑖</m:t>
                                        </m:r>
                                      </m:num>
                                      <m:den>
                                        <m:r>
                                          <a:rPr lang="sr-Latn-RS" sz="2400">
                                            <a:solidFill>
                                              <a:srgbClr val="FF0000"/>
                                            </a:solidFill>
                                            <a:effectLst/>
                                            <a:latin typeface="Cambria Math" panose="02040503050406030204" pitchFamily="18" charset="0"/>
                                          </a:rPr>
                                          <m:t>3</m:t>
                                        </m:r>
                                      </m:den>
                                    </m:f>
                                  </m:sup>
                                </m:sSup>
                                <m:r>
                                  <a:rPr lang="sr-Latn-RS" sz="2400">
                                    <a:effectLst/>
                                    <a:latin typeface="Cambria Math" panose="02040503050406030204" pitchFamily="18" charset="0"/>
                                  </a:rPr>
                                  <m:t>,</m:t>
                                </m:r>
                                <m:sSup>
                                  <m:sSupPr>
                                    <m:ctrlPr>
                                      <a:rPr lang="en-ZA" sz="2400" i="1" smtClean="0">
                                        <a:solidFill>
                                          <a:srgbClr val="0070C0"/>
                                        </a:solidFill>
                                        <a:effectLst/>
                                        <a:latin typeface="Cambria Math" panose="02040503050406030204" pitchFamily="18" charset="0"/>
                                      </a:rPr>
                                    </m:ctrlPr>
                                  </m:sSupPr>
                                  <m:e>
                                    <m:r>
                                      <a:rPr lang="sr-Latn-RS" sz="2400">
                                        <a:solidFill>
                                          <a:srgbClr val="0070C0"/>
                                        </a:solidFill>
                                        <a:effectLst/>
                                        <a:latin typeface="Cambria Math" panose="02040503050406030204" pitchFamily="18" charset="0"/>
                                      </a:rPr>
                                      <m:t>𝑒</m:t>
                                    </m:r>
                                  </m:e>
                                  <m:sup>
                                    <m:f>
                                      <m:fPr>
                                        <m:ctrlPr>
                                          <a:rPr lang="en-ZA" sz="2400" i="1">
                                            <a:solidFill>
                                              <a:srgbClr val="0070C0"/>
                                            </a:solidFill>
                                            <a:effectLst/>
                                            <a:latin typeface="Cambria Math" panose="02040503050406030204" pitchFamily="18" charset="0"/>
                                          </a:rPr>
                                        </m:ctrlPr>
                                      </m:fPr>
                                      <m:num>
                                        <m:r>
                                          <a:rPr lang="sr-Latn-RS" sz="2400">
                                            <a:solidFill>
                                              <a:srgbClr val="0070C0"/>
                                            </a:solidFill>
                                            <a:effectLst/>
                                            <a:latin typeface="Cambria Math" panose="02040503050406030204" pitchFamily="18" charset="0"/>
                                          </a:rPr>
                                          <m:t>2</m:t>
                                        </m:r>
                                        <m:r>
                                          <a:rPr lang="sr-Latn-RS" sz="2400">
                                            <a:solidFill>
                                              <a:srgbClr val="0070C0"/>
                                            </a:solidFill>
                                            <a:effectLst/>
                                            <a:latin typeface="Cambria Math" panose="02040503050406030204" pitchFamily="18" charset="0"/>
                                          </a:rPr>
                                          <m:t>𝜋</m:t>
                                        </m:r>
                                        <m:r>
                                          <a:rPr lang="sr-Latn-RS" sz="2400">
                                            <a:solidFill>
                                              <a:srgbClr val="0070C0"/>
                                            </a:solidFill>
                                            <a:effectLst/>
                                            <a:latin typeface="Cambria Math" panose="02040503050406030204" pitchFamily="18" charset="0"/>
                                          </a:rPr>
                                          <m:t>𝑖</m:t>
                                        </m:r>
                                      </m:num>
                                      <m:den>
                                        <m:r>
                                          <a:rPr lang="sr-Latn-RS" sz="2400">
                                            <a:solidFill>
                                              <a:srgbClr val="0070C0"/>
                                            </a:solidFill>
                                            <a:effectLst/>
                                            <a:latin typeface="Cambria Math" panose="02040503050406030204" pitchFamily="18" charset="0"/>
                                          </a:rPr>
                                          <m:t>3</m:t>
                                        </m:r>
                                      </m:den>
                                    </m:f>
                                  </m:sup>
                                </m:sSup>
                                <m:r>
                                  <a:rPr lang="sr-Latn-RS" sz="2400">
                                    <a:effectLst/>
                                    <a:latin typeface="Cambria Math" panose="02040503050406030204" pitchFamily="18" charset="0"/>
                                  </a:rPr>
                                  <m:t>,</m:t>
                                </m:r>
                                <m:r>
                                  <a:rPr lang="sr-Latn-RS" sz="2400" smtClean="0">
                                    <a:solidFill>
                                      <a:srgbClr val="0070C0"/>
                                    </a:solidFill>
                                    <a:effectLst/>
                                    <a:latin typeface="Cambria Math" panose="02040503050406030204" pitchFamily="18" charset="0"/>
                                  </a:rPr>
                                  <m:t>−1</m:t>
                                </m:r>
                                <m:r>
                                  <a:rPr lang="sr-Latn-RS" sz="2400">
                                    <a:effectLst/>
                                    <a:latin typeface="Cambria Math" panose="02040503050406030204" pitchFamily="18" charset="0"/>
                                  </a:rPr>
                                  <m:t>,</m:t>
                                </m:r>
                                <m:sSup>
                                  <m:sSupPr>
                                    <m:ctrlPr>
                                      <a:rPr lang="en-ZA" sz="2400" i="1" smtClean="0">
                                        <a:solidFill>
                                          <a:srgbClr val="0070C0"/>
                                        </a:solidFill>
                                        <a:effectLst/>
                                        <a:latin typeface="Cambria Math" panose="02040503050406030204" pitchFamily="18" charset="0"/>
                                      </a:rPr>
                                    </m:ctrlPr>
                                  </m:sSupPr>
                                  <m:e>
                                    <m:r>
                                      <a:rPr lang="sr-Latn-RS" sz="2400">
                                        <a:solidFill>
                                          <a:srgbClr val="0070C0"/>
                                        </a:solidFill>
                                        <a:effectLst/>
                                        <a:latin typeface="Cambria Math" panose="02040503050406030204" pitchFamily="18" charset="0"/>
                                      </a:rPr>
                                      <m:t>𝑒</m:t>
                                    </m:r>
                                  </m:e>
                                  <m:sup>
                                    <m:f>
                                      <m:fPr>
                                        <m:ctrlPr>
                                          <a:rPr lang="en-ZA" sz="2400" i="1">
                                            <a:solidFill>
                                              <a:srgbClr val="0070C0"/>
                                            </a:solidFill>
                                            <a:effectLst/>
                                            <a:latin typeface="Cambria Math" panose="02040503050406030204" pitchFamily="18" charset="0"/>
                                          </a:rPr>
                                        </m:ctrlPr>
                                      </m:fPr>
                                      <m:num>
                                        <m:r>
                                          <a:rPr lang="sr-Latn-RS" sz="2400">
                                            <a:solidFill>
                                              <a:srgbClr val="0070C0"/>
                                            </a:solidFill>
                                            <a:effectLst/>
                                            <a:latin typeface="Cambria Math" panose="02040503050406030204" pitchFamily="18" charset="0"/>
                                          </a:rPr>
                                          <m:t>−2</m:t>
                                        </m:r>
                                        <m:r>
                                          <a:rPr lang="sr-Latn-RS" sz="2400">
                                            <a:solidFill>
                                              <a:srgbClr val="0070C0"/>
                                            </a:solidFill>
                                            <a:effectLst/>
                                            <a:latin typeface="Cambria Math" panose="02040503050406030204" pitchFamily="18" charset="0"/>
                                          </a:rPr>
                                          <m:t>𝜋</m:t>
                                        </m:r>
                                        <m:r>
                                          <a:rPr lang="sr-Latn-RS" sz="2400">
                                            <a:solidFill>
                                              <a:srgbClr val="0070C0"/>
                                            </a:solidFill>
                                            <a:effectLst/>
                                            <a:latin typeface="Cambria Math" panose="02040503050406030204" pitchFamily="18" charset="0"/>
                                          </a:rPr>
                                          <m:t>𝑖</m:t>
                                        </m:r>
                                      </m:num>
                                      <m:den>
                                        <m:r>
                                          <a:rPr lang="sr-Latn-RS" sz="2400">
                                            <a:solidFill>
                                              <a:srgbClr val="0070C0"/>
                                            </a:solidFill>
                                            <a:effectLst/>
                                            <a:latin typeface="Cambria Math" panose="02040503050406030204" pitchFamily="18" charset="0"/>
                                          </a:rPr>
                                          <m:t>3</m:t>
                                        </m:r>
                                      </m:den>
                                    </m:f>
                                  </m:sup>
                                </m:sSup>
                                <m:r>
                                  <a:rPr lang="sr-Latn-RS" sz="2400">
                                    <a:effectLst/>
                                    <a:latin typeface="Cambria Math" panose="02040503050406030204" pitchFamily="18" charset="0"/>
                                  </a:rPr>
                                  <m:t>,</m:t>
                                </m:r>
                                <m:sSup>
                                  <m:sSupPr>
                                    <m:ctrlPr>
                                      <a:rPr lang="en-ZA" sz="2400" i="1" smtClean="0">
                                        <a:solidFill>
                                          <a:srgbClr val="FF0000"/>
                                        </a:solidFill>
                                        <a:effectLst/>
                                        <a:latin typeface="Cambria Math" panose="02040503050406030204" pitchFamily="18" charset="0"/>
                                      </a:rPr>
                                    </m:ctrlPr>
                                  </m:sSupPr>
                                  <m:e>
                                    <m:r>
                                      <a:rPr lang="sr-Latn-RS" sz="2400">
                                        <a:solidFill>
                                          <a:srgbClr val="FF0000"/>
                                        </a:solidFill>
                                        <a:effectLst/>
                                        <a:latin typeface="Cambria Math" panose="02040503050406030204" pitchFamily="18" charset="0"/>
                                      </a:rPr>
                                      <m:t>𝑒</m:t>
                                    </m:r>
                                  </m:e>
                                  <m:sup>
                                    <m:r>
                                      <a:rPr lang="sr-Latn-RS" sz="2400">
                                        <a:solidFill>
                                          <a:srgbClr val="FF0000"/>
                                        </a:solidFill>
                                        <a:effectLst/>
                                        <a:latin typeface="Cambria Math" panose="02040503050406030204" pitchFamily="18" charset="0"/>
                                      </a:rPr>
                                      <m:t>−</m:t>
                                    </m:r>
                                    <m:f>
                                      <m:fPr>
                                        <m:ctrlPr>
                                          <a:rPr lang="en-ZA" sz="2400" i="1">
                                            <a:solidFill>
                                              <a:srgbClr val="FF0000"/>
                                            </a:solidFill>
                                            <a:effectLst/>
                                            <a:latin typeface="Cambria Math" panose="02040503050406030204" pitchFamily="18" charset="0"/>
                                          </a:rPr>
                                        </m:ctrlPr>
                                      </m:fPr>
                                      <m:num>
                                        <m:r>
                                          <a:rPr lang="sr-Latn-RS" sz="2400">
                                            <a:solidFill>
                                              <a:srgbClr val="FF0000"/>
                                            </a:solidFill>
                                            <a:effectLst/>
                                            <a:latin typeface="Cambria Math" panose="02040503050406030204" pitchFamily="18" charset="0"/>
                                          </a:rPr>
                                          <m:t>𝜋</m:t>
                                        </m:r>
                                        <m:r>
                                          <a:rPr lang="sr-Latn-RS" sz="2400">
                                            <a:solidFill>
                                              <a:srgbClr val="FF0000"/>
                                            </a:solidFill>
                                            <a:effectLst/>
                                            <a:latin typeface="Cambria Math" panose="02040503050406030204" pitchFamily="18" charset="0"/>
                                          </a:rPr>
                                          <m:t>𝑖</m:t>
                                        </m:r>
                                      </m:num>
                                      <m:den>
                                        <m:r>
                                          <a:rPr lang="sr-Latn-RS" sz="2400">
                                            <a:solidFill>
                                              <a:srgbClr val="FF0000"/>
                                            </a:solidFill>
                                            <a:effectLst/>
                                            <a:latin typeface="Cambria Math" panose="02040503050406030204" pitchFamily="18" charset="0"/>
                                          </a:rPr>
                                          <m:t>3</m:t>
                                        </m:r>
                                      </m:den>
                                    </m:f>
                                  </m:sup>
                                </m:sSup>
                              </m:oMath>
                            </m:oMathPara>
                          </a14:m>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just">
                            <a:spcBef>
                              <a:spcPts val="800"/>
                            </a:spcBef>
                            <a:spcAft>
                              <a:spcPts val="300"/>
                            </a:spcAft>
                          </a:pPr>
                          <a14:m>
                            <m:oMathPara xmlns:m="http://schemas.openxmlformats.org/officeDocument/2006/math">
                              <m:oMathParaPr>
                                <m:jc m:val="centerGroup"/>
                              </m:oMathParaPr>
                              <m:oMath xmlns:m="http://schemas.openxmlformats.org/officeDocument/2006/math">
                                <m:sSup>
                                  <m:sSupPr>
                                    <m:ctrlPr>
                                      <a:rPr lang="en-ZA" sz="2400" i="1" smtClean="0">
                                        <a:solidFill>
                                          <a:srgbClr val="FF0000"/>
                                        </a:solidFill>
                                        <a:effectLst/>
                                        <a:latin typeface="Cambria Math" panose="02040503050406030204" pitchFamily="18" charset="0"/>
                                      </a:rPr>
                                    </m:ctrlPr>
                                  </m:sSupPr>
                                  <m:e>
                                    <m:r>
                                      <a:rPr lang="sr-Latn-RS" sz="2400">
                                        <a:solidFill>
                                          <a:srgbClr val="FF0000"/>
                                        </a:solidFill>
                                        <a:effectLst/>
                                        <a:latin typeface="Cambria Math" panose="02040503050406030204" pitchFamily="18" charset="0"/>
                                      </a:rPr>
                                      <m:t>𝑒</m:t>
                                    </m:r>
                                  </m:e>
                                  <m:sup>
                                    <m:f>
                                      <m:fPr>
                                        <m:ctrlPr>
                                          <a:rPr lang="en-ZA" sz="2400" i="1">
                                            <a:solidFill>
                                              <a:srgbClr val="FF0000"/>
                                            </a:solidFill>
                                            <a:effectLst/>
                                            <a:latin typeface="Cambria Math" panose="02040503050406030204" pitchFamily="18" charset="0"/>
                                          </a:rPr>
                                        </m:ctrlPr>
                                      </m:fPr>
                                      <m:num>
                                        <m:r>
                                          <a:rPr lang="sr-Latn-RS" sz="2400">
                                            <a:solidFill>
                                              <a:srgbClr val="FF0000"/>
                                            </a:solidFill>
                                            <a:effectLst/>
                                            <a:latin typeface="Cambria Math" panose="02040503050406030204" pitchFamily="18" charset="0"/>
                                          </a:rPr>
                                          <m:t>𝜋</m:t>
                                        </m:r>
                                        <m:r>
                                          <a:rPr lang="sr-Latn-RS" sz="2400">
                                            <a:solidFill>
                                              <a:srgbClr val="FF0000"/>
                                            </a:solidFill>
                                            <a:effectLst/>
                                            <a:latin typeface="Cambria Math" panose="02040503050406030204" pitchFamily="18" charset="0"/>
                                          </a:rPr>
                                          <m:t>𝑖</m:t>
                                        </m:r>
                                      </m:num>
                                      <m:den>
                                        <m:r>
                                          <a:rPr lang="sr-Latn-RS" sz="2400">
                                            <a:solidFill>
                                              <a:srgbClr val="FF0000"/>
                                            </a:solidFill>
                                            <a:effectLst/>
                                            <a:latin typeface="Cambria Math" panose="02040503050406030204" pitchFamily="18" charset="0"/>
                                          </a:rPr>
                                          <m:t>3</m:t>
                                        </m:r>
                                      </m:den>
                                    </m:f>
                                  </m:sup>
                                </m:sSup>
                                <m:r>
                                  <a:rPr lang="sr-Latn-RS" sz="2400">
                                    <a:solidFill>
                                      <a:srgbClr val="FF0000"/>
                                    </a:solidFill>
                                    <a:effectLst/>
                                    <a:latin typeface="Cambria Math" panose="02040503050406030204" pitchFamily="18" charset="0"/>
                                  </a:rPr>
                                  <m:t>,</m:t>
                                </m:r>
                                <m:sSup>
                                  <m:sSupPr>
                                    <m:ctrlPr>
                                      <a:rPr lang="en-ZA" sz="2400" i="1">
                                        <a:solidFill>
                                          <a:srgbClr val="FF0000"/>
                                        </a:solidFill>
                                        <a:effectLst/>
                                        <a:latin typeface="Cambria Math" panose="02040503050406030204" pitchFamily="18" charset="0"/>
                                      </a:rPr>
                                    </m:ctrlPr>
                                  </m:sSupPr>
                                  <m:e>
                                    <m:r>
                                      <a:rPr lang="sr-Latn-RS" sz="2400">
                                        <a:solidFill>
                                          <a:srgbClr val="FF0000"/>
                                        </a:solidFill>
                                        <a:effectLst/>
                                        <a:latin typeface="Cambria Math" panose="02040503050406030204" pitchFamily="18" charset="0"/>
                                      </a:rPr>
                                      <m:t>𝑒</m:t>
                                    </m:r>
                                  </m:e>
                                  <m:sup>
                                    <m:r>
                                      <a:rPr lang="sr-Latn-RS" sz="2400">
                                        <a:solidFill>
                                          <a:srgbClr val="FF0000"/>
                                        </a:solidFill>
                                        <a:effectLst/>
                                        <a:latin typeface="Cambria Math" panose="02040503050406030204" pitchFamily="18" charset="0"/>
                                      </a:rPr>
                                      <m:t>−</m:t>
                                    </m:r>
                                    <m:f>
                                      <m:fPr>
                                        <m:ctrlPr>
                                          <a:rPr lang="en-ZA" sz="2400" i="1">
                                            <a:solidFill>
                                              <a:srgbClr val="FF0000"/>
                                            </a:solidFill>
                                            <a:effectLst/>
                                            <a:latin typeface="Cambria Math" panose="02040503050406030204" pitchFamily="18" charset="0"/>
                                          </a:rPr>
                                        </m:ctrlPr>
                                      </m:fPr>
                                      <m:num>
                                        <m:r>
                                          <a:rPr lang="sr-Latn-RS" sz="2400">
                                            <a:solidFill>
                                              <a:srgbClr val="FF0000"/>
                                            </a:solidFill>
                                            <a:effectLst/>
                                            <a:latin typeface="Cambria Math" panose="02040503050406030204" pitchFamily="18" charset="0"/>
                                          </a:rPr>
                                          <m:t>𝜋</m:t>
                                        </m:r>
                                        <m:r>
                                          <a:rPr lang="sr-Latn-RS" sz="2400">
                                            <a:solidFill>
                                              <a:srgbClr val="FF0000"/>
                                            </a:solidFill>
                                            <a:effectLst/>
                                            <a:latin typeface="Cambria Math" panose="02040503050406030204" pitchFamily="18" charset="0"/>
                                          </a:rPr>
                                          <m:t>𝑖</m:t>
                                        </m:r>
                                      </m:num>
                                      <m:den>
                                        <m:r>
                                          <a:rPr lang="sr-Latn-RS" sz="2400">
                                            <a:solidFill>
                                              <a:srgbClr val="FF0000"/>
                                            </a:solidFill>
                                            <a:effectLst/>
                                            <a:latin typeface="Cambria Math" panose="02040503050406030204" pitchFamily="18" charset="0"/>
                                          </a:rPr>
                                          <m:t>3</m:t>
                                        </m:r>
                                      </m:den>
                                    </m:f>
                                  </m:sup>
                                </m:sSup>
                              </m:oMath>
                            </m:oMathPara>
                          </a14:m>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224894283"/>
                      </a:ext>
                    </a:extLst>
                  </a:tr>
                </a:tbl>
              </a:graphicData>
            </a:graphic>
          </p:graphicFrame>
        </mc:Choice>
        <mc:Fallback xmlns="">
          <p:graphicFrame>
            <p:nvGraphicFramePr>
              <p:cNvPr id="7" name="Table 6">
                <a:extLst>
                  <a:ext uri="{FF2B5EF4-FFF2-40B4-BE49-F238E27FC236}">
                    <a16:creationId xmlns:a16="http://schemas.microsoft.com/office/drawing/2014/main" id="{A405C6B3-B5D8-D241-900D-7FDFD691AFC9}"/>
                  </a:ext>
                </a:extLst>
              </p:cNvPr>
              <p:cNvGraphicFramePr>
                <a:graphicFrameLocks noGrp="1"/>
              </p:cNvGraphicFramePr>
              <p:nvPr>
                <p:extLst>
                  <p:ext uri="{D42A27DB-BD31-4B8C-83A1-F6EECF244321}">
                    <p14:modId xmlns:p14="http://schemas.microsoft.com/office/powerpoint/2010/main" val="2358182872"/>
                  </p:ext>
                </p:extLst>
              </p:nvPr>
            </p:nvGraphicFramePr>
            <p:xfrm>
              <a:off x="4558365" y="1817974"/>
              <a:ext cx="7109779" cy="3507588"/>
            </p:xfrm>
            <a:graphic>
              <a:graphicData uri="http://schemas.openxmlformats.org/drawingml/2006/table">
                <a:tbl>
                  <a:tblPr firstRow="1" firstCol="1" bandRow="1">
                    <a:tableStyleId>{5C22544A-7EE6-4342-B048-85BDC9FD1C3A}</a:tableStyleId>
                  </a:tblPr>
                  <a:tblGrid>
                    <a:gridCol w="487680">
                      <a:extLst>
                        <a:ext uri="{9D8B030D-6E8A-4147-A177-3AD203B41FA5}">
                          <a16:colId xmlns:a16="http://schemas.microsoft.com/office/drawing/2014/main" val="3710722259"/>
                        </a:ext>
                      </a:extLst>
                    </a:gridCol>
                    <a:gridCol w="3430539">
                      <a:extLst>
                        <a:ext uri="{9D8B030D-6E8A-4147-A177-3AD203B41FA5}">
                          <a16:colId xmlns:a16="http://schemas.microsoft.com/office/drawing/2014/main" val="1303432926"/>
                        </a:ext>
                      </a:extLst>
                    </a:gridCol>
                    <a:gridCol w="3191560">
                      <a:extLst>
                        <a:ext uri="{9D8B030D-6E8A-4147-A177-3AD203B41FA5}">
                          <a16:colId xmlns:a16="http://schemas.microsoft.com/office/drawing/2014/main" val="836778258"/>
                        </a:ext>
                      </a:extLst>
                    </a:gridCol>
                  </a:tblGrid>
                  <a:tr h="544226">
                    <a:tc>
                      <a:txBody>
                        <a:bodyPr/>
                        <a:lstStyle/>
                        <a:p>
                          <a:pPr algn="ctr">
                            <a:spcBef>
                              <a:spcPts val="0"/>
                            </a:spcBef>
                            <a:spcAft>
                              <a:spcPts val="0"/>
                            </a:spcAft>
                          </a:pPr>
                          <a:r>
                            <a:rPr lang="sr-Latn-RS" sz="2400" b="0" dirty="0" err="1">
                              <a:effectLst/>
                            </a:rPr>
                            <a:t>n</a:t>
                          </a:r>
                          <a:endParaRPr lang="en-ZA" sz="24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0"/>
                            </a:spcBef>
                            <a:spcAft>
                              <a:spcPts val="0"/>
                            </a:spcAft>
                          </a:pPr>
                          <a:r>
                            <a:rPr lang="en-ZA" sz="2400" b="0" kern="1200" dirty="0">
                              <a:solidFill>
                                <a:schemeClr val="lt1"/>
                              </a:solidFill>
                              <a:latin typeface="+mn-lt"/>
                              <a:ea typeface="+mn-ea"/>
                              <a:cs typeface="+mn-cs"/>
                            </a:rPr>
                            <a:t>roots</a:t>
                          </a:r>
                          <a:endParaRPr lang="en-ZA" sz="24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0"/>
                            </a:spcBef>
                            <a:spcAft>
                              <a:spcPts val="0"/>
                            </a:spcAft>
                          </a:pPr>
                          <a:r>
                            <a:rPr lang="en-ZA" sz="2400" b="0" dirty="0"/>
                            <a:t>primitive</a:t>
                          </a:r>
                          <a:r>
                            <a:rPr lang="sr-Latn-RS" sz="2400" b="0" dirty="0">
                              <a:effectLst/>
                            </a:rPr>
                            <a:t> </a:t>
                          </a:r>
                          <a:r>
                            <a:rPr lang="en-ZA" sz="2400" b="0" kern="1200" dirty="0">
                              <a:solidFill>
                                <a:schemeClr val="lt1"/>
                              </a:solidFill>
                              <a:latin typeface="+mn-lt"/>
                              <a:ea typeface="+mn-ea"/>
                              <a:cs typeface="+mn-cs"/>
                            </a:rPr>
                            <a:t>roots</a:t>
                          </a:r>
                          <a:endParaRPr lang="en-ZA" sz="24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81834030"/>
                      </a:ext>
                    </a:extLst>
                  </a:tr>
                  <a:tr h="404201">
                    <a:tc>
                      <a:txBody>
                        <a:bodyPr/>
                        <a:lstStyle/>
                        <a:p>
                          <a:pPr algn="ctr">
                            <a:spcBef>
                              <a:spcPts val="800"/>
                            </a:spcBef>
                            <a:spcAft>
                              <a:spcPts val="300"/>
                            </a:spcAft>
                          </a:pPr>
                          <a:r>
                            <a:rPr lang="sr-Latn-RS" sz="2400" dirty="0">
                              <a:effectLst/>
                            </a:rPr>
                            <a:t>1</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14022" t="-159375" r="-93727" b="-631250"/>
                          </a:stretch>
                        </a:blipFill>
                      </a:tcPr>
                    </a:tc>
                    <a:tc>
                      <a:txBody>
                        <a:bodyPr/>
                        <a:lstStyle/>
                        <a:p>
                          <a:endParaRPr lang="en-US"/>
                        </a:p>
                      </a:txBody>
                      <a:tcPr marL="68580" marR="68580" marT="0" marB="0">
                        <a:blipFill>
                          <a:blip r:embed="rId3"/>
                          <a:stretch>
                            <a:fillRect l="-122619" t="-159375" r="-794" b="-631250"/>
                          </a:stretch>
                        </a:blipFill>
                      </a:tcPr>
                    </a:tc>
                    <a:extLst>
                      <a:ext uri="{0D108BD9-81ED-4DB2-BD59-A6C34878D82A}">
                        <a16:rowId xmlns:a16="http://schemas.microsoft.com/office/drawing/2014/main" val="1161721341"/>
                      </a:ext>
                    </a:extLst>
                  </a:tr>
                  <a:tr h="404201">
                    <a:tc>
                      <a:txBody>
                        <a:bodyPr/>
                        <a:lstStyle/>
                        <a:p>
                          <a:pPr algn="ctr">
                            <a:spcBef>
                              <a:spcPts val="800"/>
                            </a:spcBef>
                            <a:spcAft>
                              <a:spcPts val="300"/>
                            </a:spcAft>
                          </a:pPr>
                          <a:r>
                            <a:rPr lang="sr-Latn-RS" sz="2400">
                              <a:effectLst/>
                            </a:rPr>
                            <a:t>2</a:t>
                          </a:r>
                          <a:endParaRPr lang="en-ZA" sz="24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14022" t="-259375" r="-93727" b="-531250"/>
                          </a:stretch>
                        </a:blipFill>
                      </a:tcPr>
                    </a:tc>
                    <a:tc>
                      <a:txBody>
                        <a:bodyPr/>
                        <a:lstStyle/>
                        <a:p>
                          <a:endParaRPr lang="en-US"/>
                        </a:p>
                      </a:txBody>
                      <a:tcPr marL="68580" marR="68580" marT="0" marB="0">
                        <a:blipFill>
                          <a:blip r:embed="rId3"/>
                          <a:stretch>
                            <a:fillRect l="-122619" t="-259375" r="-794" b="-531250"/>
                          </a:stretch>
                        </a:blipFill>
                      </a:tcPr>
                    </a:tc>
                    <a:extLst>
                      <a:ext uri="{0D108BD9-81ED-4DB2-BD59-A6C34878D82A}">
                        <a16:rowId xmlns:a16="http://schemas.microsoft.com/office/drawing/2014/main" val="30860616"/>
                      </a:ext>
                    </a:extLst>
                  </a:tr>
                  <a:tr h="583438">
                    <a:tc>
                      <a:txBody>
                        <a:bodyPr/>
                        <a:lstStyle/>
                        <a:p>
                          <a:pPr algn="ctr">
                            <a:spcBef>
                              <a:spcPts val="800"/>
                            </a:spcBef>
                            <a:spcAft>
                              <a:spcPts val="300"/>
                            </a:spcAft>
                          </a:pPr>
                          <a:r>
                            <a:rPr lang="sr-Latn-RS" sz="2400" dirty="0">
                              <a:effectLst/>
                            </a:rPr>
                            <a:t>3</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14022" t="-250000" r="-93727" b="-269565"/>
                          </a:stretch>
                        </a:blipFill>
                      </a:tcPr>
                    </a:tc>
                    <a:tc>
                      <a:txBody>
                        <a:bodyPr/>
                        <a:lstStyle/>
                        <a:p>
                          <a:endParaRPr lang="en-US"/>
                        </a:p>
                      </a:txBody>
                      <a:tcPr marL="68580" marR="68580" marT="0" marB="0">
                        <a:blipFill>
                          <a:blip r:embed="rId3"/>
                          <a:stretch>
                            <a:fillRect l="-122619" t="-250000" r="-794" b="-269565"/>
                          </a:stretch>
                        </a:blipFill>
                      </a:tcPr>
                    </a:tc>
                    <a:extLst>
                      <a:ext uri="{0D108BD9-81ED-4DB2-BD59-A6C34878D82A}">
                        <a16:rowId xmlns:a16="http://schemas.microsoft.com/office/drawing/2014/main" val="228088247"/>
                      </a:ext>
                    </a:extLst>
                  </a:tr>
                  <a:tr h="404201">
                    <a:tc>
                      <a:txBody>
                        <a:bodyPr/>
                        <a:lstStyle/>
                        <a:p>
                          <a:pPr algn="ctr">
                            <a:spcBef>
                              <a:spcPts val="800"/>
                            </a:spcBef>
                            <a:spcAft>
                              <a:spcPts val="300"/>
                            </a:spcAft>
                          </a:pPr>
                          <a:r>
                            <a:rPr lang="sr-Latn-RS" sz="2400" dirty="0">
                              <a:effectLst/>
                            </a:rPr>
                            <a:t>4</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14022" t="-503125" r="-93727" b="-287500"/>
                          </a:stretch>
                        </a:blipFill>
                      </a:tcPr>
                    </a:tc>
                    <a:tc>
                      <a:txBody>
                        <a:bodyPr/>
                        <a:lstStyle/>
                        <a:p>
                          <a:endParaRPr lang="en-US"/>
                        </a:p>
                      </a:txBody>
                      <a:tcPr marL="68580" marR="68580" marT="0" marB="0">
                        <a:blipFill>
                          <a:blip r:embed="rId3"/>
                          <a:stretch>
                            <a:fillRect l="-122619" t="-503125" r="-794" b="-287500"/>
                          </a:stretch>
                        </a:blipFill>
                      </a:tcPr>
                    </a:tc>
                    <a:extLst>
                      <a:ext uri="{0D108BD9-81ED-4DB2-BD59-A6C34878D82A}">
                        <a16:rowId xmlns:a16="http://schemas.microsoft.com/office/drawing/2014/main" val="837504265"/>
                      </a:ext>
                    </a:extLst>
                  </a:tr>
                  <a:tr h="583883">
                    <a:tc>
                      <a:txBody>
                        <a:bodyPr/>
                        <a:lstStyle/>
                        <a:p>
                          <a:pPr algn="ctr">
                            <a:spcBef>
                              <a:spcPts val="800"/>
                            </a:spcBef>
                            <a:spcAft>
                              <a:spcPts val="300"/>
                            </a:spcAft>
                          </a:pPr>
                          <a:r>
                            <a:rPr lang="sr-Latn-RS" sz="2400" dirty="0">
                              <a:effectLst/>
                            </a:rPr>
                            <a:t>5</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14022" t="-419565" r="-93727" b="-100000"/>
                          </a:stretch>
                        </a:blipFill>
                      </a:tcPr>
                    </a:tc>
                    <a:tc>
                      <a:txBody>
                        <a:bodyPr/>
                        <a:lstStyle/>
                        <a:p>
                          <a:endParaRPr lang="en-US"/>
                        </a:p>
                      </a:txBody>
                      <a:tcPr marL="68580" marR="68580" marT="0" marB="0">
                        <a:blipFill>
                          <a:blip r:embed="rId3"/>
                          <a:stretch>
                            <a:fillRect l="-122619" t="-419565" r="-794" b="-100000"/>
                          </a:stretch>
                        </a:blipFill>
                      </a:tcPr>
                    </a:tc>
                    <a:extLst>
                      <a:ext uri="{0D108BD9-81ED-4DB2-BD59-A6C34878D82A}">
                        <a16:rowId xmlns:a16="http://schemas.microsoft.com/office/drawing/2014/main" val="1208686489"/>
                      </a:ext>
                    </a:extLst>
                  </a:tr>
                  <a:tr h="583438">
                    <a:tc>
                      <a:txBody>
                        <a:bodyPr/>
                        <a:lstStyle/>
                        <a:p>
                          <a:pPr algn="ctr">
                            <a:spcBef>
                              <a:spcPts val="800"/>
                            </a:spcBef>
                            <a:spcAft>
                              <a:spcPts val="300"/>
                            </a:spcAft>
                          </a:pPr>
                          <a:r>
                            <a:rPr lang="sr-Latn-RS" sz="2400" dirty="0">
                              <a:effectLst/>
                            </a:rPr>
                            <a:t>6</a:t>
                          </a:r>
                          <a:endParaRPr lang="en-ZA" sz="2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3"/>
                          <a:stretch>
                            <a:fillRect l="-14022" t="-519565" r="-93727"/>
                          </a:stretch>
                        </a:blipFill>
                      </a:tcPr>
                    </a:tc>
                    <a:tc>
                      <a:txBody>
                        <a:bodyPr/>
                        <a:lstStyle/>
                        <a:p>
                          <a:endParaRPr lang="en-US"/>
                        </a:p>
                      </a:txBody>
                      <a:tcPr marL="68580" marR="68580" marT="0" marB="0">
                        <a:blipFill>
                          <a:blip r:embed="rId3"/>
                          <a:stretch>
                            <a:fillRect l="-122619" t="-519565" r="-794"/>
                          </a:stretch>
                        </a:blipFill>
                      </a:tcPr>
                    </a:tc>
                    <a:extLst>
                      <a:ext uri="{0D108BD9-81ED-4DB2-BD59-A6C34878D82A}">
                        <a16:rowId xmlns:a16="http://schemas.microsoft.com/office/drawing/2014/main" val="2224894283"/>
                      </a:ext>
                    </a:extLst>
                  </a:tr>
                </a:tbl>
              </a:graphicData>
            </a:graphic>
          </p:graphicFrame>
        </mc:Fallback>
      </mc:AlternateContent>
    </p:spTree>
    <p:extLst>
      <p:ext uri="{BB962C8B-B14F-4D97-AF65-F5344CB8AC3E}">
        <p14:creationId xmlns:p14="http://schemas.microsoft.com/office/powerpoint/2010/main" val="2579479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 name="Diagram 29">
            <a:extLst>
              <a:ext uri="{FF2B5EF4-FFF2-40B4-BE49-F238E27FC236}">
                <a16:creationId xmlns:a16="http://schemas.microsoft.com/office/drawing/2014/main" id="{FF79D3F3-962F-F74C-BCCE-FD7EE93EBAFE}"/>
              </a:ext>
            </a:extLst>
          </p:cNvPr>
          <p:cNvGraphicFramePr/>
          <p:nvPr>
            <p:extLst/>
          </p:nvPr>
        </p:nvGraphicFramePr>
        <p:xfrm>
          <a:off x="-1555247" y="538010"/>
          <a:ext cx="9022793" cy="6345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6A8D81A3-6A97-D245-BB92-A9C46394D5FD}"/>
              </a:ext>
            </a:extLst>
          </p:cNvPr>
          <p:cNvSpPr>
            <a:spLocks noGrp="1"/>
          </p:cNvSpPr>
          <p:nvPr>
            <p:ph type="title"/>
          </p:nvPr>
        </p:nvSpPr>
        <p:spPr>
          <a:xfrm>
            <a:off x="0" y="0"/>
            <a:ext cx="12192000" cy="928688"/>
          </a:xfrm>
        </p:spPr>
        <p:txBody>
          <a:bodyPr/>
          <a:lstStyle/>
          <a:p>
            <a:r>
              <a:rPr lang="en-ZA" dirty="0"/>
              <a:t>Mathematical Framework</a:t>
            </a:r>
            <a:endParaRPr lang="en-US" dirty="0"/>
          </a:p>
        </p:txBody>
      </p:sp>
      <p:sp>
        <p:nvSpPr>
          <p:cNvPr id="3" name="Slide Number Placeholder 2">
            <a:extLst>
              <a:ext uri="{FF2B5EF4-FFF2-40B4-BE49-F238E27FC236}">
                <a16:creationId xmlns:a16="http://schemas.microsoft.com/office/drawing/2014/main" id="{A6A2E66F-9B1F-414C-8CA9-E8DC5A059005}"/>
              </a:ext>
            </a:extLst>
          </p:cNvPr>
          <p:cNvSpPr>
            <a:spLocks noGrp="1"/>
          </p:cNvSpPr>
          <p:nvPr>
            <p:ph type="sldNum" sz="quarter" idx="12"/>
          </p:nvPr>
        </p:nvSpPr>
        <p:spPr/>
        <p:txBody>
          <a:bodyPr/>
          <a:lstStyle/>
          <a:p>
            <a:fld id="{591A223C-FA10-BC46-A853-03BA373D023C}" type="slidenum">
              <a:rPr lang="en-US" smtClean="0"/>
              <a:t>19</a:t>
            </a:fld>
            <a:endParaRPr lang="en-US"/>
          </a:p>
        </p:txBody>
      </p:sp>
      <p:pic>
        <p:nvPicPr>
          <p:cNvPr id="7" name="Picture 6">
            <a:extLst>
              <a:ext uri="{FF2B5EF4-FFF2-40B4-BE49-F238E27FC236}">
                <a16:creationId xmlns:a16="http://schemas.microsoft.com/office/drawing/2014/main" id="{5DF029A9-E63C-3A4E-A4A6-4BBE0524963F}"/>
              </a:ext>
            </a:extLst>
          </p:cNvPr>
          <p:cNvPicPr>
            <a:picLocks noChangeAspect="1"/>
          </p:cNvPicPr>
          <p:nvPr/>
        </p:nvPicPr>
        <p:blipFill>
          <a:blip r:embed="rId8"/>
          <a:stretch>
            <a:fillRect/>
          </a:stretch>
        </p:blipFill>
        <p:spPr>
          <a:xfrm>
            <a:off x="6533804" y="511883"/>
            <a:ext cx="5410200" cy="4039970"/>
          </a:xfrm>
          <a:prstGeom prst="rect">
            <a:avLst/>
          </a:prstGeom>
        </p:spPr>
      </p:pic>
    </p:spTree>
    <p:extLst>
      <p:ext uri="{BB962C8B-B14F-4D97-AF65-F5344CB8AC3E}">
        <p14:creationId xmlns:p14="http://schemas.microsoft.com/office/powerpoint/2010/main" val="2922403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C541D-1446-A542-B6AC-CEBF484E6F68}"/>
              </a:ext>
            </a:extLst>
          </p:cNvPr>
          <p:cNvSpPr>
            <a:spLocks noGrp="1"/>
          </p:cNvSpPr>
          <p:nvPr>
            <p:ph type="title"/>
          </p:nvPr>
        </p:nvSpPr>
        <p:spPr>
          <a:xfrm>
            <a:off x="0" y="0"/>
            <a:ext cx="12192000" cy="928688"/>
          </a:xfrm>
        </p:spPr>
        <p:txBody>
          <a:bodyPr/>
          <a:lstStyle/>
          <a:p>
            <a:r>
              <a:rPr lang="en-US" dirty="0"/>
              <a:t>Linear algebra</a:t>
            </a:r>
          </a:p>
        </p:txBody>
      </p:sp>
      <p:sp>
        <p:nvSpPr>
          <p:cNvPr id="3" name="Slide Number Placeholder 2">
            <a:extLst>
              <a:ext uri="{FF2B5EF4-FFF2-40B4-BE49-F238E27FC236}">
                <a16:creationId xmlns:a16="http://schemas.microsoft.com/office/drawing/2014/main" id="{C2B75ACA-9AE1-4440-98AE-14B6BBB5C295}"/>
              </a:ext>
            </a:extLst>
          </p:cNvPr>
          <p:cNvSpPr>
            <a:spLocks noGrp="1"/>
          </p:cNvSpPr>
          <p:nvPr>
            <p:ph type="sldNum" sz="quarter" idx="12"/>
          </p:nvPr>
        </p:nvSpPr>
        <p:spPr/>
        <p:txBody>
          <a:bodyPr/>
          <a:lstStyle/>
          <a:p>
            <a:fld id="{591A223C-FA10-BC46-A853-03BA373D023C}" type="slidenum">
              <a:rPr lang="en-US" smtClean="0"/>
              <a:t>20</a:t>
            </a:fld>
            <a:endParaRPr lang="en-US"/>
          </a:p>
        </p:txBody>
      </p:sp>
      <p:sp>
        <p:nvSpPr>
          <p:cNvPr id="4" name="Rectangle 3">
            <a:extLst>
              <a:ext uri="{FF2B5EF4-FFF2-40B4-BE49-F238E27FC236}">
                <a16:creationId xmlns:a16="http://schemas.microsoft.com/office/drawing/2014/main" id="{65EC971B-3E4B-904A-9C37-8152ACE9BADC}"/>
              </a:ext>
            </a:extLst>
          </p:cNvPr>
          <p:cNvSpPr/>
          <p:nvPr/>
        </p:nvSpPr>
        <p:spPr>
          <a:xfrm>
            <a:off x="173777" y="1311624"/>
            <a:ext cx="11678254" cy="830997"/>
          </a:xfrm>
          <a:prstGeom prst="rect">
            <a:avLst/>
          </a:prstGeom>
          <a:solidFill>
            <a:schemeClr val="accent4">
              <a:lumMod val="20000"/>
              <a:lumOff val="80000"/>
            </a:schemeClr>
          </a:solidFill>
        </p:spPr>
        <p:txBody>
          <a:bodyPr wrap="square">
            <a:spAutoFit/>
          </a:bodyPr>
          <a:lstStyle/>
          <a:p>
            <a:pPr algn="ctr"/>
            <a:r>
              <a:rPr lang="en-ZA" sz="2400" dirty="0"/>
              <a:t>Linear algebra is a branch of mathematics that studies vectors, vector spaces, matrices, linear transformations, and linear operators. </a:t>
            </a:r>
            <a:endParaRPr lang="en-US" sz="2400" dirty="0"/>
          </a:p>
        </p:txBody>
      </p:sp>
      <p:grpSp>
        <p:nvGrpSpPr>
          <p:cNvPr id="28" name="Group 27">
            <a:extLst>
              <a:ext uri="{FF2B5EF4-FFF2-40B4-BE49-F238E27FC236}">
                <a16:creationId xmlns:a16="http://schemas.microsoft.com/office/drawing/2014/main" id="{13988AC2-2073-FE43-AE25-57EC17D68045}"/>
              </a:ext>
            </a:extLst>
          </p:cNvPr>
          <p:cNvGrpSpPr/>
          <p:nvPr/>
        </p:nvGrpSpPr>
        <p:grpSpPr>
          <a:xfrm>
            <a:off x="6774311" y="2267285"/>
            <a:ext cx="5396251" cy="2151330"/>
            <a:chOff x="6774311" y="2267285"/>
            <a:chExt cx="5396251" cy="2151330"/>
          </a:xfrm>
        </p:grpSpPr>
        <p:sp>
          <p:nvSpPr>
            <p:cNvPr id="21" name="Rectangle 20">
              <a:extLst>
                <a:ext uri="{FF2B5EF4-FFF2-40B4-BE49-F238E27FC236}">
                  <a16:creationId xmlns:a16="http://schemas.microsoft.com/office/drawing/2014/main" id="{EAA2B119-AF3A-E845-A15A-27D4D95A6151}"/>
                </a:ext>
              </a:extLst>
            </p:cNvPr>
            <p:cNvSpPr/>
            <p:nvPr/>
          </p:nvSpPr>
          <p:spPr>
            <a:xfrm>
              <a:off x="6774311" y="2267285"/>
              <a:ext cx="5348977" cy="215133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25C23B6-EF3C-CD43-8FD2-D714F2940735}"/>
                    </a:ext>
                  </a:extLst>
                </p:cNvPr>
                <p:cNvSpPr txBox="1"/>
                <p:nvPr/>
              </p:nvSpPr>
              <p:spPr>
                <a:xfrm>
                  <a:off x="7124236" y="2325485"/>
                  <a:ext cx="4649126" cy="830997"/>
                </a:xfrm>
                <a:prstGeom prst="rect">
                  <a:avLst/>
                </a:prstGeom>
                <a:noFill/>
              </p:spPr>
              <p:txBody>
                <a:bodyPr wrap="square" rtlCol="0">
                  <a:spAutoFit/>
                </a:bodyPr>
                <a:lstStyle/>
                <a:p>
                  <a:pPr algn="ctr"/>
                  <a:r>
                    <a:rPr lang="en-ZA" sz="2400" dirty="0">
                      <a:latin typeface="+mj-lt"/>
                    </a:rPr>
                    <a:t>A function </a:t>
                  </a:r>
                  <a14:m>
                    <m:oMath xmlns:m="http://schemas.openxmlformats.org/officeDocument/2006/math">
                      <m:r>
                        <a:rPr lang="en-US" sz="2400" b="0" i="1">
                          <a:latin typeface="Cambria Math" panose="02040503050406030204" pitchFamily="18" charset="0"/>
                        </a:rPr>
                        <m:t>𝑓</m:t>
                      </m:r>
                    </m:oMath>
                  </a14:m>
                  <a:r>
                    <a:rPr lang="en-ZA" sz="2400" dirty="0">
                      <a:latin typeface="+mj-lt"/>
                    </a:rPr>
                    <a:t> is linear if it satisfies the following properties</a:t>
                  </a:r>
                  <a:r>
                    <a:rPr lang="en-US" sz="2400" dirty="0">
                      <a:latin typeface="+mj-lt"/>
                    </a:rPr>
                    <a:t>:</a:t>
                  </a:r>
                </a:p>
              </p:txBody>
            </p:sp>
          </mc:Choice>
          <mc:Fallback xmlns="">
            <p:sp>
              <p:nvSpPr>
                <p:cNvPr id="8" name="TextBox 7">
                  <a:extLst>
                    <a:ext uri="{FF2B5EF4-FFF2-40B4-BE49-F238E27FC236}">
                      <a16:creationId xmlns:a16="http://schemas.microsoft.com/office/drawing/2014/main" id="{A25C23B6-EF3C-CD43-8FD2-D714F2940735}"/>
                    </a:ext>
                  </a:extLst>
                </p:cNvPr>
                <p:cNvSpPr txBox="1">
                  <a:spLocks noRot="1" noChangeAspect="1" noMove="1" noResize="1" noEditPoints="1" noAdjustHandles="1" noChangeArrowheads="1" noChangeShapeType="1" noTextEdit="1"/>
                </p:cNvSpPr>
                <p:nvPr/>
              </p:nvSpPr>
              <p:spPr>
                <a:xfrm>
                  <a:off x="7124236" y="2325485"/>
                  <a:ext cx="4649126" cy="830997"/>
                </a:xfrm>
                <a:prstGeom prst="rect">
                  <a:avLst/>
                </a:prstGeom>
                <a:blipFill>
                  <a:blip r:embed="rId4"/>
                  <a:stretch>
                    <a:fillRect t="-2985" b="-134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DCC92F3F-3622-034C-9BFE-C515C07C1066}"/>
                    </a:ext>
                  </a:extLst>
                </p:cNvPr>
                <p:cNvSpPr/>
                <p:nvPr/>
              </p:nvSpPr>
              <p:spPr>
                <a:xfrm>
                  <a:off x="7237554" y="3820295"/>
                  <a:ext cx="221124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𝑎𝑥</m:t>
                            </m:r>
                          </m:e>
                        </m:d>
                        <m:r>
                          <a:rPr lang="en-US" sz="2400" b="0" i="1" smtClean="0">
                            <a:latin typeface="Cambria Math" panose="02040503050406030204" pitchFamily="18" charset="0"/>
                          </a:rPr>
                          <m:t>=</m:t>
                        </m:r>
                        <m:r>
                          <a:rPr lang="en-US" sz="2400" b="0" i="1" smtClean="0">
                            <a:latin typeface="Cambria Math" panose="02040503050406030204" pitchFamily="18" charset="0"/>
                          </a:rPr>
                          <m:t>𝑎𝑓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oMath>
                    </m:oMathPara>
                  </a14:m>
                  <a:endParaRPr lang="en-US" sz="2400" b="0" dirty="0"/>
                </a:p>
              </p:txBody>
            </p:sp>
          </mc:Choice>
          <mc:Fallback xmlns="">
            <p:sp>
              <p:nvSpPr>
                <p:cNvPr id="12" name="Rectangle 11">
                  <a:extLst>
                    <a:ext uri="{FF2B5EF4-FFF2-40B4-BE49-F238E27FC236}">
                      <a16:creationId xmlns:a16="http://schemas.microsoft.com/office/drawing/2014/main" id="{DCC92F3F-3622-034C-9BFE-C515C07C1066}"/>
                    </a:ext>
                  </a:extLst>
                </p:cNvPr>
                <p:cNvSpPr>
                  <a:spLocks noRot="1" noChangeAspect="1" noMove="1" noResize="1" noEditPoints="1" noAdjustHandles="1" noChangeArrowheads="1" noChangeShapeType="1" noTextEdit="1"/>
                </p:cNvSpPr>
                <p:nvPr/>
              </p:nvSpPr>
              <p:spPr>
                <a:xfrm>
                  <a:off x="7237554" y="3820295"/>
                  <a:ext cx="2211246" cy="461665"/>
                </a:xfrm>
                <a:prstGeom prst="rect">
                  <a:avLst/>
                </a:prstGeom>
                <a:blipFill>
                  <a:blip r:embed="rId5"/>
                  <a:stretch>
                    <a:fillRect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8D14007D-5E57-024F-A96D-410374F6F474}"/>
                    </a:ext>
                  </a:extLst>
                </p:cNvPr>
                <p:cNvSpPr/>
                <p:nvPr/>
              </p:nvSpPr>
              <p:spPr>
                <a:xfrm>
                  <a:off x="7222772" y="3293137"/>
                  <a:ext cx="339189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𝑎</m:t>
                            </m:r>
                            <m:r>
                              <a:rPr lang="en-US" sz="2400" b="0" i="1" smtClean="0">
                                <a:latin typeface="Cambria Math" panose="02040503050406030204" pitchFamily="18" charset="0"/>
                              </a:rPr>
                              <m:t>+</m:t>
                            </m:r>
                            <m:r>
                              <a:rPr lang="en-US" sz="2400" b="0" i="1" smtClean="0">
                                <a:latin typeface="Cambria Math" panose="02040503050406030204" pitchFamily="18" charset="0"/>
                              </a:rPr>
                              <m:t>𝑏</m:t>
                            </m:r>
                          </m:e>
                        </m:d>
                        <m:r>
                          <a:rPr lang="en-US" sz="2400" b="0" i="1" smtClean="0">
                            <a:latin typeface="Cambria Math" panose="02040503050406030204" pitchFamily="18" charset="0"/>
                          </a:rPr>
                          <m:t>=</m:t>
                        </m:r>
                        <m:r>
                          <a:rPr lang="en-US" sz="2400" b="0" i="1" smtClean="0">
                            <a:latin typeface="Cambria Math" panose="02040503050406030204" pitchFamily="18" charset="0"/>
                          </a:rPr>
                          <m:t>𝑓</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𝑎</m:t>
                            </m:r>
                          </m:e>
                        </m:d>
                        <m:r>
                          <a:rPr lang="en-US" sz="2400" b="0" i="1" smtClean="0">
                            <a:latin typeface="Cambria Math" panose="02040503050406030204" pitchFamily="18" charset="0"/>
                          </a:rPr>
                          <m:t>+</m:t>
                        </m:r>
                        <m:r>
                          <a:rPr lang="en-US" sz="2400" b="0" i="1" smtClean="0">
                            <a:latin typeface="Cambria Math" panose="02040503050406030204" pitchFamily="18" charset="0"/>
                          </a:rPr>
                          <m:t>𝑓</m:t>
                        </m:r>
                        <m:r>
                          <a:rPr lang="en-US" sz="2400" b="0" i="1" smtClean="0">
                            <a:latin typeface="Cambria Math" panose="02040503050406030204" pitchFamily="18" charset="0"/>
                          </a:rPr>
                          <m:t>(</m:t>
                        </m:r>
                        <m:r>
                          <a:rPr lang="en-US" sz="2400" b="0" i="1" smtClean="0">
                            <a:latin typeface="Cambria Math" panose="02040503050406030204" pitchFamily="18" charset="0"/>
                          </a:rPr>
                          <m:t>𝑏</m:t>
                        </m:r>
                        <m:r>
                          <a:rPr lang="en-US" sz="2400" b="0" i="1" smtClean="0">
                            <a:latin typeface="Cambria Math" panose="02040503050406030204" pitchFamily="18" charset="0"/>
                          </a:rPr>
                          <m:t>)</m:t>
                        </m:r>
                      </m:oMath>
                    </m:oMathPara>
                  </a14:m>
                  <a:endParaRPr lang="en-US" sz="2400" b="0" dirty="0"/>
                </a:p>
              </p:txBody>
            </p:sp>
          </mc:Choice>
          <mc:Fallback xmlns="">
            <p:sp>
              <p:nvSpPr>
                <p:cNvPr id="20" name="Rectangle 19">
                  <a:extLst>
                    <a:ext uri="{FF2B5EF4-FFF2-40B4-BE49-F238E27FC236}">
                      <a16:creationId xmlns:a16="http://schemas.microsoft.com/office/drawing/2014/main" id="{8D14007D-5E57-024F-A96D-410374F6F474}"/>
                    </a:ext>
                  </a:extLst>
                </p:cNvPr>
                <p:cNvSpPr>
                  <a:spLocks noRot="1" noChangeAspect="1" noMove="1" noResize="1" noEditPoints="1" noAdjustHandles="1" noChangeArrowheads="1" noChangeShapeType="1" noTextEdit="1"/>
                </p:cNvSpPr>
                <p:nvPr/>
              </p:nvSpPr>
              <p:spPr>
                <a:xfrm>
                  <a:off x="7222772" y="3293137"/>
                  <a:ext cx="3391891" cy="461665"/>
                </a:xfrm>
                <a:prstGeom prst="rect">
                  <a:avLst/>
                </a:prstGeom>
                <a:blipFill>
                  <a:blip r:embed="rId6"/>
                  <a:stretch>
                    <a:fillRect b="-13158"/>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01A1CD65-258C-A441-8DB9-C625D43E6C00}"/>
                </a:ext>
              </a:extLst>
            </p:cNvPr>
            <p:cNvSpPr txBox="1"/>
            <p:nvPr/>
          </p:nvSpPr>
          <p:spPr>
            <a:xfrm>
              <a:off x="10818910" y="3280985"/>
              <a:ext cx="1351652" cy="461665"/>
            </a:xfrm>
            <a:prstGeom prst="rect">
              <a:avLst/>
            </a:prstGeom>
            <a:noFill/>
          </p:spPr>
          <p:txBody>
            <a:bodyPr wrap="none" rtlCol="0">
              <a:spAutoFit/>
            </a:bodyPr>
            <a:lstStyle/>
            <a:p>
              <a:r>
                <a:rPr lang="en-ZA" sz="2400" dirty="0">
                  <a:latin typeface="+mj-lt"/>
                </a:rPr>
                <a:t>additivity</a:t>
              </a:r>
              <a:endParaRPr lang="en-US" sz="2400" dirty="0">
                <a:solidFill>
                  <a:schemeClr val="tx1">
                    <a:lumMod val="50000"/>
                    <a:lumOff val="50000"/>
                  </a:schemeClr>
                </a:solidFill>
                <a:latin typeface="+mj-lt"/>
              </a:endParaRPr>
            </a:p>
          </p:txBody>
        </p:sp>
        <p:sp>
          <p:nvSpPr>
            <p:cNvPr id="18" name="TextBox 17">
              <a:extLst>
                <a:ext uri="{FF2B5EF4-FFF2-40B4-BE49-F238E27FC236}">
                  <a16:creationId xmlns:a16="http://schemas.microsoft.com/office/drawing/2014/main" id="{8FC06E03-621F-4F42-B1A1-F18F8947458F}"/>
                </a:ext>
              </a:extLst>
            </p:cNvPr>
            <p:cNvSpPr txBox="1"/>
            <p:nvPr/>
          </p:nvSpPr>
          <p:spPr>
            <a:xfrm>
              <a:off x="10330956" y="3812861"/>
              <a:ext cx="1839606" cy="461665"/>
            </a:xfrm>
            <a:prstGeom prst="rect">
              <a:avLst/>
            </a:prstGeom>
            <a:noFill/>
          </p:spPr>
          <p:txBody>
            <a:bodyPr wrap="none" rtlCol="0">
              <a:spAutoFit/>
            </a:bodyPr>
            <a:lstStyle/>
            <a:p>
              <a:r>
                <a:rPr lang="en-ZA" sz="2400" dirty="0">
                  <a:latin typeface="+mj-lt"/>
                </a:rPr>
                <a:t>homogeneity</a:t>
              </a:r>
              <a:endParaRPr lang="en-US" sz="2400" dirty="0">
                <a:solidFill>
                  <a:schemeClr val="tx1">
                    <a:lumMod val="50000"/>
                    <a:lumOff val="50000"/>
                  </a:schemeClr>
                </a:solidFill>
                <a:latin typeface="+mj-lt"/>
              </a:endParaRPr>
            </a:p>
          </p:txBody>
        </p:sp>
        <p:sp>
          <p:nvSpPr>
            <p:cNvPr id="23" name="TextBox 22">
              <a:extLst>
                <a:ext uri="{FF2B5EF4-FFF2-40B4-BE49-F238E27FC236}">
                  <a16:creationId xmlns:a16="http://schemas.microsoft.com/office/drawing/2014/main" id="{88FE1B1D-84E3-A24A-8A73-9A0431241306}"/>
                </a:ext>
              </a:extLst>
            </p:cNvPr>
            <p:cNvSpPr txBox="1"/>
            <p:nvPr/>
          </p:nvSpPr>
          <p:spPr>
            <a:xfrm>
              <a:off x="6787003" y="2372964"/>
              <a:ext cx="490840" cy="369332"/>
            </a:xfrm>
            <a:prstGeom prst="rect">
              <a:avLst/>
            </a:prstGeom>
            <a:noFill/>
          </p:spPr>
          <p:txBody>
            <a:bodyPr wrap="none" rtlCol="0">
              <a:spAutoFit/>
            </a:bodyPr>
            <a:lstStyle/>
            <a:p>
              <a:r>
                <a:rPr lang="en-US" dirty="0"/>
                <a:t>②</a:t>
              </a:r>
            </a:p>
          </p:txBody>
        </p:sp>
      </p:grpSp>
      <p:sp>
        <p:nvSpPr>
          <p:cNvPr id="24" name="TextBox 23">
            <a:extLst>
              <a:ext uri="{FF2B5EF4-FFF2-40B4-BE49-F238E27FC236}">
                <a16:creationId xmlns:a16="http://schemas.microsoft.com/office/drawing/2014/main" id="{EEC1F0A1-47AD-844F-B8DF-CC4E4A98D690}"/>
              </a:ext>
            </a:extLst>
          </p:cNvPr>
          <p:cNvSpPr txBox="1"/>
          <p:nvPr/>
        </p:nvSpPr>
        <p:spPr>
          <a:xfrm>
            <a:off x="83160" y="1357790"/>
            <a:ext cx="490840" cy="369332"/>
          </a:xfrm>
          <a:prstGeom prst="rect">
            <a:avLst/>
          </a:prstGeom>
          <a:noFill/>
        </p:spPr>
        <p:txBody>
          <a:bodyPr wrap="none" rtlCol="0">
            <a:spAutoFit/>
          </a:bodyPr>
          <a:lstStyle/>
          <a:p>
            <a:r>
              <a:rPr lang="en-US" dirty="0"/>
              <a:t>①</a:t>
            </a:r>
          </a:p>
        </p:txBody>
      </p:sp>
      <p:sp>
        <p:nvSpPr>
          <p:cNvPr id="25" name="TextBox 24">
            <a:extLst>
              <a:ext uri="{FF2B5EF4-FFF2-40B4-BE49-F238E27FC236}">
                <a16:creationId xmlns:a16="http://schemas.microsoft.com/office/drawing/2014/main" id="{41284D93-3E0F-5646-BA19-98B2325DED3C}"/>
              </a:ext>
            </a:extLst>
          </p:cNvPr>
          <p:cNvSpPr txBox="1"/>
          <p:nvPr/>
        </p:nvSpPr>
        <p:spPr>
          <a:xfrm>
            <a:off x="-6620683" y="342616"/>
            <a:ext cx="490840" cy="369332"/>
          </a:xfrm>
          <a:prstGeom prst="rect">
            <a:avLst/>
          </a:prstGeom>
          <a:noFill/>
        </p:spPr>
        <p:txBody>
          <a:bodyPr wrap="none" rtlCol="0">
            <a:spAutoFit/>
          </a:bodyPr>
          <a:lstStyle/>
          <a:p>
            <a:r>
              <a:rPr lang="en-US" dirty="0"/>
              <a:t>②</a:t>
            </a:r>
          </a:p>
        </p:txBody>
      </p:sp>
      <p:grpSp>
        <p:nvGrpSpPr>
          <p:cNvPr id="29" name="Group 28">
            <a:extLst>
              <a:ext uri="{FF2B5EF4-FFF2-40B4-BE49-F238E27FC236}">
                <a16:creationId xmlns:a16="http://schemas.microsoft.com/office/drawing/2014/main" id="{BC5551DD-4779-5848-B068-EB725AC8AD62}"/>
              </a:ext>
            </a:extLst>
          </p:cNvPr>
          <p:cNvGrpSpPr/>
          <p:nvPr/>
        </p:nvGrpSpPr>
        <p:grpSpPr>
          <a:xfrm>
            <a:off x="6774311" y="4626010"/>
            <a:ext cx="5423194" cy="2251202"/>
            <a:chOff x="6774311" y="4626010"/>
            <a:chExt cx="5423194" cy="2251202"/>
          </a:xfrm>
        </p:grpSpPr>
        <p:sp>
          <p:nvSpPr>
            <p:cNvPr id="7" name="Rectangle 6">
              <a:extLst>
                <a:ext uri="{FF2B5EF4-FFF2-40B4-BE49-F238E27FC236}">
                  <a16:creationId xmlns:a16="http://schemas.microsoft.com/office/drawing/2014/main" id="{8C853516-24AF-524F-A448-AD6ADA65F730}"/>
                </a:ext>
              </a:extLst>
            </p:cNvPr>
            <p:cNvSpPr/>
            <p:nvPr/>
          </p:nvSpPr>
          <p:spPr>
            <a:xfrm>
              <a:off x="6787003" y="4626010"/>
              <a:ext cx="5348977" cy="173021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F6904FA-A3BE-4A41-8A5F-5897D16BF0F0}"/>
                </a:ext>
              </a:extLst>
            </p:cNvPr>
            <p:cNvSpPr txBox="1"/>
            <p:nvPr/>
          </p:nvSpPr>
          <p:spPr>
            <a:xfrm>
              <a:off x="6827892" y="6415547"/>
              <a:ext cx="3030570" cy="461665"/>
            </a:xfrm>
            <a:prstGeom prst="rect">
              <a:avLst/>
            </a:prstGeom>
            <a:noFill/>
          </p:spPr>
          <p:txBody>
            <a:bodyPr wrap="square" rtlCol="0">
              <a:spAutoFit/>
            </a:bodyPr>
            <a:lstStyle/>
            <a:p>
              <a:r>
                <a:rPr lang="en-US" sz="2400" dirty="0"/>
                <a:t>linear combination</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7B2CAF5-5FAF-FF43-886B-12C73F91D664}"/>
                    </a:ext>
                  </a:extLst>
                </p:cNvPr>
                <p:cNvSpPr txBox="1"/>
                <p:nvPr/>
              </p:nvSpPr>
              <p:spPr>
                <a:xfrm>
                  <a:off x="6964778" y="5696680"/>
                  <a:ext cx="512056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sr-Latn-RS" sz="2400" i="1">
                            <a:latin typeface="Cambria Math" panose="02040503050406030204" pitchFamily="18" charset="0"/>
                          </a:rPr>
                          <m:t>𝑓</m:t>
                        </m:r>
                        <m:d>
                          <m:dPr>
                            <m:ctrlPr>
                              <a:rPr lang="en-ZA" sz="2400" i="1">
                                <a:latin typeface="Cambria Math" panose="02040503050406030204" pitchFamily="18" charset="0"/>
                              </a:rPr>
                            </m:ctrlPr>
                          </m:dP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sSub>
                              <m:sSubPr>
                                <m:ctrlPr>
                                  <a:rPr lang="en-ZA" sz="2400" i="1">
                                    <a:latin typeface="Cambria Math" panose="02040503050406030204" pitchFamily="18" charset="0"/>
                                  </a:rPr>
                                </m:ctrlPr>
                              </m:sSubPr>
                              <m:e>
                                <m:r>
                                  <a:rPr lang="sr-Latn-RS" sz="2400" i="1">
                                    <a:latin typeface="Cambria Math" panose="02040503050406030204" pitchFamily="18" charset="0"/>
                                  </a:rPr>
                                  <m:t>𝑥</m:t>
                                </m:r>
                              </m:e>
                              <m:sub>
                                <m:r>
                                  <a:rPr lang="sr-Latn-RS" sz="2400" i="1">
                                    <a:latin typeface="Cambria Math" panose="02040503050406030204" pitchFamily="18" charset="0"/>
                                  </a:rPr>
                                  <m:t>1</m:t>
                                </m:r>
                              </m:sub>
                            </m:sSub>
                            <m:r>
                              <a:rPr lang="sr-Latn-RS" sz="2400" i="1">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2</m:t>
                                </m:r>
                              </m:sub>
                            </m:sSub>
                            <m:sSub>
                              <m:sSubPr>
                                <m:ctrlPr>
                                  <a:rPr lang="en-ZA" sz="2400" i="1">
                                    <a:latin typeface="Cambria Math" panose="02040503050406030204" pitchFamily="18" charset="0"/>
                                  </a:rPr>
                                </m:ctrlPr>
                              </m:sSubPr>
                              <m:e>
                                <m:r>
                                  <a:rPr lang="sr-Latn-RS" sz="2400" i="1">
                                    <a:latin typeface="Cambria Math" panose="02040503050406030204" pitchFamily="18" charset="0"/>
                                  </a:rPr>
                                  <m:t>𝑥</m:t>
                                </m:r>
                              </m:e>
                              <m:sub>
                                <m:r>
                                  <a:rPr lang="sr-Latn-RS" sz="2400" i="1">
                                    <a:latin typeface="Cambria Math" panose="02040503050406030204" pitchFamily="18" charset="0"/>
                                  </a:rPr>
                                  <m:t>2</m:t>
                                </m:r>
                              </m:sub>
                            </m:sSub>
                          </m:e>
                        </m:d>
                        <m:r>
                          <a:rPr lang="sr-Latn-RS" sz="2400" i="1">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r>
                          <a:rPr lang="sr-Latn-RS" sz="2400" i="1">
                            <a:latin typeface="Cambria Math" panose="02040503050406030204" pitchFamily="18" charset="0"/>
                          </a:rPr>
                          <m:t>𝑓</m:t>
                        </m:r>
                        <m:d>
                          <m:dPr>
                            <m:ctrlPr>
                              <a:rPr lang="en-ZA" sz="2400" i="1">
                                <a:latin typeface="Cambria Math" panose="02040503050406030204" pitchFamily="18" charset="0"/>
                              </a:rPr>
                            </m:ctrlPr>
                          </m:dPr>
                          <m:e>
                            <m:sSub>
                              <m:sSubPr>
                                <m:ctrlPr>
                                  <a:rPr lang="en-ZA" sz="2400" i="1">
                                    <a:latin typeface="Cambria Math" panose="02040503050406030204" pitchFamily="18" charset="0"/>
                                  </a:rPr>
                                </m:ctrlPr>
                              </m:sSubPr>
                              <m:e>
                                <m:r>
                                  <a:rPr lang="sr-Latn-RS" sz="2400" i="1">
                                    <a:latin typeface="Cambria Math" panose="02040503050406030204" pitchFamily="18" charset="0"/>
                                  </a:rPr>
                                  <m:t>𝑥</m:t>
                                </m:r>
                              </m:e>
                              <m:sub>
                                <m:r>
                                  <a:rPr lang="sr-Latn-RS" sz="2400" i="1">
                                    <a:latin typeface="Cambria Math" panose="02040503050406030204" pitchFamily="18" charset="0"/>
                                  </a:rPr>
                                  <m:t>1</m:t>
                                </m:r>
                              </m:sub>
                            </m:sSub>
                          </m:e>
                        </m:d>
                        <m:r>
                          <a:rPr lang="sr-Latn-RS" sz="2400" i="1">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2</m:t>
                            </m:r>
                          </m:sub>
                        </m:sSub>
                        <m:r>
                          <a:rPr lang="sr-Latn-RS" sz="2400" i="1">
                            <a:latin typeface="Cambria Math" panose="02040503050406030204" pitchFamily="18" charset="0"/>
                          </a:rPr>
                          <m:t>𝑓</m:t>
                        </m:r>
                        <m:r>
                          <a:rPr lang="sr-Latn-RS" sz="2400" i="1">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𝑥</m:t>
                            </m:r>
                          </m:e>
                          <m:sub>
                            <m:r>
                              <a:rPr lang="sr-Latn-RS" sz="2400" i="1">
                                <a:latin typeface="Cambria Math" panose="02040503050406030204" pitchFamily="18" charset="0"/>
                              </a:rPr>
                              <m:t>2</m:t>
                            </m:r>
                          </m:sub>
                        </m:sSub>
                        <m:r>
                          <a:rPr lang="sr-Latn-RS" sz="2400" i="1">
                            <a:latin typeface="Cambria Math" panose="02040503050406030204" pitchFamily="18" charset="0"/>
                          </a:rPr>
                          <m:t>)</m:t>
                        </m:r>
                      </m:oMath>
                    </m:oMathPara>
                  </a14:m>
                  <a:endParaRPr lang="en-US" sz="2400" dirty="0"/>
                </a:p>
              </p:txBody>
            </p:sp>
          </mc:Choice>
          <mc:Fallback xmlns="">
            <p:sp>
              <p:nvSpPr>
                <p:cNvPr id="14" name="TextBox 13">
                  <a:extLst>
                    <a:ext uri="{FF2B5EF4-FFF2-40B4-BE49-F238E27FC236}">
                      <a16:creationId xmlns:a16="http://schemas.microsoft.com/office/drawing/2014/main" id="{57B2CAF5-5FAF-FF43-886B-12C73F91D664}"/>
                    </a:ext>
                  </a:extLst>
                </p:cNvPr>
                <p:cNvSpPr txBox="1">
                  <a:spLocks noRot="1" noChangeAspect="1" noMove="1" noResize="1" noEditPoints="1" noAdjustHandles="1" noChangeArrowheads="1" noChangeShapeType="1" noTextEdit="1"/>
                </p:cNvSpPr>
                <p:nvPr/>
              </p:nvSpPr>
              <p:spPr>
                <a:xfrm>
                  <a:off x="6964778" y="5696680"/>
                  <a:ext cx="5120569" cy="461665"/>
                </a:xfrm>
                <a:prstGeom prst="rect">
                  <a:avLst/>
                </a:prstGeom>
                <a:blipFill>
                  <a:blip r:embed="rId7"/>
                  <a:stretch>
                    <a:fillRect b="-16216"/>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47F43797-EB6F-D442-8563-4F9679595DDD}"/>
                </a:ext>
              </a:extLst>
            </p:cNvPr>
            <p:cNvSpPr txBox="1"/>
            <p:nvPr/>
          </p:nvSpPr>
          <p:spPr>
            <a:xfrm>
              <a:off x="6861220" y="4679094"/>
              <a:ext cx="5336285" cy="830997"/>
            </a:xfrm>
            <a:prstGeom prst="rect">
              <a:avLst/>
            </a:prstGeom>
            <a:noFill/>
          </p:spPr>
          <p:txBody>
            <a:bodyPr wrap="square" rtlCol="0">
              <a:spAutoFit/>
            </a:bodyPr>
            <a:lstStyle/>
            <a:p>
              <a:pPr algn="ctr"/>
              <a:r>
                <a:rPr lang="en-ZA" sz="2400" dirty="0">
                  <a:latin typeface="+mj-lt"/>
                </a:rPr>
                <a:t>These two properties together define</a:t>
              </a:r>
            </a:p>
            <a:p>
              <a:pPr algn="ctr"/>
              <a:r>
                <a:rPr lang="en-ZA" sz="2400" dirty="0">
                  <a:latin typeface="+mj-lt"/>
                </a:rPr>
                <a:t>the superposition principle</a:t>
              </a:r>
              <a:endParaRPr lang="en-US" sz="2400" dirty="0">
                <a:latin typeface="+mj-lt"/>
              </a:endParaRPr>
            </a:p>
          </p:txBody>
        </p:sp>
        <p:sp>
          <p:nvSpPr>
            <p:cNvPr id="26" name="TextBox 25">
              <a:extLst>
                <a:ext uri="{FF2B5EF4-FFF2-40B4-BE49-F238E27FC236}">
                  <a16:creationId xmlns:a16="http://schemas.microsoft.com/office/drawing/2014/main" id="{3959D3AB-8870-C14D-BA59-CE5F64956C98}"/>
                </a:ext>
              </a:extLst>
            </p:cNvPr>
            <p:cNvSpPr txBox="1"/>
            <p:nvPr/>
          </p:nvSpPr>
          <p:spPr>
            <a:xfrm>
              <a:off x="6774311" y="4702776"/>
              <a:ext cx="490840" cy="369332"/>
            </a:xfrm>
            <a:prstGeom prst="rect">
              <a:avLst/>
            </a:prstGeom>
            <a:noFill/>
          </p:spPr>
          <p:txBody>
            <a:bodyPr wrap="none" rtlCol="0">
              <a:spAutoFit/>
            </a:bodyPr>
            <a:lstStyle/>
            <a:p>
              <a:r>
                <a:rPr lang="en-US" dirty="0"/>
                <a:t>③</a:t>
              </a:r>
            </a:p>
          </p:txBody>
        </p:sp>
        <p:sp>
          <p:nvSpPr>
            <p:cNvPr id="27" name="Right Brace 26">
              <a:extLst>
                <a:ext uri="{FF2B5EF4-FFF2-40B4-BE49-F238E27FC236}">
                  <a16:creationId xmlns:a16="http://schemas.microsoft.com/office/drawing/2014/main" id="{76D35C68-47D1-2343-9171-562A54CFB957}"/>
                </a:ext>
              </a:extLst>
            </p:cNvPr>
            <p:cNvSpPr/>
            <p:nvPr/>
          </p:nvSpPr>
          <p:spPr>
            <a:xfrm rot="5400000">
              <a:off x="8098722" y="5414631"/>
              <a:ext cx="226579" cy="1656599"/>
            </a:xfrm>
            <a:prstGeom prst="rightBrace">
              <a:avLst>
                <a:gd name="adj1" fmla="val 53956"/>
                <a:gd name="adj2" fmla="val 5044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E8F7A45D-8129-124E-B2CC-83F009D88571}"/>
              </a:ext>
            </a:extLst>
          </p:cNvPr>
          <p:cNvGrpSpPr/>
          <p:nvPr/>
        </p:nvGrpSpPr>
        <p:grpSpPr>
          <a:xfrm>
            <a:off x="-44905" y="2955960"/>
            <a:ext cx="5397500" cy="3340100"/>
            <a:chOff x="-44905" y="2955960"/>
            <a:chExt cx="5397500" cy="3340100"/>
          </a:xfrm>
        </p:grpSpPr>
        <p:pic>
          <p:nvPicPr>
            <p:cNvPr id="10" name="Picture 9">
              <a:extLst>
                <a:ext uri="{FF2B5EF4-FFF2-40B4-BE49-F238E27FC236}">
                  <a16:creationId xmlns:a16="http://schemas.microsoft.com/office/drawing/2014/main" id="{35D6307C-5F84-1B49-8DFB-A9EE3A89DE38}"/>
                </a:ext>
              </a:extLst>
            </p:cNvPr>
            <p:cNvPicPr>
              <a:picLocks noChangeAspect="1"/>
            </p:cNvPicPr>
            <p:nvPr/>
          </p:nvPicPr>
          <p:blipFill>
            <a:blip r:embed="rId8"/>
            <a:stretch>
              <a:fillRect/>
            </a:stretch>
          </p:blipFill>
          <p:spPr>
            <a:xfrm>
              <a:off x="-44905" y="2955960"/>
              <a:ext cx="5397500" cy="3340100"/>
            </a:xfrm>
            <a:prstGeom prst="rect">
              <a:avLst/>
            </a:prstGeom>
          </p:spPr>
        </p:pic>
        <p:pic>
          <p:nvPicPr>
            <p:cNvPr id="31" name="Picture 30">
              <a:extLst>
                <a:ext uri="{FF2B5EF4-FFF2-40B4-BE49-F238E27FC236}">
                  <a16:creationId xmlns:a16="http://schemas.microsoft.com/office/drawing/2014/main" id="{679A1448-0759-3846-805E-652172448F2B}"/>
                </a:ext>
              </a:extLst>
            </p:cNvPr>
            <p:cNvPicPr>
              <a:picLocks noChangeAspect="1"/>
            </p:cNvPicPr>
            <p:nvPr/>
          </p:nvPicPr>
          <p:blipFill>
            <a:blip r:embed="rId9"/>
            <a:stretch>
              <a:fillRect/>
            </a:stretch>
          </p:blipFill>
          <p:spPr>
            <a:xfrm>
              <a:off x="4328067" y="3812861"/>
              <a:ext cx="969504" cy="1436008"/>
            </a:xfrm>
            <a:prstGeom prst="rect">
              <a:avLst/>
            </a:prstGeom>
          </p:spPr>
        </p:pic>
      </p:grpSp>
    </p:spTree>
    <p:extLst>
      <p:ext uri="{BB962C8B-B14F-4D97-AF65-F5344CB8AC3E}">
        <p14:creationId xmlns:p14="http://schemas.microsoft.com/office/powerpoint/2010/main" val="1652069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dissolve">
                                      <p:cBhvr>
                                        <p:cTn id="12" dur="5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dissolve">
                                      <p:cBhvr>
                                        <p:cTn id="1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4E184BC-4F16-D84D-99D7-0DCDF4E7962B}"/>
              </a:ext>
            </a:extLst>
          </p:cNvPr>
          <p:cNvPicPr>
            <a:picLocks noChangeAspect="1"/>
          </p:cNvPicPr>
          <p:nvPr/>
        </p:nvPicPr>
        <p:blipFill>
          <a:blip r:embed="rId3"/>
          <a:stretch>
            <a:fillRect/>
          </a:stretch>
        </p:blipFill>
        <p:spPr>
          <a:xfrm>
            <a:off x="915169" y="1435147"/>
            <a:ext cx="386283" cy="3621403"/>
          </a:xfrm>
          <a:prstGeom prst="rect">
            <a:avLst/>
          </a:prstGeom>
        </p:spPr>
      </p:pic>
      <p:pic>
        <p:nvPicPr>
          <p:cNvPr id="7" name="Picture 6">
            <a:extLst>
              <a:ext uri="{FF2B5EF4-FFF2-40B4-BE49-F238E27FC236}">
                <a16:creationId xmlns:a16="http://schemas.microsoft.com/office/drawing/2014/main" id="{FC45727A-7FF2-214B-8FF2-4C6DA4462CA4}"/>
              </a:ext>
            </a:extLst>
          </p:cNvPr>
          <p:cNvPicPr>
            <a:picLocks noChangeAspect="1"/>
          </p:cNvPicPr>
          <p:nvPr/>
        </p:nvPicPr>
        <p:blipFill>
          <a:blip r:embed="rId4"/>
          <a:stretch>
            <a:fillRect/>
          </a:stretch>
        </p:blipFill>
        <p:spPr>
          <a:xfrm>
            <a:off x="1301451" y="1823096"/>
            <a:ext cx="6278287" cy="3233454"/>
          </a:xfrm>
          <a:prstGeom prst="rect">
            <a:avLst/>
          </a:prstGeom>
        </p:spPr>
      </p:pic>
      <p:sp>
        <p:nvSpPr>
          <p:cNvPr id="2" name="Title 1">
            <a:extLst>
              <a:ext uri="{FF2B5EF4-FFF2-40B4-BE49-F238E27FC236}">
                <a16:creationId xmlns:a16="http://schemas.microsoft.com/office/drawing/2014/main" id="{6A8D81A3-6A97-D245-BB92-A9C46394D5FD}"/>
              </a:ext>
            </a:extLst>
          </p:cNvPr>
          <p:cNvSpPr>
            <a:spLocks noGrp="1"/>
          </p:cNvSpPr>
          <p:nvPr>
            <p:ph type="title"/>
          </p:nvPr>
        </p:nvSpPr>
        <p:spPr>
          <a:xfrm>
            <a:off x="0" y="0"/>
            <a:ext cx="12192000" cy="928688"/>
          </a:xfrm>
        </p:spPr>
        <p:txBody>
          <a:bodyPr/>
          <a:lstStyle/>
          <a:p>
            <a:r>
              <a:rPr lang="en-US" dirty="0"/>
              <a:t>Matrices</a:t>
            </a:r>
          </a:p>
        </p:txBody>
      </p:sp>
      <p:sp>
        <p:nvSpPr>
          <p:cNvPr id="3" name="Slide Number Placeholder 2">
            <a:extLst>
              <a:ext uri="{FF2B5EF4-FFF2-40B4-BE49-F238E27FC236}">
                <a16:creationId xmlns:a16="http://schemas.microsoft.com/office/drawing/2014/main" id="{A6A2E66F-9B1F-414C-8CA9-E8DC5A059005}"/>
              </a:ext>
            </a:extLst>
          </p:cNvPr>
          <p:cNvSpPr>
            <a:spLocks noGrp="1"/>
          </p:cNvSpPr>
          <p:nvPr>
            <p:ph type="sldNum" sz="quarter" idx="12"/>
          </p:nvPr>
        </p:nvSpPr>
        <p:spPr/>
        <p:txBody>
          <a:bodyPr/>
          <a:lstStyle/>
          <a:p>
            <a:fld id="{591A223C-FA10-BC46-A853-03BA373D023C}" type="slidenum">
              <a:rPr lang="en-US" smtClean="0"/>
              <a:t>21</a:t>
            </a:fld>
            <a:endParaRPr lang="en-US"/>
          </a:p>
        </p:txBody>
      </p:sp>
      <p:pic>
        <p:nvPicPr>
          <p:cNvPr id="6" name="Picture 5">
            <a:extLst>
              <a:ext uri="{FF2B5EF4-FFF2-40B4-BE49-F238E27FC236}">
                <a16:creationId xmlns:a16="http://schemas.microsoft.com/office/drawing/2014/main" id="{422F0DBE-0DBE-C84C-AC87-58C1AC56CE8A}"/>
              </a:ext>
            </a:extLst>
          </p:cNvPr>
          <p:cNvPicPr>
            <a:picLocks noChangeAspect="1"/>
          </p:cNvPicPr>
          <p:nvPr/>
        </p:nvPicPr>
        <p:blipFill>
          <a:blip r:embed="rId3"/>
          <a:stretch>
            <a:fillRect/>
          </a:stretch>
        </p:blipFill>
        <p:spPr>
          <a:xfrm>
            <a:off x="7579737" y="1435147"/>
            <a:ext cx="386283" cy="3621403"/>
          </a:xfrm>
          <a:prstGeom prst="rect">
            <a:avLst/>
          </a:prstGeom>
        </p:spPr>
      </p:pic>
      <p:sp>
        <p:nvSpPr>
          <p:cNvPr id="8" name="TextBox 7">
            <a:extLst>
              <a:ext uri="{FF2B5EF4-FFF2-40B4-BE49-F238E27FC236}">
                <a16:creationId xmlns:a16="http://schemas.microsoft.com/office/drawing/2014/main" id="{D0AAA7E0-39D8-4D41-9E06-C45BA0D23342}"/>
              </a:ext>
            </a:extLst>
          </p:cNvPr>
          <p:cNvSpPr txBox="1"/>
          <p:nvPr/>
        </p:nvSpPr>
        <p:spPr>
          <a:xfrm>
            <a:off x="1881744" y="1783268"/>
            <a:ext cx="530915" cy="1015663"/>
          </a:xfrm>
          <a:prstGeom prst="rect">
            <a:avLst/>
          </a:prstGeom>
          <a:noFill/>
        </p:spPr>
        <p:txBody>
          <a:bodyPr wrap="none" rtlCol="0">
            <a:spAutoFit/>
          </a:bodyPr>
          <a:lstStyle/>
          <a:p>
            <a:r>
              <a:rPr lang="en-US" sz="6000" dirty="0">
                <a:latin typeface="Comic Sans MS" panose="030F0902030302020204" pitchFamily="66" charset="0"/>
              </a:rPr>
              <a:t>1</a:t>
            </a:r>
          </a:p>
        </p:txBody>
      </p:sp>
      <p:sp>
        <p:nvSpPr>
          <p:cNvPr id="11" name="TextBox 10">
            <a:extLst>
              <a:ext uri="{FF2B5EF4-FFF2-40B4-BE49-F238E27FC236}">
                <a16:creationId xmlns:a16="http://schemas.microsoft.com/office/drawing/2014/main" id="{B61AECD8-1968-784E-B036-6EA126364C90}"/>
              </a:ext>
            </a:extLst>
          </p:cNvPr>
          <p:cNvSpPr txBox="1"/>
          <p:nvPr/>
        </p:nvSpPr>
        <p:spPr>
          <a:xfrm>
            <a:off x="3354075" y="2529670"/>
            <a:ext cx="530915" cy="1015663"/>
          </a:xfrm>
          <a:prstGeom prst="rect">
            <a:avLst/>
          </a:prstGeom>
          <a:noFill/>
        </p:spPr>
        <p:txBody>
          <a:bodyPr wrap="none" rtlCol="0">
            <a:spAutoFit/>
          </a:bodyPr>
          <a:lstStyle/>
          <a:p>
            <a:r>
              <a:rPr lang="en-US" sz="6000" dirty="0">
                <a:latin typeface="Comic Sans MS" panose="030F0902030302020204" pitchFamily="66" charset="0"/>
              </a:rPr>
              <a:t>1</a:t>
            </a:r>
          </a:p>
        </p:txBody>
      </p:sp>
      <p:sp>
        <p:nvSpPr>
          <p:cNvPr id="12" name="TextBox 11">
            <a:extLst>
              <a:ext uri="{FF2B5EF4-FFF2-40B4-BE49-F238E27FC236}">
                <a16:creationId xmlns:a16="http://schemas.microsoft.com/office/drawing/2014/main" id="{521541D2-AC18-714F-9B39-A9AB516F884A}"/>
              </a:ext>
            </a:extLst>
          </p:cNvPr>
          <p:cNvSpPr txBox="1"/>
          <p:nvPr/>
        </p:nvSpPr>
        <p:spPr>
          <a:xfrm>
            <a:off x="4826406" y="3363997"/>
            <a:ext cx="530915" cy="1015663"/>
          </a:xfrm>
          <a:prstGeom prst="rect">
            <a:avLst/>
          </a:prstGeom>
          <a:noFill/>
        </p:spPr>
        <p:txBody>
          <a:bodyPr wrap="none" rtlCol="0">
            <a:spAutoFit/>
          </a:bodyPr>
          <a:lstStyle/>
          <a:p>
            <a:r>
              <a:rPr lang="en-US" sz="6000" dirty="0">
                <a:latin typeface="Comic Sans MS" panose="030F0902030302020204" pitchFamily="66" charset="0"/>
              </a:rPr>
              <a:t>1</a:t>
            </a:r>
          </a:p>
        </p:txBody>
      </p:sp>
      <p:sp>
        <p:nvSpPr>
          <p:cNvPr id="13" name="TextBox 12">
            <a:extLst>
              <a:ext uri="{FF2B5EF4-FFF2-40B4-BE49-F238E27FC236}">
                <a16:creationId xmlns:a16="http://schemas.microsoft.com/office/drawing/2014/main" id="{686384A0-2B33-A946-84F3-F88DD1A2165D}"/>
              </a:ext>
            </a:extLst>
          </p:cNvPr>
          <p:cNvSpPr txBox="1"/>
          <p:nvPr/>
        </p:nvSpPr>
        <p:spPr>
          <a:xfrm>
            <a:off x="6475078" y="4171423"/>
            <a:ext cx="530915" cy="1015663"/>
          </a:xfrm>
          <a:prstGeom prst="rect">
            <a:avLst/>
          </a:prstGeom>
          <a:noFill/>
        </p:spPr>
        <p:txBody>
          <a:bodyPr wrap="none" rtlCol="0">
            <a:spAutoFit/>
          </a:bodyPr>
          <a:lstStyle/>
          <a:p>
            <a:r>
              <a:rPr lang="en-US" sz="6000" dirty="0">
                <a:latin typeface="Comic Sans MS" panose="030F0902030302020204" pitchFamily="66" charset="0"/>
              </a:rPr>
              <a:t>1</a:t>
            </a:r>
          </a:p>
        </p:txBody>
      </p:sp>
      <p:sp>
        <p:nvSpPr>
          <p:cNvPr id="14" name="TextBox 13">
            <a:extLst>
              <a:ext uri="{FF2B5EF4-FFF2-40B4-BE49-F238E27FC236}">
                <a16:creationId xmlns:a16="http://schemas.microsoft.com/office/drawing/2014/main" id="{DFABE7C6-FC6D-1346-AB21-CF54872FEE3F}"/>
              </a:ext>
            </a:extLst>
          </p:cNvPr>
          <p:cNvSpPr txBox="1"/>
          <p:nvPr/>
        </p:nvSpPr>
        <p:spPr>
          <a:xfrm>
            <a:off x="3230644" y="1702038"/>
            <a:ext cx="654346" cy="1015663"/>
          </a:xfrm>
          <a:prstGeom prst="rect">
            <a:avLst/>
          </a:prstGeom>
          <a:noFill/>
        </p:spPr>
        <p:txBody>
          <a:bodyPr wrap="none" rtlCol="0">
            <a:spAutoFit/>
          </a:bodyPr>
          <a:lstStyle/>
          <a:p>
            <a:r>
              <a:rPr lang="en-US" sz="6000" dirty="0">
                <a:latin typeface="Comic Sans MS" panose="030F0902030302020204" pitchFamily="66" charset="0"/>
              </a:rPr>
              <a:t>0</a:t>
            </a:r>
          </a:p>
        </p:txBody>
      </p:sp>
      <p:sp>
        <p:nvSpPr>
          <p:cNvPr id="15" name="TextBox 14">
            <a:extLst>
              <a:ext uri="{FF2B5EF4-FFF2-40B4-BE49-F238E27FC236}">
                <a16:creationId xmlns:a16="http://schemas.microsoft.com/office/drawing/2014/main" id="{391DF305-8C6F-BA4E-A8B2-B13E8AD4A2E0}"/>
              </a:ext>
            </a:extLst>
          </p:cNvPr>
          <p:cNvSpPr txBox="1"/>
          <p:nvPr/>
        </p:nvSpPr>
        <p:spPr>
          <a:xfrm>
            <a:off x="4826406" y="1762389"/>
            <a:ext cx="654346" cy="1015663"/>
          </a:xfrm>
          <a:prstGeom prst="rect">
            <a:avLst/>
          </a:prstGeom>
          <a:noFill/>
        </p:spPr>
        <p:txBody>
          <a:bodyPr wrap="none" rtlCol="0">
            <a:spAutoFit/>
          </a:bodyPr>
          <a:lstStyle/>
          <a:p>
            <a:r>
              <a:rPr lang="en-US" sz="6000" dirty="0">
                <a:latin typeface="Comic Sans MS" panose="030F0902030302020204" pitchFamily="66" charset="0"/>
              </a:rPr>
              <a:t>0</a:t>
            </a:r>
          </a:p>
        </p:txBody>
      </p:sp>
      <p:sp>
        <p:nvSpPr>
          <p:cNvPr id="16" name="TextBox 15">
            <a:extLst>
              <a:ext uri="{FF2B5EF4-FFF2-40B4-BE49-F238E27FC236}">
                <a16:creationId xmlns:a16="http://schemas.microsoft.com/office/drawing/2014/main" id="{89AC515F-8107-6440-90BC-B1E5F566A4CF}"/>
              </a:ext>
            </a:extLst>
          </p:cNvPr>
          <p:cNvSpPr txBox="1"/>
          <p:nvPr/>
        </p:nvSpPr>
        <p:spPr>
          <a:xfrm>
            <a:off x="6422168" y="1822740"/>
            <a:ext cx="654346" cy="1015663"/>
          </a:xfrm>
          <a:prstGeom prst="rect">
            <a:avLst/>
          </a:prstGeom>
          <a:noFill/>
        </p:spPr>
        <p:txBody>
          <a:bodyPr wrap="none" rtlCol="0">
            <a:spAutoFit/>
          </a:bodyPr>
          <a:lstStyle/>
          <a:p>
            <a:r>
              <a:rPr lang="en-US" sz="6000" dirty="0">
                <a:latin typeface="Comic Sans MS" panose="030F0902030302020204" pitchFamily="66" charset="0"/>
              </a:rPr>
              <a:t>0</a:t>
            </a:r>
          </a:p>
        </p:txBody>
      </p:sp>
      <p:sp>
        <p:nvSpPr>
          <p:cNvPr id="17" name="TextBox 16">
            <a:extLst>
              <a:ext uri="{FF2B5EF4-FFF2-40B4-BE49-F238E27FC236}">
                <a16:creationId xmlns:a16="http://schemas.microsoft.com/office/drawing/2014/main" id="{D6F99E16-E513-1B4F-A846-C6A364B9AF14}"/>
              </a:ext>
            </a:extLst>
          </p:cNvPr>
          <p:cNvSpPr txBox="1"/>
          <p:nvPr/>
        </p:nvSpPr>
        <p:spPr>
          <a:xfrm>
            <a:off x="1745879" y="2524468"/>
            <a:ext cx="654346" cy="1015663"/>
          </a:xfrm>
          <a:prstGeom prst="rect">
            <a:avLst/>
          </a:prstGeom>
          <a:noFill/>
        </p:spPr>
        <p:txBody>
          <a:bodyPr wrap="none" rtlCol="0">
            <a:spAutoFit/>
          </a:bodyPr>
          <a:lstStyle/>
          <a:p>
            <a:r>
              <a:rPr lang="en-US" sz="6000" dirty="0">
                <a:latin typeface="Comic Sans MS" panose="030F0902030302020204" pitchFamily="66" charset="0"/>
              </a:rPr>
              <a:t>0</a:t>
            </a:r>
          </a:p>
        </p:txBody>
      </p:sp>
      <p:sp>
        <p:nvSpPr>
          <p:cNvPr id="18" name="TextBox 17">
            <a:extLst>
              <a:ext uri="{FF2B5EF4-FFF2-40B4-BE49-F238E27FC236}">
                <a16:creationId xmlns:a16="http://schemas.microsoft.com/office/drawing/2014/main" id="{EEEC9A27-2FFC-E446-8FF2-087F11DA10C4}"/>
              </a:ext>
            </a:extLst>
          </p:cNvPr>
          <p:cNvSpPr txBox="1"/>
          <p:nvPr/>
        </p:nvSpPr>
        <p:spPr>
          <a:xfrm>
            <a:off x="1694852" y="3356958"/>
            <a:ext cx="654346" cy="1015663"/>
          </a:xfrm>
          <a:prstGeom prst="rect">
            <a:avLst/>
          </a:prstGeom>
          <a:noFill/>
        </p:spPr>
        <p:txBody>
          <a:bodyPr wrap="none" rtlCol="0">
            <a:spAutoFit/>
          </a:bodyPr>
          <a:lstStyle/>
          <a:p>
            <a:r>
              <a:rPr lang="en-US" sz="6000" dirty="0">
                <a:latin typeface="Comic Sans MS" panose="030F0902030302020204" pitchFamily="66" charset="0"/>
              </a:rPr>
              <a:t>0</a:t>
            </a:r>
          </a:p>
        </p:txBody>
      </p:sp>
      <p:sp>
        <p:nvSpPr>
          <p:cNvPr id="19" name="TextBox 18">
            <a:extLst>
              <a:ext uri="{FF2B5EF4-FFF2-40B4-BE49-F238E27FC236}">
                <a16:creationId xmlns:a16="http://schemas.microsoft.com/office/drawing/2014/main" id="{DABE4960-EA5C-8C41-83C9-64CF3DED392B}"/>
              </a:ext>
            </a:extLst>
          </p:cNvPr>
          <p:cNvSpPr txBox="1"/>
          <p:nvPr/>
        </p:nvSpPr>
        <p:spPr>
          <a:xfrm>
            <a:off x="1659673" y="4148291"/>
            <a:ext cx="654346" cy="1015663"/>
          </a:xfrm>
          <a:prstGeom prst="rect">
            <a:avLst/>
          </a:prstGeom>
          <a:noFill/>
        </p:spPr>
        <p:txBody>
          <a:bodyPr wrap="none" rtlCol="0">
            <a:spAutoFit/>
          </a:bodyPr>
          <a:lstStyle/>
          <a:p>
            <a:r>
              <a:rPr lang="en-US" sz="6000" dirty="0">
                <a:latin typeface="Comic Sans MS" panose="030F0902030302020204" pitchFamily="66" charset="0"/>
              </a:rPr>
              <a:t>0</a:t>
            </a:r>
          </a:p>
        </p:txBody>
      </p:sp>
      <p:sp>
        <p:nvSpPr>
          <p:cNvPr id="20" name="TextBox 19">
            <a:extLst>
              <a:ext uri="{FF2B5EF4-FFF2-40B4-BE49-F238E27FC236}">
                <a16:creationId xmlns:a16="http://schemas.microsoft.com/office/drawing/2014/main" id="{634ADA07-D657-4142-906F-CAAA609366E7}"/>
              </a:ext>
            </a:extLst>
          </p:cNvPr>
          <p:cNvSpPr txBox="1"/>
          <p:nvPr/>
        </p:nvSpPr>
        <p:spPr>
          <a:xfrm>
            <a:off x="3255435" y="4148291"/>
            <a:ext cx="654346" cy="1015663"/>
          </a:xfrm>
          <a:prstGeom prst="rect">
            <a:avLst/>
          </a:prstGeom>
          <a:noFill/>
        </p:spPr>
        <p:txBody>
          <a:bodyPr wrap="none" rtlCol="0">
            <a:spAutoFit/>
          </a:bodyPr>
          <a:lstStyle/>
          <a:p>
            <a:r>
              <a:rPr lang="en-US" sz="6000" dirty="0">
                <a:latin typeface="Comic Sans MS" panose="030F0902030302020204" pitchFamily="66" charset="0"/>
              </a:rPr>
              <a:t>0</a:t>
            </a:r>
          </a:p>
        </p:txBody>
      </p:sp>
      <p:sp>
        <p:nvSpPr>
          <p:cNvPr id="21" name="TextBox 20">
            <a:extLst>
              <a:ext uri="{FF2B5EF4-FFF2-40B4-BE49-F238E27FC236}">
                <a16:creationId xmlns:a16="http://schemas.microsoft.com/office/drawing/2014/main" id="{1D278AAC-F490-A94B-833A-3AE828C91D41}"/>
              </a:ext>
            </a:extLst>
          </p:cNvPr>
          <p:cNvSpPr txBox="1"/>
          <p:nvPr/>
        </p:nvSpPr>
        <p:spPr>
          <a:xfrm>
            <a:off x="4851197" y="4148291"/>
            <a:ext cx="654346" cy="1015663"/>
          </a:xfrm>
          <a:prstGeom prst="rect">
            <a:avLst/>
          </a:prstGeom>
          <a:noFill/>
        </p:spPr>
        <p:txBody>
          <a:bodyPr wrap="none" rtlCol="0">
            <a:spAutoFit/>
          </a:bodyPr>
          <a:lstStyle/>
          <a:p>
            <a:r>
              <a:rPr lang="en-US" sz="6000" dirty="0">
                <a:latin typeface="Comic Sans MS" panose="030F0902030302020204" pitchFamily="66" charset="0"/>
              </a:rPr>
              <a:t>0</a:t>
            </a:r>
          </a:p>
        </p:txBody>
      </p:sp>
      <p:sp>
        <p:nvSpPr>
          <p:cNvPr id="22" name="TextBox 21">
            <a:extLst>
              <a:ext uri="{FF2B5EF4-FFF2-40B4-BE49-F238E27FC236}">
                <a16:creationId xmlns:a16="http://schemas.microsoft.com/office/drawing/2014/main" id="{3CDB139F-68EC-3A41-A2C5-4727D19B54C0}"/>
              </a:ext>
            </a:extLst>
          </p:cNvPr>
          <p:cNvSpPr txBox="1"/>
          <p:nvPr/>
        </p:nvSpPr>
        <p:spPr>
          <a:xfrm>
            <a:off x="3301686" y="3299960"/>
            <a:ext cx="654346" cy="1015663"/>
          </a:xfrm>
          <a:prstGeom prst="rect">
            <a:avLst/>
          </a:prstGeom>
          <a:noFill/>
        </p:spPr>
        <p:txBody>
          <a:bodyPr wrap="none" rtlCol="0">
            <a:spAutoFit/>
          </a:bodyPr>
          <a:lstStyle/>
          <a:p>
            <a:r>
              <a:rPr lang="en-US" sz="6000" dirty="0">
                <a:latin typeface="Comic Sans MS" panose="030F0902030302020204" pitchFamily="66" charset="0"/>
              </a:rPr>
              <a:t>0</a:t>
            </a:r>
          </a:p>
        </p:txBody>
      </p:sp>
      <p:sp>
        <p:nvSpPr>
          <p:cNvPr id="23" name="TextBox 22">
            <a:extLst>
              <a:ext uri="{FF2B5EF4-FFF2-40B4-BE49-F238E27FC236}">
                <a16:creationId xmlns:a16="http://schemas.microsoft.com/office/drawing/2014/main" id="{5211EE15-036D-0C48-B1B7-3EB56DFC94F8}"/>
              </a:ext>
            </a:extLst>
          </p:cNvPr>
          <p:cNvSpPr txBox="1"/>
          <p:nvPr/>
        </p:nvSpPr>
        <p:spPr>
          <a:xfrm>
            <a:off x="4821886" y="2538752"/>
            <a:ext cx="654346" cy="1015663"/>
          </a:xfrm>
          <a:prstGeom prst="rect">
            <a:avLst/>
          </a:prstGeom>
          <a:noFill/>
        </p:spPr>
        <p:txBody>
          <a:bodyPr wrap="none" rtlCol="0">
            <a:spAutoFit/>
          </a:bodyPr>
          <a:lstStyle/>
          <a:p>
            <a:r>
              <a:rPr lang="en-US" sz="6000" dirty="0">
                <a:latin typeface="Comic Sans MS" panose="030F0902030302020204" pitchFamily="66" charset="0"/>
              </a:rPr>
              <a:t>0</a:t>
            </a:r>
          </a:p>
        </p:txBody>
      </p:sp>
      <p:sp>
        <p:nvSpPr>
          <p:cNvPr id="24" name="TextBox 23">
            <a:extLst>
              <a:ext uri="{FF2B5EF4-FFF2-40B4-BE49-F238E27FC236}">
                <a16:creationId xmlns:a16="http://schemas.microsoft.com/office/drawing/2014/main" id="{1CD427F7-DF77-9E4F-900E-8A2F2B391C47}"/>
              </a:ext>
            </a:extLst>
          </p:cNvPr>
          <p:cNvSpPr txBox="1"/>
          <p:nvPr/>
        </p:nvSpPr>
        <p:spPr>
          <a:xfrm>
            <a:off x="6392857" y="2587400"/>
            <a:ext cx="654346" cy="1015663"/>
          </a:xfrm>
          <a:prstGeom prst="rect">
            <a:avLst/>
          </a:prstGeom>
          <a:noFill/>
        </p:spPr>
        <p:txBody>
          <a:bodyPr wrap="none" rtlCol="0">
            <a:spAutoFit/>
          </a:bodyPr>
          <a:lstStyle/>
          <a:p>
            <a:r>
              <a:rPr lang="en-US" sz="6000" dirty="0">
                <a:latin typeface="Comic Sans MS" panose="030F0902030302020204" pitchFamily="66" charset="0"/>
              </a:rPr>
              <a:t>0</a:t>
            </a:r>
          </a:p>
        </p:txBody>
      </p:sp>
      <p:sp>
        <p:nvSpPr>
          <p:cNvPr id="25" name="TextBox 24">
            <a:extLst>
              <a:ext uri="{FF2B5EF4-FFF2-40B4-BE49-F238E27FC236}">
                <a16:creationId xmlns:a16="http://schemas.microsoft.com/office/drawing/2014/main" id="{331B2471-7BD5-CF48-B88B-6F275B0497BA}"/>
              </a:ext>
            </a:extLst>
          </p:cNvPr>
          <p:cNvSpPr txBox="1"/>
          <p:nvPr/>
        </p:nvSpPr>
        <p:spPr>
          <a:xfrm>
            <a:off x="6363546" y="3356958"/>
            <a:ext cx="654346" cy="1015663"/>
          </a:xfrm>
          <a:prstGeom prst="rect">
            <a:avLst/>
          </a:prstGeom>
          <a:noFill/>
        </p:spPr>
        <p:txBody>
          <a:bodyPr wrap="none" rtlCol="0">
            <a:spAutoFit/>
          </a:bodyPr>
          <a:lstStyle/>
          <a:p>
            <a:r>
              <a:rPr lang="en-US" sz="6000" dirty="0">
                <a:latin typeface="Comic Sans MS" panose="030F0902030302020204" pitchFamily="66" charset="0"/>
              </a:rPr>
              <a:t>0</a:t>
            </a:r>
          </a:p>
        </p:txBody>
      </p:sp>
      <p:pic>
        <p:nvPicPr>
          <p:cNvPr id="4" name="Picture 3">
            <a:extLst>
              <a:ext uri="{FF2B5EF4-FFF2-40B4-BE49-F238E27FC236}">
                <a16:creationId xmlns:a16="http://schemas.microsoft.com/office/drawing/2014/main" id="{427C0BAB-0E44-F24F-9A64-398001A50237}"/>
              </a:ext>
            </a:extLst>
          </p:cNvPr>
          <p:cNvPicPr>
            <a:picLocks noChangeAspect="1"/>
          </p:cNvPicPr>
          <p:nvPr/>
        </p:nvPicPr>
        <p:blipFill>
          <a:blip r:embed="rId5"/>
          <a:stretch>
            <a:fillRect/>
          </a:stretch>
        </p:blipFill>
        <p:spPr>
          <a:xfrm>
            <a:off x="6720030" y="752481"/>
            <a:ext cx="5270500" cy="5575300"/>
          </a:xfrm>
          <a:prstGeom prst="rect">
            <a:avLst/>
          </a:prstGeom>
        </p:spPr>
      </p:pic>
    </p:spTree>
    <p:extLst>
      <p:ext uri="{BB962C8B-B14F-4D97-AF65-F5344CB8AC3E}">
        <p14:creationId xmlns:p14="http://schemas.microsoft.com/office/powerpoint/2010/main" val="2422871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C9113-B4F6-BA48-A996-579B47807B26}"/>
              </a:ext>
            </a:extLst>
          </p:cNvPr>
          <p:cNvSpPr>
            <a:spLocks noGrp="1"/>
          </p:cNvSpPr>
          <p:nvPr>
            <p:ph type="title"/>
          </p:nvPr>
        </p:nvSpPr>
        <p:spPr>
          <a:xfrm>
            <a:off x="0" y="0"/>
            <a:ext cx="12192000" cy="928688"/>
          </a:xfrm>
        </p:spPr>
        <p:txBody>
          <a:bodyPr/>
          <a:lstStyle/>
          <a:p>
            <a:r>
              <a:rPr lang="en-US" dirty="0"/>
              <a:t>Matrix</a:t>
            </a:r>
          </a:p>
        </p:txBody>
      </p:sp>
      <p:sp>
        <p:nvSpPr>
          <p:cNvPr id="3" name="Slide Number Placeholder 2">
            <a:extLst>
              <a:ext uri="{FF2B5EF4-FFF2-40B4-BE49-F238E27FC236}">
                <a16:creationId xmlns:a16="http://schemas.microsoft.com/office/drawing/2014/main" id="{FA9E3C27-BFBC-B441-98AC-04218442D711}"/>
              </a:ext>
            </a:extLst>
          </p:cNvPr>
          <p:cNvSpPr>
            <a:spLocks noGrp="1"/>
          </p:cNvSpPr>
          <p:nvPr>
            <p:ph type="sldNum" sz="quarter" idx="12"/>
          </p:nvPr>
        </p:nvSpPr>
        <p:spPr/>
        <p:txBody>
          <a:bodyPr/>
          <a:lstStyle/>
          <a:p>
            <a:fld id="{591A223C-FA10-BC46-A853-03BA373D023C}" type="slidenum">
              <a:rPr lang="en-US" smtClean="0"/>
              <a:t>22</a:t>
            </a:fld>
            <a:endParaRPr lang="en-US"/>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10C3A771-9E7B-0B47-A05F-51FF22147E4A}"/>
                  </a:ext>
                </a:extLst>
              </p:cNvPr>
              <p:cNvSpPr/>
              <p:nvPr/>
            </p:nvSpPr>
            <p:spPr>
              <a:xfrm>
                <a:off x="178252" y="1008157"/>
                <a:ext cx="11440007" cy="1015663"/>
              </a:xfrm>
              <a:prstGeom prst="rect">
                <a:avLst/>
              </a:prstGeom>
              <a:noFill/>
            </p:spPr>
            <p:txBody>
              <a:bodyPr wrap="square">
                <a:spAutoFit/>
              </a:bodyPr>
              <a:lstStyle/>
              <a:p>
                <a:pPr algn="ctr"/>
                <a:r>
                  <a:rPr lang="en-ZA" sz="2000" dirty="0"/>
                  <a:t>A matrix is a is a rectangular array or table of numbers, symbols or expressions organized into horizontal rows and vertical columns. </a:t>
                </a:r>
                <a:r>
                  <a:rPr lang="en-US" sz="2000" dirty="0"/>
                  <a:t>The format of a matrix is given as </a:t>
                </a:r>
                <a14:m>
                  <m:oMath xmlns:m="http://schemas.openxmlformats.org/officeDocument/2006/math">
                    <m:r>
                      <a:rPr lang="en-US" sz="2000" b="0" i="1" smtClean="0">
                        <a:latin typeface="Cambria Math" panose="02040503050406030204" pitchFamily="18" charset="0"/>
                      </a:rPr>
                      <m:t>𝑚</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𝑛</m:t>
                    </m:r>
                  </m:oMath>
                </a14:m>
                <a:r>
                  <a:rPr lang="en-US" sz="2000" dirty="0"/>
                  <a:t>, where: </a:t>
                </a:r>
                <a14:m>
                  <m:oMath xmlns:m="http://schemas.openxmlformats.org/officeDocument/2006/math">
                    <m:r>
                      <a:rPr lang="en-US" sz="2000" b="0" i="1" smtClean="0">
                        <a:latin typeface="Cambria Math" panose="02040503050406030204" pitchFamily="18" charset="0"/>
                        <a:ea typeface="Cambria Math" panose="02040503050406030204" pitchFamily="18" charset="0"/>
                      </a:rPr>
                      <m:t>𝑚</m:t>
                    </m:r>
                  </m:oMath>
                </a14:m>
                <a:r>
                  <a:rPr lang="en-US" sz="2000" dirty="0"/>
                  <a:t> is the number of rows, and </a:t>
                </a:r>
                <a14:m>
                  <m:oMath xmlns:m="http://schemas.openxmlformats.org/officeDocument/2006/math">
                    <m:r>
                      <a:rPr lang="en-US" sz="2000" i="1">
                        <a:latin typeface="Cambria Math" panose="02040503050406030204" pitchFamily="18" charset="0"/>
                        <a:ea typeface="Cambria Math" panose="02040503050406030204" pitchFamily="18" charset="0"/>
                      </a:rPr>
                      <m:t>𝑛</m:t>
                    </m:r>
                  </m:oMath>
                </a14:m>
                <a:r>
                  <a:rPr lang="en-US" sz="2000" dirty="0"/>
                  <a:t> is the number of columns.</a:t>
                </a:r>
              </a:p>
            </p:txBody>
          </p:sp>
        </mc:Choice>
        <mc:Fallback xmlns="">
          <p:sp>
            <p:nvSpPr>
              <p:cNvPr id="4" name="Rectangle 3">
                <a:extLst>
                  <a:ext uri="{FF2B5EF4-FFF2-40B4-BE49-F238E27FC236}">
                    <a16:creationId xmlns:a16="http://schemas.microsoft.com/office/drawing/2014/main" id="{10C3A771-9E7B-0B47-A05F-51FF22147E4A}"/>
                  </a:ext>
                </a:extLst>
              </p:cNvPr>
              <p:cNvSpPr>
                <a:spLocks noRot="1" noChangeAspect="1" noMove="1" noResize="1" noEditPoints="1" noAdjustHandles="1" noChangeArrowheads="1" noChangeShapeType="1" noTextEdit="1"/>
              </p:cNvSpPr>
              <p:nvPr/>
            </p:nvSpPr>
            <p:spPr>
              <a:xfrm>
                <a:off x="178252" y="1008157"/>
                <a:ext cx="11440007" cy="1015663"/>
              </a:xfrm>
              <a:prstGeom prst="rect">
                <a:avLst/>
              </a:prstGeom>
              <a:blipFill>
                <a:blip r:embed="rId3"/>
                <a:stretch>
                  <a:fillRect l="-443" t="-2469" r="-998" b="-98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C44F483D-20E1-444C-A512-2EAC76B2934E}"/>
                  </a:ext>
                </a:extLst>
              </p:cNvPr>
              <p:cNvSpPr/>
              <p:nvPr/>
            </p:nvSpPr>
            <p:spPr>
              <a:xfrm>
                <a:off x="689575" y="2107435"/>
                <a:ext cx="11038599" cy="14719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 </m:t>
                      </m:r>
                      <m:m>
                        <m:mPr>
                          <m:plcHide m:val="on"/>
                          <m:mcs>
                            <m:mc>
                              <m:mcPr>
                                <m:count m:val="2"/>
                                <m:mcJc m:val="center"/>
                              </m:mcPr>
                            </m:mc>
                          </m:mcs>
                          <m:ctrlPr>
                            <a:rPr lang="en-US" sz="2400" i="1">
                              <a:latin typeface="Cambria Math" panose="02040503050406030204" pitchFamily="18" charset="0"/>
                            </a:rPr>
                          </m:ctrlPr>
                        </m:mPr>
                        <m:mr>
                          <m:e>
                            <m:r>
                              <m:rPr>
                                <m:sty m:val="p"/>
                              </m:rPr>
                              <a:rPr lang="en-US" sz="2400" i="0">
                                <a:latin typeface="Cambria Math" panose="02040503050406030204" pitchFamily="18" charset="0"/>
                              </a:rPr>
                              <m:t>A</m:t>
                            </m:r>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4"/>
                                          <m:mcJc m:val="center"/>
                                        </m:mcPr>
                                      </m:mc>
                                    </m:mcs>
                                    <m:ctrlPr>
                                      <a:rPr lang="en-US" sz="2400" i="1">
                                        <a:latin typeface="Cambria Math" panose="02040503050406030204" pitchFamily="18" charset="0"/>
                                      </a:rPr>
                                    </m:ctrlPr>
                                  </m:mP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11</m:t>
                                          </m:r>
                                        </m:sub>
                                      </m:sSub>
                                    </m:e>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12</m:t>
                                          </m:r>
                                        </m:sub>
                                      </m:sSub>
                                    </m:e>
                                    <m:e>
                                      <m:r>
                                        <a:rPr lang="en-US" sz="2400" i="0">
                                          <a:latin typeface="Cambria Math" panose="02040503050406030204" pitchFamily="18" charset="0"/>
                                        </a:rPr>
                                        <m:t>⋯</m:t>
                                      </m:r>
                                    </m:e>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1</m:t>
                                          </m:r>
                                          <m:r>
                                            <a:rPr lang="en-US" sz="2400" i="1">
                                              <a:latin typeface="Cambria Math" panose="02040503050406030204" pitchFamily="18" charset="0"/>
                                            </a:rPr>
                                            <m:t>𝑛</m:t>
                                          </m:r>
                                        </m:sub>
                                      </m:sSub>
                                    </m:e>
                                  </m:m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21</m:t>
                                          </m:r>
                                        </m:sub>
                                      </m:sSub>
                                    </m:e>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22</m:t>
                                          </m:r>
                                        </m:sub>
                                      </m:sSub>
                                    </m:e>
                                    <m:e>
                                      <m:r>
                                        <a:rPr lang="en-US" sz="2400" i="0">
                                          <a:latin typeface="Cambria Math" panose="02040503050406030204" pitchFamily="18" charset="0"/>
                                        </a:rPr>
                                        <m:t>⋯</m:t>
                                      </m:r>
                                    </m:e>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0">
                                              <a:latin typeface="Cambria Math" panose="02040503050406030204" pitchFamily="18" charset="0"/>
                                            </a:rPr>
                                            <m:t>2</m:t>
                                          </m:r>
                                          <m:r>
                                            <a:rPr lang="en-US" sz="2400" i="1">
                                              <a:latin typeface="Cambria Math" panose="02040503050406030204" pitchFamily="18" charset="0"/>
                                            </a:rPr>
                                            <m:t>𝑛</m:t>
                                          </m:r>
                                        </m:sub>
                                      </m:sSub>
                                    </m:e>
                                  </m:mr>
                                  <m:mr>
                                    <m:e>
                                      <m:r>
                                        <a:rPr lang="en-US" sz="2400" i="0">
                                          <a:latin typeface="Cambria Math" panose="02040503050406030204" pitchFamily="18" charset="0"/>
                                        </a:rPr>
                                        <m:t>⋮</m:t>
                                      </m:r>
                                    </m:e>
                                    <m:e>
                                      <m:r>
                                        <a:rPr lang="en-US" sz="2400" i="0">
                                          <a:latin typeface="Cambria Math" panose="02040503050406030204" pitchFamily="18" charset="0"/>
                                        </a:rPr>
                                        <m:t>⋮</m:t>
                                      </m:r>
                                    </m:e>
                                    <m:e>
                                      <m:sSub>
                                        <m:sSubPr>
                                          <m:ctrlPr>
                                            <a:rPr lang="en-US" sz="2400" i="1">
                                              <a:latin typeface="Cambria Math" panose="02040503050406030204" pitchFamily="18" charset="0"/>
                                            </a:rPr>
                                          </m:ctrlPr>
                                        </m:sSubPr>
                                        <m:e>
                                          <m:r>
                                            <a:rPr lang="en-US" sz="2400" b="1" i="1">
                                              <a:latin typeface="Cambria Math" panose="02040503050406030204" pitchFamily="18" charset="0"/>
                                            </a:rPr>
                                            <m:t>𝒂</m:t>
                                          </m:r>
                                        </m:e>
                                        <m:sub>
                                          <m:r>
                                            <a:rPr lang="en-US" sz="2400" b="1" i="1">
                                              <a:latin typeface="Cambria Math" panose="02040503050406030204" pitchFamily="18" charset="0"/>
                                            </a:rPr>
                                            <m:t>𝒊𝒋</m:t>
                                          </m:r>
                                        </m:sub>
                                      </m:sSub>
                                    </m:e>
                                    <m:e>
                                      <m:r>
                                        <a:rPr lang="en-US" sz="2400" b="0" i="0">
                                          <a:latin typeface="Cambria Math" panose="02040503050406030204" pitchFamily="18" charset="0"/>
                                        </a:rPr>
                                        <m:t>⋮</m:t>
                                      </m:r>
                                    </m:e>
                                  </m:mr>
                                  <m:mr>
                                    <m:e>
                                      <m:sSub>
                                        <m:sSubPr>
                                          <m:ctrlPr>
                                            <a:rPr lang="en-US" sz="2400" b="0" i="1">
                                              <a:latin typeface="Cambria Math" panose="02040503050406030204" pitchFamily="18" charset="0"/>
                                            </a:rPr>
                                          </m:ctrlPr>
                                        </m:sSubPr>
                                        <m:e>
                                          <m:r>
                                            <a:rPr lang="en-US" sz="2400" b="0" i="1">
                                              <a:latin typeface="Cambria Math" panose="02040503050406030204" pitchFamily="18" charset="0"/>
                                            </a:rPr>
                                            <m:t>𝑎</m:t>
                                          </m:r>
                                        </m:e>
                                        <m:sub>
                                          <m:r>
                                            <a:rPr lang="en-US" sz="2400" b="0" i="1">
                                              <a:latin typeface="Cambria Math" panose="02040503050406030204" pitchFamily="18" charset="0"/>
                                            </a:rPr>
                                            <m:t>𝑚</m:t>
                                          </m:r>
                                          <m:r>
                                            <a:rPr lang="en-US" sz="2400" b="0" i="0">
                                              <a:latin typeface="Cambria Math" panose="02040503050406030204" pitchFamily="18" charset="0"/>
                                            </a:rPr>
                                            <m:t>1</m:t>
                                          </m:r>
                                        </m:sub>
                                      </m:sSub>
                                    </m:e>
                                    <m:e>
                                      <m:sSub>
                                        <m:sSubPr>
                                          <m:ctrlPr>
                                            <a:rPr lang="en-US" sz="2400" b="0" i="1">
                                              <a:latin typeface="Cambria Math" panose="02040503050406030204" pitchFamily="18" charset="0"/>
                                            </a:rPr>
                                          </m:ctrlPr>
                                        </m:sSubPr>
                                        <m:e>
                                          <m:r>
                                            <a:rPr lang="en-US" sz="2400" b="0" i="1">
                                              <a:latin typeface="Cambria Math" panose="02040503050406030204" pitchFamily="18" charset="0"/>
                                            </a:rPr>
                                            <m:t>𝑎</m:t>
                                          </m:r>
                                        </m:e>
                                        <m:sub>
                                          <m:r>
                                            <a:rPr lang="en-US" sz="2400" b="0" i="1">
                                              <a:latin typeface="Cambria Math" panose="02040503050406030204" pitchFamily="18" charset="0"/>
                                            </a:rPr>
                                            <m:t>𝑚</m:t>
                                          </m:r>
                                          <m:r>
                                            <a:rPr lang="en-US" sz="2400" b="0" i="0">
                                              <a:latin typeface="Cambria Math" panose="02040503050406030204" pitchFamily="18" charset="0"/>
                                            </a:rPr>
                                            <m:t>2</m:t>
                                          </m:r>
                                        </m:sub>
                                      </m:sSub>
                                    </m:e>
                                    <m:e>
                                      <m:r>
                                        <a:rPr lang="en-US" sz="2400" b="0" i="0">
                                          <a:latin typeface="Cambria Math" panose="02040503050406030204" pitchFamily="18" charset="0"/>
                                        </a:rPr>
                                        <m:t>⋯</m:t>
                                      </m:r>
                                    </m:e>
                                    <m:e>
                                      <m:sSub>
                                        <m:sSubPr>
                                          <m:ctrlPr>
                                            <a:rPr lang="en-US" sz="2400" b="0" i="1">
                                              <a:latin typeface="Cambria Math" panose="02040503050406030204" pitchFamily="18" charset="0"/>
                                            </a:rPr>
                                          </m:ctrlPr>
                                        </m:sSubPr>
                                        <m:e>
                                          <m:r>
                                            <a:rPr lang="en-US" sz="2400" b="0" i="1">
                                              <a:latin typeface="Cambria Math" panose="02040503050406030204" pitchFamily="18" charset="0"/>
                                            </a:rPr>
                                            <m:t>𝑎</m:t>
                                          </m:r>
                                        </m:e>
                                        <m:sub>
                                          <m:r>
                                            <a:rPr lang="en-US" sz="2400" b="0" i="1">
                                              <a:latin typeface="Cambria Math" panose="02040503050406030204" pitchFamily="18" charset="0"/>
                                            </a:rPr>
                                            <m:t>𝑚𝑛</m:t>
                                          </m:r>
                                        </m:sub>
                                      </m:sSub>
                                    </m:e>
                                  </m:mr>
                                </m:m>
                              </m:e>
                            </m:d>
                            <m:r>
                              <a:rPr lang="en-US" sz="2400" b="0" i="0">
                                <a:latin typeface="Cambria Math" panose="02040503050406030204" pitchFamily="18" charset="0"/>
                              </a:rPr>
                              <m:t>,</m:t>
                            </m:r>
                          </m:e>
                          <m:e>
                            <m:r>
                              <m:rPr>
                                <m:nor/>
                              </m:rPr>
                              <a:rPr lang="en-ZA" sz="2400" dirty="0">
                                <a:latin typeface="+mj-lt"/>
                              </a:rPr>
                              <m:t>element</m:t>
                            </m:r>
                            <m:r>
                              <m:rPr>
                                <m:nor/>
                              </m:rPr>
                              <a:rPr lang="en-ZA" sz="2400" dirty="0">
                                <a:latin typeface="+mj-lt"/>
                              </a:rPr>
                              <m:t> </m:t>
                            </m:r>
                            <m:r>
                              <m:rPr>
                                <m:nor/>
                              </m:rPr>
                              <a:rPr lang="en-ZA" sz="2400" dirty="0">
                                <a:latin typeface="+mj-lt"/>
                              </a:rPr>
                              <m:t>of</m:t>
                            </m:r>
                            <m:r>
                              <m:rPr>
                                <m:nor/>
                              </m:rPr>
                              <a:rPr lang="en-ZA" sz="2400" dirty="0">
                                <a:latin typeface="+mj-lt"/>
                              </a:rPr>
                              <m:t> </m:t>
                            </m:r>
                            <m:r>
                              <m:rPr>
                                <m:nor/>
                              </m:rPr>
                              <a:rPr lang="en-ZA" sz="2400" dirty="0">
                                <a:latin typeface="+mj-lt"/>
                              </a:rPr>
                              <m:t>a</m:t>
                            </m:r>
                            <m:r>
                              <m:rPr>
                                <m:nor/>
                              </m:rPr>
                              <a:rPr lang="en-ZA" sz="2400" dirty="0">
                                <a:latin typeface="+mj-lt"/>
                              </a:rPr>
                              <m:t> </m:t>
                            </m:r>
                            <m:r>
                              <m:rPr>
                                <m:nor/>
                              </m:rPr>
                              <a:rPr lang="en-ZA" sz="2400" dirty="0">
                                <a:latin typeface="+mj-lt"/>
                              </a:rPr>
                              <m:t>matrix</m:t>
                            </m:r>
                            <m:r>
                              <a:rPr lang="en-US" sz="2400" b="0" i="1" smtClean="0">
                                <a:latin typeface="Cambria Math" panose="02040503050406030204" pitchFamily="18" charset="0"/>
                              </a:rPr>
                              <m:t>: </m:t>
                            </m:r>
                            <m:sSub>
                              <m:sSubPr>
                                <m:ctrlPr>
                                  <a:rPr lang="en-US" sz="2400" b="0" i="1">
                                    <a:latin typeface="Cambria Math" panose="02040503050406030204" pitchFamily="18" charset="0"/>
                                  </a:rPr>
                                </m:ctrlPr>
                              </m:sSubPr>
                              <m:e>
                                <m:r>
                                  <a:rPr lang="en-US" sz="2400" b="1" i="1">
                                    <a:latin typeface="Cambria Math" panose="02040503050406030204" pitchFamily="18" charset="0"/>
                                  </a:rPr>
                                  <m:t>𝒂</m:t>
                                </m:r>
                              </m:e>
                              <m:sub>
                                <m:r>
                                  <a:rPr lang="en-US" sz="2400" b="1" i="1">
                                    <a:latin typeface="Cambria Math" panose="02040503050406030204" pitchFamily="18" charset="0"/>
                                  </a:rPr>
                                  <m:t>𝒊𝒋</m:t>
                                </m:r>
                              </m:sub>
                            </m:sSub>
                            <m:d>
                              <m:dPr>
                                <m:begChr m:val="{"/>
                                <m:endChr m:val=""/>
                                <m:ctrlPr>
                                  <a:rPr lang="en-US" sz="2400" b="0" i="1">
                                    <a:latin typeface="Cambria Math" panose="02040503050406030204" pitchFamily="18" charset="0"/>
                                  </a:rPr>
                                </m:ctrlPr>
                              </m:dPr>
                              <m:e>
                                <m:m>
                                  <m:mPr>
                                    <m:plcHide m:val="on"/>
                                    <m:mcs>
                                      <m:mc>
                                        <m:mcPr>
                                          <m:count m:val="1"/>
                                          <m:mcJc m:val="center"/>
                                        </m:mcPr>
                                      </m:mc>
                                    </m:mcs>
                                    <m:ctrlPr>
                                      <a:rPr lang="en-US" sz="2400" b="0" i="1">
                                        <a:latin typeface="Cambria Math" panose="02040503050406030204" pitchFamily="18" charset="0"/>
                                      </a:rPr>
                                    </m:ctrlPr>
                                  </m:mPr>
                                  <m:mr>
                                    <m:e>
                                      <m:r>
                                        <a:rPr lang="en-US" sz="2400" b="0" i="1" smtClean="0">
                                          <a:latin typeface="Cambria Math" panose="02040503050406030204" pitchFamily="18" charset="0"/>
                                        </a:rPr>
                                        <m:t>𝑖</m:t>
                                      </m:r>
                                      <m:r>
                                        <a:rPr lang="en-US" sz="2400" b="0" i="0">
                                          <a:latin typeface="Cambria Math" panose="02040503050406030204" pitchFamily="18" charset="0"/>
                                        </a:rPr>
                                        <m:t> =</m:t>
                                      </m:r>
                                      <m:r>
                                        <m:rPr>
                                          <m:nor/>
                                        </m:rPr>
                                        <a:rPr lang="en-ZA" sz="2400" dirty="0">
                                          <a:latin typeface="+mj-lt"/>
                                        </a:rPr>
                                        <m:t>the</m:t>
                                      </m:r>
                                      <m:r>
                                        <m:rPr>
                                          <m:nor/>
                                        </m:rPr>
                                        <a:rPr lang="en-ZA" sz="2400" dirty="0">
                                          <a:latin typeface="+mj-lt"/>
                                        </a:rPr>
                                        <m:t> </m:t>
                                      </m:r>
                                      <m:r>
                                        <m:rPr>
                                          <m:nor/>
                                        </m:rPr>
                                        <a:rPr lang="en-ZA" sz="2400" dirty="0">
                                          <a:latin typeface="+mj-lt"/>
                                        </a:rPr>
                                        <m:t>row</m:t>
                                      </m:r>
                                      <m:r>
                                        <m:rPr>
                                          <m:nor/>
                                        </m:rPr>
                                        <a:rPr lang="en-ZA" sz="2400" dirty="0">
                                          <a:latin typeface="+mj-lt"/>
                                        </a:rPr>
                                        <m:t> </m:t>
                                      </m:r>
                                      <m:r>
                                        <m:rPr>
                                          <m:nor/>
                                        </m:rPr>
                                        <a:rPr lang="en-ZA" sz="2400" dirty="0">
                                          <a:latin typeface="+mj-lt"/>
                                        </a:rPr>
                                        <m:t>number</m:t>
                                      </m:r>
                                    </m:e>
                                  </m:mr>
                                  <m:mr>
                                    <m:e>
                                      <m:r>
                                        <a:rPr lang="en-US" sz="2400" b="0" i="1">
                                          <a:latin typeface="Cambria Math" panose="02040503050406030204" pitchFamily="18" charset="0"/>
                                        </a:rPr>
                                        <m:t>𝑗</m:t>
                                      </m:r>
                                      <m:r>
                                        <a:rPr lang="en-US" sz="2400" b="0" i="0">
                                          <a:latin typeface="Cambria Math" panose="02040503050406030204" pitchFamily="18" charset="0"/>
                                        </a:rPr>
                                        <m:t> =</m:t>
                                      </m:r>
                                      <m:r>
                                        <m:rPr>
                                          <m:nor/>
                                        </m:rPr>
                                        <a:rPr lang="en-ZA" sz="2400" dirty="0">
                                          <a:latin typeface="+mj-lt"/>
                                        </a:rPr>
                                        <m:t>the</m:t>
                                      </m:r>
                                      <m:r>
                                        <m:rPr>
                                          <m:nor/>
                                        </m:rPr>
                                        <a:rPr lang="en-ZA" sz="2400" dirty="0">
                                          <a:latin typeface="+mj-lt"/>
                                        </a:rPr>
                                        <m:t> </m:t>
                                      </m:r>
                                      <m:r>
                                        <m:rPr>
                                          <m:nor/>
                                        </m:rPr>
                                        <a:rPr lang="en-ZA" sz="2400" dirty="0">
                                          <a:latin typeface="+mj-lt"/>
                                        </a:rPr>
                                        <m:t>column</m:t>
                                      </m:r>
                                      <m:r>
                                        <m:rPr>
                                          <m:nor/>
                                        </m:rPr>
                                        <a:rPr lang="en-ZA" sz="2400" dirty="0">
                                          <a:latin typeface="+mj-lt"/>
                                        </a:rPr>
                                        <m:t> </m:t>
                                      </m:r>
                                      <m:r>
                                        <m:rPr>
                                          <m:nor/>
                                        </m:rPr>
                                        <a:rPr lang="en-ZA" sz="2400" dirty="0">
                                          <a:latin typeface="+mj-lt"/>
                                        </a:rPr>
                                        <m:t>number</m:t>
                                      </m:r>
                                    </m:e>
                                  </m:mr>
                                </m:m>
                              </m:e>
                            </m:d>
                          </m:e>
                        </m:mr>
                      </m:m>
                      <m:r>
                        <a:rPr lang="en-US" sz="2400" b="0" i="0">
                          <a:latin typeface="Cambria Math" panose="02040503050406030204" pitchFamily="18" charset="0"/>
                        </a:rPr>
                        <m:t> </m:t>
                      </m:r>
                    </m:oMath>
                  </m:oMathPara>
                </a14:m>
                <a:endParaRPr lang="en-US" sz="2400" dirty="0">
                  <a:latin typeface="+mj-lt"/>
                </a:endParaRPr>
              </a:p>
            </p:txBody>
          </p:sp>
        </mc:Choice>
        <mc:Fallback xmlns="">
          <p:sp>
            <p:nvSpPr>
              <p:cNvPr id="5" name="Rectangle 4">
                <a:extLst>
                  <a:ext uri="{FF2B5EF4-FFF2-40B4-BE49-F238E27FC236}">
                    <a16:creationId xmlns:a16="http://schemas.microsoft.com/office/drawing/2014/main" id="{C44F483D-20E1-444C-A512-2EAC76B2934E}"/>
                  </a:ext>
                </a:extLst>
              </p:cNvPr>
              <p:cNvSpPr>
                <a:spLocks noRot="1" noChangeAspect="1" noMove="1" noResize="1" noEditPoints="1" noAdjustHandles="1" noChangeArrowheads="1" noChangeShapeType="1" noTextEdit="1"/>
              </p:cNvSpPr>
              <p:nvPr/>
            </p:nvSpPr>
            <p:spPr>
              <a:xfrm>
                <a:off x="689575" y="2107435"/>
                <a:ext cx="11038599" cy="1471941"/>
              </a:xfrm>
              <a:prstGeom prst="rect">
                <a:avLst/>
              </a:prstGeom>
              <a:blipFill>
                <a:blip r:embed="rId4"/>
                <a:stretch>
                  <a:fillRect t="-105128" b="-1598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0" name="Table 9">
                <a:extLst>
                  <a:ext uri="{FF2B5EF4-FFF2-40B4-BE49-F238E27FC236}">
                    <a16:creationId xmlns:a16="http://schemas.microsoft.com/office/drawing/2014/main" id="{C3F462F5-9CCE-1A4A-8F03-5779CD540329}"/>
                  </a:ext>
                </a:extLst>
              </p:cNvPr>
              <p:cNvGraphicFramePr>
                <a:graphicFrameLocks noGrp="1"/>
              </p:cNvGraphicFramePr>
              <p:nvPr>
                <p:extLst>
                  <p:ext uri="{D42A27DB-BD31-4B8C-83A1-F6EECF244321}">
                    <p14:modId xmlns:p14="http://schemas.microsoft.com/office/powerpoint/2010/main" val="3385972095"/>
                  </p:ext>
                </p:extLst>
              </p:nvPr>
            </p:nvGraphicFramePr>
            <p:xfrm>
              <a:off x="2226748" y="5235285"/>
              <a:ext cx="7343013" cy="1097534"/>
            </p:xfrm>
            <a:graphic>
              <a:graphicData uri="http://schemas.openxmlformats.org/drawingml/2006/table">
                <a:tbl>
                  <a:tblPr firstRow="1" bandRow="1">
                    <a:tableStyleId>{D27102A9-8310-4765-A935-A1911B00CA55}</a:tableStyleId>
                  </a:tblPr>
                  <a:tblGrid>
                    <a:gridCol w="2535828">
                      <a:extLst>
                        <a:ext uri="{9D8B030D-6E8A-4147-A177-3AD203B41FA5}">
                          <a16:colId xmlns:a16="http://schemas.microsoft.com/office/drawing/2014/main" val="3814248003"/>
                        </a:ext>
                      </a:extLst>
                    </a:gridCol>
                    <a:gridCol w="3095890">
                      <a:extLst>
                        <a:ext uri="{9D8B030D-6E8A-4147-A177-3AD203B41FA5}">
                          <a16:colId xmlns:a16="http://schemas.microsoft.com/office/drawing/2014/main" val="1217244078"/>
                        </a:ext>
                      </a:extLst>
                    </a:gridCol>
                    <a:gridCol w="1711295">
                      <a:extLst>
                        <a:ext uri="{9D8B030D-6E8A-4147-A177-3AD203B41FA5}">
                          <a16:colId xmlns:a16="http://schemas.microsoft.com/office/drawing/2014/main" val="3626647742"/>
                        </a:ext>
                      </a:extLst>
                    </a:gridCol>
                  </a:tblGrid>
                  <a:tr h="370840">
                    <a:tc>
                      <a:txBody>
                        <a:bodyPr/>
                        <a:lstStyle/>
                        <a:p>
                          <a:pPr algn="ctr"/>
                          <a14:m>
                            <m:oMath xmlns:m="http://schemas.openxmlformats.org/officeDocument/2006/math">
                              <m:r>
                                <a:rPr lang="en-US" sz="2000" b="0" i="1" smtClean="0">
                                  <a:latin typeface="Cambria Math" panose="02040503050406030204" pitchFamily="18" charset="0"/>
                                </a:rPr>
                                <m:t>1× </m:t>
                              </m:r>
                              <m:r>
                                <a:rPr lang="en-US" sz="2000" b="0" i="1" smtClean="0">
                                  <a:latin typeface="Cambria Math" panose="02040503050406030204" pitchFamily="18" charset="0"/>
                                </a:rPr>
                                <m:t>𝑛</m:t>
                              </m:r>
                              <m:r>
                                <a:rPr lang="en-US" sz="2000" b="0" i="1" smtClean="0">
                                  <a:latin typeface="Cambria Math" panose="02040503050406030204" pitchFamily="18" charset="0"/>
                                </a:rPr>
                                <m:t>:</m:t>
                              </m:r>
                            </m:oMath>
                          </a14:m>
                          <a:r>
                            <a:rPr lang="en-US" sz="2000" b="0" dirty="0"/>
                            <a:t> </a:t>
                          </a:r>
                          <a:r>
                            <a:rPr lang="en-ZA" sz="2000" b="0" dirty="0"/>
                            <a:t>row vector</a:t>
                          </a:r>
                          <a:endParaRPr lang="en-US" sz="2000" b="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m:rPr>
                                  <m:sty m:val="p"/>
                                </m:rPr>
                                <a:rPr lang="en-US" sz="2000" b="0" i="1" smtClean="0">
                                  <a:latin typeface="Cambria Math" panose="02040503050406030204" pitchFamily="18" charset="0"/>
                                </a:rPr>
                                <m:t>m</m:t>
                              </m:r>
                              <m:r>
                                <a:rPr lang="en-US" sz="2000" b="0" i="1" smtClean="0">
                                  <a:latin typeface="Cambria Math" panose="02040503050406030204" pitchFamily="18" charset="0"/>
                                </a:rPr>
                                <m:t>× 1:</m:t>
                              </m:r>
                            </m:oMath>
                          </a14:m>
                          <a:r>
                            <a:rPr lang="en-US" sz="2000" b="0" dirty="0"/>
                            <a:t> </a:t>
                          </a:r>
                          <a:r>
                            <a:rPr lang="en-ZA" sz="2000" b="0" dirty="0"/>
                            <a:t>column vector</a:t>
                          </a:r>
                          <a:r>
                            <a:rPr lang="en-US" sz="2000" b="0" dirty="0">
                              <a:effectLst/>
                            </a:rPr>
                            <a:t> </a:t>
                          </a:r>
                          <a:endParaRPr lang="en-US" sz="2000" b="0" dirty="0"/>
                        </a:p>
                      </a:txBody>
                      <a:tcPr/>
                    </a:tc>
                    <a:tc>
                      <a:txBody>
                        <a:bodyPr/>
                        <a:lstStyle/>
                        <a:p>
                          <a:pPr algn="ctr"/>
                          <a:r>
                            <a:rPr lang="en-ZA" sz="2000" b="0" dirty="0"/>
                            <a:t>square matrix</a:t>
                          </a:r>
                          <a:endParaRPr lang="en-US" sz="2000" b="0" dirty="0"/>
                        </a:p>
                      </a:txBody>
                      <a:tcPr/>
                    </a:tc>
                    <a:extLst>
                      <a:ext uri="{0D108BD9-81ED-4DB2-BD59-A6C34878D82A}">
                        <a16:rowId xmlns:a16="http://schemas.microsoft.com/office/drawing/2014/main" val="3028873506"/>
                      </a:ext>
                    </a:extLst>
                  </a:tr>
                  <a:tr h="370840">
                    <a:tc>
                      <a:txBody>
                        <a:bodyPr/>
                        <a:lstStyle/>
                        <a:p>
                          <a:pPr/>
                          <a14:m>
                            <m:oMathPara xmlns:m="http://schemas.openxmlformats.org/officeDocument/2006/math">
                              <m:oMathParaPr>
                                <m:jc m:val="centerGroup"/>
                              </m:oMathParaPr>
                              <m:oMath xmlns:m="http://schemas.openxmlformats.org/officeDocument/2006/math">
                                <m:d>
                                  <m:dPr>
                                    <m:ctrlPr>
                                      <a:rPr lang="en-US" sz="2400" i="1" smtClean="0">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0.6</m:t>
                                          </m:r>
                                        </m:e>
                                        <m:e>
                                          <m:r>
                                            <a:rPr lang="en-US" sz="2400">
                                              <a:latin typeface="Cambria Math" panose="02040503050406030204" pitchFamily="18" charset="0"/>
                                            </a:rPr>
                                            <m:t>0.8</m:t>
                                          </m:r>
                                        </m:e>
                                      </m:mr>
                                    </m:m>
                                  </m:e>
                                </m:d>
                              </m:oMath>
                            </m:oMathPara>
                          </a14:m>
                          <a:endParaRPr lang="en-US" sz="2400" dirty="0"/>
                        </a:p>
                      </a:txBody>
                      <a:tcPr/>
                    </a:tc>
                    <a:tc>
                      <a:txBody>
                        <a:bodyPr/>
                        <a:lstStyle/>
                        <a:p>
                          <a:pPr/>
                          <a14:m>
                            <m:oMathPara xmlns:m="http://schemas.openxmlformats.org/officeDocument/2006/math">
                              <m:oMathParaPr>
                                <m:jc m:val="centerGroup"/>
                              </m:oMathParaPr>
                              <m:oMath xmlns:m="http://schemas.openxmlformats.org/officeDocument/2006/math">
                                <m:d>
                                  <m:dPr>
                                    <m:ctrlPr>
                                      <a:rPr lang="en-US" sz="2400" i="1" smtClean="0">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a:latin typeface="Cambria Math" panose="02040503050406030204" pitchFamily="18" charset="0"/>
                                            </a:rPr>
                                            <m:t>0.6</m:t>
                                          </m:r>
                                        </m:e>
                                      </m:mr>
                                      <m:mr>
                                        <m:e>
                                          <m:r>
                                            <a:rPr lang="en-US" sz="2400">
                                              <a:latin typeface="Cambria Math" panose="02040503050406030204" pitchFamily="18" charset="0"/>
                                            </a:rPr>
                                            <m:t>0.8</m:t>
                                          </m:r>
                                        </m:e>
                                      </m:mr>
                                    </m:m>
                                  </m:e>
                                </m:d>
                              </m:oMath>
                            </m:oMathPara>
                          </a14:m>
                          <a:endParaRPr lang="en-US" sz="2400" dirty="0"/>
                        </a:p>
                      </a:txBody>
                      <a:tcPr/>
                    </a:tc>
                    <a:tc>
                      <a:txBody>
                        <a:bodyPr/>
                        <a:lstStyle/>
                        <a:p>
                          <a:pPr/>
                          <a14:m>
                            <m:oMathPara xmlns:m="http://schemas.openxmlformats.org/officeDocument/2006/math">
                              <m:oMathParaPr>
                                <m:jc m:val="centerGroup"/>
                              </m:oMathParaPr>
                              <m:oMath xmlns:m="http://schemas.openxmlformats.org/officeDocument/2006/math">
                                <m:d>
                                  <m:dPr>
                                    <m:ctrlPr>
                                      <a:rPr lang="en-US" sz="2400" i="1" smtClean="0">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a:latin typeface="Cambria Math" panose="02040503050406030204" pitchFamily="18" charset="0"/>
                                            </a:rPr>
                                            <m:t>1</m:t>
                                          </m:r>
                                        </m:e>
                                        <m:e>
                                          <m:r>
                                            <a:rPr lang="en-US" sz="2400">
                                              <a:latin typeface="Cambria Math" panose="02040503050406030204" pitchFamily="18" charset="0"/>
                                            </a:rPr>
                                            <m:t>2</m:t>
                                          </m:r>
                                        </m:e>
                                      </m:mr>
                                      <m:mr>
                                        <m:e>
                                          <m:r>
                                            <a:rPr lang="en-US" sz="2400">
                                              <a:latin typeface="Cambria Math" panose="02040503050406030204" pitchFamily="18" charset="0"/>
                                            </a:rPr>
                                            <m:t>3</m:t>
                                          </m:r>
                                        </m:e>
                                        <m:e>
                                          <m:r>
                                            <a:rPr lang="en-US" sz="2400">
                                              <a:latin typeface="Cambria Math" panose="02040503050406030204" pitchFamily="18" charset="0"/>
                                            </a:rPr>
                                            <m:t>4</m:t>
                                          </m:r>
                                        </m:e>
                                      </m:mr>
                                    </m:m>
                                  </m:e>
                                </m:d>
                              </m:oMath>
                            </m:oMathPara>
                          </a14:m>
                          <a:endParaRPr lang="en-US" sz="2400" dirty="0"/>
                        </a:p>
                      </a:txBody>
                      <a:tcPr/>
                    </a:tc>
                    <a:extLst>
                      <a:ext uri="{0D108BD9-81ED-4DB2-BD59-A6C34878D82A}">
                        <a16:rowId xmlns:a16="http://schemas.microsoft.com/office/drawing/2014/main" val="3538248918"/>
                      </a:ext>
                    </a:extLst>
                  </a:tr>
                </a:tbl>
              </a:graphicData>
            </a:graphic>
          </p:graphicFrame>
        </mc:Choice>
        <mc:Fallback xmlns="">
          <p:graphicFrame>
            <p:nvGraphicFramePr>
              <p:cNvPr id="10" name="Table 9">
                <a:extLst>
                  <a:ext uri="{FF2B5EF4-FFF2-40B4-BE49-F238E27FC236}">
                    <a16:creationId xmlns:a16="http://schemas.microsoft.com/office/drawing/2014/main" id="{C3F462F5-9CCE-1A4A-8F03-5779CD540329}"/>
                  </a:ext>
                </a:extLst>
              </p:cNvPr>
              <p:cNvGraphicFramePr>
                <a:graphicFrameLocks noGrp="1"/>
              </p:cNvGraphicFramePr>
              <p:nvPr>
                <p:extLst>
                  <p:ext uri="{D42A27DB-BD31-4B8C-83A1-F6EECF244321}">
                    <p14:modId xmlns:p14="http://schemas.microsoft.com/office/powerpoint/2010/main" val="3385972095"/>
                  </p:ext>
                </p:extLst>
              </p:nvPr>
            </p:nvGraphicFramePr>
            <p:xfrm>
              <a:off x="2226748" y="5235285"/>
              <a:ext cx="7343013" cy="1097534"/>
            </p:xfrm>
            <a:graphic>
              <a:graphicData uri="http://schemas.openxmlformats.org/drawingml/2006/table">
                <a:tbl>
                  <a:tblPr firstRow="1" bandRow="1">
                    <a:tableStyleId>{D27102A9-8310-4765-A935-A1911B00CA55}</a:tableStyleId>
                  </a:tblPr>
                  <a:tblGrid>
                    <a:gridCol w="2535828">
                      <a:extLst>
                        <a:ext uri="{9D8B030D-6E8A-4147-A177-3AD203B41FA5}">
                          <a16:colId xmlns:a16="http://schemas.microsoft.com/office/drawing/2014/main" val="3814248003"/>
                        </a:ext>
                      </a:extLst>
                    </a:gridCol>
                    <a:gridCol w="3095890">
                      <a:extLst>
                        <a:ext uri="{9D8B030D-6E8A-4147-A177-3AD203B41FA5}">
                          <a16:colId xmlns:a16="http://schemas.microsoft.com/office/drawing/2014/main" val="1217244078"/>
                        </a:ext>
                      </a:extLst>
                    </a:gridCol>
                    <a:gridCol w="1711295">
                      <a:extLst>
                        <a:ext uri="{9D8B030D-6E8A-4147-A177-3AD203B41FA5}">
                          <a16:colId xmlns:a16="http://schemas.microsoft.com/office/drawing/2014/main" val="3626647742"/>
                        </a:ext>
                      </a:extLst>
                    </a:gridCol>
                  </a:tblGrid>
                  <a:tr h="396240">
                    <a:tc>
                      <a:txBody>
                        <a:bodyPr/>
                        <a:lstStyle/>
                        <a:p>
                          <a:endParaRPr lang="en-US"/>
                        </a:p>
                      </a:txBody>
                      <a:tcPr>
                        <a:blipFill>
                          <a:blip r:embed="rId5"/>
                          <a:stretch>
                            <a:fillRect t="-9677" r="-189500" b="-193548"/>
                          </a:stretch>
                        </a:blipFill>
                      </a:tcPr>
                    </a:tc>
                    <a:tc>
                      <a:txBody>
                        <a:bodyPr/>
                        <a:lstStyle/>
                        <a:p>
                          <a:endParaRPr lang="en-US"/>
                        </a:p>
                      </a:txBody>
                      <a:tcPr>
                        <a:blipFill>
                          <a:blip r:embed="rId5"/>
                          <a:stretch>
                            <a:fillRect l="-81967" t="-9677" r="-55328" b="-193548"/>
                          </a:stretch>
                        </a:blipFill>
                      </a:tcPr>
                    </a:tc>
                    <a:tc>
                      <a:txBody>
                        <a:bodyPr/>
                        <a:lstStyle/>
                        <a:p>
                          <a:pPr algn="ctr"/>
                          <a:r>
                            <a:rPr lang="en-ZA" sz="2000" b="0" dirty="0"/>
                            <a:t>square matrix</a:t>
                          </a:r>
                          <a:endParaRPr lang="en-US" sz="2000" b="0" dirty="0"/>
                        </a:p>
                      </a:txBody>
                      <a:tcPr/>
                    </a:tc>
                    <a:extLst>
                      <a:ext uri="{0D108BD9-81ED-4DB2-BD59-A6C34878D82A}">
                        <a16:rowId xmlns:a16="http://schemas.microsoft.com/office/drawing/2014/main" val="3028873506"/>
                      </a:ext>
                    </a:extLst>
                  </a:tr>
                  <a:tr h="701294">
                    <a:tc>
                      <a:txBody>
                        <a:bodyPr/>
                        <a:lstStyle/>
                        <a:p>
                          <a:endParaRPr lang="en-US"/>
                        </a:p>
                      </a:txBody>
                      <a:tcPr>
                        <a:blipFill>
                          <a:blip r:embed="rId5"/>
                          <a:stretch>
                            <a:fillRect t="-60714" r="-189500" b="-7143"/>
                          </a:stretch>
                        </a:blipFill>
                      </a:tcPr>
                    </a:tc>
                    <a:tc>
                      <a:txBody>
                        <a:bodyPr/>
                        <a:lstStyle/>
                        <a:p>
                          <a:endParaRPr lang="en-US"/>
                        </a:p>
                      </a:txBody>
                      <a:tcPr>
                        <a:blipFill>
                          <a:blip r:embed="rId5"/>
                          <a:stretch>
                            <a:fillRect l="-81967" t="-60714" r="-55328" b="-7143"/>
                          </a:stretch>
                        </a:blipFill>
                      </a:tcPr>
                    </a:tc>
                    <a:tc>
                      <a:txBody>
                        <a:bodyPr/>
                        <a:lstStyle/>
                        <a:p>
                          <a:endParaRPr lang="en-US"/>
                        </a:p>
                      </a:txBody>
                      <a:tcPr>
                        <a:blipFill>
                          <a:blip r:embed="rId5"/>
                          <a:stretch>
                            <a:fillRect l="-328889" t="-60714" b="-7143"/>
                          </a:stretch>
                        </a:blipFill>
                      </a:tcPr>
                    </a:tc>
                    <a:extLst>
                      <a:ext uri="{0D108BD9-81ED-4DB2-BD59-A6C34878D82A}">
                        <a16:rowId xmlns:a16="http://schemas.microsoft.com/office/drawing/2014/main" val="3538248918"/>
                      </a:ext>
                    </a:extLst>
                  </a:tr>
                </a:tbl>
              </a:graphicData>
            </a:graphic>
          </p:graphicFrame>
        </mc:Fallback>
      </mc:AlternateContent>
      <p:sp>
        <p:nvSpPr>
          <p:cNvPr id="11" name="TextBox 10">
            <a:extLst>
              <a:ext uri="{FF2B5EF4-FFF2-40B4-BE49-F238E27FC236}">
                <a16:creationId xmlns:a16="http://schemas.microsoft.com/office/drawing/2014/main" id="{ACCBF541-C47B-5043-B2A0-374681C3B479}"/>
              </a:ext>
            </a:extLst>
          </p:cNvPr>
          <p:cNvSpPr txBox="1"/>
          <p:nvPr/>
        </p:nvSpPr>
        <p:spPr>
          <a:xfrm>
            <a:off x="742951" y="4759604"/>
            <a:ext cx="5503366" cy="400110"/>
          </a:xfrm>
          <a:prstGeom prst="rect">
            <a:avLst/>
          </a:prstGeom>
          <a:noFill/>
        </p:spPr>
        <p:txBody>
          <a:bodyPr wrap="none" rtlCol="0">
            <a:spAutoFit/>
          </a:bodyPr>
          <a:lstStyle/>
          <a:p>
            <a:r>
              <a:rPr lang="en-ZA" sz="2000" dirty="0"/>
              <a:t>Matrix Types by Dimension in Quantum Computing</a:t>
            </a:r>
            <a:endParaRPr lang="en-US" sz="2000" b="1" dirty="0"/>
          </a:p>
        </p:txBody>
      </p: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67AF192C-56B3-2E4B-866D-E120EDABC45C}"/>
                  </a:ext>
                </a:extLst>
              </p:cNvPr>
              <p:cNvSpPr/>
              <p:nvPr/>
            </p:nvSpPr>
            <p:spPr>
              <a:xfrm>
                <a:off x="742951" y="3892061"/>
                <a:ext cx="9277476" cy="732573"/>
              </a:xfrm>
              <a:prstGeom prst="rect">
                <a:avLst/>
              </a:prstGeom>
            </p:spPr>
            <p:txBody>
              <a:bodyPr wrap="none">
                <a:spAutoFit/>
              </a:bodyPr>
              <a:lstStyle/>
              <a:p>
                <a:pPr marL="457200" indent="-457200">
                  <a:buFont typeface="Arial" panose="020B0604020202020204" pitchFamily="34" charset="0"/>
                  <a:buChar char="•"/>
                </a:pPr>
                <a:r>
                  <a:rPr lang="en-ZA" sz="2000" dirty="0"/>
                  <a:t>The elements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𝑖𝑗</m:t>
                        </m:r>
                      </m:sub>
                    </m:sSub>
                    <m:r>
                      <a:rPr lang="en-US" sz="2000">
                        <a:latin typeface="Cambria Math" panose="02040503050406030204" pitchFamily="18" charset="0"/>
                      </a:rPr>
                      <m:t> </m:t>
                    </m:r>
                  </m:oMath>
                </a14:m>
                <a:r>
                  <a:rPr lang="en-ZA" sz="2000" dirty="0"/>
                  <a:t>for which </a:t>
                </a:r>
                <a14:m>
                  <m:oMath xmlns:m="http://schemas.openxmlformats.org/officeDocument/2006/math">
                    <m:r>
                      <a:rPr lang="en-US" sz="2000" i="1">
                        <a:latin typeface="Cambria Math" panose="02040503050406030204" pitchFamily="18" charset="0"/>
                      </a:rPr>
                      <m:t>𝑖</m:t>
                    </m:r>
                    <m:r>
                      <a:rPr lang="en-US" sz="2000" i="1">
                        <a:latin typeface="Cambria Math" panose="02040503050406030204" pitchFamily="18" charset="0"/>
                      </a:rPr>
                      <m:t>=</m:t>
                    </m:r>
                    <m:r>
                      <a:rPr lang="en-US" sz="2000" i="1">
                        <a:latin typeface="Cambria Math" panose="02040503050406030204" pitchFamily="18" charset="0"/>
                      </a:rPr>
                      <m:t>𝑗</m:t>
                    </m:r>
                  </m:oMath>
                </a14:m>
                <a:r>
                  <a:rPr lang="en-ZA" sz="2000" dirty="0"/>
                  <a:t> form the main diagonal of the matrix. </a:t>
                </a:r>
                <a:endParaRPr lang="en-US" sz="2000" b="0" i="0" dirty="0">
                  <a:latin typeface="Cambria Math" panose="02040503050406030204" pitchFamily="18" charset="0"/>
                </a:endParaRPr>
              </a:p>
              <a:p>
                <a:pPr marL="457200" indent="-457200">
                  <a:buFont typeface="Arial" panose="020B0604020202020204" pitchFamily="34" charset="0"/>
                  <a:buChar char="•"/>
                </a:pPr>
                <a14:m>
                  <m:oMath xmlns:m="http://schemas.openxmlformats.org/officeDocument/2006/math">
                    <m:r>
                      <m:rPr>
                        <m:sty m:val="p"/>
                      </m:rPr>
                      <a:rPr lang="en-US" sz="2000">
                        <a:latin typeface="Cambria Math" panose="02040503050406030204" pitchFamily="18" charset="0"/>
                      </a:rPr>
                      <m:t>The</m:t>
                    </m:r>
                    <m:r>
                      <a:rPr lang="en-US" sz="2000">
                        <a:latin typeface="Cambria Math" panose="02040503050406030204" pitchFamily="18" charset="0"/>
                      </a:rPr>
                      <m:t> </m:t>
                    </m:r>
                    <m:r>
                      <m:rPr>
                        <m:sty m:val="p"/>
                      </m:rPr>
                      <a:rPr lang="en-US" sz="2000">
                        <a:latin typeface="Cambria Math" panose="02040503050406030204" pitchFamily="18" charset="0"/>
                      </a:rPr>
                      <m:t>sum</m:t>
                    </m:r>
                    <m:r>
                      <a:rPr lang="en-US" sz="2000">
                        <a:latin typeface="Cambria Math" panose="02040503050406030204" pitchFamily="18" charset="0"/>
                      </a:rPr>
                      <m:t> </m:t>
                    </m:r>
                    <m:r>
                      <m:rPr>
                        <m:sty m:val="p"/>
                      </m:rPr>
                      <a:rPr lang="en-US" sz="2000">
                        <a:latin typeface="Cambria Math" panose="02040503050406030204" pitchFamily="18" charset="0"/>
                      </a:rPr>
                      <m:t>of</m:t>
                    </m:r>
                    <m:r>
                      <a:rPr lang="en-US" sz="2000">
                        <a:latin typeface="Cambria Math" panose="02040503050406030204" pitchFamily="18" charset="0"/>
                      </a:rPr>
                      <m:t> </m:t>
                    </m:r>
                    <m:r>
                      <m:rPr>
                        <m:sty m:val="p"/>
                      </m:rPr>
                      <a:rPr lang="en-US" sz="2000">
                        <a:latin typeface="Cambria Math" panose="02040503050406030204" pitchFamily="18" charset="0"/>
                      </a:rPr>
                      <m:t>the</m:t>
                    </m:r>
                    <m:r>
                      <a:rPr lang="en-US" sz="2000">
                        <a:latin typeface="Cambria Math" panose="02040503050406030204" pitchFamily="18" charset="0"/>
                      </a:rPr>
                      <m:t> </m:t>
                    </m:r>
                    <m:r>
                      <m:rPr>
                        <m:sty m:val="p"/>
                      </m:rPr>
                      <a:rPr lang="en-US" sz="2000">
                        <a:latin typeface="Cambria Math" panose="02040503050406030204" pitchFamily="18" charset="0"/>
                      </a:rPr>
                      <m:t>elements</m:t>
                    </m:r>
                    <m:r>
                      <a:rPr lang="en-US" sz="2000">
                        <a:latin typeface="Cambria Math" panose="02040503050406030204" pitchFamily="18" charset="0"/>
                      </a:rPr>
                      <m:t> </m:t>
                    </m:r>
                    <m:r>
                      <m:rPr>
                        <m:sty m:val="p"/>
                      </m:rPr>
                      <a:rPr lang="en-US" sz="2000">
                        <a:latin typeface="Cambria Math" panose="02040503050406030204" pitchFamily="18" charset="0"/>
                      </a:rPr>
                      <m:t>on</m:t>
                    </m:r>
                    <m:r>
                      <a:rPr lang="en-US" sz="2000">
                        <a:latin typeface="Cambria Math" panose="02040503050406030204" pitchFamily="18" charset="0"/>
                      </a:rPr>
                      <m:t> </m:t>
                    </m:r>
                    <m:r>
                      <m:rPr>
                        <m:sty m:val="p"/>
                      </m:rPr>
                      <a:rPr lang="en-US" sz="2000">
                        <a:latin typeface="Cambria Math" panose="02040503050406030204" pitchFamily="18" charset="0"/>
                      </a:rPr>
                      <m:t>the</m:t>
                    </m:r>
                    <m:r>
                      <a:rPr lang="en-US" sz="2000">
                        <a:latin typeface="Cambria Math" panose="02040503050406030204" pitchFamily="18" charset="0"/>
                      </a:rPr>
                      <m:t> </m:t>
                    </m:r>
                    <m:r>
                      <m:rPr>
                        <m:sty m:val="p"/>
                      </m:rPr>
                      <a:rPr lang="en-US" sz="2000">
                        <a:latin typeface="Cambria Math" panose="02040503050406030204" pitchFamily="18" charset="0"/>
                      </a:rPr>
                      <m:t>main</m:t>
                    </m:r>
                    <m:r>
                      <a:rPr lang="en-US" sz="2000">
                        <a:latin typeface="Cambria Math" panose="02040503050406030204" pitchFamily="18" charset="0"/>
                      </a:rPr>
                      <m:t> </m:t>
                    </m:r>
                    <m:r>
                      <m:rPr>
                        <m:sty m:val="p"/>
                      </m:rPr>
                      <a:rPr lang="en-US" sz="2000">
                        <a:latin typeface="Cambria Math" panose="02040503050406030204" pitchFamily="18" charset="0"/>
                      </a:rPr>
                      <m:t>diagonal</m:t>
                    </m:r>
                    <m:r>
                      <a:rPr lang="en-US" sz="2000">
                        <a:latin typeface="Cambria Math" panose="02040503050406030204" pitchFamily="18" charset="0"/>
                      </a:rPr>
                      <m:t> </m:t>
                    </m:r>
                    <m:r>
                      <m:rPr>
                        <m:sty m:val="p"/>
                      </m:rPr>
                      <a:rPr lang="en-US" sz="2000">
                        <a:latin typeface="Cambria Math" panose="02040503050406030204" pitchFamily="18" charset="0"/>
                      </a:rPr>
                      <m:t>is</m:t>
                    </m:r>
                    <m:r>
                      <a:rPr lang="en-US" sz="2000">
                        <a:latin typeface="Cambria Math" panose="02040503050406030204" pitchFamily="18" charset="0"/>
                      </a:rPr>
                      <m:t> </m:t>
                    </m:r>
                    <m:r>
                      <m:rPr>
                        <m:sty m:val="p"/>
                      </m:rPr>
                      <a:rPr lang="en-US" sz="2000">
                        <a:latin typeface="Cambria Math" panose="02040503050406030204" pitchFamily="18" charset="0"/>
                      </a:rPr>
                      <m:t>the</m:t>
                    </m:r>
                    <m:r>
                      <a:rPr lang="en-US" sz="2000">
                        <a:latin typeface="Cambria Math" panose="02040503050406030204" pitchFamily="18" charset="0"/>
                      </a:rPr>
                      <m:t> </m:t>
                    </m:r>
                    <m:r>
                      <m:rPr>
                        <m:sty m:val="p"/>
                      </m:rPr>
                      <a:rPr lang="en-US" sz="2000">
                        <a:latin typeface="Cambria Math" panose="02040503050406030204" pitchFamily="18" charset="0"/>
                      </a:rPr>
                      <m:t>trace</m:t>
                    </m:r>
                    <m:r>
                      <a:rPr lang="en-US" sz="2000">
                        <a:latin typeface="Cambria Math" panose="02040503050406030204" pitchFamily="18" charset="0"/>
                      </a:rPr>
                      <m:t> </m:t>
                    </m:r>
                    <m:r>
                      <m:rPr>
                        <m:sty m:val="p"/>
                      </m:rPr>
                      <a:rPr lang="en-US" sz="2000">
                        <a:latin typeface="Cambria Math" panose="02040503050406030204" pitchFamily="18" charset="0"/>
                      </a:rPr>
                      <m:t>of</m:t>
                    </m:r>
                    <m:r>
                      <a:rPr lang="en-US" sz="2000">
                        <a:latin typeface="Cambria Math" panose="02040503050406030204" pitchFamily="18" charset="0"/>
                      </a:rPr>
                      <m:t> </m:t>
                    </m:r>
                    <m:r>
                      <m:rPr>
                        <m:sty m:val="p"/>
                      </m:rPr>
                      <a:rPr lang="en-US" sz="2000">
                        <a:latin typeface="Cambria Math" panose="02040503050406030204" pitchFamily="18" charset="0"/>
                      </a:rPr>
                      <m:t>the</m:t>
                    </m:r>
                    <m:r>
                      <a:rPr lang="en-US" sz="2000">
                        <a:latin typeface="Cambria Math" panose="02040503050406030204" pitchFamily="18" charset="0"/>
                      </a:rPr>
                      <m:t> </m:t>
                    </m:r>
                    <m:r>
                      <m:rPr>
                        <m:sty m:val="p"/>
                      </m:rPr>
                      <a:rPr lang="en-US" sz="2000">
                        <a:latin typeface="Cambria Math" panose="02040503050406030204" pitchFamily="18" charset="0"/>
                      </a:rPr>
                      <m:t>matrix</m:t>
                    </m:r>
                    <m:r>
                      <a:rPr lang="en-US" sz="2000">
                        <a:latin typeface="Cambria Math" panose="02040503050406030204" pitchFamily="18" charset="0"/>
                      </a:rPr>
                      <m:t>::</m:t>
                    </m:r>
                    <m:r>
                      <a:rPr lang="en-US" sz="2000" b="1" i="1" smtClean="0">
                        <a:latin typeface="Cambria Math" panose="02040503050406030204" pitchFamily="18" charset="0"/>
                      </a:rPr>
                      <m:t>𝒕𝒓</m:t>
                    </m:r>
                    <m:r>
                      <a:rPr lang="en-US" sz="2000" b="1" i="1" smtClean="0">
                        <a:latin typeface="Cambria Math" panose="02040503050406030204" pitchFamily="18" charset="0"/>
                      </a:rPr>
                      <m:t>(</m:t>
                    </m:r>
                    <m:r>
                      <a:rPr lang="en-US" sz="2000" b="1" i="1" smtClean="0">
                        <a:latin typeface="Cambria Math" panose="02040503050406030204" pitchFamily="18" charset="0"/>
                      </a:rPr>
                      <m:t>𝑨</m:t>
                    </m:r>
                    <m:r>
                      <a:rPr lang="en-US" sz="2000" b="1" i="1" smtClean="0">
                        <a:latin typeface="Cambria Math" panose="02040503050406030204" pitchFamily="18" charset="0"/>
                      </a:rPr>
                      <m:t>)</m:t>
                    </m:r>
                    <m:r>
                      <a:rPr lang="en-US" sz="2000" b="0" i="0" smtClean="0">
                        <a:latin typeface="Cambria Math" panose="02040503050406030204" pitchFamily="18" charset="0"/>
                      </a:rPr>
                      <m:t> </m:t>
                    </m:r>
                  </m:oMath>
                </a14:m>
                <a:endParaRPr lang="en-US" sz="2000" dirty="0">
                  <a:latin typeface="+mj-lt"/>
                </a:endParaRPr>
              </a:p>
            </p:txBody>
          </p:sp>
        </mc:Choice>
        <mc:Fallback xmlns="">
          <p:sp>
            <p:nvSpPr>
              <p:cNvPr id="18" name="Rectangle 17">
                <a:extLst>
                  <a:ext uri="{FF2B5EF4-FFF2-40B4-BE49-F238E27FC236}">
                    <a16:creationId xmlns:a16="http://schemas.microsoft.com/office/drawing/2014/main" id="{67AF192C-56B3-2E4B-866D-E120EDABC45C}"/>
                  </a:ext>
                </a:extLst>
              </p:cNvPr>
              <p:cNvSpPr>
                <a:spLocks noRot="1" noChangeAspect="1" noMove="1" noResize="1" noEditPoints="1" noAdjustHandles="1" noChangeArrowheads="1" noChangeShapeType="1" noTextEdit="1"/>
              </p:cNvSpPr>
              <p:nvPr/>
            </p:nvSpPr>
            <p:spPr>
              <a:xfrm>
                <a:off x="742951" y="3892061"/>
                <a:ext cx="9277476" cy="732573"/>
              </a:xfrm>
              <a:prstGeom prst="rect">
                <a:avLst/>
              </a:prstGeom>
              <a:blipFill>
                <a:blip r:embed="rId6"/>
                <a:stretch>
                  <a:fillRect l="-547" t="-3390" b="-10169"/>
                </a:stretch>
              </a:blipFill>
            </p:spPr>
            <p:txBody>
              <a:bodyPr/>
              <a:lstStyle/>
              <a:p>
                <a:r>
                  <a:rPr lang="en-US">
                    <a:noFill/>
                  </a:rPr>
                  <a:t> </a:t>
                </a:r>
              </a:p>
            </p:txBody>
          </p:sp>
        </mc:Fallback>
      </mc:AlternateContent>
    </p:spTree>
    <p:extLst>
      <p:ext uri="{BB962C8B-B14F-4D97-AF65-F5344CB8AC3E}">
        <p14:creationId xmlns:p14="http://schemas.microsoft.com/office/powerpoint/2010/main" val="4186772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dissolv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F5F32-8091-264E-8BEB-D0B1774BC638}"/>
              </a:ext>
            </a:extLst>
          </p:cNvPr>
          <p:cNvSpPr>
            <a:spLocks noGrp="1"/>
          </p:cNvSpPr>
          <p:nvPr>
            <p:ph type="title"/>
          </p:nvPr>
        </p:nvSpPr>
        <p:spPr>
          <a:xfrm>
            <a:off x="0" y="0"/>
            <a:ext cx="12192000" cy="928688"/>
          </a:xfrm>
        </p:spPr>
        <p:txBody>
          <a:bodyPr/>
          <a:lstStyle/>
          <a:p>
            <a:r>
              <a:rPr lang="en-ZA" dirty="0"/>
              <a:t>Basic matrix operations </a:t>
            </a:r>
            <a:endParaRPr lang="en-US" dirty="0"/>
          </a:p>
        </p:txBody>
      </p:sp>
      <p:sp>
        <p:nvSpPr>
          <p:cNvPr id="3" name="Slide Number Placeholder 2">
            <a:extLst>
              <a:ext uri="{FF2B5EF4-FFF2-40B4-BE49-F238E27FC236}">
                <a16:creationId xmlns:a16="http://schemas.microsoft.com/office/drawing/2014/main" id="{590AE14B-1409-2F41-BDFA-883EA98B4973}"/>
              </a:ext>
            </a:extLst>
          </p:cNvPr>
          <p:cNvSpPr>
            <a:spLocks noGrp="1"/>
          </p:cNvSpPr>
          <p:nvPr>
            <p:ph type="sldNum" sz="quarter" idx="12"/>
          </p:nvPr>
        </p:nvSpPr>
        <p:spPr/>
        <p:txBody>
          <a:bodyPr/>
          <a:lstStyle/>
          <a:p>
            <a:fld id="{591A223C-FA10-BC46-A853-03BA373D023C}" type="slidenum">
              <a:rPr lang="en-US" smtClean="0"/>
              <a:t>23</a:t>
            </a:fld>
            <a:endParaRPr lang="en-US"/>
          </a:p>
        </p:txBody>
      </p:sp>
      <mc:AlternateContent xmlns:mc="http://schemas.openxmlformats.org/markup-compatibility/2006" xmlns:a14="http://schemas.microsoft.com/office/drawing/2010/main">
        <mc:Choice Requires="a14">
          <p:graphicFrame>
            <p:nvGraphicFramePr>
              <p:cNvPr id="5" name="Table 4">
                <a:extLst>
                  <a:ext uri="{FF2B5EF4-FFF2-40B4-BE49-F238E27FC236}">
                    <a16:creationId xmlns:a16="http://schemas.microsoft.com/office/drawing/2014/main" id="{D70383F4-093D-9846-A085-171C01AFA2B5}"/>
                  </a:ext>
                </a:extLst>
              </p:cNvPr>
              <p:cNvGraphicFramePr>
                <a:graphicFrameLocks noGrp="1"/>
              </p:cNvGraphicFramePr>
              <p:nvPr>
                <p:extLst>
                  <p:ext uri="{D42A27DB-BD31-4B8C-83A1-F6EECF244321}">
                    <p14:modId xmlns:p14="http://schemas.microsoft.com/office/powerpoint/2010/main" val="1185796844"/>
                  </p:ext>
                </p:extLst>
              </p:nvPr>
            </p:nvGraphicFramePr>
            <p:xfrm>
              <a:off x="346828" y="1353668"/>
              <a:ext cx="11440360" cy="4622380"/>
            </p:xfrm>
            <a:graphic>
              <a:graphicData uri="http://schemas.openxmlformats.org/drawingml/2006/table">
                <a:tbl>
                  <a:tblPr firstRow="1" bandRow="1">
                    <a:tableStyleId>{ED083AE6-46FA-4A59-8FB0-9F97EB10719F}</a:tableStyleId>
                  </a:tblPr>
                  <a:tblGrid>
                    <a:gridCol w="5380204">
                      <a:extLst>
                        <a:ext uri="{9D8B030D-6E8A-4147-A177-3AD203B41FA5}">
                          <a16:colId xmlns:a16="http://schemas.microsoft.com/office/drawing/2014/main" val="3579567803"/>
                        </a:ext>
                      </a:extLst>
                    </a:gridCol>
                    <a:gridCol w="6060156">
                      <a:extLst>
                        <a:ext uri="{9D8B030D-6E8A-4147-A177-3AD203B41FA5}">
                          <a16:colId xmlns:a16="http://schemas.microsoft.com/office/drawing/2014/main" val="4022472785"/>
                        </a:ext>
                      </a:extLst>
                    </a:gridCol>
                  </a:tblGrid>
                  <a:tr h="390271">
                    <a:tc>
                      <a:txBody>
                        <a:bodyPr/>
                        <a:lstStyle/>
                        <a:p>
                          <a:pPr algn="ctr"/>
                          <a:r>
                            <a:rPr lang="en-ZA" sz="2400" dirty="0"/>
                            <a:t>Operations</a:t>
                          </a:r>
                          <a:endParaRPr lang="en-US" sz="2100" dirty="0"/>
                        </a:p>
                      </a:txBody>
                      <a:tcPr/>
                    </a:tc>
                    <a:tc>
                      <a:txBody>
                        <a:bodyPr/>
                        <a:lstStyle/>
                        <a:p>
                          <a:pPr algn="ctr"/>
                          <a:r>
                            <a:rPr lang="en-US" sz="2100" dirty="0"/>
                            <a:t>Example</a:t>
                          </a:r>
                        </a:p>
                      </a:txBody>
                      <a:tcPr/>
                    </a:tc>
                    <a:extLst>
                      <a:ext uri="{0D108BD9-81ED-4DB2-BD59-A6C34878D82A}">
                        <a16:rowId xmlns:a16="http://schemas.microsoft.com/office/drawing/2014/main" val="2867364874"/>
                      </a:ext>
                    </a:extLst>
                  </a:tr>
                  <a:tr h="997359">
                    <a:tc>
                      <a:txBody>
                        <a:bodyPr/>
                        <a:lstStyle/>
                        <a:p>
                          <a:r>
                            <a:rPr lang="en-ZA" sz="2100" b="1" dirty="0"/>
                            <a:t>Addition and Subtraction</a:t>
                          </a:r>
                          <a:endParaRPr lang="en-US" sz="2100" b="1" kern="1200" dirty="0">
                            <a:effectLst/>
                          </a:endParaRPr>
                        </a:p>
                        <a:p>
                          <a:r>
                            <a:rPr lang="en-ZA" sz="2100" dirty="0"/>
                            <a:t>Add/subtract elements with the same indices.</a:t>
                          </a:r>
                          <a:endParaRPr lang="en-US" sz="2100" dirty="0"/>
                        </a:p>
                      </a:txBody>
                      <a:tcPr/>
                    </a:tc>
                    <a:tc>
                      <a:txBody>
                        <a:bodyPr/>
                        <a:lstStyle/>
                        <a:p>
                          <a:pPr algn="ctr"/>
                          <a14:m>
                            <m:oMath xmlns:m="http://schemas.openxmlformats.org/officeDocument/2006/math">
                              <m:d>
                                <m:dPr>
                                  <m:ctrlPr>
                                    <a:rPr lang="en-US" sz="2100" i="1" kern="1200" smtClean="0">
                                      <a:effectLst/>
                                      <a:latin typeface="Cambria Math" panose="02040503050406030204" pitchFamily="18" charset="0"/>
                                    </a:rPr>
                                  </m:ctrlPr>
                                </m:dPr>
                                <m:e>
                                  <m:m>
                                    <m:mPr>
                                      <m:mcs>
                                        <m:mc>
                                          <m:mcPr>
                                            <m:count m:val="2"/>
                                            <m:mcJc m:val="center"/>
                                          </m:mcPr>
                                        </m:mc>
                                      </m:mcs>
                                      <m:ctrlPr>
                                        <a:rPr lang="en-US" sz="2100" i="1" kern="1200">
                                          <a:effectLst/>
                                          <a:latin typeface="Cambria Math" panose="02040503050406030204" pitchFamily="18" charset="0"/>
                                        </a:rPr>
                                      </m:ctrlPr>
                                    </m:mPr>
                                    <m:mr>
                                      <m:e>
                                        <m:r>
                                          <a:rPr lang="en-US" sz="2100" kern="1200">
                                            <a:effectLst/>
                                            <a:latin typeface="Cambria Math" panose="02040503050406030204" pitchFamily="18" charset="0"/>
                                          </a:rPr>
                                          <m:t>𝑎</m:t>
                                        </m:r>
                                      </m:e>
                                      <m:e>
                                        <m:r>
                                          <a:rPr lang="en-US" sz="2100" kern="1200">
                                            <a:effectLst/>
                                            <a:latin typeface="Cambria Math" panose="02040503050406030204" pitchFamily="18" charset="0"/>
                                          </a:rPr>
                                          <m:t>𝑏</m:t>
                                        </m:r>
                                      </m:e>
                                    </m:mr>
                                    <m:mr>
                                      <m:e>
                                        <m:r>
                                          <a:rPr lang="en-US" sz="2100" kern="1200">
                                            <a:effectLst/>
                                            <a:latin typeface="Cambria Math" panose="02040503050406030204" pitchFamily="18" charset="0"/>
                                          </a:rPr>
                                          <m:t>𝑐</m:t>
                                        </m:r>
                                      </m:e>
                                      <m:e>
                                        <m:r>
                                          <a:rPr lang="en-US" sz="2100" kern="1200">
                                            <a:effectLst/>
                                            <a:latin typeface="Cambria Math" panose="02040503050406030204" pitchFamily="18" charset="0"/>
                                          </a:rPr>
                                          <m:t>𝑑</m:t>
                                        </m:r>
                                      </m:e>
                                    </m:mr>
                                  </m:m>
                                </m:e>
                              </m:d>
                              <m:r>
                                <a:rPr lang="en-US" sz="2100" kern="1200">
                                  <a:effectLst/>
                                  <a:latin typeface="Cambria Math" panose="02040503050406030204" pitchFamily="18" charset="0"/>
                                </a:rPr>
                                <m:t>+</m:t>
                              </m:r>
                              <m:d>
                                <m:dPr>
                                  <m:ctrlPr>
                                    <a:rPr lang="en-US" sz="2100" i="1" kern="1200">
                                      <a:effectLst/>
                                      <a:latin typeface="Cambria Math" panose="02040503050406030204" pitchFamily="18" charset="0"/>
                                    </a:rPr>
                                  </m:ctrlPr>
                                </m:dPr>
                                <m:e>
                                  <m:m>
                                    <m:mPr>
                                      <m:mcs>
                                        <m:mc>
                                          <m:mcPr>
                                            <m:count m:val="2"/>
                                            <m:mcJc m:val="center"/>
                                          </m:mcPr>
                                        </m:mc>
                                      </m:mcs>
                                      <m:ctrlPr>
                                        <a:rPr lang="en-US" sz="2100" i="1" kern="1200">
                                          <a:effectLst/>
                                          <a:latin typeface="Cambria Math" panose="02040503050406030204" pitchFamily="18" charset="0"/>
                                        </a:rPr>
                                      </m:ctrlPr>
                                    </m:mPr>
                                    <m:mr>
                                      <m:e>
                                        <m:r>
                                          <a:rPr lang="en-US" sz="2100" kern="1200">
                                            <a:effectLst/>
                                            <a:latin typeface="Cambria Math" panose="02040503050406030204" pitchFamily="18" charset="0"/>
                                          </a:rPr>
                                          <m:t>𝑤</m:t>
                                        </m:r>
                                      </m:e>
                                      <m:e>
                                        <m:r>
                                          <a:rPr lang="en-US" sz="2100" kern="1200">
                                            <a:effectLst/>
                                            <a:latin typeface="Cambria Math" panose="02040503050406030204" pitchFamily="18" charset="0"/>
                                          </a:rPr>
                                          <m:t>𝑥</m:t>
                                        </m:r>
                                      </m:e>
                                    </m:mr>
                                    <m:mr>
                                      <m:e>
                                        <m:r>
                                          <a:rPr lang="en-US" sz="2100" kern="1200">
                                            <a:effectLst/>
                                            <a:latin typeface="Cambria Math" panose="02040503050406030204" pitchFamily="18" charset="0"/>
                                          </a:rPr>
                                          <m:t>𝑦</m:t>
                                        </m:r>
                                      </m:e>
                                      <m:e>
                                        <m:r>
                                          <a:rPr lang="en-US" sz="2100" kern="1200">
                                            <a:effectLst/>
                                            <a:latin typeface="Cambria Math" panose="02040503050406030204" pitchFamily="18" charset="0"/>
                                          </a:rPr>
                                          <m:t>𝑧</m:t>
                                        </m:r>
                                      </m:e>
                                    </m:mr>
                                  </m:m>
                                </m:e>
                              </m:d>
                              <m:r>
                                <a:rPr lang="en-US" sz="2100" kern="1200">
                                  <a:effectLst/>
                                  <a:latin typeface="Cambria Math" panose="02040503050406030204" pitchFamily="18" charset="0"/>
                                </a:rPr>
                                <m:t>=</m:t>
                              </m:r>
                              <m:d>
                                <m:dPr>
                                  <m:ctrlPr>
                                    <a:rPr lang="en-US" sz="2100" i="1" kern="1200">
                                      <a:effectLst/>
                                      <a:latin typeface="Cambria Math" panose="02040503050406030204" pitchFamily="18" charset="0"/>
                                    </a:rPr>
                                  </m:ctrlPr>
                                </m:dPr>
                                <m:e>
                                  <m:m>
                                    <m:mPr>
                                      <m:mcs>
                                        <m:mc>
                                          <m:mcPr>
                                            <m:count m:val="2"/>
                                            <m:mcJc m:val="center"/>
                                          </m:mcPr>
                                        </m:mc>
                                      </m:mcs>
                                      <m:ctrlPr>
                                        <a:rPr lang="en-US" sz="2100" i="1" kern="1200">
                                          <a:effectLst/>
                                          <a:latin typeface="Cambria Math" panose="02040503050406030204" pitchFamily="18" charset="0"/>
                                        </a:rPr>
                                      </m:ctrlPr>
                                    </m:mPr>
                                    <m:mr>
                                      <m:e>
                                        <m:r>
                                          <a:rPr lang="en-US" sz="2100" kern="1200">
                                            <a:effectLst/>
                                            <a:latin typeface="Cambria Math" panose="02040503050406030204" pitchFamily="18" charset="0"/>
                                          </a:rPr>
                                          <m:t>𝑎</m:t>
                                        </m:r>
                                        <m:r>
                                          <a:rPr lang="en-US" sz="2100" kern="1200">
                                            <a:effectLst/>
                                            <a:latin typeface="Cambria Math" panose="02040503050406030204" pitchFamily="18" charset="0"/>
                                          </a:rPr>
                                          <m:t>+</m:t>
                                        </m:r>
                                        <m:r>
                                          <a:rPr lang="en-US" sz="2100" kern="1200">
                                            <a:effectLst/>
                                            <a:latin typeface="Cambria Math" panose="02040503050406030204" pitchFamily="18" charset="0"/>
                                          </a:rPr>
                                          <m:t>𝑤</m:t>
                                        </m:r>
                                      </m:e>
                                      <m:e>
                                        <m:r>
                                          <a:rPr lang="en-US" sz="2100" kern="1200">
                                            <a:effectLst/>
                                            <a:latin typeface="Cambria Math" panose="02040503050406030204" pitchFamily="18" charset="0"/>
                                          </a:rPr>
                                          <m:t>𝑏</m:t>
                                        </m:r>
                                        <m:r>
                                          <a:rPr lang="en-US" sz="2100" kern="1200">
                                            <a:effectLst/>
                                            <a:latin typeface="Cambria Math" panose="02040503050406030204" pitchFamily="18" charset="0"/>
                                          </a:rPr>
                                          <m:t>+</m:t>
                                        </m:r>
                                        <m:r>
                                          <a:rPr lang="en-US" sz="2100" kern="1200">
                                            <a:effectLst/>
                                            <a:latin typeface="Cambria Math" panose="02040503050406030204" pitchFamily="18" charset="0"/>
                                          </a:rPr>
                                          <m:t>𝑥</m:t>
                                        </m:r>
                                      </m:e>
                                    </m:mr>
                                    <m:mr>
                                      <m:e>
                                        <m:r>
                                          <a:rPr lang="en-US" sz="2100" kern="1200">
                                            <a:effectLst/>
                                            <a:latin typeface="Cambria Math" panose="02040503050406030204" pitchFamily="18" charset="0"/>
                                          </a:rPr>
                                          <m:t>𝑐</m:t>
                                        </m:r>
                                        <m:r>
                                          <a:rPr lang="en-US" sz="2100" kern="1200">
                                            <a:effectLst/>
                                            <a:latin typeface="Cambria Math" panose="02040503050406030204" pitchFamily="18" charset="0"/>
                                          </a:rPr>
                                          <m:t>+</m:t>
                                        </m:r>
                                        <m:r>
                                          <a:rPr lang="en-US" sz="2100" kern="1200">
                                            <a:effectLst/>
                                            <a:latin typeface="Cambria Math" panose="02040503050406030204" pitchFamily="18" charset="0"/>
                                          </a:rPr>
                                          <m:t>𝑦</m:t>
                                        </m:r>
                                      </m:e>
                                      <m:e>
                                        <m:r>
                                          <a:rPr lang="en-US" sz="2100" kern="1200">
                                            <a:effectLst/>
                                            <a:latin typeface="Cambria Math" panose="02040503050406030204" pitchFamily="18" charset="0"/>
                                          </a:rPr>
                                          <m:t>𝑑</m:t>
                                        </m:r>
                                        <m:r>
                                          <a:rPr lang="en-US" sz="2100" kern="1200">
                                            <a:effectLst/>
                                            <a:latin typeface="Cambria Math" panose="02040503050406030204" pitchFamily="18" charset="0"/>
                                          </a:rPr>
                                          <m:t>+</m:t>
                                        </m:r>
                                        <m:r>
                                          <a:rPr lang="en-US" sz="2100" kern="1200">
                                            <a:effectLst/>
                                            <a:latin typeface="Cambria Math" panose="02040503050406030204" pitchFamily="18" charset="0"/>
                                          </a:rPr>
                                          <m:t>𝑧</m:t>
                                        </m:r>
                                      </m:e>
                                    </m:mr>
                                  </m:m>
                                </m:e>
                              </m:d>
                            </m:oMath>
                          </a14:m>
                          <a:r>
                            <a:rPr lang="en-US" sz="2100" dirty="0">
                              <a:effectLst/>
                            </a:rPr>
                            <a:t> </a:t>
                          </a:r>
                          <a:endParaRPr lang="en-US" sz="2100" dirty="0"/>
                        </a:p>
                      </a:txBody>
                      <a:tcPr/>
                    </a:tc>
                    <a:extLst>
                      <a:ext uri="{0D108BD9-81ED-4DB2-BD59-A6C34878D82A}">
                        <a16:rowId xmlns:a16="http://schemas.microsoft.com/office/drawing/2014/main" val="1944794926"/>
                      </a:ext>
                    </a:extLst>
                  </a:tr>
                  <a:tr h="693815">
                    <a:tc>
                      <a:txBody>
                        <a:bodyPr/>
                        <a:lstStyle/>
                        <a:p>
                          <a:r>
                            <a:rPr lang="en-ZA" sz="2100" b="1" dirty="0"/>
                            <a:t>Multiplication by a scalar</a:t>
                          </a:r>
                        </a:p>
                        <a:p>
                          <a:r>
                            <a:rPr lang="en-ZA" sz="2100" dirty="0"/>
                            <a:t>Multiply each element by a scalar.</a:t>
                          </a:r>
                          <a:endParaRPr lang="en-US" sz="2100" dirty="0"/>
                        </a:p>
                      </a:txBody>
                      <a:tcPr/>
                    </a:tc>
                    <a:tc>
                      <a:txBody>
                        <a:bodyPr/>
                        <a:lstStyle/>
                        <a:p>
                          <a:pPr algn="ctr"/>
                          <a14:m>
                            <m:oMath xmlns:m="http://schemas.openxmlformats.org/officeDocument/2006/math">
                              <m:r>
                                <a:rPr lang="en-US" sz="2100" i="1" kern="1200" smtClean="0">
                                  <a:solidFill>
                                    <a:schemeClr val="tx1"/>
                                  </a:solidFill>
                                  <a:effectLst/>
                                  <a:latin typeface="Cambria Math" panose="02040503050406030204" pitchFamily="18" charset="0"/>
                                  <a:ea typeface="+mn-ea"/>
                                  <a:cs typeface="+mn-cs"/>
                                </a:rPr>
                                <m:t>2</m:t>
                              </m:r>
                              <m:d>
                                <m:dPr>
                                  <m:ctrlPr>
                                    <a:rPr lang="en-US" sz="21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en-US" sz="2100" i="1" kern="1200">
                                          <a:solidFill>
                                            <a:schemeClr val="tx1"/>
                                          </a:solidFill>
                                          <a:effectLst/>
                                          <a:latin typeface="Cambria Math" panose="02040503050406030204" pitchFamily="18" charset="0"/>
                                          <a:ea typeface="+mn-ea"/>
                                          <a:cs typeface="+mn-cs"/>
                                        </a:rPr>
                                      </m:ctrlPr>
                                    </m:mPr>
                                    <m:mr>
                                      <m:e>
                                        <m:r>
                                          <a:rPr lang="en-US" sz="2100" i="1" kern="1200">
                                            <a:solidFill>
                                              <a:schemeClr val="tx1"/>
                                            </a:solidFill>
                                            <a:effectLst/>
                                            <a:latin typeface="Cambria Math" panose="02040503050406030204" pitchFamily="18" charset="0"/>
                                            <a:ea typeface="+mn-ea"/>
                                            <a:cs typeface="+mn-cs"/>
                                          </a:rPr>
                                          <m:t>𝑎</m:t>
                                        </m:r>
                                      </m:e>
                                      <m:e>
                                        <m:r>
                                          <m:rPr>
                                            <m:sty m:val="p"/>
                                          </m:rPr>
                                          <a:rPr lang="en-US" sz="2100" kern="1200">
                                            <a:solidFill>
                                              <a:schemeClr val="tx1"/>
                                            </a:solidFill>
                                            <a:effectLst/>
                                            <a:latin typeface="Cambria Math" panose="02040503050406030204" pitchFamily="18" charset="0"/>
                                            <a:ea typeface="+mn-ea"/>
                                            <a:cs typeface="+mn-cs"/>
                                          </a:rPr>
                                          <m:t>b</m:t>
                                        </m:r>
                                      </m:e>
                                    </m:mr>
                                    <m:mr>
                                      <m:e>
                                        <m:r>
                                          <m:rPr>
                                            <m:sty m:val="p"/>
                                          </m:rPr>
                                          <a:rPr lang="en-US" sz="2100" kern="1200">
                                            <a:solidFill>
                                              <a:schemeClr val="tx1"/>
                                            </a:solidFill>
                                            <a:effectLst/>
                                            <a:latin typeface="Cambria Math" panose="02040503050406030204" pitchFamily="18" charset="0"/>
                                            <a:ea typeface="+mn-ea"/>
                                            <a:cs typeface="+mn-cs"/>
                                          </a:rPr>
                                          <m:t>c</m:t>
                                        </m:r>
                                      </m:e>
                                      <m:e>
                                        <m:r>
                                          <a:rPr lang="en-US" sz="2100" i="1" kern="1200">
                                            <a:solidFill>
                                              <a:schemeClr val="tx1"/>
                                            </a:solidFill>
                                            <a:effectLst/>
                                            <a:latin typeface="Cambria Math" panose="02040503050406030204" pitchFamily="18" charset="0"/>
                                            <a:ea typeface="+mn-ea"/>
                                            <a:cs typeface="+mn-cs"/>
                                          </a:rPr>
                                          <m:t>𝑑</m:t>
                                        </m:r>
                                      </m:e>
                                    </m:mr>
                                  </m:m>
                                </m:e>
                              </m:d>
                              <m:r>
                                <a:rPr lang="en-US" sz="2100" i="1" kern="1200">
                                  <a:solidFill>
                                    <a:schemeClr val="tx1"/>
                                  </a:solidFill>
                                  <a:effectLst/>
                                  <a:latin typeface="Cambria Math" panose="02040503050406030204" pitchFamily="18" charset="0"/>
                                  <a:ea typeface="+mn-ea"/>
                                  <a:cs typeface="+mn-cs"/>
                                </a:rPr>
                                <m:t>=</m:t>
                              </m:r>
                              <m:d>
                                <m:dPr>
                                  <m:ctrlPr>
                                    <a:rPr lang="en-US" sz="21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en-US" sz="2100" i="1" kern="1200">
                                          <a:solidFill>
                                            <a:schemeClr val="tx1"/>
                                          </a:solidFill>
                                          <a:effectLst/>
                                          <a:latin typeface="Cambria Math" panose="02040503050406030204" pitchFamily="18" charset="0"/>
                                          <a:ea typeface="+mn-ea"/>
                                          <a:cs typeface="+mn-cs"/>
                                        </a:rPr>
                                      </m:ctrlPr>
                                    </m:mPr>
                                    <m:mr>
                                      <m:e>
                                        <m:r>
                                          <a:rPr lang="en-US" sz="2100" i="1" kern="1200">
                                            <a:solidFill>
                                              <a:schemeClr val="tx1"/>
                                            </a:solidFill>
                                            <a:effectLst/>
                                            <a:latin typeface="Cambria Math" panose="02040503050406030204" pitchFamily="18" charset="0"/>
                                            <a:ea typeface="+mn-ea"/>
                                            <a:cs typeface="+mn-cs"/>
                                          </a:rPr>
                                          <m:t>2</m:t>
                                        </m:r>
                                        <m:r>
                                          <a:rPr lang="en-US" sz="2100" i="1" kern="1200">
                                            <a:solidFill>
                                              <a:schemeClr val="tx1"/>
                                            </a:solidFill>
                                            <a:effectLst/>
                                            <a:latin typeface="Cambria Math" panose="02040503050406030204" pitchFamily="18" charset="0"/>
                                            <a:ea typeface="+mn-ea"/>
                                            <a:cs typeface="+mn-cs"/>
                                          </a:rPr>
                                          <m:t>𝑎</m:t>
                                        </m:r>
                                      </m:e>
                                      <m:e>
                                        <m:r>
                                          <a:rPr lang="en-US" sz="2100" kern="1200">
                                            <a:solidFill>
                                              <a:schemeClr val="tx1"/>
                                            </a:solidFill>
                                            <a:effectLst/>
                                            <a:latin typeface="Cambria Math" panose="02040503050406030204" pitchFamily="18" charset="0"/>
                                            <a:ea typeface="+mn-ea"/>
                                            <a:cs typeface="+mn-cs"/>
                                          </a:rPr>
                                          <m:t>2</m:t>
                                        </m:r>
                                        <m:r>
                                          <m:rPr>
                                            <m:sty m:val="p"/>
                                          </m:rPr>
                                          <a:rPr lang="en-US" sz="2100" kern="1200">
                                            <a:solidFill>
                                              <a:schemeClr val="tx1"/>
                                            </a:solidFill>
                                            <a:effectLst/>
                                            <a:latin typeface="Cambria Math" panose="02040503050406030204" pitchFamily="18" charset="0"/>
                                            <a:ea typeface="+mn-ea"/>
                                            <a:cs typeface="+mn-cs"/>
                                          </a:rPr>
                                          <m:t>b</m:t>
                                        </m:r>
                                      </m:e>
                                    </m:mr>
                                    <m:mr>
                                      <m:e>
                                        <m:r>
                                          <a:rPr lang="en-US" sz="2100" kern="1200">
                                            <a:solidFill>
                                              <a:schemeClr val="tx1"/>
                                            </a:solidFill>
                                            <a:effectLst/>
                                            <a:latin typeface="Cambria Math" panose="02040503050406030204" pitchFamily="18" charset="0"/>
                                            <a:ea typeface="+mn-ea"/>
                                            <a:cs typeface="+mn-cs"/>
                                          </a:rPr>
                                          <m:t>2</m:t>
                                        </m:r>
                                        <m:r>
                                          <m:rPr>
                                            <m:sty m:val="p"/>
                                          </m:rPr>
                                          <a:rPr lang="en-US" sz="2100" kern="1200">
                                            <a:solidFill>
                                              <a:schemeClr val="tx1"/>
                                            </a:solidFill>
                                            <a:effectLst/>
                                            <a:latin typeface="Cambria Math" panose="02040503050406030204" pitchFamily="18" charset="0"/>
                                            <a:ea typeface="+mn-ea"/>
                                            <a:cs typeface="+mn-cs"/>
                                          </a:rPr>
                                          <m:t>c</m:t>
                                        </m:r>
                                      </m:e>
                                      <m:e>
                                        <m:r>
                                          <a:rPr lang="en-US" sz="2100" i="1" kern="1200">
                                            <a:solidFill>
                                              <a:schemeClr val="tx1"/>
                                            </a:solidFill>
                                            <a:effectLst/>
                                            <a:latin typeface="Cambria Math" panose="02040503050406030204" pitchFamily="18" charset="0"/>
                                            <a:ea typeface="+mn-ea"/>
                                            <a:cs typeface="+mn-cs"/>
                                          </a:rPr>
                                          <m:t>2</m:t>
                                        </m:r>
                                        <m:r>
                                          <a:rPr lang="en-US" sz="2100" i="1" kern="1200">
                                            <a:solidFill>
                                              <a:schemeClr val="tx1"/>
                                            </a:solidFill>
                                            <a:effectLst/>
                                            <a:latin typeface="Cambria Math" panose="02040503050406030204" pitchFamily="18" charset="0"/>
                                            <a:ea typeface="+mn-ea"/>
                                            <a:cs typeface="+mn-cs"/>
                                          </a:rPr>
                                          <m:t>𝑑</m:t>
                                        </m:r>
                                      </m:e>
                                    </m:mr>
                                  </m:m>
                                </m:e>
                              </m:d>
                            </m:oMath>
                          </a14:m>
                          <a:r>
                            <a:rPr lang="en-US" sz="2100" dirty="0">
                              <a:effectLst/>
                            </a:rPr>
                            <a:t> </a:t>
                          </a:r>
                          <a:endParaRPr lang="en-US" sz="2100" dirty="0"/>
                        </a:p>
                      </a:txBody>
                      <a:tcPr/>
                    </a:tc>
                    <a:extLst>
                      <a:ext uri="{0D108BD9-81ED-4DB2-BD59-A6C34878D82A}">
                        <a16:rowId xmlns:a16="http://schemas.microsoft.com/office/drawing/2014/main" val="1232007365"/>
                      </a:ext>
                    </a:extLst>
                  </a:tr>
                  <a:tr h="997359">
                    <a:tc>
                      <a:txBody>
                        <a:bodyPr/>
                        <a:lstStyle/>
                        <a:p>
                          <a:r>
                            <a:rPr lang="en-ZA" sz="2100" b="1" dirty="0"/>
                            <a:t>Transpose</a:t>
                          </a:r>
                          <a:r>
                            <a:rPr lang="en-US" sz="2100" dirty="0">
                              <a:effectLst/>
                            </a:rPr>
                            <a:t> </a:t>
                          </a:r>
                        </a:p>
                        <a:p>
                          <a:r>
                            <a:rPr lang="en-ZA" sz="2100" dirty="0"/>
                            <a:t>Swap rows and columns</a:t>
                          </a:r>
                          <a:r>
                            <a:rPr lang="en-US" sz="2100" kern="1200" baseline="0" dirty="0">
                              <a:solidFill>
                                <a:schemeClr val="tx1"/>
                              </a:solidFill>
                              <a:effectLst/>
                              <a:latin typeface="+mn-lt"/>
                              <a:ea typeface="+mn-ea"/>
                              <a:cs typeface="+mn-cs"/>
                            </a:rPr>
                            <a:t>.</a:t>
                          </a:r>
                          <a:endParaRPr lang="en-US" sz="2100" dirty="0"/>
                        </a:p>
                      </a:txBody>
                      <a:tcPr/>
                    </a:tc>
                    <a:tc>
                      <a:txBody>
                        <a:bodyPr/>
                        <a:lstStyle/>
                        <a:p>
                          <a:pPr algn="ctr"/>
                          <a14:m>
                            <m:oMath xmlns:m="http://schemas.openxmlformats.org/officeDocument/2006/math">
                              <m:sSup>
                                <m:sSupPr>
                                  <m:ctrlPr>
                                    <a:rPr lang="en-US" sz="2100" i="1" kern="1200" smtClean="0">
                                      <a:solidFill>
                                        <a:schemeClr val="tx1"/>
                                      </a:solidFill>
                                      <a:effectLst/>
                                      <a:latin typeface="Cambria Math" panose="02040503050406030204" pitchFamily="18" charset="0"/>
                                      <a:ea typeface="+mn-ea"/>
                                      <a:cs typeface="+mn-cs"/>
                                    </a:rPr>
                                  </m:ctrlPr>
                                </m:sSupPr>
                                <m:e>
                                  <m:d>
                                    <m:dPr>
                                      <m:ctrlPr>
                                        <a:rPr lang="en-US" sz="2100" i="1" kern="1200">
                                          <a:solidFill>
                                            <a:schemeClr val="tx1"/>
                                          </a:solidFill>
                                          <a:effectLst/>
                                          <a:latin typeface="Cambria Math" panose="02040503050406030204" pitchFamily="18" charset="0"/>
                                          <a:ea typeface="+mn-ea"/>
                                          <a:cs typeface="+mn-cs"/>
                                        </a:rPr>
                                      </m:ctrlPr>
                                    </m:dPr>
                                    <m:e>
                                      <m:m>
                                        <m:mPr>
                                          <m:mcs>
                                            <m:mc>
                                              <m:mcPr>
                                                <m:count m:val="2"/>
                                                <m:mcJc m:val="center"/>
                                              </m:mcPr>
                                            </m:mc>
                                          </m:mcs>
                                          <m:ctrlPr>
                                            <a:rPr lang="en-US" sz="2100" i="1" kern="1200">
                                              <a:solidFill>
                                                <a:schemeClr val="tx1"/>
                                              </a:solidFill>
                                              <a:effectLst/>
                                              <a:latin typeface="Cambria Math" panose="02040503050406030204" pitchFamily="18" charset="0"/>
                                              <a:ea typeface="+mn-ea"/>
                                              <a:cs typeface="+mn-cs"/>
                                            </a:rPr>
                                          </m:ctrlPr>
                                        </m:mPr>
                                        <m:mr>
                                          <m:e>
                                            <m:r>
                                              <a:rPr lang="en-US" sz="2100" i="1" kern="1200">
                                                <a:solidFill>
                                                  <a:schemeClr val="tx1"/>
                                                </a:solidFill>
                                                <a:effectLst/>
                                                <a:latin typeface="Cambria Math" panose="02040503050406030204" pitchFamily="18" charset="0"/>
                                                <a:ea typeface="+mn-ea"/>
                                                <a:cs typeface="+mn-cs"/>
                                              </a:rPr>
                                              <m:t>𝑎</m:t>
                                            </m:r>
                                          </m:e>
                                          <m:e>
                                            <m:r>
                                              <a:rPr lang="en-US" sz="2100" i="1" kern="1200">
                                                <a:solidFill>
                                                  <a:schemeClr val="tx1"/>
                                                </a:solidFill>
                                                <a:effectLst/>
                                                <a:latin typeface="Cambria Math" panose="02040503050406030204" pitchFamily="18" charset="0"/>
                                                <a:ea typeface="+mn-ea"/>
                                                <a:cs typeface="+mn-cs"/>
                                              </a:rPr>
                                              <m:t>𝑏</m:t>
                                            </m:r>
                                          </m:e>
                                        </m:mr>
                                        <m:mr>
                                          <m:e>
                                            <m:r>
                                              <m:rPr>
                                                <m:sty m:val="p"/>
                                              </m:rPr>
                                              <a:rPr lang="en-US" sz="2100" kern="1200">
                                                <a:solidFill>
                                                  <a:schemeClr val="tx1"/>
                                                </a:solidFill>
                                                <a:effectLst/>
                                                <a:latin typeface="Cambria Math" panose="02040503050406030204" pitchFamily="18" charset="0"/>
                                                <a:ea typeface="+mn-ea"/>
                                                <a:cs typeface="+mn-cs"/>
                                              </a:rPr>
                                              <m:t>c</m:t>
                                            </m:r>
                                          </m:e>
                                          <m:e>
                                            <m:r>
                                              <m:rPr>
                                                <m:sty m:val="p"/>
                                              </m:rPr>
                                              <a:rPr lang="en-US" sz="2100" kern="1200">
                                                <a:solidFill>
                                                  <a:schemeClr val="tx1"/>
                                                </a:solidFill>
                                                <a:effectLst/>
                                                <a:latin typeface="Cambria Math" panose="02040503050406030204" pitchFamily="18" charset="0"/>
                                                <a:ea typeface="+mn-ea"/>
                                                <a:cs typeface="+mn-cs"/>
                                              </a:rPr>
                                              <m:t>d</m:t>
                                            </m:r>
                                          </m:e>
                                        </m:mr>
                                        <m:mr>
                                          <m:e>
                                            <m:r>
                                              <m:rPr>
                                                <m:sty m:val="p"/>
                                              </m:rPr>
                                              <a:rPr lang="en-US" sz="2100" kern="1200">
                                                <a:solidFill>
                                                  <a:schemeClr val="tx1"/>
                                                </a:solidFill>
                                                <a:effectLst/>
                                                <a:latin typeface="Cambria Math" panose="02040503050406030204" pitchFamily="18" charset="0"/>
                                                <a:ea typeface="+mn-ea"/>
                                                <a:cs typeface="+mn-cs"/>
                                              </a:rPr>
                                              <m:t>e</m:t>
                                            </m:r>
                                          </m:e>
                                          <m:e>
                                            <m:r>
                                              <m:rPr>
                                                <m:sty m:val="p"/>
                                              </m:rPr>
                                              <a:rPr lang="en-US" sz="2100" kern="1200">
                                                <a:solidFill>
                                                  <a:schemeClr val="tx1"/>
                                                </a:solidFill>
                                                <a:effectLst/>
                                                <a:latin typeface="Cambria Math" panose="02040503050406030204" pitchFamily="18" charset="0"/>
                                                <a:ea typeface="+mn-ea"/>
                                                <a:cs typeface="+mn-cs"/>
                                              </a:rPr>
                                              <m:t>f</m:t>
                                            </m:r>
                                          </m:e>
                                        </m:mr>
                                      </m:m>
                                    </m:e>
                                  </m:d>
                                </m:e>
                                <m:sup>
                                  <m:r>
                                    <a:rPr lang="en-US" sz="2100" i="1" kern="1200">
                                      <a:solidFill>
                                        <a:schemeClr val="tx1"/>
                                      </a:solidFill>
                                      <a:effectLst/>
                                      <a:latin typeface="Cambria Math" panose="02040503050406030204" pitchFamily="18" charset="0"/>
                                      <a:ea typeface="+mn-ea"/>
                                      <a:cs typeface="+mn-cs"/>
                                    </a:rPr>
                                    <m:t>𝑇</m:t>
                                  </m:r>
                                </m:sup>
                              </m:sSup>
                              <m:r>
                                <a:rPr lang="en-US" sz="2100" i="1" kern="1200">
                                  <a:solidFill>
                                    <a:schemeClr val="tx1"/>
                                  </a:solidFill>
                                  <a:effectLst/>
                                  <a:latin typeface="Cambria Math" panose="02040503050406030204" pitchFamily="18" charset="0"/>
                                  <a:ea typeface="+mn-ea"/>
                                  <a:cs typeface="+mn-cs"/>
                                </a:rPr>
                                <m:t>= </m:t>
                              </m:r>
                              <m:d>
                                <m:dPr>
                                  <m:ctrlPr>
                                    <a:rPr lang="en-US" sz="2100" i="1" kern="1200">
                                      <a:solidFill>
                                        <a:schemeClr val="tx1"/>
                                      </a:solidFill>
                                      <a:effectLst/>
                                      <a:latin typeface="Cambria Math" panose="02040503050406030204" pitchFamily="18" charset="0"/>
                                      <a:ea typeface="+mn-ea"/>
                                      <a:cs typeface="+mn-cs"/>
                                    </a:rPr>
                                  </m:ctrlPr>
                                </m:dPr>
                                <m:e>
                                  <m:m>
                                    <m:mPr>
                                      <m:mcs>
                                        <m:mc>
                                          <m:mcPr>
                                            <m:count m:val="3"/>
                                            <m:mcJc m:val="center"/>
                                          </m:mcPr>
                                        </m:mc>
                                      </m:mcs>
                                      <m:ctrlPr>
                                        <a:rPr lang="en-US" sz="2100" i="1" kern="1200">
                                          <a:solidFill>
                                            <a:schemeClr val="tx1"/>
                                          </a:solidFill>
                                          <a:effectLst/>
                                          <a:latin typeface="Cambria Math" panose="02040503050406030204" pitchFamily="18" charset="0"/>
                                          <a:ea typeface="+mn-ea"/>
                                          <a:cs typeface="+mn-cs"/>
                                        </a:rPr>
                                      </m:ctrlPr>
                                    </m:mPr>
                                    <m:mr>
                                      <m:e>
                                        <m:r>
                                          <a:rPr lang="en-US" sz="2100" i="1" kern="1200">
                                            <a:solidFill>
                                              <a:schemeClr val="tx1"/>
                                            </a:solidFill>
                                            <a:effectLst/>
                                            <a:latin typeface="Cambria Math" panose="02040503050406030204" pitchFamily="18" charset="0"/>
                                            <a:ea typeface="+mn-ea"/>
                                            <a:cs typeface="+mn-cs"/>
                                          </a:rPr>
                                          <m:t>𝑎</m:t>
                                        </m:r>
                                      </m:e>
                                      <m:e>
                                        <m:r>
                                          <a:rPr lang="en-US" sz="2100" i="1" kern="1200">
                                            <a:solidFill>
                                              <a:schemeClr val="tx1"/>
                                            </a:solidFill>
                                            <a:effectLst/>
                                            <a:latin typeface="Cambria Math" panose="02040503050406030204" pitchFamily="18" charset="0"/>
                                            <a:ea typeface="+mn-ea"/>
                                            <a:cs typeface="+mn-cs"/>
                                          </a:rPr>
                                          <m:t>𝑐</m:t>
                                        </m:r>
                                      </m:e>
                                      <m:e>
                                        <m:r>
                                          <a:rPr lang="en-US" sz="2100" i="1" kern="1200">
                                            <a:solidFill>
                                              <a:schemeClr val="tx1"/>
                                            </a:solidFill>
                                            <a:effectLst/>
                                            <a:latin typeface="Cambria Math" panose="02040503050406030204" pitchFamily="18" charset="0"/>
                                            <a:ea typeface="+mn-ea"/>
                                            <a:cs typeface="+mn-cs"/>
                                          </a:rPr>
                                          <m:t>𝑒</m:t>
                                        </m:r>
                                      </m:e>
                                    </m:mr>
                                    <m:mr>
                                      <m:e>
                                        <m:r>
                                          <m:rPr>
                                            <m:sty m:val="p"/>
                                          </m:rPr>
                                          <a:rPr lang="en-US" sz="2100" kern="1200">
                                            <a:solidFill>
                                              <a:schemeClr val="tx1"/>
                                            </a:solidFill>
                                            <a:effectLst/>
                                            <a:latin typeface="Cambria Math" panose="02040503050406030204" pitchFamily="18" charset="0"/>
                                            <a:ea typeface="+mn-ea"/>
                                            <a:cs typeface="+mn-cs"/>
                                          </a:rPr>
                                          <m:t>b</m:t>
                                        </m:r>
                                      </m:e>
                                      <m:e>
                                        <m:r>
                                          <m:rPr>
                                            <m:sty m:val="p"/>
                                          </m:rPr>
                                          <a:rPr lang="en-US" sz="2100" kern="1200">
                                            <a:solidFill>
                                              <a:schemeClr val="tx1"/>
                                            </a:solidFill>
                                            <a:effectLst/>
                                            <a:latin typeface="Cambria Math" panose="02040503050406030204" pitchFamily="18" charset="0"/>
                                            <a:ea typeface="+mn-ea"/>
                                            <a:cs typeface="+mn-cs"/>
                                          </a:rPr>
                                          <m:t>d</m:t>
                                        </m:r>
                                      </m:e>
                                      <m:e>
                                        <m:r>
                                          <m:rPr>
                                            <m:sty m:val="p"/>
                                          </m:rPr>
                                          <a:rPr lang="en-US" sz="2100" kern="1200">
                                            <a:solidFill>
                                              <a:schemeClr val="tx1"/>
                                            </a:solidFill>
                                            <a:effectLst/>
                                            <a:latin typeface="Cambria Math" panose="02040503050406030204" pitchFamily="18" charset="0"/>
                                            <a:ea typeface="+mn-ea"/>
                                            <a:cs typeface="+mn-cs"/>
                                          </a:rPr>
                                          <m:t>f</m:t>
                                        </m:r>
                                      </m:e>
                                    </m:mr>
                                  </m:m>
                                </m:e>
                              </m:d>
                            </m:oMath>
                          </a14:m>
                          <a:r>
                            <a:rPr lang="en-US" sz="2100" dirty="0">
                              <a:effectLst/>
                            </a:rPr>
                            <a:t> </a:t>
                          </a:r>
                          <a:endParaRPr lang="en-US" sz="2100" dirty="0"/>
                        </a:p>
                      </a:txBody>
                      <a:tcPr/>
                    </a:tc>
                    <a:extLst>
                      <a:ext uri="{0D108BD9-81ED-4DB2-BD59-A6C34878D82A}">
                        <a16:rowId xmlns:a16="http://schemas.microsoft.com/office/drawing/2014/main" val="4003669842"/>
                      </a:ext>
                    </a:extLst>
                  </a:tr>
                  <a:tr h="1428683">
                    <a:tc>
                      <a:txBody>
                        <a:bodyPr/>
                        <a:lstStyle/>
                        <a:p>
                          <a:r>
                            <a:rPr lang="en-ZA" sz="2100" b="1" dirty="0"/>
                            <a:t>Conjugate Transpose</a:t>
                          </a:r>
                          <a:endParaRPr lang="en-US" sz="2100" b="1" kern="1200" dirty="0">
                            <a:solidFill>
                              <a:schemeClr val="tx1"/>
                            </a:solidFill>
                            <a:effectLst/>
                            <a:latin typeface="+mn-lt"/>
                            <a:ea typeface="+mn-ea"/>
                            <a:cs typeface="+mn-cs"/>
                          </a:endParaRPr>
                        </a:p>
                        <a:p>
                          <a:r>
                            <a:rPr lang="en-ZA" dirty="0"/>
                            <a:t>Take the complex conjugate of all elements, then transpose the matrix.</a:t>
                          </a:r>
                          <a:endParaRPr lang="en-US" sz="1800" b="0" kern="1200" dirty="0">
                            <a:solidFill>
                              <a:schemeClr val="tx1"/>
                            </a:solidFill>
                            <a:effectLst/>
                            <a:latin typeface="+mn-lt"/>
                            <a:ea typeface="+mn-ea"/>
                            <a:cs typeface="+mn-cs"/>
                          </a:endParaRPr>
                        </a:p>
                        <a:p>
                          <a:pPr/>
                          <a14:m>
                            <m:oMathPara xmlns:m="http://schemas.openxmlformats.org/officeDocument/2006/math">
                              <m:oMathParaPr>
                                <m:jc m:val="centerGroup"/>
                              </m:oMathParaPr>
                              <m:oMath xmlns:m="http://schemas.openxmlformats.org/officeDocument/2006/math">
                                <m:sSup>
                                  <m:sSupPr>
                                    <m:ctrlPr>
                                      <a:rPr lang="en-US" sz="2400" b="0" i="1" kern="1200" smtClean="0">
                                        <a:solidFill>
                                          <a:schemeClr val="tx1"/>
                                        </a:solidFill>
                                        <a:effectLst/>
                                        <a:latin typeface="Cambria Math" panose="02040503050406030204" pitchFamily="18" charset="0"/>
                                        <a:ea typeface="+mn-ea"/>
                                        <a:cs typeface="+mn-cs"/>
                                      </a:rPr>
                                    </m:ctrlPr>
                                  </m:sSupPr>
                                  <m:e>
                                    <m:r>
                                      <a:rPr lang="en-US" sz="2400" b="0" i="1" kern="1200" smtClean="0">
                                        <a:solidFill>
                                          <a:schemeClr val="tx1"/>
                                        </a:solidFill>
                                        <a:effectLst/>
                                        <a:latin typeface="Cambria Math" panose="02040503050406030204" pitchFamily="18" charset="0"/>
                                        <a:ea typeface="+mn-ea"/>
                                        <a:cs typeface="+mn-cs"/>
                                      </a:rPr>
                                      <m:t>𝐴</m:t>
                                    </m:r>
                                  </m:e>
                                  <m:sup>
                                    <m:r>
                                      <a:rPr lang="en-US" sz="2400" b="0" i="1" kern="1200">
                                        <a:solidFill>
                                          <a:schemeClr val="tx1"/>
                                        </a:solidFill>
                                        <a:effectLst/>
                                        <a:latin typeface="Cambria Math" panose="02040503050406030204" pitchFamily="18" charset="0"/>
                                        <a:ea typeface="+mn-ea"/>
                                        <a:cs typeface="+mn-cs"/>
                                      </a:rPr>
                                      <m:t>†</m:t>
                                    </m:r>
                                  </m:sup>
                                </m:sSup>
                                <m:r>
                                  <a:rPr lang="en-US" sz="2400" b="0" i="1" kern="1200" smtClean="0">
                                    <a:solidFill>
                                      <a:schemeClr val="tx1"/>
                                    </a:solidFill>
                                    <a:effectLst/>
                                    <a:latin typeface="Cambria Math" panose="02040503050406030204" pitchFamily="18" charset="0"/>
                                    <a:ea typeface="+mn-ea"/>
                                    <a:cs typeface="+mn-cs"/>
                                  </a:rPr>
                                  <m:t>=</m:t>
                                </m:r>
                                <m:sSup>
                                  <m:sSupPr>
                                    <m:ctrlPr>
                                      <a:rPr lang="en-US" sz="2400" b="0" i="1" kern="1200" smtClean="0">
                                        <a:solidFill>
                                          <a:schemeClr val="tx1"/>
                                        </a:solidFill>
                                        <a:effectLst/>
                                        <a:latin typeface="Cambria Math" panose="02040503050406030204" pitchFamily="18" charset="0"/>
                                        <a:ea typeface="+mn-ea"/>
                                        <a:cs typeface="+mn-cs"/>
                                      </a:rPr>
                                    </m:ctrlPr>
                                  </m:sSupPr>
                                  <m:e>
                                    <m:r>
                                      <a:rPr lang="en-US" sz="2400" b="0" i="1" kern="1200" smtClean="0">
                                        <a:solidFill>
                                          <a:schemeClr val="tx1"/>
                                        </a:solidFill>
                                        <a:effectLst/>
                                        <a:latin typeface="Cambria Math" panose="02040503050406030204" pitchFamily="18" charset="0"/>
                                        <a:ea typeface="+mn-ea"/>
                                        <a:cs typeface="+mn-cs"/>
                                      </a:rPr>
                                      <m:t>(</m:t>
                                    </m:r>
                                    <m:sSup>
                                      <m:sSupPr>
                                        <m:ctrlPr>
                                          <a:rPr lang="en-US" sz="2400" b="0" i="1" kern="1200" smtClean="0">
                                            <a:solidFill>
                                              <a:schemeClr val="tx1"/>
                                            </a:solidFill>
                                            <a:effectLst/>
                                            <a:latin typeface="Cambria Math" panose="02040503050406030204" pitchFamily="18" charset="0"/>
                                            <a:ea typeface="+mn-ea"/>
                                            <a:cs typeface="+mn-cs"/>
                                          </a:rPr>
                                        </m:ctrlPr>
                                      </m:sSupPr>
                                      <m:e>
                                        <m:r>
                                          <a:rPr lang="en-US" sz="2400" b="0" i="1" kern="1200" smtClean="0">
                                            <a:solidFill>
                                              <a:schemeClr val="tx1"/>
                                            </a:solidFill>
                                            <a:effectLst/>
                                            <a:latin typeface="Cambria Math" panose="02040503050406030204" pitchFamily="18" charset="0"/>
                                            <a:ea typeface="+mn-ea"/>
                                            <a:cs typeface="+mn-cs"/>
                                          </a:rPr>
                                          <m:t>𝐴</m:t>
                                        </m:r>
                                      </m:e>
                                      <m:sup>
                                        <m:r>
                                          <a:rPr lang="en-US" sz="2400" b="0" i="1" kern="1200" smtClean="0">
                                            <a:solidFill>
                                              <a:schemeClr val="tx1"/>
                                            </a:solidFill>
                                            <a:effectLst/>
                                            <a:latin typeface="Cambria Math" panose="02040503050406030204" pitchFamily="18" charset="0"/>
                                            <a:ea typeface="+mn-ea"/>
                                            <a:cs typeface="+mn-cs"/>
                                          </a:rPr>
                                          <m:t>∗</m:t>
                                        </m:r>
                                      </m:sup>
                                    </m:sSup>
                                    <m:r>
                                      <a:rPr lang="en-US" sz="2400" b="0" i="1" kern="1200" smtClean="0">
                                        <a:solidFill>
                                          <a:schemeClr val="tx1"/>
                                        </a:solidFill>
                                        <a:effectLst/>
                                        <a:latin typeface="Cambria Math" panose="02040503050406030204" pitchFamily="18" charset="0"/>
                                        <a:ea typeface="+mn-ea"/>
                                        <a:cs typeface="+mn-cs"/>
                                      </a:rPr>
                                      <m:t>)</m:t>
                                    </m:r>
                                  </m:e>
                                  <m:sup>
                                    <m:r>
                                      <a:rPr lang="en-US" sz="2400" b="0" i="1" kern="1200" smtClean="0">
                                        <a:solidFill>
                                          <a:schemeClr val="tx1"/>
                                        </a:solidFill>
                                        <a:effectLst/>
                                        <a:latin typeface="Cambria Math" panose="02040503050406030204" pitchFamily="18" charset="0"/>
                                        <a:ea typeface="+mn-ea"/>
                                        <a:cs typeface="+mn-cs"/>
                                      </a:rPr>
                                      <m:t>𝑇</m:t>
                                    </m:r>
                                  </m:sup>
                                </m:sSup>
                              </m:oMath>
                            </m:oMathPara>
                          </a14:m>
                          <a:endParaRPr lang="en-US" sz="2100" b="0" dirty="0"/>
                        </a:p>
                      </a:txBody>
                      <a:tcPr/>
                    </a:tc>
                    <a:tc>
                      <a:txBody>
                        <a:bodyPr/>
                        <a:lstStyle/>
                        <a:p>
                          <a:pPr algn="ctr"/>
                          <a:endParaRPr lang="en-US" sz="2100" b="0" i="1" kern="1200" dirty="0">
                            <a:solidFill>
                              <a:schemeClr val="tx1"/>
                            </a:solidFill>
                            <a:effectLst/>
                            <a:latin typeface="Cambria Math" panose="02040503050406030204" pitchFamily="18" charset="0"/>
                            <a:ea typeface="+mn-ea"/>
                            <a:cs typeface="+mn-cs"/>
                          </a:endParaRPr>
                        </a:p>
                        <a:p>
                          <a:pPr algn="ctr"/>
                          <a14:m>
                            <m:oMath xmlns:m="http://schemas.openxmlformats.org/officeDocument/2006/math">
                              <m:sSup>
                                <m:sSupPr>
                                  <m:ctrlPr>
                                    <a:rPr lang="en-US" sz="2100" b="0" i="1" kern="1200" smtClean="0">
                                      <a:solidFill>
                                        <a:schemeClr val="tx1"/>
                                      </a:solidFill>
                                      <a:effectLst/>
                                      <a:latin typeface="Cambria Math" panose="02040503050406030204" pitchFamily="18" charset="0"/>
                                      <a:ea typeface="+mn-ea"/>
                                      <a:cs typeface="+mn-cs"/>
                                    </a:rPr>
                                  </m:ctrlPr>
                                </m:sSupPr>
                                <m:e>
                                  <m:d>
                                    <m:dPr>
                                      <m:ctrlPr>
                                        <a:rPr lang="en-US" sz="2100" i="1" kern="1200" smtClean="0">
                                          <a:solidFill>
                                            <a:schemeClr val="tx1"/>
                                          </a:solidFill>
                                          <a:effectLst/>
                                          <a:latin typeface="Cambria Math" panose="02040503050406030204" pitchFamily="18" charset="0"/>
                                          <a:ea typeface="+mn-ea"/>
                                          <a:cs typeface="+mn-cs"/>
                                        </a:rPr>
                                      </m:ctrlPr>
                                    </m:dPr>
                                    <m:e>
                                      <m:m>
                                        <m:mPr>
                                          <m:mcs>
                                            <m:mc>
                                              <m:mcPr>
                                                <m:count m:val="1"/>
                                                <m:mcJc m:val="center"/>
                                              </m:mcPr>
                                            </m:mc>
                                          </m:mcs>
                                          <m:ctrlPr>
                                            <a:rPr lang="en-US" sz="2100" i="1" kern="1200">
                                              <a:solidFill>
                                                <a:schemeClr val="tx1"/>
                                              </a:solidFill>
                                              <a:effectLst/>
                                              <a:latin typeface="Cambria Math" panose="02040503050406030204" pitchFamily="18" charset="0"/>
                                              <a:ea typeface="+mn-ea"/>
                                              <a:cs typeface="+mn-cs"/>
                                            </a:rPr>
                                          </m:ctrlPr>
                                        </m:mPr>
                                        <m:mr>
                                          <m:e>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𝑎</m:t>
                                                </m:r>
                                              </m:e>
                                              <m:sub>
                                                <m:r>
                                                  <a:rPr lang="en-US" sz="2100" i="1" kern="1200">
                                                    <a:solidFill>
                                                      <a:schemeClr val="tx1"/>
                                                    </a:solidFill>
                                                    <a:effectLst/>
                                                    <a:latin typeface="Cambria Math" panose="02040503050406030204" pitchFamily="18" charset="0"/>
                                                    <a:ea typeface="+mn-ea"/>
                                                    <a:cs typeface="+mn-cs"/>
                                                  </a:rPr>
                                                  <m:t>1</m:t>
                                                </m:r>
                                              </m:sub>
                                            </m:sSub>
                                            <m:r>
                                              <a:rPr lang="en-US" sz="2100" i="1" kern="1200">
                                                <a:solidFill>
                                                  <a:schemeClr val="tx1"/>
                                                </a:solidFill>
                                                <a:effectLst/>
                                                <a:latin typeface="Cambria Math" panose="02040503050406030204" pitchFamily="18" charset="0"/>
                                                <a:ea typeface="+mn-ea"/>
                                                <a:cs typeface="+mn-cs"/>
                                              </a:rPr>
                                              <m:t>+</m:t>
                                            </m:r>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𝑖𝑏</m:t>
                                                </m:r>
                                              </m:e>
                                              <m:sub>
                                                <m:r>
                                                  <a:rPr lang="en-US" sz="2100" i="1" kern="1200">
                                                    <a:solidFill>
                                                      <a:schemeClr val="tx1"/>
                                                    </a:solidFill>
                                                    <a:effectLst/>
                                                    <a:latin typeface="Cambria Math" panose="02040503050406030204" pitchFamily="18" charset="0"/>
                                                    <a:ea typeface="+mn-ea"/>
                                                    <a:cs typeface="+mn-cs"/>
                                                  </a:rPr>
                                                  <m:t>1</m:t>
                                                </m:r>
                                              </m:sub>
                                            </m:sSub>
                                          </m:e>
                                        </m:mr>
                                        <m:mr>
                                          <m:e>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𝑎</m:t>
                                                </m:r>
                                              </m:e>
                                              <m:sub>
                                                <m:r>
                                                  <a:rPr lang="en-US" sz="2100" i="1" kern="1200">
                                                    <a:solidFill>
                                                      <a:schemeClr val="tx1"/>
                                                    </a:solidFill>
                                                    <a:effectLst/>
                                                    <a:latin typeface="Cambria Math" panose="02040503050406030204" pitchFamily="18" charset="0"/>
                                                    <a:ea typeface="+mn-ea"/>
                                                    <a:cs typeface="+mn-cs"/>
                                                  </a:rPr>
                                                  <m:t>2</m:t>
                                                </m:r>
                                              </m:sub>
                                            </m:sSub>
                                            <m:r>
                                              <a:rPr lang="en-US" sz="2100" i="1" kern="1200">
                                                <a:solidFill>
                                                  <a:schemeClr val="tx1"/>
                                                </a:solidFill>
                                                <a:effectLst/>
                                                <a:latin typeface="Cambria Math" panose="02040503050406030204" pitchFamily="18" charset="0"/>
                                                <a:ea typeface="+mn-ea"/>
                                                <a:cs typeface="+mn-cs"/>
                                              </a:rPr>
                                              <m:t>+</m:t>
                                            </m:r>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𝑖𝑏</m:t>
                                                </m:r>
                                              </m:e>
                                              <m:sub>
                                                <m:r>
                                                  <a:rPr lang="en-US" sz="2100" i="1" kern="1200">
                                                    <a:solidFill>
                                                      <a:schemeClr val="tx1"/>
                                                    </a:solidFill>
                                                    <a:effectLst/>
                                                    <a:latin typeface="Cambria Math" panose="02040503050406030204" pitchFamily="18" charset="0"/>
                                                    <a:ea typeface="+mn-ea"/>
                                                    <a:cs typeface="+mn-cs"/>
                                                  </a:rPr>
                                                  <m:t>2</m:t>
                                                </m:r>
                                              </m:sub>
                                            </m:sSub>
                                          </m:e>
                                        </m:mr>
                                      </m:m>
                                    </m:e>
                                  </m:d>
                                </m:e>
                                <m:sup>
                                  <m:r>
                                    <a:rPr lang="en-US" sz="2100" b="0" i="1" kern="1200">
                                      <a:solidFill>
                                        <a:schemeClr val="tx1"/>
                                      </a:solidFill>
                                      <a:effectLst/>
                                      <a:latin typeface="Cambria Math" panose="02040503050406030204" pitchFamily="18" charset="0"/>
                                      <a:ea typeface="+mn-ea"/>
                                      <a:cs typeface="+mn-cs"/>
                                    </a:rPr>
                                    <m:t>†</m:t>
                                  </m:r>
                                </m:sup>
                              </m:sSup>
                              <m:r>
                                <a:rPr lang="en-US" sz="2100" b="0" i="1" kern="1200" smtClean="0">
                                  <a:solidFill>
                                    <a:schemeClr val="tx1"/>
                                  </a:solidFill>
                                  <a:effectLst/>
                                  <a:latin typeface="Cambria Math" panose="02040503050406030204" pitchFamily="18" charset="0"/>
                                  <a:ea typeface="+mn-ea"/>
                                  <a:cs typeface="+mn-cs"/>
                                </a:rPr>
                                <m:t>=</m:t>
                              </m:r>
                              <m:sSup>
                                <m:sSupPr>
                                  <m:ctrlPr>
                                    <a:rPr lang="en-US" sz="2100" b="0" i="1" kern="1200" smtClean="0">
                                      <a:solidFill>
                                        <a:schemeClr val="tx1"/>
                                      </a:solidFill>
                                      <a:effectLst/>
                                      <a:latin typeface="Cambria Math" panose="02040503050406030204" pitchFamily="18" charset="0"/>
                                      <a:ea typeface="+mn-ea"/>
                                      <a:cs typeface="+mn-cs"/>
                                    </a:rPr>
                                  </m:ctrlPr>
                                </m:sSupPr>
                                <m:e>
                                  <m:d>
                                    <m:dPr>
                                      <m:ctrlPr>
                                        <a:rPr lang="en-US" sz="2100" i="1" kern="1200" smtClean="0">
                                          <a:solidFill>
                                            <a:schemeClr val="tx1"/>
                                          </a:solidFill>
                                          <a:effectLst/>
                                          <a:latin typeface="Cambria Math" panose="02040503050406030204" pitchFamily="18" charset="0"/>
                                          <a:ea typeface="+mn-ea"/>
                                          <a:cs typeface="+mn-cs"/>
                                        </a:rPr>
                                      </m:ctrlPr>
                                    </m:dPr>
                                    <m:e>
                                      <m:m>
                                        <m:mPr>
                                          <m:mcs>
                                            <m:mc>
                                              <m:mcPr>
                                                <m:count m:val="1"/>
                                                <m:mcJc m:val="center"/>
                                              </m:mcPr>
                                            </m:mc>
                                          </m:mcs>
                                          <m:ctrlPr>
                                            <a:rPr lang="en-US" sz="2100" i="1" kern="1200">
                                              <a:solidFill>
                                                <a:schemeClr val="tx1"/>
                                              </a:solidFill>
                                              <a:effectLst/>
                                              <a:latin typeface="Cambria Math" panose="02040503050406030204" pitchFamily="18" charset="0"/>
                                              <a:ea typeface="+mn-ea"/>
                                              <a:cs typeface="+mn-cs"/>
                                            </a:rPr>
                                          </m:ctrlPr>
                                        </m:mPr>
                                        <m:mr>
                                          <m:e>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𝑎</m:t>
                                                </m:r>
                                              </m:e>
                                              <m:sub>
                                                <m:r>
                                                  <a:rPr lang="en-US" sz="2100" i="1" kern="1200">
                                                    <a:solidFill>
                                                      <a:schemeClr val="tx1"/>
                                                    </a:solidFill>
                                                    <a:effectLst/>
                                                    <a:latin typeface="Cambria Math" panose="02040503050406030204" pitchFamily="18" charset="0"/>
                                                    <a:ea typeface="+mn-ea"/>
                                                    <a:cs typeface="+mn-cs"/>
                                                  </a:rPr>
                                                  <m:t>1</m:t>
                                                </m:r>
                                              </m:sub>
                                            </m:sSub>
                                            <m:r>
                                              <a:rPr lang="en-US" sz="2100" b="0" i="1" kern="1200" smtClean="0">
                                                <a:solidFill>
                                                  <a:schemeClr val="tx1"/>
                                                </a:solidFill>
                                                <a:effectLst/>
                                                <a:latin typeface="Cambria Math" panose="02040503050406030204" pitchFamily="18" charset="0"/>
                                                <a:ea typeface="+mn-ea"/>
                                                <a:cs typeface="+mn-cs"/>
                                              </a:rPr>
                                              <m:t>−</m:t>
                                            </m:r>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𝑖𝑏</m:t>
                                                </m:r>
                                              </m:e>
                                              <m:sub>
                                                <m:r>
                                                  <a:rPr lang="en-US" sz="2100" i="1" kern="1200">
                                                    <a:solidFill>
                                                      <a:schemeClr val="tx1"/>
                                                    </a:solidFill>
                                                    <a:effectLst/>
                                                    <a:latin typeface="Cambria Math" panose="02040503050406030204" pitchFamily="18" charset="0"/>
                                                    <a:ea typeface="+mn-ea"/>
                                                    <a:cs typeface="+mn-cs"/>
                                                  </a:rPr>
                                                  <m:t>1</m:t>
                                                </m:r>
                                              </m:sub>
                                            </m:sSub>
                                          </m:e>
                                        </m:mr>
                                        <m:mr>
                                          <m:e>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𝑎</m:t>
                                                </m:r>
                                              </m:e>
                                              <m:sub>
                                                <m:r>
                                                  <a:rPr lang="en-US" sz="2100" i="1" kern="1200">
                                                    <a:solidFill>
                                                      <a:schemeClr val="tx1"/>
                                                    </a:solidFill>
                                                    <a:effectLst/>
                                                    <a:latin typeface="Cambria Math" panose="02040503050406030204" pitchFamily="18" charset="0"/>
                                                    <a:ea typeface="+mn-ea"/>
                                                    <a:cs typeface="+mn-cs"/>
                                                  </a:rPr>
                                                  <m:t>2</m:t>
                                                </m:r>
                                              </m:sub>
                                            </m:sSub>
                                            <m:r>
                                              <a:rPr lang="en-US" sz="2100" b="0" i="1" kern="1200" smtClean="0">
                                                <a:solidFill>
                                                  <a:schemeClr val="tx1"/>
                                                </a:solidFill>
                                                <a:effectLst/>
                                                <a:latin typeface="Cambria Math" panose="02040503050406030204" pitchFamily="18" charset="0"/>
                                                <a:ea typeface="+mn-ea"/>
                                                <a:cs typeface="+mn-cs"/>
                                              </a:rPr>
                                              <m:t>−</m:t>
                                            </m:r>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𝑖𝑏</m:t>
                                                </m:r>
                                              </m:e>
                                              <m:sub>
                                                <m:r>
                                                  <a:rPr lang="en-US" sz="2100" i="1" kern="1200">
                                                    <a:solidFill>
                                                      <a:schemeClr val="tx1"/>
                                                    </a:solidFill>
                                                    <a:effectLst/>
                                                    <a:latin typeface="Cambria Math" panose="02040503050406030204" pitchFamily="18" charset="0"/>
                                                    <a:ea typeface="+mn-ea"/>
                                                    <a:cs typeface="+mn-cs"/>
                                                  </a:rPr>
                                                  <m:t>2</m:t>
                                                </m:r>
                                              </m:sub>
                                            </m:sSub>
                                          </m:e>
                                        </m:mr>
                                      </m:m>
                                    </m:e>
                                  </m:d>
                                </m:e>
                                <m:sup>
                                  <m:r>
                                    <a:rPr lang="en-US" sz="2100" b="0" i="1" kern="1200" smtClean="0">
                                      <a:solidFill>
                                        <a:schemeClr val="tx1"/>
                                      </a:solidFill>
                                      <a:effectLst/>
                                      <a:latin typeface="Cambria Math" panose="02040503050406030204" pitchFamily="18" charset="0"/>
                                      <a:ea typeface="+mn-ea"/>
                                      <a:cs typeface="+mn-cs"/>
                                    </a:rPr>
                                    <m:t>𝑇</m:t>
                                  </m:r>
                                </m:sup>
                              </m:sSup>
                            </m:oMath>
                          </a14:m>
                          <a:r>
                            <a:rPr lang="en-US" sz="2100" dirty="0"/>
                            <a:t>=</a:t>
                          </a:r>
                          <a14:m>
                            <m:oMath xmlns:m="http://schemas.openxmlformats.org/officeDocument/2006/math">
                              <m:d>
                                <m:dPr>
                                  <m:ctrlPr>
                                    <a:rPr lang="en-US" sz="2100" i="1" kern="1200" smtClean="0">
                                      <a:solidFill>
                                        <a:schemeClr val="tx1"/>
                                      </a:solidFill>
                                      <a:effectLst/>
                                      <a:latin typeface="Cambria Math" panose="02040503050406030204" pitchFamily="18" charset="0"/>
                                      <a:ea typeface="+mn-ea"/>
                                      <a:cs typeface="+mn-cs"/>
                                    </a:rPr>
                                  </m:ctrlPr>
                                </m:dPr>
                                <m:e>
                                  <m:m>
                                    <m:mPr>
                                      <m:mcs>
                                        <m:mc>
                                          <m:mcPr>
                                            <m:count m:val="2"/>
                                            <m:mcJc m:val="center"/>
                                          </m:mcPr>
                                        </m:mc>
                                      </m:mcs>
                                      <m:ctrlPr>
                                        <a:rPr lang="en-US" sz="2100" i="1" kern="1200">
                                          <a:solidFill>
                                            <a:schemeClr val="tx1"/>
                                          </a:solidFill>
                                          <a:effectLst/>
                                          <a:latin typeface="Cambria Math" panose="02040503050406030204" pitchFamily="18" charset="0"/>
                                          <a:ea typeface="+mn-ea"/>
                                          <a:cs typeface="+mn-cs"/>
                                        </a:rPr>
                                      </m:ctrlPr>
                                    </m:mPr>
                                    <m:mr>
                                      <m:e>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𝑎</m:t>
                                            </m:r>
                                          </m:e>
                                          <m:sub>
                                            <m:r>
                                              <a:rPr lang="en-US" sz="2100" i="1" kern="1200">
                                                <a:solidFill>
                                                  <a:schemeClr val="tx1"/>
                                                </a:solidFill>
                                                <a:effectLst/>
                                                <a:latin typeface="Cambria Math" panose="02040503050406030204" pitchFamily="18" charset="0"/>
                                                <a:ea typeface="+mn-ea"/>
                                                <a:cs typeface="+mn-cs"/>
                                              </a:rPr>
                                              <m:t>1</m:t>
                                            </m:r>
                                          </m:sub>
                                        </m:sSub>
                                        <m:r>
                                          <a:rPr lang="en-US" sz="2100" i="1" kern="1200">
                                            <a:solidFill>
                                              <a:schemeClr val="tx1"/>
                                            </a:solidFill>
                                            <a:effectLst/>
                                            <a:latin typeface="Cambria Math" panose="02040503050406030204" pitchFamily="18" charset="0"/>
                                            <a:ea typeface="+mn-ea"/>
                                            <a:cs typeface="+mn-cs"/>
                                          </a:rPr>
                                          <m:t>−</m:t>
                                        </m:r>
                                        <m:r>
                                          <a:rPr lang="en-US" sz="2100" i="1" kern="1200">
                                            <a:solidFill>
                                              <a:schemeClr val="tx1"/>
                                            </a:solidFill>
                                            <a:effectLst/>
                                            <a:latin typeface="Cambria Math" panose="02040503050406030204" pitchFamily="18" charset="0"/>
                                            <a:ea typeface="+mn-ea"/>
                                            <a:cs typeface="+mn-cs"/>
                                          </a:rPr>
                                          <m:t>𝑖</m:t>
                                        </m:r>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𝑏</m:t>
                                            </m:r>
                                          </m:e>
                                          <m:sub>
                                            <m:r>
                                              <a:rPr lang="en-US" sz="2100" i="1" kern="1200">
                                                <a:solidFill>
                                                  <a:schemeClr val="tx1"/>
                                                </a:solidFill>
                                                <a:effectLst/>
                                                <a:latin typeface="Cambria Math" panose="02040503050406030204" pitchFamily="18" charset="0"/>
                                                <a:ea typeface="+mn-ea"/>
                                                <a:cs typeface="+mn-cs"/>
                                              </a:rPr>
                                              <m:t>1</m:t>
                                            </m:r>
                                          </m:sub>
                                        </m:sSub>
                                      </m:e>
                                      <m:e>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𝑎</m:t>
                                            </m:r>
                                          </m:e>
                                          <m:sub>
                                            <m:r>
                                              <a:rPr lang="en-US" sz="2100" i="1" kern="1200">
                                                <a:solidFill>
                                                  <a:schemeClr val="tx1"/>
                                                </a:solidFill>
                                                <a:effectLst/>
                                                <a:latin typeface="Cambria Math" panose="02040503050406030204" pitchFamily="18" charset="0"/>
                                                <a:ea typeface="+mn-ea"/>
                                                <a:cs typeface="+mn-cs"/>
                                              </a:rPr>
                                              <m:t>2</m:t>
                                            </m:r>
                                          </m:sub>
                                        </m:sSub>
                                        <m:r>
                                          <a:rPr lang="en-US" sz="2100" i="1" kern="1200">
                                            <a:solidFill>
                                              <a:schemeClr val="tx1"/>
                                            </a:solidFill>
                                            <a:effectLst/>
                                            <a:latin typeface="Cambria Math" panose="02040503050406030204" pitchFamily="18" charset="0"/>
                                            <a:ea typeface="+mn-ea"/>
                                            <a:cs typeface="+mn-cs"/>
                                          </a:rPr>
                                          <m:t>−</m:t>
                                        </m:r>
                                        <m:sSub>
                                          <m:sSubPr>
                                            <m:ctrlPr>
                                              <a:rPr lang="en-US" sz="2100" i="1" kern="1200">
                                                <a:solidFill>
                                                  <a:schemeClr val="tx1"/>
                                                </a:solidFill>
                                                <a:effectLst/>
                                                <a:latin typeface="Cambria Math" panose="02040503050406030204" pitchFamily="18" charset="0"/>
                                                <a:ea typeface="+mn-ea"/>
                                                <a:cs typeface="+mn-cs"/>
                                              </a:rPr>
                                            </m:ctrlPr>
                                          </m:sSubPr>
                                          <m:e>
                                            <m:r>
                                              <a:rPr lang="en-US" sz="2100" i="1" kern="1200">
                                                <a:solidFill>
                                                  <a:schemeClr val="tx1"/>
                                                </a:solidFill>
                                                <a:effectLst/>
                                                <a:latin typeface="Cambria Math" panose="02040503050406030204" pitchFamily="18" charset="0"/>
                                                <a:ea typeface="+mn-ea"/>
                                                <a:cs typeface="+mn-cs"/>
                                              </a:rPr>
                                              <m:t>𝑖𝑏</m:t>
                                            </m:r>
                                          </m:e>
                                          <m:sub>
                                            <m:r>
                                              <a:rPr lang="en-US" sz="2100" i="1" kern="1200">
                                                <a:solidFill>
                                                  <a:schemeClr val="tx1"/>
                                                </a:solidFill>
                                                <a:effectLst/>
                                                <a:latin typeface="Cambria Math" panose="02040503050406030204" pitchFamily="18" charset="0"/>
                                                <a:ea typeface="+mn-ea"/>
                                                <a:cs typeface="+mn-cs"/>
                                              </a:rPr>
                                              <m:t>2</m:t>
                                            </m:r>
                                          </m:sub>
                                        </m:sSub>
                                      </m:e>
                                    </m:mr>
                                  </m:m>
                                </m:e>
                              </m:d>
                            </m:oMath>
                          </a14:m>
                          <a:r>
                            <a:rPr lang="en-US" sz="2400" dirty="0">
                              <a:effectLst/>
                            </a:rPr>
                            <a:t> </a:t>
                          </a:r>
                          <a:endParaRPr lang="en-US" sz="2100" dirty="0"/>
                        </a:p>
                      </a:txBody>
                      <a:tcPr/>
                    </a:tc>
                    <a:extLst>
                      <a:ext uri="{0D108BD9-81ED-4DB2-BD59-A6C34878D82A}">
                        <a16:rowId xmlns:a16="http://schemas.microsoft.com/office/drawing/2014/main" val="1420520835"/>
                      </a:ext>
                    </a:extLst>
                  </a:tr>
                </a:tbl>
              </a:graphicData>
            </a:graphic>
          </p:graphicFrame>
        </mc:Choice>
        <mc:Fallback xmlns="">
          <p:graphicFrame>
            <p:nvGraphicFramePr>
              <p:cNvPr id="5" name="Table 4">
                <a:extLst>
                  <a:ext uri="{FF2B5EF4-FFF2-40B4-BE49-F238E27FC236}">
                    <a16:creationId xmlns:a16="http://schemas.microsoft.com/office/drawing/2014/main" id="{D70383F4-093D-9846-A085-171C01AFA2B5}"/>
                  </a:ext>
                </a:extLst>
              </p:cNvPr>
              <p:cNvGraphicFramePr>
                <a:graphicFrameLocks noGrp="1"/>
              </p:cNvGraphicFramePr>
              <p:nvPr>
                <p:extLst>
                  <p:ext uri="{D42A27DB-BD31-4B8C-83A1-F6EECF244321}">
                    <p14:modId xmlns:p14="http://schemas.microsoft.com/office/powerpoint/2010/main" val="1185796844"/>
                  </p:ext>
                </p:extLst>
              </p:nvPr>
            </p:nvGraphicFramePr>
            <p:xfrm>
              <a:off x="346828" y="1353668"/>
              <a:ext cx="11440360" cy="4622380"/>
            </p:xfrm>
            <a:graphic>
              <a:graphicData uri="http://schemas.openxmlformats.org/drawingml/2006/table">
                <a:tbl>
                  <a:tblPr firstRow="1" bandRow="1">
                    <a:tableStyleId>{ED083AE6-46FA-4A59-8FB0-9F97EB10719F}</a:tableStyleId>
                  </a:tblPr>
                  <a:tblGrid>
                    <a:gridCol w="5380204">
                      <a:extLst>
                        <a:ext uri="{9D8B030D-6E8A-4147-A177-3AD203B41FA5}">
                          <a16:colId xmlns:a16="http://schemas.microsoft.com/office/drawing/2014/main" val="3579567803"/>
                        </a:ext>
                      </a:extLst>
                    </a:gridCol>
                    <a:gridCol w="6060156">
                      <a:extLst>
                        <a:ext uri="{9D8B030D-6E8A-4147-A177-3AD203B41FA5}">
                          <a16:colId xmlns:a16="http://schemas.microsoft.com/office/drawing/2014/main" val="4022472785"/>
                        </a:ext>
                      </a:extLst>
                    </a:gridCol>
                  </a:tblGrid>
                  <a:tr h="457200">
                    <a:tc>
                      <a:txBody>
                        <a:bodyPr/>
                        <a:lstStyle/>
                        <a:p>
                          <a:pPr algn="ctr"/>
                          <a:r>
                            <a:rPr lang="en-ZA" sz="2400" dirty="0"/>
                            <a:t>Operations</a:t>
                          </a:r>
                          <a:endParaRPr lang="en-US" sz="2100" dirty="0"/>
                        </a:p>
                      </a:txBody>
                      <a:tcPr/>
                    </a:tc>
                    <a:tc>
                      <a:txBody>
                        <a:bodyPr/>
                        <a:lstStyle/>
                        <a:p>
                          <a:pPr algn="ctr"/>
                          <a:r>
                            <a:rPr lang="en-US" sz="2100" dirty="0"/>
                            <a:t>Example</a:t>
                          </a:r>
                        </a:p>
                      </a:txBody>
                      <a:tcPr/>
                    </a:tc>
                    <a:extLst>
                      <a:ext uri="{0D108BD9-81ED-4DB2-BD59-A6C34878D82A}">
                        <a16:rowId xmlns:a16="http://schemas.microsoft.com/office/drawing/2014/main" val="2867364874"/>
                      </a:ext>
                    </a:extLst>
                  </a:tr>
                  <a:tr h="997359">
                    <a:tc>
                      <a:txBody>
                        <a:bodyPr/>
                        <a:lstStyle/>
                        <a:p>
                          <a:r>
                            <a:rPr lang="en-ZA" sz="2100" b="1" dirty="0"/>
                            <a:t>Addition and Subtraction</a:t>
                          </a:r>
                          <a:endParaRPr lang="en-US" sz="2100" b="1" kern="1200" dirty="0">
                            <a:effectLst/>
                          </a:endParaRPr>
                        </a:p>
                        <a:p>
                          <a:r>
                            <a:rPr lang="en-ZA" sz="2100" dirty="0"/>
                            <a:t>Add/subtract elements with the same indices.</a:t>
                          </a:r>
                          <a:endParaRPr lang="en-US" sz="2100" dirty="0"/>
                        </a:p>
                      </a:txBody>
                      <a:tcPr/>
                    </a:tc>
                    <a:tc>
                      <a:txBody>
                        <a:bodyPr/>
                        <a:lstStyle/>
                        <a:p>
                          <a:endParaRPr lang="en-US"/>
                        </a:p>
                      </a:txBody>
                      <a:tcPr>
                        <a:blipFill>
                          <a:blip r:embed="rId3"/>
                          <a:stretch>
                            <a:fillRect l="-88912" t="-50633" b="-316456"/>
                          </a:stretch>
                        </a:blipFill>
                      </a:tcPr>
                    </a:tc>
                    <a:extLst>
                      <a:ext uri="{0D108BD9-81ED-4DB2-BD59-A6C34878D82A}">
                        <a16:rowId xmlns:a16="http://schemas.microsoft.com/office/drawing/2014/main" val="1944794926"/>
                      </a:ext>
                    </a:extLst>
                  </a:tr>
                  <a:tr h="731520">
                    <a:tc>
                      <a:txBody>
                        <a:bodyPr/>
                        <a:lstStyle/>
                        <a:p>
                          <a:r>
                            <a:rPr lang="en-ZA" sz="2100" b="1" dirty="0"/>
                            <a:t>Multiplication by a scalar</a:t>
                          </a:r>
                        </a:p>
                        <a:p>
                          <a:r>
                            <a:rPr lang="en-ZA" sz="2100" dirty="0"/>
                            <a:t>Multiply each element by a scalar.</a:t>
                          </a:r>
                          <a:endParaRPr lang="en-US" sz="2100" dirty="0"/>
                        </a:p>
                      </a:txBody>
                      <a:tcPr/>
                    </a:tc>
                    <a:tc>
                      <a:txBody>
                        <a:bodyPr/>
                        <a:lstStyle/>
                        <a:p>
                          <a:endParaRPr lang="en-US"/>
                        </a:p>
                      </a:txBody>
                      <a:tcPr>
                        <a:blipFill>
                          <a:blip r:embed="rId3"/>
                          <a:stretch>
                            <a:fillRect l="-88912" t="-205172" b="-331034"/>
                          </a:stretch>
                        </a:blipFill>
                      </a:tcPr>
                    </a:tc>
                    <a:extLst>
                      <a:ext uri="{0D108BD9-81ED-4DB2-BD59-A6C34878D82A}">
                        <a16:rowId xmlns:a16="http://schemas.microsoft.com/office/drawing/2014/main" val="1232007365"/>
                      </a:ext>
                    </a:extLst>
                  </a:tr>
                  <a:tr h="1007618">
                    <a:tc>
                      <a:txBody>
                        <a:bodyPr/>
                        <a:lstStyle/>
                        <a:p>
                          <a:r>
                            <a:rPr lang="en-ZA" sz="2100" b="1" dirty="0"/>
                            <a:t>Transpose</a:t>
                          </a:r>
                          <a:r>
                            <a:rPr lang="en-US" sz="2100" dirty="0">
                              <a:effectLst/>
                            </a:rPr>
                            <a:t> </a:t>
                          </a:r>
                        </a:p>
                        <a:p>
                          <a:r>
                            <a:rPr lang="en-ZA" sz="2100" dirty="0"/>
                            <a:t>Swap rows and columns</a:t>
                          </a:r>
                          <a:r>
                            <a:rPr lang="en-US" sz="2100" kern="1200" baseline="0" dirty="0">
                              <a:solidFill>
                                <a:schemeClr val="tx1"/>
                              </a:solidFill>
                              <a:effectLst/>
                              <a:latin typeface="+mn-lt"/>
                              <a:ea typeface="+mn-ea"/>
                              <a:cs typeface="+mn-cs"/>
                            </a:rPr>
                            <a:t>.</a:t>
                          </a:r>
                          <a:endParaRPr lang="en-US" sz="2100" dirty="0"/>
                        </a:p>
                      </a:txBody>
                      <a:tcPr/>
                    </a:tc>
                    <a:tc>
                      <a:txBody>
                        <a:bodyPr/>
                        <a:lstStyle/>
                        <a:p>
                          <a:endParaRPr lang="en-US"/>
                        </a:p>
                      </a:txBody>
                      <a:tcPr>
                        <a:blipFill>
                          <a:blip r:embed="rId3"/>
                          <a:stretch>
                            <a:fillRect l="-88912" t="-224051" b="-143038"/>
                          </a:stretch>
                        </a:blipFill>
                      </a:tcPr>
                    </a:tc>
                    <a:extLst>
                      <a:ext uri="{0D108BD9-81ED-4DB2-BD59-A6C34878D82A}">
                        <a16:rowId xmlns:a16="http://schemas.microsoft.com/office/drawing/2014/main" val="4003669842"/>
                      </a:ext>
                    </a:extLst>
                  </a:tr>
                  <a:tr h="1428683">
                    <a:tc>
                      <a:txBody>
                        <a:bodyPr/>
                        <a:lstStyle/>
                        <a:p>
                          <a:endParaRPr lang="en-US"/>
                        </a:p>
                      </a:txBody>
                      <a:tcPr>
                        <a:blipFill>
                          <a:blip r:embed="rId3"/>
                          <a:stretch>
                            <a:fillRect l="-236" t="-226549" r="-112736"/>
                          </a:stretch>
                        </a:blipFill>
                      </a:tcPr>
                    </a:tc>
                    <a:tc>
                      <a:txBody>
                        <a:bodyPr/>
                        <a:lstStyle/>
                        <a:p>
                          <a:endParaRPr lang="en-US"/>
                        </a:p>
                      </a:txBody>
                      <a:tcPr>
                        <a:blipFill>
                          <a:blip r:embed="rId3"/>
                          <a:stretch>
                            <a:fillRect l="-88912" t="-226549"/>
                          </a:stretch>
                        </a:blipFill>
                      </a:tcPr>
                    </a:tc>
                    <a:extLst>
                      <a:ext uri="{0D108BD9-81ED-4DB2-BD59-A6C34878D82A}">
                        <a16:rowId xmlns:a16="http://schemas.microsoft.com/office/drawing/2014/main" val="1420520835"/>
                      </a:ext>
                    </a:extLst>
                  </a:tr>
                </a:tbl>
              </a:graphicData>
            </a:graphic>
          </p:graphicFrame>
        </mc:Fallback>
      </mc:AlternateContent>
    </p:spTree>
    <p:extLst>
      <p:ext uri="{BB962C8B-B14F-4D97-AF65-F5344CB8AC3E}">
        <p14:creationId xmlns:p14="http://schemas.microsoft.com/office/powerpoint/2010/main" val="2356122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5C156-6254-6A45-946D-996BD923C955}"/>
              </a:ext>
            </a:extLst>
          </p:cNvPr>
          <p:cNvSpPr>
            <a:spLocks noGrp="1"/>
          </p:cNvSpPr>
          <p:nvPr>
            <p:ph type="title"/>
          </p:nvPr>
        </p:nvSpPr>
        <p:spPr>
          <a:xfrm>
            <a:off x="0" y="0"/>
            <a:ext cx="12192000" cy="928688"/>
          </a:xfrm>
        </p:spPr>
        <p:txBody>
          <a:bodyPr/>
          <a:lstStyle/>
          <a:p>
            <a:r>
              <a:rPr lang="en-ZA" dirty="0"/>
              <a:t>Matrix multiplication</a:t>
            </a:r>
            <a:endParaRPr lang="en-US" dirty="0"/>
          </a:p>
        </p:txBody>
      </p:sp>
      <p:sp>
        <p:nvSpPr>
          <p:cNvPr id="3" name="Slide Number Placeholder 2">
            <a:extLst>
              <a:ext uri="{FF2B5EF4-FFF2-40B4-BE49-F238E27FC236}">
                <a16:creationId xmlns:a16="http://schemas.microsoft.com/office/drawing/2014/main" id="{0C49020C-95E8-6847-866E-07F0A5A3BB19}"/>
              </a:ext>
            </a:extLst>
          </p:cNvPr>
          <p:cNvSpPr>
            <a:spLocks noGrp="1"/>
          </p:cNvSpPr>
          <p:nvPr>
            <p:ph type="sldNum" sz="quarter" idx="12"/>
          </p:nvPr>
        </p:nvSpPr>
        <p:spPr/>
        <p:txBody>
          <a:bodyPr/>
          <a:lstStyle/>
          <a:p>
            <a:fld id="{591A223C-FA10-BC46-A853-03BA373D023C}" type="slidenum">
              <a:rPr lang="en-US" smtClean="0"/>
              <a:t>24</a:t>
            </a:fld>
            <a:endParaRPr lang="en-US"/>
          </a:p>
        </p:txBody>
      </p:sp>
      <p:pic>
        <p:nvPicPr>
          <p:cNvPr id="5" name="Picture 4">
            <a:extLst>
              <a:ext uri="{FF2B5EF4-FFF2-40B4-BE49-F238E27FC236}">
                <a16:creationId xmlns:a16="http://schemas.microsoft.com/office/drawing/2014/main" id="{6611557E-E1DE-AC4B-AEEF-6F6000F34F0C}"/>
              </a:ext>
            </a:extLst>
          </p:cNvPr>
          <p:cNvPicPr>
            <a:picLocks noChangeAspect="1"/>
          </p:cNvPicPr>
          <p:nvPr/>
        </p:nvPicPr>
        <p:blipFill>
          <a:blip r:embed="rId3"/>
          <a:stretch>
            <a:fillRect/>
          </a:stretch>
        </p:blipFill>
        <p:spPr>
          <a:xfrm>
            <a:off x="3393135" y="4256087"/>
            <a:ext cx="5340769" cy="2601913"/>
          </a:xfrm>
          <a:prstGeom prst="rect">
            <a:avLst/>
          </a:prstGeom>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1C54850B-746C-2B4B-95F5-2A7CDDC75CDB}"/>
                  </a:ext>
                </a:extLst>
              </p:cNvPr>
              <p:cNvSpPr/>
              <p:nvPr/>
            </p:nvSpPr>
            <p:spPr>
              <a:xfrm>
                <a:off x="104930" y="909881"/>
                <a:ext cx="11917180" cy="3262624"/>
              </a:xfrm>
              <a:prstGeom prst="rect">
                <a:avLst/>
              </a:prstGeom>
            </p:spPr>
            <p:txBody>
              <a:bodyPr wrap="square">
                <a:spAutoFit/>
              </a:bodyPr>
              <a:lstStyle/>
              <a:p>
                <a:r>
                  <a:rPr lang="en-ZA" sz="2100" dirty="0"/>
                  <a:t>Matrices can be multiplied only if the number of columns in the left matrix equals the number of rows in the right matrix.</a:t>
                </a:r>
                <a:r>
                  <a:rPr lang="en-US" sz="2100" dirty="0"/>
                  <a:t> </a:t>
                </a:r>
              </a:p>
              <a:p>
                <a:pPr marL="285750" indent="-285750">
                  <a:buFont typeface="Arial" panose="020B0604020202020204" pitchFamily="34" charset="0"/>
                  <a:buChar char="•"/>
                </a:pPr>
                <a:endParaRPr lang="en-US" sz="2100" dirty="0"/>
              </a:p>
              <a:p>
                <a:pPr marL="457200" indent="-457200" algn="just">
                  <a:buFont typeface="+mj-lt"/>
                  <a:buAutoNum type="arabicPeriod"/>
                </a:pPr>
                <a:r>
                  <a:rPr lang="en-ZA" sz="2100" dirty="0"/>
                  <a:t>Matrix multiplication is performed by taking each element of the </a:t>
                </a:r>
                <a14:m>
                  <m:oMath xmlns:m="http://schemas.openxmlformats.org/officeDocument/2006/math">
                    <m:r>
                      <a:rPr lang="en-US" sz="2100" i="1">
                        <a:latin typeface="Cambria Math" panose="02040503050406030204" pitchFamily="18" charset="0"/>
                      </a:rPr>
                      <m:t>𝑖</m:t>
                    </m:r>
                  </m:oMath>
                </a14:m>
                <a:r>
                  <a:rPr lang="en-ZA" sz="2100" dirty="0"/>
                  <a:t>-</a:t>
                </a:r>
                <a:r>
                  <a:rPr lang="en-ZA" sz="2100" dirty="0" err="1"/>
                  <a:t>th</a:t>
                </a:r>
                <a:r>
                  <a:rPr lang="en-ZA" sz="2100" dirty="0"/>
                  <a:t> row of the left matrix, multiplying it with the corresponding element of the </a:t>
                </a:r>
                <a14:m>
                  <m:oMath xmlns:m="http://schemas.openxmlformats.org/officeDocument/2006/math">
                    <m:r>
                      <a:rPr lang="en-US" sz="2100" i="1">
                        <a:latin typeface="Cambria Math" panose="02040503050406030204" pitchFamily="18" charset="0"/>
                      </a:rPr>
                      <m:t>𝑗</m:t>
                    </m:r>
                  </m:oMath>
                </a14:m>
                <a:r>
                  <a:rPr lang="en-ZA" sz="2100" dirty="0"/>
                  <a:t>-</a:t>
                </a:r>
                <a:r>
                  <a:rPr lang="en-ZA" sz="2100" dirty="0" err="1"/>
                  <a:t>th</a:t>
                </a:r>
                <a:r>
                  <a:rPr lang="en-ZA" sz="2100" dirty="0"/>
                  <a:t> column of the right matrix, and summing the products. This sum becomes the </a:t>
                </a:r>
                <a14:m>
                  <m:oMath xmlns:m="http://schemas.openxmlformats.org/officeDocument/2006/math">
                    <m:sSub>
                      <m:sSubPr>
                        <m:ctrlPr>
                          <a:rPr lang="en-US" sz="2100" i="1">
                            <a:latin typeface="Cambria Math" panose="02040503050406030204" pitchFamily="18" charset="0"/>
                          </a:rPr>
                        </m:ctrlPr>
                      </m:sSubPr>
                      <m:e>
                        <m:r>
                          <a:rPr lang="en-US" sz="2100" i="1">
                            <a:latin typeface="Cambria Math" panose="02040503050406030204" pitchFamily="18" charset="0"/>
                          </a:rPr>
                          <m:t>𝑐</m:t>
                        </m:r>
                      </m:e>
                      <m:sub>
                        <m:r>
                          <a:rPr lang="en-US" sz="2100" i="1">
                            <a:latin typeface="Cambria Math" panose="02040503050406030204" pitchFamily="18" charset="0"/>
                          </a:rPr>
                          <m:t>𝑖𝑗</m:t>
                        </m:r>
                      </m:sub>
                    </m:sSub>
                  </m:oMath>
                </a14:m>
                <a:r>
                  <a:rPr lang="en-ZA" sz="2100" dirty="0"/>
                  <a:t> element of the resulting matrix.</a:t>
                </a:r>
                <a:endParaRPr lang="en-US" sz="2100" dirty="0"/>
              </a:p>
              <a:p>
                <a:pPr lvl="1" algn="just"/>
                <a14:m>
                  <m:oMathPara xmlns:m="http://schemas.openxmlformats.org/officeDocument/2006/math">
                    <m:oMathParaPr>
                      <m:jc m:val="centerGroup"/>
                    </m:oMathParaPr>
                    <m:oMath xmlns:m="http://schemas.openxmlformats.org/officeDocument/2006/math">
                      <m:m>
                        <m:mPr>
                          <m:mcs>
                            <m:mc>
                              <m:mcPr>
                                <m:count m:val="1"/>
                                <m:mcJc m:val="center"/>
                              </m:mcPr>
                            </m:mc>
                          </m:mcs>
                          <m:ctrlPr>
                            <a:rPr lang="en-US" sz="2100" i="1">
                              <a:latin typeface="Cambria Math" panose="02040503050406030204" pitchFamily="18" charset="0"/>
                            </a:rPr>
                          </m:ctrlPr>
                        </m:mPr>
                        <m:mr>
                          <m:e>
                            <m:sSub>
                              <m:sSubPr>
                                <m:ctrlPr>
                                  <a:rPr lang="en-US" sz="2100" i="1">
                                    <a:latin typeface="Cambria Math" panose="02040503050406030204" pitchFamily="18" charset="0"/>
                                  </a:rPr>
                                </m:ctrlPr>
                              </m:sSubPr>
                              <m:e>
                                <m:r>
                                  <a:rPr lang="en-US" sz="2100" i="1">
                                    <a:latin typeface="Cambria Math" panose="02040503050406030204" pitchFamily="18" charset="0"/>
                                  </a:rPr>
                                  <m:t>𝑐</m:t>
                                </m:r>
                              </m:e>
                              <m:sub>
                                <m:r>
                                  <a:rPr lang="en-US" sz="2100" i="1">
                                    <a:latin typeface="Cambria Math" panose="02040503050406030204" pitchFamily="18" charset="0"/>
                                  </a:rPr>
                                  <m:t>𝑖𝑗</m:t>
                                </m:r>
                              </m:sub>
                            </m:sSub>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𝑎</m:t>
                                </m:r>
                              </m:e>
                              <m:sub>
                                <m:r>
                                  <a:rPr lang="en-US" sz="2100" i="1">
                                    <a:latin typeface="Cambria Math" panose="02040503050406030204" pitchFamily="18" charset="0"/>
                                  </a:rPr>
                                  <m:t>𝑖</m:t>
                                </m:r>
                                <m:r>
                                  <a:rPr lang="en-US" sz="2100" i="1">
                                    <a:latin typeface="Cambria Math" panose="02040503050406030204" pitchFamily="18" charset="0"/>
                                  </a:rPr>
                                  <m:t>1</m:t>
                                </m:r>
                              </m:sub>
                            </m:sSub>
                            <m:sSub>
                              <m:sSubPr>
                                <m:ctrlPr>
                                  <a:rPr lang="en-US" sz="2100" i="1">
                                    <a:latin typeface="Cambria Math" panose="02040503050406030204" pitchFamily="18" charset="0"/>
                                  </a:rPr>
                                </m:ctrlPr>
                              </m:sSubPr>
                              <m:e>
                                <m:r>
                                  <a:rPr lang="en-US" sz="2100" i="1">
                                    <a:latin typeface="Cambria Math" panose="02040503050406030204" pitchFamily="18" charset="0"/>
                                  </a:rPr>
                                  <m:t>𝑏</m:t>
                                </m:r>
                              </m:e>
                              <m:sub>
                                <m:r>
                                  <a:rPr lang="en-US" sz="2100" i="1">
                                    <a:latin typeface="Cambria Math" panose="02040503050406030204" pitchFamily="18" charset="0"/>
                                  </a:rPr>
                                  <m:t>1</m:t>
                                </m:r>
                                <m:r>
                                  <a:rPr lang="en-US" sz="2100" i="1">
                                    <a:latin typeface="Cambria Math" panose="02040503050406030204" pitchFamily="18" charset="0"/>
                                  </a:rPr>
                                  <m:t>𝑗</m:t>
                                </m:r>
                              </m:sub>
                            </m:sSub>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𝑎</m:t>
                                </m:r>
                              </m:e>
                              <m:sub>
                                <m:r>
                                  <a:rPr lang="en-US" sz="2100" i="1">
                                    <a:latin typeface="Cambria Math" panose="02040503050406030204" pitchFamily="18" charset="0"/>
                                  </a:rPr>
                                  <m:t>𝑖</m:t>
                                </m:r>
                                <m:r>
                                  <a:rPr lang="en-US" sz="2100" i="1">
                                    <a:latin typeface="Cambria Math" panose="02040503050406030204" pitchFamily="18" charset="0"/>
                                  </a:rPr>
                                  <m:t>2</m:t>
                                </m:r>
                              </m:sub>
                            </m:sSub>
                            <m:sSub>
                              <m:sSubPr>
                                <m:ctrlPr>
                                  <a:rPr lang="en-US" sz="2100" i="1">
                                    <a:latin typeface="Cambria Math" panose="02040503050406030204" pitchFamily="18" charset="0"/>
                                  </a:rPr>
                                </m:ctrlPr>
                              </m:sSubPr>
                              <m:e>
                                <m:r>
                                  <a:rPr lang="en-US" sz="2100" i="1">
                                    <a:latin typeface="Cambria Math" panose="02040503050406030204" pitchFamily="18" charset="0"/>
                                  </a:rPr>
                                  <m:t>𝑏</m:t>
                                </m:r>
                              </m:e>
                              <m:sub>
                                <m:r>
                                  <a:rPr lang="en-US" sz="2100" i="1">
                                    <a:latin typeface="Cambria Math" panose="02040503050406030204" pitchFamily="18" charset="0"/>
                                  </a:rPr>
                                  <m:t>2</m:t>
                                </m:r>
                                <m:r>
                                  <a:rPr lang="en-US" sz="2100" i="1">
                                    <a:latin typeface="Cambria Math" panose="02040503050406030204" pitchFamily="18" charset="0"/>
                                  </a:rPr>
                                  <m:t>𝑗</m:t>
                                </m:r>
                              </m:sub>
                            </m:sSub>
                            <m:r>
                              <a:rPr lang="en-US" sz="2100" i="1">
                                <a:latin typeface="Cambria Math" panose="02040503050406030204" pitchFamily="18" charset="0"/>
                              </a:rPr>
                              <m:t>+⋯+</m:t>
                            </m:r>
                            <m:sSub>
                              <m:sSubPr>
                                <m:ctrlPr>
                                  <a:rPr lang="en-US" sz="2100" i="1">
                                    <a:latin typeface="Cambria Math" panose="02040503050406030204" pitchFamily="18" charset="0"/>
                                  </a:rPr>
                                </m:ctrlPr>
                              </m:sSubPr>
                              <m:e>
                                <m:r>
                                  <a:rPr lang="en-US" sz="2100" i="1">
                                    <a:latin typeface="Cambria Math" panose="02040503050406030204" pitchFamily="18" charset="0"/>
                                  </a:rPr>
                                  <m:t>𝑎</m:t>
                                </m:r>
                              </m:e>
                              <m:sub>
                                <m:r>
                                  <a:rPr lang="en-US" sz="2100" i="1">
                                    <a:latin typeface="Cambria Math" panose="02040503050406030204" pitchFamily="18" charset="0"/>
                                  </a:rPr>
                                  <m:t>𝑖𝑛</m:t>
                                </m:r>
                              </m:sub>
                            </m:sSub>
                            <m:sSub>
                              <m:sSubPr>
                                <m:ctrlPr>
                                  <a:rPr lang="en-US" sz="2100" i="1">
                                    <a:latin typeface="Cambria Math" panose="02040503050406030204" pitchFamily="18" charset="0"/>
                                  </a:rPr>
                                </m:ctrlPr>
                              </m:sSubPr>
                              <m:e>
                                <m:r>
                                  <a:rPr lang="en-US" sz="2100" i="1">
                                    <a:latin typeface="Cambria Math" panose="02040503050406030204" pitchFamily="18" charset="0"/>
                                  </a:rPr>
                                  <m:t>𝑏</m:t>
                                </m:r>
                              </m:e>
                              <m:sub>
                                <m:r>
                                  <a:rPr lang="en-US" sz="2100" i="1">
                                    <a:latin typeface="Cambria Math" panose="02040503050406030204" pitchFamily="18" charset="0"/>
                                  </a:rPr>
                                  <m:t>𝑛𝑗</m:t>
                                </m:r>
                              </m:sub>
                            </m:sSub>
                            <m:r>
                              <a:rPr lang="en-US" sz="2100" i="1">
                                <a:latin typeface="Cambria Math" panose="02040503050406030204" pitchFamily="18" charset="0"/>
                              </a:rPr>
                              <m:t>=</m:t>
                            </m:r>
                            <m:nary>
                              <m:naryPr>
                                <m:chr m:val="∑"/>
                                <m:limLoc m:val="undOvr"/>
                                <m:ctrlPr>
                                  <a:rPr lang="en-US" sz="2100" i="1">
                                    <a:latin typeface="Cambria Math" panose="02040503050406030204" pitchFamily="18" charset="0"/>
                                  </a:rPr>
                                </m:ctrlPr>
                              </m:naryPr>
                              <m:sub>
                                <m:r>
                                  <a:rPr lang="en-US" sz="2100" i="1">
                                    <a:latin typeface="Cambria Math" panose="02040503050406030204" pitchFamily="18" charset="0"/>
                                  </a:rPr>
                                  <m:t>𝑘</m:t>
                                </m:r>
                                <m:r>
                                  <a:rPr lang="en-US" sz="2100" i="1">
                                    <a:latin typeface="Cambria Math" panose="02040503050406030204" pitchFamily="18" charset="0"/>
                                  </a:rPr>
                                  <m:t>=1</m:t>
                                </m:r>
                              </m:sub>
                              <m:sup>
                                <m:r>
                                  <a:rPr lang="en-US" sz="2100" i="1">
                                    <a:latin typeface="Cambria Math" panose="02040503050406030204" pitchFamily="18" charset="0"/>
                                  </a:rPr>
                                  <m:t>𝑛</m:t>
                                </m:r>
                              </m:sup>
                              <m:e>
                                <m:sSub>
                                  <m:sSubPr>
                                    <m:ctrlPr>
                                      <a:rPr lang="en-US" sz="2100" i="1">
                                        <a:latin typeface="Cambria Math" panose="02040503050406030204" pitchFamily="18" charset="0"/>
                                      </a:rPr>
                                    </m:ctrlPr>
                                  </m:sSubPr>
                                  <m:e>
                                    <m:r>
                                      <a:rPr lang="en-US" sz="2100" i="1">
                                        <a:latin typeface="Cambria Math" panose="02040503050406030204" pitchFamily="18" charset="0"/>
                                      </a:rPr>
                                      <m:t>𝑎</m:t>
                                    </m:r>
                                  </m:e>
                                  <m:sub>
                                    <m:r>
                                      <a:rPr lang="en-US" sz="2100" i="1">
                                        <a:latin typeface="Cambria Math" panose="02040503050406030204" pitchFamily="18" charset="0"/>
                                      </a:rPr>
                                      <m:t>𝑖𝑘</m:t>
                                    </m:r>
                                  </m:sub>
                                </m:sSub>
                                <m:sSub>
                                  <m:sSubPr>
                                    <m:ctrlPr>
                                      <a:rPr lang="en-US" sz="2100" i="1">
                                        <a:latin typeface="Cambria Math" panose="02040503050406030204" pitchFamily="18" charset="0"/>
                                      </a:rPr>
                                    </m:ctrlPr>
                                  </m:sSubPr>
                                  <m:e>
                                    <m:r>
                                      <a:rPr lang="en-US" sz="2100" i="1">
                                        <a:latin typeface="Cambria Math" panose="02040503050406030204" pitchFamily="18" charset="0"/>
                                      </a:rPr>
                                      <m:t>𝑏</m:t>
                                    </m:r>
                                  </m:e>
                                  <m:sub>
                                    <m:r>
                                      <a:rPr lang="en-US" sz="2100" i="1">
                                        <a:latin typeface="Cambria Math" panose="02040503050406030204" pitchFamily="18" charset="0"/>
                                      </a:rPr>
                                      <m:t>𝑘𝑗</m:t>
                                    </m:r>
                                  </m:sub>
                                </m:sSub>
                              </m:e>
                            </m:nary>
                          </m:e>
                        </m:mr>
                      </m:m>
                    </m:oMath>
                  </m:oMathPara>
                </a14:m>
                <a:endParaRPr lang="en-US" sz="2100" dirty="0"/>
              </a:p>
              <a:p>
                <a:pPr marL="457200" lvl="0" indent="-457200" algn="just">
                  <a:buFont typeface="+mj-lt"/>
                  <a:buAutoNum type="arabicPeriod"/>
                  <a:defRPr/>
                </a:pPr>
                <a:r>
                  <a:rPr lang="en-ZA" sz="2100" dirty="0"/>
                  <a:t>This process is repeated for all rows of the left matrix.</a:t>
                </a:r>
                <a:r>
                  <a:rPr lang="en-US" sz="2100" dirty="0"/>
                  <a:t>.</a:t>
                </a:r>
              </a:p>
            </p:txBody>
          </p:sp>
        </mc:Choice>
        <mc:Fallback xmlns="">
          <p:sp>
            <p:nvSpPr>
              <p:cNvPr id="6" name="Rectangle 5">
                <a:extLst>
                  <a:ext uri="{FF2B5EF4-FFF2-40B4-BE49-F238E27FC236}">
                    <a16:creationId xmlns:a16="http://schemas.microsoft.com/office/drawing/2014/main" id="{1C54850B-746C-2B4B-95F5-2A7CDDC75CDB}"/>
                  </a:ext>
                </a:extLst>
              </p:cNvPr>
              <p:cNvSpPr>
                <a:spLocks noRot="1" noChangeAspect="1" noMove="1" noResize="1" noEditPoints="1" noAdjustHandles="1" noChangeArrowheads="1" noChangeShapeType="1" noTextEdit="1"/>
              </p:cNvSpPr>
              <p:nvPr/>
            </p:nvSpPr>
            <p:spPr>
              <a:xfrm>
                <a:off x="104930" y="909881"/>
                <a:ext cx="11917180" cy="3262624"/>
              </a:xfrm>
              <a:prstGeom prst="rect">
                <a:avLst/>
              </a:prstGeom>
              <a:blipFill>
                <a:blip r:embed="rId4"/>
                <a:stretch>
                  <a:fillRect l="-532" t="-1556" r="-957" b="-36965"/>
                </a:stretch>
              </a:blipFill>
            </p:spPr>
            <p:txBody>
              <a:bodyPr/>
              <a:lstStyle/>
              <a:p>
                <a:r>
                  <a:rPr lang="en-US">
                    <a:noFill/>
                  </a:rPr>
                  <a:t> </a:t>
                </a:r>
              </a:p>
            </p:txBody>
          </p:sp>
        </mc:Fallback>
      </mc:AlternateContent>
    </p:spTree>
    <p:extLst>
      <p:ext uri="{BB962C8B-B14F-4D97-AF65-F5344CB8AC3E}">
        <p14:creationId xmlns:p14="http://schemas.microsoft.com/office/powerpoint/2010/main" val="5304530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D6D10-A8DE-A943-ACB9-1FE2FE236A98}"/>
              </a:ext>
            </a:extLst>
          </p:cNvPr>
          <p:cNvSpPr>
            <a:spLocks noGrp="1"/>
          </p:cNvSpPr>
          <p:nvPr>
            <p:ph type="title"/>
          </p:nvPr>
        </p:nvSpPr>
        <p:spPr>
          <a:xfrm>
            <a:off x="0" y="0"/>
            <a:ext cx="12192000" cy="928688"/>
          </a:xfrm>
        </p:spPr>
        <p:txBody>
          <a:bodyPr/>
          <a:lstStyle/>
          <a:p>
            <a:r>
              <a:rPr lang="en-ZA" dirty="0"/>
              <a:t>Tensor/Kronecker product</a:t>
            </a:r>
            <a:endParaRPr lang="en-US" dirty="0"/>
          </a:p>
        </p:txBody>
      </p:sp>
      <p:sp>
        <p:nvSpPr>
          <p:cNvPr id="3" name="Slide Number Placeholder 2">
            <a:extLst>
              <a:ext uri="{FF2B5EF4-FFF2-40B4-BE49-F238E27FC236}">
                <a16:creationId xmlns:a16="http://schemas.microsoft.com/office/drawing/2014/main" id="{0E262511-6CA0-6F45-9AFC-523C03F7F0CB}"/>
              </a:ext>
            </a:extLst>
          </p:cNvPr>
          <p:cNvSpPr>
            <a:spLocks noGrp="1"/>
          </p:cNvSpPr>
          <p:nvPr>
            <p:ph type="sldNum" sz="quarter" idx="12"/>
          </p:nvPr>
        </p:nvSpPr>
        <p:spPr/>
        <p:txBody>
          <a:bodyPr/>
          <a:lstStyle/>
          <a:p>
            <a:fld id="{591A223C-FA10-BC46-A853-03BA373D023C}" type="slidenum">
              <a:rPr lang="en-US" smtClean="0"/>
              <a:t>25</a:t>
            </a:fld>
            <a:endParaRPr lang="en-US"/>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34597502-BF5D-2D45-B062-45CC6EE037EB}"/>
                  </a:ext>
                </a:extLst>
              </p:cNvPr>
              <p:cNvSpPr/>
              <p:nvPr/>
            </p:nvSpPr>
            <p:spPr>
              <a:xfrm>
                <a:off x="2139342" y="1572823"/>
                <a:ext cx="7833106" cy="21379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𝐴</m:t>
                      </m:r>
                      <m:r>
                        <a:rPr lang="en-US" sz="2800" i="0">
                          <a:latin typeface="Cambria Math" panose="02040503050406030204" pitchFamily="18" charset="0"/>
                        </a:rPr>
                        <m:t>⊗</m:t>
                      </m:r>
                      <m:r>
                        <a:rPr lang="en-US" sz="2800" i="1">
                          <a:latin typeface="Cambria Math" panose="02040503050406030204" pitchFamily="18" charset="0"/>
                        </a:rPr>
                        <m:t>𝐵</m:t>
                      </m:r>
                      <m:r>
                        <a:rPr lang="en-US" sz="2800" i="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4"/>
                                    <m:mcJc m:val="center"/>
                                  </m:mcPr>
                                </m:mc>
                              </m:mcs>
                              <m:ctrlPr>
                                <a:rPr lang="en-US" sz="2800" i="1">
                                  <a:latin typeface="Cambria Math" panose="02040503050406030204" pitchFamily="18" charset="0"/>
                                </a:rPr>
                              </m:ctrlPr>
                            </m:mPr>
                            <m:mr>
                              <m:e>
                                <m:d>
                                  <m:dPr>
                                    <m:beg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0">
                                            <a:latin typeface="Cambria Math" panose="02040503050406030204" pitchFamily="18" charset="0"/>
                                          </a:rPr>
                                          <m:t>11</m:t>
                                        </m:r>
                                      </m:sub>
                                    </m:sSub>
                                    <m:r>
                                      <a:rPr lang="en-US" sz="2800" i="0">
                                        <a:latin typeface="Cambria Math" panose="02040503050406030204" pitchFamily="18" charset="0"/>
                                      </a:rPr>
                                      <m:t>(</m:t>
                                    </m:r>
                                    <m:r>
                                      <a:rPr lang="en-US" sz="2800" i="1">
                                        <a:latin typeface="Cambria Math" panose="02040503050406030204" pitchFamily="18" charset="0"/>
                                      </a:rPr>
                                      <m:t>𝐵</m:t>
                                    </m:r>
                                  </m:e>
                                </m:d>
                              </m:e>
                              <m:e>
                                <m:d>
                                  <m:dPr>
                                    <m:beg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0">
                                            <a:latin typeface="Cambria Math" panose="02040503050406030204" pitchFamily="18" charset="0"/>
                                          </a:rPr>
                                          <m:t>12</m:t>
                                        </m:r>
                                      </m:sub>
                                    </m:sSub>
                                    <m:r>
                                      <a:rPr lang="en-US" sz="2800" i="0">
                                        <a:latin typeface="Cambria Math" panose="02040503050406030204" pitchFamily="18" charset="0"/>
                                      </a:rPr>
                                      <m:t>(</m:t>
                                    </m:r>
                                    <m:r>
                                      <a:rPr lang="en-US" sz="2800" i="1">
                                        <a:latin typeface="Cambria Math" panose="02040503050406030204" pitchFamily="18" charset="0"/>
                                      </a:rPr>
                                      <m:t>𝐵</m:t>
                                    </m:r>
                                  </m:e>
                                </m:d>
                              </m:e>
                              <m:e>
                                <m:r>
                                  <a:rPr lang="en-US" sz="2800" i="0">
                                    <a:latin typeface="Cambria Math" panose="02040503050406030204" pitchFamily="18" charset="0"/>
                                  </a:rPr>
                                  <m:t>⋯</m:t>
                                </m:r>
                              </m:e>
                              <m:e>
                                <m:d>
                                  <m:dPr>
                                    <m:beg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0">
                                            <a:latin typeface="Cambria Math" panose="02040503050406030204" pitchFamily="18" charset="0"/>
                                          </a:rPr>
                                          <m:t>1</m:t>
                                        </m:r>
                                        <m:r>
                                          <a:rPr lang="en-US" sz="2800" i="1">
                                            <a:latin typeface="Cambria Math" panose="02040503050406030204" pitchFamily="18" charset="0"/>
                                          </a:rPr>
                                          <m:t>𝑛</m:t>
                                        </m:r>
                                      </m:sub>
                                    </m:sSub>
                                    <m:r>
                                      <a:rPr lang="en-US" sz="2800" i="0">
                                        <a:latin typeface="Cambria Math" panose="02040503050406030204" pitchFamily="18" charset="0"/>
                                      </a:rPr>
                                      <m:t>(</m:t>
                                    </m:r>
                                    <m:r>
                                      <a:rPr lang="en-US" sz="2800" i="1">
                                        <a:latin typeface="Cambria Math" panose="02040503050406030204" pitchFamily="18" charset="0"/>
                                      </a:rPr>
                                      <m:t>𝐵</m:t>
                                    </m:r>
                                  </m:e>
                                </m:d>
                              </m:e>
                            </m:mr>
                            <m:mr>
                              <m:e>
                                <m:d>
                                  <m:dPr>
                                    <m:beg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0">
                                            <a:latin typeface="Cambria Math" panose="02040503050406030204" pitchFamily="18" charset="0"/>
                                          </a:rPr>
                                          <m:t>21</m:t>
                                        </m:r>
                                      </m:sub>
                                    </m:sSub>
                                    <m:r>
                                      <a:rPr lang="en-US" sz="2800" i="0">
                                        <a:latin typeface="Cambria Math" panose="02040503050406030204" pitchFamily="18" charset="0"/>
                                      </a:rPr>
                                      <m:t>(</m:t>
                                    </m:r>
                                    <m:r>
                                      <a:rPr lang="en-US" sz="2800" i="1">
                                        <a:latin typeface="Cambria Math" panose="02040503050406030204" pitchFamily="18" charset="0"/>
                                      </a:rPr>
                                      <m:t>𝐵</m:t>
                                    </m:r>
                                  </m:e>
                                </m:d>
                              </m:e>
                              <m:e>
                                <m:d>
                                  <m:dPr>
                                    <m:beg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0">
                                            <a:latin typeface="Cambria Math" panose="02040503050406030204" pitchFamily="18" charset="0"/>
                                          </a:rPr>
                                          <m:t>22</m:t>
                                        </m:r>
                                      </m:sub>
                                    </m:sSub>
                                    <m:r>
                                      <a:rPr lang="en-US" sz="2800" i="0">
                                        <a:latin typeface="Cambria Math" panose="02040503050406030204" pitchFamily="18" charset="0"/>
                                      </a:rPr>
                                      <m:t>(</m:t>
                                    </m:r>
                                    <m:r>
                                      <a:rPr lang="en-US" sz="2800" i="1">
                                        <a:latin typeface="Cambria Math" panose="02040503050406030204" pitchFamily="18" charset="0"/>
                                      </a:rPr>
                                      <m:t>𝐵</m:t>
                                    </m:r>
                                  </m:e>
                                </m:d>
                              </m:e>
                              <m:e>
                                <m:r>
                                  <a:rPr lang="en-US" sz="2800" i="0">
                                    <a:latin typeface="Cambria Math" panose="02040503050406030204" pitchFamily="18" charset="0"/>
                                  </a:rPr>
                                  <m:t>⋯</m:t>
                                </m:r>
                              </m:e>
                              <m:e>
                                <m:d>
                                  <m:dPr>
                                    <m:beg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0">
                                            <a:latin typeface="Cambria Math" panose="02040503050406030204" pitchFamily="18" charset="0"/>
                                          </a:rPr>
                                          <m:t>2</m:t>
                                        </m:r>
                                        <m:r>
                                          <a:rPr lang="en-US" sz="2800" i="1">
                                            <a:latin typeface="Cambria Math" panose="02040503050406030204" pitchFamily="18" charset="0"/>
                                          </a:rPr>
                                          <m:t>𝑛</m:t>
                                        </m:r>
                                      </m:sub>
                                    </m:sSub>
                                    <m:r>
                                      <a:rPr lang="en-US" sz="2800" i="0">
                                        <a:latin typeface="Cambria Math" panose="02040503050406030204" pitchFamily="18" charset="0"/>
                                      </a:rPr>
                                      <m:t>(</m:t>
                                    </m:r>
                                    <m:r>
                                      <a:rPr lang="en-US" sz="2800" i="1">
                                        <a:latin typeface="Cambria Math" panose="02040503050406030204" pitchFamily="18" charset="0"/>
                                      </a:rPr>
                                      <m:t>𝐵</m:t>
                                    </m:r>
                                  </m:e>
                                </m:d>
                              </m:e>
                            </m:mr>
                            <m:mr>
                              <m:e>
                                <m:r>
                                  <a:rPr lang="en-US" sz="2800" i="0">
                                    <a:latin typeface="Cambria Math" panose="02040503050406030204" pitchFamily="18" charset="0"/>
                                  </a:rPr>
                                  <m:t>⋮</m:t>
                                </m:r>
                              </m:e>
                              <m:e>
                                <m:r>
                                  <a:rPr lang="en-US" sz="2800" i="0">
                                    <a:latin typeface="Cambria Math" panose="02040503050406030204" pitchFamily="18" charset="0"/>
                                  </a:rPr>
                                  <m:t>⋮</m:t>
                                </m:r>
                              </m:e>
                              <m:e>
                                <m:d>
                                  <m:dPr>
                                    <m:beg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b="1" i="1">
                                            <a:latin typeface="Cambria Math" panose="02040503050406030204" pitchFamily="18" charset="0"/>
                                          </a:rPr>
                                          <m:t>𝒂</m:t>
                                        </m:r>
                                      </m:e>
                                      <m:sub>
                                        <m:r>
                                          <a:rPr lang="en-US" sz="2800" b="1" i="1">
                                            <a:latin typeface="Cambria Math" panose="02040503050406030204" pitchFamily="18" charset="0"/>
                                          </a:rPr>
                                          <m:t>𝒊𝒋</m:t>
                                        </m:r>
                                      </m:sub>
                                    </m:sSub>
                                    <m:r>
                                      <a:rPr lang="en-US" sz="2800" b="0" i="0">
                                        <a:latin typeface="Cambria Math" panose="02040503050406030204" pitchFamily="18" charset="0"/>
                                      </a:rPr>
                                      <m:t>(</m:t>
                                    </m:r>
                                    <m:r>
                                      <a:rPr lang="en-US" sz="2800" b="0" i="1">
                                        <a:latin typeface="Cambria Math" panose="02040503050406030204" pitchFamily="18" charset="0"/>
                                      </a:rPr>
                                      <m:t>𝐵</m:t>
                                    </m:r>
                                  </m:e>
                                </m:d>
                              </m:e>
                              <m:e>
                                <m:r>
                                  <a:rPr lang="en-US" sz="2800" b="0" i="0">
                                    <a:latin typeface="Cambria Math" panose="02040503050406030204" pitchFamily="18" charset="0"/>
                                  </a:rPr>
                                  <m:t>⋮</m:t>
                                </m:r>
                              </m:e>
                            </m:mr>
                            <m:mr>
                              <m:e>
                                <m:d>
                                  <m:dPr>
                                    <m:begChr m:val=""/>
                                    <m:ctrlPr>
                                      <a:rPr lang="en-US" sz="2800" b="0" i="1">
                                        <a:latin typeface="Cambria Math" panose="02040503050406030204" pitchFamily="18" charset="0"/>
                                      </a:rPr>
                                    </m:ctrlPr>
                                  </m:dPr>
                                  <m:e>
                                    <m:sSub>
                                      <m:sSubPr>
                                        <m:ctrlPr>
                                          <a:rPr lang="en-US" sz="2800" b="0" i="1">
                                            <a:latin typeface="Cambria Math" panose="02040503050406030204" pitchFamily="18" charset="0"/>
                                          </a:rPr>
                                        </m:ctrlPr>
                                      </m:sSubPr>
                                      <m:e>
                                        <m:r>
                                          <a:rPr lang="en-US" sz="2800" b="0" i="1">
                                            <a:latin typeface="Cambria Math" panose="02040503050406030204" pitchFamily="18" charset="0"/>
                                          </a:rPr>
                                          <m:t>𝑎</m:t>
                                        </m:r>
                                      </m:e>
                                      <m:sub>
                                        <m:r>
                                          <a:rPr lang="en-US" sz="2800" b="0" i="1">
                                            <a:latin typeface="Cambria Math" panose="02040503050406030204" pitchFamily="18" charset="0"/>
                                          </a:rPr>
                                          <m:t>𝑚</m:t>
                                        </m:r>
                                        <m:r>
                                          <a:rPr lang="en-US" sz="2800" b="0" i="0">
                                            <a:latin typeface="Cambria Math" panose="02040503050406030204" pitchFamily="18" charset="0"/>
                                          </a:rPr>
                                          <m:t>1</m:t>
                                        </m:r>
                                      </m:sub>
                                    </m:sSub>
                                    <m:r>
                                      <a:rPr lang="en-US" sz="2800" b="0" i="0">
                                        <a:latin typeface="Cambria Math" panose="02040503050406030204" pitchFamily="18" charset="0"/>
                                      </a:rPr>
                                      <m:t>(</m:t>
                                    </m:r>
                                    <m:r>
                                      <a:rPr lang="en-US" sz="2800" b="0" i="1">
                                        <a:latin typeface="Cambria Math" panose="02040503050406030204" pitchFamily="18" charset="0"/>
                                      </a:rPr>
                                      <m:t>𝐵</m:t>
                                    </m:r>
                                  </m:e>
                                </m:d>
                              </m:e>
                              <m:e>
                                <m:d>
                                  <m:dPr>
                                    <m:begChr m:val=""/>
                                    <m:ctrlPr>
                                      <a:rPr lang="en-US" sz="2800" b="0" i="1">
                                        <a:latin typeface="Cambria Math" panose="02040503050406030204" pitchFamily="18" charset="0"/>
                                      </a:rPr>
                                    </m:ctrlPr>
                                  </m:dPr>
                                  <m:e>
                                    <m:sSub>
                                      <m:sSubPr>
                                        <m:ctrlPr>
                                          <a:rPr lang="en-US" sz="2800" b="0" i="1">
                                            <a:latin typeface="Cambria Math" panose="02040503050406030204" pitchFamily="18" charset="0"/>
                                          </a:rPr>
                                        </m:ctrlPr>
                                      </m:sSubPr>
                                      <m:e>
                                        <m:r>
                                          <a:rPr lang="en-US" sz="2800" b="0" i="1">
                                            <a:latin typeface="Cambria Math" panose="02040503050406030204" pitchFamily="18" charset="0"/>
                                          </a:rPr>
                                          <m:t>𝑎</m:t>
                                        </m:r>
                                      </m:e>
                                      <m:sub>
                                        <m:r>
                                          <a:rPr lang="en-US" sz="2800" b="0" i="1">
                                            <a:latin typeface="Cambria Math" panose="02040503050406030204" pitchFamily="18" charset="0"/>
                                          </a:rPr>
                                          <m:t>𝑚</m:t>
                                        </m:r>
                                        <m:r>
                                          <a:rPr lang="en-US" sz="2800" b="0" i="0">
                                            <a:latin typeface="Cambria Math" panose="02040503050406030204" pitchFamily="18" charset="0"/>
                                          </a:rPr>
                                          <m:t>2</m:t>
                                        </m:r>
                                      </m:sub>
                                    </m:sSub>
                                    <m:r>
                                      <a:rPr lang="en-US" sz="2800" b="0" i="0">
                                        <a:latin typeface="Cambria Math" panose="02040503050406030204" pitchFamily="18" charset="0"/>
                                      </a:rPr>
                                      <m:t>(</m:t>
                                    </m:r>
                                    <m:r>
                                      <a:rPr lang="en-US" sz="2800" b="0" i="1">
                                        <a:latin typeface="Cambria Math" panose="02040503050406030204" pitchFamily="18" charset="0"/>
                                      </a:rPr>
                                      <m:t>𝐵</m:t>
                                    </m:r>
                                  </m:e>
                                </m:d>
                              </m:e>
                              <m:e>
                                <m:r>
                                  <a:rPr lang="en-US" sz="2800" b="0" i="0">
                                    <a:latin typeface="Cambria Math" panose="02040503050406030204" pitchFamily="18" charset="0"/>
                                  </a:rPr>
                                  <m:t>⋯</m:t>
                                </m:r>
                              </m:e>
                              <m:e>
                                <m:d>
                                  <m:dPr>
                                    <m:begChr m:val=""/>
                                    <m:ctrlPr>
                                      <a:rPr lang="en-US" sz="2800" b="0" i="1">
                                        <a:latin typeface="Cambria Math" panose="02040503050406030204" pitchFamily="18" charset="0"/>
                                      </a:rPr>
                                    </m:ctrlPr>
                                  </m:dPr>
                                  <m:e>
                                    <m:sSub>
                                      <m:sSubPr>
                                        <m:ctrlPr>
                                          <a:rPr lang="en-US" sz="2800" b="0" i="1">
                                            <a:latin typeface="Cambria Math" panose="02040503050406030204" pitchFamily="18" charset="0"/>
                                          </a:rPr>
                                        </m:ctrlPr>
                                      </m:sSubPr>
                                      <m:e>
                                        <m:r>
                                          <a:rPr lang="en-US" sz="2800" b="0" i="1">
                                            <a:latin typeface="Cambria Math" panose="02040503050406030204" pitchFamily="18" charset="0"/>
                                          </a:rPr>
                                          <m:t>𝑎</m:t>
                                        </m:r>
                                      </m:e>
                                      <m:sub>
                                        <m:r>
                                          <a:rPr lang="en-US" sz="2800" b="0" i="1">
                                            <a:latin typeface="Cambria Math" panose="02040503050406030204" pitchFamily="18" charset="0"/>
                                          </a:rPr>
                                          <m:t>𝑚𝑛</m:t>
                                        </m:r>
                                      </m:sub>
                                    </m:sSub>
                                    <m:r>
                                      <a:rPr lang="en-US" sz="2800" b="0" i="0">
                                        <a:latin typeface="Cambria Math" panose="02040503050406030204" pitchFamily="18" charset="0"/>
                                      </a:rPr>
                                      <m:t>(</m:t>
                                    </m:r>
                                    <m:r>
                                      <a:rPr lang="en-US" sz="2800" b="0" i="1">
                                        <a:latin typeface="Cambria Math" panose="02040503050406030204" pitchFamily="18" charset="0"/>
                                      </a:rPr>
                                      <m:t>𝐵</m:t>
                                    </m:r>
                                  </m:e>
                                </m:d>
                              </m:e>
                            </m:mr>
                          </m:m>
                        </m:e>
                      </m:d>
                    </m:oMath>
                  </m:oMathPara>
                </a14:m>
                <a:endParaRPr lang="en-US" sz="2800" dirty="0"/>
              </a:p>
            </p:txBody>
          </p:sp>
        </mc:Choice>
        <mc:Fallback xmlns="">
          <p:sp>
            <p:nvSpPr>
              <p:cNvPr id="5" name="Rectangle 4">
                <a:extLst>
                  <a:ext uri="{FF2B5EF4-FFF2-40B4-BE49-F238E27FC236}">
                    <a16:creationId xmlns:a16="http://schemas.microsoft.com/office/drawing/2014/main" id="{34597502-BF5D-2D45-B062-45CC6EE037EB}"/>
                  </a:ext>
                </a:extLst>
              </p:cNvPr>
              <p:cNvSpPr>
                <a:spLocks noRot="1" noChangeAspect="1" noMove="1" noResize="1" noEditPoints="1" noAdjustHandles="1" noChangeArrowheads="1" noChangeShapeType="1" noTextEdit="1"/>
              </p:cNvSpPr>
              <p:nvPr/>
            </p:nvSpPr>
            <p:spPr>
              <a:xfrm>
                <a:off x="2139342" y="1572823"/>
                <a:ext cx="7833106" cy="2137958"/>
              </a:xfrm>
              <a:prstGeom prst="rect">
                <a:avLst/>
              </a:prstGeom>
              <a:blipFill>
                <a:blip r:embed="rId3"/>
                <a:stretch>
                  <a:fillRect t="-30178" r="-972" b="-467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7C628AFE-68EA-FA46-A84A-26996861D450}"/>
                  </a:ext>
                </a:extLst>
              </p:cNvPr>
              <p:cNvSpPr/>
              <p:nvPr/>
            </p:nvSpPr>
            <p:spPr>
              <a:xfrm>
                <a:off x="1572297" y="4956970"/>
                <a:ext cx="10192149" cy="151804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3"/>
                                <m:mcJc m:val="center"/>
                              </m:mcPr>
                            </m:mc>
                          </m:mcs>
                          <m:ctrlPr>
                            <a:rPr lang="en-US" sz="2400" i="1" smtClean="0">
                              <a:latin typeface="Cambria Math" panose="02040503050406030204" pitchFamily="18" charset="0"/>
                            </a:rPr>
                          </m:ctrlPr>
                        </m:mPr>
                        <m:mr>
                          <m:e>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b="0" i="1" smtClean="0">
                                          <a:latin typeface="Cambria Math" panose="02040503050406030204" pitchFamily="18" charset="0"/>
                                        </a:rPr>
                                        <m:t>1</m:t>
                                      </m:r>
                                    </m:e>
                                    <m:e>
                                      <m:r>
                                        <a:rPr lang="en-US" sz="2400" b="0" i="1" smtClean="0">
                                          <a:latin typeface="Cambria Math" panose="02040503050406030204" pitchFamily="18" charset="0"/>
                                        </a:rPr>
                                        <m:t>2</m:t>
                                      </m:r>
                                    </m:e>
                                  </m:mr>
                                  <m:mr>
                                    <m:e>
                                      <m:r>
                                        <a:rPr lang="en-US" sz="2400" b="0" i="1" smtClean="0">
                                          <a:latin typeface="Cambria Math" panose="02040503050406030204" pitchFamily="18" charset="0"/>
                                        </a:rPr>
                                        <m:t>3</m:t>
                                      </m:r>
                                    </m:e>
                                    <m:e>
                                      <m:r>
                                        <a:rPr lang="en-US" sz="2400" b="0" i="1" smtClean="0">
                                          <a:latin typeface="Cambria Math" panose="02040503050406030204" pitchFamily="18" charset="0"/>
                                        </a:rPr>
                                        <m:t>4</m:t>
                                      </m:r>
                                    </m:e>
                                  </m:mr>
                                </m:m>
                              </m:e>
                            </m:d>
                            <m:r>
                              <a:rPr lang="en-US" sz="2400">
                                <a:latin typeface="Cambria Math" panose="02040503050406030204" pitchFamily="18" charset="0"/>
                              </a:rPr>
                              <m:t>⊗</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b="0" i="1" smtClean="0">
                                          <a:latin typeface="Cambria Math" panose="02040503050406030204" pitchFamily="18" charset="0"/>
                                        </a:rPr>
                                        <m:t>𝑎</m:t>
                                      </m:r>
                                    </m:e>
                                    <m:e>
                                      <m:r>
                                        <a:rPr lang="en-US" sz="2400" b="0" i="1" smtClean="0">
                                          <a:latin typeface="Cambria Math" panose="02040503050406030204" pitchFamily="18" charset="0"/>
                                        </a:rPr>
                                        <m:t>𝑏</m:t>
                                      </m:r>
                                    </m:e>
                                  </m:mr>
                                  <m:mr>
                                    <m:e>
                                      <m:r>
                                        <a:rPr lang="en-US" sz="2400" b="0" i="1" smtClean="0">
                                          <a:latin typeface="Cambria Math" panose="02040503050406030204" pitchFamily="18" charset="0"/>
                                        </a:rPr>
                                        <m:t>𝑐</m:t>
                                      </m:r>
                                    </m:e>
                                    <m:e>
                                      <m:r>
                                        <a:rPr lang="en-US" sz="2400" b="0" i="1" smtClean="0">
                                          <a:latin typeface="Cambria Math" panose="02040503050406030204" pitchFamily="18" charset="0"/>
                                        </a:rPr>
                                        <m:t>𝑑</m:t>
                                      </m:r>
                                    </m:e>
                                  </m:mr>
                                </m:m>
                              </m:e>
                            </m:d>
                            <m:r>
                              <a:rPr lang="en-US" sz="2400" i="1">
                                <a:latin typeface="Cambria Math" panose="02040503050406030204" pitchFamily="18" charset="0"/>
                              </a:rPr>
                              <m:t>   =</m:t>
                            </m:r>
                          </m:e>
                          <m:e>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b="0" i="1" smtClean="0">
                                          <a:latin typeface="Cambria Math" panose="02040503050406030204" pitchFamily="18" charset="0"/>
                                        </a:rPr>
                                        <m:t>1</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𝑎</m:t>
                                                </m:r>
                                              </m:e>
                                              <m:e>
                                                <m:r>
                                                  <a:rPr lang="en-US" sz="2400" i="1">
                                                    <a:latin typeface="Cambria Math" panose="02040503050406030204" pitchFamily="18" charset="0"/>
                                                  </a:rPr>
                                                  <m:t>𝑏</m:t>
                                                </m:r>
                                              </m:e>
                                            </m:mr>
                                            <m:mr>
                                              <m:e>
                                                <m:r>
                                                  <a:rPr lang="en-US" sz="2400" i="1">
                                                    <a:latin typeface="Cambria Math" panose="02040503050406030204" pitchFamily="18" charset="0"/>
                                                  </a:rPr>
                                                  <m:t>𝑐</m:t>
                                                </m:r>
                                              </m:e>
                                              <m:e>
                                                <m:r>
                                                  <a:rPr lang="en-US" sz="2400" i="1">
                                                    <a:latin typeface="Cambria Math" panose="02040503050406030204" pitchFamily="18" charset="0"/>
                                                  </a:rPr>
                                                  <m:t>𝑑</m:t>
                                                </m:r>
                                              </m:e>
                                            </m:mr>
                                          </m:m>
                                        </m:e>
                                      </m:d>
                                    </m:e>
                                    <m:e>
                                      <m:r>
                                        <a:rPr lang="en-US" sz="2400" b="0" i="1" smtClean="0">
                                          <a:latin typeface="Cambria Math" panose="02040503050406030204" pitchFamily="18" charset="0"/>
                                        </a:rPr>
                                        <m:t>2</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𝑎</m:t>
                                                </m:r>
                                              </m:e>
                                              <m:e>
                                                <m:r>
                                                  <a:rPr lang="en-US" sz="2400" i="1">
                                                    <a:latin typeface="Cambria Math" panose="02040503050406030204" pitchFamily="18" charset="0"/>
                                                  </a:rPr>
                                                  <m:t>𝑏</m:t>
                                                </m:r>
                                              </m:e>
                                            </m:mr>
                                            <m:mr>
                                              <m:e>
                                                <m:r>
                                                  <a:rPr lang="en-US" sz="2400" i="1">
                                                    <a:latin typeface="Cambria Math" panose="02040503050406030204" pitchFamily="18" charset="0"/>
                                                  </a:rPr>
                                                  <m:t>𝑐</m:t>
                                                </m:r>
                                              </m:e>
                                              <m:e>
                                                <m:r>
                                                  <a:rPr lang="en-US" sz="2400" i="1">
                                                    <a:latin typeface="Cambria Math" panose="02040503050406030204" pitchFamily="18" charset="0"/>
                                                  </a:rPr>
                                                  <m:t>𝑑</m:t>
                                                </m:r>
                                              </m:e>
                                            </m:mr>
                                          </m:m>
                                        </m:e>
                                      </m:d>
                                    </m:e>
                                  </m:mr>
                                  <m:mr>
                                    <m:e>
                                      <m:r>
                                        <a:rPr lang="en-US" sz="2400" b="0" i="1" smtClean="0">
                                          <a:latin typeface="Cambria Math" panose="02040503050406030204" pitchFamily="18" charset="0"/>
                                        </a:rPr>
                                        <m:t>3</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𝑎</m:t>
                                                </m:r>
                                              </m:e>
                                              <m:e>
                                                <m:r>
                                                  <a:rPr lang="en-US" sz="2400" i="1">
                                                    <a:latin typeface="Cambria Math" panose="02040503050406030204" pitchFamily="18" charset="0"/>
                                                  </a:rPr>
                                                  <m:t>𝑏</m:t>
                                                </m:r>
                                              </m:e>
                                            </m:mr>
                                            <m:mr>
                                              <m:e>
                                                <m:r>
                                                  <a:rPr lang="en-US" sz="2400" i="1">
                                                    <a:latin typeface="Cambria Math" panose="02040503050406030204" pitchFamily="18" charset="0"/>
                                                  </a:rPr>
                                                  <m:t>𝑐</m:t>
                                                </m:r>
                                              </m:e>
                                              <m:e>
                                                <m:r>
                                                  <a:rPr lang="en-US" sz="2400" i="1">
                                                    <a:latin typeface="Cambria Math" panose="02040503050406030204" pitchFamily="18" charset="0"/>
                                                  </a:rPr>
                                                  <m:t>𝑑</m:t>
                                                </m:r>
                                              </m:e>
                                            </m:mr>
                                          </m:m>
                                        </m:e>
                                      </m:d>
                                    </m:e>
                                    <m:e>
                                      <m:r>
                                        <a:rPr lang="en-US" sz="2400" b="0" i="1" smtClean="0">
                                          <a:latin typeface="Cambria Math" panose="02040503050406030204" pitchFamily="18" charset="0"/>
                                        </a:rPr>
                                        <m:t>4</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𝑎</m:t>
                                                </m:r>
                                              </m:e>
                                              <m:e>
                                                <m:r>
                                                  <a:rPr lang="en-US" sz="2400" i="1">
                                                    <a:latin typeface="Cambria Math" panose="02040503050406030204" pitchFamily="18" charset="0"/>
                                                  </a:rPr>
                                                  <m:t>𝑏</m:t>
                                                </m:r>
                                              </m:e>
                                            </m:mr>
                                            <m:mr>
                                              <m:e>
                                                <m:r>
                                                  <a:rPr lang="en-US" sz="2400" i="1">
                                                    <a:latin typeface="Cambria Math" panose="02040503050406030204" pitchFamily="18" charset="0"/>
                                                  </a:rPr>
                                                  <m:t>𝑐</m:t>
                                                </m:r>
                                              </m:e>
                                              <m:e>
                                                <m:r>
                                                  <a:rPr lang="en-US" sz="2400" i="1">
                                                    <a:latin typeface="Cambria Math" panose="02040503050406030204" pitchFamily="18" charset="0"/>
                                                  </a:rPr>
                                                  <m:t>𝑑</m:t>
                                                </m:r>
                                              </m:e>
                                            </m:mr>
                                          </m:m>
                                        </m:e>
                                      </m:d>
                                    </m:e>
                                  </m:mr>
                                </m:m>
                              </m:e>
                            </m:d>
                            <m:r>
                              <a:rPr lang="en-US" sz="2400" i="1">
                                <a:latin typeface="Cambria Math" panose="02040503050406030204" pitchFamily="18" charset="0"/>
                              </a:rPr>
                              <m:t>=</m:t>
                            </m:r>
                          </m:e>
                          <m:e>
                            <m:d>
                              <m:dPr>
                                <m:ctrlPr>
                                  <a:rPr lang="en-US" sz="2400" i="1">
                                    <a:latin typeface="Cambria Math" panose="02040503050406030204" pitchFamily="18" charset="0"/>
                                  </a:rPr>
                                </m:ctrlPr>
                              </m:dPr>
                              <m:e>
                                <m:m>
                                  <m:mPr>
                                    <m:mcs>
                                      <m:mc>
                                        <m:mcPr>
                                          <m:count m:val="4"/>
                                          <m:mcJc m:val="center"/>
                                        </m:mcPr>
                                      </m:mc>
                                    </m:mcs>
                                    <m:ctrlPr>
                                      <a:rPr lang="en-US" sz="2400" i="1">
                                        <a:latin typeface="Cambria Math" panose="02040503050406030204" pitchFamily="18" charset="0"/>
                                      </a:rPr>
                                    </m:ctrlPr>
                                  </m:mPr>
                                  <m:mr>
                                    <m:e>
                                      <m:r>
                                        <m:rPr>
                                          <m:brk m:alnAt="7"/>
                                        </m:rPr>
                                        <a:rPr lang="en-US" sz="2400" b="0" i="1" smtClean="0">
                                          <a:latin typeface="Cambria Math" panose="02040503050406030204" pitchFamily="18" charset="0"/>
                                        </a:rPr>
                                        <m:t>𝑎</m:t>
                                      </m:r>
                                    </m:e>
                                    <m:e>
                                      <m:r>
                                        <a:rPr lang="en-US" sz="2400" b="0" i="1" smtClean="0">
                                          <a:latin typeface="Cambria Math" panose="02040503050406030204" pitchFamily="18" charset="0"/>
                                        </a:rPr>
                                        <m:t>𝑏</m:t>
                                      </m:r>
                                    </m:e>
                                    <m:e>
                                      <m:r>
                                        <a:rPr lang="en-US" sz="2400" b="0" i="1" smtClean="0">
                                          <a:latin typeface="Cambria Math" panose="02040503050406030204" pitchFamily="18" charset="0"/>
                                        </a:rPr>
                                        <m:t>2</m:t>
                                      </m:r>
                                      <m:r>
                                        <a:rPr lang="en-US" sz="2400" b="0" i="1" smtClean="0">
                                          <a:latin typeface="Cambria Math" panose="02040503050406030204" pitchFamily="18" charset="0"/>
                                        </a:rPr>
                                        <m:t>𝑎</m:t>
                                      </m:r>
                                    </m:e>
                                    <m:e>
                                      <m:r>
                                        <a:rPr lang="en-US" sz="2400" b="0" i="1" smtClean="0">
                                          <a:latin typeface="Cambria Math" panose="02040503050406030204" pitchFamily="18" charset="0"/>
                                        </a:rPr>
                                        <m:t>2</m:t>
                                      </m:r>
                                      <m:r>
                                        <a:rPr lang="en-US" sz="2400" i="1">
                                          <a:latin typeface="Cambria Math" panose="02040503050406030204" pitchFamily="18" charset="0"/>
                                        </a:rPr>
                                        <m:t>𝑏</m:t>
                                      </m:r>
                                    </m:e>
                                  </m:mr>
                                  <m:mr>
                                    <m:e>
                                      <m:r>
                                        <a:rPr lang="en-US" sz="2400" b="0" i="1" smtClean="0">
                                          <a:latin typeface="Cambria Math" panose="02040503050406030204" pitchFamily="18" charset="0"/>
                                        </a:rPr>
                                        <m:t>𝑐</m:t>
                                      </m:r>
                                    </m:e>
                                    <m:e>
                                      <m:r>
                                        <a:rPr lang="en-US" sz="2400" b="0" i="1" smtClean="0">
                                          <a:latin typeface="Cambria Math" panose="02040503050406030204" pitchFamily="18" charset="0"/>
                                        </a:rPr>
                                        <m:t>𝑑</m:t>
                                      </m:r>
                                    </m:e>
                                    <m:e>
                                      <m:r>
                                        <a:rPr lang="en-US" sz="2400" b="0" i="1" smtClean="0">
                                          <a:latin typeface="Cambria Math" panose="02040503050406030204" pitchFamily="18" charset="0"/>
                                        </a:rPr>
                                        <m:t>2</m:t>
                                      </m:r>
                                      <m:r>
                                        <a:rPr lang="en-US" sz="2400" b="0" i="1" smtClean="0">
                                          <a:latin typeface="Cambria Math" panose="02040503050406030204" pitchFamily="18" charset="0"/>
                                        </a:rPr>
                                        <m:t>𝑐</m:t>
                                      </m:r>
                                    </m:e>
                                    <m:e>
                                      <m:r>
                                        <a:rPr lang="en-US" sz="2400" b="0" i="1" smtClean="0">
                                          <a:latin typeface="Cambria Math" panose="02040503050406030204" pitchFamily="18" charset="0"/>
                                        </a:rPr>
                                        <m:t>2</m:t>
                                      </m:r>
                                      <m:r>
                                        <a:rPr lang="en-US" sz="2400" b="0" i="1" smtClean="0">
                                          <a:latin typeface="Cambria Math" panose="02040503050406030204" pitchFamily="18" charset="0"/>
                                        </a:rPr>
                                        <m:t>𝑑</m:t>
                                      </m:r>
                                    </m:e>
                                  </m:mr>
                                  <m:mr>
                                    <m:e>
                                      <m:r>
                                        <a:rPr lang="en-US" sz="2400" b="0" i="1" smtClean="0">
                                          <a:latin typeface="Cambria Math" panose="02040503050406030204" pitchFamily="18" charset="0"/>
                                        </a:rPr>
                                        <m:t>3</m:t>
                                      </m:r>
                                      <m:r>
                                        <a:rPr lang="en-US" sz="2400" b="0" i="1" smtClean="0">
                                          <a:latin typeface="Cambria Math" panose="02040503050406030204" pitchFamily="18" charset="0"/>
                                        </a:rPr>
                                        <m:t>𝑎</m:t>
                                      </m:r>
                                    </m:e>
                                    <m:e>
                                      <m:r>
                                        <a:rPr lang="en-US" sz="2400" b="0" i="1" smtClean="0">
                                          <a:latin typeface="Cambria Math" panose="02040503050406030204" pitchFamily="18" charset="0"/>
                                        </a:rPr>
                                        <m:t>3</m:t>
                                      </m:r>
                                      <m:r>
                                        <a:rPr lang="en-US" sz="2400" b="0" i="1" smtClean="0">
                                          <a:latin typeface="Cambria Math" panose="02040503050406030204" pitchFamily="18" charset="0"/>
                                        </a:rPr>
                                        <m:t>𝑏</m:t>
                                      </m:r>
                                    </m:e>
                                    <m:e>
                                      <m:r>
                                        <a:rPr lang="en-US" sz="2400" b="0" i="1" smtClean="0">
                                          <a:latin typeface="Cambria Math" panose="02040503050406030204" pitchFamily="18" charset="0"/>
                                        </a:rPr>
                                        <m:t>4</m:t>
                                      </m:r>
                                      <m:r>
                                        <a:rPr lang="en-US" sz="2400" b="0" i="1" smtClean="0">
                                          <a:latin typeface="Cambria Math" panose="02040503050406030204" pitchFamily="18" charset="0"/>
                                        </a:rPr>
                                        <m:t>𝑎</m:t>
                                      </m:r>
                                    </m:e>
                                    <m:e>
                                      <m:r>
                                        <a:rPr lang="en-US" sz="2400" b="0" i="1" smtClean="0">
                                          <a:latin typeface="Cambria Math" panose="02040503050406030204" pitchFamily="18" charset="0"/>
                                        </a:rPr>
                                        <m:t>4</m:t>
                                      </m:r>
                                      <m:r>
                                        <a:rPr lang="en-US" sz="2400" b="0" i="1" smtClean="0">
                                          <a:latin typeface="Cambria Math" panose="02040503050406030204" pitchFamily="18" charset="0"/>
                                        </a:rPr>
                                        <m:t>𝑏</m:t>
                                      </m:r>
                                    </m:e>
                                  </m:mr>
                                  <m:mr>
                                    <m:e>
                                      <m:r>
                                        <a:rPr lang="en-US" sz="2400" b="0" i="1" smtClean="0">
                                          <a:latin typeface="Cambria Math" panose="02040503050406030204" pitchFamily="18" charset="0"/>
                                        </a:rPr>
                                        <m:t>3</m:t>
                                      </m:r>
                                      <m:r>
                                        <a:rPr lang="en-US" sz="2400" b="0" i="1" smtClean="0">
                                          <a:latin typeface="Cambria Math" panose="02040503050406030204" pitchFamily="18" charset="0"/>
                                        </a:rPr>
                                        <m:t>𝑐</m:t>
                                      </m:r>
                                    </m:e>
                                    <m:e>
                                      <m:r>
                                        <a:rPr lang="en-US" sz="2400" b="0" i="1" smtClean="0">
                                          <a:latin typeface="Cambria Math" panose="02040503050406030204" pitchFamily="18" charset="0"/>
                                        </a:rPr>
                                        <m:t>3</m:t>
                                      </m:r>
                                      <m:r>
                                        <a:rPr lang="en-US" sz="2400" b="0" i="1" smtClean="0">
                                          <a:latin typeface="Cambria Math" panose="02040503050406030204" pitchFamily="18" charset="0"/>
                                        </a:rPr>
                                        <m:t>𝑑</m:t>
                                      </m:r>
                                    </m:e>
                                    <m:e>
                                      <m:r>
                                        <a:rPr lang="en-US" sz="2400" b="0" i="1" smtClean="0">
                                          <a:latin typeface="Cambria Math" panose="02040503050406030204" pitchFamily="18" charset="0"/>
                                        </a:rPr>
                                        <m:t>4</m:t>
                                      </m:r>
                                      <m:r>
                                        <a:rPr lang="en-US" sz="2400" b="0" i="1" smtClean="0">
                                          <a:latin typeface="Cambria Math" panose="02040503050406030204" pitchFamily="18" charset="0"/>
                                        </a:rPr>
                                        <m:t>𝑐</m:t>
                                      </m:r>
                                    </m:e>
                                    <m:e>
                                      <m:r>
                                        <a:rPr lang="en-US" sz="2400" b="0" i="1" smtClean="0">
                                          <a:latin typeface="Cambria Math" panose="02040503050406030204" pitchFamily="18" charset="0"/>
                                        </a:rPr>
                                        <m:t>4</m:t>
                                      </m:r>
                                      <m:r>
                                        <a:rPr lang="en-US" sz="2400" b="0" i="1" smtClean="0">
                                          <a:latin typeface="Cambria Math" panose="02040503050406030204" pitchFamily="18" charset="0"/>
                                        </a:rPr>
                                        <m:t>𝑑</m:t>
                                      </m:r>
                                    </m:e>
                                  </m:mr>
                                </m:m>
                              </m:e>
                            </m:d>
                          </m:e>
                        </m:mr>
                      </m:m>
                    </m:oMath>
                  </m:oMathPara>
                </a14:m>
                <a:endParaRPr lang="en-US" sz="2400" dirty="0"/>
              </a:p>
            </p:txBody>
          </p:sp>
        </mc:Choice>
        <mc:Fallback xmlns="">
          <p:sp>
            <p:nvSpPr>
              <p:cNvPr id="6" name="Rectangle 5">
                <a:extLst>
                  <a:ext uri="{FF2B5EF4-FFF2-40B4-BE49-F238E27FC236}">
                    <a16:creationId xmlns:a16="http://schemas.microsoft.com/office/drawing/2014/main" id="{7C628AFE-68EA-FA46-A84A-26996861D450}"/>
                  </a:ext>
                </a:extLst>
              </p:cNvPr>
              <p:cNvSpPr>
                <a:spLocks noRot="1" noChangeAspect="1" noMove="1" noResize="1" noEditPoints="1" noAdjustHandles="1" noChangeArrowheads="1" noChangeShapeType="1" noTextEdit="1"/>
              </p:cNvSpPr>
              <p:nvPr/>
            </p:nvSpPr>
            <p:spPr>
              <a:xfrm>
                <a:off x="1572297" y="4956970"/>
                <a:ext cx="10192149" cy="1518044"/>
              </a:xfrm>
              <a:prstGeom prst="rect">
                <a:avLst/>
              </a:prstGeom>
              <a:blipFill>
                <a:blip r:embed="rId4"/>
                <a:stretch>
                  <a:fillRect/>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8E869001-D686-D64F-B4E0-F897552D9E13}"/>
              </a:ext>
            </a:extLst>
          </p:cNvPr>
          <p:cNvSpPr txBox="1"/>
          <p:nvPr/>
        </p:nvSpPr>
        <p:spPr>
          <a:xfrm>
            <a:off x="249578" y="5515937"/>
            <a:ext cx="1323632" cy="461665"/>
          </a:xfrm>
          <a:prstGeom prst="rect">
            <a:avLst/>
          </a:prstGeom>
          <a:noFill/>
        </p:spPr>
        <p:txBody>
          <a:bodyPr wrap="none" rtlCol="0">
            <a:spAutoFit/>
          </a:bodyPr>
          <a:lstStyle/>
          <a:p>
            <a:r>
              <a:rPr lang="en-US" sz="2400" dirty="0"/>
              <a:t>Example:</a:t>
            </a:r>
          </a:p>
        </p:txBody>
      </p:sp>
      <p:cxnSp>
        <p:nvCxnSpPr>
          <p:cNvPr id="10" name="Straight Connector 9">
            <a:extLst>
              <a:ext uri="{FF2B5EF4-FFF2-40B4-BE49-F238E27FC236}">
                <a16:creationId xmlns:a16="http://schemas.microsoft.com/office/drawing/2014/main" id="{DC3C0D40-70AD-B04F-980B-BA976114A248}"/>
              </a:ext>
            </a:extLst>
          </p:cNvPr>
          <p:cNvCxnSpPr>
            <a:cxnSpLocks/>
          </p:cNvCxnSpPr>
          <p:nvPr/>
        </p:nvCxnSpPr>
        <p:spPr>
          <a:xfrm>
            <a:off x="401053" y="4860758"/>
            <a:ext cx="11309684"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30536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8C54A-77D3-5B45-9B34-89B0FF8A3EB0}"/>
              </a:ext>
            </a:extLst>
          </p:cNvPr>
          <p:cNvSpPr>
            <a:spLocks noGrp="1"/>
          </p:cNvSpPr>
          <p:nvPr>
            <p:ph type="title"/>
          </p:nvPr>
        </p:nvSpPr>
        <p:spPr>
          <a:xfrm>
            <a:off x="0" y="15498"/>
            <a:ext cx="12192000" cy="928688"/>
          </a:xfrm>
        </p:spPr>
        <p:txBody>
          <a:bodyPr/>
          <a:lstStyle/>
          <a:p>
            <a:r>
              <a:rPr lang="en-ZA" dirty="0"/>
              <a:t>Key matrix types in quantum computing</a:t>
            </a:r>
            <a:endParaRPr lang="en-US" dirty="0"/>
          </a:p>
        </p:txBody>
      </p:sp>
      <p:sp>
        <p:nvSpPr>
          <p:cNvPr id="3" name="Slide Number Placeholder 2">
            <a:extLst>
              <a:ext uri="{FF2B5EF4-FFF2-40B4-BE49-F238E27FC236}">
                <a16:creationId xmlns:a16="http://schemas.microsoft.com/office/drawing/2014/main" id="{7F5EB73F-4C89-0148-B942-52FE0A2CF62B}"/>
              </a:ext>
            </a:extLst>
          </p:cNvPr>
          <p:cNvSpPr>
            <a:spLocks noGrp="1"/>
          </p:cNvSpPr>
          <p:nvPr>
            <p:ph type="sldNum" sz="quarter" idx="12"/>
          </p:nvPr>
        </p:nvSpPr>
        <p:spPr/>
        <p:txBody>
          <a:bodyPr/>
          <a:lstStyle/>
          <a:p>
            <a:fld id="{591A223C-FA10-BC46-A853-03BA373D023C}" type="slidenum">
              <a:rPr lang="en-US" smtClean="0"/>
              <a:t>26</a:t>
            </a:fld>
            <a:endParaRPr lang="en-US"/>
          </a:p>
        </p:txBody>
      </p:sp>
      <mc:AlternateContent xmlns:mc="http://schemas.openxmlformats.org/markup-compatibility/2006" xmlns:a14="http://schemas.microsoft.com/office/drawing/2010/main">
        <mc:Choice Requires="a14">
          <p:graphicFrame>
            <p:nvGraphicFramePr>
              <p:cNvPr id="6" name="Diagram 5">
                <a:extLst>
                  <a:ext uri="{FF2B5EF4-FFF2-40B4-BE49-F238E27FC236}">
                    <a16:creationId xmlns:a16="http://schemas.microsoft.com/office/drawing/2014/main" id="{2A4671B4-526C-2D4F-B18D-0A2DB732C9F5}"/>
                  </a:ext>
                </a:extLst>
              </p:cNvPr>
              <p:cNvGraphicFramePr/>
              <p:nvPr>
                <p:extLst>
                  <p:ext uri="{D42A27DB-BD31-4B8C-83A1-F6EECF244321}">
                    <p14:modId xmlns:p14="http://schemas.microsoft.com/office/powerpoint/2010/main" val="1916078444"/>
                  </p:ext>
                </p:extLst>
              </p:nvPr>
            </p:nvGraphicFramePr>
            <p:xfrm>
              <a:off x="108488" y="1001448"/>
              <a:ext cx="12083511" cy="56783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Choice>
        <mc:Fallback xmlns="">
          <p:graphicFrame>
            <p:nvGraphicFramePr>
              <p:cNvPr id="6" name="Diagram 5">
                <a:extLst>
                  <a:ext uri="{FF2B5EF4-FFF2-40B4-BE49-F238E27FC236}">
                    <a16:creationId xmlns:a16="http://schemas.microsoft.com/office/drawing/2014/main" id="{2A4671B4-526C-2D4F-B18D-0A2DB732C9F5}"/>
                  </a:ext>
                </a:extLst>
              </p:cNvPr>
              <p:cNvGraphicFramePr/>
              <p:nvPr>
                <p:extLst>
                  <p:ext uri="{D42A27DB-BD31-4B8C-83A1-F6EECF244321}">
                    <p14:modId xmlns:p14="http://schemas.microsoft.com/office/powerpoint/2010/main" val="1916078444"/>
                  </p:ext>
                </p:extLst>
              </p:nvPr>
            </p:nvGraphicFramePr>
            <p:xfrm>
              <a:off x="108488" y="1001448"/>
              <a:ext cx="12083511" cy="567832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mc:Fallback>
      </mc:AlternateContent>
    </p:spTree>
    <p:extLst>
      <p:ext uri="{BB962C8B-B14F-4D97-AF65-F5344CB8AC3E}">
        <p14:creationId xmlns:p14="http://schemas.microsoft.com/office/powerpoint/2010/main" val="13762725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101496B-8C04-CD4D-8F74-D5997AC1FAAC}"/>
              </a:ext>
            </a:extLst>
          </p:cNvPr>
          <p:cNvSpPr>
            <a:spLocks noGrp="1"/>
          </p:cNvSpPr>
          <p:nvPr>
            <p:ph type="sldNum" sz="quarter" idx="12"/>
          </p:nvPr>
        </p:nvSpPr>
        <p:spPr/>
        <p:txBody>
          <a:bodyPr/>
          <a:lstStyle/>
          <a:p>
            <a:fld id="{591A223C-FA10-BC46-A853-03BA373D023C}" type="slidenum">
              <a:rPr lang="en-US" smtClean="0"/>
              <a:t>27</a:t>
            </a:fld>
            <a:endParaRPr lang="en-US"/>
          </a:p>
        </p:txBody>
      </p:sp>
      <p:sp>
        <p:nvSpPr>
          <p:cNvPr id="2" name="Title 1">
            <a:extLst>
              <a:ext uri="{FF2B5EF4-FFF2-40B4-BE49-F238E27FC236}">
                <a16:creationId xmlns:a16="http://schemas.microsoft.com/office/drawing/2014/main" id="{74BA1BC0-3339-C14A-BB76-3B8F4064707B}"/>
              </a:ext>
            </a:extLst>
          </p:cNvPr>
          <p:cNvSpPr>
            <a:spLocks noGrp="1"/>
          </p:cNvSpPr>
          <p:nvPr>
            <p:ph type="title"/>
          </p:nvPr>
        </p:nvSpPr>
        <p:spPr/>
        <p:txBody>
          <a:bodyPr/>
          <a:lstStyle/>
          <a:p>
            <a:r>
              <a:rPr lang="en-ZA" dirty="0"/>
              <a:t>Determinant and special unitary groups</a:t>
            </a:r>
            <a:endParaRPr lang="en-US" b="1"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EA85339C-89CC-5B40-985B-5D8B189B97FE}"/>
                  </a:ext>
                </a:extLst>
              </p:cNvPr>
              <p:cNvSpPr/>
              <p:nvPr/>
            </p:nvSpPr>
            <p:spPr>
              <a:xfrm>
                <a:off x="309087" y="1036342"/>
                <a:ext cx="2377830" cy="92352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𝐴</m:t>
                      </m:r>
                      <m:r>
                        <a:rPr lang="en-US" sz="3200" b="0" i="1" smtClean="0">
                          <a:latin typeface="Cambria Math" panose="02040503050406030204" pitchFamily="18" charset="0"/>
                        </a:rPr>
                        <m:t>=</m:t>
                      </m:r>
                      <m:d>
                        <m:dPr>
                          <m:ctrlPr>
                            <a:rPr lang="en-US" sz="3200" i="1">
                              <a:latin typeface="Cambria Math" panose="02040503050406030204" pitchFamily="18" charset="0"/>
                            </a:rPr>
                          </m:ctrlPr>
                        </m:dPr>
                        <m:e>
                          <m:m>
                            <m:mPr>
                              <m:mcs>
                                <m:mc>
                                  <m:mcPr>
                                    <m:count m:val="2"/>
                                    <m:mcJc m:val="center"/>
                                  </m:mcPr>
                                </m:mc>
                              </m:mcs>
                              <m:ctrlPr>
                                <a:rPr lang="en-US" sz="3200" i="1">
                                  <a:latin typeface="Cambria Math" panose="02040503050406030204" pitchFamily="18" charset="0"/>
                                </a:rPr>
                              </m:ctrlPr>
                            </m:mPr>
                            <m:mr>
                              <m:e>
                                <m:r>
                                  <a:rPr lang="en-US" sz="3200">
                                    <a:latin typeface="Cambria Math" panose="02040503050406030204" pitchFamily="18" charset="0"/>
                                  </a:rPr>
                                  <m:t>𝑎</m:t>
                                </m:r>
                              </m:e>
                              <m:e>
                                <m:r>
                                  <a:rPr lang="en-US" sz="3200">
                                    <a:latin typeface="Cambria Math" panose="02040503050406030204" pitchFamily="18" charset="0"/>
                                  </a:rPr>
                                  <m:t>𝑏</m:t>
                                </m:r>
                              </m:e>
                            </m:mr>
                            <m:mr>
                              <m:e>
                                <m:r>
                                  <a:rPr lang="en-US" sz="3200">
                                    <a:latin typeface="Cambria Math" panose="02040503050406030204" pitchFamily="18" charset="0"/>
                                  </a:rPr>
                                  <m:t>𝑐</m:t>
                                </m:r>
                              </m:e>
                              <m:e>
                                <m:r>
                                  <a:rPr lang="en-US" sz="3200">
                                    <a:latin typeface="Cambria Math" panose="02040503050406030204" pitchFamily="18" charset="0"/>
                                  </a:rPr>
                                  <m:t>𝑑</m:t>
                                </m:r>
                              </m:e>
                            </m:mr>
                          </m:m>
                        </m:e>
                      </m:d>
                    </m:oMath>
                  </m:oMathPara>
                </a14:m>
                <a:endParaRPr lang="en-US" sz="3200" dirty="0"/>
              </a:p>
            </p:txBody>
          </p:sp>
        </mc:Choice>
        <mc:Fallback xmlns="">
          <p:sp>
            <p:nvSpPr>
              <p:cNvPr id="4" name="Rectangle 3">
                <a:extLst>
                  <a:ext uri="{FF2B5EF4-FFF2-40B4-BE49-F238E27FC236}">
                    <a16:creationId xmlns:a16="http://schemas.microsoft.com/office/drawing/2014/main" id="{EA85339C-89CC-5B40-985B-5D8B189B97FE}"/>
                  </a:ext>
                </a:extLst>
              </p:cNvPr>
              <p:cNvSpPr>
                <a:spLocks noRot="1" noChangeAspect="1" noMove="1" noResize="1" noEditPoints="1" noAdjustHandles="1" noChangeArrowheads="1" noChangeShapeType="1" noTextEdit="1"/>
              </p:cNvSpPr>
              <p:nvPr/>
            </p:nvSpPr>
            <p:spPr>
              <a:xfrm>
                <a:off x="309087" y="1036342"/>
                <a:ext cx="2377830" cy="923523"/>
              </a:xfrm>
              <a:prstGeom prst="rect">
                <a:avLst/>
              </a:prstGeom>
              <a:blipFill>
                <a:blip r:embed="rId3"/>
                <a:stretch>
                  <a:fillRect b="-109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B8ABE051-C6CD-7E42-ACDE-24FFFEBC93AC}"/>
                  </a:ext>
                </a:extLst>
              </p:cNvPr>
              <p:cNvSpPr/>
              <p:nvPr/>
            </p:nvSpPr>
            <p:spPr>
              <a:xfrm>
                <a:off x="3347562" y="1036342"/>
                <a:ext cx="5211491" cy="92352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det</m:t>
                          </m:r>
                        </m:fName>
                        <m:e>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𝐴</m:t>
                              </m:r>
                            </m:e>
                          </m:d>
                        </m:e>
                      </m:func>
                      <m:r>
                        <a:rPr lang="en-US" sz="3200" b="0" i="1" smtClean="0">
                          <a:latin typeface="Cambria Math" panose="02040503050406030204" pitchFamily="18" charset="0"/>
                        </a:rPr>
                        <m:t>=</m:t>
                      </m:r>
                      <m:d>
                        <m:dPr>
                          <m:ctrlPr>
                            <a:rPr lang="en-US" sz="3200" i="1">
                              <a:latin typeface="Cambria Math" panose="02040503050406030204" pitchFamily="18" charset="0"/>
                            </a:rPr>
                          </m:ctrlPr>
                        </m:dPr>
                        <m:e>
                          <m:m>
                            <m:mPr>
                              <m:mcs>
                                <m:mc>
                                  <m:mcPr>
                                    <m:count m:val="2"/>
                                    <m:mcJc m:val="center"/>
                                  </m:mcPr>
                                </m:mc>
                              </m:mcs>
                              <m:ctrlPr>
                                <a:rPr lang="en-US" sz="3200" i="1">
                                  <a:latin typeface="Cambria Math" panose="02040503050406030204" pitchFamily="18" charset="0"/>
                                </a:rPr>
                              </m:ctrlPr>
                            </m:mPr>
                            <m:mr>
                              <m:e>
                                <m:r>
                                  <a:rPr lang="en-US" sz="3200">
                                    <a:latin typeface="Cambria Math" panose="02040503050406030204" pitchFamily="18" charset="0"/>
                                  </a:rPr>
                                  <m:t>𝑎</m:t>
                                </m:r>
                              </m:e>
                              <m:e>
                                <m:r>
                                  <a:rPr lang="en-US" sz="3200">
                                    <a:latin typeface="Cambria Math" panose="02040503050406030204" pitchFamily="18" charset="0"/>
                                  </a:rPr>
                                  <m:t>𝑏</m:t>
                                </m:r>
                              </m:e>
                            </m:mr>
                            <m:mr>
                              <m:e>
                                <m:r>
                                  <a:rPr lang="en-US" sz="3200">
                                    <a:latin typeface="Cambria Math" panose="02040503050406030204" pitchFamily="18" charset="0"/>
                                  </a:rPr>
                                  <m:t>𝑐</m:t>
                                </m:r>
                              </m:e>
                              <m:e>
                                <m:r>
                                  <a:rPr lang="en-US" sz="3200">
                                    <a:latin typeface="Cambria Math" panose="02040503050406030204" pitchFamily="18" charset="0"/>
                                  </a:rPr>
                                  <m:t>𝑑</m:t>
                                </m:r>
                              </m:e>
                            </m:mr>
                          </m:m>
                        </m:e>
                      </m:d>
                      <m:r>
                        <a:rPr lang="en-US" sz="3200" b="0" i="1" smtClean="0">
                          <a:latin typeface="Cambria Math" panose="02040503050406030204" pitchFamily="18" charset="0"/>
                        </a:rPr>
                        <m:t>=</m:t>
                      </m:r>
                      <m:r>
                        <a:rPr lang="en-US" sz="3200" b="0" i="1" smtClean="0">
                          <a:latin typeface="Cambria Math" panose="02040503050406030204" pitchFamily="18" charset="0"/>
                        </a:rPr>
                        <m:t>𝑎𝑑</m:t>
                      </m:r>
                      <m:r>
                        <a:rPr lang="en-US" sz="3200" b="0" i="1" smtClean="0">
                          <a:latin typeface="Cambria Math" panose="02040503050406030204" pitchFamily="18" charset="0"/>
                        </a:rPr>
                        <m:t>−</m:t>
                      </m:r>
                      <m:r>
                        <a:rPr lang="en-US" sz="3200" b="0" i="1" smtClean="0">
                          <a:latin typeface="Cambria Math" panose="02040503050406030204" pitchFamily="18" charset="0"/>
                        </a:rPr>
                        <m:t>𝑏𝑐</m:t>
                      </m:r>
                    </m:oMath>
                  </m:oMathPara>
                </a14:m>
                <a:endParaRPr lang="en-US" sz="3200" dirty="0"/>
              </a:p>
            </p:txBody>
          </p:sp>
        </mc:Choice>
        <mc:Fallback xmlns="">
          <p:sp>
            <p:nvSpPr>
              <p:cNvPr id="5" name="Rectangle 4">
                <a:extLst>
                  <a:ext uri="{FF2B5EF4-FFF2-40B4-BE49-F238E27FC236}">
                    <a16:creationId xmlns:a16="http://schemas.microsoft.com/office/drawing/2014/main" id="{B8ABE051-C6CD-7E42-ACDE-24FFFEBC93AC}"/>
                  </a:ext>
                </a:extLst>
              </p:cNvPr>
              <p:cNvSpPr>
                <a:spLocks noRot="1" noChangeAspect="1" noMove="1" noResize="1" noEditPoints="1" noAdjustHandles="1" noChangeArrowheads="1" noChangeShapeType="1" noTextEdit="1"/>
              </p:cNvSpPr>
              <p:nvPr/>
            </p:nvSpPr>
            <p:spPr>
              <a:xfrm>
                <a:off x="3347562" y="1036342"/>
                <a:ext cx="5211491" cy="923523"/>
              </a:xfrm>
              <a:prstGeom prst="rect">
                <a:avLst/>
              </a:prstGeom>
              <a:blipFill>
                <a:blip r:embed="rId4"/>
                <a:stretch>
                  <a:fillRect b="-10959"/>
                </a:stretch>
              </a:blipFill>
            </p:spPr>
            <p:txBody>
              <a:bodyPr/>
              <a:lstStyle/>
              <a:p>
                <a:r>
                  <a:rPr lang="en-US">
                    <a:noFill/>
                  </a:rPr>
                  <a:t> </a:t>
                </a:r>
              </a:p>
            </p:txBody>
          </p:sp>
        </mc:Fallback>
      </mc:AlternateContent>
      <p:grpSp>
        <p:nvGrpSpPr>
          <p:cNvPr id="19" name="Group 18">
            <a:extLst>
              <a:ext uri="{FF2B5EF4-FFF2-40B4-BE49-F238E27FC236}">
                <a16:creationId xmlns:a16="http://schemas.microsoft.com/office/drawing/2014/main" id="{681918C0-18CE-0942-A152-2E669E8AB2E3}"/>
              </a:ext>
            </a:extLst>
          </p:cNvPr>
          <p:cNvGrpSpPr/>
          <p:nvPr/>
        </p:nvGrpSpPr>
        <p:grpSpPr>
          <a:xfrm>
            <a:off x="5582317" y="1327588"/>
            <a:ext cx="523710" cy="459799"/>
            <a:chOff x="5221107" y="5398955"/>
            <a:chExt cx="523710" cy="459799"/>
          </a:xfrm>
        </p:grpSpPr>
        <p:cxnSp>
          <p:nvCxnSpPr>
            <p:cNvPr id="17" name="Straight Arrow Connector 16">
              <a:extLst>
                <a:ext uri="{FF2B5EF4-FFF2-40B4-BE49-F238E27FC236}">
                  <a16:creationId xmlns:a16="http://schemas.microsoft.com/office/drawing/2014/main" id="{AF48EE22-A23B-3748-A196-4F6E7E5FCC53}"/>
                </a:ext>
              </a:extLst>
            </p:cNvPr>
            <p:cNvCxnSpPr>
              <a:cxnSpLocks/>
            </p:cNvCxnSpPr>
            <p:nvPr/>
          </p:nvCxnSpPr>
          <p:spPr>
            <a:xfrm>
              <a:off x="5221107" y="5398955"/>
              <a:ext cx="523710" cy="459799"/>
            </a:xfrm>
            <a:prstGeom prst="straightConnector1">
              <a:avLst/>
            </a:prstGeom>
            <a:ln w="38100">
              <a:solidFill>
                <a:srgbClr val="0000FF"/>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27D1C76-70ED-AB48-A920-2660687BB6DC}"/>
                </a:ext>
              </a:extLst>
            </p:cNvPr>
            <p:cNvCxnSpPr>
              <a:cxnSpLocks/>
            </p:cNvCxnSpPr>
            <p:nvPr/>
          </p:nvCxnSpPr>
          <p:spPr>
            <a:xfrm flipH="1">
              <a:off x="5221107" y="5398955"/>
              <a:ext cx="523710" cy="45979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DD0BC74F-5AAF-4E41-A758-FE7DA64311C6}"/>
              </a:ext>
            </a:extLst>
          </p:cNvPr>
          <p:cNvGrpSpPr/>
          <p:nvPr/>
        </p:nvGrpSpPr>
        <p:grpSpPr>
          <a:xfrm>
            <a:off x="-114694" y="2168721"/>
            <a:ext cx="11876072" cy="3009017"/>
            <a:chOff x="100541" y="3439722"/>
            <a:chExt cx="11876072" cy="3009017"/>
          </a:xfrm>
        </p:grpSpPr>
        <p:grpSp>
          <p:nvGrpSpPr>
            <p:cNvPr id="36" name="Group 35">
              <a:extLst>
                <a:ext uri="{FF2B5EF4-FFF2-40B4-BE49-F238E27FC236}">
                  <a16:creationId xmlns:a16="http://schemas.microsoft.com/office/drawing/2014/main" id="{267A5351-CFCC-3D4F-BDBD-69019FB6543C}"/>
                </a:ext>
              </a:extLst>
            </p:cNvPr>
            <p:cNvGrpSpPr/>
            <p:nvPr/>
          </p:nvGrpSpPr>
          <p:grpSpPr>
            <a:xfrm>
              <a:off x="100541" y="4183255"/>
              <a:ext cx="11876072" cy="2265484"/>
              <a:chOff x="100541" y="2615794"/>
              <a:chExt cx="11876072" cy="2265484"/>
            </a:xfrm>
          </p:grpSpPr>
          <p:sp>
            <p:nvSpPr>
              <p:cNvPr id="12" name="Rounded Rectangle 11">
                <a:extLst>
                  <a:ext uri="{FF2B5EF4-FFF2-40B4-BE49-F238E27FC236}">
                    <a16:creationId xmlns:a16="http://schemas.microsoft.com/office/drawing/2014/main" id="{EB957B00-6B56-4C47-ACFD-5BC84EA89DFC}"/>
                  </a:ext>
                </a:extLst>
              </p:cNvPr>
              <p:cNvSpPr/>
              <p:nvPr/>
            </p:nvSpPr>
            <p:spPr>
              <a:xfrm>
                <a:off x="6896418" y="3223599"/>
                <a:ext cx="1937288" cy="89405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DA4ACD8C-2D73-4A43-B20C-EB60C9DC08CF}"/>
                  </a:ext>
                </a:extLst>
              </p:cNvPr>
              <p:cNvSpPr/>
              <p:nvPr/>
            </p:nvSpPr>
            <p:spPr>
              <a:xfrm>
                <a:off x="9577154" y="3244594"/>
                <a:ext cx="1120315" cy="89405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2481C92C-137D-174A-8FDE-0097E2A9FF25}"/>
                  </a:ext>
                </a:extLst>
              </p:cNvPr>
              <p:cNvSpPr/>
              <p:nvPr/>
            </p:nvSpPr>
            <p:spPr>
              <a:xfrm>
                <a:off x="4913399" y="3244594"/>
                <a:ext cx="1120315" cy="894050"/>
              </a:xfrm>
              <a:prstGeom prst="round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AB6D3E5-35B8-F74E-9753-A325859600C9}"/>
                      </a:ext>
                    </a:extLst>
                  </p:cNvPr>
                  <p:cNvSpPr/>
                  <p:nvPr/>
                </p:nvSpPr>
                <p:spPr>
                  <a:xfrm>
                    <a:off x="100541" y="2615794"/>
                    <a:ext cx="11876072" cy="157863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3000" b="0" i="1" smtClean="0">
                              <a:latin typeface="Cambria Math" panose="02040503050406030204" pitchFamily="18" charset="0"/>
                            </a:rPr>
                            <m:t>𝐵</m:t>
                          </m:r>
                          <m:r>
                            <a:rPr lang="en-US" sz="3000" b="0" i="1" smtClean="0">
                              <a:latin typeface="Cambria Math" panose="02040503050406030204" pitchFamily="18" charset="0"/>
                            </a:rPr>
                            <m:t>=</m:t>
                          </m:r>
                          <m:d>
                            <m:dPr>
                              <m:ctrlPr>
                                <a:rPr lang="en-US" sz="3000" i="1">
                                  <a:latin typeface="Cambria Math" panose="02040503050406030204" pitchFamily="18" charset="0"/>
                                </a:rPr>
                              </m:ctrlPr>
                            </m:dPr>
                            <m:e>
                              <m:m>
                                <m:mPr>
                                  <m:mcs>
                                    <m:mc>
                                      <m:mcPr>
                                        <m:count m:val="3"/>
                                        <m:mcJc m:val="center"/>
                                      </m:mcPr>
                                    </m:mc>
                                  </m:mcs>
                                  <m:ctrlPr>
                                    <a:rPr lang="en-US" sz="3000" i="1">
                                      <a:latin typeface="Cambria Math" panose="02040503050406030204" pitchFamily="18" charset="0"/>
                                    </a:rPr>
                                  </m:ctrlPr>
                                </m:mPr>
                                <m:mr>
                                  <m:e>
                                    <m:r>
                                      <a:rPr lang="en-US" sz="3000">
                                        <a:latin typeface="Cambria Math" panose="02040503050406030204" pitchFamily="18" charset="0"/>
                                      </a:rPr>
                                      <m:t>𝑎</m:t>
                                    </m:r>
                                  </m:e>
                                  <m:e>
                                    <m:r>
                                      <a:rPr lang="en-US" sz="3000" smtClean="0">
                                        <a:latin typeface="Cambria Math" panose="02040503050406030204" pitchFamily="18" charset="0"/>
                                      </a:rPr>
                                      <m:t>𝑏</m:t>
                                    </m:r>
                                  </m:e>
                                  <m:e>
                                    <m:r>
                                      <a:rPr lang="en-US" sz="3000" b="0" i="1" smtClean="0">
                                        <a:latin typeface="Cambria Math" panose="02040503050406030204" pitchFamily="18" charset="0"/>
                                      </a:rPr>
                                      <m:t>𝑐</m:t>
                                    </m:r>
                                  </m:e>
                                </m:mr>
                                <m:mr>
                                  <m:e>
                                    <m:r>
                                      <a:rPr lang="en-US" sz="3000" b="0" i="1" smtClean="0">
                                        <a:latin typeface="Cambria Math" panose="02040503050406030204" pitchFamily="18" charset="0"/>
                                      </a:rPr>
                                      <m:t>𝑑</m:t>
                                    </m:r>
                                  </m:e>
                                  <m:e>
                                    <m:r>
                                      <a:rPr lang="en-US" sz="3000" b="0" i="1" smtClean="0">
                                        <a:latin typeface="Cambria Math" panose="02040503050406030204" pitchFamily="18" charset="0"/>
                                      </a:rPr>
                                      <m:t>𝑒</m:t>
                                    </m:r>
                                  </m:e>
                                  <m:e>
                                    <m:r>
                                      <a:rPr lang="en-US" sz="3000" b="0" i="1" smtClean="0">
                                        <a:latin typeface="Cambria Math" panose="02040503050406030204" pitchFamily="18" charset="0"/>
                                      </a:rPr>
                                      <m:t>𝑓</m:t>
                                    </m:r>
                                  </m:e>
                                </m:mr>
                                <m:mr>
                                  <m:e>
                                    <m:r>
                                      <a:rPr lang="en-US" sz="3000" b="0" i="1" smtClean="0">
                                        <a:latin typeface="Cambria Math" panose="02040503050406030204" pitchFamily="18" charset="0"/>
                                      </a:rPr>
                                      <m:t>𝑔</m:t>
                                    </m:r>
                                  </m:e>
                                  <m:e>
                                    <m:r>
                                      <a:rPr lang="en-US" sz="3000" b="0" i="1" smtClean="0">
                                        <a:latin typeface="Cambria Math" panose="02040503050406030204" pitchFamily="18" charset="0"/>
                                      </a:rPr>
                                      <m:t>h</m:t>
                                    </m:r>
                                  </m:e>
                                  <m:e>
                                    <m:r>
                                      <a:rPr lang="en-US" sz="3000" b="0" i="1" smtClean="0">
                                        <a:latin typeface="Cambria Math" panose="02040503050406030204" pitchFamily="18" charset="0"/>
                                      </a:rPr>
                                      <m:t>𝑖</m:t>
                                    </m:r>
                                  </m:e>
                                </m:mr>
                              </m:m>
                            </m:e>
                          </m:d>
                          <m:groupChr>
                            <m:groupChrPr>
                              <m:chr m:val="→"/>
                              <m:vertJc m:val="bot"/>
                              <m:ctrlPr>
                                <a:rPr lang="en-US" sz="3000" b="0" i="1" smtClean="0">
                                  <a:latin typeface="Cambria Math" panose="02040503050406030204" pitchFamily="18" charset="0"/>
                                </a:rPr>
                              </m:ctrlPr>
                            </m:groupChrPr>
                            <m:e>
                              <m:r>
                                <m:rPr>
                                  <m:brk m:alnAt="2"/>
                                </m:rPr>
                                <a:rPr lang="en-US" sz="3000" b="0" i="1" smtClean="0">
                                  <a:latin typeface="Cambria Math" panose="02040503050406030204" pitchFamily="18" charset="0"/>
                                </a:rPr>
                                <m:t>𝑑</m:t>
                              </m:r>
                              <m:r>
                                <a:rPr lang="en-US" sz="3000" b="0" i="1" smtClean="0">
                                  <a:latin typeface="Cambria Math" panose="02040503050406030204" pitchFamily="18" charset="0"/>
                                </a:rPr>
                                <m:t>𝑒𝑡</m:t>
                              </m:r>
                              <m:r>
                                <a:rPr lang="en-US" sz="3000" b="0" i="1" smtClean="0">
                                  <a:latin typeface="Cambria Math" panose="02040503050406030204" pitchFamily="18" charset="0"/>
                                </a:rPr>
                                <m:t>(</m:t>
                              </m:r>
                              <m:r>
                                <a:rPr lang="en-US" sz="3000" b="0" i="1" smtClean="0">
                                  <a:latin typeface="Cambria Math" panose="02040503050406030204" pitchFamily="18" charset="0"/>
                                </a:rPr>
                                <m:t>𝐵</m:t>
                              </m:r>
                              <m:r>
                                <a:rPr lang="en-US" sz="3000" b="0" i="1" smtClean="0">
                                  <a:latin typeface="Cambria Math" panose="02040503050406030204" pitchFamily="18" charset="0"/>
                                </a:rPr>
                                <m:t>)</m:t>
                              </m:r>
                            </m:e>
                          </m:groupChr>
                          <m:d>
                            <m:dPr>
                              <m:ctrlPr>
                                <a:rPr lang="en-US" sz="3000" i="1">
                                  <a:latin typeface="Cambria Math" panose="02040503050406030204" pitchFamily="18" charset="0"/>
                                </a:rPr>
                              </m:ctrlPr>
                            </m:dPr>
                            <m:e>
                              <m:m>
                                <m:mPr>
                                  <m:mcs>
                                    <m:mc>
                                      <m:mcPr>
                                        <m:count m:val="3"/>
                                        <m:mcJc m:val="center"/>
                                      </m:mcPr>
                                    </m:mc>
                                  </m:mcs>
                                  <m:ctrlPr>
                                    <a:rPr lang="en-US" sz="3000" i="1">
                                      <a:latin typeface="Cambria Math" panose="02040503050406030204" pitchFamily="18" charset="0"/>
                                    </a:rPr>
                                  </m:ctrlPr>
                                </m:mPr>
                                <m:mr>
                                  <m:e>
                                    <m:r>
                                      <a:rPr lang="en-US" sz="3000">
                                        <a:latin typeface="Cambria Math" panose="02040503050406030204" pitchFamily="18" charset="0"/>
                                      </a:rPr>
                                      <m:t>𝑎</m:t>
                                    </m:r>
                                  </m:e>
                                  <m:e/>
                                  <m:e/>
                                </m:mr>
                                <m:mr>
                                  <m:e/>
                                  <m:e>
                                    <m:r>
                                      <a:rPr lang="en-US" sz="3000" i="1">
                                        <a:latin typeface="Cambria Math" panose="02040503050406030204" pitchFamily="18" charset="0"/>
                                      </a:rPr>
                                      <m:t>𝑒</m:t>
                                    </m:r>
                                  </m:e>
                                  <m:e>
                                    <m:r>
                                      <a:rPr lang="en-US" sz="3000" i="1">
                                        <a:latin typeface="Cambria Math" panose="02040503050406030204" pitchFamily="18" charset="0"/>
                                      </a:rPr>
                                      <m:t>𝑓</m:t>
                                    </m:r>
                                  </m:e>
                                </m:mr>
                                <m:mr>
                                  <m:e/>
                                  <m:e>
                                    <m:r>
                                      <a:rPr lang="en-US" sz="3000" i="1">
                                        <a:latin typeface="Cambria Math" panose="02040503050406030204" pitchFamily="18" charset="0"/>
                                      </a:rPr>
                                      <m:t>h</m:t>
                                    </m:r>
                                  </m:e>
                                  <m:e>
                                    <m:r>
                                      <a:rPr lang="en-US" sz="3000" i="1">
                                        <a:latin typeface="Cambria Math" panose="02040503050406030204" pitchFamily="18" charset="0"/>
                                      </a:rPr>
                                      <m:t>𝑖</m:t>
                                    </m:r>
                                  </m:e>
                                </m:mr>
                              </m:m>
                            </m:e>
                          </m:d>
                          <m:r>
                            <a:rPr lang="en-US" sz="3000" b="0" i="1" smtClean="0">
                              <a:latin typeface="Cambria Math" panose="02040503050406030204" pitchFamily="18" charset="0"/>
                            </a:rPr>
                            <m:t>−</m:t>
                          </m:r>
                          <m:d>
                            <m:dPr>
                              <m:ctrlPr>
                                <a:rPr lang="en-US" sz="3000" i="1">
                                  <a:latin typeface="Cambria Math" panose="02040503050406030204" pitchFamily="18" charset="0"/>
                                </a:rPr>
                              </m:ctrlPr>
                            </m:dPr>
                            <m:e>
                              <m:m>
                                <m:mPr>
                                  <m:mcs>
                                    <m:mc>
                                      <m:mcPr>
                                        <m:count m:val="3"/>
                                        <m:mcJc m:val="center"/>
                                      </m:mcPr>
                                    </m:mc>
                                  </m:mcs>
                                  <m:ctrlPr>
                                    <a:rPr lang="en-US" sz="3000" i="1">
                                      <a:latin typeface="Cambria Math" panose="02040503050406030204" pitchFamily="18" charset="0"/>
                                    </a:rPr>
                                  </m:ctrlPr>
                                </m:mPr>
                                <m:mr>
                                  <m:e/>
                                  <m:e>
                                    <m:r>
                                      <a:rPr lang="en-US" sz="3000">
                                        <a:latin typeface="Cambria Math" panose="02040503050406030204" pitchFamily="18" charset="0"/>
                                      </a:rPr>
                                      <m:t>𝑏</m:t>
                                    </m:r>
                                  </m:e>
                                  <m:e/>
                                </m:mr>
                                <m:mr>
                                  <m:e>
                                    <m:r>
                                      <a:rPr lang="en-US" sz="3000" i="1">
                                        <a:latin typeface="Cambria Math" panose="02040503050406030204" pitchFamily="18" charset="0"/>
                                      </a:rPr>
                                      <m:t>𝑑</m:t>
                                    </m:r>
                                  </m:e>
                                  <m:e/>
                                  <m:e>
                                    <m:r>
                                      <a:rPr lang="en-US" sz="3000" i="1">
                                        <a:latin typeface="Cambria Math" panose="02040503050406030204" pitchFamily="18" charset="0"/>
                                      </a:rPr>
                                      <m:t>𝑓</m:t>
                                    </m:r>
                                  </m:e>
                                </m:mr>
                                <m:mr>
                                  <m:e>
                                    <m:r>
                                      <a:rPr lang="en-US" sz="3000" i="1">
                                        <a:latin typeface="Cambria Math" panose="02040503050406030204" pitchFamily="18" charset="0"/>
                                      </a:rPr>
                                      <m:t>𝑔</m:t>
                                    </m:r>
                                  </m:e>
                                  <m:e/>
                                  <m:e>
                                    <m:r>
                                      <a:rPr lang="en-US" sz="3000" i="1">
                                        <a:latin typeface="Cambria Math" panose="02040503050406030204" pitchFamily="18" charset="0"/>
                                      </a:rPr>
                                      <m:t>𝑖</m:t>
                                    </m:r>
                                  </m:e>
                                </m:mr>
                              </m:m>
                            </m:e>
                          </m:d>
                          <m:r>
                            <a:rPr lang="en-US" sz="3000" b="0" i="1" smtClean="0">
                              <a:latin typeface="Cambria Math" panose="02040503050406030204" pitchFamily="18" charset="0"/>
                            </a:rPr>
                            <m:t>+</m:t>
                          </m:r>
                          <m:d>
                            <m:dPr>
                              <m:ctrlPr>
                                <a:rPr lang="en-US" sz="3000" i="1">
                                  <a:latin typeface="Cambria Math" panose="02040503050406030204" pitchFamily="18" charset="0"/>
                                </a:rPr>
                              </m:ctrlPr>
                            </m:dPr>
                            <m:e>
                              <m:m>
                                <m:mPr>
                                  <m:mcs>
                                    <m:mc>
                                      <m:mcPr>
                                        <m:count m:val="3"/>
                                        <m:mcJc m:val="center"/>
                                      </m:mcPr>
                                    </m:mc>
                                  </m:mcs>
                                  <m:ctrlPr>
                                    <a:rPr lang="en-US" sz="3000" i="1">
                                      <a:latin typeface="Cambria Math" panose="02040503050406030204" pitchFamily="18" charset="0"/>
                                    </a:rPr>
                                  </m:ctrlPr>
                                </m:mPr>
                                <m:mr>
                                  <m:e/>
                                  <m:e/>
                                  <m:e>
                                    <m:r>
                                      <a:rPr lang="en-US" sz="3000" i="1">
                                        <a:latin typeface="Cambria Math" panose="02040503050406030204" pitchFamily="18" charset="0"/>
                                      </a:rPr>
                                      <m:t>𝑐</m:t>
                                    </m:r>
                                  </m:e>
                                </m:mr>
                                <m:mr>
                                  <m:e>
                                    <m:r>
                                      <a:rPr lang="en-US" sz="3000" i="1">
                                        <a:latin typeface="Cambria Math" panose="02040503050406030204" pitchFamily="18" charset="0"/>
                                      </a:rPr>
                                      <m:t>𝑑</m:t>
                                    </m:r>
                                  </m:e>
                                  <m:e>
                                    <m:r>
                                      <a:rPr lang="en-US" sz="3000" i="1">
                                        <a:latin typeface="Cambria Math" panose="02040503050406030204" pitchFamily="18" charset="0"/>
                                      </a:rPr>
                                      <m:t>𝑒</m:t>
                                    </m:r>
                                  </m:e>
                                  <m:e/>
                                </m:mr>
                                <m:mr>
                                  <m:e>
                                    <m:r>
                                      <a:rPr lang="en-US" sz="3000" i="1">
                                        <a:latin typeface="Cambria Math" panose="02040503050406030204" pitchFamily="18" charset="0"/>
                                      </a:rPr>
                                      <m:t>𝑔</m:t>
                                    </m:r>
                                  </m:e>
                                  <m:e>
                                    <m:r>
                                      <a:rPr lang="en-US" sz="3000" i="1">
                                        <a:latin typeface="Cambria Math" panose="02040503050406030204" pitchFamily="18" charset="0"/>
                                      </a:rPr>
                                      <m:t>h</m:t>
                                    </m:r>
                                  </m:e>
                                  <m:e/>
                                </m:mr>
                              </m:m>
                            </m:e>
                          </m:d>
                        </m:oMath>
                      </m:oMathPara>
                    </a14:m>
                    <a:endParaRPr lang="en-US" sz="3000" dirty="0"/>
                  </a:p>
                </p:txBody>
              </p:sp>
            </mc:Choice>
            <mc:Fallback xmlns="">
              <p:sp>
                <p:nvSpPr>
                  <p:cNvPr id="9" name="Rectangle 8">
                    <a:extLst>
                      <a:ext uri="{FF2B5EF4-FFF2-40B4-BE49-F238E27FC236}">
                        <a16:creationId xmlns:a16="http://schemas.microsoft.com/office/drawing/2014/main" id="{8AB6D3E5-35B8-F74E-9753-A325859600C9}"/>
                      </a:ext>
                    </a:extLst>
                  </p:cNvPr>
                  <p:cNvSpPr>
                    <a:spLocks noRot="1" noChangeAspect="1" noMove="1" noResize="1" noEditPoints="1" noAdjustHandles="1" noChangeArrowheads="1" noChangeShapeType="1" noTextEdit="1"/>
                  </p:cNvSpPr>
                  <p:nvPr/>
                </p:nvSpPr>
                <p:spPr>
                  <a:xfrm>
                    <a:off x="100541" y="2615794"/>
                    <a:ext cx="11876072" cy="1578637"/>
                  </a:xfrm>
                  <a:prstGeom prst="rect">
                    <a:avLst/>
                  </a:prstGeom>
                  <a:blipFill>
                    <a:blip r:embed="rId5"/>
                    <a:stretch>
                      <a:fillRect b="-794"/>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15B67FB9-CD1E-FC40-B026-64C8E1049EB3}"/>
                  </a:ext>
                </a:extLst>
              </p:cNvPr>
              <p:cNvCxnSpPr>
                <a:cxnSpLocks/>
              </p:cNvCxnSpPr>
              <p:nvPr/>
            </p:nvCxnSpPr>
            <p:spPr>
              <a:xfrm>
                <a:off x="5174625" y="3515982"/>
                <a:ext cx="523710" cy="459799"/>
              </a:xfrm>
              <a:prstGeom prst="straightConnector1">
                <a:avLst/>
              </a:prstGeom>
              <a:ln w="38100">
                <a:solidFill>
                  <a:srgbClr val="0000FF"/>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CADA322-1135-5F47-9656-6D557D4D2AC4}"/>
                  </a:ext>
                </a:extLst>
              </p:cNvPr>
              <p:cNvCxnSpPr>
                <a:cxnSpLocks/>
              </p:cNvCxnSpPr>
              <p:nvPr/>
            </p:nvCxnSpPr>
            <p:spPr>
              <a:xfrm flipH="1">
                <a:off x="5174625" y="3515982"/>
                <a:ext cx="523710" cy="45979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1D3E0D0-3C80-0F46-8821-B61C73B5FAF1}"/>
                  </a:ext>
                </a:extLst>
              </p:cNvPr>
              <p:cNvCxnSpPr>
                <a:cxnSpLocks/>
              </p:cNvCxnSpPr>
              <p:nvPr/>
            </p:nvCxnSpPr>
            <p:spPr>
              <a:xfrm>
                <a:off x="7251077" y="3405112"/>
                <a:ext cx="1182468" cy="521029"/>
              </a:xfrm>
              <a:prstGeom prst="straightConnector1">
                <a:avLst/>
              </a:prstGeom>
              <a:ln w="38100">
                <a:solidFill>
                  <a:srgbClr val="0000FF"/>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CEEAC3FC-2DF1-DB48-BEC2-40058F2DD7C0}"/>
                  </a:ext>
                </a:extLst>
              </p:cNvPr>
              <p:cNvGrpSpPr/>
              <p:nvPr/>
            </p:nvGrpSpPr>
            <p:grpSpPr>
              <a:xfrm>
                <a:off x="9956163" y="3515981"/>
                <a:ext cx="523710" cy="459799"/>
                <a:chOff x="5525905" y="5398955"/>
                <a:chExt cx="523710" cy="459799"/>
              </a:xfrm>
            </p:grpSpPr>
            <p:cxnSp>
              <p:nvCxnSpPr>
                <p:cNvPr id="27" name="Straight Arrow Connector 26">
                  <a:extLst>
                    <a:ext uri="{FF2B5EF4-FFF2-40B4-BE49-F238E27FC236}">
                      <a16:creationId xmlns:a16="http://schemas.microsoft.com/office/drawing/2014/main" id="{6B6799B6-1EED-AE4E-94A0-95E4C484AE6D}"/>
                    </a:ext>
                  </a:extLst>
                </p:cNvPr>
                <p:cNvCxnSpPr>
                  <a:cxnSpLocks/>
                </p:cNvCxnSpPr>
                <p:nvPr/>
              </p:nvCxnSpPr>
              <p:spPr>
                <a:xfrm>
                  <a:off x="5525905" y="5398955"/>
                  <a:ext cx="523710" cy="459799"/>
                </a:xfrm>
                <a:prstGeom prst="straightConnector1">
                  <a:avLst/>
                </a:prstGeom>
                <a:ln w="38100">
                  <a:solidFill>
                    <a:srgbClr val="0000FF"/>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7EBFEEE-F86F-D245-8D01-7881BE585147}"/>
                    </a:ext>
                  </a:extLst>
                </p:cNvPr>
                <p:cNvCxnSpPr>
                  <a:cxnSpLocks/>
                </p:cNvCxnSpPr>
                <p:nvPr/>
              </p:nvCxnSpPr>
              <p:spPr>
                <a:xfrm flipH="1">
                  <a:off x="5525905" y="5398955"/>
                  <a:ext cx="523710" cy="45979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grpSp>
          <p:cxnSp>
            <p:nvCxnSpPr>
              <p:cNvPr id="31" name="Straight Arrow Connector 30">
                <a:extLst>
                  <a:ext uri="{FF2B5EF4-FFF2-40B4-BE49-F238E27FC236}">
                    <a16:creationId xmlns:a16="http://schemas.microsoft.com/office/drawing/2014/main" id="{F1DC350C-8418-EF4D-A60C-1AB1EAFD7B11}"/>
                  </a:ext>
                </a:extLst>
              </p:cNvPr>
              <p:cNvCxnSpPr>
                <a:cxnSpLocks/>
              </p:cNvCxnSpPr>
              <p:nvPr/>
            </p:nvCxnSpPr>
            <p:spPr>
              <a:xfrm flipH="1">
                <a:off x="7268988" y="3402453"/>
                <a:ext cx="1182468" cy="521029"/>
              </a:xfrm>
              <a:prstGeom prst="straightConnector1">
                <a:avLst/>
              </a:prstGeom>
              <a:ln w="381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5A89520E-1FD5-6D44-9BD7-37305A8030B0}"/>
                      </a:ext>
                    </a:extLst>
                  </p:cNvPr>
                  <p:cNvSpPr/>
                  <p:nvPr/>
                </p:nvSpPr>
                <p:spPr>
                  <a:xfrm>
                    <a:off x="4516733" y="2961989"/>
                    <a:ext cx="52290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oMath>
                      </m:oMathPara>
                    </a14:m>
                    <a:endParaRPr lang="en-US" sz="2800" dirty="0"/>
                  </a:p>
                </p:txBody>
              </p:sp>
            </mc:Choice>
            <mc:Fallback xmlns="">
              <p:sp>
                <p:nvSpPr>
                  <p:cNvPr id="32" name="Rectangle 31">
                    <a:extLst>
                      <a:ext uri="{FF2B5EF4-FFF2-40B4-BE49-F238E27FC236}">
                        <a16:creationId xmlns:a16="http://schemas.microsoft.com/office/drawing/2014/main" id="{5A89520E-1FD5-6D44-9BD7-37305A8030B0}"/>
                      </a:ext>
                    </a:extLst>
                  </p:cNvPr>
                  <p:cNvSpPr>
                    <a:spLocks noRot="1" noChangeAspect="1" noMove="1" noResize="1" noEditPoints="1" noAdjustHandles="1" noChangeArrowheads="1" noChangeShapeType="1" noTextEdit="1"/>
                  </p:cNvSpPr>
                  <p:nvPr/>
                </p:nvSpPr>
                <p:spPr>
                  <a:xfrm>
                    <a:off x="4516733" y="2961989"/>
                    <a:ext cx="522900"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E8C153F8-5FDE-2E41-93D1-3CFAA04DED0F}"/>
                      </a:ext>
                    </a:extLst>
                  </p:cNvPr>
                  <p:cNvSpPr/>
                  <p:nvPr/>
                </p:nvSpPr>
                <p:spPr>
                  <a:xfrm>
                    <a:off x="7580861" y="2946676"/>
                    <a:ext cx="52290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oMath>
                      </m:oMathPara>
                    </a14:m>
                    <a:endParaRPr lang="en-US" sz="2800" dirty="0"/>
                  </a:p>
                </p:txBody>
              </p:sp>
            </mc:Choice>
            <mc:Fallback xmlns="">
              <p:sp>
                <p:nvSpPr>
                  <p:cNvPr id="33" name="Rectangle 32">
                    <a:extLst>
                      <a:ext uri="{FF2B5EF4-FFF2-40B4-BE49-F238E27FC236}">
                        <a16:creationId xmlns:a16="http://schemas.microsoft.com/office/drawing/2014/main" id="{E8C153F8-5FDE-2E41-93D1-3CFAA04DED0F}"/>
                      </a:ext>
                    </a:extLst>
                  </p:cNvPr>
                  <p:cNvSpPr>
                    <a:spLocks noRot="1" noChangeAspect="1" noMove="1" noResize="1" noEditPoints="1" noAdjustHandles="1" noChangeArrowheads="1" noChangeShapeType="1" noTextEdit="1"/>
                  </p:cNvSpPr>
                  <p:nvPr/>
                </p:nvSpPr>
                <p:spPr>
                  <a:xfrm>
                    <a:off x="7580861" y="2946676"/>
                    <a:ext cx="522900" cy="52322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3123B1F1-1276-2642-B182-C4413BE8AFED}"/>
                      </a:ext>
                    </a:extLst>
                  </p:cNvPr>
                  <p:cNvSpPr/>
                  <p:nvPr/>
                </p:nvSpPr>
                <p:spPr>
                  <a:xfrm>
                    <a:off x="10644989" y="2931363"/>
                    <a:ext cx="52290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ea typeface="Cambria Math" panose="02040503050406030204" pitchFamily="18" charset="0"/>
                            </a:rPr>
                            <m:t>×</m:t>
                          </m:r>
                        </m:oMath>
                      </m:oMathPara>
                    </a14:m>
                    <a:endParaRPr lang="en-US" sz="2800" dirty="0"/>
                  </a:p>
                </p:txBody>
              </p:sp>
            </mc:Choice>
            <mc:Fallback xmlns="">
              <p:sp>
                <p:nvSpPr>
                  <p:cNvPr id="34" name="Rectangle 33">
                    <a:extLst>
                      <a:ext uri="{FF2B5EF4-FFF2-40B4-BE49-F238E27FC236}">
                        <a16:creationId xmlns:a16="http://schemas.microsoft.com/office/drawing/2014/main" id="{3123B1F1-1276-2642-B182-C4413BE8AFED}"/>
                      </a:ext>
                    </a:extLst>
                  </p:cNvPr>
                  <p:cNvSpPr>
                    <a:spLocks noRot="1" noChangeAspect="1" noMove="1" noResize="1" noEditPoints="1" noAdjustHandles="1" noChangeArrowheads="1" noChangeShapeType="1" noTextEdit="1"/>
                  </p:cNvSpPr>
                  <p:nvPr/>
                </p:nvSpPr>
                <p:spPr>
                  <a:xfrm>
                    <a:off x="10644989" y="2931363"/>
                    <a:ext cx="522900"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034FFC02-6557-6740-9AF1-5EC6E6F077C2}"/>
                      </a:ext>
                    </a:extLst>
                  </p:cNvPr>
                  <p:cNvSpPr/>
                  <p:nvPr/>
                </p:nvSpPr>
                <p:spPr>
                  <a:xfrm>
                    <a:off x="309087" y="4296503"/>
                    <a:ext cx="8837932" cy="58477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det</m:t>
                              </m:r>
                            </m:fName>
                            <m:e>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𝐵</m:t>
                                  </m:r>
                                </m:e>
                              </m:d>
                            </m:e>
                          </m:func>
                          <m:r>
                            <a:rPr lang="en-US" sz="3200" b="0" i="1" smtClean="0">
                              <a:latin typeface="Cambria Math" panose="02040503050406030204" pitchFamily="18" charset="0"/>
                            </a:rPr>
                            <m:t>=</m:t>
                          </m:r>
                          <m:r>
                            <a:rPr lang="en-US" sz="3200" b="0" i="1" smtClean="0">
                              <a:latin typeface="Cambria Math" panose="02040503050406030204" pitchFamily="18" charset="0"/>
                            </a:rPr>
                            <m:t>𝑎</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𝑒𝑖</m:t>
                              </m:r>
                              <m:r>
                                <a:rPr lang="en-US" sz="3200" b="0" i="1" smtClean="0">
                                  <a:latin typeface="Cambria Math" panose="02040503050406030204" pitchFamily="18" charset="0"/>
                                </a:rPr>
                                <m:t>−</m:t>
                              </m:r>
                              <m:r>
                                <a:rPr lang="en-US" sz="3200" b="0" i="1" smtClean="0">
                                  <a:latin typeface="Cambria Math" panose="02040503050406030204" pitchFamily="18" charset="0"/>
                                </a:rPr>
                                <m:t>𝑓h</m:t>
                              </m:r>
                            </m:e>
                          </m:d>
                          <m:r>
                            <a:rPr lang="en-US" sz="3200" b="0" i="1" smtClean="0">
                              <a:latin typeface="Cambria Math" panose="02040503050406030204" pitchFamily="18" charset="0"/>
                            </a:rPr>
                            <m:t>−</m:t>
                          </m:r>
                          <m:r>
                            <a:rPr lang="en-US" sz="3200" b="0" i="1" smtClean="0">
                              <a:latin typeface="Cambria Math" panose="02040503050406030204" pitchFamily="18" charset="0"/>
                            </a:rPr>
                            <m:t>𝑏</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𝑑𝑖</m:t>
                              </m:r>
                              <m:r>
                                <a:rPr lang="en-US" sz="3200" b="0" i="1" smtClean="0">
                                  <a:latin typeface="Cambria Math" panose="02040503050406030204" pitchFamily="18" charset="0"/>
                                </a:rPr>
                                <m:t>−</m:t>
                              </m:r>
                              <m:r>
                                <a:rPr lang="en-US" sz="3200" b="0" i="1" smtClean="0">
                                  <a:latin typeface="Cambria Math" panose="02040503050406030204" pitchFamily="18" charset="0"/>
                                </a:rPr>
                                <m:t>𝑓𝑔</m:t>
                              </m:r>
                            </m:e>
                          </m:d>
                          <m:r>
                            <a:rPr lang="en-US" sz="3200" b="0" i="1" smtClean="0">
                              <a:latin typeface="Cambria Math" panose="02040503050406030204" pitchFamily="18" charset="0"/>
                            </a:rPr>
                            <m:t>+</m:t>
                          </m:r>
                          <m:r>
                            <a:rPr lang="en-US" sz="3200" b="0" i="1" smtClean="0">
                              <a:latin typeface="Cambria Math" panose="02040503050406030204" pitchFamily="18" charset="0"/>
                            </a:rPr>
                            <m:t>𝑐</m:t>
                          </m:r>
                          <m:r>
                            <a:rPr lang="en-US" sz="3200" b="0" i="1" smtClean="0">
                              <a:latin typeface="Cambria Math" panose="02040503050406030204" pitchFamily="18" charset="0"/>
                            </a:rPr>
                            <m:t>(</m:t>
                          </m:r>
                          <m:r>
                            <a:rPr lang="en-US" sz="3200" b="0" i="1" smtClean="0">
                              <a:latin typeface="Cambria Math" panose="02040503050406030204" pitchFamily="18" charset="0"/>
                            </a:rPr>
                            <m:t>𝑑h</m:t>
                          </m:r>
                          <m:r>
                            <a:rPr lang="en-US" sz="3200" b="0" i="1" smtClean="0">
                              <a:latin typeface="Cambria Math" panose="02040503050406030204" pitchFamily="18" charset="0"/>
                            </a:rPr>
                            <m:t>−</m:t>
                          </m:r>
                          <m:r>
                            <a:rPr lang="en-US" sz="3200" b="0" i="1" smtClean="0">
                              <a:latin typeface="Cambria Math" panose="02040503050406030204" pitchFamily="18" charset="0"/>
                            </a:rPr>
                            <m:t>𝑒𝑔</m:t>
                          </m:r>
                          <m:r>
                            <a:rPr lang="en-US" sz="3200" b="0" i="1" smtClean="0">
                              <a:latin typeface="Cambria Math" panose="02040503050406030204" pitchFamily="18" charset="0"/>
                            </a:rPr>
                            <m:t>)</m:t>
                          </m:r>
                        </m:oMath>
                      </m:oMathPara>
                    </a14:m>
                    <a:endParaRPr lang="en-US" sz="3200" dirty="0"/>
                  </a:p>
                </p:txBody>
              </p:sp>
            </mc:Choice>
            <mc:Fallback xmlns="">
              <p:sp>
                <p:nvSpPr>
                  <p:cNvPr id="35" name="Rectangle 34">
                    <a:extLst>
                      <a:ext uri="{FF2B5EF4-FFF2-40B4-BE49-F238E27FC236}">
                        <a16:creationId xmlns:a16="http://schemas.microsoft.com/office/drawing/2014/main" id="{034FFC02-6557-6740-9AF1-5EC6E6F077C2}"/>
                      </a:ext>
                    </a:extLst>
                  </p:cNvPr>
                  <p:cNvSpPr>
                    <a:spLocks noRot="1" noChangeAspect="1" noMove="1" noResize="1" noEditPoints="1" noAdjustHandles="1" noChangeArrowheads="1" noChangeShapeType="1" noTextEdit="1"/>
                  </p:cNvSpPr>
                  <p:nvPr/>
                </p:nvSpPr>
                <p:spPr>
                  <a:xfrm>
                    <a:off x="309087" y="4296503"/>
                    <a:ext cx="8837932" cy="584775"/>
                  </a:xfrm>
                  <a:prstGeom prst="rect">
                    <a:avLst/>
                  </a:prstGeom>
                  <a:blipFill>
                    <a:blip r:embed="rId9"/>
                    <a:stretch>
                      <a:fillRect b="-19149"/>
                    </a:stretch>
                  </a:blipFill>
                </p:spPr>
                <p:txBody>
                  <a:bodyPr/>
                  <a:lstStyle/>
                  <a:p>
                    <a:r>
                      <a:rPr lang="en-US">
                        <a:noFill/>
                      </a:rPr>
                      <a:t> </a:t>
                    </a:r>
                  </a:p>
                </p:txBody>
              </p:sp>
            </mc:Fallback>
          </mc:AlternateContent>
        </p:grpSp>
        <p:sp>
          <p:nvSpPr>
            <p:cNvPr id="37" name="TextBox 36">
              <a:extLst>
                <a:ext uri="{FF2B5EF4-FFF2-40B4-BE49-F238E27FC236}">
                  <a16:creationId xmlns:a16="http://schemas.microsoft.com/office/drawing/2014/main" id="{6F7D7B5E-D873-7343-84CC-312591AE0244}"/>
                </a:ext>
              </a:extLst>
            </p:cNvPr>
            <p:cNvSpPr txBox="1"/>
            <p:nvPr/>
          </p:nvSpPr>
          <p:spPr>
            <a:xfrm>
              <a:off x="309087" y="3439722"/>
              <a:ext cx="2478371" cy="461665"/>
            </a:xfrm>
            <a:prstGeom prst="rect">
              <a:avLst/>
            </a:prstGeom>
            <a:solidFill>
              <a:schemeClr val="bg1">
                <a:lumMod val="95000"/>
              </a:schemeClr>
            </a:solidFill>
          </p:spPr>
          <p:txBody>
            <a:bodyPr wrap="square" rtlCol="0">
              <a:spAutoFit/>
            </a:bodyPr>
            <a:lstStyle/>
            <a:p>
              <a:r>
                <a:rPr lang="en-ZA" sz="2400" dirty="0"/>
                <a:t>Laplace expansion</a:t>
              </a:r>
              <a:endParaRPr lang="en-US" sz="2400" dirty="0"/>
            </a:p>
          </p:txBody>
        </p:sp>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491D7C3F-8B96-4448-BA87-6F784C735856}"/>
                  </a:ext>
                </a:extLst>
              </p:cNvPr>
              <p:cNvSpPr txBox="1"/>
              <p:nvPr/>
            </p:nvSpPr>
            <p:spPr>
              <a:xfrm>
                <a:off x="263449" y="5683615"/>
                <a:ext cx="11379716" cy="830997"/>
              </a:xfrm>
              <a:prstGeom prst="rect">
                <a:avLst/>
              </a:prstGeom>
              <a:solidFill>
                <a:schemeClr val="bg1">
                  <a:lumMod val="95000"/>
                </a:schemeClr>
              </a:solidFill>
            </p:spPr>
            <p:txBody>
              <a:bodyPr wrap="square" rtlCol="0">
                <a:spAutoFit/>
              </a:bodyPr>
              <a:lstStyle/>
              <a:p>
                <a:pPr algn="ctr"/>
                <a:r>
                  <a:rPr lang="en-ZA" sz="2400" dirty="0"/>
                  <a:t>Special unitary groups of degree </a:t>
                </a:r>
                <a14:m>
                  <m:oMath xmlns:m="http://schemas.openxmlformats.org/officeDocument/2006/math">
                    <m:r>
                      <a:rPr lang="en-US" sz="2400" i="1">
                        <a:latin typeface="Cambria Math" panose="02040503050406030204" pitchFamily="18" charset="0"/>
                      </a:rPr>
                      <m:t>𝑛</m:t>
                    </m:r>
                  </m:oMath>
                </a14:m>
                <a:r>
                  <a:rPr lang="en-ZA" sz="2400" dirty="0"/>
                  <a:t>, denoted as </a:t>
                </a:r>
                <a14:m>
                  <m:oMath xmlns:m="http://schemas.openxmlformats.org/officeDocument/2006/math">
                    <m:r>
                      <a:rPr lang="en-US" sz="2400" i="1">
                        <a:latin typeface="Cambria Math" panose="02040503050406030204" pitchFamily="18" charset="0"/>
                      </a:rPr>
                      <m:t>𝑆𝑈</m:t>
                    </m:r>
                    <m:d>
                      <m:dPr>
                        <m:ctrlPr>
                          <a:rPr lang="en-US" sz="2400" i="1">
                            <a:latin typeface="Cambria Math" panose="02040503050406030204" pitchFamily="18" charset="0"/>
                          </a:rPr>
                        </m:ctrlPr>
                      </m:dPr>
                      <m:e>
                        <m:r>
                          <a:rPr lang="en-US" sz="2400" i="1">
                            <a:latin typeface="Cambria Math" panose="02040503050406030204" pitchFamily="18" charset="0"/>
                          </a:rPr>
                          <m:t>𝑛</m:t>
                        </m:r>
                      </m:e>
                    </m:d>
                  </m:oMath>
                </a14:m>
                <a:r>
                  <a:rPr lang="en-ZA" sz="2400" dirty="0"/>
                  <a:t>, are </a:t>
                </a:r>
                <a14:m>
                  <m:oMath xmlns:m="http://schemas.openxmlformats.org/officeDocument/2006/math">
                    <m:r>
                      <a:rPr lang="en-US" sz="2400" i="1">
                        <a:latin typeface="Cambria Math" panose="02040503050406030204" pitchFamily="18" charset="0"/>
                      </a:rPr>
                      <m:t>𝑛</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𝑛</m:t>
                    </m:r>
                  </m:oMath>
                </a14:m>
                <a:r>
                  <a:rPr lang="en-ZA" sz="2400" dirty="0"/>
                  <a:t> matrices whose determinants are equal to 1.</a:t>
                </a:r>
                <a:endParaRPr lang="en-US" sz="2400" dirty="0"/>
              </a:p>
            </p:txBody>
          </p:sp>
        </mc:Choice>
        <mc:Fallback xmlns="">
          <p:sp>
            <p:nvSpPr>
              <p:cNvPr id="30" name="TextBox 29">
                <a:extLst>
                  <a:ext uri="{FF2B5EF4-FFF2-40B4-BE49-F238E27FC236}">
                    <a16:creationId xmlns:a16="http://schemas.microsoft.com/office/drawing/2014/main" id="{491D7C3F-8B96-4448-BA87-6F784C735856}"/>
                  </a:ext>
                </a:extLst>
              </p:cNvPr>
              <p:cNvSpPr txBox="1">
                <a:spLocks noRot="1" noChangeAspect="1" noMove="1" noResize="1" noEditPoints="1" noAdjustHandles="1" noChangeArrowheads="1" noChangeShapeType="1" noTextEdit="1"/>
              </p:cNvSpPr>
              <p:nvPr/>
            </p:nvSpPr>
            <p:spPr>
              <a:xfrm>
                <a:off x="263449" y="5683615"/>
                <a:ext cx="11379716" cy="830997"/>
              </a:xfrm>
              <a:prstGeom prst="rect">
                <a:avLst/>
              </a:prstGeom>
              <a:blipFill>
                <a:blip r:embed="rId10"/>
                <a:stretch>
                  <a:fillRect t="-4545" b="-13636"/>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2E0ED574-DCF0-2348-9498-D41CC2B1A9E3}"/>
              </a:ext>
            </a:extLst>
          </p:cNvPr>
          <p:cNvSpPr txBox="1"/>
          <p:nvPr/>
        </p:nvSpPr>
        <p:spPr>
          <a:xfrm>
            <a:off x="8618471" y="1283349"/>
            <a:ext cx="3375668" cy="430887"/>
          </a:xfrm>
          <a:prstGeom prst="rect">
            <a:avLst/>
          </a:prstGeom>
          <a:noFill/>
        </p:spPr>
        <p:txBody>
          <a:bodyPr wrap="none" rtlCol="0">
            <a:spAutoFit/>
          </a:bodyPr>
          <a:lstStyle/>
          <a:p>
            <a:r>
              <a:rPr lang="en-ZA" sz="2200" dirty="0"/>
              <a:t>(second-order determinant)</a:t>
            </a:r>
            <a:endParaRPr lang="en-US" sz="2200" dirty="0"/>
          </a:p>
        </p:txBody>
      </p:sp>
    </p:spTree>
    <p:extLst>
      <p:ext uri="{BB962C8B-B14F-4D97-AF65-F5344CB8AC3E}">
        <p14:creationId xmlns:p14="http://schemas.microsoft.com/office/powerpoint/2010/main" val="3557192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0">
                                            <p:txEl>
                                              <p:pRg st="0" end="0"/>
                                            </p:txEl>
                                          </p:spTgt>
                                        </p:tgtEl>
                                        <p:attrNameLst>
                                          <p:attrName>style.visibility</p:attrName>
                                        </p:attrNameLst>
                                      </p:cBhvr>
                                      <p:to>
                                        <p:strVal val="visible"/>
                                      </p:to>
                                    </p:set>
                                    <p:animEffect transition="in" filter="dissolve">
                                      <p:cBhvr>
                                        <p:cTn id="12" dur="500"/>
                                        <p:tgtEl>
                                          <p:spTgt spid="3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84C768E-66F8-B547-A480-4BA84E5DBA7F}"/>
              </a:ext>
            </a:extLst>
          </p:cNvPr>
          <p:cNvSpPr/>
          <p:nvPr/>
        </p:nvSpPr>
        <p:spPr>
          <a:xfrm>
            <a:off x="7061687" y="3798381"/>
            <a:ext cx="4459613" cy="962874"/>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E971404-9632-4441-91BD-7861DC32E6BB}"/>
              </a:ext>
            </a:extLst>
          </p:cNvPr>
          <p:cNvSpPr/>
          <p:nvPr/>
        </p:nvSpPr>
        <p:spPr>
          <a:xfrm>
            <a:off x="7038172" y="2649231"/>
            <a:ext cx="4459613" cy="962874"/>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D0036DA-21BD-AB45-AA89-7051620B7780}"/>
              </a:ext>
            </a:extLst>
          </p:cNvPr>
          <p:cNvSpPr/>
          <p:nvPr/>
        </p:nvSpPr>
        <p:spPr>
          <a:xfrm>
            <a:off x="7061687" y="1500081"/>
            <a:ext cx="4459613" cy="96287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445AF8-A831-DB47-987E-6E116CDEDDAD}"/>
              </a:ext>
            </a:extLst>
          </p:cNvPr>
          <p:cNvSpPr>
            <a:spLocks noGrp="1"/>
          </p:cNvSpPr>
          <p:nvPr>
            <p:ph type="title"/>
          </p:nvPr>
        </p:nvSpPr>
        <p:spPr>
          <a:xfrm>
            <a:off x="0" y="0"/>
            <a:ext cx="12192000" cy="928688"/>
          </a:xfrm>
        </p:spPr>
        <p:txBody>
          <a:bodyPr/>
          <a:lstStyle/>
          <a:p>
            <a:r>
              <a:rPr lang="en-ZA" dirty="0"/>
              <a:t>Pauli matrices</a:t>
            </a:r>
            <a:endParaRPr lang="en-US" dirty="0"/>
          </a:p>
        </p:txBody>
      </p:sp>
      <p:sp>
        <p:nvSpPr>
          <p:cNvPr id="3" name="Slide Number Placeholder 2">
            <a:extLst>
              <a:ext uri="{FF2B5EF4-FFF2-40B4-BE49-F238E27FC236}">
                <a16:creationId xmlns:a16="http://schemas.microsoft.com/office/drawing/2014/main" id="{31759312-D90F-694A-A8CF-2E1A81886C29}"/>
              </a:ext>
            </a:extLst>
          </p:cNvPr>
          <p:cNvSpPr>
            <a:spLocks noGrp="1"/>
          </p:cNvSpPr>
          <p:nvPr>
            <p:ph type="sldNum" sz="quarter" idx="12"/>
          </p:nvPr>
        </p:nvSpPr>
        <p:spPr/>
        <p:txBody>
          <a:bodyPr/>
          <a:lstStyle/>
          <a:p>
            <a:fld id="{591A223C-FA10-BC46-A853-03BA373D023C}" type="slidenum">
              <a:rPr lang="en-US" smtClean="0"/>
              <a:t>28</a:t>
            </a:fld>
            <a:endParaRPr lang="en-US"/>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F2EA356D-1CA7-E942-8E8E-CFC876F8D90B}"/>
                  </a:ext>
                </a:extLst>
              </p:cNvPr>
              <p:cNvSpPr/>
              <p:nvPr/>
            </p:nvSpPr>
            <p:spPr>
              <a:xfrm>
                <a:off x="7175987" y="1576119"/>
                <a:ext cx="3723583" cy="810799"/>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𝑋</m:t>
                          </m:r>
                          <m:r>
                            <a:rPr lang="en-US" sz="2800">
                              <a:latin typeface="Cambria Math" panose="02040503050406030204" pitchFamily="18" charset="0"/>
                            </a:rPr>
                            <m:t>=</m:t>
                          </m:r>
                          <m:r>
                            <a:rPr lang="en-US" sz="2800" i="1">
                              <a:latin typeface="Cambria Math" panose="02040503050406030204" pitchFamily="18" charset="0"/>
                            </a:rPr>
                            <m:t>𝜎</m:t>
                          </m:r>
                        </m:e>
                        <m:sub>
                          <m:r>
                            <a:rPr lang="en-US" sz="2800">
                              <a:latin typeface="Cambria Math" panose="02040503050406030204" pitchFamily="18" charset="0"/>
                            </a:rPr>
                            <m:t>1</m:t>
                          </m:r>
                        </m:sub>
                      </m:sSub>
                      <m:r>
                        <a:rPr lang="en-US" sz="280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𝜎</m:t>
                          </m:r>
                        </m:e>
                        <m:sub>
                          <m:r>
                            <a:rPr lang="en-US" sz="2800" i="1">
                              <a:latin typeface="Cambria Math" panose="02040503050406030204" pitchFamily="18" charset="0"/>
                            </a:rPr>
                            <m:t>𝑥</m:t>
                          </m:r>
                        </m:sub>
                      </m:sSub>
                      <m:r>
                        <a:rPr lang="en-US" sz="280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a:latin typeface="Cambria Math" panose="02040503050406030204" pitchFamily="18" charset="0"/>
                                  </a:rPr>
                                  <m:t>0</m:t>
                                </m:r>
                              </m:e>
                              <m:e>
                                <m:r>
                                  <a:rPr lang="en-US" sz="2800">
                                    <a:latin typeface="Cambria Math" panose="02040503050406030204" pitchFamily="18" charset="0"/>
                                  </a:rPr>
                                  <m:t>1</m:t>
                                </m:r>
                              </m:e>
                            </m:mr>
                            <m:mr>
                              <m:e>
                                <m:r>
                                  <a:rPr lang="en-US" sz="2800">
                                    <a:latin typeface="Cambria Math" panose="02040503050406030204" pitchFamily="18" charset="0"/>
                                  </a:rPr>
                                  <m:t>1</m:t>
                                </m:r>
                              </m:e>
                              <m:e>
                                <m:r>
                                  <a:rPr lang="en-US" sz="2800">
                                    <a:latin typeface="Cambria Math" panose="02040503050406030204" pitchFamily="18" charset="0"/>
                                  </a:rPr>
                                  <m:t>0</m:t>
                                </m:r>
                              </m:e>
                            </m:mr>
                          </m:m>
                        </m:e>
                      </m:d>
                    </m:oMath>
                  </m:oMathPara>
                </a14:m>
                <a:endParaRPr lang="en-US" sz="2800" dirty="0"/>
              </a:p>
            </p:txBody>
          </p:sp>
        </mc:Choice>
        <mc:Fallback xmlns="">
          <p:sp>
            <p:nvSpPr>
              <p:cNvPr id="6" name="Rectangle 5">
                <a:extLst>
                  <a:ext uri="{FF2B5EF4-FFF2-40B4-BE49-F238E27FC236}">
                    <a16:creationId xmlns:a16="http://schemas.microsoft.com/office/drawing/2014/main" id="{F2EA356D-1CA7-E942-8E8E-CFC876F8D90B}"/>
                  </a:ext>
                </a:extLst>
              </p:cNvPr>
              <p:cNvSpPr>
                <a:spLocks noRot="1" noChangeAspect="1" noMove="1" noResize="1" noEditPoints="1" noAdjustHandles="1" noChangeArrowheads="1" noChangeShapeType="1" noTextEdit="1"/>
              </p:cNvSpPr>
              <p:nvPr/>
            </p:nvSpPr>
            <p:spPr>
              <a:xfrm>
                <a:off x="7175987" y="1576119"/>
                <a:ext cx="3723583" cy="810799"/>
              </a:xfrm>
              <a:prstGeom prst="rect">
                <a:avLst/>
              </a:prstGeom>
              <a:blipFill>
                <a:blip r:embed="rId3"/>
                <a:stretch>
                  <a:fillRect b="-61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9A602B15-811F-2C44-BD32-A6E4EC399CFE}"/>
                  </a:ext>
                </a:extLst>
              </p:cNvPr>
              <p:cNvSpPr/>
              <p:nvPr/>
            </p:nvSpPr>
            <p:spPr>
              <a:xfrm>
                <a:off x="7175987" y="2721381"/>
                <a:ext cx="3922164" cy="810799"/>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𝑌</m:t>
                          </m:r>
                          <m:r>
                            <a:rPr lang="en-US" sz="2800">
                              <a:latin typeface="Cambria Math" panose="02040503050406030204" pitchFamily="18" charset="0"/>
                            </a:rPr>
                            <m:t>=</m:t>
                          </m:r>
                          <m:r>
                            <a:rPr lang="en-US" sz="2800" i="1">
                              <a:latin typeface="Cambria Math" panose="02040503050406030204" pitchFamily="18" charset="0"/>
                            </a:rPr>
                            <m:t>𝜎</m:t>
                          </m:r>
                        </m:e>
                        <m:sub>
                          <m:r>
                            <a:rPr lang="en-US" sz="2800">
                              <a:latin typeface="Cambria Math" panose="02040503050406030204" pitchFamily="18" charset="0"/>
                            </a:rPr>
                            <m:t>2</m:t>
                          </m:r>
                        </m:sub>
                      </m:sSub>
                      <m:r>
                        <a:rPr lang="en-US" sz="280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𝜎</m:t>
                          </m:r>
                        </m:e>
                        <m:sub>
                          <m:r>
                            <a:rPr lang="en-US" sz="2800" i="1">
                              <a:latin typeface="Cambria Math" panose="02040503050406030204" pitchFamily="18" charset="0"/>
                            </a:rPr>
                            <m:t>𝑦</m:t>
                          </m:r>
                        </m:sub>
                      </m:sSub>
                      <m:r>
                        <a:rPr lang="en-US" sz="280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a:latin typeface="Cambria Math" panose="02040503050406030204" pitchFamily="18" charset="0"/>
                                  </a:rPr>
                                  <m:t>0</m:t>
                                </m:r>
                              </m:e>
                              <m:e>
                                <m:r>
                                  <a:rPr lang="en-US" sz="2800">
                                    <a:latin typeface="Cambria Math" panose="02040503050406030204" pitchFamily="18" charset="0"/>
                                  </a:rPr>
                                  <m:t>−</m:t>
                                </m:r>
                                <m:r>
                                  <a:rPr lang="en-US" sz="2800" i="1">
                                    <a:latin typeface="Cambria Math" panose="02040503050406030204" pitchFamily="18" charset="0"/>
                                  </a:rPr>
                                  <m:t>𝑖</m:t>
                                </m:r>
                              </m:e>
                            </m:mr>
                            <m:mr>
                              <m:e>
                                <m:r>
                                  <a:rPr lang="en-US" sz="2800" i="1">
                                    <a:latin typeface="Cambria Math" panose="02040503050406030204" pitchFamily="18" charset="0"/>
                                  </a:rPr>
                                  <m:t>𝑖</m:t>
                                </m:r>
                              </m:e>
                              <m:e>
                                <m:r>
                                  <a:rPr lang="en-US" sz="2800">
                                    <a:latin typeface="Cambria Math" panose="02040503050406030204" pitchFamily="18" charset="0"/>
                                  </a:rPr>
                                  <m:t>0</m:t>
                                </m:r>
                              </m:e>
                            </m:mr>
                          </m:m>
                        </m:e>
                      </m:d>
                    </m:oMath>
                  </m:oMathPara>
                </a14:m>
                <a:endParaRPr lang="en-US" sz="2800" dirty="0"/>
              </a:p>
            </p:txBody>
          </p:sp>
        </mc:Choice>
        <mc:Fallback xmlns="">
          <p:sp>
            <p:nvSpPr>
              <p:cNvPr id="7" name="Rectangle 6">
                <a:extLst>
                  <a:ext uri="{FF2B5EF4-FFF2-40B4-BE49-F238E27FC236}">
                    <a16:creationId xmlns:a16="http://schemas.microsoft.com/office/drawing/2014/main" id="{9A602B15-811F-2C44-BD32-A6E4EC399CFE}"/>
                  </a:ext>
                </a:extLst>
              </p:cNvPr>
              <p:cNvSpPr>
                <a:spLocks noRot="1" noChangeAspect="1" noMove="1" noResize="1" noEditPoints="1" noAdjustHandles="1" noChangeArrowheads="1" noChangeShapeType="1" noTextEdit="1"/>
              </p:cNvSpPr>
              <p:nvPr/>
            </p:nvSpPr>
            <p:spPr>
              <a:xfrm>
                <a:off x="7175987" y="2721381"/>
                <a:ext cx="3922164" cy="810799"/>
              </a:xfrm>
              <a:prstGeom prst="rect">
                <a:avLst/>
              </a:prstGeom>
              <a:blipFill>
                <a:blip r:embed="rId4"/>
                <a:stretch>
                  <a:fillRect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25F9344-05E5-AC4E-91BB-773AFE4144B2}"/>
                  </a:ext>
                </a:extLst>
              </p:cNvPr>
              <p:cNvSpPr/>
              <p:nvPr/>
            </p:nvSpPr>
            <p:spPr>
              <a:xfrm>
                <a:off x="7175987" y="3866643"/>
                <a:ext cx="3964611" cy="810799"/>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𝑍</m:t>
                          </m:r>
                          <m:r>
                            <a:rPr lang="en-US" sz="2800">
                              <a:latin typeface="Cambria Math" panose="02040503050406030204" pitchFamily="18" charset="0"/>
                            </a:rPr>
                            <m:t>=</m:t>
                          </m:r>
                          <m:r>
                            <a:rPr lang="en-US" sz="2800" i="1">
                              <a:latin typeface="Cambria Math" panose="02040503050406030204" pitchFamily="18" charset="0"/>
                            </a:rPr>
                            <m:t>𝜎</m:t>
                          </m:r>
                        </m:e>
                        <m:sub>
                          <m:r>
                            <a:rPr lang="en-US" sz="2800">
                              <a:latin typeface="Cambria Math" panose="02040503050406030204" pitchFamily="18" charset="0"/>
                            </a:rPr>
                            <m:t>3</m:t>
                          </m:r>
                        </m:sub>
                      </m:sSub>
                      <m:r>
                        <a:rPr lang="en-US" sz="280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𝜎</m:t>
                          </m:r>
                        </m:e>
                        <m:sub>
                          <m:r>
                            <a:rPr lang="en-US" sz="2800" i="1">
                              <a:latin typeface="Cambria Math" panose="02040503050406030204" pitchFamily="18" charset="0"/>
                            </a:rPr>
                            <m:t>𝑧</m:t>
                          </m:r>
                        </m:sub>
                      </m:sSub>
                      <m:r>
                        <a:rPr lang="en-US" sz="280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en-US" sz="2800">
                                    <a:latin typeface="Cambria Math" panose="02040503050406030204" pitchFamily="18" charset="0"/>
                                  </a:rPr>
                                  <m:t>1</m:t>
                                </m:r>
                              </m:e>
                              <m:e>
                                <m:r>
                                  <a:rPr lang="en-US" sz="2800">
                                    <a:latin typeface="Cambria Math" panose="02040503050406030204" pitchFamily="18" charset="0"/>
                                  </a:rPr>
                                  <m:t>0</m:t>
                                </m:r>
                              </m:e>
                            </m:mr>
                            <m:mr>
                              <m:e>
                                <m:r>
                                  <a:rPr lang="en-US" sz="2800">
                                    <a:latin typeface="Cambria Math" panose="02040503050406030204" pitchFamily="18" charset="0"/>
                                  </a:rPr>
                                  <m:t>0</m:t>
                                </m:r>
                              </m:e>
                              <m:e>
                                <m:r>
                                  <a:rPr lang="en-US" sz="2800">
                                    <a:latin typeface="Cambria Math" panose="02040503050406030204" pitchFamily="18" charset="0"/>
                                  </a:rPr>
                                  <m:t>−1</m:t>
                                </m:r>
                              </m:e>
                            </m:mr>
                          </m:m>
                        </m:e>
                      </m:d>
                    </m:oMath>
                  </m:oMathPara>
                </a14:m>
                <a:endParaRPr lang="en-US" sz="2800" dirty="0"/>
              </a:p>
            </p:txBody>
          </p:sp>
        </mc:Choice>
        <mc:Fallback xmlns="">
          <p:sp>
            <p:nvSpPr>
              <p:cNvPr id="8" name="Rectangle 7">
                <a:extLst>
                  <a:ext uri="{FF2B5EF4-FFF2-40B4-BE49-F238E27FC236}">
                    <a16:creationId xmlns:a16="http://schemas.microsoft.com/office/drawing/2014/main" id="{825F9344-05E5-AC4E-91BB-773AFE4144B2}"/>
                  </a:ext>
                </a:extLst>
              </p:cNvPr>
              <p:cNvSpPr>
                <a:spLocks noRot="1" noChangeAspect="1" noMove="1" noResize="1" noEditPoints="1" noAdjustHandles="1" noChangeArrowheads="1" noChangeShapeType="1" noTextEdit="1"/>
              </p:cNvSpPr>
              <p:nvPr/>
            </p:nvSpPr>
            <p:spPr>
              <a:xfrm>
                <a:off x="7175987" y="3866643"/>
                <a:ext cx="3964611" cy="810799"/>
              </a:xfrm>
              <a:prstGeom prst="rect">
                <a:avLst/>
              </a:prstGeom>
              <a:blipFill>
                <a:blip r:embed="rId5"/>
                <a:stretch>
                  <a:fillRect b="-7692"/>
                </a:stretch>
              </a:blipFill>
            </p:spPr>
            <p:txBody>
              <a:bodyPr/>
              <a:lstStyle/>
              <a:p>
                <a:r>
                  <a:rPr lang="en-US">
                    <a:noFill/>
                  </a:rPr>
                  <a:t> </a:t>
                </a:r>
              </a:p>
            </p:txBody>
          </p:sp>
        </mc:Fallback>
      </mc:AlternateContent>
      <p:sp>
        <p:nvSpPr>
          <p:cNvPr id="10" name="Rectangle 9">
            <a:extLst>
              <a:ext uri="{FF2B5EF4-FFF2-40B4-BE49-F238E27FC236}">
                <a16:creationId xmlns:a16="http://schemas.microsoft.com/office/drawing/2014/main" id="{9C325B84-419E-E344-8EE6-E18324769D22}"/>
              </a:ext>
            </a:extLst>
          </p:cNvPr>
          <p:cNvSpPr/>
          <p:nvPr/>
        </p:nvSpPr>
        <p:spPr>
          <a:xfrm>
            <a:off x="732715" y="5052059"/>
            <a:ext cx="3104055" cy="400110"/>
          </a:xfrm>
          <a:prstGeom prst="rect">
            <a:avLst/>
          </a:prstGeom>
        </p:spPr>
        <p:txBody>
          <a:bodyPr wrap="none">
            <a:spAutoFit/>
          </a:bodyPr>
          <a:lstStyle/>
          <a:p>
            <a:r>
              <a:rPr lang="en-ZA" sz="2000" dirty="0"/>
              <a:t>Wolfgang Pauli</a:t>
            </a:r>
            <a:r>
              <a:rPr lang="en-US" sz="2000" dirty="0"/>
              <a:t> (1900–1958)</a:t>
            </a:r>
          </a:p>
        </p:txBody>
      </p:sp>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5BAEB757-7839-694A-B56C-AD6436353B36}"/>
                  </a:ext>
                </a:extLst>
              </p:cNvPr>
              <p:cNvSpPr/>
              <p:nvPr/>
            </p:nvSpPr>
            <p:spPr>
              <a:xfrm>
                <a:off x="7175986" y="4958606"/>
                <a:ext cx="2809808" cy="810799"/>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latin typeface="Cambria Math" panose="02040503050406030204" pitchFamily="18" charset="0"/>
                            </a:rPr>
                          </m:ctrlPr>
                        </m:sSubPr>
                        <m:e>
                          <m:r>
                            <a:rPr lang="sr-Latn-RS" sz="2800" b="0" i="1" smtClean="0">
                              <a:latin typeface="Cambria Math" panose="02040503050406030204" pitchFamily="18" charset="0"/>
                            </a:rPr>
                            <m:t>𝐼</m:t>
                          </m:r>
                          <m:r>
                            <a:rPr lang="en-US" sz="2800">
                              <a:latin typeface="Cambria Math" panose="02040503050406030204" pitchFamily="18" charset="0"/>
                            </a:rPr>
                            <m:t>=</m:t>
                          </m:r>
                          <m:r>
                            <a:rPr lang="en-US" sz="2800" i="1">
                              <a:latin typeface="Cambria Math" panose="02040503050406030204" pitchFamily="18" charset="0"/>
                            </a:rPr>
                            <m:t>𝜎</m:t>
                          </m:r>
                        </m:e>
                        <m:sub>
                          <m:r>
                            <a:rPr lang="sr-Latn-RS" sz="2800" b="0" i="0" smtClean="0">
                              <a:latin typeface="Cambria Math" panose="02040503050406030204" pitchFamily="18" charset="0"/>
                            </a:rPr>
                            <m:t>0</m:t>
                          </m:r>
                        </m:sub>
                      </m:sSub>
                      <m:r>
                        <a:rPr lang="en-US" sz="280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2"/>
                                    <m:mcJc m:val="center"/>
                                  </m:mcPr>
                                </m:mc>
                              </m:mcs>
                              <m:ctrlPr>
                                <a:rPr lang="en-US" sz="2800" i="1">
                                  <a:latin typeface="Cambria Math" panose="02040503050406030204" pitchFamily="18" charset="0"/>
                                </a:rPr>
                              </m:ctrlPr>
                            </m:mPr>
                            <m:mr>
                              <m:e>
                                <m:r>
                                  <a:rPr lang="sr-Latn-RS" sz="2800" b="0" i="0" smtClean="0">
                                    <a:latin typeface="Cambria Math" panose="02040503050406030204" pitchFamily="18" charset="0"/>
                                  </a:rPr>
                                  <m:t>1</m:t>
                                </m:r>
                              </m:e>
                              <m:e>
                                <m:r>
                                  <a:rPr lang="sr-Latn-RS" sz="2800" b="0" i="0" smtClean="0">
                                    <a:latin typeface="Cambria Math" panose="02040503050406030204" pitchFamily="18" charset="0"/>
                                  </a:rPr>
                                  <m:t>0</m:t>
                                </m:r>
                              </m:e>
                            </m:mr>
                            <m:mr>
                              <m:e>
                                <m:r>
                                  <a:rPr lang="sr-Latn-RS" sz="2800" b="0" i="0" smtClean="0">
                                    <a:latin typeface="Cambria Math" panose="02040503050406030204" pitchFamily="18" charset="0"/>
                                  </a:rPr>
                                  <m:t>0</m:t>
                                </m:r>
                              </m:e>
                              <m:e>
                                <m:r>
                                  <a:rPr lang="sr-Latn-RS" sz="2800" b="0" i="0" smtClean="0">
                                    <a:latin typeface="Cambria Math" panose="02040503050406030204" pitchFamily="18" charset="0"/>
                                  </a:rPr>
                                  <m:t>1</m:t>
                                </m:r>
                              </m:e>
                            </m:mr>
                          </m:m>
                        </m:e>
                      </m:d>
                    </m:oMath>
                  </m:oMathPara>
                </a14:m>
                <a:endParaRPr lang="en-US" sz="2800" dirty="0"/>
              </a:p>
            </p:txBody>
          </p:sp>
        </mc:Choice>
        <mc:Fallback xmlns="">
          <p:sp>
            <p:nvSpPr>
              <p:cNvPr id="16" name="Rectangle 15">
                <a:extLst>
                  <a:ext uri="{FF2B5EF4-FFF2-40B4-BE49-F238E27FC236}">
                    <a16:creationId xmlns:a16="http://schemas.microsoft.com/office/drawing/2014/main" id="{5BAEB757-7839-694A-B56C-AD6436353B36}"/>
                  </a:ext>
                </a:extLst>
              </p:cNvPr>
              <p:cNvSpPr>
                <a:spLocks noRot="1" noChangeAspect="1" noMove="1" noResize="1" noEditPoints="1" noAdjustHandles="1" noChangeArrowheads="1" noChangeShapeType="1" noTextEdit="1"/>
              </p:cNvSpPr>
              <p:nvPr/>
            </p:nvSpPr>
            <p:spPr>
              <a:xfrm>
                <a:off x="7175986" y="4958606"/>
                <a:ext cx="2809808" cy="810799"/>
              </a:xfrm>
              <a:prstGeom prst="rect">
                <a:avLst/>
              </a:prstGeom>
              <a:blipFill>
                <a:blip r:embed="rId6"/>
                <a:stretch>
                  <a:fillRect b="-7692"/>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C586DF91-E250-2E44-BB91-ED19F05F1269}"/>
              </a:ext>
            </a:extLst>
          </p:cNvPr>
          <p:cNvPicPr>
            <a:picLocks noChangeAspect="1"/>
          </p:cNvPicPr>
          <p:nvPr/>
        </p:nvPicPr>
        <p:blipFill>
          <a:blip r:embed="rId7"/>
          <a:stretch>
            <a:fillRect/>
          </a:stretch>
        </p:blipFill>
        <p:spPr>
          <a:xfrm>
            <a:off x="771643" y="1284277"/>
            <a:ext cx="3156490" cy="3772991"/>
          </a:xfrm>
          <a:prstGeom prst="rect">
            <a:avLst/>
          </a:prstGeom>
        </p:spPr>
      </p:pic>
    </p:spTree>
    <p:extLst>
      <p:ext uri="{BB962C8B-B14F-4D97-AF65-F5344CB8AC3E}">
        <p14:creationId xmlns:p14="http://schemas.microsoft.com/office/powerpoint/2010/main" val="35416006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AF7596-71A3-F349-8F1E-B1CE020FAFCC}"/>
              </a:ext>
            </a:extLst>
          </p:cNvPr>
          <p:cNvSpPr>
            <a:spLocks noGrp="1"/>
          </p:cNvSpPr>
          <p:nvPr>
            <p:ph type="sldNum" sz="quarter" idx="12"/>
          </p:nvPr>
        </p:nvSpPr>
        <p:spPr/>
        <p:txBody>
          <a:bodyPr/>
          <a:lstStyle/>
          <a:p>
            <a:fld id="{591A223C-FA10-BC46-A853-03BA373D023C}" type="slidenum">
              <a:rPr lang="en-US" smtClean="0"/>
              <a:t>29</a:t>
            </a:fld>
            <a:endParaRPr lang="en-US"/>
          </a:p>
        </p:txBody>
      </p:sp>
      <p:sp>
        <p:nvSpPr>
          <p:cNvPr id="3" name="Title 2">
            <a:extLst>
              <a:ext uri="{FF2B5EF4-FFF2-40B4-BE49-F238E27FC236}">
                <a16:creationId xmlns:a16="http://schemas.microsoft.com/office/drawing/2014/main" id="{834BFE06-BF79-C648-A2E9-7956D782A3B9}"/>
              </a:ext>
            </a:extLst>
          </p:cNvPr>
          <p:cNvSpPr>
            <a:spLocks noGrp="1"/>
          </p:cNvSpPr>
          <p:nvPr>
            <p:ph type="title"/>
          </p:nvPr>
        </p:nvSpPr>
        <p:spPr>
          <a:xfrm>
            <a:off x="0" y="0"/>
            <a:ext cx="12192000" cy="928688"/>
          </a:xfrm>
        </p:spPr>
        <p:txBody>
          <a:bodyPr/>
          <a:lstStyle/>
          <a:p>
            <a:r>
              <a:rPr lang="en-ZA" dirty="0"/>
              <a:t>Hadamard matrix</a:t>
            </a:r>
            <a:endParaRPr lang="en-US" dirty="0"/>
          </a:p>
        </p:txBody>
      </p:sp>
      <p:sp>
        <p:nvSpPr>
          <p:cNvPr id="5" name="TextBox 4">
            <a:extLst>
              <a:ext uri="{FF2B5EF4-FFF2-40B4-BE49-F238E27FC236}">
                <a16:creationId xmlns:a16="http://schemas.microsoft.com/office/drawing/2014/main" id="{12F21D90-046C-AE47-8579-7D8FA3B376A5}"/>
              </a:ext>
            </a:extLst>
          </p:cNvPr>
          <p:cNvSpPr txBox="1"/>
          <p:nvPr/>
        </p:nvSpPr>
        <p:spPr>
          <a:xfrm>
            <a:off x="9272602" y="3805083"/>
            <a:ext cx="2204130" cy="707886"/>
          </a:xfrm>
          <a:prstGeom prst="rect">
            <a:avLst/>
          </a:prstGeom>
          <a:noFill/>
        </p:spPr>
        <p:txBody>
          <a:bodyPr wrap="none" rtlCol="0">
            <a:spAutoFit/>
          </a:bodyPr>
          <a:lstStyle/>
          <a:p>
            <a:pPr algn="ctr"/>
            <a:r>
              <a:rPr lang="en-ZA" sz="2000" dirty="0"/>
              <a:t>Jacques Hadamard</a:t>
            </a:r>
            <a:r>
              <a:rPr lang="en-US" sz="2000" dirty="0"/>
              <a:t> </a:t>
            </a:r>
          </a:p>
          <a:p>
            <a:pPr algn="ctr"/>
            <a:r>
              <a:rPr lang="en-US" sz="2000" dirty="0"/>
              <a:t>(1865-1963)</a:t>
            </a:r>
          </a:p>
        </p:txBody>
      </p:sp>
      <p:sp>
        <p:nvSpPr>
          <p:cNvPr id="7" name="Rectangle 6">
            <a:extLst>
              <a:ext uri="{FF2B5EF4-FFF2-40B4-BE49-F238E27FC236}">
                <a16:creationId xmlns:a16="http://schemas.microsoft.com/office/drawing/2014/main" id="{826D99AD-C20C-5849-84E6-3C76CACB6C7D}"/>
              </a:ext>
            </a:extLst>
          </p:cNvPr>
          <p:cNvSpPr/>
          <p:nvPr/>
        </p:nvSpPr>
        <p:spPr>
          <a:xfrm>
            <a:off x="943111" y="1832295"/>
            <a:ext cx="3525695" cy="1464865"/>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E1CD461-A9CD-5541-A605-9BFB5EA918BA}"/>
                  </a:ext>
                </a:extLst>
              </p:cNvPr>
              <p:cNvSpPr/>
              <p:nvPr/>
            </p:nvSpPr>
            <p:spPr>
              <a:xfrm>
                <a:off x="1075063" y="2009895"/>
                <a:ext cx="3261790" cy="1109663"/>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r>
                        <a:rPr lang="sr-Latn-RS" sz="3200" b="0" i="1" smtClean="0">
                          <a:latin typeface="Cambria Math" panose="02040503050406030204" pitchFamily="18" charset="0"/>
                        </a:rPr>
                        <m:t>𝐻</m:t>
                      </m:r>
                      <m:r>
                        <a:rPr lang="en-US" sz="3200">
                          <a:latin typeface="Cambria Math" panose="02040503050406030204" pitchFamily="18" charset="0"/>
                        </a:rPr>
                        <m:t>=</m:t>
                      </m:r>
                      <m:f>
                        <m:fPr>
                          <m:ctrlPr>
                            <a:rPr lang="en-US" sz="3200" i="1" smtClean="0">
                              <a:latin typeface="Cambria Math" panose="02040503050406030204" pitchFamily="18" charset="0"/>
                            </a:rPr>
                          </m:ctrlPr>
                        </m:fPr>
                        <m:num>
                          <m:r>
                            <a:rPr lang="sr-Latn-RS" sz="3200" b="0" i="1" smtClean="0">
                              <a:latin typeface="Cambria Math" panose="02040503050406030204" pitchFamily="18" charset="0"/>
                            </a:rPr>
                            <m:t>1</m:t>
                          </m:r>
                        </m:num>
                        <m:den>
                          <m:rad>
                            <m:radPr>
                              <m:degHide m:val="on"/>
                              <m:ctrlPr>
                                <a:rPr lang="en-US" sz="3200" i="1" smtClean="0">
                                  <a:latin typeface="Cambria Math" panose="02040503050406030204" pitchFamily="18" charset="0"/>
                                </a:rPr>
                              </m:ctrlPr>
                            </m:radPr>
                            <m:deg/>
                            <m:e>
                              <m:r>
                                <a:rPr lang="sr-Latn-RS" sz="3200" b="0" i="1" smtClean="0">
                                  <a:latin typeface="Cambria Math" panose="02040503050406030204" pitchFamily="18" charset="0"/>
                                </a:rPr>
                                <m:t>2</m:t>
                              </m:r>
                            </m:e>
                          </m:rad>
                        </m:den>
                      </m:f>
                      <m:d>
                        <m:dPr>
                          <m:ctrlPr>
                            <a:rPr lang="en-US" sz="3200" i="1">
                              <a:latin typeface="Cambria Math" panose="02040503050406030204" pitchFamily="18" charset="0"/>
                            </a:rPr>
                          </m:ctrlPr>
                        </m:dPr>
                        <m:e>
                          <m:m>
                            <m:mPr>
                              <m:plcHide m:val="on"/>
                              <m:mcs>
                                <m:mc>
                                  <m:mcPr>
                                    <m:count m:val="2"/>
                                    <m:mcJc m:val="center"/>
                                  </m:mcPr>
                                </m:mc>
                              </m:mcs>
                              <m:ctrlPr>
                                <a:rPr lang="en-US" sz="3200" i="1">
                                  <a:latin typeface="Cambria Math" panose="02040503050406030204" pitchFamily="18" charset="0"/>
                                </a:rPr>
                              </m:ctrlPr>
                            </m:mPr>
                            <m:mr>
                              <m:e>
                                <m:r>
                                  <a:rPr lang="sr-Latn-RS" sz="3200" b="0" i="0" smtClean="0">
                                    <a:latin typeface="Cambria Math" panose="02040503050406030204" pitchFamily="18" charset="0"/>
                                  </a:rPr>
                                  <m:t>1</m:t>
                                </m:r>
                              </m:e>
                              <m:e>
                                <m:r>
                                  <a:rPr lang="en-US" sz="3200">
                                    <a:latin typeface="Cambria Math" panose="02040503050406030204" pitchFamily="18" charset="0"/>
                                  </a:rPr>
                                  <m:t>1</m:t>
                                </m:r>
                              </m:e>
                            </m:mr>
                            <m:mr>
                              <m:e>
                                <m:r>
                                  <a:rPr lang="en-US" sz="3200">
                                    <a:latin typeface="Cambria Math" panose="02040503050406030204" pitchFamily="18" charset="0"/>
                                  </a:rPr>
                                  <m:t>1</m:t>
                                </m:r>
                              </m:e>
                              <m:e>
                                <m:r>
                                  <a:rPr lang="sr-Latn-RS" sz="3200" b="0" i="0" smtClean="0">
                                    <a:latin typeface="Cambria Math" panose="02040503050406030204" pitchFamily="18" charset="0"/>
                                  </a:rPr>
                                  <m:t>−1</m:t>
                                </m:r>
                              </m:e>
                            </m:mr>
                          </m:m>
                        </m:e>
                      </m:d>
                    </m:oMath>
                  </m:oMathPara>
                </a14:m>
                <a:endParaRPr lang="en-US" sz="3200" dirty="0"/>
              </a:p>
            </p:txBody>
          </p:sp>
        </mc:Choice>
        <mc:Fallback xmlns="">
          <p:sp>
            <p:nvSpPr>
              <p:cNvPr id="8" name="Rectangle 7">
                <a:extLst>
                  <a:ext uri="{FF2B5EF4-FFF2-40B4-BE49-F238E27FC236}">
                    <a16:creationId xmlns:a16="http://schemas.microsoft.com/office/drawing/2014/main" id="{8E1CD461-A9CD-5541-A605-9BFB5EA918BA}"/>
                  </a:ext>
                </a:extLst>
              </p:cNvPr>
              <p:cNvSpPr>
                <a:spLocks noRot="1" noChangeAspect="1" noMove="1" noResize="1" noEditPoints="1" noAdjustHandles="1" noChangeArrowheads="1" noChangeShapeType="1" noTextEdit="1"/>
              </p:cNvSpPr>
              <p:nvPr/>
            </p:nvSpPr>
            <p:spPr>
              <a:xfrm>
                <a:off x="1075063" y="2009895"/>
                <a:ext cx="3261790" cy="1109663"/>
              </a:xfrm>
              <a:prstGeom prst="rect">
                <a:avLst/>
              </a:prstGeom>
              <a:blipFill>
                <a:blip r:embed="rId4"/>
                <a:stretch>
                  <a:fillRect b="-3371"/>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8B851DF3-F287-AC42-9FC3-9793E6AAD26E}"/>
              </a:ext>
            </a:extLst>
          </p:cNvPr>
          <p:cNvSpPr txBox="1"/>
          <p:nvPr/>
        </p:nvSpPr>
        <p:spPr>
          <a:xfrm>
            <a:off x="6344604" y="5918266"/>
            <a:ext cx="1813253" cy="707886"/>
          </a:xfrm>
          <a:prstGeom prst="rect">
            <a:avLst/>
          </a:prstGeom>
          <a:noFill/>
        </p:spPr>
        <p:txBody>
          <a:bodyPr wrap="none" rtlCol="0">
            <a:spAutoFit/>
          </a:bodyPr>
          <a:lstStyle/>
          <a:p>
            <a:pPr algn="ctr"/>
            <a:r>
              <a:rPr lang="en-ZA" sz="2000" dirty="0"/>
              <a:t>James Sylvester</a:t>
            </a:r>
            <a:endParaRPr lang="en-US" sz="2000" dirty="0"/>
          </a:p>
          <a:p>
            <a:pPr algn="ctr"/>
            <a:r>
              <a:rPr lang="en-US" sz="2000" dirty="0"/>
              <a:t>(1865-1963)</a:t>
            </a:r>
          </a:p>
        </p:txBody>
      </p:sp>
      <p:pic>
        <p:nvPicPr>
          <p:cNvPr id="13" name="Picture 12">
            <a:extLst>
              <a:ext uri="{FF2B5EF4-FFF2-40B4-BE49-F238E27FC236}">
                <a16:creationId xmlns:a16="http://schemas.microsoft.com/office/drawing/2014/main" id="{E962F535-1AB4-FF40-8526-D2A56AEB04F7}"/>
              </a:ext>
            </a:extLst>
          </p:cNvPr>
          <p:cNvPicPr>
            <a:picLocks noChangeAspect="1"/>
          </p:cNvPicPr>
          <p:nvPr/>
        </p:nvPicPr>
        <p:blipFill>
          <a:blip r:embed="rId5"/>
          <a:stretch>
            <a:fillRect/>
          </a:stretch>
        </p:blipFill>
        <p:spPr>
          <a:xfrm>
            <a:off x="1090606" y="3926265"/>
            <a:ext cx="3378200" cy="1651000"/>
          </a:xfrm>
          <a:prstGeom prst="rect">
            <a:avLst/>
          </a:prstGeom>
        </p:spPr>
      </p:pic>
      <p:pic>
        <p:nvPicPr>
          <p:cNvPr id="6" name="Picture 5">
            <a:extLst>
              <a:ext uri="{FF2B5EF4-FFF2-40B4-BE49-F238E27FC236}">
                <a16:creationId xmlns:a16="http://schemas.microsoft.com/office/drawing/2014/main" id="{9FFE3235-EC64-2B42-89EC-D0D46BF46FB9}"/>
              </a:ext>
            </a:extLst>
          </p:cNvPr>
          <p:cNvPicPr>
            <a:picLocks noChangeAspect="1"/>
          </p:cNvPicPr>
          <p:nvPr/>
        </p:nvPicPr>
        <p:blipFill>
          <a:blip r:embed="rId6"/>
          <a:stretch>
            <a:fillRect/>
          </a:stretch>
        </p:blipFill>
        <p:spPr>
          <a:xfrm>
            <a:off x="8995646" y="464344"/>
            <a:ext cx="2758042" cy="3174246"/>
          </a:xfrm>
          <a:prstGeom prst="rect">
            <a:avLst/>
          </a:prstGeom>
        </p:spPr>
      </p:pic>
      <p:pic>
        <p:nvPicPr>
          <p:cNvPr id="14" name="Picture 13">
            <a:extLst>
              <a:ext uri="{FF2B5EF4-FFF2-40B4-BE49-F238E27FC236}">
                <a16:creationId xmlns:a16="http://schemas.microsoft.com/office/drawing/2014/main" id="{1CF6FA39-ADE6-F04C-A1A3-B468C34365F9}"/>
              </a:ext>
            </a:extLst>
          </p:cNvPr>
          <p:cNvPicPr>
            <a:picLocks noChangeAspect="1"/>
          </p:cNvPicPr>
          <p:nvPr/>
        </p:nvPicPr>
        <p:blipFill>
          <a:blip r:embed="rId7"/>
          <a:stretch>
            <a:fillRect/>
          </a:stretch>
        </p:blipFill>
        <p:spPr>
          <a:xfrm>
            <a:off x="5680512" y="2869420"/>
            <a:ext cx="3141436" cy="3048846"/>
          </a:xfrm>
          <a:prstGeom prst="rect">
            <a:avLst/>
          </a:prstGeom>
        </p:spPr>
      </p:pic>
    </p:spTree>
    <p:extLst>
      <p:ext uri="{BB962C8B-B14F-4D97-AF65-F5344CB8AC3E}">
        <p14:creationId xmlns:p14="http://schemas.microsoft.com/office/powerpoint/2010/main" val="7300307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D81A3-6A97-D245-BB92-A9C46394D5FD}"/>
              </a:ext>
            </a:extLst>
          </p:cNvPr>
          <p:cNvSpPr>
            <a:spLocks noGrp="1"/>
          </p:cNvSpPr>
          <p:nvPr>
            <p:ph type="title"/>
          </p:nvPr>
        </p:nvSpPr>
        <p:spPr>
          <a:xfrm>
            <a:off x="0" y="0"/>
            <a:ext cx="12192000" cy="928688"/>
          </a:xfrm>
        </p:spPr>
        <p:txBody>
          <a:bodyPr/>
          <a:lstStyle/>
          <a:p>
            <a:r>
              <a:rPr lang="en-US" dirty="0"/>
              <a:t>Vectors</a:t>
            </a:r>
          </a:p>
        </p:txBody>
      </p:sp>
      <p:sp>
        <p:nvSpPr>
          <p:cNvPr id="3" name="Slide Number Placeholder 2">
            <a:extLst>
              <a:ext uri="{FF2B5EF4-FFF2-40B4-BE49-F238E27FC236}">
                <a16:creationId xmlns:a16="http://schemas.microsoft.com/office/drawing/2014/main" id="{A6A2E66F-9B1F-414C-8CA9-E8DC5A059005}"/>
              </a:ext>
            </a:extLst>
          </p:cNvPr>
          <p:cNvSpPr>
            <a:spLocks noGrp="1"/>
          </p:cNvSpPr>
          <p:nvPr>
            <p:ph type="sldNum" sz="quarter" idx="12"/>
          </p:nvPr>
        </p:nvSpPr>
        <p:spPr/>
        <p:txBody>
          <a:bodyPr/>
          <a:lstStyle/>
          <a:p>
            <a:fld id="{591A223C-FA10-BC46-A853-03BA373D023C}" type="slidenum">
              <a:rPr lang="en-US" smtClean="0"/>
              <a:t>30</a:t>
            </a:fld>
            <a:endParaRPr lang="en-US"/>
          </a:p>
        </p:txBody>
      </p:sp>
      <p:pic>
        <p:nvPicPr>
          <p:cNvPr id="26" name="Picture 25">
            <a:extLst>
              <a:ext uri="{FF2B5EF4-FFF2-40B4-BE49-F238E27FC236}">
                <a16:creationId xmlns:a16="http://schemas.microsoft.com/office/drawing/2014/main" id="{97F5FEEC-FDB3-6B40-8C51-1E25E70C2ED5}"/>
              </a:ext>
            </a:extLst>
          </p:cNvPr>
          <p:cNvPicPr>
            <a:picLocks noChangeAspect="1"/>
          </p:cNvPicPr>
          <p:nvPr/>
        </p:nvPicPr>
        <p:blipFill>
          <a:blip r:embed="rId3"/>
          <a:stretch>
            <a:fillRect/>
          </a:stretch>
        </p:blipFill>
        <p:spPr>
          <a:xfrm>
            <a:off x="6534196" y="320750"/>
            <a:ext cx="4042689" cy="5913685"/>
          </a:xfrm>
          <a:prstGeom prst="rect">
            <a:avLst/>
          </a:prstGeom>
        </p:spPr>
      </p:pic>
      <p:pic>
        <p:nvPicPr>
          <p:cNvPr id="4" name="Picture 3">
            <a:extLst>
              <a:ext uri="{FF2B5EF4-FFF2-40B4-BE49-F238E27FC236}">
                <a16:creationId xmlns:a16="http://schemas.microsoft.com/office/drawing/2014/main" id="{2FA0DF8E-002B-D24D-96D6-BA73876775D1}"/>
              </a:ext>
            </a:extLst>
          </p:cNvPr>
          <p:cNvPicPr>
            <a:picLocks noChangeAspect="1"/>
          </p:cNvPicPr>
          <p:nvPr/>
        </p:nvPicPr>
        <p:blipFill>
          <a:blip r:embed="rId4"/>
          <a:stretch>
            <a:fillRect/>
          </a:stretch>
        </p:blipFill>
        <p:spPr>
          <a:xfrm flipH="1">
            <a:off x="1539321" y="1916566"/>
            <a:ext cx="4462468" cy="3864519"/>
          </a:xfrm>
          <a:prstGeom prst="rect">
            <a:avLst/>
          </a:prstGeom>
        </p:spPr>
      </p:pic>
    </p:spTree>
    <p:extLst>
      <p:ext uri="{BB962C8B-B14F-4D97-AF65-F5344CB8AC3E}">
        <p14:creationId xmlns:p14="http://schemas.microsoft.com/office/powerpoint/2010/main" val="20263827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41720-9009-0445-989E-D305EA512CCC}"/>
              </a:ext>
            </a:extLst>
          </p:cNvPr>
          <p:cNvSpPr>
            <a:spLocks noGrp="1"/>
          </p:cNvSpPr>
          <p:nvPr>
            <p:ph type="title"/>
          </p:nvPr>
        </p:nvSpPr>
        <p:spPr/>
        <p:txBody>
          <a:bodyPr/>
          <a:lstStyle/>
          <a:p>
            <a:r>
              <a:rPr lang="en-ZA" dirty="0"/>
              <a:t>Vectors</a:t>
            </a:r>
            <a:endParaRPr lang="en-US" dirty="0"/>
          </a:p>
        </p:txBody>
      </p:sp>
      <p:cxnSp>
        <p:nvCxnSpPr>
          <p:cNvPr id="5" name="Straight Arrow Connector 4">
            <a:extLst>
              <a:ext uri="{FF2B5EF4-FFF2-40B4-BE49-F238E27FC236}">
                <a16:creationId xmlns:a16="http://schemas.microsoft.com/office/drawing/2014/main" id="{81834EC2-4FC6-0349-8A90-88C90DB7C104}"/>
              </a:ext>
            </a:extLst>
          </p:cNvPr>
          <p:cNvCxnSpPr>
            <a:cxnSpLocks/>
          </p:cNvCxnSpPr>
          <p:nvPr/>
        </p:nvCxnSpPr>
        <p:spPr>
          <a:xfrm rot="1054834" flipV="1">
            <a:off x="1159029" y="3071069"/>
            <a:ext cx="1446754" cy="1454591"/>
          </a:xfrm>
          <a:prstGeom prst="straightConnector1">
            <a:avLst/>
          </a:prstGeom>
          <a:ln w="38100" cap="rnd">
            <a:solidFill>
              <a:schemeClr val="accent5">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0EA6CEDE-2E0C-7045-882B-C9F4EF1E9705}"/>
              </a:ext>
            </a:extLst>
          </p:cNvPr>
          <p:cNvCxnSpPr>
            <a:cxnSpLocks/>
          </p:cNvCxnSpPr>
          <p:nvPr/>
        </p:nvCxnSpPr>
        <p:spPr>
          <a:xfrm>
            <a:off x="2783222" y="3306900"/>
            <a:ext cx="0" cy="966763"/>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8DDD934-F0BC-0D48-8C06-DCB109819705}"/>
              </a:ext>
            </a:extLst>
          </p:cNvPr>
          <p:cNvCxnSpPr>
            <a:cxnSpLocks/>
          </p:cNvCxnSpPr>
          <p:nvPr/>
        </p:nvCxnSpPr>
        <p:spPr>
          <a:xfrm>
            <a:off x="960840" y="3320265"/>
            <a:ext cx="1812299"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E2DDAF14-3991-E64D-8939-2042ACA4A26E}"/>
                  </a:ext>
                </a:extLst>
              </p:cNvPr>
              <p:cNvSpPr/>
              <p:nvPr/>
            </p:nvSpPr>
            <p:spPr>
              <a:xfrm>
                <a:off x="2476583" y="4209675"/>
                <a:ext cx="49872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1</m:t>
                          </m:r>
                        </m:sub>
                      </m:sSub>
                    </m:oMath>
                  </m:oMathPara>
                </a14:m>
                <a:endParaRPr lang="en-US" sz="2000" dirty="0"/>
              </a:p>
            </p:txBody>
          </p:sp>
        </mc:Choice>
        <mc:Fallback xmlns="">
          <p:sp>
            <p:nvSpPr>
              <p:cNvPr id="8" name="Rectangle 7">
                <a:extLst>
                  <a:ext uri="{FF2B5EF4-FFF2-40B4-BE49-F238E27FC236}">
                    <a16:creationId xmlns:a16="http://schemas.microsoft.com/office/drawing/2014/main" id="{E2DDAF14-3991-E64D-8939-2042ACA4A26E}"/>
                  </a:ext>
                </a:extLst>
              </p:cNvPr>
              <p:cNvSpPr>
                <a:spLocks noRot="1" noChangeAspect="1" noMove="1" noResize="1" noEditPoints="1" noAdjustHandles="1" noChangeArrowheads="1" noChangeShapeType="1" noTextEdit="1"/>
              </p:cNvSpPr>
              <p:nvPr/>
            </p:nvSpPr>
            <p:spPr>
              <a:xfrm>
                <a:off x="2476583" y="4209675"/>
                <a:ext cx="498726" cy="40011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6C6E7DE6-9994-854F-97AB-D174CDDF262F}"/>
                  </a:ext>
                </a:extLst>
              </p:cNvPr>
              <p:cNvSpPr/>
              <p:nvPr/>
            </p:nvSpPr>
            <p:spPr>
              <a:xfrm>
                <a:off x="451592" y="2982203"/>
                <a:ext cx="50468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𝑎</m:t>
                          </m:r>
                        </m:e>
                        <m:sub>
                          <m:r>
                            <a:rPr lang="en-US" sz="2000" b="0" i="1" smtClean="0">
                              <a:latin typeface="Cambria Math" panose="02040503050406030204" pitchFamily="18" charset="0"/>
                            </a:rPr>
                            <m:t>2</m:t>
                          </m:r>
                        </m:sub>
                      </m:sSub>
                    </m:oMath>
                  </m:oMathPara>
                </a14:m>
                <a:endParaRPr lang="en-US" sz="2000" dirty="0"/>
              </a:p>
            </p:txBody>
          </p:sp>
        </mc:Choice>
        <mc:Fallback xmlns="">
          <p:sp>
            <p:nvSpPr>
              <p:cNvPr id="9" name="Rectangle 8">
                <a:extLst>
                  <a:ext uri="{FF2B5EF4-FFF2-40B4-BE49-F238E27FC236}">
                    <a16:creationId xmlns:a16="http://schemas.microsoft.com/office/drawing/2014/main" id="{6C6E7DE6-9994-854F-97AB-D174CDDF262F}"/>
                  </a:ext>
                </a:extLst>
              </p:cNvPr>
              <p:cNvSpPr>
                <a:spLocks noRot="1" noChangeAspect="1" noMove="1" noResize="1" noEditPoints="1" noAdjustHandles="1" noChangeArrowheads="1" noChangeShapeType="1" noTextEdit="1"/>
              </p:cNvSpPr>
              <p:nvPr/>
            </p:nvSpPr>
            <p:spPr>
              <a:xfrm>
                <a:off x="451592" y="2982203"/>
                <a:ext cx="504689" cy="400110"/>
              </a:xfrm>
              <a:prstGeom prst="rect">
                <a:avLst/>
              </a:prstGeom>
              <a:blipFill>
                <a:blip r:embed="rId4"/>
                <a:stretch>
                  <a:fillRect/>
                </a:stretch>
              </a:blipFill>
            </p:spPr>
            <p:txBody>
              <a:bodyPr/>
              <a:lstStyle/>
              <a:p>
                <a:r>
                  <a:rPr lang="en-US">
                    <a:noFill/>
                  </a:rPr>
                  <a:t> </a:t>
                </a:r>
              </a:p>
            </p:txBody>
          </p:sp>
        </mc:Fallback>
      </mc:AlternateContent>
      <p:cxnSp>
        <p:nvCxnSpPr>
          <p:cNvPr id="11" name="Straight Arrow Connector 10">
            <a:extLst>
              <a:ext uri="{FF2B5EF4-FFF2-40B4-BE49-F238E27FC236}">
                <a16:creationId xmlns:a16="http://schemas.microsoft.com/office/drawing/2014/main" id="{6AFB4D0F-6A0B-DF47-B2F9-6AE7A4D02FE1}"/>
              </a:ext>
            </a:extLst>
          </p:cNvPr>
          <p:cNvCxnSpPr>
            <a:cxnSpLocks/>
          </p:cNvCxnSpPr>
          <p:nvPr/>
        </p:nvCxnSpPr>
        <p:spPr>
          <a:xfrm flipV="1">
            <a:off x="958178" y="2449141"/>
            <a:ext cx="0" cy="23767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1A1D0FD-2D96-7849-B2AB-1DD08C1C97D0}"/>
              </a:ext>
            </a:extLst>
          </p:cNvPr>
          <p:cNvCxnSpPr>
            <a:cxnSpLocks/>
          </p:cNvCxnSpPr>
          <p:nvPr/>
        </p:nvCxnSpPr>
        <p:spPr>
          <a:xfrm>
            <a:off x="374786" y="4275115"/>
            <a:ext cx="307707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BEE66C1C-BDEF-F24B-8337-AC3ABCF6102A}"/>
                  </a:ext>
                </a:extLst>
              </p:cNvPr>
              <p:cNvSpPr/>
              <p:nvPr/>
            </p:nvSpPr>
            <p:spPr>
              <a:xfrm>
                <a:off x="3110281" y="4316987"/>
                <a:ext cx="38638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lumMod val="65000"/>
                            </a:schemeClr>
                          </a:solidFill>
                          <a:latin typeface="Cambria Math" panose="02040503050406030204" pitchFamily="18" charset="0"/>
                        </a:rPr>
                        <m:t>𝑥</m:t>
                      </m:r>
                    </m:oMath>
                  </m:oMathPara>
                </a14:m>
                <a:endParaRPr lang="en-US" sz="2000" dirty="0">
                  <a:solidFill>
                    <a:schemeClr val="bg1">
                      <a:lumMod val="65000"/>
                    </a:schemeClr>
                  </a:solidFill>
                </a:endParaRPr>
              </a:p>
            </p:txBody>
          </p:sp>
        </mc:Choice>
        <mc:Fallback xmlns="">
          <p:sp>
            <p:nvSpPr>
              <p:cNvPr id="13" name="Rectangle 12">
                <a:extLst>
                  <a:ext uri="{FF2B5EF4-FFF2-40B4-BE49-F238E27FC236}">
                    <a16:creationId xmlns:a16="http://schemas.microsoft.com/office/drawing/2014/main" id="{BEE66C1C-BDEF-F24B-8337-AC3ABCF6102A}"/>
                  </a:ext>
                </a:extLst>
              </p:cNvPr>
              <p:cNvSpPr>
                <a:spLocks noRot="1" noChangeAspect="1" noMove="1" noResize="1" noEditPoints="1" noAdjustHandles="1" noChangeArrowheads="1" noChangeShapeType="1" noTextEdit="1"/>
              </p:cNvSpPr>
              <p:nvPr/>
            </p:nvSpPr>
            <p:spPr>
              <a:xfrm>
                <a:off x="3110281" y="4316987"/>
                <a:ext cx="386388" cy="40011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29EB88E7-8F31-A24E-BD3C-BF22F76BC999}"/>
                  </a:ext>
                </a:extLst>
              </p:cNvPr>
              <p:cNvSpPr/>
              <p:nvPr/>
            </p:nvSpPr>
            <p:spPr>
              <a:xfrm>
                <a:off x="514123" y="2322227"/>
                <a:ext cx="391004" cy="40011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lumMod val="65000"/>
                            </a:schemeClr>
                          </a:solidFill>
                          <a:latin typeface="Cambria Math" panose="02040503050406030204" pitchFamily="18" charset="0"/>
                        </a:rPr>
                        <m:t>𝑦</m:t>
                      </m:r>
                    </m:oMath>
                  </m:oMathPara>
                </a14:m>
                <a:endParaRPr lang="en-US" sz="2000" dirty="0">
                  <a:solidFill>
                    <a:schemeClr val="bg1">
                      <a:lumMod val="65000"/>
                    </a:schemeClr>
                  </a:solidFill>
                </a:endParaRPr>
              </a:p>
            </p:txBody>
          </p:sp>
        </mc:Choice>
        <mc:Fallback xmlns="">
          <p:sp>
            <p:nvSpPr>
              <p:cNvPr id="14" name="Rectangle 13">
                <a:extLst>
                  <a:ext uri="{FF2B5EF4-FFF2-40B4-BE49-F238E27FC236}">
                    <a16:creationId xmlns:a16="http://schemas.microsoft.com/office/drawing/2014/main" id="{29EB88E7-8F31-A24E-BD3C-BF22F76BC999}"/>
                  </a:ext>
                </a:extLst>
              </p:cNvPr>
              <p:cNvSpPr>
                <a:spLocks noRot="1" noChangeAspect="1" noMove="1" noResize="1" noEditPoints="1" noAdjustHandles="1" noChangeArrowheads="1" noChangeShapeType="1" noTextEdit="1"/>
              </p:cNvSpPr>
              <p:nvPr/>
            </p:nvSpPr>
            <p:spPr>
              <a:xfrm>
                <a:off x="514123" y="2322227"/>
                <a:ext cx="391004" cy="400110"/>
              </a:xfrm>
              <a:prstGeom prst="rect">
                <a:avLst/>
              </a:prstGeom>
              <a:blipFill>
                <a:blip r:embed="rId6"/>
                <a:stretch>
                  <a:fillRect b="-62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627A5E81-F0BF-434C-8D09-97C853C2243C}"/>
                  </a:ext>
                </a:extLst>
              </p:cNvPr>
              <p:cNvSpPr/>
              <p:nvPr/>
            </p:nvSpPr>
            <p:spPr>
              <a:xfrm>
                <a:off x="563497" y="4249865"/>
                <a:ext cx="42178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𝑂</m:t>
                      </m:r>
                    </m:oMath>
                  </m:oMathPara>
                </a14:m>
                <a:endParaRPr lang="en-US" sz="2000" dirty="0"/>
              </a:p>
            </p:txBody>
          </p:sp>
        </mc:Choice>
        <mc:Fallback xmlns="">
          <p:sp>
            <p:nvSpPr>
              <p:cNvPr id="25" name="Rectangle 24">
                <a:extLst>
                  <a:ext uri="{FF2B5EF4-FFF2-40B4-BE49-F238E27FC236}">
                    <a16:creationId xmlns:a16="http://schemas.microsoft.com/office/drawing/2014/main" id="{627A5E81-F0BF-434C-8D09-97C853C2243C}"/>
                  </a:ext>
                </a:extLst>
              </p:cNvPr>
              <p:cNvSpPr>
                <a:spLocks noRot="1" noChangeAspect="1" noMove="1" noResize="1" noEditPoints="1" noAdjustHandles="1" noChangeArrowheads="1" noChangeShapeType="1" noTextEdit="1"/>
              </p:cNvSpPr>
              <p:nvPr/>
            </p:nvSpPr>
            <p:spPr>
              <a:xfrm>
                <a:off x="563497" y="4249865"/>
                <a:ext cx="421782" cy="400110"/>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Rectangle 98">
                <a:extLst>
                  <a:ext uri="{FF2B5EF4-FFF2-40B4-BE49-F238E27FC236}">
                    <a16:creationId xmlns:a16="http://schemas.microsoft.com/office/drawing/2014/main" id="{66729799-EBDE-154B-BF4A-4D8AE2C95F86}"/>
                  </a:ext>
                </a:extLst>
              </p:cNvPr>
              <p:cNvSpPr/>
              <p:nvPr/>
            </p:nvSpPr>
            <p:spPr>
              <a:xfrm>
                <a:off x="1693119" y="3652399"/>
                <a:ext cx="1411348" cy="60471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latin typeface="Cambria Math" panose="02040503050406030204" pitchFamily="18" charset="0"/>
                              <a:ea typeface="Times New Roman" panose="02020603050405020304" pitchFamily="18" charset="0"/>
                              <a:cs typeface="Times New Roman" panose="02020603050405020304" pitchFamily="18" charset="0"/>
                            </a:rPr>
                            <m:t>𝑣</m:t>
                          </m:r>
                        </m:e>
                      </m:d>
                      <m:r>
                        <a:rPr lang="en-US" sz="2000" b="1" i="1" smtClean="0">
                          <a:latin typeface="Cambria Math" panose="02040503050406030204" pitchFamily="18" charset="0"/>
                        </a:rPr>
                        <m:t>=</m:t>
                      </m:r>
                      <m:d>
                        <m:dPr>
                          <m:ctrlPr>
                            <a:rPr lang="en-US" sz="2000" b="1" i="1">
                              <a:latin typeface="Cambria Math" panose="02040503050406030204" pitchFamily="18" charset="0"/>
                            </a:rPr>
                          </m:ctrlPr>
                        </m:dPr>
                        <m:e>
                          <m:m>
                            <m:mPr>
                              <m:mcs>
                                <m:mc>
                                  <m:mcPr>
                                    <m:count m:val="1"/>
                                    <m:mcJc m:val="center"/>
                                  </m:mcPr>
                                </m:mc>
                              </m:mcs>
                              <m:ctrlPr>
                                <a:rPr lang="en-US" sz="2000" b="1" i="1">
                                  <a:latin typeface="Cambria Math" panose="02040503050406030204" pitchFamily="18" charset="0"/>
                                </a:rPr>
                              </m:ctrlPr>
                            </m:mPr>
                            <m:mr>
                              <m:e>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1</m:t>
                                    </m:r>
                                  </m:sub>
                                </m:sSub>
                              </m:e>
                            </m:mr>
                            <m:mr>
                              <m:e>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2</m:t>
                                    </m:r>
                                  </m:sub>
                                </m:sSub>
                              </m:e>
                            </m:mr>
                          </m:m>
                        </m:e>
                      </m:d>
                    </m:oMath>
                  </m:oMathPara>
                </a14:m>
                <a:endParaRPr lang="en-US" sz="2000" dirty="0"/>
              </a:p>
            </p:txBody>
          </p:sp>
        </mc:Choice>
        <mc:Fallback xmlns="">
          <p:sp>
            <p:nvSpPr>
              <p:cNvPr id="99" name="Rectangle 98">
                <a:extLst>
                  <a:ext uri="{FF2B5EF4-FFF2-40B4-BE49-F238E27FC236}">
                    <a16:creationId xmlns:a16="http://schemas.microsoft.com/office/drawing/2014/main" id="{66729799-EBDE-154B-BF4A-4D8AE2C95F86}"/>
                  </a:ext>
                </a:extLst>
              </p:cNvPr>
              <p:cNvSpPr>
                <a:spLocks noRot="1" noChangeAspect="1" noMove="1" noResize="1" noEditPoints="1" noAdjustHandles="1" noChangeArrowheads="1" noChangeShapeType="1" noTextEdit="1"/>
              </p:cNvSpPr>
              <p:nvPr/>
            </p:nvSpPr>
            <p:spPr>
              <a:xfrm>
                <a:off x="1693119" y="3652399"/>
                <a:ext cx="1411348" cy="60471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Rectangle 99">
                <a:extLst>
                  <a:ext uri="{FF2B5EF4-FFF2-40B4-BE49-F238E27FC236}">
                    <a16:creationId xmlns:a16="http://schemas.microsoft.com/office/drawing/2014/main" id="{AF4C758A-B1FE-244F-8F79-A37CDF5E1968}"/>
                  </a:ext>
                </a:extLst>
              </p:cNvPr>
              <p:cNvSpPr/>
              <p:nvPr/>
            </p:nvSpPr>
            <p:spPr>
              <a:xfrm>
                <a:off x="2727519" y="2955912"/>
                <a:ext cx="870110" cy="369332"/>
              </a:xfrm>
              <a:prstGeom prst="rect">
                <a:avLst/>
              </a:prstGeom>
            </p:spPr>
            <p:txBody>
              <a:bodyPr wrap="none">
                <a:spAutoFit/>
              </a:bodyPr>
              <a:lstStyle/>
              <a:p>
                <a14:m>
                  <m:oMath xmlns:m="http://schemas.openxmlformats.org/officeDocument/2006/math">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2</m:t>
                        </m:r>
                      </m:sub>
                    </m:sSub>
                  </m:oMath>
                </a14:m>
                <a:r>
                  <a:rPr lang="en-US" dirty="0"/>
                  <a:t>)</a:t>
                </a:r>
              </a:p>
            </p:txBody>
          </p:sp>
        </mc:Choice>
        <mc:Fallback xmlns="">
          <p:sp>
            <p:nvSpPr>
              <p:cNvPr id="100" name="Rectangle 99">
                <a:extLst>
                  <a:ext uri="{FF2B5EF4-FFF2-40B4-BE49-F238E27FC236}">
                    <a16:creationId xmlns:a16="http://schemas.microsoft.com/office/drawing/2014/main" id="{AF4C758A-B1FE-244F-8F79-A37CDF5E1968}"/>
                  </a:ext>
                </a:extLst>
              </p:cNvPr>
              <p:cNvSpPr>
                <a:spLocks noRot="1" noChangeAspect="1" noMove="1" noResize="1" noEditPoints="1" noAdjustHandles="1" noChangeArrowheads="1" noChangeShapeType="1" noTextEdit="1"/>
              </p:cNvSpPr>
              <p:nvPr/>
            </p:nvSpPr>
            <p:spPr>
              <a:xfrm>
                <a:off x="2727519" y="2955912"/>
                <a:ext cx="870110" cy="369332"/>
              </a:xfrm>
              <a:prstGeom prst="rect">
                <a:avLst/>
              </a:prstGeom>
              <a:blipFill>
                <a:blip r:embed="rId10"/>
                <a:stretch>
                  <a:fillRect l="-1449" t="-6667" r="-4348" b="-23333"/>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BB186A84-E2CD-504C-AFFA-BAFED12BF537}"/>
              </a:ext>
            </a:extLst>
          </p:cNvPr>
          <p:cNvSpPr txBox="1"/>
          <p:nvPr/>
        </p:nvSpPr>
        <p:spPr>
          <a:xfrm>
            <a:off x="397436" y="1716802"/>
            <a:ext cx="2818785" cy="461665"/>
          </a:xfrm>
          <a:prstGeom prst="rect">
            <a:avLst/>
          </a:prstGeom>
          <a:solidFill>
            <a:schemeClr val="accent4">
              <a:lumMod val="20000"/>
              <a:lumOff val="80000"/>
            </a:schemeClr>
          </a:solidFill>
        </p:spPr>
        <p:txBody>
          <a:bodyPr wrap="none" rtlCol="0">
            <a:spAutoFit/>
          </a:bodyPr>
          <a:lstStyle/>
          <a:p>
            <a:r>
              <a:rPr lang="en-US" sz="2400" dirty="0">
                <a:latin typeface="+mj-lt"/>
              </a:rPr>
              <a:t>2-dimensional vector</a:t>
            </a:r>
          </a:p>
        </p:txBody>
      </p:sp>
      <p:grpSp>
        <p:nvGrpSpPr>
          <p:cNvPr id="20" name="Group 19">
            <a:extLst>
              <a:ext uri="{FF2B5EF4-FFF2-40B4-BE49-F238E27FC236}">
                <a16:creationId xmlns:a16="http://schemas.microsoft.com/office/drawing/2014/main" id="{55D8B42D-6A62-254F-BC56-E41DD6D75BD2}"/>
              </a:ext>
            </a:extLst>
          </p:cNvPr>
          <p:cNvGrpSpPr/>
          <p:nvPr/>
        </p:nvGrpSpPr>
        <p:grpSpPr>
          <a:xfrm>
            <a:off x="4508794" y="1673493"/>
            <a:ext cx="3642775" cy="3058563"/>
            <a:chOff x="4508794" y="1673493"/>
            <a:chExt cx="3642775" cy="3058563"/>
          </a:xfrm>
        </p:grpSpPr>
        <p:cxnSp>
          <p:nvCxnSpPr>
            <p:cNvPr id="34" name="Straight Arrow Connector 33">
              <a:extLst>
                <a:ext uri="{FF2B5EF4-FFF2-40B4-BE49-F238E27FC236}">
                  <a16:creationId xmlns:a16="http://schemas.microsoft.com/office/drawing/2014/main" id="{C15E04AB-58A3-7A4C-804E-02EA32DCDB35}"/>
                </a:ext>
              </a:extLst>
            </p:cNvPr>
            <p:cNvCxnSpPr>
              <a:cxnSpLocks/>
            </p:cNvCxnSpPr>
            <p:nvPr/>
          </p:nvCxnSpPr>
          <p:spPr>
            <a:xfrm flipV="1">
              <a:off x="5846433" y="2965867"/>
              <a:ext cx="788338" cy="794057"/>
            </a:xfrm>
            <a:prstGeom prst="straightConnector1">
              <a:avLst/>
            </a:prstGeom>
            <a:ln w="38100" cap="rnd">
              <a:solidFill>
                <a:schemeClr val="accent5">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A93DE24-671D-1944-8311-E55D47FB354D}"/>
                </a:ext>
              </a:extLst>
            </p:cNvPr>
            <p:cNvCxnSpPr>
              <a:cxnSpLocks/>
            </p:cNvCxnSpPr>
            <p:nvPr/>
          </p:nvCxnSpPr>
          <p:spPr>
            <a:xfrm>
              <a:off x="6624840" y="2963740"/>
              <a:ext cx="0" cy="1732774"/>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61C14BC0-91F8-244F-9133-095DBD3824B8}"/>
                    </a:ext>
                  </a:extLst>
                </p:cNvPr>
                <p:cNvSpPr/>
                <p:nvPr/>
              </p:nvSpPr>
              <p:spPr>
                <a:xfrm>
                  <a:off x="4508794" y="3806332"/>
                  <a:ext cx="49872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1</m:t>
                            </m:r>
                          </m:sub>
                        </m:sSub>
                      </m:oMath>
                    </m:oMathPara>
                  </a14:m>
                  <a:endParaRPr lang="en-US" sz="2000" dirty="0"/>
                </a:p>
              </p:txBody>
            </p:sp>
          </mc:Choice>
          <mc:Fallback xmlns="">
            <p:sp>
              <p:nvSpPr>
                <p:cNvPr id="37" name="Rectangle 36">
                  <a:extLst>
                    <a:ext uri="{FF2B5EF4-FFF2-40B4-BE49-F238E27FC236}">
                      <a16:creationId xmlns:a16="http://schemas.microsoft.com/office/drawing/2014/main" id="{61C14BC0-91F8-244F-9133-095DBD3824B8}"/>
                    </a:ext>
                  </a:extLst>
                </p:cNvPr>
                <p:cNvSpPr>
                  <a:spLocks noRot="1" noChangeAspect="1" noMove="1" noResize="1" noEditPoints="1" noAdjustHandles="1" noChangeArrowheads="1" noChangeShapeType="1" noTextEdit="1"/>
                </p:cNvSpPr>
                <p:nvPr/>
              </p:nvSpPr>
              <p:spPr>
                <a:xfrm>
                  <a:off x="4508794" y="3806332"/>
                  <a:ext cx="498726" cy="400110"/>
                </a:xfrm>
                <a:prstGeom prst="rect">
                  <a:avLst/>
                </a:prstGeom>
                <a:blipFill>
                  <a:blip r:embed="rId11"/>
                  <a:stretch>
                    <a:fillRect/>
                  </a:stretch>
                </a:blipFill>
              </p:spPr>
              <p:txBody>
                <a:bodyPr/>
                <a:lstStyle/>
                <a:p>
                  <a:r>
                    <a:rPr lang="en-US">
                      <a:noFill/>
                    </a:rPr>
                    <a:t> </a:t>
                  </a:r>
                </a:p>
              </p:txBody>
            </p:sp>
          </mc:Fallback>
        </mc:AlternateContent>
        <p:cxnSp>
          <p:nvCxnSpPr>
            <p:cNvPr id="39" name="Straight Arrow Connector 38">
              <a:extLst>
                <a:ext uri="{FF2B5EF4-FFF2-40B4-BE49-F238E27FC236}">
                  <a16:creationId xmlns:a16="http://schemas.microsoft.com/office/drawing/2014/main" id="{73BA80B7-BB7E-844F-A8B0-9A5FDBC75445}"/>
                </a:ext>
              </a:extLst>
            </p:cNvPr>
            <p:cNvCxnSpPr>
              <a:cxnSpLocks/>
            </p:cNvCxnSpPr>
            <p:nvPr/>
          </p:nvCxnSpPr>
          <p:spPr>
            <a:xfrm flipV="1">
              <a:off x="5846433" y="2211507"/>
              <a:ext cx="0" cy="22366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E6F8CD62-E2DF-BF4C-89E3-3AEFD3F23E57}"/>
                </a:ext>
              </a:extLst>
            </p:cNvPr>
            <p:cNvCxnSpPr>
              <a:cxnSpLocks/>
            </p:cNvCxnSpPr>
            <p:nvPr/>
          </p:nvCxnSpPr>
          <p:spPr>
            <a:xfrm flipH="1">
              <a:off x="4513474" y="3755206"/>
              <a:ext cx="1359946" cy="720584"/>
            </a:xfrm>
            <a:prstGeom prst="straightConnector1">
              <a:avLst/>
            </a:prstGeom>
            <a:ln>
              <a:headEnd type="non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6603D046-9743-5E41-9D86-27CAD8315275}"/>
                    </a:ext>
                  </a:extLst>
                </p:cNvPr>
                <p:cNvSpPr/>
                <p:nvPr/>
              </p:nvSpPr>
              <p:spPr>
                <a:xfrm>
                  <a:off x="4541097" y="4331946"/>
                  <a:ext cx="38638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lumMod val="65000"/>
                              </a:schemeClr>
                            </a:solidFill>
                            <a:latin typeface="Cambria Math" panose="02040503050406030204" pitchFamily="18" charset="0"/>
                          </a:rPr>
                          <m:t>𝑥</m:t>
                        </m:r>
                      </m:oMath>
                    </m:oMathPara>
                  </a14:m>
                  <a:endParaRPr lang="en-US" sz="2000" dirty="0">
                    <a:solidFill>
                      <a:schemeClr val="bg1">
                        <a:lumMod val="65000"/>
                      </a:schemeClr>
                    </a:solidFill>
                  </a:endParaRPr>
                </a:p>
              </p:txBody>
            </p:sp>
          </mc:Choice>
          <mc:Fallback xmlns="">
            <p:sp>
              <p:nvSpPr>
                <p:cNvPr id="41" name="Rectangle 40">
                  <a:extLst>
                    <a:ext uri="{FF2B5EF4-FFF2-40B4-BE49-F238E27FC236}">
                      <a16:creationId xmlns:a16="http://schemas.microsoft.com/office/drawing/2014/main" id="{6603D046-9743-5E41-9D86-27CAD8315275}"/>
                    </a:ext>
                  </a:extLst>
                </p:cNvPr>
                <p:cNvSpPr>
                  <a:spLocks noRot="1" noChangeAspect="1" noMove="1" noResize="1" noEditPoints="1" noAdjustHandles="1" noChangeArrowheads="1" noChangeShapeType="1" noTextEdit="1"/>
                </p:cNvSpPr>
                <p:nvPr/>
              </p:nvSpPr>
              <p:spPr>
                <a:xfrm>
                  <a:off x="4541097" y="4331946"/>
                  <a:ext cx="386388" cy="40011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61DE5886-3622-D54B-BCCC-236711E678CD}"/>
                    </a:ext>
                  </a:extLst>
                </p:cNvPr>
                <p:cNvSpPr/>
                <p:nvPr/>
              </p:nvSpPr>
              <p:spPr>
                <a:xfrm>
                  <a:off x="5395155" y="2114754"/>
                  <a:ext cx="37016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lumMod val="65000"/>
                              </a:schemeClr>
                            </a:solidFill>
                            <a:latin typeface="Cambria Math" panose="02040503050406030204" pitchFamily="18" charset="0"/>
                          </a:rPr>
                          <m:t>𝑧</m:t>
                        </m:r>
                      </m:oMath>
                    </m:oMathPara>
                  </a14:m>
                  <a:endParaRPr lang="en-US" sz="2000" dirty="0">
                    <a:solidFill>
                      <a:schemeClr val="bg1">
                        <a:lumMod val="65000"/>
                      </a:schemeClr>
                    </a:solidFill>
                  </a:endParaRPr>
                </a:p>
              </p:txBody>
            </p:sp>
          </mc:Choice>
          <mc:Fallback xmlns="">
            <p:sp>
              <p:nvSpPr>
                <p:cNvPr id="42" name="Rectangle 41">
                  <a:extLst>
                    <a:ext uri="{FF2B5EF4-FFF2-40B4-BE49-F238E27FC236}">
                      <a16:creationId xmlns:a16="http://schemas.microsoft.com/office/drawing/2014/main" id="{61DE5886-3622-D54B-BCCC-236711E678CD}"/>
                    </a:ext>
                  </a:extLst>
                </p:cNvPr>
                <p:cNvSpPr>
                  <a:spLocks noRot="1" noChangeAspect="1" noMove="1" noResize="1" noEditPoints="1" noAdjustHandles="1" noChangeArrowheads="1" noChangeShapeType="1" noTextEdit="1"/>
                </p:cNvSpPr>
                <p:nvPr/>
              </p:nvSpPr>
              <p:spPr>
                <a:xfrm>
                  <a:off x="5395155" y="2114754"/>
                  <a:ext cx="370166" cy="40011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8495F527-D98A-1E4F-AE41-263F7A9303E9}"/>
                    </a:ext>
                  </a:extLst>
                </p:cNvPr>
                <p:cNvSpPr/>
                <p:nvPr/>
              </p:nvSpPr>
              <p:spPr>
                <a:xfrm>
                  <a:off x="5487385" y="3834810"/>
                  <a:ext cx="421782"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𝑂</m:t>
                        </m:r>
                      </m:oMath>
                    </m:oMathPara>
                  </a14:m>
                  <a:endParaRPr lang="en-US" sz="2000" dirty="0"/>
                </a:p>
              </p:txBody>
            </p:sp>
          </mc:Choice>
          <mc:Fallback xmlns="">
            <p:sp>
              <p:nvSpPr>
                <p:cNvPr id="43" name="Rectangle 42">
                  <a:extLst>
                    <a:ext uri="{FF2B5EF4-FFF2-40B4-BE49-F238E27FC236}">
                      <a16:creationId xmlns:a16="http://schemas.microsoft.com/office/drawing/2014/main" id="{8495F527-D98A-1E4F-AE41-263F7A9303E9}"/>
                    </a:ext>
                  </a:extLst>
                </p:cNvPr>
                <p:cNvSpPr>
                  <a:spLocks noRot="1" noChangeAspect="1" noMove="1" noResize="1" noEditPoints="1" noAdjustHandles="1" noChangeArrowheads="1" noChangeShapeType="1" noTextEdit="1"/>
                </p:cNvSpPr>
                <p:nvPr/>
              </p:nvSpPr>
              <p:spPr>
                <a:xfrm>
                  <a:off x="5487385" y="3834810"/>
                  <a:ext cx="421782" cy="400110"/>
                </a:xfrm>
                <a:prstGeom prst="rect">
                  <a:avLst/>
                </a:prstGeom>
                <a:blipFill>
                  <a:blip r:embed="rId14"/>
                  <a:stretch>
                    <a:fillRect/>
                  </a:stretch>
                </a:blipFill>
              </p:spPr>
              <p:txBody>
                <a:bodyPr/>
                <a:lstStyle/>
                <a:p>
                  <a:r>
                    <a:rPr lang="en-US">
                      <a:noFill/>
                    </a:rPr>
                    <a:t> </a:t>
                  </a:r>
                </a:p>
              </p:txBody>
            </p:sp>
          </mc:Fallback>
        </mc:AlternateContent>
        <p:cxnSp>
          <p:nvCxnSpPr>
            <p:cNvPr id="47" name="Straight Arrow Connector 46">
              <a:extLst>
                <a:ext uri="{FF2B5EF4-FFF2-40B4-BE49-F238E27FC236}">
                  <a16:creationId xmlns:a16="http://schemas.microsoft.com/office/drawing/2014/main" id="{A90A4F16-5B8E-184E-A49C-09AF58798353}"/>
                </a:ext>
              </a:extLst>
            </p:cNvPr>
            <p:cNvCxnSpPr>
              <a:cxnSpLocks/>
            </p:cNvCxnSpPr>
            <p:nvPr/>
          </p:nvCxnSpPr>
          <p:spPr>
            <a:xfrm>
              <a:off x="5257599" y="3626910"/>
              <a:ext cx="2594855" cy="5996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52ADB2C7-D992-2746-A00E-17C8C8FDD5A4}"/>
                    </a:ext>
                  </a:extLst>
                </p:cNvPr>
                <p:cNvSpPr/>
                <p:nvPr/>
              </p:nvSpPr>
              <p:spPr>
                <a:xfrm>
                  <a:off x="7492145" y="4201750"/>
                  <a:ext cx="391004"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0" i="1" smtClean="0">
                            <a:solidFill>
                              <a:schemeClr val="bg1">
                                <a:lumMod val="65000"/>
                              </a:schemeClr>
                            </a:solidFill>
                            <a:latin typeface="Cambria Math" panose="02040503050406030204" pitchFamily="18" charset="0"/>
                          </a:rPr>
                          <m:t>𝑦</m:t>
                        </m:r>
                      </m:oMath>
                    </m:oMathPara>
                  </a14:m>
                  <a:endParaRPr lang="en-US" sz="2000" dirty="0">
                    <a:solidFill>
                      <a:schemeClr val="bg1">
                        <a:lumMod val="65000"/>
                      </a:schemeClr>
                    </a:solidFill>
                  </a:endParaRPr>
                </a:p>
              </p:txBody>
            </p:sp>
          </mc:Choice>
          <mc:Fallback xmlns="">
            <p:sp>
              <p:nvSpPr>
                <p:cNvPr id="51" name="Rectangle 50">
                  <a:extLst>
                    <a:ext uri="{FF2B5EF4-FFF2-40B4-BE49-F238E27FC236}">
                      <a16:creationId xmlns:a16="http://schemas.microsoft.com/office/drawing/2014/main" id="{52ADB2C7-D992-2746-A00E-17C8C8FDD5A4}"/>
                    </a:ext>
                  </a:extLst>
                </p:cNvPr>
                <p:cNvSpPr>
                  <a:spLocks noRot="1" noChangeAspect="1" noMove="1" noResize="1" noEditPoints="1" noAdjustHandles="1" noChangeArrowheads="1" noChangeShapeType="1" noTextEdit="1"/>
                </p:cNvSpPr>
                <p:nvPr/>
              </p:nvSpPr>
              <p:spPr>
                <a:xfrm>
                  <a:off x="7492145" y="4201750"/>
                  <a:ext cx="391004" cy="400110"/>
                </a:xfrm>
                <a:prstGeom prst="rect">
                  <a:avLst/>
                </a:prstGeom>
                <a:blipFill>
                  <a:blip r:embed="rId15"/>
                  <a:stretch>
                    <a:fillRect b="-6250"/>
                  </a:stretch>
                </a:blipFill>
              </p:spPr>
              <p:txBody>
                <a:bodyPr/>
                <a:lstStyle/>
                <a:p>
                  <a:r>
                    <a:rPr lang="en-US">
                      <a:noFill/>
                    </a:rPr>
                    <a:t> </a:t>
                  </a:r>
                </a:p>
              </p:txBody>
            </p:sp>
          </mc:Fallback>
        </mc:AlternateContent>
        <p:cxnSp>
          <p:nvCxnSpPr>
            <p:cNvPr id="52" name="Straight Arrow Connector 51">
              <a:extLst>
                <a:ext uri="{FF2B5EF4-FFF2-40B4-BE49-F238E27FC236}">
                  <a16:creationId xmlns:a16="http://schemas.microsoft.com/office/drawing/2014/main" id="{172FA1AD-CB75-924C-B317-114D2A64A331}"/>
                </a:ext>
              </a:extLst>
            </p:cNvPr>
            <p:cNvCxnSpPr>
              <a:cxnSpLocks/>
            </p:cNvCxnSpPr>
            <p:nvPr/>
          </p:nvCxnSpPr>
          <p:spPr>
            <a:xfrm>
              <a:off x="5847815" y="2784866"/>
              <a:ext cx="768594" cy="176410"/>
            </a:xfrm>
            <a:prstGeom prst="straightConnector1">
              <a:avLst/>
            </a:prstGeom>
            <a:ln w="12700">
              <a:solidFill>
                <a:schemeClr val="bg1">
                  <a:lumMod val="6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EB75B363-E8F0-4649-97E9-23E384B15D8E}"/>
                </a:ext>
              </a:extLst>
            </p:cNvPr>
            <p:cNvCxnSpPr>
              <a:cxnSpLocks/>
            </p:cNvCxnSpPr>
            <p:nvPr/>
          </p:nvCxnSpPr>
          <p:spPr>
            <a:xfrm>
              <a:off x="4876581" y="4315496"/>
              <a:ext cx="1749664" cy="399380"/>
            </a:xfrm>
            <a:prstGeom prst="straightConnector1">
              <a:avLst/>
            </a:prstGeom>
            <a:ln w="12700">
              <a:solidFill>
                <a:schemeClr val="bg1">
                  <a:lumMod val="65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7E06CAC-D3E3-FE4C-9075-3721AE17C1DC}"/>
                </a:ext>
              </a:extLst>
            </p:cNvPr>
            <p:cNvCxnSpPr>
              <a:cxnSpLocks/>
            </p:cNvCxnSpPr>
            <p:nvPr/>
          </p:nvCxnSpPr>
          <p:spPr>
            <a:xfrm flipH="1">
              <a:off x="6621002" y="4168598"/>
              <a:ext cx="964018" cy="541688"/>
            </a:xfrm>
            <a:prstGeom prst="straightConnector1">
              <a:avLst/>
            </a:prstGeom>
            <a:ln w="12700">
              <a:solidFill>
                <a:schemeClr val="bg1">
                  <a:lumMod val="65000"/>
                </a:schemeClr>
              </a:solidFill>
              <a:prstDash val="dash"/>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2" name="Rectangle 101">
                  <a:extLst>
                    <a:ext uri="{FF2B5EF4-FFF2-40B4-BE49-F238E27FC236}">
                      <a16:creationId xmlns:a16="http://schemas.microsoft.com/office/drawing/2014/main" id="{E8014D77-78EB-494C-8A60-A7A8A8FECDED}"/>
                    </a:ext>
                  </a:extLst>
                </p:cNvPr>
                <p:cNvSpPr/>
                <p:nvPr/>
              </p:nvSpPr>
              <p:spPr>
                <a:xfrm>
                  <a:off x="6679050" y="2906102"/>
                  <a:ext cx="1472519" cy="90698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000" i="1">
                                <a:latin typeface="Cambria Math" panose="02040503050406030204" pitchFamily="18" charset="0"/>
                                <a:ea typeface="Times New Roman" panose="02020603050405020304" pitchFamily="18" charset="0"/>
                                <a:cs typeface="Times New Roman" panose="02020603050405020304" pitchFamily="18" charset="0"/>
                              </a:rPr>
                              <m:t>𝑣</m:t>
                            </m:r>
                          </m:e>
                        </m:d>
                        <m:r>
                          <a:rPr lang="en-US" sz="2000" b="1" i="1" smtClean="0">
                            <a:latin typeface="Cambria Math" panose="02040503050406030204" pitchFamily="18" charset="0"/>
                          </a:rPr>
                          <m:t>=</m:t>
                        </m:r>
                        <m:d>
                          <m:dPr>
                            <m:ctrlPr>
                              <a:rPr lang="en-US" sz="2000" b="1" i="1" smtClean="0">
                                <a:latin typeface="Cambria Math" panose="02040503050406030204" pitchFamily="18" charset="0"/>
                              </a:rPr>
                            </m:ctrlPr>
                          </m:dPr>
                          <m:e>
                            <m:m>
                              <m:mPr>
                                <m:mcs>
                                  <m:mc>
                                    <m:mcPr>
                                      <m:count m:val="1"/>
                                      <m:mcJc m:val="center"/>
                                    </m:mcPr>
                                  </m:mc>
                                </m:mcs>
                                <m:ctrlPr>
                                  <a:rPr lang="en-US" sz="2000" b="1" i="1">
                                    <a:latin typeface="Cambria Math" panose="02040503050406030204" pitchFamily="18" charset="0"/>
                                  </a:rPr>
                                </m:ctrlPr>
                              </m:mPr>
                              <m:mr>
                                <m:e>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1</m:t>
                                      </m:r>
                                    </m:sub>
                                  </m:sSub>
                                </m:e>
                              </m:mr>
                              <m:mr>
                                <m:e>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2</m:t>
                                      </m:r>
                                    </m:sub>
                                  </m:sSub>
                                </m:e>
                              </m:mr>
                              <m:mr>
                                <m:e>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b="0" i="1" smtClean="0">
                                          <a:latin typeface="Cambria Math" panose="02040503050406030204" pitchFamily="18" charset="0"/>
                                        </a:rPr>
                                        <m:t>3</m:t>
                                      </m:r>
                                    </m:sub>
                                  </m:sSub>
                                </m:e>
                              </m:mr>
                            </m:m>
                          </m:e>
                        </m:d>
                      </m:oMath>
                    </m:oMathPara>
                  </a14:m>
                  <a:endParaRPr lang="en-US" sz="2000" dirty="0"/>
                </a:p>
              </p:txBody>
            </p:sp>
          </mc:Choice>
          <mc:Fallback xmlns="">
            <p:sp>
              <p:nvSpPr>
                <p:cNvPr id="102" name="Rectangle 101">
                  <a:extLst>
                    <a:ext uri="{FF2B5EF4-FFF2-40B4-BE49-F238E27FC236}">
                      <a16:creationId xmlns:a16="http://schemas.microsoft.com/office/drawing/2014/main" id="{E8014D77-78EB-494C-8A60-A7A8A8FECDED}"/>
                    </a:ext>
                  </a:extLst>
                </p:cNvPr>
                <p:cNvSpPr>
                  <a:spLocks noRot="1" noChangeAspect="1" noMove="1" noResize="1" noEditPoints="1" noAdjustHandles="1" noChangeArrowheads="1" noChangeShapeType="1" noTextEdit="1"/>
                </p:cNvSpPr>
                <p:nvPr/>
              </p:nvSpPr>
              <p:spPr>
                <a:xfrm>
                  <a:off x="6679050" y="2906102"/>
                  <a:ext cx="1472519" cy="906980"/>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4" name="Rectangle 103">
                  <a:extLst>
                    <a:ext uri="{FF2B5EF4-FFF2-40B4-BE49-F238E27FC236}">
                      <a16:creationId xmlns:a16="http://schemas.microsoft.com/office/drawing/2014/main" id="{14A2C167-8470-254E-9558-115ED975608F}"/>
                    </a:ext>
                  </a:extLst>
                </p:cNvPr>
                <p:cNvSpPr/>
                <p:nvPr/>
              </p:nvSpPr>
              <p:spPr>
                <a:xfrm>
                  <a:off x="7468055" y="3787913"/>
                  <a:ext cx="50468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𝑎</m:t>
                            </m:r>
                          </m:e>
                          <m:sub>
                            <m:r>
                              <a:rPr lang="en-US" sz="2000" b="0" i="1" smtClean="0">
                                <a:latin typeface="Cambria Math" panose="02040503050406030204" pitchFamily="18" charset="0"/>
                              </a:rPr>
                              <m:t>2</m:t>
                            </m:r>
                          </m:sub>
                        </m:sSub>
                      </m:oMath>
                    </m:oMathPara>
                  </a14:m>
                  <a:endParaRPr lang="en-US" sz="2000" dirty="0"/>
                </a:p>
              </p:txBody>
            </p:sp>
          </mc:Choice>
          <mc:Fallback xmlns="">
            <p:sp>
              <p:nvSpPr>
                <p:cNvPr id="104" name="Rectangle 103">
                  <a:extLst>
                    <a:ext uri="{FF2B5EF4-FFF2-40B4-BE49-F238E27FC236}">
                      <a16:creationId xmlns:a16="http://schemas.microsoft.com/office/drawing/2014/main" id="{14A2C167-8470-254E-9558-115ED975608F}"/>
                    </a:ext>
                  </a:extLst>
                </p:cNvPr>
                <p:cNvSpPr>
                  <a:spLocks noRot="1" noChangeAspect="1" noMove="1" noResize="1" noEditPoints="1" noAdjustHandles="1" noChangeArrowheads="1" noChangeShapeType="1" noTextEdit="1"/>
                </p:cNvSpPr>
                <p:nvPr/>
              </p:nvSpPr>
              <p:spPr>
                <a:xfrm>
                  <a:off x="7468055" y="3787913"/>
                  <a:ext cx="504689" cy="400110"/>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5" name="Rectangle 104">
                  <a:extLst>
                    <a:ext uri="{FF2B5EF4-FFF2-40B4-BE49-F238E27FC236}">
                      <a16:creationId xmlns:a16="http://schemas.microsoft.com/office/drawing/2014/main" id="{00EC5903-610F-1440-8032-D098D7EADA39}"/>
                    </a:ext>
                  </a:extLst>
                </p:cNvPr>
                <p:cNvSpPr/>
                <p:nvPr/>
              </p:nvSpPr>
              <p:spPr>
                <a:xfrm>
                  <a:off x="5422857" y="2378957"/>
                  <a:ext cx="504689"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000" i="1" smtClean="0">
                                <a:latin typeface="Cambria Math" panose="02040503050406030204" pitchFamily="18" charset="0"/>
                              </a:rPr>
                            </m:ctrlPr>
                          </m:sSubPr>
                          <m:e>
                            <m:r>
                              <a:rPr lang="en-US" sz="2000" i="1">
                                <a:latin typeface="Cambria Math" panose="02040503050406030204" pitchFamily="18" charset="0"/>
                              </a:rPr>
                              <m:t>𝑎</m:t>
                            </m:r>
                          </m:e>
                          <m:sub>
                            <m:r>
                              <a:rPr lang="en-US" sz="2000" b="0" i="1" smtClean="0">
                                <a:latin typeface="Cambria Math" panose="02040503050406030204" pitchFamily="18" charset="0"/>
                              </a:rPr>
                              <m:t>3</m:t>
                            </m:r>
                          </m:sub>
                        </m:sSub>
                      </m:oMath>
                    </m:oMathPara>
                  </a14:m>
                  <a:endParaRPr lang="en-US" sz="2000" dirty="0"/>
                </a:p>
              </p:txBody>
            </p:sp>
          </mc:Choice>
          <mc:Fallback xmlns="">
            <p:sp>
              <p:nvSpPr>
                <p:cNvPr id="105" name="Rectangle 104">
                  <a:extLst>
                    <a:ext uri="{FF2B5EF4-FFF2-40B4-BE49-F238E27FC236}">
                      <a16:creationId xmlns:a16="http://schemas.microsoft.com/office/drawing/2014/main" id="{00EC5903-610F-1440-8032-D098D7EADA39}"/>
                    </a:ext>
                  </a:extLst>
                </p:cNvPr>
                <p:cNvSpPr>
                  <a:spLocks noRot="1" noChangeAspect="1" noMove="1" noResize="1" noEditPoints="1" noAdjustHandles="1" noChangeArrowheads="1" noChangeShapeType="1" noTextEdit="1"/>
                </p:cNvSpPr>
                <p:nvPr/>
              </p:nvSpPr>
              <p:spPr>
                <a:xfrm>
                  <a:off x="5422857" y="2378957"/>
                  <a:ext cx="504689" cy="400110"/>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8" name="Rectangle 107">
                  <a:extLst>
                    <a:ext uri="{FF2B5EF4-FFF2-40B4-BE49-F238E27FC236}">
                      <a16:creationId xmlns:a16="http://schemas.microsoft.com/office/drawing/2014/main" id="{81BC87CD-F27C-1C42-8236-39AF4785D9C3}"/>
                    </a:ext>
                  </a:extLst>
                </p:cNvPr>
                <p:cNvSpPr/>
                <p:nvPr/>
              </p:nvSpPr>
              <p:spPr>
                <a:xfrm>
                  <a:off x="6205482" y="2522065"/>
                  <a:ext cx="1156983" cy="369332"/>
                </a:xfrm>
                <a:prstGeom prst="rect">
                  <a:avLst/>
                </a:prstGeom>
              </p:spPr>
              <p:txBody>
                <a:bodyPr wrap="none">
                  <a:spAutoFit/>
                </a:bodyPr>
                <a:lstStyle/>
                <a:p>
                  <a14:m>
                    <m:oMath xmlns:m="http://schemas.openxmlformats.org/officeDocument/2006/math">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2</m:t>
                          </m:r>
                        </m:sub>
                      </m:sSub>
                      <m:r>
                        <a:rPr lang="en-US" b="0" i="1" smtClean="0">
                          <a:latin typeface="Cambria Math" panose="02040503050406030204" pitchFamily="18" charset="0"/>
                        </a:rPr>
                        <m:t> </m:t>
                      </m:r>
                      <m:sSub>
                        <m:sSubPr>
                          <m:ctrlPr>
                            <a:rPr lang="en-US" i="1" smtClean="0">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3</m:t>
                          </m:r>
                        </m:sub>
                      </m:sSub>
                    </m:oMath>
                  </a14:m>
                  <a:r>
                    <a:rPr lang="en-US" dirty="0"/>
                    <a:t>)</a:t>
                  </a:r>
                </a:p>
              </p:txBody>
            </p:sp>
          </mc:Choice>
          <mc:Fallback xmlns="">
            <p:sp>
              <p:nvSpPr>
                <p:cNvPr id="108" name="Rectangle 107">
                  <a:extLst>
                    <a:ext uri="{FF2B5EF4-FFF2-40B4-BE49-F238E27FC236}">
                      <a16:creationId xmlns:a16="http://schemas.microsoft.com/office/drawing/2014/main" id="{81BC87CD-F27C-1C42-8236-39AF4785D9C3}"/>
                    </a:ext>
                  </a:extLst>
                </p:cNvPr>
                <p:cNvSpPr>
                  <a:spLocks noRot="1" noChangeAspect="1" noMove="1" noResize="1" noEditPoints="1" noAdjustHandles="1" noChangeArrowheads="1" noChangeShapeType="1" noTextEdit="1"/>
                </p:cNvSpPr>
                <p:nvPr/>
              </p:nvSpPr>
              <p:spPr>
                <a:xfrm>
                  <a:off x="6205482" y="2522065"/>
                  <a:ext cx="1156983" cy="369332"/>
                </a:xfrm>
                <a:prstGeom prst="rect">
                  <a:avLst/>
                </a:prstGeom>
                <a:blipFill>
                  <a:blip r:embed="rId19"/>
                  <a:stretch>
                    <a:fillRect l="-1087" t="-6667" r="-2174" b="-23333"/>
                  </a:stretch>
                </a:blipFill>
              </p:spPr>
              <p:txBody>
                <a:bodyPr/>
                <a:lstStyle/>
                <a:p>
                  <a:r>
                    <a:rPr lang="en-US">
                      <a:noFill/>
                    </a:rPr>
                    <a:t> </a:t>
                  </a:r>
                </a:p>
              </p:txBody>
            </p:sp>
          </mc:Fallback>
        </mc:AlternateContent>
        <p:cxnSp>
          <p:nvCxnSpPr>
            <p:cNvPr id="111" name="Straight Arrow Connector 110">
              <a:extLst>
                <a:ext uri="{FF2B5EF4-FFF2-40B4-BE49-F238E27FC236}">
                  <a16:creationId xmlns:a16="http://schemas.microsoft.com/office/drawing/2014/main" id="{188EFEDC-71CF-2A4A-A929-E452A0071F5D}"/>
                </a:ext>
              </a:extLst>
            </p:cNvPr>
            <p:cNvCxnSpPr>
              <a:cxnSpLocks/>
            </p:cNvCxnSpPr>
            <p:nvPr/>
          </p:nvCxnSpPr>
          <p:spPr>
            <a:xfrm flipH="1">
              <a:off x="5860040" y="3398066"/>
              <a:ext cx="703662" cy="368764"/>
            </a:xfrm>
            <a:prstGeom prst="straightConnector1">
              <a:avLst/>
            </a:prstGeom>
            <a:ln>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02896DC2-B396-AF4C-977E-58ACDDC8F34E}"/>
                </a:ext>
              </a:extLst>
            </p:cNvPr>
            <p:cNvSpPr txBox="1"/>
            <p:nvPr/>
          </p:nvSpPr>
          <p:spPr>
            <a:xfrm>
              <a:off x="4727503" y="1673493"/>
              <a:ext cx="2785121" cy="461665"/>
            </a:xfrm>
            <a:prstGeom prst="rect">
              <a:avLst/>
            </a:prstGeom>
            <a:solidFill>
              <a:schemeClr val="accent4">
                <a:lumMod val="20000"/>
                <a:lumOff val="80000"/>
              </a:schemeClr>
            </a:solidFill>
          </p:spPr>
          <p:txBody>
            <a:bodyPr wrap="none" rtlCol="0">
              <a:spAutoFit/>
            </a:bodyPr>
            <a:lstStyle/>
            <a:p>
              <a:r>
                <a:rPr lang="en-US" sz="2400" dirty="0">
                  <a:latin typeface="+mj-lt"/>
                </a:rPr>
                <a:t>3-dimensional vector</a:t>
              </a:r>
            </a:p>
          </p:txBody>
        </p:sp>
      </p:grpSp>
      <p:grpSp>
        <p:nvGrpSpPr>
          <p:cNvPr id="21" name="Group 20">
            <a:extLst>
              <a:ext uri="{FF2B5EF4-FFF2-40B4-BE49-F238E27FC236}">
                <a16:creationId xmlns:a16="http://schemas.microsoft.com/office/drawing/2014/main" id="{ED68CF10-8CE5-F040-AE97-8DBE97F43A0D}"/>
              </a:ext>
            </a:extLst>
          </p:cNvPr>
          <p:cNvGrpSpPr/>
          <p:nvPr/>
        </p:nvGrpSpPr>
        <p:grpSpPr>
          <a:xfrm>
            <a:off x="7813107" y="1752891"/>
            <a:ext cx="5109882" cy="2762295"/>
            <a:chOff x="7813107" y="1752891"/>
            <a:chExt cx="5109882" cy="2762295"/>
          </a:xfrm>
        </p:grpSpPr>
        <mc:AlternateContent xmlns:mc="http://schemas.openxmlformats.org/markup-compatibility/2006" xmlns:a14="http://schemas.microsoft.com/office/drawing/2010/main">
          <mc:Choice Requires="a14">
            <p:sp>
              <p:nvSpPr>
                <p:cNvPr id="98" name="Rectangle 97">
                  <a:extLst>
                    <a:ext uri="{FF2B5EF4-FFF2-40B4-BE49-F238E27FC236}">
                      <a16:creationId xmlns:a16="http://schemas.microsoft.com/office/drawing/2014/main" id="{A56F2881-846F-A34C-B0D3-CC9EC91ABBC9}"/>
                    </a:ext>
                  </a:extLst>
                </p:cNvPr>
                <p:cNvSpPr/>
                <p:nvPr/>
              </p:nvSpPr>
              <p:spPr>
                <a:xfrm>
                  <a:off x="7813107" y="2673913"/>
                  <a:ext cx="5109882" cy="1841273"/>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i="1">
                                <a:latin typeface="Cambria Math" panose="02040503050406030204" pitchFamily="18" charset="0"/>
                                <a:ea typeface="Times New Roman" panose="02020603050405020304" pitchFamily="18" charset="0"/>
                                <a:cs typeface="Times New Roman" panose="02020603050405020304" pitchFamily="18" charset="0"/>
                              </a:rPr>
                              <m:t>𝑣</m:t>
                            </m:r>
                          </m:e>
                        </m:d>
                        <m:r>
                          <a:rPr lang="en-US" sz="2400" i="1">
                            <a:solidFill>
                              <a:schemeClr val="tx1"/>
                            </a:solidFill>
                            <a:latin typeface="Cambria Math" panose="02040503050406030204" pitchFamily="18" charset="0"/>
                          </a:rPr>
                          <m:t>=</m:t>
                        </m:r>
                        <m:d>
                          <m:dPr>
                            <m:ctrlPr>
                              <a:rPr lang="en-US" sz="2400" i="1">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𝑎</m:t>
                                </m:r>
                              </m:e>
                              <m:sub>
                                <m:r>
                                  <a:rPr lang="en-US" sz="2400" i="1">
                                    <a:solidFill>
                                      <a:schemeClr val="tx1"/>
                                    </a:solidFill>
                                    <a:latin typeface="Cambria Math" panose="02040503050406030204" pitchFamily="18" charset="0"/>
                                  </a:rPr>
                                  <m:t>1</m:t>
                                </m:r>
                              </m:sub>
                            </m:sSub>
                            <m:r>
                              <a:rPr lang="sr-Latn-RS" sz="2400" b="0" i="1" smtClean="0">
                                <a:solidFill>
                                  <a:schemeClr val="tx1"/>
                                </a:solidFill>
                                <a:latin typeface="Cambria Math" panose="02040503050406030204" pitchFamily="18" charset="0"/>
                              </a:rPr>
                              <m:t>  </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𝑎</m:t>
                                </m:r>
                              </m:e>
                              <m:sub>
                                <m:r>
                                  <a:rPr lang="en-US" sz="2400" i="1">
                                    <a:solidFill>
                                      <a:schemeClr val="tx1"/>
                                    </a:solidFill>
                                    <a:latin typeface="Cambria Math" panose="02040503050406030204" pitchFamily="18" charset="0"/>
                                  </a:rPr>
                                  <m:t>2</m:t>
                                </m:r>
                              </m:sub>
                            </m:sSub>
                            <m:r>
                              <a:rPr lang="en-US" sz="2400" i="1">
                                <a:solidFill>
                                  <a:schemeClr val="tx1"/>
                                </a:solidFill>
                                <a:latin typeface="Cambria Math" panose="02040503050406030204" pitchFamily="18" charset="0"/>
                                <a:ea typeface="Cambria Math" panose="02040503050406030204" pitchFamily="18" charset="0"/>
                              </a:rPr>
                              <m:t>⋯</m:t>
                            </m:r>
                            <m:r>
                              <a:rPr lang="sr-Latn-RS" sz="2400" b="0" i="1" smtClean="0">
                                <a:solidFill>
                                  <a:schemeClr val="tx1"/>
                                </a:solidFill>
                                <a:latin typeface="Cambria Math" panose="02040503050406030204" pitchFamily="18" charset="0"/>
                                <a:ea typeface="Cambria Math" panose="02040503050406030204" pitchFamily="18" charset="0"/>
                              </a:rPr>
                              <m:t> </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𝑎</m:t>
                                </m:r>
                              </m:e>
                              <m:sub>
                                <m:r>
                                  <a:rPr lang="en-US" sz="2400" i="1">
                                    <a:solidFill>
                                      <a:schemeClr val="tx1"/>
                                    </a:solidFill>
                                    <a:latin typeface="Cambria Math" panose="02040503050406030204" pitchFamily="18" charset="0"/>
                                  </a:rPr>
                                  <m:t>𝑛</m:t>
                                </m:r>
                              </m:sub>
                            </m:sSub>
                          </m:e>
                        </m:d>
                      </m:oMath>
                    </m:oMathPara>
                  </a14:m>
                  <a:endParaRPr lang="en-US" sz="24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i="1">
                                <a:latin typeface="Cambria Math" panose="02040503050406030204" pitchFamily="18" charset="0"/>
                                <a:ea typeface="Times New Roman" panose="02020603050405020304" pitchFamily="18" charset="0"/>
                                <a:cs typeface="Times New Roman" panose="02020603050405020304" pitchFamily="18" charset="0"/>
                              </a:rPr>
                              <m:t>𝑣</m:t>
                            </m:r>
                          </m:e>
                        </m:d>
                        <m:r>
                          <a:rPr lang="en-US" sz="2400" b="1" i="1">
                            <a:solidFill>
                              <a:schemeClr val="tx1"/>
                            </a:solidFill>
                            <a:latin typeface="Cambria Math" panose="02040503050406030204" pitchFamily="18" charset="0"/>
                          </a:rPr>
                          <m:t>=</m:t>
                        </m:r>
                        <m:d>
                          <m:dPr>
                            <m:ctrlPr>
                              <a:rPr lang="en-US" sz="2400" b="1" i="1">
                                <a:solidFill>
                                  <a:schemeClr val="tx1"/>
                                </a:solidFill>
                                <a:latin typeface="Cambria Math" panose="02040503050406030204" pitchFamily="18" charset="0"/>
                              </a:rPr>
                            </m:ctrlPr>
                          </m:dPr>
                          <m:e>
                            <m:m>
                              <m:mPr>
                                <m:mcs>
                                  <m:mc>
                                    <m:mcPr>
                                      <m:count m:val="1"/>
                                      <m:mcJc m:val="center"/>
                                    </m:mcPr>
                                  </m:mc>
                                </m:mcs>
                                <m:ctrlPr>
                                  <a:rPr lang="en-US" sz="2400" b="1" i="1">
                                    <a:solidFill>
                                      <a:schemeClr val="tx1"/>
                                    </a:solidFill>
                                    <a:latin typeface="Cambria Math" panose="02040503050406030204" pitchFamily="18" charset="0"/>
                                  </a:rPr>
                                </m:ctrlPr>
                              </m:mPr>
                              <m:m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𝑎</m:t>
                                      </m:r>
                                    </m:e>
                                    <m:sub>
                                      <m:r>
                                        <a:rPr lang="en-US" sz="2400" i="1">
                                          <a:solidFill>
                                            <a:schemeClr val="tx1"/>
                                          </a:solidFill>
                                          <a:latin typeface="Cambria Math" panose="02040503050406030204" pitchFamily="18" charset="0"/>
                                        </a:rPr>
                                        <m:t>1</m:t>
                                      </m:r>
                                    </m:sub>
                                  </m:sSub>
                                </m:e>
                              </m:mr>
                              <m:m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𝑎</m:t>
                                      </m:r>
                                    </m:e>
                                    <m:sub>
                                      <m:r>
                                        <a:rPr lang="en-US" sz="2400" i="1">
                                          <a:solidFill>
                                            <a:schemeClr val="tx1"/>
                                          </a:solidFill>
                                          <a:latin typeface="Cambria Math" panose="02040503050406030204" pitchFamily="18" charset="0"/>
                                        </a:rPr>
                                        <m:t>2</m:t>
                                      </m:r>
                                    </m:sub>
                                  </m:sSub>
                                </m:e>
                              </m:mr>
                              <m:mr>
                                <m:e>
                                  <m:r>
                                    <a:rPr lang="en-US" sz="2400" b="1" i="1">
                                      <a:solidFill>
                                        <a:schemeClr val="tx1"/>
                                      </a:solidFill>
                                      <a:latin typeface="Cambria Math" panose="02040503050406030204" pitchFamily="18" charset="0"/>
                                    </a:rPr>
                                    <m:t>⋮</m:t>
                                  </m:r>
                                </m:e>
                              </m:mr>
                              <m:m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𝑎</m:t>
                                      </m:r>
                                    </m:e>
                                    <m:sub>
                                      <m:r>
                                        <a:rPr lang="en-US" sz="2400" i="1">
                                          <a:solidFill>
                                            <a:schemeClr val="tx1"/>
                                          </a:solidFill>
                                          <a:latin typeface="Cambria Math" panose="02040503050406030204" pitchFamily="18" charset="0"/>
                                        </a:rPr>
                                        <m:t>𝑛</m:t>
                                      </m:r>
                                    </m:sub>
                                  </m:sSub>
                                </m:e>
                              </m:mr>
                            </m:m>
                          </m:e>
                        </m:d>
                      </m:oMath>
                    </m:oMathPara>
                  </a14:m>
                  <a:endParaRPr lang="en-US" sz="2400" dirty="0">
                    <a:solidFill>
                      <a:schemeClr val="tx1"/>
                    </a:solidFill>
                  </a:endParaRPr>
                </a:p>
              </p:txBody>
            </p:sp>
          </mc:Choice>
          <mc:Fallback xmlns="">
            <p:sp>
              <p:nvSpPr>
                <p:cNvPr id="98" name="Rectangle 97">
                  <a:extLst>
                    <a:ext uri="{FF2B5EF4-FFF2-40B4-BE49-F238E27FC236}">
                      <a16:creationId xmlns:a16="http://schemas.microsoft.com/office/drawing/2014/main" id="{A56F2881-846F-A34C-B0D3-CC9EC91ABBC9}"/>
                    </a:ext>
                  </a:extLst>
                </p:cNvPr>
                <p:cNvSpPr>
                  <a:spLocks noRot="1" noChangeAspect="1" noMove="1" noResize="1" noEditPoints="1" noAdjustHandles="1" noChangeArrowheads="1" noChangeShapeType="1" noTextEdit="1"/>
                </p:cNvSpPr>
                <p:nvPr/>
              </p:nvSpPr>
              <p:spPr>
                <a:xfrm>
                  <a:off x="7813107" y="2673913"/>
                  <a:ext cx="5109882" cy="1841273"/>
                </a:xfrm>
                <a:prstGeom prst="rect">
                  <a:avLst/>
                </a:prstGeom>
                <a:blipFill>
                  <a:blip r:embed="rId20"/>
                  <a:stretch>
                    <a:fillRect/>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7BEAED1C-6546-8A48-985C-B1677B3DA12D}"/>
                </a:ext>
              </a:extLst>
            </p:cNvPr>
            <p:cNvSpPr txBox="1"/>
            <p:nvPr/>
          </p:nvSpPr>
          <p:spPr>
            <a:xfrm>
              <a:off x="9023704" y="1752891"/>
              <a:ext cx="2789931" cy="461665"/>
            </a:xfrm>
            <a:prstGeom prst="rect">
              <a:avLst/>
            </a:prstGeom>
            <a:solidFill>
              <a:schemeClr val="accent4">
                <a:lumMod val="20000"/>
                <a:lumOff val="80000"/>
              </a:schemeClr>
            </a:solidFill>
          </p:spPr>
          <p:txBody>
            <a:bodyPr wrap="none" rtlCol="0">
              <a:spAutoFit/>
            </a:bodyPr>
            <a:lstStyle/>
            <a:p>
              <a:r>
                <a:rPr lang="en-US" sz="2400" dirty="0">
                  <a:latin typeface="+mj-lt"/>
                </a:rPr>
                <a:t>n-dimensional vector</a:t>
              </a:r>
            </a:p>
          </p:txBody>
        </p:sp>
      </p:grpSp>
      <p:grpSp>
        <p:nvGrpSpPr>
          <p:cNvPr id="22" name="Group 21">
            <a:extLst>
              <a:ext uri="{FF2B5EF4-FFF2-40B4-BE49-F238E27FC236}">
                <a16:creationId xmlns:a16="http://schemas.microsoft.com/office/drawing/2014/main" id="{137AEBEB-2C59-5F42-8B0B-82F63CE49236}"/>
              </a:ext>
            </a:extLst>
          </p:cNvPr>
          <p:cNvGrpSpPr/>
          <p:nvPr/>
        </p:nvGrpSpPr>
        <p:grpSpPr>
          <a:xfrm>
            <a:off x="229286" y="4990227"/>
            <a:ext cx="11639480" cy="1016711"/>
            <a:chOff x="229286" y="4990227"/>
            <a:chExt cx="11639480" cy="1016711"/>
          </a:xfrm>
        </p:grpSpPr>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57F2B4F5-6BBA-5344-9D62-F6699BD0CB40}"/>
                    </a:ext>
                  </a:extLst>
                </p:cNvPr>
                <p:cNvSpPr/>
                <p:nvPr/>
              </p:nvSpPr>
              <p:spPr>
                <a:xfrm>
                  <a:off x="4727503" y="5288280"/>
                  <a:ext cx="2606418" cy="7186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b="1" i="1">
                                <a:latin typeface="Cambria Math" panose="02040503050406030204" pitchFamily="18" charset="0"/>
                              </a:rPr>
                            </m:ctrlPr>
                          </m:dPr>
                          <m:e>
                            <m:r>
                              <a:rPr lang="en-US" sz="2000" b="0" i="1">
                                <a:latin typeface="Cambria Math" panose="02040503050406030204" pitchFamily="18" charset="0"/>
                              </a:rPr>
                              <m:t>𝑣</m:t>
                            </m:r>
                          </m:e>
                        </m:d>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sSubSup>
                              <m:sSubSupPr>
                                <m:ctrlPr>
                                  <a:rPr lang="en-US" sz="2000" i="1">
                                    <a:latin typeface="Cambria Math" panose="02040503050406030204" pitchFamily="18" charset="0"/>
                                  </a:rPr>
                                </m:ctrlPr>
                              </m:sSubSupPr>
                              <m:e>
                                <m:r>
                                  <a:rPr lang="en-US" sz="2000" i="1">
                                    <a:latin typeface="Cambria Math" panose="02040503050406030204" pitchFamily="18" charset="0"/>
                                  </a:rPr>
                                  <m:t>𝑎</m:t>
                                </m:r>
                              </m:e>
                              <m:sub>
                                <m:r>
                                  <a:rPr lang="en-US" sz="2000" i="1">
                                    <a:latin typeface="Cambria Math" panose="02040503050406030204" pitchFamily="18" charset="0"/>
                                  </a:rPr>
                                  <m:t>1</m:t>
                                </m:r>
                              </m:sub>
                              <m:sup>
                                <m:r>
                                  <a:rPr lang="en-US" sz="2000" i="1">
                                    <a:latin typeface="Cambria Math" panose="02040503050406030204" pitchFamily="18" charset="0"/>
                                  </a:rPr>
                                  <m:t>2</m:t>
                                </m:r>
                              </m:sup>
                            </m:sSubSup>
                            <m:r>
                              <a:rPr lang="en-US" sz="2000" i="1">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rPr>
                                  <m:t>𝑎</m:t>
                                </m:r>
                              </m:e>
                              <m:sub>
                                <m:r>
                                  <a:rPr lang="en-US" sz="2000" i="1">
                                    <a:latin typeface="Cambria Math" panose="02040503050406030204" pitchFamily="18" charset="0"/>
                                  </a:rPr>
                                  <m:t>2</m:t>
                                </m:r>
                              </m:sub>
                              <m:sup>
                                <m:r>
                                  <a:rPr lang="en-US" sz="2000" i="1">
                                    <a:latin typeface="Cambria Math" panose="02040503050406030204" pitchFamily="18" charset="0"/>
                                  </a:rPr>
                                  <m:t>2</m:t>
                                </m:r>
                              </m:sup>
                            </m:sSubSup>
                            <m:r>
                              <a:rPr lang="en-US" sz="2000" i="1">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rPr>
                                  <m:t>𝑎</m:t>
                                </m:r>
                              </m:e>
                              <m:sub>
                                <m:r>
                                  <a:rPr lang="sr-Latn-RS" sz="2000" i="1">
                                    <a:latin typeface="Cambria Math" panose="02040503050406030204" pitchFamily="18" charset="0"/>
                                  </a:rPr>
                                  <m:t>3</m:t>
                                </m:r>
                              </m:sub>
                              <m:sup>
                                <m:r>
                                  <a:rPr lang="en-US" sz="2000" i="1">
                                    <a:latin typeface="Cambria Math" panose="02040503050406030204" pitchFamily="18" charset="0"/>
                                  </a:rPr>
                                  <m:t>2</m:t>
                                </m:r>
                              </m:sup>
                            </m:sSubSup>
                          </m:e>
                        </m:rad>
                      </m:oMath>
                    </m:oMathPara>
                  </a14:m>
                  <a:endParaRPr lang="en-US" sz="2000" dirty="0"/>
                </a:p>
              </p:txBody>
            </p:sp>
          </mc:Choice>
          <mc:Fallback xmlns="">
            <p:sp>
              <p:nvSpPr>
                <p:cNvPr id="16" name="Rectangle 15">
                  <a:extLst>
                    <a:ext uri="{FF2B5EF4-FFF2-40B4-BE49-F238E27FC236}">
                      <a16:creationId xmlns:a16="http://schemas.microsoft.com/office/drawing/2014/main" id="{57F2B4F5-6BBA-5344-9D62-F6699BD0CB40}"/>
                    </a:ext>
                  </a:extLst>
                </p:cNvPr>
                <p:cNvSpPr>
                  <a:spLocks noRot="1" noChangeAspect="1" noMove="1" noResize="1" noEditPoints="1" noAdjustHandles="1" noChangeArrowheads="1" noChangeShapeType="1" noTextEdit="1"/>
                </p:cNvSpPr>
                <p:nvPr/>
              </p:nvSpPr>
              <p:spPr>
                <a:xfrm>
                  <a:off x="4727503" y="5288280"/>
                  <a:ext cx="2606418" cy="718658"/>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B51BDD38-2144-A642-A881-A5BB8821256E}"/>
                    </a:ext>
                  </a:extLst>
                </p:cNvPr>
                <p:cNvSpPr/>
                <p:nvPr/>
              </p:nvSpPr>
              <p:spPr>
                <a:xfrm>
                  <a:off x="871437" y="5288280"/>
                  <a:ext cx="2084352" cy="7186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b="1" i="1" smtClean="0">
                                <a:latin typeface="Cambria Math" panose="02040503050406030204" pitchFamily="18" charset="0"/>
                              </a:rPr>
                            </m:ctrlPr>
                          </m:dPr>
                          <m:e>
                            <m:r>
                              <a:rPr lang="en-US" sz="2000" b="0" i="1" smtClean="0">
                                <a:latin typeface="Cambria Math" panose="02040503050406030204" pitchFamily="18" charset="0"/>
                              </a:rPr>
                              <m:t>𝑣</m:t>
                            </m:r>
                          </m:e>
                        </m:d>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sSubSup>
                              <m:sSubSupPr>
                                <m:ctrlPr>
                                  <a:rPr lang="en-US" sz="2000" i="1">
                                    <a:latin typeface="Cambria Math" panose="02040503050406030204" pitchFamily="18" charset="0"/>
                                  </a:rPr>
                                </m:ctrlPr>
                              </m:sSubSupPr>
                              <m:e>
                                <m:r>
                                  <a:rPr lang="en-US" sz="2000" i="1">
                                    <a:latin typeface="Cambria Math" panose="02040503050406030204" pitchFamily="18" charset="0"/>
                                  </a:rPr>
                                  <m:t>𝑎</m:t>
                                </m:r>
                              </m:e>
                              <m:sub>
                                <m:r>
                                  <a:rPr lang="en-US" sz="2000" i="1">
                                    <a:latin typeface="Cambria Math" panose="02040503050406030204" pitchFamily="18" charset="0"/>
                                  </a:rPr>
                                  <m:t>1</m:t>
                                </m:r>
                              </m:sub>
                              <m:sup>
                                <m:r>
                                  <a:rPr lang="en-US" sz="2000" i="1">
                                    <a:latin typeface="Cambria Math" panose="02040503050406030204" pitchFamily="18" charset="0"/>
                                  </a:rPr>
                                  <m:t>2</m:t>
                                </m:r>
                              </m:sup>
                            </m:sSubSup>
                            <m:r>
                              <a:rPr lang="en-US" sz="2000" i="1">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rPr>
                                  <m:t>𝑎</m:t>
                                </m:r>
                              </m:e>
                              <m:sub>
                                <m:r>
                                  <a:rPr lang="en-US" sz="2000" i="1">
                                    <a:latin typeface="Cambria Math" panose="02040503050406030204" pitchFamily="18" charset="0"/>
                                  </a:rPr>
                                  <m:t>2</m:t>
                                </m:r>
                              </m:sub>
                              <m:sup>
                                <m:r>
                                  <a:rPr lang="en-US" sz="2000" i="1">
                                    <a:latin typeface="Cambria Math" panose="02040503050406030204" pitchFamily="18" charset="0"/>
                                  </a:rPr>
                                  <m:t>2</m:t>
                                </m:r>
                              </m:sup>
                            </m:sSubSup>
                          </m:e>
                        </m:rad>
                      </m:oMath>
                    </m:oMathPara>
                  </a14:m>
                  <a:endParaRPr lang="en-US" sz="2000" dirty="0"/>
                </a:p>
              </p:txBody>
            </p:sp>
          </mc:Choice>
          <mc:Fallback xmlns="">
            <p:sp>
              <p:nvSpPr>
                <p:cNvPr id="17" name="Rectangle 16">
                  <a:extLst>
                    <a:ext uri="{FF2B5EF4-FFF2-40B4-BE49-F238E27FC236}">
                      <a16:creationId xmlns:a16="http://schemas.microsoft.com/office/drawing/2014/main" id="{B51BDD38-2144-A642-A881-A5BB8821256E}"/>
                    </a:ext>
                  </a:extLst>
                </p:cNvPr>
                <p:cNvSpPr>
                  <a:spLocks noRot="1" noChangeAspect="1" noMove="1" noResize="1" noEditPoints="1" noAdjustHandles="1" noChangeArrowheads="1" noChangeShapeType="1" noTextEdit="1"/>
                </p:cNvSpPr>
                <p:nvPr/>
              </p:nvSpPr>
              <p:spPr>
                <a:xfrm>
                  <a:off x="871437" y="5288280"/>
                  <a:ext cx="2084352" cy="718658"/>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47E9D658-476F-D541-B472-452CB57F664C}"/>
                    </a:ext>
                  </a:extLst>
                </p:cNvPr>
                <p:cNvSpPr/>
                <p:nvPr/>
              </p:nvSpPr>
              <p:spPr>
                <a:xfrm>
                  <a:off x="8901543" y="5288280"/>
                  <a:ext cx="2967223" cy="71865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b="1" i="1">
                                <a:latin typeface="Cambria Math" panose="02040503050406030204" pitchFamily="18" charset="0"/>
                              </a:rPr>
                            </m:ctrlPr>
                          </m:dPr>
                          <m:e>
                            <m:r>
                              <a:rPr lang="en-US" sz="2000" b="0" i="1">
                                <a:latin typeface="Cambria Math" panose="02040503050406030204" pitchFamily="18" charset="0"/>
                              </a:rPr>
                              <m:t>𝑣</m:t>
                            </m:r>
                          </m:e>
                        </m:d>
                        <m:r>
                          <a:rPr lang="en-US" sz="2000" i="1">
                            <a:latin typeface="Cambria Math" panose="02040503050406030204" pitchFamily="18" charset="0"/>
                          </a:rPr>
                          <m:t>=</m:t>
                        </m:r>
                        <m:rad>
                          <m:radPr>
                            <m:degHide m:val="on"/>
                            <m:ctrlPr>
                              <a:rPr lang="en-US" sz="2000" i="1">
                                <a:latin typeface="Cambria Math" panose="02040503050406030204" pitchFamily="18" charset="0"/>
                              </a:rPr>
                            </m:ctrlPr>
                          </m:radPr>
                          <m:deg/>
                          <m:e>
                            <m:sSubSup>
                              <m:sSubSupPr>
                                <m:ctrlPr>
                                  <a:rPr lang="en-US" sz="2000" i="1">
                                    <a:latin typeface="Cambria Math" panose="02040503050406030204" pitchFamily="18" charset="0"/>
                                  </a:rPr>
                                </m:ctrlPr>
                              </m:sSubSupPr>
                              <m:e>
                                <m:r>
                                  <a:rPr lang="en-US" sz="2000" i="1">
                                    <a:latin typeface="Cambria Math" panose="02040503050406030204" pitchFamily="18" charset="0"/>
                                  </a:rPr>
                                  <m:t>𝑎</m:t>
                                </m:r>
                              </m:e>
                              <m:sub>
                                <m:r>
                                  <a:rPr lang="en-US" sz="2000" i="1">
                                    <a:latin typeface="Cambria Math" panose="02040503050406030204" pitchFamily="18" charset="0"/>
                                  </a:rPr>
                                  <m:t>1</m:t>
                                </m:r>
                              </m:sub>
                              <m:sup>
                                <m:r>
                                  <a:rPr lang="en-US" sz="2000" i="1">
                                    <a:latin typeface="Cambria Math" panose="02040503050406030204" pitchFamily="18" charset="0"/>
                                  </a:rPr>
                                  <m:t>2</m:t>
                                </m:r>
                              </m:sup>
                            </m:sSubSup>
                            <m:r>
                              <a:rPr lang="en-US" sz="2000" i="1">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rPr>
                                  <m:t>𝑎</m:t>
                                </m:r>
                              </m:e>
                              <m:sub>
                                <m:r>
                                  <a:rPr lang="en-US" sz="2000" i="1">
                                    <a:latin typeface="Cambria Math" panose="02040503050406030204" pitchFamily="18" charset="0"/>
                                  </a:rPr>
                                  <m:t>2</m:t>
                                </m:r>
                              </m:sub>
                              <m:sup>
                                <m:r>
                                  <a:rPr lang="en-US" sz="2000" i="1">
                                    <a:latin typeface="Cambria Math" panose="02040503050406030204" pitchFamily="18" charset="0"/>
                                  </a:rPr>
                                  <m:t>2</m:t>
                                </m:r>
                              </m:sup>
                            </m:sSubSup>
                            <m:r>
                              <a:rPr lang="en-US" sz="2000" i="1">
                                <a:latin typeface="Cambria Math" panose="02040503050406030204" pitchFamily="18" charset="0"/>
                              </a:rPr>
                              <m:t>+</m:t>
                            </m:r>
                            <m:r>
                              <a:rPr lang="en-US" sz="2000" i="1">
                                <a:latin typeface="Cambria Math" panose="02040503050406030204" pitchFamily="18" charset="0"/>
                                <a:ea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rPr>
                                  <m:t>𝑎</m:t>
                                </m:r>
                              </m:e>
                              <m:sub>
                                <m:r>
                                  <a:rPr lang="en-US" sz="2000" i="1">
                                    <a:latin typeface="Cambria Math" panose="02040503050406030204" pitchFamily="18" charset="0"/>
                                  </a:rPr>
                                  <m:t>𝑛</m:t>
                                </m:r>
                              </m:sub>
                              <m:sup>
                                <m:r>
                                  <a:rPr lang="en-US" sz="2000" i="1">
                                    <a:latin typeface="Cambria Math" panose="02040503050406030204" pitchFamily="18" charset="0"/>
                                  </a:rPr>
                                  <m:t>2</m:t>
                                </m:r>
                              </m:sup>
                            </m:sSubSup>
                          </m:e>
                        </m:rad>
                      </m:oMath>
                    </m:oMathPara>
                  </a14:m>
                  <a:endParaRPr lang="en-US" sz="2000" dirty="0"/>
                </a:p>
              </p:txBody>
            </p:sp>
          </mc:Choice>
          <mc:Fallback xmlns="">
            <p:sp>
              <p:nvSpPr>
                <p:cNvPr id="18" name="Rectangle 17">
                  <a:extLst>
                    <a:ext uri="{FF2B5EF4-FFF2-40B4-BE49-F238E27FC236}">
                      <a16:creationId xmlns:a16="http://schemas.microsoft.com/office/drawing/2014/main" id="{47E9D658-476F-D541-B472-452CB57F664C}"/>
                    </a:ext>
                  </a:extLst>
                </p:cNvPr>
                <p:cNvSpPr>
                  <a:spLocks noRot="1" noChangeAspect="1" noMove="1" noResize="1" noEditPoints="1" noAdjustHandles="1" noChangeArrowheads="1" noChangeShapeType="1" noTextEdit="1"/>
                </p:cNvSpPr>
                <p:nvPr/>
              </p:nvSpPr>
              <p:spPr>
                <a:xfrm>
                  <a:off x="8901543" y="5288280"/>
                  <a:ext cx="2967223" cy="718658"/>
                </a:xfrm>
                <a:prstGeom prst="rect">
                  <a:avLst/>
                </a:prstGeom>
                <a:blipFill>
                  <a:blip r:embed="rId23"/>
                  <a:stretch>
                    <a:fillRect/>
                  </a:stretch>
                </a:blipFill>
              </p:spPr>
              <p:txBody>
                <a:bodyPr/>
                <a:lstStyle/>
                <a:p>
                  <a:r>
                    <a:rPr lang="en-US">
                      <a:noFill/>
                    </a:rPr>
                    <a:t> </a:t>
                  </a:r>
                </a:p>
              </p:txBody>
            </p:sp>
          </mc:Fallback>
        </mc:AlternateContent>
        <p:sp>
          <p:nvSpPr>
            <p:cNvPr id="46" name="Rectangle 45">
              <a:extLst>
                <a:ext uri="{FF2B5EF4-FFF2-40B4-BE49-F238E27FC236}">
                  <a16:creationId xmlns:a16="http://schemas.microsoft.com/office/drawing/2014/main" id="{446971C2-499F-084B-9C1B-A555632F2521}"/>
                </a:ext>
              </a:extLst>
            </p:cNvPr>
            <p:cNvSpPr/>
            <p:nvPr/>
          </p:nvSpPr>
          <p:spPr>
            <a:xfrm>
              <a:off x="229286" y="4990227"/>
              <a:ext cx="949299" cy="400110"/>
            </a:xfrm>
            <a:prstGeom prst="rect">
              <a:avLst/>
            </a:prstGeom>
            <a:solidFill>
              <a:schemeClr val="accent4">
                <a:lumMod val="20000"/>
                <a:lumOff val="80000"/>
              </a:schemeClr>
            </a:solidFill>
          </p:spPr>
          <p:txBody>
            <a:bodyPr wrap="none">
              <a:spAutoFit/>
            </a:bodyPr>
            <a:lstStyle/>
            <a:p>
              <a:r>
                <a:rPr lang="en-US" sz="2000" dirty="0"/>
                <a:t>Norms:</a:t>
              </a:r>
            </a:p>
          </p:txBody>
        </p:sp>
      </p:grpSp>
      <p:sp>
        <p:nvSpPr>
          <p:cNvPr id="45" name="Slide Number Placeholder 1">
            <a:extLst>
              <a:ext uri="{FF2B5EF4-FFF2-40B4-BE49-F238E27FC236}">
                <a16:creationId xmlns:a16="http://schemas.microsoft.com/office/drawing/2014/main" id="{AEB590F6-FA4B-0140-A4D6-86024BBCC926}"/>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31</a:t>
            </a:fld>
            <a:endParaRPr lang="en-US"/>
          </a:p>
        </p:txBody>
      </p:sp>
    </p:spTree>
    <p:extLst>
      <p:ext uri="{BB962C8B-B14F-4D97-AF65-F5344CB8AC3E}">
        <p14:creationId xmlns:p14="http://schemas.microsoft.com/office/powerpoint/2010/main" val="4095117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dissolv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dissolve">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dissolve">
                                      <p:cBhvr>
                                        <p:cTn id="1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D81A3-6A97-D245-BB92-A9C46394D5FD}"/>
              </a:ext>
            </a:extLst>
          </p:cNvPr>
          <p:cNvSpPr>
            <a:spLocks noGrp="1"/>
          </p:cNvSpPr>
          <p:nvPr>
            <p:ph type="title"/>
          </p:nvPr>
        </p:nvSpPr>
        <p:spPr>
          <a:xfrm>
            <a:off x="0" y="0"/>
            <a:ext cx="12192000" cy="928688"/>
          </a:xfrm>
        </p:spPr>
        <p:txBody>
          <a:bodyPr/>
          <a:lstStyle/>
          <a:p>
            <a:r>
              <a:rPr lang="en-US" dirty="0"/>
              <a:t>Dirac / </a:t>
            </a:r>
            <a:r>
              <a:rPr lang="en-ZA" dirty="0"/>
              <a:t>bra c ket notation</a:t>
            </a:r>
            <a:endParaRPr lang="en-US" dirty="0"/>
          </a:p>
        </p:txBody>
      </p:sp>
      <p:sp>
        <p:nvSpPr>
          <p:cNvPr id="3" name="Slide Number Placeholder 2">
            <a:extLst>
              <a:ext uri="{FF2B5EF4-FFF2-40B4-BE49-F238E27FC236}">
                <a16:creationId xmlns:a16="http://schemas.microsoft.com/office/drawing/2014/main" id="{A6A2E66F-9B1F-414C-8CA9-E8DC5A059005}"/>
              </a:ext>
            </a:extLst>
          </p:cNvPr>
          <p:cNvSpPr>
            <a:spLocks noGrp="1"/>
          </p:cNvSpPr>
          <p:nvPr>
            <p:ph type="sldNum" sz="quarter" idx="12"/>
          </p:nvPr>
        </p:nvSpPr>
        <p:spPr/>
        <p:txBody>
          <a:bodyPr/>
          <a:lstStyle/>
          <a:p>
            <a:fld id="{591A223C-FA10-BC46-A853-03BA373D023C}" type="slidenum">
              <a:rPr lang="en-US" smtClean="0"/>
              <a:t>32</a:t>
            </a:fld>
            <a:endParaRPr lang="en-US"/>
          </a:p>
        </p:txBody>
      </p:sp>
      <p:sp>
        <p:nvSpPr>
          <p:cNvPr id="8" name="TextBox 7">
            <a:extLst>
              <a:ext uri="{FF2B5EF4-FFF2-40B4-BE49-F238E27FC236}">
                <a16:creationId xmlns:a16="http://schemas.microsoft.com/office/drawing/2014/main" id="{81501CB5-C9E7-3242-9702-C81BE11B1DBF}"/>
              </a:ext>
            </a:extLst>
          </p:cNvPr>
          <p:cNvSpPr txBox="1"/>
          <p:nvPr/>
        </p:nvSpPr>
        <p:spPr>
          <a:xfrm>
            <a:off x="1010412" y="5778830"/>
            <a:ext cx="3503844" cy="523220"/>
          </a:xfrm>
          <a:prstGeom prst="rect">
            <a:avLst/>
          </a:prstGeom>
          <a:noFill/>
        </p:spPr>
        <p:txBody>
          <a:bodyPr wrap="none" rtlCol="0">
            <a:spAutoFit/>
          </a:bodyPr>
          <a:lstStyle/>
          <a:p>
            <a:r>
              <a:rPr lang="en-ZA" sz="2800" dirty="0"/>
              <a:t>Paul Dirac (1902-1984)</a:t>
            </a:r>
            <a:endParaRPr lang="en-US" sz="2800" dirty="0"/>
          </a:p>
        </p:txBody>
      </p:sp>
      <p:cxnSp>
        <p:nvCxnSpPr>
          <p:cNvPr id="9" name="Straight Connector 8">
            <a:extLst>
              <a:ext uri="{FF2B5EF4-FFF2-40B4-BE49-F238E27FC236}">
                <a16:creationId xmlns:a16="http://schemas.microsoft.com/office/drawing/2014/main" id="{BE832726-434A-2643-8698-44590C30CB80}"/>
              </a:ext>
            </a:extLst>
          </p:cNvPr>
          <p:cNvCxnSpPr>
            <a:cxnSpLocks/>
          </p:cNvCxnSpPr>
          <p:nvPr/>
        </p:nvCxnSpPr>
        <p:spPr>
          <a:xfrm>
            <a:off x="1816624" y="464344"/>
            <a:ext cx="427812" cy="0"/>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D251EF14-4B96-5A48-999D-362194B30CAB}"/>
              </a:ext>
            </a:extLst>
          </p:cNvPr>
          <p:cNvPicPr>
            <a:picLocks noChangeAspect="1"/>
          </p:cNvPicPr>
          <p:nvPr/>
        </p:nvPicPr>
        <p:blipFill>
          <a:blip r:embed="rId3"/>
          <a:stretch>
            <a:fillRect/>
          </a:stretch>
        </p:blipFill>
        <p:spPr>
          <a:xfrm>
            <a:off x="1010412" y="1890578"/>
            <a:ext cx="3407131" cy="3882229"/>
          </a:xfrm>
          <a:prstGeom prst="rect">
            <a:avLst/>
          </a:prstGeom>
        </p:spPr>
      </p:pic>
      <p:pic>
        <p:nvPicPr>
          <p:cNvPr id="11" name="Picture 10">
            <a:extLst>
              <a:ext uri="{FF2B5EF4-FFF2-40B4-BE49-F238E27FC236}">
                <a16:creationId xmlns:a16="http://schemas.microsoft.com/office/drawing/2014/main" id="{813BDD77-8998-614C-AEFE-4DF921E4C454}"/>
              </a:ext>
            </a:extLst>
          </p:cNvPr>
          <p:cNvPicPr>
            <a:picLocks noChangeAspect="1"/>
          </p:cNvPicPr>
          <p:nvPr/>
        </p:nvPicPr>
        <p:blipFill>
          <a:blip r:embed="rId4"/>
          <a:stretch>
            <a:fillRect/>
          </a:stretch>
        </p:blipFill>
        <p:spPr>
          <a:xfrm>
            <a:off x="4514256" y="1866730"/>
            <a:ext cx="5948538" cy="1160332"/>
          </a:xfrm>
          <a:prstGeom prst="rect">
            <a:avLst/>
          </a:prstGeom>
          <a:noFill/>
        </p:spPr>
      </p:pic>
      <p:pic>
        <p:nvPicPr>
          <p:cNvPr id="16" name="Picture 15">
            <a:extLst>
              <a:ext uri="{FF2B5EF4-FFF2-40B4-BE49-F238E27FC236}">
                <a16:creationId xmlns:a16="http://schemas.microsoft.com/office/drawing/2014/main" id="{84F78588-5015-4247-83B3-BB2006ECD768}"/>
              </a:ext>
            </a:extLst>
          </p:cNvPr>
          <p:cNvPicPr>
            <a:picLocks noChangeAspect="1"/>
          </p:cNvPicPr>
          <p:nvPr/>
        </p:nvPicPr>
        <p:blipFill>
          <a:blip r:embed="rId5"/>
          <a:stretch>
            <a:fillRect/>
          </a:stretch>
        </p:blipFill>
        <p:spPr>
          <a:xfrm>
            <a:off x="3736167" y="3472969"/>
            <a:ext cx="8145154" cy="921532"/>
          </a:xfrm>
          <a:prstGeom prst="rect">
            <a:avLst/>
          </a:prstGeom>
        </p:spPr>
      </p:pic>
    </p:spTree>
    <p:extLst>
      <p:ext uri="{BB962C8B-B14F-4D97-AF65-F5344CB8AC3E}">
        <p14:creationId xmlns:p14="http://schemas.microsoft.com/office/powerpoint/2010/main" val="38341299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ounded Rectangle 18">
            <a:extLst>
              <a:ext uri="{FF2B5EF4-FFF2-40B4-BE49-F238E27FC236}">
                <a16:creationId xmlns:a16="http://schemas.microsoft.com/office/drawing/2014/main" id="{95111C02-CE7A-C142-8AC6-DF553C9F8FE0}"/>
              </a:ext>
            </a:extLst>
          </p:cNvPr>
          <p:cNvSpPr/>
          <p:nvPr/>
        </p:nvSpPr>
        <p:spPr>
          <a:xfrm>
            <a:off x="2088457" y="4570073"/>
            <a:ext cx="8170561" cy="1301991"/>
          </a:xfrm>
          <a:prstGeom prst="roundRect">
            <a:avLst/>
          </a:prstGeom>
          <a:gradFill>
            <a:gsLst>
              <a:gs pos="0">
                <a:schemeClr val="accent1">
                  <a:lumMod val="5000"/>
                  <a:lumOff val="95000"/>
                </a:schemeClr>
              </a:gs>
              <a:gs pos="100000">
                <a:schemeClr val="accent5">
                  <a:lumMod val="20000"/>
                  <a:lumOff val="8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931C9149-5270-0D41-AE87-F9FB5ED6CA13}"/>
              </a:ext>
            </a:extLst>
          </p:cNvPr>
          <p:cNvSpPr/>
          <p:nvPr/>
        </p:nvSpPr>
        <p:spPr>
          <a:xfrm>
            <a:off x="2088457" y="3192738"/>
            <a:ext cx="8170561" cy="1051079"/>
          </a:xfrm>
          <a:prstGeom prst="roundRect">
            <a:avLst/>
          </a:prstGeom>
          <a:gradFill flip="none" rotWithShape="1">
            <a:gsLst>
              <a:gs pos="0">
                <a:schemeClr val="accent6">
                  <a:lumMod val="5000"/>
                  <a:lumOff val="95000"/>
                </a:schemeClr>
              </a:gs>
              <a:gs pos="74000">
                <a:schemeClr val="accent6">
                  <a:lumMod val="45000"/>
                  <a:lumOff val="55000"/>
                </a:schemeClr>
              </a:gs>
              <a:gs pos="83000">
                <a:schemeClr val="accent6">
                  <a:lumMod val="45000"/>
                  <a:lumOff val="55000"/>
                </a:schemeClr>
              </a:gs>
              <a:gs pos="100000">
                <a:schemeClr val="accent6">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43F21834-E11C-B543-995E-F669599682D7}"/>
              </a:ext>
            </a:extLst>
          </p:cNvPr>
          <p:cNvSpPr/>
          <p:nvPr/>
        </p:nvSpPr>
        <p:spPr>
          <a:xfrm>
            <a:off x="2088457" y="1549498"/>
            <a:ext cx="8170562" cy="1301991"/>
          </a:xfrm>
          <a:prstGeom prst="roundRect">
            <a:avLst/>
          </a:prstGeom>
          <a:gradFill flip="none" rotWithShape="1">
            <a:gsLst>
              <a:gs pos="0">
                <a:schemeClr val="accent4">
                  <a:lumMod val="5000"/>
                  <a:lumOff val="95000"/>
                </a:schemeClr>
              </a:gs>
              <a:gs pos="74000">
                <a:schemeClr val="accent4">
                  <a:lumMod val="45000"/>
                  <a:lumOff val="55000"/>
                </a:schemeClr>
              </a:gs>
              <a:gs pos="83000">
                <a:schemeClr val="accent4">
                  <a:lumMod val="45000"/>
                  <a:lumOff val="55000"/>
                </a:schemeClr>
              </a:gs>
              <a:gs pos="100000">
                <a:schemeClr val="accent4">
                  <a:lumMod val="30000"/>
                  <a:lumOff val="7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6B78AD-AE0D-5647-A05D-1319B3E2445A}"/>
              </a:ext>
            </a:extLst>
          </p:cNvPr>
          <p:cNvSpPr>
            <a:spLocks noGrp="1"/>
          </p:cNvSpPr>
          <p:nvPr>
            <p:ph type="title"/>
          </p:nvPr>
        </p:nvSpPr>
        <p:spPr>
          <a:xfrm>
            <a:off x="0" y="0"/>
            <a:ext cx="12192000" cy="928688"/>
          </a:xfrm>
        </p:spPr>
        <p:txBody>
          <a:bodyPr/>
          <a:lstStyle/>
          <a:p>
            <a:r>
              <a:rPr lang="en-US" dirty="0"/>
              <a:t>Bra-</a:t>
            </a:r>
            <a:r>
              <a:rPr lang="en-US" dirty="0" err="1"/>
              <a:t>ket</a:t>
            </a:r>
            <a:endParaRPr lang="en-US" dirty="0"/>
          </a:p>
        </p:txBody>
      </p:sp>
      <p:sp>
        <p:nvSpPr>
          <p:cNvPr id="3" name="Slide Number Placeholder 2">
            <a:extLst>
              <a:ext uri="{FF2B5EF4-FFF2-40B4-BE49-F238E27FC236}">
                <a16:creationId xmlns:a16="http://schemas.microsoft.com/office/drawing/2014/main" id="{1160AE97-C86C-A140-913B-CF2ADB615809}"/>
              </a:ext>
            </a:extLst>
          </p:cNvPr>
          <p:cNvSpPr>
            <a:spLocks noGrp="1"/>
          </p:cNvSpPr>
          <p:nvPr>
            <p:ph type="sldNum" sz="quarter" idx="12"/>
          </p:nvPr>
        </p:nvSpPr>
        <p:spPr/>
        <p:txBody>
          <a:bodyPr/>
          <a:lstStyle/>
          <a:p>
            <a:fld id="{591A223C-FA10-BC46-A853-03BA373D023C}" type="slidenum">
              <a:rPr lang="en-US" smtClean="0"/>
              <a:t>33</a:t>
            </a:fld>
            <a:endParaRPr lang="en-US"/>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23848489-B444-9844-886F-6A77839A4479}"/>
                  </a:ext>
                </a:extLst>
              </p:cNvPr>
              <p:cNvSpPr/>
              <p:nvPr/>
            </p:nvSpPr>
            <p:spPr>
              <a:xfrm>
                <a:off x="6880449" y="1583980"/>
                <a:ext cx="2012859" cy="12330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r>
                        <a:rPr lang="en-US" sz="280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1"/>
                                    <m:mcJc m:val="center"/>
                                  </m:mcPr>
                                </m:mc>
                              </m:mcs>
                              <m:ctrlPr>
                                <a:rPr lang="en-US" sz="2800" i="1">
                                  <a:latin typeface="Cambria Math" panose="02040503050406030204" pitchFamily="18" charset="0"/>
                                </a:rPr>
                              </m:ctrlPr>
                            </m:mPr>
                            <m:m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a:latin typeface="Cambria Math" panose="02040503050406030204" pitchFamily="18" charset="0"/>
                                      </a:rPr>
                                      <m:t>1</m:t>
                                    </m:r>
                                  </m:sub>
                                </m:sSub>
                              </m:e>
                            </m:mr>
                            <m:mr>
                              <m:e>
                                <m:r>
                                  <a:rPr lang="en-US" sz="2800">
                                    <a:latin typeface="Cambria Math" panose="02040503050406030204" pitchFamily="18" charset="0"/>
                                  </a:rPr>
                                  <m:t>⋮</m:t>
                                </m:r>
                              </m:e>
                            </m:mr>
                            <m:m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𝑛</m:t>
                                    </m:r>
                                  </m:sub>
                                </m:sSub>
                              </m:e>
                            </m:mr>
                          </m:m>
                        </m:e>
                      </m:d>
                    </m:oMath>
                  </m:oMathPara>
                </a14:m>
                <a:endParaRPr lang="en-US" sz="2800" dirty="0"/>
              </a:p>
            </p:txBody>
          </p:sp>
        </mc:Choice>
        <mc:Fallback xmlns="">
          <p:sp>
            <p:nvSpPr>
              <p:cNvPr id="10" name="Rectangle 9">
                <a:extLst>
                  <a:ext uri="{FF2B5EF4-FFF2-40B4-BE49-F238E27FC236}">
                    <a16:creationId xmlns:a16="http://schemas.microsoft.com/office/drawing/2014/main" id="{23848489-B444-9844-886F-6A77839A4479}"/>
                  </a:ext>
                </a:extLst>
              </p:cNvPr>
              <p:cNvSpPr>
                <a:spLocks noRot="1" noChangeAspect="1" noMove="1" noResize="1" noEditPoints="1" noAdjustHandles="1" noChangeArrowheads="1" noChangeShapeType="1" noTextEdit="1"/>
              </p:cNvSpPr>
              <p:nvPr/>
            </p:nvSpPr>
            <p:spPr>
              <a:xfrm>
                <a:off x="6880449" y="1583980"/>
                <a:ext cx="2012859" cy="1233030"/>
              </a:xfrm>
              <a:prstGeom prst="rect">
                <a:avLst/>
              </a:prstGeom>
              <a:blipFill>
                <a:blip r:embed="rId3"/>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C5A44B1F-DEDD-7C4C-AD47-64645F214D13}"/>
              </a:ext>
            </a:extLst>
          </p:cNvPr>
          <p:cNvSpPr txBox="1"/>
          <p:nvPr/>
        </p:nvSpPr>
        <p:spPr>
          <a:xfrm>
            <a:off x="2424851" y="2056883"/>
            <a:ext cx="4119205" cy="461665"/>
          </a:xfrm>
          <a:prstGeom prst="rect">
            <a:avLst/>
          </a:prstGeom>
          <a:noFill/>
        </p:spPr>
        <p:txBody>
          <a:bodyPr wrap="none" rtlCol="0">
            <a:spAutoFit/>
          </a:bodyPr>
          <a:lstStyle/>
          <a:p>
            <a:r>
              <a:rPr lang="en-ZA" sz="2400" dirty="0"/>
              <a:t>A </a:t>
            </a:r>
            <a:r>
              <a:rPr lang="en-ZA" sz="2400" i="1" dirty="0"/>
              <a:t>ket</a:t>
            </a:r>
            <a:r>
              <a:rPr lang="en-ZA" sz="2400" dirty="0"/>
              <a:t> vector is a column vector </a:t>
            </a:r>
            <a:r>
              <a:rPr lang="en-US" sz="2400" dirty="0"/>
              <a:t>:</a:t>
            </a:r>
          </a:p>
        </p:txBody>
      </p:sp>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07707D38-7967-CA40-9698-ED02EDA14C61}"/>
                  </a:ext>
                </a:extLst>
              </p:cNvPr>
              <p:cNvSpPr/>
              <p:nvPr/>
            </p:nvSpPr>
            <p:spPr>
              <a:xfrm>
                <a:off x="6880449" y="3446386"/>
                <a:ext cx="325775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a:latin typeface="Cambria Math" panose="02040503050406030204" pitchFamily="18" charset="0"/>
                        </a:rPr>
                        <m:t>⟨</m:t>
                      </m:r>
                      <m:r>
                        <a:rPr lang="en-US" sz="2800" i="1">
                          <a:latin typeface="Cambria Math" panose="02040503050406030204" pitchFamily="18" charset="0"/>
                        </a:rPr>
                        <m:t>𝑎</m:t>
                      </m:r>
                      <m:r>
                        <a:rPr lang="en-US" sz="280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3"/>
                                    <m:mcJc m:val="center"/>
                                  </m:mcPr>
                                </m:mc>
                              </m:mcs>
                              <m:ctrlPr>
                                <a:rPr lang="en-US" sz="2800" i="1">
                                  <a:latin typeface="Cambria Math" panose="02040503050406030204" pitchFamily="18" charset="0"/>
                                </a:rPr>
                              </m:ctrlPr>
                            </m:mPr>
                            <m:mr>
                              <m:e>
                                <m:sSubSup>
                                  <m:sSubSupPr>
                                    <m:ctrlPr>
                                      <a:rPr lang="en-US" sz="2800" i="1">
                                        <a:latin typeface="Cambria Math" panose="02040503050406030204" pitchFamily="18" charset="0"/>
                                      </a:rPr>
                                    </m:ctrlPr>
                                  </m:sSubSupPr>
                                  <m:e>
                                    <m:r>
                                      <a:rPr lang="en-US" sz="2800" i="1">
                                        <a:latin typeface="Cambria Math" panose="02040503050406030204" pitchFamily="18" charset="0"/>
                                      </a:rPr>
                                      <m:t>𝑎</m:t>
                                    </m:r>
                                  </m:e>
                                  <m:sub>
                                    <m:r>
                                      <a:rPr lang="en-US" sz="2800">
                                        <a:latin typeface="Cambria Math" panose="02040503050406030204" pitchFamily="18" charset="0"/>
                                      </a:rPr>
                                      <m:t>1</m:t>
                                    </m:r>
                                  </m:sub>
                                  <m:sup>
                                    <m:r>
                                      <a:rPr lang="en-US" sz="2800">
                                        <a:latin typeface="Cambria Math" panose="02040503050406030204" pitchFamily="18" charset="0"/>
                                      </a:rPr>
                                      <m:t>∗</m:t>
                                    </m:r>
                                  </m:sup>
                                </m:sSubSup>
                              </m:e>
                              <m:e>
                                <m:r>
                                  <a:rPr lang="en-US" sz="2800">
                                    <a:latin typeface="Cambria Math" panose="02040503050406030204" pitchFamily="18" charset="0"/>
                                  </a:rPr>
                                  <m:t>⋯</m:t>
                                </m:r>
                              </m:e>
                              <m:e>
                                <m:sSubSup>
                                  <m:sSubSupPr>
                                    <m:ctrlPr>
                                      <a:rPr lang="en-US" sz="2800" i="1">
                                        <a:latin typeface="Cambria Math" panose="02040503050406030204" pitchFamily="18" charset="0"/>
                                      </a:rPr>
                                    </m:ctrlPr>
                                  </m:sSubSupPr>
                                  <m:e>
                                    <m:r>
                                      <a:rPr lang="en-US" sz="2800" i="1">
                                        <a:latin typeface="Cambria Math" panose="02040503050406030204" pitchFamily="18" charset="0"/>
                                      </a:rPr>
                                      <m:t>𝑎</m:t>
                                    </m:r>
                                  </m:e>
                                  <m:sub>
                                    <m:r>
                                      <a:rPr lang="en-US" sz="2800" i="1">
                                        <a:latin typeface="Cambria Math" panose="02040503050406030204" pitchFamily="18" charset="0"/>
                                      </a:rPr>
                                      <m:t>𝑛</m:t>
                                    </m:r>
                                  </m:sub>
                                  <m:sup>
                                    <m:r>
                                      <a:rPr lang="en-US" sz="2800">
                                        <a:latin typeface="Cambria Math" panose="02040503050406030204" pitchFamily="18" charset="0"/>
                                      </a:rPr>
                                      <m:t>∗</m:t>
                                    </m:r>
                                  </m:sup>
                                </m:sSubSup>
                              </m:e>
                            </m:mr>
                          </m:m>
                        </m:e>
                      </m:d>
                    </m:oMath>
                  </m:oMathPara>
                </a14:m>
                <a:endParaRPr lang="en-US" sz="2800" dirty="0"/>
              </a:p>
            </p:txBody>
          </p:sp>
        </mc:Choice>
        <mc:Fallback xmlns="">
          <p:sp>
            <p:nvSpPr>
              <p:cNvPr id="13" name="Rectangle 12">
                <a:extLst>
                  <a:ext uri="{FF2B5EF4-FFF2-40B4-BE49-F238E27FC236}">
                    <a16:creationId xmlns:a16="http://schemas.microsoft.com/office/drawing/2014/main" id="{07707D38-7967-CA40-9698-ED02EDA14C61}"/>
                  </a:ext>
                </a:extLst>
              </p:cNvPr>
              <p:cNvSpPr>
                <a:spLocks noRot="1" noChangeAspect="1" noMove="1" noResize="1" noEditPoints="1" noAdjustHandles="1" noChangeArrowheads="1" noChangeShapeType="1" noTextEdit="1"/>
              </p:cNvSpPr>
              <p:nvPr/>
            </p:nvSpPr>
            <p:spPr>
              <a:xfrm>
                <a:off x="6880449" y="3446386"/>
                <a:ext cx="3257751" cy="523220"/>
              </a:xfrm>
              <a:prstGeom prst="rect">
                <a:avLst/>
              </a:prstGeom>
              <a:blipFill>
                <a:blip r:embed="rId4"/>
                <a:stretch>
                  <a:fillRect l="-389" b="-16279"/>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05282FCF-9219-A643-8BE1-6F33C9A82243}"/>
              </a:ext>
            </a:extLst>
          </p:cNvPr>
          <p:cNvSpPr/>
          <p:nvPr/>
        </p:nvSpPr>
        <p:spPr>
          <a:xfrm>
            <a:off x="2424850" y="4638485"/>
            <a:ext cx="3998659" cy="1200329"/>
          </a:xfrm>
          <a:prstGeom prst="rect">
            <a:avLst/>
          </a:prstGeom>
        </p:spPr>
        <p:txBody>
          <a:bodyPr wrap="none">
            <a:spAutoFit/>
          </a:bodyPr>
          <a:lstStyle/>
          <a:p>
            <a:pPr algn="ctr"/>
            <a:r>
              <a:rPr lang="en-ZA" sz="2400" dirty="0"/>
              <a:t>Bra and ket vectors are mutual</a:t>
            </a:r>
          </a:p>
          <a:p>
            <a:pPr algn="ctr"/>
            <a:r>
              <a:rPr lang="en-ZA" sz="2400" dirty="0"/>
              <a:t>conjugate transposes and are </a:t>
            </a:r>
          </a:p>
          <a:p>
            <a:pPr algn="ctr"/>
            <a:r>
              <a:rPr lang="en-ZA" sz="2400" dirty="0"/>
              <a:t>called </a:t>
            </a:r>
            <a:r>
              <a:rPr lang="en-ZA" sz="2400" i="1" dirty="0"/>
              <a:t>dual vectors</a:t>
            </a:r>
            <a:endParaRPr lang="en-US" sz="2400" dirty="0">
              <a:latin typeface="Cambria" panose="02040503050406030204" pitchFamily="18" charset="0"/>
              <a:ea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9F22032-F51F-B042-9DDF-6812DA1591CE}"/>
                  </a:ext>
                </a:extLst>
              </p:cNvPr>
              <p:cNvSpPr/>
              <p:nvPr/>
            </p:nvSpPr>
            <p:spPr>
              <a:xfrm>
                <a:off x="6880449" y="4911322"/>
                <a:ext cx="1803892" cy="5343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a:latin typeface="Cambria Math" panose="02040503050406030204" pitchFamily="18" charset="0"/>
                        </a:rPr>
                        <m:t>⟨</m:t>
                      </m:r>
                      <m:r>
                        <a:rPr lang="en-US" sz="2800" i="1">
                          <a:latin typeface="Cambria Math" panose="02040503050406030204" pitchFamily="18" charset="0"/>
                        </a:rPr>
                        <m:t>𝑎</m:t>
                      </m:r>
                      <m:r>
                        <a:rPr lang="en-US" sz="2800" i="0">
                          <a:latin typeface="Cambria Math" panose="02040503050406030204" pitchFamily="18" charset="0"/>
                        </a:rPr>
                        <m:t>|=</m:t>
                      </m:r>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e>
                        <m:sup>
                          <m:r>
                            <a:rPr lang="en-US" sz="2800" i="0">
                              <a:latin typeface="Cambria Math" panose="02040503050406030204" pitchFamily="18" charset="0"/>
                            </a:rPr>
                            <m:t>†</m:t>
                          </m:r>
                        </m:sup>
                      </m:sSup>
                    </m:oMath>
                  </m:oMathPara>
                </a14:m>
                <a:endParaRPr lang="en-US" sz="2800" dirty="0"/>
              </a:p>
            </p:txBody>
          </p:sp>
        </mc:Choice>
        <mc:Fallback xmlns="">
          <p:sp>
            <p:nvSpPr>
              <p:cNvPr id="15" name="Rectangle 14">
                <a:extLst>
                  <a:ext uri="{FF2B5EF4-FFF2-40B4-BE49-F238E27FC236}">
                    <a16:creationId xmlns:a16="http://schemas.microsoft.com/office/drawing/2014/main" id="{49F22032-F51F-B042-9DDF-6812DA1591CE}"/>
                  </a:ext>
                </a:extLst>
              </p:cNvPr>
              <p:cNvSpPr>
                <a:spLocks noRot="1" noChangeAspect="1" noMove="1" noResize="1" noEditPoints="1" noAdjustHandles="1" noChangeArrowheads="1" noChangeShapeType="1" noTextEdit="1"/>
              </p:cNvSpPr>
              <p:nvPr/>
            </p:nvSpPr>
            <p:spPr>
              <a:xfrm>
                <a:off x="6880449" y="4911322"/>
                <a:ext cx="1803892" cy="534377"/>
              </a:xfrm>
              <a:prstGeom prst="rect">
                <a:avLst/>
              </a:prstGeom>
              <a:blipFill>
                <a:blip r:embed="rId5"/>
                <a:stretch>
                  <a:fillRect l="-1399" b="-16279"/>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4A4A2F5C-5502-C346-A5A8-C7DAEE9E06CF}"/>
              </a:ext>
            </a:extLst>
          </p:cNvPr>
          <p:cNvSpPr txBox="1"/>
          <p:nvPr/>
        </p:nvSpPr>
        <p:spPr>
          <a:xfrm>
            <a:off x="2424850" y="3472299"/>
            <a:ext cx="3749168" cy="461665"/>
          </a:xfrm>
          <a:prstGeom prst="rect">
            <a:avLst/>
          </a:prstGeom>
          <a:noFill/>
        </p:spPr>
        <p:txBody>
          <a:bodyPr wrap="none" rtlCol="0">
            <a:spAutoFit/>
          </a:bodyPr>
          <a:lstStyle/>
          <a:p>
            <a:r>
              <a:rPr lang="en-ZA" sz="2400" dirty="0"/>
              <a:t>A </a:t>
            </a:r>
            <a:r>
              <a:rPr lang="en-ZA" sz="2400" i="1" dirty="0"/>
              <a:t>bra</a:t>
            </a:r>
            <a:r>
              <a:rPr lang="en-ZA" sz="2400" dirty="0"/>
              <a:t> vector is a row vector </a:t>
            </a:r>
            <a:r>
              <a:rPr lang="en-US" sz="2400" dirty="0"/>
              <a:t>:</a:t>
            </a:r>
          </a:p>
        </p:txBody>
      </p:sp>
    </p:spTree>
    <p:extLst>
      <p:ext uri="{BB962C8B-B14F-4D97-AF65-F5344CB8AC3E}">
        <p14:creationId xmlns:p14="http://schemas.microsoft.com/office/powerpoint/2010/main" val="41114985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7C38A2F-EE10-224A-AFF1-F82704F02B3B}"/>
              </a:ext>
            </a:extLst>
          </p:cNvPr>
          <p:cNvSpPr>
            <a:spLocks noGrp="1"/>
          </p:cNvSpPr>
          <p:nvPr>
            <p:ph type="sldNum" sz="quarter" idx="12"/>
          </p:nvPr>
        </p:nvSpPr>
        <p:spPr/>
        <p:txBody>
          <a:bodyPr/>
          <a:lstStyle/>
          <a:p>
            <a:fld id="{591A223C-FA10-BC46-A853-03BA373D023C}" type="slidenum">
              <a:rPr lang="en-US" smtClean="0"/>
              <a:t>34</a:t>
            </a:fld>
            <a:endParaRPr lang="en-US"/>
          </a:p>
        </p:txBody>
      </p:sp>
      <p:sp>
        <p:nvSpPr>
          <p:cNvPr id="3" name="Title 2">
            <a:extLst>
              <a:ext uri="{FF2B5EF4-FFF2-40B4-BE49-F238E27FC236}">
                <a16:creationId xmlns:a16="http://schemas.microsoft.com/office/drawing/2014/main" id="{81C046C0-2657-A948-B647-D02B87942B60}"/>
              </a:ext>
            </a:extLst>
          </p:cNvPr>
          <p:cNvSpPr>
            <a:spLocks noGrp="1"/>
          </p:cNvSpPr>
          <p:nvPr>
            <p:ph type="title"/>
          </p:nvPr>
        </p:nvSpPr>
        <p:spPr>
          <a:xfrm>
            <a:off x="0" y="0"/>
            <a:ext cx="12192000" cy="928688"/>
          </a:xfrm>
        </p:spPr>
        <p:txBody>
          <a:bodyPr/>
          <a:lstStyle/>
          <a:p>
            <a:r>
              <a:rPr lang="en-ZA" dirty="0"/>
              <a:t>Scalar multiplication and vector addition</a:t>
            </a:r>
            <a:endParaRPr lang="en-US"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7D275D1F-6F02-F946-9F2E-597553C2A732}"/>
                  </a:ext>
                </a:extLst>
              </p:cNvPr>
              <p:cNvSpPr/>
              <p:nvPr/>
            </p:nvSpPr>
            <p:spPr>
              <a:xfrm>
                <a:off x="1302348" y="1233771"/>
                <a:ext cx="4327660" cy="1082604"/>
              </a:xfrm>
              <a:prstGeom prst="rect">
                <a:avLst/>
              </a:prstGeom>
            </p:spPr>
            <p:txBody>
              <a:bodyPr wrap="none">
                <a:spAutoFit/>
              </a:bodyPr>
              <a:lstStyle/>
              <a:p>
                <a:endParaRPr lang="sr-Latn-RS" sz="2400" b="1"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a:latin typeface="Cambria Math" panose="02040503050406030204" pitchFamily="18" charset="0"/>
                        </a:rPr>
                        <m:t>2</m:t>
                      </m:r>
                      <m:d>
                        <m:dPr>
                          <m:begChr m:val="|"/>
                          <m:endChr m:val="⟩"/>
                          <m:ctrlPr>
                            <a:rPr lang="en-US" sz="24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i="1">
                              <a:latin typeface="Cambria Math" panose="02040503050406030204" pitchFamily="18" charset="0"/>
                              <a:ea typeface="Times New Roman" panose="02020603050405020304" pitchFamily="18" charset="0"/>
                              <a:cs typeface="Times New Roman" panose="02020603050405020304" pitchFamily="18" charset="0"/>
                            </a:rPr>
                            <m:t>𝑎</m:t>
                          </m:r>
                        </m:e>
                      </m:d>
                      <m:r>
                        <a:rPr lang="en-US" sz="2400" b="1" i="1">
                          <a:latin typeface="Cambria Math" panose="02040503050406030204" pitchFamily="18" charset="0"/>
                        </a:rPr>
                        <m:t>=</m:t>
                      </m:r>
                      <m:r>
                        <a:rPr lang="en-US" sz="2400" b="0" i="1">
                          <a:latin typeface="Cambria Math" panose="02040503050406030204" pitchFamily="18" charset="0"/>
                        </a:rPr>
                        <m:t>2</m:t>
                      </m:r>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e>
                            </m:mr>
                            <m:m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2</m:t>
                                    </m:r>
                                  </m:sub>
                                </m:sSub>
                              </m:e>
                            </m:mr>
                          </m:m>
                        </m:e>
                      </m:d>
                      <m:r>
                        <a:rPr lang="en-US" sz="2400" b="0" i="1" smtClean="0">
                          <a:latin typeface="Cambria Math" panose="02040503050406030204" pitchFamily="18" charset="0"/>
                        </a:rPr>
                        <m:t>=</m:t>
                      </m:r>
                      <m:r>
                        <a:rPr lang="en-US" sz="2400">
                          <a:latin typeface="Cambria Math" panose="02040503050406030204" pitchFamily="18" charset="0"/>
                        </a:rPr>
                        <m:t>2</m:t>
                      </m:r>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a:latin typeface="Cambria Math" panose="02040503050406030204" pitchFamily="18" charset="0"/>
                                  </a:rPr>
                                  <m:t>1.5</m:t>
                                </m:r>
                              </m:e>
                            </m:mr>
                            <m:mr>
                              <m:e>
                                <m:r>
                                  <a:rPr lang="en-US" sz="2400">
                                    <a:latin typeface="Cambria Math" panose="02040503050406030204" pitchFamily="18" charset="0"/>
                                  </a:rPr>
                                  <m:t>1</m:t>
                                </m:r>
                              </m:e>
                            </m:mr>
                          </m:m>
                        </m:e>
                      </m:d>
                      <m:r>
                        <a:rPr lang="en-US" sz="240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a:latin typeface="Cambria Math" panose="02040503050406030204" pitchFamily="18" charset="0"/>
                                  </a:rPr>
                                  <m:t>3</m:t>
                                </m:r>
                              </m:e>
                            </m:mr>
                            <m:mr>
                              <m:e>
                                <m:r>
                                  <a:rPr lang="en-US" sz="2400">
                                    <a:latin typeface="Cambria Math" panose="02040503050406030204" pitchFamily="18" charset="0"/>
                                  </a:rPr>
                                  <m:t>2</m:t>
                                </m:r>
                              </m:e>
                            </m:mr>
                          </m:m>
                        </m:e>
                      </m:d>
                    </m:oMath>
                  </m:oMathPara>
                </a14:m>
                <a:endParaRPr lang="en-US" sz="2400" dirty="0"/>
              </a:p>
            </p:txBody>
          </p:sp>
        </mc:Choice>
        <mc:Fallback xmlns="">
          <p:sp>
            <p:nvSpPr>
              <p:cNvPr id="4" name="Rectangle 3">
                <a:extLst>
                  <a:ext uri="{FF2B5EF4-FFF2-40B4-BE49-F238E27FC236}">
                    <a16:creationId xmlns:a16="http://schemas.microsoft.com/office/drawing/2014/main" id="{7D275D1F-6F02-F946-9F2E-597553C2A732}"/>
                  </a:ext>
                </a:extLst>
              </p:cNvPr>
              <p:cNvSpPr>
                <a:spLocks noRot="1" noChangeAspect="1" noMove="1" noResize="1" noEditPoints="1" noAdjustHandles="1" noChangeArrowheads="1" noChangeShapeType="1" noTextEdit="1"/>
              </p:cNvSpPr>
              <p:nvPr/>
            </p:nvSpPr>
            <p:spPr>
              <a:xfrm>
                <a:off x="1302348" y="1233771"/>
                <a:ext cx="4327660" cy="1082604"/>
              </a:xfrm>
              <a:prstGeom prst="rect">
                <a:avLst/>
              </a:prstGeom>
              <a:blipFill>
                <a:blip r:embed="rId3"/>
                <a:stretch>
                  <a:fillRect b="-4651"/>
                </a:stretch>
              </a:blipFill>
            </p:spPr>
            <p:txBody>
              <a:bodyPr/>
              <a:lstStyle/>
              <a:p>
                <a:r>
                  <a:rPr lang="en-US">
                    <a:noFill/>
                  </a:rPr>
                  <a:t> </a:t>
                </a:r>
              </a:p>
            </p:txBody>
          </p:sp>
        </mc:Fallback>
      </mc:AlternateContent>
      <p:grpSp>
        <p:nvGrpSpPr>
          <p:cNvPr id="36" name="Group 35">
            <a:extLst>
              <a:ext uri="{FF2B5EF4-FFF2-40B4-BE49-F238E27FC236}">
                <a16:creationId xmlns:a16="http://schemas.microsoft.com/office/drawing/2014/main" id="{9731EEBC-62AE-7341-97A6-4CD6245F8DA1}"/>
              </a:ext>
            </a:extLst>
          </p:cNvPr>
          <p:cNvGrpSpPr/>
          <p:nvPr/>
        </p:nvGrpSpPr>
        <p:grpSpPr>
          <a:xfrm>
            <a:off x="39086" y="690776"/>
            <a:ext cx="4742662" cy="4564332"/>
            <a:chOff x="428860" y="928688"/>
            <a:chExt cx="4742662" cy="4564332"/>
          </a:xfrm>
        </p:grpSpPr>
        <p:sp>
          <p:nvSpPr>
            <p:cNvPr id="5" name="TextBox 4">
              <a:extLst>
                <a:ext uri="{FF2B5EF4-FFF2-40B4-BE49-F238E27FC236}">
                  <a16:creationId xmlns:a16="http://schemas.microsoft.com/office/drawing/2014/main" id="{125C19FF-B985-5C42-B305-D16EB5AB8AD3}"/>
                </a:ext>
              </a:extLst>
            </p:cNvPr>
            <p:cNvSpPr txBox="1"/>
            <p:nvPr/>
          </p:nvSpPr>
          <p:spPr>
            <a:xfrm>
              <a:off x="1116952" y="4354897"/>
              <a:ext cx="383438" cy="461665"/>
            </a:xfrm>
            <a:prstGeom prst="rect">
              <a:avLst/>
            </a:prstGeom>
            <a:noFill/>
          </p:spPr>
          <p:txBody>
            <a:bodyPr wrap="none" rtlCol="0">
              <a:spAutoFit/>
            </a:bodyPr>
            <a:lstStyle/>
            <a:p>
              <a:r>
                <a:rPr lang="en-US" sz="2400" b="1" i="1" dirty="0">
                  <a:latin typeface="+mj-lt"/>
                </a:rPr>
                <a:t>O</a:t>
              </a:r>
            </a:p>
          </p:txBody>
        </p:sp>
        <p:sp>
          <p:nvSpPr>
            <p:cNvPr id="6" name="TextBox 5">
              <a:extLst>
                <a:ext uri="{FF2B5EF4-FFF2-40B4-BE49-F238E27FC236}">
                  <a16:creationId xmlns:a16="http://schemas.microsoft.com/office/drawing/2014/main" id="{F8726F06-F3F8-7C43-B4D2-30E9593AD378}"/>
                </a:ext>
              </a:extLst>
            </p:cNvPr>
            <p:cNvSpPr txBox="1"/>
            <p:nvPr/>
          </p:nvSpPr>
          <p:spPr>
            <a:xfrm>
              <a:off x="2229008" y="4443056"/>
              <a:ext cx="340158" cy="461665"/>
            </a:xfrm>
            <a:prstGeom prst="rect">
              <a:avLst/>
            </a:prstGeom>
            <a:noFill/>
          </p:spPr>
          <p:txBody>
            <a:bodyPr wrap="none" rtlCol="0">
              <a:spAutoFit/>
            </a:bodyPr>
            <a:lstStyle/>
            <a:p>
              <a:r>
                <a:rPr lang="en-US" sz="2400" dirty="0">
                  <a:latin typeface="+mj-lt"/>
                </a:rPr>
                <a:t>1</a:t>
              </a:r>
            </a:p>
          </p:txBody>
        </p:sp>
        <p:sp>
          <p:nvSpPr>
            <p:cNvPr id="7" name="TextBox 6">
              <a:extLst>
                <a:ext uri="{FF2B5EF4-FFF2-40B4-BE49-F238E27FC236}">
                  <a16:creationId xmlns:a16="http://schemas.microsoft.com/office/drawing/2014/main" id="{2D54703F-DDA2-8F4B-B9D2-1E265E31FA47}"/>
                </a:ext>
              </a:extLst>
            </p:cNvPr>
            <p:cNvSpPr txBox="1"/>
            <p:nvPr/>
          </p:nvSpPr>
          <p:spPr>
            <a:xfrm>
              <a:off x="3087781" y="4443056"/>
              <a:ext cx="340158" cy="461665"/>
            </a:xfrm>
            <a:prstGeom prst="rect">
              <a:avLst/>
            </a:prstGeom>
            <a:noFill/>
          </p:spPr>
          <p:txBody>
            <a:bodyPr wrap="none" rtlCol="0">
              <a:spAutoFit/>
            </a:bodyPr>
            <a:lstStyle/>
            <a:p>
              <a:r>
                <a:rPr lang="en-US" sz="2400" dirty="0">
                  <a:latin typeface="+mj-lt"/>
                </a:rPr>
                <a:t>2</a:t>
              </a:r>
            </a:p>
          </p:txBody>
        </p:sp>
        <p:sp>
          <p:nvSpPr>
            <p:cNvPr id="8" name="TextBox 7">
              <a:extLst>
                <a:ext uri="{FF2B5EF4-FFF2-40B4-BE49-F238E27FC236}">
                  <a16:creationId xmlns:a16="http://schemas.microsoft.com/office/drawing/2014/main" id="{6C5507A0-55A4-D84B-98EF-7DC62181B723}"/>
                </a:ext>
              </a:extLst>
            </p:cNvPr>
            <p:cNvSpPr txBox="1"/>
            <p:nvPr/>
          </p:nvSpPr>
          <p:spPr>
            <a:xfrm>
              <a:off x="428860" y="4443056"/>
              <a:ext cx="434734" cy="461665"/>
            </a:xfrm>
            <a:prstGeom prst="rect">
              <a:avLst/>
            </a:prstGeom>
            <a:noFill/>
          </p:spPr>
          <p:txBody>
            <a:bodyPr wrap="none" rtlCol="0">
              <a:spAutoFit/>
            </a:bodyPr>
            <a:lstStyle/>
            <a:p>
              <a:r>
                <a:rPr lang="en-US" sz="2400" dirty="0">
                  <a:latin typeface="+mj-lt"/>
                </a:rPr>
                <a:t>-1</a:t>
              </a:r>
            </a:p>
          </p:txBody>
        </p:sp>
        <p:sp>
          <p:nvSpPr>
            <p:cNvPr id="9" name="TextBox 8">
              <a:extLst>
                <a:ext uri="{FF2B5EF4-FFF2-40B4-BE49-F238E27FC236}">
                  <a16:creationId xmlns:a16="http://schemas.microsoft.com/office/drawing/2014/main" id="{EC4CC39E-BCDC-5D49-BAE3-DEDA6D9EDAB8}"/>
                </a:ext>
              </a:extLst>
            </p:cNvPr>
            <p:cNvSpPr txBox="1"/>
            <p:nvPr/>
          </p:nvSpPr>
          <p:spPr>
            <a:xfrm>
              <a:off x="1019229" y="3266913"/>
              <a:ext cx="340158" cy="461665"/>
            </a:xfrm>
            <a:prstGeom prst="rect">
              <a:avLst/>
            </a:prstGeom>
            <a:noFill/>
          </p:spPr>
          <p:txBody>
            <a:bodyPr wrap="none" rtlCol="0">
              <a:spAutoFit/>
            </a:bodyPr>
            <a:lstStyle/>
            <a:p>
              <a:r>
                <a:rPr lang="en-US" sz="2400" dirty="0">
                  <a:latin typeface="+mj-lt"/>
                </a:rPr>
                <a:t>1</a:t>
              </a:r>
            </a:p>
          </p:txBody>
        </p:sp>
        <p:sp>
          <p:nvSpPr>
            <p:cNvPr id="10" name="TextBox 9">
              <a:extLst>
                <a:ext uri="{FF2B5EF4-FFF2-40B4-BE49-F238E27FC236}">
                  <a16:creationId xmlns:a16="http://schemas.microsoft.com/office/drawing/2014/main" id="{D27DB53D-7BE1-7640-89C2-754A0910DE43}"/>
                </a:ext>
              </a:extLst>
            </p:cNvPr>
            <p:cNvSpPr txBox="1"/>
            <p:nvPr/>
          </p:nvSpPr>
          <p:spPr>
            <a:xfrm>
              <a:off x="1019229" y="2434354"/>
              <a:ext cx="340158" cy="461665"/>
            </a:xfrm>
            <a:prstGeom prst="rect">
              <a:avLst/>
            </a:prstGeom>
            <a:noFill/>
          </p:spPr>
          <p:txBody>
            <a:bodyPr wrap="none" rtlCol="0">
              <a:spAutoFit/>
            </a:bodyPr>
            <a:lstStyle/>
            <a:p>
              <a:r>
                <a:rPr lang="en-US" sz="2400" dirty="0">
                  <a:latin typeface="+mj-lt"/>
                </a:rPr>
                <a:t>2</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8B601A1-D705-6D43-85AA-E27CBEE9B8AD}"/>
                    </a:ext>
                  </a:extLst>
                </p:cNvPr>
                <p:cNvSpPr/>
                <p:nvPr/>
              </p:nvSpPr>
              <p:spPr>
                <a:xfrm>
                  <a:off x="4745123" y="4366384"/>
                  <a:ext cx="426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11" name="Rectangle 10">
                  <a:extLst>
                    <a:ext uri="{FF2B5EF4-FFF2-40B4-BE49-F238E27FC236}">
                      <a16:creationId xmlns:a16="http://schemas.microsoft.com/office/drawing/2014/main" id="{E8B601A1-D705-6D43-85AA-E27CBEE9B8AD}"/>
                    </a:ext>
                  </a:extLst>
                </p:cNvPr>
                <p:cNvSpPr>
                  <a:spLocks noRot="1" noChangeAspect="1" noMove="1" noResize="1" noEditPoints="1" noAdjustHandles="1" noChangeArrowheads="1" noChangeShapeType="1" noTextEdit="1"/>
                </p:cNvSpPr>
                <p:nvPr/>
              </p:nvSpPr>
              <p:spPr>
                <a:xfrm>
                  <a:off x="4745123" y="4366384"/>
                  <a:ext cx="426399" cy="461665"/>
                </a:xfrm>
                <a:prstGeom prst="rect">
                  <a:avLst/>
                </a:prstGeom>
                <a:blipFill>
                  <a:blip r:embed="rId4"/>
                  <a:stretch>
                    <a:fillRect/>
                  </a:stretch>
                </a:blipFill>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BCA663A8-2CE8-8340-AEAA-B0D29D9274B0}"/>
                </a:ext>
              </a:extLst>
            </p:cNvPr>
            <p:cNvCxnSpPr>
              <a:cxnSpLocks/>
            </p:cNvCxnSpPr>
            <p:nvPr/>
          </p:nvCxnSpPr>
          <p:spPr>
            <a:xfrm>
              <a:off x="591414" y="4430473"/>
              <a:ext cx="4225602" cy="0"/>
            </a:xfrm>
            <a:prstGeom prst="line">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415B3E2-8D31-F94E-8351-E6CC65F9B3F3}"/>
                </a:ext>
              </a:extLst>
            </p:cNvPr>
            <p:cNvCxnSpPr>
              <a:cxnSpLocks/>
            </p:cNvCxnSpPr>
            <p:nvPr/>
          </p:nvCxnSpPr>
          <p:spPr>
            <a:xfrm flipV="1">
              <a:off x="1562887" y="1123088"/>
              <a:ext cx="0" cy="4223483"/>
            </a:xfrm>
            <a:prstGeom prst="line">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0CFB83D-8C8D-3344-8C45-FA328D25F6AB}"/>
                </a:ext>
              </a:extLst>
            </p:cNvPr>
            <p:cNvCxnSpPr>
              <a:cxnSpLocks/>
            </p:cNvCxnSpPr>
            <p:nvPr/>
          </p:nvCxnSpPr>
          <p:spPr>
            <a:xfrm>
              <a:off x="2438625" y="4351019"/>
              <a:ext cx="0" cy="158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4A98419-CF6A-AF4C-8597-524CDC651CFD}"/>
                </a:ext>
              </a:extLst>
            </p:cNvPr>
            <p:cNvCxnSpPr>
              <a:cxnSpLocks/>
            </p:cNvCxnSpPr>
            <p:nvPr/>
          </p:nvCxnSpPr>
          <p:spPr>
            <a:xfrm>
              <a:off x="3309426" y="4351019"/>
              <a:ext cx="0" cy="158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62FE543-E509-B249-BEB0-68797DBFEF47}"/>
                </a:ext>
              </a:extLst>
            </p:cNvPr>
            <p:cNvCxnSpPr>
              <a:cxnSpLocks/>
            </p:cNvCxnSpPr>
            <p:nvPr/>
          </p:nvCxnSpPr>
          <p:spPr>
            <a:xfrm>
              <a:off x="4180227" y="4351019"/>
              <a:ext cx="0" cy="158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E997A799-24F7-8C4E-89A0-AED7DDB86B38}"/>
                </a:ext>
              </a:extLst>
            </p:cNvPr>
            <p:cNvCxnSpPr>
              <a:cxnSpLocks/>
            </p:cNvCxnSpPr>
            <p:nvPr/>
          </p:nvCxnSpPr>
          <p:spPr>
            <a:xfrm rot="5400000">
              <a:off x="1562887" y="1755197"/>
              <a:ext cx="0" cy="158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4CE4E64-E065-534B-91A5-2CE17B45BB08}"/>
                </a:ext>
              </a:extLst>
            </p:cNvPr>
            <p:cNvCxnSpPr>
              <a:cxnSpLocks/>
            </p:cNvCxnSpPr>
            <p:nvPr/>
          </p:nvCxnSpPr>
          <p:spPr>
            <a:xfrm rot="5400000">
              <a:off x="1562887" y="2625999"/>
              <a:ext cx="0" cy="158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193851E-38B5-A044-BBA0-85B9A65B56D0}"/>
                </a:ext>
              </a:extLst>
            </p:cNvPr>
            <p:cNvCxnSpPr>
              <a:cxnSpLocks/>
            </p:cNvCxnSpPr>
            <p:nvPr/>
          </p:nvCxnSpPr>
          <p:spPr>
            <a:xfrm rot="5400000">
              <a:off x="1562887" y="3496800"/>
              <a:ext cx="0" cy="158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AFE0B7AD-AB2F-DF4F-9FF4-C7A89769B4B8}"/>
                </a:ext>
              </a:extLst>
            </p:cNvPr>
            <p:cNvCxnSpPr>
              <a:cxnSpLocks/>
            </p:cNvCxnSpPr>
            <p:nvPr/>
          </p:nvCxnSpPr>
          <p:spPr>
            <a:xfrm flipV="1">
              <a:off x="1578351" y="2688871"/>
              <a:ext cx="2601876" cy="1739318"/>
            </a:xfrm>
            <a:prstGeom prst="straightConnector1">
              <a:avLst/>
            </a:prstGeom>
            <a:ln w="38100" cap="rnd">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07B6DF8-4CEC-4C4E-BF16-4C95C758BF4E}"/>
                </a:ext>
              </a:extLst>
            </p:cNvPr>
            <p:cNvCxnSpPr>
              <a:cxnSpLocks/>
            </p:cNvCxnSpPr>
            <p:nvPr/>
          </p:nvCxnSpPr>
          <p:spPr>
            <a:xfrm flipV="1">
              <a:off x="1572200" y="3576000"/>
              <a:ext cx="1265722" cy="852188"/>
            </a:xfrm>
            <a:prstGeom prst="straightConnector1">
              <a:avLst/>
            </a:prstGeom>
            <a:ln w="38100" cap="rnd">
              <a:solidFill>
                <a:srgbClr val="0000FF"/>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444F11E-1A19-894B-8A56-6190ABC239EA}"/>
                </a:ext>
              </a:extLst>
            </p:cNvPr>
            <p:cNvCxnSpPr>
              <a:cxnSpLocks/>
            </p:cNvCxnSpPr>
            <p:nvPr/>
          </p:nvCxnSpPr>
          <p:spPr>
            <a:xfrm>
              <a:off x="704213" y="4348834"/>
              <a:ext cx="0" cy="158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CA78743-89BF-3442-95FA-F6DFCB428727}"/>
                </a:ext>
              </a:extLst>
            </p:cNvPr>
            <p:cNvCxnSpPr>
              <a:cxnSpLocks/>
            </p:cNvCxnSpPr>
            <p:nvPr/>
          </p:nvCxnSpPr>
          <p:spPr>
            <a:xfrm rot="5400000">
              <a:off x="1562887" y="5208576"/>
              <a:ext cx="0" cy="158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D6261571-39B1-3F46-BB3F-1440DEF63C20}"/>
                </a:ext>
              </a:extLst>
            </p:cNvPr>
            <p:cNvSpPr txBox="1"/>
            <p:nvPr/>
          </p:nvSpPr>
          <p:spPr>
            <a:xfrm>
              <a:off x="915781" y="5031355"/>
              <a:ext cx="434734" cy="461665"/>
            </a:xfrm>
            <a:prstGeom prst="rect">
              <a:avLst/>
            </a:prstGeom>
            <a:noFill/>
          </p:spPr>
          <p:txBody>
            <a:bodyPr wrap="none" rtlCol="0">
              <a:spAutoFit/>
            </a:bodyPr>
            <a:lstStyle/>
            <a:p>
              <a:r>
                <a:rPr lang="en-US" sz="2400" dirty="0">
                  <a:latin typeface="+mj-lt"/>
                </a:rPr>
                <a:t>-1</a:t>
              </a:r>
            </a:p>
          </p:txBody>
        </p:sp>
        <p:sp>
          <p:nvSpPr>
            <p:cNvPr id="25" name="TextBox 24">
              <a:extLst>
                <a:ext uri="{FF2B5EF4-FFF2-40B4-BE49-F238E27FC236}">
                  <a16:creationId xmlns:a16="http://schemas.microsoft.com/office/drawing/2014/main" id="{64991E74-17CF-1D41-AF1F-1C44AD98E735}"/>
                </a:ext>
              </a:extLst>
            </p:cNvPr>
            <p:cNvSpPr txBox="1"/>
            <p:nvPr/>
          </p:nvSpPr>
          <p:spPr>
            <a:xfrm>
              <a:off x="1019229" y="1562629"/>
              <a:ext cx="340158" cy="461665"/>
            </a:xfrm>
            <a:prstGeom prst="rect">
              <a:avLst/>
            </a:prstGeom>
            <a:noFill/>
          </p:spPr>
          <p:txBody>
            <a:bodyPr wrap="none" rtlCol="0">
              <a:spAutoFit/>
            </a:bodyPr>
            <a:lstStyle/>
            <a:p>
              <a:r>
                <a:rPr lang="en-US" sz="2400" dirty="0">
                  <a:latin typeface="+mj-lt"/>
                </a:rPr>
                <a:t>3</a:t>
              </a:r>
            </a:p>
          </p:txBody>
        </p:sp>
        <p:sp>
          <p:nvSpPr>
            <p:cNvPr id="26" name="TextBox 25">
              <a:extLst>
                <a:ext uri="{FF2B5EF4-FFF2-40B4-BE49-F238E27FC236}">
                  <a16:creationId xmlns:a16="http://schemas.microsoft.com/office/drawing/2014/main" id="{65C4414A-3F67-C24F-A335-C1B827C746B4}"/>
                </a:ext>
              </a:extLst>
            </p:cNvPr>
            <p:cNvSpPr txBox="1"/>
            <p:nvPr/>
          </p:nvSpPr>
          <p:spPr>
            <a:xfrm>
              <a:off x="3962879" y="4443056"/>
              <a:ext cx="340158" cy="461665"/>
            </a:xfrm>
            <a:prstGeom prst="rect">
              <a:avLst/>
            </a:prstGeom>
            <a:noFill/>
          </p:spPr>
          <p:txBody>
            <a:bodyPr wrap="none" rtlCol="0">
              <a:spAutoFit/>
            </a:bodyPr>
            <a:lstStyle/>
            <a:p>
              <a:r>
                <a:rPr lang="en-US" sz="2400" dirty="0">
                  <a:latin typeface="+mj-lt"/>
                </a:rPr>
                <a:t>3</a:t>
              </a:r>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CE290226-286C-9D45-9F25-34C7F5DCEC37}"/>
                    </a:ext>
                  </a:extLst>
                </p:cNvPr>
                <p:cNvSpPr/>
                <p:nvPr/>
              </p:nvSpPr>
              <p:spPr>
                <a:xfrm>
                  <a:off x="915781" y="928688"/>
                  <a:ext cx="4303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𝑦</m:t>
                        </m:r>
                      </m:oMath>
                    </m:oMathPara>
                  </a14:m>
                  <a:endParaRPr lang="en-US" sz="2400" dirty="0"/>
                </a:p>
              </p:txBody>
            </p:sp>
          </mc:Choice>
          <mc:Fallback xmlns="">
            <p:sp>
              <p:nvSpPr>
                <p:cNvPr id="27" name="Rectangle 26">
                  <a:extLst>
                    <a:ext uri="{FF2B5EF4-FFF2-40B4-BE49-F238E27FC236}">
                      <a16:creationId xmlns:a16="http://schemas.microsoft.com/office/drawing/2014/main" id="{CE290226-286C-9D45-9F25-34C7F5DCEC37}"/>
                    </a:ext>
                  </a:extLst>
                </p:cNvPr>
                <p:cNvSpPr>
                  <a:spLocks noRot="1" noChangeAspect="1" noMove="1" noResize="1" noEditPoints="1" noAdjustHandles="1" noChangeArrowheads="1" noChangeShapeType="1" noTextEdit="1"/>
                </p:cNvSpPr>
                <p:nvPr/>
              </p:nvSpPr>
              <p:spPr>
                <a:xfrm>
                  <a:off x="915781" y="928688"/>
                  <a:ext cx="430374" cy="461665"/>
                </a:xfrm>
                <a:prstGeom prst="rect">
                  <a:avLst/>
                </a:prstGeom>
                <a:blipFill>
                  <a:blip r:embed="rId5"/>
                  <a:stretch>
                    <a:fillRect b="-7895"/>
                  </a:stretch>
                </a:blipFill>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2B8B3F4D-D22E-3B46-A205-D3CBA7FDCF04}"/>
                </a:ext>
              </a:extLst>
            </p:cNvPr>
            <p:cNvCxnSpPr>
              <a:cxnSpLocks/>
            </p:cNvCxnSpPr>
            <p:nvPr/>
          </p:nvCxnSpPr>
          <p:spPr>
            <a:xfrm>
              <a:off x="2837923" y="3576000"/>
              <a:ext cx="0" cy="852034"/>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0E69BC6-41A9-A84A-9468-E1E6D8A627D6}"/>
                </a:ext>
              </a:extLst>
            </p:cNvPr>
            <p:cNvCxnSpPr>
              <a:cxnSpLocks/>
            </p:cNvCxnSpPr>
            <p:nvPr/>
          </p:nvCxnSpPr>
          <p:spPr>
            <a:xfrm>
              <a:off x="4180227" y="2685725"/>
              <a:ext cx="0" cy="1680659"/>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2660E622-635E-D144-893B-4C510A67C34E}"/>
                </a:ext>
              </a:extLst>
            </p:cNvPr>
            <p:cNvCxnSpPr>
              <a:cxnSpLocks/>
            </p:cNvCxnSpPr>
            <p:nvPr/>
          </p:nvCxnSpPr>
          <p:spPr>
            <a:xfrm flipH="1">
              <a:off x="1611151" y="2705199"/>
              <a:ext cx="2569077" cy="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600291-E210-8745-A8B7-AB01750399D8}"/>
                </a:ext>
              </a:extLst>
            </p:cNvPr>
            <p:cNvCxnSpPr>
              <a:cxnSpLocks/>
            </p:cNvCxnSpPr>
            <p:nvPr/>
          </p:nvCxnSpPr>
          <p:spPr>
            <a:xfrm flipH="1">
              <a:off x="1642087" y="3577165"/>
              <a:ext cx="1186522" cy="2328"/>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DD4FDD8E-972F-4F48-8057-9DD45F2F68A4}"/>
                    </a:ext>
                  </a:extLst>
                </p:cNvPr>
                <p:cNvSpPr/>
                <p:nvPr/>
              </p:nvSpPr>
              <p:spPr>
                <a:xfrm>
                  <a:off x="1597924" y="3695267"/>
                  <a:ext cx="64062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i="1">
                                <a:latin typeface="Cambria Math" panose="02040503050406030204" pitchFamily="18" charset="0"/>
                                <a:ea typeface="Times New Roman" panose="02020603050405020304" pitchFamily="18" charset="0"/>
                                <a:cs typeface="Times New Roman" panose="02020603050405020304" pitchFamily="18" charset="0"/>
                              </a:rPr>
                              <m:t>𝑎</m:t>
                            </m:r>
                          </m:e>
                        </m:d>
                      </m:oMath>
                    </m:oMathPara>
                  </a14:m>
                  <a:endParaRPr lang="en-US" sz="2400" dirty="0"/>
                </a:p>
              </p:txBody>
            </p:sp>
          </mc:Choice>
          <mc:Fallback xmlns="">
            <p:sp>
              <p:nvSpPr>
                <p:cNvPr id="32" name="Rectangle 31">
                  <a:extLst>
                    <a:ext uri="{FF2B5EF4-FFF2-40B4-BE49-F238E27FC236}">
                      <a16:creationId xmlns:a16="http://schemas.microsoft.com/office/drawing/2014/main" id="{DD4FDD8E-972F-4F48-8057-9DD45F2F68A4}"/>
                    </a:ext>
                  </a:extLst>
                </p:cNvPr>
                <p:cNvSpPr>
                  <a:spLocks noRot="1" noChangeAspect="1" noMove="1" noResize="1" noEditPoints="1" noAdjustHandles="1" noChangeArrowheads="1" noChangeShapeType="1" noTextEdit="1"/>
                </p:cNvSpPr>
                <p:nvPr/>
              </p:nvSpPr>
              <p:spPr>
                <a:xfrm>
                  <a:off x="1597924" y="3695267"/>
                  <a:ext cx="640625"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6877F483-D561-434B-B94A-EF25C8637315}"/>
                    </a:ext>
                  </a:extLst>
                </p:cNvPr>
                <p:cNvSpPr/>
                <p:nvPr/>
              </p:nvSpPr>
              <p:spPr>
                <a:xfrm>
                  <a:off x="2694072" y="2851458"/>
                  <a:ext cx="810543"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Times New Roman" panose="02020603050405020304" pitchFamily="18" charset="0"/>
                            <a:cs typeface="Times New Roman" panose="02020603050405020304" pitchFamily="18" charset="0"/>
                          </a:rPr>
                          <m:t>2</m:t>
                        </m:r>
                        <m:d>
                          <m:dPr>
                            <m:begChr m:val="|"/>
                            <m:endChr m:val="⟩"/>
                            <m:ctrlPr>
                              <a:rPr lang="en-US" sz="24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i="1">
                                <a:latin typeface="Cambria Math" panose="02040503050406030204" pitchFamily="18" charset="0"/>
                                <a:ea typeface="Times New Roman" panose="02020603050405020304" pitchFamily="18" charset="0"/>
                                <a:cs typeface="Times New Roman" panose="02020603050405020304" pitchFamily="18" charset="0"/>
                              </a:rPr>
                              <m:t>𝑎</m:t>
                            </m:r>
                          </m:e>
                        </m:d>
                      </m:oMath>
                    </m:oMathPara>
                  </a14:m>
                  <a:endParaRPr lang="en-US" sz="2400" dirty="0"/>
                </a:p>
              </p:txBody>
            </p:sp>
          </mc:Choice>
          <mc:Fallback xmlns="">
            <p:sp>
              <p:nvSpPr>
                <p:cNvPr id="33" name="Rectangle 32">
                  <a:extLst>
                    <a:ext uri="{FF2B5EF4-FFF2-40B4-BE49-F238E27FC236}">
                      <a16:creationId xmlns:a16="http://schemas.microsoft.com/office/drawing/2014/main" id="{6877F483-D561-434B-B94A-EF25C8637315}"/>
                    </a:ext>
                  </a:extLst>
                </p:cNvPr>
                <p:cNvSpPr>
                  <a:spLocks noRot="1" noChangeAspect="1" noMove="1" noResize="1" noEditPoints="1" noAdjustHandles="1" noChangeArrowheads="1" noChangeShapeType="1" noTextEdit="1"/>
                </p:cNvSpPr>
                <p:nvPr/>
              </p:nvSpPr>
              <p:spPr>
                <a:xfrm>
                  <a:off x="2694072" y="2851458"/>
                  <a:ext cx="810543" cy="461665"/>
                </a:xfrm>
                <a:prstGeom prst="rect">
                  <a:avLst/>
                </a:prstGeom>
                <a:blipFill>
                  <a:blip r:embed="rId7"/>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CC18C537-6DD8-5C44-B0C6-064E8BC9F46C}"/>
                  </a:ext>
                </a:extLst>
              </p:cNvPr>
              <p:cNvSpPr/>
              <p:nvPr/>
            </p:nvSpPr>
            <p:spPr>
              <a:xfrm>
                <a:off x="820577" y="5431468"/>
                <a:ext cx="2488053" cy="12330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ea typeface="Times New Roman" panose="02020603050405020304" pitchFamily="18" charset="0"/>
                          <a:cs typeface="Times New Roman" panose="02020603050405020304" pitchFamily="18" charset="0"/>
                        </a:rPr>
                        <m:t>𝑘</m:t>
                      </m:r>
                      <m:d>
                        <m:dPr>
                          <m:begChr m:val="|"/>
                          <m:endChr m:val="⟩"/>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i="1">
                              <a:latin typeface="Cambria Math" panose="02040503050406030204" pitchFamily="18" charset="0"/>
                              <a:ea typeface="Times New Roman" panose="02020603050405020304" pitchFamily="18" charset="0"/>
                              <a:cs typeface="Times New Roman" panose="02020603050405020304" pitchFamily="18" charset="0"/>
                            </a:rPr>
                            <m:t>𝑎</m:t>
                          </m:r>
                        </m:e>
                      </m:d>
                      <m:r>
                        <a:rPr lang="en-US" sz="2800" i="1">
                          <a:latin typeface="Cambria Math" panose="02040503050406030204" pitchFamily="18" charset="0"/>
                          <a:ea typeface="Times New Roman" panose="02020603050405020304" pitchFamily="18" charset="0"/>
                          <a:cs typeface="Times New Roman" panose="02020603050405020304" pitchFamily="18" charset="0"/>
                        </a:rPr>
                        <m:t>=</m:t>
                      </m:r>
                      <m:r>
                        <a:rPr lang="en-US" sz="2800" i="1">
                          <a:latin typeface="Cambria Math" panose="02040503050406030204" pitchFamily="18" charset="0"/>
                          <a:ea typeface="Times New Roman" panose="02020603050405020304" pitchFamily="18" charset="0"/>
                          <a:cs typeface="Times New Roman" panose="02020603050405020304" pitchFamily="18" charset="0"/>
                        </a:rPr>
                        <m:t>𝑘</m:t>
                      </m:r>
                      <m:d>
                        <m:dPr>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latin typeface="Cambria Math" panose="02040503050406030204" pitchFamily="18" charset="0"/>
                                        <a:ea typeface="Times New Roman" panose="02020603050405020304" pitchFamily="18" charset="0"/>
                                        <a:cs typeface="Times New Roman" panose="02020603050405020304" pitchFamily="18" charset="0"/>
                                      </a:rPr>
                                      <m:t>𝑎</m:t>
                                    </m:r>
                                  </m:e>
                                  <m:sub>
                                    <m:r>
                                      <a:rPr lang="en-US" sz="2800" i="1">
                                        <a:latin typeface="Cambria Math" panose="02040503050406030204" pitchFamily="18" charset="0"/>
                                        <a:ea typeface="Times New Roman" panose="02020603050405020304" pitchFamily="18" charset="0"/>
                                        <a:cs typeface="Times New Roman" panose="02020603050405020304" pitchFamily="18" charset="0"/>
                                      </a:rPr>
                                      <m:t>1</m:t>
                                    </m:r>
                                  </m:sub>
                                </m:sSub>
                              </m:e>
                            </m:mr>
                            <m:mr>
                              <m:e>
                                <m:r>
                                  <a:rPr lang="en-US" sz="2800" i="1">
                                    <a:latin typeface="Cambria Math" panose="02040503050406030204" pitchFamily="18" charset="0"/>
                                    <a:ea typeface="Times New Roman" panose="02020603050405020304" pitchFamily="18" charset="0"/>
                                    <a:cs typeface="Times New Roman" panose="02020603050405020304" pitchFamily="18" charset="0"/>
                                  </a:rPr>
                                  <m:t>⋮</m:t>
                                </m:r>
                              </m:e>
                            </m:mr>
                            <m:mr>
                              <m:e>
                                <m:sSub>
                                  <m:sSubPr>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800" i="1">
                                        <a:latin typeface="Cambria Math" panose="02040503050406030204" pitchFamily="18" charset="0"/>
                                        <a:ea typeface="Times New Roman" panose="02020603050405020304" pitchFamily="18" charset="0"/>
                                        <a:cs typeface="Times New Roman" panose="02020603050405020304" pitchFamily="18" charset="0"/>
                                      </a:rPr>
                                      <m:t>𝑎</m:t>
                                    </m:r>
                                  </m:e>
                                  <m:sub>
                                    <m:r>
                                      <a:rPr lang="en-US" sz="2800" i="1">
                                        <a:latin typeface="Cambria Math" panose="02040503050406030204" pitchFamily="18" charset="0"/>
                                        <a:ea typeface="Times New Roman" panose="02020603050405020304" pitchFamily="18" charset="0"/>
                                        <a:cs typeface="Times New Roman" panose="02020603050405020304" pitchFamily="18" charset="0"/>
                                      </a:rPr>
                                      <m:t>𝑛</m:t>
                                    </m:r>
                                  </m:sub>
                                </m:sSub>
                              </m:e>
                            </m:mr>
                          </m:m>
                        </m:e>
                      </m:d>
                    </m:oMath>
                  </m:oMathPara>
                </a14:m>
                <a:endParaRPr lang="sr-Latn-RS" sz="2800" b="1" i="1" dirty="0">
                  <a:latin typeface="Cambria Math" panose="02040503050406030204" pitchFamily="18" charset="0"/>
                </a:endParaRPr>
              </a:p>
            </p:txBody>
          </p:sp>
        </mc:Choice>
        <mc:Fallback xmlns="">
          <p:sp>
            <p:nvSpPr>
              <p:cNvPr id="34" name="Rectangle 33">
                <a:extLst>
                  <a:ext uri="{FF2B5EF4-FFF2-40B4-BE49-F238E27FC236}">
                    <a16:creationId xmlns:a16="http://schemas.microsoft.com/office/drawing/2014/main" id="{CC18C537-6DD8-5C44-B0C6-064E8BC9F46C}"/>
                  </a:ext>
                </a:extLst>
              </p:cNvPr>
              <p:cNvSpPr>
                <a:spLocks noRot="1" noChangeAspect="1" noMove="1" noResize="1" noEditPoints="1" noAdjustHandles="1" noChangeArrowheads="1" noChangeShapeType="1" noTextEdit="1"/>
              </p:cNvSpPr>
              <p:nvPr/>
            </p:nvSpPr>
            <p:spPr>
              <a:xfrm>
                <a:off x="820577" y="5431468"/>
                <a:ext cx="2488053" cy="1233030"/>
              </a:xfrm>
              <a:prstGeom prst="rect">
                <a:avLst/>
              </a:prstGeom>
              <a:blipFill>
                <a:blip r:embed="rId8"/>
                <a:stretch>
                  <a:fillRect/>
                </a:stretch>
              </a:blipFill>
            </p:spPr>
            <p:txBody>
              <a:bodyPr/>
              <a:lstStyle/>
              <a:p>
                <a:r>
                  <a:rPr lang="en-US">
                    <a:noFill/>
                  </a:rPr>
                  <a:t> </a:t>
                </a:r>
              </a:p>
            </p:txBody>
          </p:sp>
        </mc:Fallback>
      </mc:AlternateContent>
      <p:grpSp>
        <p:nvGrpSpPr>
          <p:cNvPr id="140" name="Group 139">
            <a:extLst>
              <a:ext uri="{FF2B5EF4-FFF2-40B4-BE49-F238E27FC236}">
                <a16:creationId xmlns:a16="http://schemas.microsoft.com/office/drawing/2014/main" id="{D3DB5958-0CB2-E140-BCE8-2D8286B85068}"/>
              </a:ext>
            </a:extLst>
          </p:cNvPr>
          <p:cNvGrpSpPr/>
          <p:nvPr/>
        </p:nvGrpSpPr>
        <p:grpSpPr>
          <a:xfrm>
            <a:off x="5804111" y="729837"/>
            <a:ext cx="6395016" cy="5937829"/>
            <a:chOff x="5804111" y="729837"/>
            <a:chExt cx="6395016" cy="5937829"/>
          </a:xfrm>
        </p:grpSpPr>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F8E396F8-597E-F147-9E19-599F03C7F041}"/>
                    </a:ext>
                  </a:extLst>
                </p:cNvPr>
                <p:cNvSpPr txBox="1"/>
                <p:nvPr/>
              </p:nvSpPr>
              <p:spPr>
                <a:xfrm>
                  <a:off x="7472192" y="1003267"/>
                  <a:ext cx="4726935" cy="7081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1">
                                <a:latin typeface="Cambria Math" panose="02040503050406030204" pitchFamily="18" charset="0"/>
                              </a:rPr>
                              <m:t>𝑎</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𝑏</m:t>
                            </m:r>
                          </m:e>
                        </m:d>
                        <m:r>
                          <a:rPr lang="en-US" sz="2400" b="0" i="1" smtClean="0">
                            <a:latin typeface="Cambria Math" panose="02040503050406030204" pitchFamily="18" charset="0"/>
                          </a:rPr>
                          <m:t>=</m:t>
                        </m:r>
                        <m:d>
                          <m:dPr>
                            <m:ctrlPr>
                              <a:rPr lang="en-US" sz="2400" i="1" smtClean="0">
                                <a:latin typeface="Cambria Math" panose="02040503050406030204" pitchFamily="18" charset="0"/>
                                <a:cs typeface="Times New Roman" panose="02020603050405020304" pitchFamily="18" charset="0"/>
                              </a:rPr>
                            </m:ctrlPr>
                          </m:dPr>
                          <m:e>
                            <m:m>
                              <m:mPr>
                                <m:mcs>
                                  <m:mc>
                                    <m:mcPr>
                                      <m:count m:val="1"/>
                                      <m:mcJc m:val="center"/>
                                    </m:mcPr>
                                  </m:mc>
                                </m:mcs>
                                <m:ctrlPr>
                                  <a:rPr lang="en-US" sz="2400" i="1">
                                    <a:latin typeface="Cambria Math" panose="02040503050406030204" pitchFamily="18" charset="0"/>
                                    <a:cs typeface="Times New Roman" panose="02020603050405020304" pitchFamily="18" charset="0"/>
                                  </a:rPr>
                                </m:ctrlPr>
                              </m:mPr>
                              <m:mr>
                                <m:e>
                                  <m:r>
                                    <m:rPr>
                                      <m:brk m:alnAt="7"/>
                                    </m:rPr>
                                    <a:rPr lang="en-US" sz="2400" b="0" i="1" smtClean="0">
                                      <a:latin typeface="Cambria Math" panose="02040503050406030204" pitchFamily="18" charset="0"/>
                                      <a:cs typeface="Times New Roman" panose="02020603050405020304" pitchFamily="18" charset="0"/>
                                    </a:rPr>
                                    <m:t>1</m:t>
                                  </m:r>
                                </m:e>
                              </m:mr>
                              <m:mr>
                                <m:e>
                                  <m:r>
                                    <a:rPr lang="en-US" sz="2400" b="0" i="1" smtClean="0">
                                      <a:latin typeface="Cambria Math" panose="02040503050406030204" pitchFamily="18" charset="0"/>
                                    </a:rPr>
                                    <m:t>2</m:t>
                                  </m:r>
                                </m:e>
                              </m:mr>
                            </m:m>
                          </m:e>
                        </m:d>
                        <m:r>
                          <a:rPr lang="en-US" sz="2400" b="0" i="1" smtClean="0">
                            <a:latin typeface="Cambria Math" panose="02040503050406030204" pitchFamily="18" charset="0"/>
                          </a:rPr>
                          <m:t>+</m:t>
                        </m:r>
                        <m:d>
                          <m:dPr>
                            <m:ctrlPr>
                              <a:rPr lang="en-US" sz="2400" i="1" smtClean="0">
                                <a:latin typeface="Cambria Math" panose="02040503050406030204" pitchFamily="18" charset="0"/>
                                <a:cs typeface="Times New Roman" panose="02020603050405020304" pitchFamily="18" charset="0"/>
                              </a:rPr>
                            </m:ctrlPr>
                          </m:dPr>
                          <m:e>
                            <m:m>
                              <m:mPr>
                                <m:mcs>
                                  <m:mc>
                                    <m:mcPr>
                                      <m:count m:val="1"/>
                                      <m:mcJc m:val="center"/>
                                    </m:mcPr>
                                  </m:mc>
                                </m:mcs>
                                <m:ctrlPr>
                                  <a:rPr lang="en-US" sz="2400" i="1">
                                    <a:latin typeface="Cambria Math" panose="02040503050406030204" pitchFamily="18" charset="0"/>
                                    <a:cs typeface="Times New Roman" panose="02020603050405020304" pitchFamily="18" charset="0"/>
                                  </a:rPr>
                                </m:ctrlPr>
                              </m:mPr>
                              <m:mr>
                                <m:e>
                                  <m:r>
                                    <a:rPr lang="en-US" sz="2400" b="0" i="1" smtClean="0">
                                      <a:latin typeface="Cambria Math" panose="02040503050406030204" pitchFamily="18" charset="0"/>
                                    </a:rPr>
                                    <m:t>2</m:t>
                                  </m:r>
                                </m:e>
                              </m:mr>
                              <m:mr>
                                <m:e>
                                  <m:r>
                                    <a:rPr lang="en-US" sz="2400" b="0" i="1" smtClean="0">
                                      <a:latin typeface="Cambria Math" panose="02040503050406030204" pitchFamily="18" charset="0"/>
                                    </a:rPr>
                                    <m:t>1</m:t>
                                  </m:r>
                                </m:e>
                              </m:mr>
                            </m:m>
                          </m:e>
                        </m:d>
                        <m:r>
                          <a:rPr lang="en-US" sz="2400" b="0" i="1" smtClean="0">
                            <a:latin typeface="Cambria Math" panose="02040503050406030204" pitchFamily="18" charset="0"/>
                          </a:rPr>
                          <m:t>=</m:t>
                        </m:r>
                        <m:d>
                          <m:dPr>
                            <m:ctrlPr>
                              <a:rPr lang="en-US" sz="2400" i="1">
                                <a:latin typeface="Cambria Math" panose="02040503050406030204" pitchFamily="18" charset="0"/>
                                <a:cs typeface="Times New Roman" panose="02020603050405020304" pitchFamily="18" charset="0"/>
                              </a:rPr>
                            </m:ctrlPr>
                          </m:dPr>
                          <m:e>
                            <m:m>
                              <m:mPr>
                                <m:mcs>
                                  <m:mc>
                                    <m:mcPr>
                                      <m:count m:val="1"/>
                                      <m:mcJc m:val="center"/>
                                    </m:mcPr>
                                  </m:mc>
                                </m:mcs>
                                <m:ctrlPr>
                                  <a:rPr lang="en-US" sz="2400" i="1">
                                    <a:latin typeface="Cambria Math" panose="02040503050406030204" pitchFamily="18" charset="0"/>
                                    <a:cs typeface="Times New Roman" panose="02020603050405020304" pitchFamily="18" charset="0"/>
                                  </a:rPr>
                                </m:ctrlPr>
                              </m:mPr>
                              <m:mr>
                                <m:e>
                                  <m:r>
                                    <m:rPr>
                                      <m:brk m:alnAt="7"/>
                                    </m:rPr>
                                    <a:rPr lang="en-US" sz="2400" b="0" i="1" smtClean="0">
                                      <a:latin typeface="Cambria Math" panose="02040503050406030204" pitchFamily="18" charset="0"/>
                                      <a:cs typeface="Times New Roman" panose="02020603050405020304" pitchFamily="18" charset="0"/>
                                    </a:rPr>
                                    <m:t>3</m:t>
                                  </m:r>
                                </m:e>
                              </m:mr>
                              <m:mr>
                                <m:e>
                                  <m:r>
                                    <a:rPr lang="en-US" sz="2400" b="0" i="1" smtClean="0">
                                      <a:latin typeface="Cambria Math" panose="02040503050406030204" pitchFamily="18" charset="0"/>
                                    </a:rPr>
                                    <m:t>3</m:t>
                                  </m:r>
                                </m:e>
                              </m:mr>
                            </m:m>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𝑐</m:t>
                            </m:r>
                          </m:e>
                        </m:d>
                      </m:oMath>
                    </m:oMathPara>
                  </a14:m>
                  <a:endParaRPr lang="en-US" sz="2400" dirty="0"/>
                </a:p>
              </p:txBody>
            </p:sp>
          </mc:Choice>
          <mc:Fallback xmlns="">
            <p:sp>
              <p:nvSpPr>
                <p:cNvPr id="85" name="TextBox 84">
                  <a:extLst>
                    <a:ext uri="{FF2B5EF4-FFF2-40B4-BE49-F238E27FC236}">
                      <a16:creationId xmlns:a16="http://schemas.microsoft.com/office/drawing/2014/main" id="{F8E396F8-597E-F147-9E19-599F03C7F041}"/>
                    </a:ext>
                  </a:extLst>
                </p:cNvPr>
                <p:cNvSpPr txBox="1">
                  <a:spLocks noRot="1" noChangeAspect="1" noMove="1" noResize="1" noEditPoints="1" noAdjustHandles="1" noChangeArrowheads="1" noChangeShapeType="1" noTextEdit="1"/>
                </p:cNvSpPr>
                <p:nvPr/>
              </p:nvSpPr>
              <p:spPr>
                <a:xfrm>
                  <a:off x="7472192" y="1003267"/>
                  <a:ext cx="4726935" cy="708143"/>
                </a:xfrm>
                <a:prstGeom prst="rect">
                  <a:avLst/>
                </a:prstGeom>
                <a:blipFill>
                  <a:blip r:embed="rId9"/>
                  <a:stretch>
                    <a:fillRect b="-70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Rectangle 86">
                  <a:extLst>
                    <a:ext uri="{FF2B5EF4-FFF2-40B4-BE49-F238E27FC236}">
                      <a16:creationId xmlns:a16="http://schemas.microsoft.com/office/drawing/2014/main" id="{D88962FE-347D-0143-9370-19BCDE39BAEE}"/>
                    </a:ext>
                  </a:extLst>
                </p:cNvPr>
                <p:cNvSpPr/>
                <p:nvPr/>
              </p:nvSpPr>
              <p:spPr>
                <a:xfrm>
                  <a:off x="7221747" y="2870489"/>
                  <a:ext cx="664407" cy="4788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accent6">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i="1">
                                <a:solidFill>
                                  <a:schemeClr val="accent6">
                                    <a:lumMod val="75000"/>
                                  </a:schemeClr>
                                </a:solidFill>
                                <a:latin typeface="Cambria Math" panose="02040503050406030204" pitchFamily="18" charset="0"/>
                                <a:ea typeface="Times New Roman" panose="02020603050405020304" pitchFamily="18" charset="0"/>
                                <a:cs typeface="Times New Roman" panose="02020603050405020304" pitchFamily="18" charset="0"/>
                              </a:rPr>
                              <m:t>𝑎</m:t>
                            </m:r>
                          </m:e>
                        </m:d>
                      </m:oMath>
                    </m:oMathPara>
                  </a14:m>
                  <a:endParaRPr lang="en-US" sz="2400" dirty="0">
                    <a:solidFill>
                      <a:schemeClr val="accent6">
                        <a:lumMod val="75000"/>
                      </a:schemeClr>
                    </a:solidFill>
                  </a:endParaRPr>
                </a:p>
              </p:txBody>
            </p:sp>
          </mc:Choice>
          <mc:Fallback xmlns="">
            <p:sp>
              <p:nvSpPr>
                <p:cNvPr id="87" name="Rectangle 86">
                  <a:extLst>
                    <a:ext uri="{FF2B5EF4-FFF2-40B4-BE49-F238E27FC236}">
                      <a16:creationId xmlns:a16="http://schemas.microsoft.com/office/drawing/2014/main" id="{D88962FE-347D-0143-9370-19BCDE39BAEE}"/>
                    </a:ext>
                  </a:extLst>
                </p:cNvPr>
                <p:cNvSpPr>
                  <a:spLocks noRot="1" noChangeAspect="1" noMove="1" noResize="1" noEditPoints="1" noAdjustHandles="1" noChangeArrowheads="1" noChangeShapeType="1" noTextEdit="1"/>
                </p:cNvSpPr>
                <p:nvPr/>
              </p:nvSpPr>
              <p:spPr>
                <a:xfrm>
                  <a:off x="7221747" y="2870489"/>
                  <a:ext cx="664407" cy="47880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Rectangle 87">
                  <a:extLst>
                    <a:ext uri="{FF2B5EF4-FFF2-40B4-BE49-F238E27FC236}">
                      <a16:creationId xmlns:a16="http://schemas.microsoft.com/office/drawing/2014/main" id="{A40E964A-0C12-4B4B-81F1-EA73A22C093B}"/>
                    </a:ext>
                  </a:extLst>
                </p:cNvPr>
                <p:cNvSpPr/>
                <p:nvPr/>
              </p:nvSpPr>
              <p:spPr>
                <a:xfrm>
                  <a:off x="8169279" y="3746491"/>
                  <a:ext cx="656959" cy="4788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accent5">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b="0" i="1" smtClean="0">
                                <a:solidFill>
                                  <a:schemeClr val="accent5">
                                    <a:lumMod val="50000"/>
                                  </a:schemeClr>
                                </a:solidFill>
                                <a:latin typeface="Cambria Math" panose="02040503050406030204" pitchFamily="18" charset="0"/>
                                <a:ea typeface="Times New Roman" panose="02020603050405020304" pitchFamily="18" charset="0"/>
                                <a:cs typeface="Times New Roman" panose="02020603050405020304" pitchFamily="18" charset="0"/>
                              </a:rPr>
                              <m:t>𝑏</m:t>
                            </m:r>
                          </m:e>
                        </m:d>
                      </m:oMath>
                    </m:oMathPara>
                  </a14:m>
                  <a:endParaRPr lang="en-US" sz="2400" dirty="0">
                    <a:solidFill>
                      <a:schemeClr val="accent5">
                        <a:lumMod val="50000"/>
                      </a:schemeClr>
                    </a:solidFill>
                  </a:endParaRPr>
                </a:p>
              </p:txBody>
            </p:sp>
          </mc:Choice>
          <mc:Fallback xmlns="">
            <p:sp>
              <p:nvSpPr>
                <p:cNvPr id="88" name="Rectangle 87">
                  <a:extLst>
                    <a:ext uri="{FF2B5EF4-FFF2-40B4-BE49-F238E27FC236}">
                      <a16:creationId xmlns:a16="http://schemas.microsoft.com/office/drawing/2014/main" id="{A40E964A-0C12-4B4B-81F1-EA73A22C093B}"/>
                    </a:ext>
                  </a:extLst>
                </p:cNvPr>
                <p:cNvSpPr>
                  <a:spLocks noRot="1" noChangeAspect="1" noMove="1" noResize="1" noEditPoints="1" noAdjustHandles="1" noChangeArrowheads="1" noChangeShapeType="1" noTextEdit="1"/>
                </p:cNvSpPr>
                <p:nvPr/>
              </p:nvSpPr>
              <p:spPr>
                <a:xfrm>
                  <a:off x="8169279" y="3746491"/>
                  <a:ext cx="656959" cy="47880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Rectangle 94">
                  <a:extLst>
                    <a:ext uri="{FF2B5EF4-FFF2-40B4-BE49-F238E27FC236}">
                      <a16:creationId xmlns:a16="http://schemas.microsoft.com/office/drawing/2014/main" id="{938264AF-976B-8A46-A4B5-D87FD962BF56}"/>
                    </a:ext>
                  </a:extLst>
                </p:cNvPr>
                <p:cNvSpPr/>
                <p:nvPr/>
              </p:nvSpPr>
              <p:spPr>
                <a:xfrm>
                  <a:off x="8280263" y="2356989"/>
                  <a:ext cx="635146" cy="4788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rgbClr val="C00000"/>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b="0" i="1" smtClean="0">
                                <a:solidFill>
                                  <a:srgbClr val="C00000"/>
                                </a:solidFill>
                                <a:latin typeface="Cambria Math" panose="02040503050406030204" pitchFamily="18" charset="0"/>
                                <a:ea typeface="Times New Roman" panose="02020603050405020304" pitchFamily="18" charset="0"/>
                                <a:cs typeface="Times New Roman" panose="02020603050405020304" pitchFamily="18" charset="0"/>
                              </a:rPr>
                              <m:t>𝑐</m:t>
                            </m:r>
                          </m:e>
                        </m:d>
                      </m:oMath>
                    </m:oMathPara>
                  </a14:m>
                  <a:endParaRPr lang="en-US" sz="2400" dirty="0">
                    <a:solidFill>
                      <a:srgbClr val="C00000"/>
                    </a:solidFill>
                  </a:endParaRPr>
                </a:p>
              </p:txBody>
            </p:sp>
          </mc:Choice>
          <mc:Fallback xmlns="">
            <p:sp>
              <p:nvSpPr>
                <p:cNvPr id="95" name="Rectangle 94">
                  <a:extLst>
                    <a:ext uri="{FF2B5EF4-FFF2-40B4-BE49-F238E27FC236}">
                      <a16:creationId xmlns:a16="http://schemas.microsoft.com/office/drawing/2014/main" id="{938264AF-976B-8A46-A4B5-D87FD962BF56}"/>
                    </a:ext>
                  </a:extLst>
                </p:cNvPr>
                <p:cNvSpPr>
                  <a:spLocks noRot="1" noChangeAspect="1" noMove="1" noResize="1" noEditPoints="1" noAdjustHandles="1" noChangeArrowheads="1" noChangeShapeType="1" noTextEdit="1"/>
                </p:cNvSpPr>
                <p:nvPr/>
              </p:nvSpPr>
              <p:spPr>
                <a:xfrm>
                  <a:off x="8280263" y="2356989"/>
                  <a:ext cx="635146" cy="478804"/>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Rectangle 95">
                  <a:extLst>
                    <a:ext uri="{FF2B5EF4-FFF2-40B4-BE49-F238E27FC236}">
                      <a16:creationId xmlns:a16="http://schemas.microsoft.com/office/drawing/2014/main" id="{9B04317B-D788-D142-8ADB-589BB474412F}"/>
                    </a:ext>
                  </a:extLst>
                </p:cNvPr>
                <p:cNvSpPr/>
                <p:nvPr/>
              </p:nvSpPr>
              <p:spPr>
                <a:xfrm>
                  <a:off x="5847274" y="5354550"/>
                  <a:ext cx="6215035" cy="13131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r>
                          <a:rPr lang="en-US" sz="2800" i="1">
                            <a:latin typeface="Cambria Math" panose="02040503050406030204" pitchFamily="18" charset="0"/>
                            <a:ea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𝑏</m:t>
                            </m:r>
                          </m:e>
                        </m:d>
                        <m:r>
                          <a:rPr lang="en-US" sz="2800" i="1">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1"/>
                                      <m:mcJc m:val="center"/>
                                    </m:mcPr>
                                  </m:mc>
                                </m:mcs>
                                <m:ctrlPr>
                                  <a:rPr lang="en-US" sz="2800" i="1">
                                    <a:latin typeface="Cambria Math" panose="02040503050406030204" pitchFamily="18" charset="0"/>
                                  </a:rPr>
                                </m:ctrlPr>
                              </m:mPr>
                              <m:m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a:latin typeface="Cambria Math" panose="02040503050406030204" pitchFamily="18" charset="0"/>
                                        </a:rPr>
                                        <m:t>1</m:t>
                                      </m:r>
                                    </m:sub>
                                  </m:sSub>
                                </m:e>
                              </m:mr>
                              <m:mr>
                                <m:e>
                                  <m:r>
                                    <a:rPr lang="en-US" sz="2800">
                                      <a:latin typeface="Cambria Math" panose="02040503050406030204" pitchFamily="18" charset="0"/>
                                    </a:rPr>
                                    <m:t>⋮</m:t>
                                  </m:r>
                                </m:e>
                              </m:mr>
                              <m:m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𝑛</m:t>
                                      </m:r>
                                    </m:sub>
                                  </m:sSub>
                                </m:e>
                              </m:mr>
                            </m:m>
                          </m:e>
                        </m:d>
                        <m:r>
                          <a:rPr lang="en-US" sz="2800" b="1" i="1">
                            <a:latin typeface="Cambria Math" panose="02040503050406030204" pitchFamily="18" charset="0"/>
                            <a:ea typeface="Cambria Math" panose="02040503050406030204" pitchFamily="18" charset="0"/>
                          </a:rPr>
                          <m:t>±</m:t>
                        </m:r>
                        <m:d>
                          <m:dPr>
                            <m:ctrlPr>
                              <a:rPr lang="en-US" sz="2800" i="1">
                                <a:latin typeface="Cambria Math" panose="02040503050406030204" pitchFamily="18" charset="0"/>
                              </a:rPr>
                            </m:ctrlPr>
                          </m:dPr>
                          <m:e>
                            <m:m>
                              <m:mPr>
                                <m:plcHide m:val="on"/>
                                <m:mcs>
                                  <m:mc>
                                    <m:mcPr>
                                      <m:count m:val="1"/>
                                      <m:mcJc m:val="center"/>
                                    </m:mcPr>
                                  </m:mc>
                                </m:mcs>
                                <m:ctrlPr>
                                  <a:rPr lang="en-US" sz="2800" i="1">
                                    <a:latin typeface="Cambria Math" panose="02040503050406030204" pitchFamily="18" charset="0"/>
                                  </a:rPr>
                                </m:ctrlPr>
                              </m:mPr>
                              <m:mr>
                                <m:e>
                                  <m:sSub>
                                    <m:sSubPr>
                                      <m:ctrlPr>
                                        <a:rPr lang="en-US" sz="2800" i="1">
                                          <a:latin typeface="Cambria Math" panose="02040503050406030204" pitchFamily="18" charset="0"/>
                                        </a:rPr>
                                      </m:ctrlPr>
                                    </m:sSubPr>
                                    <m:e>
                                      <m:r>
                                        <a:rPr lang="en-US" sz="2800" i="1">
                                          <a:latin typeface="Cambria Math" panose="02040503050406030204" pitchFamily="18" charset="0"/>
                                        </a:rPr>
                                        <m:t>𝑏</m:t>
                                      </m:r>
                                    </m:e>
                                    <m:sub>
                                      <m:r>
                                        <a:rPr lang="en-US" sz="2800">
                                          <a:latin typeface="Cambria Math" panose="02040503050406030204" pitchFamily="18" charset="0"/>
                                        </a:rPr>
                                        <m:t>1</m:t>
                                      </m:r>
                                    </m:sub>
                                  </m:sSub>
                                </m:e>
                              </m:mr>
                              <m:mr>
                                <m:e>
                                  <m:r>
                                    <a:rPr lang="en-US" sz="2800">
                                      <a:latin typeface="Cambria Math" panose="02040503050406030204" pitchFamily="18" charset="0"/>
                                    </a:rPr>
                                    <m:t>⋮</m:t>
                                  </m:r>
                                </m:e>
                              </m:mr>
                              <m:mr>
                                <m:e>
                                  <m:sSub>
                                    <m:sSubPr>
                                      <m:ctrlPr>
                                        <a:rPr lang="en-US" sz="2800" i="1">
                                          <a:latin typeface="Cambria Math" panose="02040503050406030204" pitchFamily="18" charset="0"/>
                                        </a:rPr>
                                      </m:ctrlPr>
                                    </m:sSubPr>
                                    <m:e>
                                      <m:r>
                                        <a:rPr lang="en-US" sz="2800" i="1">
                                          <a:latin typeface="Cambria Math" panose="02040503050406030204" pitchFamily="18" charset="0"/>
                                        </a:rPr>
                                        <m:t>𝑏</m:t>
                                      </m:r>
                                    </m:e>
                                    <m:sub>
                                      <m:r>
                                        <a:rPr lang="en-US" sz="2800" i="1">
                                          <a:latin typeface="Cambria Math" panose="02040503050406030204" pitchFamily="18" charset="0"/>
                                        </a:rPr>
                                        <m:t>𝑛</m:t>
                                      </m:r>
                                    </m:sub>
                                  </m:sSub>
                                </m:e>
                              </m:mr>
                            </m:m>
                          </m:e>
                        </m:d>
                        <m:r>
                          <a:rPr lang="en-US" sz="2800" i="1">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1"/>
                                      <m:mcJc m:val="center"/>
                                    </m:mcPr>
                                  </m:mc>
                                </m:mcs>
                                <m:ctrlPr>
                                  <a:rPr lang="en-US" sz="2800" i="1">
                                    <a:latin typeface="Cambria Math" panose="02040503050406030204" pitchFamily="18" charset="0"/>
                                  </a:rPr>
                                </m:ctrlPr>
                              </m:mPr>
                              <m:mr>
                                <m:e>
                                  <m:sSub>
                                    <m:sSubPr>
                                      <m:ctrlPr>
                                        <a:rPr lang="en-US" sz="2800" i="1">
                                          <a:latin typeface="Cambria Math" panose="02040503050406030204" pitchFamily="18" charset="0"/>
                                        </a:rPr>
                                      </m:ctrlPr>
                                    </m:sSubP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a:latin typeface="Cambria Math" panose="02040503050406030204" pitchFamily="18" charset="0"/>
                                            </a:rPr>
                                            <m:t>1</m:t>
                                          </m:r>
                                        </m:sub>
                                      </m:sSub>
                                      <m:r>
                                        <a:rPr lang="en-US" sz="2800" b="1" i="1">
                                          <a:latin typeface="Cambria Math" panose="02040503050406030204" pitchFamily="18" charset="0"/>
                                          <a:ea typeface="Cambria Math" panose="02040503050406030204" pitchFamily="18" charset="0"/>
                                        </a:rPr>
                                        <m:t>±</m:t>
                                      </m:r>
                                      <m:r>
                                        <a:rPr lang="en-US" sz="2800" i="1">
                                          <a:latin typeface="Cambria Math" panose="02040503050406030204" pitchFamily="18" charset="0"/>
                                        </a:rPr>
                                        <m:t>𝑏</m:t>
                                      </m:r>
                                    </m:e>
                                    <m:sub>
                                      <m:r>
                                        <a:rPr lang="en-US" sz="2800">
                                          <a:latin typeface="Cambria Math" panose="02040503050406030204" pitchFamily="18" charset="0"/>
                                        </a:rPr>
                                        <m:t>1</m:t>
                                      </m:r>
                                    </m:sub>
                                  </m:sSub>
                                </m:e>
                              </m:mr>
                              <m:mr>
                                <m:e>
                                  <m:r>
                                    <a:rPr lang="en-US" sz="2800">
                                      <a:latin typeface="Cambria Math" panose="02040503050406030204" pitchFamily="18" charset="0"/>
                                    </a:rPr>
                                    <m:t>⋮</m:t>
                                  </m:r>
                                </m:e>
                              </m:mr>
                              <m:mr>
                                <m:e>
                                  <m:sSub>
                                    <m:sSubPr>
                                      <m:ctrlPr>
                                        <a:rPr lang="en-US" sz="2800" i="1">
                                          <a:latin typeface="Cambria Math" panose="02040503050406030204" pitchFamily="18" charset="0"/>
                                        </a:rPr>
                                      </m:ctrlPr>
                                    </m:sSubP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𝑛</m:t>
                                          </m:r>
                                        </m:sub>
                                      </m:sSub>
                                      <m:r>
                                        <a:rPr lang="en-US" sz="2800" b="1" i="1">
                                          <a:latin typeface="Cambria Math" panose="02040503050406030204" pitchFamily="18" charset="0"/>
                                          <a:ea typeface="Cambria Math" panose="02040503050406030204" pitchFamily="18" charset="0"/>
                                        </a:rPr>
                                        <m:t>±</m:t>
                                      </m:r>
                                      <m:r>
                                        <a:rPr lang="en-US" sz="2800" i="1">
                                          <a:latin typeface="Cambria Math" panose="02040503050406030204" pitchFamily="18" charset="0"/>
                                        </a:rPr>
                                        <m:t>𝑏</m:t>
                                      </m:r>
                                    </m:e>
                                    <m:sub>
                                      <m:r>
                                        <a:rPr lang="en-US" sz="2800" i="1">
                                          <a:latin typeface="Cambria Math" panose="02040503050406030204" pitchFamily="18" charset="0"/>
                                        </a:rPr>
                                        <m:t>𝑛</m:t>
                                      </m:r>
                                    </m:sub>
                                  </m:sSub>
                                </m:e>
                              </m:mr>
                            </m:m>
                          </m:e>
                        </m:d>
                      </m:oMath>
                    </m:oMathPara>
                  </a14:m>
                  <a:endParaRPr lang="en-US" sz="2800" dirty="0"/>
                </a:p>
              </p:txBody>
            </p:sp>
          </mc:Choice>
          <mc:Fallback xmlns="">
            <p:sp>
              <p:nvSpPr>
                <p:cNvPr id="96" name="Rectangle 95">
                  <a:extLst>
                    <a:ext uri="{FF2B5EF4-FFF2-40B4-BE49-F238E27FC236}">
                      <a16:creationId xmlns:a16="http://schemas.microsoft.com/office/drawing/2014/main" id="{9B04317B-D788-D142-8ADB-589BB474412F}"/>
                    </a:ext>
                  </a:extLst>
                </p:cNvPr>
                <p:cNvSpPr>
                  <a:spLocks noRot="1" noChangeAspect="1" noMove="1" noResize="1" noEditPoints="1" noAdjustHandles="1" noChangeArrowheads="1" noChangeShapeType="1" noTextEdit="1"/>
                </p:cNvSpPr>
                <p:nvPr/>
              </p:nvSpPr>
              <p:spPr>
                <a:xfrm>
                  <a:off x="5847274" y="5354550"/>
                  <a:ext cx="6215035" cy="1313116"/>
                </a:xfrm>
                <a:prstGeom prst="rect">
                  <a:avLst/>
                </a:prstGeom>
                <a:blipFill>
                  <a:blip r:embed="rId13"/>
                  <a:stretch>
                    <a:fillRect b="-2885"/>
                  </a:stretch>
                </a:blipFill>
              </p:spPr>
              <p:txBody>
                <a:bodyPr/>
                <a:lstStyle/>
                <a:p>
                  <a:r>
                    <a:rPr lang="en-US">
                      <a:noFill/>
                    </a:rPr>
                    <a:t> </a:t>
                  </a:r>
                </a:p>
              </p:txBody>
            </p:sp>
          </mc:Fallback>
        </mc:AlternateContent>
        <p:sp>
          <p:nvSpPr>
            <p:cNvPr id="99" name="TextBox 98">
              <a:extLst>
                <a:ext uri="{FF2B5EF4-FFF2-40B4-BE49-F238E27FC236}">
                  <a16:creationId xmlns:a16="http://schemas.microsoft.com/office/drawing/2014/main" id="{D4FD8F12-7E07-0647-96EF-3BB2F809BF51}"/>
                </a:ext>
              </a:extLst>
            </p:cNvPr>
            <p:cNvSpPr txBox="1"/>
            <p:nvPr/>
          </p:nvSpPr>
          <p:spPr>
            <a:xfrm>
              <a:off x="6813884" y="4156046"/>
              <a:ext cx="383438" cy="461665"/>
            </a:xfrm>
            <a:prstGeom prst="rect">
              <a:avLst/>
            </a:prstGeom>
            <a:noFill/>
          </p:spPr>
          <p:txBody>
            <a:bodyPr wrap="none" rtlCol="0">
              <a:spAutoFit/>
            </a:bodyPr>
            <a:lstStyle/>
            <a:p>
              <a:r>
                <a:rPr lang="en-US" sz="2400" b="1" i="1" dirty="0">
                  <a:latin typeface="+mj-lt"/>
                </a:rPr>
                <a:t>O</a:t>
              </a:r>
            </a:p>
          </p:txBody>
        </p:sp>
        <p:sp>
          <p:nvSpPr>
            <p:cNvPr id="100" name="TextBox 99">
              <a:extLst>
                <a:ext uri="{FF2B5EF4-FFF2-40B4-BE49-F238E27FC236}">
                  <a16:creationId xmlns:a16="http://schemas.microsoft.com/office/drawing/2014/main" id="{13F985E3-3A45-F940-BBA4-E4D6A92298E5}"/>
                </a:ext>
              </a:extLst>
            </p:cNvPr>
            <p:cNvSpPr txBox="1"/>
            <p:nvPr/>
          </p:nvSpPr>
          <p:spPr>
            <a:xfrm>
              <a:off x="7925940" y="4244205"/>
              <a:ext cx="340158" cy="461665"/>
            </a:xfrm>
            <a:prstGeom prst="rect">
              <a:avLst/>
            </a:prstGeom>
            <a:noFill/>
          </p:spPr>
          <p:txBody>
            <a:bodyPr wrap="none" rtlCol="0">
              <a:spAutoFit/>
            </a:bodyPr>
            <a:lstStyle/>
            <a:p>
              <a:r>
                <a:rPr lang="en-US" sz="2400" dirty="0">
                  <a:latin typeface="+mj-lt"/>
                </a:rPr>
                <a:t>1</a:t>
              </a:r>
            </a:p>
          </p:txBody>
        </p:sp>
        <p:sp>
          <p:nvSpPr>
            <p:cNvPr id="101" name="TextBox 100">
              <a:extLst>
                <a:ext uri="{FF2B5EF4-FFF2-40B4-BE49-F238E27FC236}">
                  <a16:creationId xmlns:a16="http://schemas.microsoft.com/office/drawing/2014/main" id="{8EF3A4D8-5111-374B-B72A-1104EE81FF1B}"/>
                </a:ext>
              </a:extLst>
            </p:cNvPr>
            <p:cNvSpPr txBox="1"/>
            <p:nvPr/>
          </p:nvSpPr>
          <p:spPr>
            <a:xfrm>
              <a:off x="8784713" y="4244205"/>
              <a:ext cx="340158" cy="461665"/>
            </a:xfrm>
            <a:prstGeom prst="rect">
              <a:avLst/>
            </a:prstGeom>
            <a:noFill/>
          </p:spPr>
          <p:txBody>
            <a:bodyPr wrap="none" rtlCol="0">
              <a:spAutoFit/>
            </a:bodyPr>
            <a:lstStyle/>
            <a:p>
              <a:r>
                <a:rPr lang="en-US" sz="2400" dirty="0">
                  <a:latin typeface="+mj-lt"/>
                </a:rPr>
                <a:t>2</a:t>
              </a:r>
            </a:p>
          </p:txBody>
        </p:sp>
        <p:sp>
          <p:nvSpPr>
            <p:cNvPr id="102" name="TextBox 101">
              <a:extLst>
                <a:ext uri="{FF2B5EF4-FFF2-40B4-BE49-F238E27FC236}">
                  <a16:creationId xmlns:a16="http://schemas.microsoft.com/office/drawing/2014/main" id="{9055B4F5-815C-5B42-83C1-BB0D1182976D}"/>
                </a:ext>
              </a:extLst>
            </p:cNvPr>
            <p:cNvSpPr txBox="1"/>
            <p:nvPr/>
          </p:nvSpPr>
          <p:spPr>
            <a:xfrm>
              <a:off x="6125792" y="4244205"/>
              <a:ext cx="434734" cy="461665"/>
            </a:xfrm>
            <a:prstGeom prst="rect">
              <a:avLst/>
            </a:prstGeom>
            <a:noFill/>
          </p:spPr>
          <p:txBody>
            <a:bodyPr wrap="none" rtlCol="0">
              <a:spAutoFit/>
            </a:bodyPr>
            <a:lstStyle/>
            <a:p>
              <a:r>
                <a:rPr lang="en-US" sz="2400" dirty="0">
                  <a:latin typeface="+mj-lt"/>
                </a:rPr>
                <a:t>-1</a:t>
              </a:r>
            </a:p>
          </p:txBody>
        </p:sp>
        <p:sp>
          <p:nvSpPr>
            <p:cNvPr id="103" name="TextBox 102">
              <a:extLst>
                <a:ext uri="{FF2B5EF4-FFF2-40B4-BE49-F238E27FC236}">
                  <a16:creationId xmlns:a16="http://schemas.microsoft.com/office/drawing/2014/main" id="{512C64DA-AFCE-2246-A1D3-0A784B09FF6E}"/>
                </a:ext>
              </a:extLst>
            </p:cNvPr>
            <p:cNvSpPr txBox="1"/>
            <p:nvPr/>
          </p:nvSpPr>
          <p:spPr>
            <a:xfrm>
              <a:off x="6716161" y="3068062"/>
              <a:ext cx="340158" cy="461665"/>
            </a:xfrm>
            <a:prstGeom prst="rect">
              <a:avLst/>
            </a:prstGeom>
            <a:noFill/>
          </p:spPr>
          <p:txBody>
            <a:bodyPr wrap="none" rtlCol="0">
              <a:spAutoFit/>
            </a:bodyPr>
            <a:lstStyle/>
            <a:p>
              <a:r>
                <a:rPr lang="en-US" sz="2400" dirty="0">
                  <a:latin typeface="+mj-lt"/>
                </a:rPr>
                <a:t>1</a:t>
              </a:r>
            </a:p>
          </p:txBody>
        </p:sp>
        <p:sp>
          <p:nvSpPr>
            <p:cNvPr id="104" name="TextBox 103">
              <a:extLst>
                <a:ext uri="{FF2B5EF4-FFF2-40B4-BE49-F238E27FC236}">
                  <a16:creationId xmlns:a16="http://schemas.microsoft.com/office/drawing/2014/main" id="{92805FFF-50DA-4B47-A1A2-EABAC380C093}"/>
                </a:ext>
              </a:extLst>
            </p:cNvPr>
            <p:cNvSpPr txBox="1"/>
            <p:nvPr/>
          </p:nvSpPr>
          <p:spPr>
            <a:xfrm>
              <a:off x="6716161" y="2235503"/>
              <a:ext cx="340158" cy="461665"/>
            </a:xfrm>
            <a:prstGeom prst="rect">
              <a:avLst/>
            </a:prstGeom>
            <a:noFill/>
          </p:spPr>
          <p:txBody>
            <a:bodyPr wrap="none" rtlCol="0">
              <a:spAutoFit/>
            </a:bodyPr>
            <a:lstStyle/>
            <a:p>
              <a:r>
                <a:rPr lang="en-US" sz="2400" dirty="0">
                  <a:latin typeface="+mj-lt"/>
                </a:rPr>
                <a:t>2</a:t>
              </a:r>
            </a:p>
          </p:txBody>
        </p:sp>
        <mc:AlternateContent xmlns:mc="http://schemas.openxmlformats.org/markup-compatibility/2006" xmlns:a14="http://schemas.microsoft.com/office/drawing/2010/main">
          <mc:Choice Requires="a14">
            <p:sp>
              <p:nvSpPr>
                <p:cNvPr id="105" name="Rectangle 104">
                  <a:extLst>
                    <a:ext uri="{FF2B5EF4-FFF2-40B4-BE49-F238E27FC236}">
                      <a16:creationId xmlns:a16="http://schemas.microsoft.com/office/drawing/2014/main" id="{8A384B87-4DCE-A649-976C-6C759B0B3203}"/>
                    </a:ext>
                  </a:extLst>
                </p:cNvPr>
                <p:cNvSpPr/>
                <p:nvPr/>
              </p:nvSpPr>
              <p:spPr>
                <a:xfrm>
                  <a:off x="10442055" y="4167533"/>
                  <a:ext cx="426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oMath>
                    </m:oMathPara>
                  </a14:m>
                  <a:endParaRPr lang="en-US" sz="2400" dirty="0"/>
                </a:p>
              </p:txBody>
            </p:sp>
          </mc:Choice>
          <mc:Fallback xmlns="">
            <p:sp>
              <p:nvSpPr>
                <p:cNvPr id="105" name="Rectangle 104">
                  <a:extLst>
                    <a:ext uri="{FF2B5EF4-FFF2-40B4-BE49-F238E27FC236}">
                      <a16:creationId xmlns:a16="http://schemas.microsoft.com/office/drawing/2014/main" id="{8A384B87-4DCE-A649-976C-6C759B0B3203}"/>
                    </a:ext>
                  </a:extLst>
                </p:cNvPr>
                <p:cNvSpPr>
                  <a:spLocks noRot="1" noChangeAspect="1" noMove="1" noResize="1" noEditPoints="1" noAdjustHandles="1" noChangeArrowheads="1" noChangeShapeType="1" noTextEdit="1"/>
                </p:cNvSpPr>
                <p:nvPr/>
              </p:nvSpPr>
              <p:spPr>
                <a:xfrm>
                  <a:off x="10442055" y="4167533"/>
                  <a:ext cx="426399" cy="461665"/>
                </a:xfrm>
                <a:prstGeom prst="rect">
                  <a:avLst/>
                </a:prstGeom>
                <a:blipFill>
                  <a:blip r:embed="rId14"/>
                  <a:stretch>
                    <a:fillRect/>
                  </a:stretch>
                </a:blipFill>
              </p:spPr>
              <p:txBody>
                <a:bodyPr/>
                <a:lstStyle/>
                <a:p>
                  <a:r>
                    <a:rPr lang="en-US">
                      <a:noFill/>
                    </a:rPr>
                    <a:t> </a:t>
                  </a:r>
                </a:p>
              </p:txBody>
            </p:sp>
          </mc:Fallback>
        </mc:AlternateContent>
        <p:cxnSp>
          <p:nvCxnSpPr>
            <p:cNvPr id="106" name="Straight Connector 105">
              <a:extLst>
                <a:ext uri="{FF2B5EF4-FFF2-40B4-BE49-F238E27FC236}">
                  <a16:creationId xmlns:a16="http://schemas.microsoft.com/office/drawing/2014/main" id="{713B1170-3C67-064E-A155-8E0D75636809}"/>
                </a:ext>
              </a:extLst>
            </p:cNvPr>
            <p:cNvCxnSpPr>
              <a:cxnSpLocks/>
            </p:cNvCxnSpPr>
            <p:nvPr/>
          </p:nvCxnSpPr>
          <p:spPr>
            <a:xfrm>
              <a:off x="6288346" y="4231622"/>
              <a:ext cx="4225602" cy="0"/>
            </a:xfrm>
            <a:prstGeom prst="line">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D23CB9C6-6B0E-3D48-870D-09700C8A8166}"/>
                </a:ext>
              </a:extLst>
            </p:cNvPr>
            <p:cNvCxnSpPr>
              <a:cxnSpLocks/>
            </p:cNvCxnSpPr>
            <p:nvPr/>
          </p:nvCxnSpPr>
          <p:spPr>
            <a:xfrm flipV="1">
              <a:off x="7259819" y="924237"/>
              <a:ext cx="0" cy="4223483"/>
            </a:xfrm>
            <a:prstGeom prst="line">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9B2249E-F6A8-DA49-8CF8-747BA814B287}"/>
                </a:ext>
              </a:extLst>
            </p:cNvPr>
            <p:cNvCxnSpPr>
              <a:cxnSpLocks/>
            </p:cNvCxnSpPr>
            <p:nvPr/>
          </p:nvCxnSpPr>
          <p:spPr>
            <a:xfrm>
              <a:off x="8135557" y="4152168"/>
              <a:ext cx="0" cy="158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5B44EFDA-7F83-DF48-AF58-4BB3A4F8D4BD}"/>
                </a:ext>
              </a:extLst>
            </p:cNvPr>
            <p:cNvCxnSpPr>
              <a:cxnSpLocks/>
            </p:cNvCxnSpPr>
            <p:nvPr/>
          </p:nvCxnSpPr>
          <p:spPr>
            <a:xfrm>
              <a:off x="9006358" y="4152168"/>
              <a:ext cx="0" cy="158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DB2D0349-A76D-9743-AC59-B5DA04FF4D64}"/>
                </a:ext>
              </a:extLst>
            </p:cNvPr>
            <p:cNvCxnSpPr>
              <a:cxnSpLocks/>
            </p:cNvCxnSpPr>
            <p:nvPr/>
          </p:nvCxnSpPr>
          <p:spPr>
            <a:xfrm>
              <a:off x="9877159" y="4152168"/>
              <a:ext cx="0" cy="158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B2EEFF02-768A-A449-8A20-971EECF0B3A5}"/>
                </a:ext>
              </a:extLst>
            </p:cNvPr>
            <p:cNvCxnSpPr>
              <a:cxnSpLocks/>
            </p:cNvCxnSpPr>
            <p:nvPr/>
          </p:nvCxnSpPr>
          <p:spPr>
            <a:xfrm rot="5400000">
              <a:off x="7259819" y="1556346"/>
              <a:ext cx="0" cy="158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1658045A-9740-C34F-9BE9-837CFF3F7C5F}"/>
                </a:ext>
              </a:extLst>
            </p:cNvPr>
            <p:cNvCxnSpPr>
              <a:cxnSpLocks/>
            </p:cNvCxnSpPr>
            <p:nvPr/>
          </p:nvCxnSpPr>
          <p:spPr>
            <a:xfrm rot="5400000">
              <a:off x="7259819" y="2427148"/>
              <a:ext cx="0" cy="158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48FD3AB5-070D-F84C-AD67-EC88F61C43B1}"/>
                </a:ext>
              </a:extLst>
            </p:cNvPr>
            <p:cNvCxnSpPr>
              <a:cxnSpLocks/>
            </p:cNvCxnSpPr>
            <p:nvPr/>
          </p:nvCxnSpPr>
          <p:spPr>
            <a:xfrm rot="5400000">
              <a:off x="7259819" y="3297949"/>
              <a:ext cx="0" cy="158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A104E41A-212F-AF43-B21F-BB8E93CB852F}"/>
                </a:ext>
              </a:extLst>
            </p:cNvPr>
            <p:cNvCxnSpPr>
              <a:cxnSpLocks/>
            </p:cNvCxnSpPr>
            <p:nvPr/>
          </p:nvCxnSpPr>
          <p:spPr>
            <a:xfrm>
              <a:off x="6401145" y="4149983"/>
              <a:ext cx="0" cy="158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1A3190B3-4DD6-0546-9F76-9982B812D1BE}"/>
                </a:ext>
              </a:extLst>
            </p:cNvPr>
            <p:cNvCxnSpPr>
              <a:cxnSpLocks/>
            </p:cNvCxnSpPr>
            <p:nvPr/>
          </p:nvCxnSpPr>
          <p:spPr>
            <a:xfrm rot="5400000">
              <a:off x="7259819" y="5009725"/>
              <a:ext cx="0" cy="15840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8" name="TextBox 117">
              <a:extLst>
                <a:ext uri="{FF2B5EF4-FFF2-40B4-BE49-F238E27FC236}">
                  <a16:creationId xmlns:a16="http://schemas.microsoft.com/office/drawing/2014/main" id="{DA863BBD-D83A-8147-96D3-E4166E102E51}"/>
                </a:ext>
              </a:extLst>
            </p:cNvPr>
            <p:cNvSpPr txBox="1"/>
            <p:nvPr/>
          </p:nvSpPr>
          <p:spPr>
            <a:xfrm>
              <a:off x="6612713" y="4832504"/>
              <a:ext cx="434734" cy="461665"/>
            </a:xfrm>
            <a:prstGeom prst="rect">
              <a:avLst/>
            </a:prstGeom>
            <a:noFill/>
          </p:spPr>
          <p:txBody>
            <a:bodyPr wrap="none" rtlCol="0">
              <a:spAutoFit/>
            </a:bodyPr>
            <a:lstStyle/>
            <a:p>
              <a:r>
                <a:rPr lang="en-US" sz="2400" dirty="0">
                  <a:latin typeface="+mj-lt"/>
                </a:rPr>
                <a:t>-1</a:t>
              </a:r>
            </a:p>
          </p:txBody>
        </p:sp>
        <p:sp>
          <p:nvSpPr>
            <p:cNvPr id="119" name="TextBox 118">
              <a:extLst>
                <a:ext uri="{FF2B5EF4-FFF2-40B4-BE49-F238E27FC236}">
                  <a16:creationId xmlns:a16="http://schemas.microsoft.com/office/drawing/2014/main" id="{6B46918B-9206-A845-9D6C-35349CF8310C}"/>
                </a:ext>
              </a:extLst>
            </p:cNvPr>
            <p:cNvSpPr txBox="1"/>
            <p:nvPr/>
          </p:nvSpPr>
          <p:spPr>
            <a:xfrm>
              <a:off x="6716161" y="1363778"/>
              <a:ext cx="340158" cy="461665"/>
            </a:xfrm>
            <a:prstGeom prst="rect">
              <a:avLst/>
            </a:prstGeom>
            <a:noFill/>
          </p:spPr>
          <p:txBody>
            <a:bodyPr wrap="none" rtlCol="0">
              <a:spAutoFit/>
            </a:bodyPr>
            <a:lstStyle/>
            <a:p>
              <a:r>
                <a:rPr lang="en-US" sz="2400" dirty="0">
                  <a:latin typeface="+mj-lt"/>
                </a:rPr>
                <a:t>3</a:t>
              </a:r>
            </a:p>
          </p:txBody>
        </p:sp>
        <p:sp>
          <p:nvSpPr>
            <p:cNvPr id="120" name="TextBox 119">
              <a:extLst>
                <a:ext uri="{FF2B5EF4-FFF2-40B4-BE49-F238E27FC236}">
                  <a16:creationId xmlns:a16="http://schemas.microsoft.com/office/drawing/2014/main" id="{C6DB2BEB-CE80-654C-BF91-F91842123D94}"/>
                </a:ext>
              </a:extLst>
            </p:cNvPr>
            <p:cNvSpPr txBox="1"/>
            <p:nvPr/>
          </p:nvSpPr>
          <p:spPr>
            <a:xfrm>
              <a:off x="9659811" y="4244205"/>
              <a:ext cx="340158" cy="461665"/>
            </a:xfrm>
            <a:prstGeom prst="rect">
              <a:avLst/>
            </a:prstGeom>
            <a:noFill/>
          </p:spPr>
          <p:txBody>
            <a:bodyPr wrap="none" rtlCol="0">
              <a:spAutoFit/>
            </a:bodyPr>
            <a:lstStyle/>
            <a:p>
              <a:r>
                <a:rPr lang="en-US" sz="2400" dirty="0">
                  <a:latin typeface="+mj-lt"/>
                </a:rPr>
                <a:t>3</a:t>
              </a:r>
            </a:p>
          </p:txBody>
        </p:sp>
        <mc:AlternateContent xmlns:mc="http://schemas.openxmlformats.org/markup-compatibility/2006" xmlns:a14="http://schemas.microsoft.com/office/drawing/2010/main">
          <mc:Choice Requires="a14">
            <p:sp>
              <p:nvSpPr>
                <p:cNvPr id="121" name="Rectangle 120">
                  <a:extLst>
                    <a:ext uri="{FF2B5EF4-FFF2-40B4-BE49-F238E27FC236}">
                      <a16:creationId xmlns:a16="http://schemas.microsoft.com/office/drawing/2014/main" id="{5D0829C6-33A4-BE49-ABEF-C9F3985ACC67}"/>
                    </a:ext>
                  </a:extLst>
                </p:cNvPr>
                <p:cNvSpPr/>
                <p:nvPr/>
              </p:nvSpPr>
              <p:spPr>
                <a:xfrm>
                  <a:off x="6612713" y="729837"/>
                  <a:ext cx="4303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𝑦</m:t>
                        </m:r>
                      </m:oMath>
                    </m:oMathPara>
                  </a14:m>
                  <a:endParaRPr lang="en-US" sz="2400" dirty="0"/>
                </a:p>
              </p:txBody>
            </p:sp>
          </mc:Choice>
          <mc:Fallback xmlns="">
            <p:sp>
              <p:nvSpPr>
                <p:cNvPr id="121" name="Rectangle 120">
                  <a:extLst>
                    <a:ext uri="{FF2B5EF4-FFF2-40B4-BE49-F238E27FC236}">
                      <a16:creationId xmlns:a16="http://schemas.microsoft.com/office/drawing/2014/main" id="{5D0829C6-33A4-BE49-ABEF-C9F3985ACC67}"/>
                    </a:ext>
                  </a:extLst>
                </p:cNvPr>
                <p:cNvSpPr>
                  <a:spLocks noRot="1" noChangeAspect="1" noMove="1" noResize="1" noEditPoints="1" noAdjustHandles="1" noChangeArrowheads="1" noChangeShapeType="1" noTextEdit="1"/>
                </p:cNvSpPr>
                <p:nvPr/>
              </p:nvSpPr>
              <p:spPr>
                <a:xfrm>
                  <a:off x="6612713" y="729837"/>
                  <a:ext cx="430374" cy="461665"/>
                </a:xfrm>
                <a:prstGeom prst="rect">
                  <a:avLst/>
                </a:prstGeom>
                <a:blipFill>
                  <a:blip r:embed="rId15"/>
                  <a:stretch>
                    <a:fillRect b="-7895"/>
                  </a:stretch>
                </a:blipFill>
              </p:spPr>
              <p:txBody>
                <a:bodyPr/>
                <a:lstStyle/>
                <a:p>
                  <a:r>
                    <a:rPr lang="en-US">
                      <a:noFill/>
                    </a:rPr>
                    <a:t> </a:t>
                  </a:r>
                </a:p>
              </p:txBody>
            </p:sp>
          </mc:Fallback>
        </mc:AlternateContent>
        <p:cxnSp>
          <p:nvCxnSpPr>
            <p:cNvPr id="123" name="Straight Connector 122">
              <a:extLst>
                <a:ext uri="{FF2B5EF4-FFF2-40B4-BE49-F238E27FC236}">
                  <a16:creationId xmlns:a16="http://schemas.microsoft.com/office/drawing/2014/main" id="{C6B0492D-34C0-B444-BA63-FAC42C1F4EC2}"/>
                </a:ext>
              </a:extLst>
            </p:cNvPr>
            <p:cNvCxnSpPr>
              <a:cxnSpLocks/>
            </p:cNvCxnSpPr>
            <p:nvPr/>
          </p:nvCxnSpPr>
          <p:spPr>
            <a:xfrm flipH="1">
              <a:off x="9011708" y="1634433"/>
              <a:ext cx="865450" cy="1739887"/>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2AEEF17A-D3D0-B24D-B956-7B6C3E4307AD}"/>
                </a:ext>
              </a:extLst>
            </p:cNvPr>
            <p:cNvCxnSpPr>
              <a:cxnSpLocks/>
            </p:cNvCxnSpPr>
            <p:nvPr/>
          </p:nvCxnSpPr>
          <p:spPr>
            <a:xfrm flipH="1">
              <a:off x="8142472" y="1635546"/>
              <a:ext cx="1737474" cy="859275"/>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49981E48-78C7-F74F-8F46-0A347AFC6823}"/>
                </a:ext>
              </a:extLst>
            </p:cNvPr>
            <p:cNvCxnSpPr>
              <a:cxnSpLocks/>
            </p:cNvCxnSpPr>
            <p:nvPr/>
          </p:nvCxnSpPr>
          <p:spPr>
            <a:xfrm flipV="1">
              <a:off x="7270448" y="3373569"/>
              <a:ext cx="1744877" cy="845268"/>
            </a:xfrm>
            <a:prstGeom prst="straightConnector1">
              <a:avLst/>
            </a:prstGeom>
            <a:ln w="38100" cap="rnd">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DBE1FB5C-5A97-6949-95CA-10DBA9E68218}"/>
                </a:ext>
              </a:extLst>
            </p:cNvPr>
            <p:cNvCxnSpPr>
              <a:cxnSpLocks/>
            </p:cNvCxnSpPr>
            <p:nvPr/>
          </p:nvCxnSpPr>
          <p:spPr>
            <a:xfrm flipV="1">
              <a:off x="7273236" y="2486874"/>
              <a:ext cx="869236" cy="1719506"/>
            </a:xfrm>
            <a:prstGeom prst="straightConnector1">
              <a:avLst/>
            </a:prstGeom>
            <a:ln w="38100" cap="rnd">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FAA7DBF6-E326-254D-9DDC-F56DB57BCF0D}"/>
                </a:ext>
              </a:extLst>
            </p:cNvPr>
            <p:cNvCxnSpPr>
              <a:cxnSpLocks/>
            </p:cNvCxnSpPr>
            <p:nvPr/>
          </p:nvCxnSpPr>
          <p:spPr>
            <a:xfrm flipV="1">
              <a:off x="7269411" y="1630583"/>
              <a:ext cx="2607747" cy="2591015"/>
            </a:xfrm>
            <a:prstGeom prst="straightConnector1">
              <a:avLst/>
            </a:prstGeom>
            <a:ln w="38100" cap="rnd">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D2336D5A-CB4F-884B-B1B6-E8F4E9E47ACF}"/>
                </a:ext>
              </a:extLst>
            </p:cNvPr>
            <p:cNvCxnSpPr>
              <a:cxnSpLocks/>
            </p:cNvCxnSpPr>
            <p:nvPr/>
          </p:nvCxnSpPr>
          <p:spPr>
            <a:xfrm>
              <a:off x="5804111" y="942971"/>
              <a:ext cx="0" cy="5340434"/>
            </a:xfrm>
            <a:prstGeom prst="line">
              <a:avLst/>
            </a:prstGeom>
            <a:ln w="101600" cmpd="dbl">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11811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dissolve">
                                      <p:cBhvr>
                                        <p:cTn id="7" dur="5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E81B28-E2A8-A548-9A89-338CED2335C1}"/>
              </a:ext>
            </a:extLst>
          </p:cNvPr>
          <p:cNvSpPr>
            <a:spLocks noGrp="1"/>
          </p:cNvSpPr>
          <p:nvPr>
            <p:ph type="sldNum" sz="quarter" idx="12"/>
          </p:nvPr>
        </p:nvSpPr>
        <p:spPr/>
        <p:txBody>
          <a:bodyPr/>
          <a:lstStyle/>
          <a:p>
            <a:fld id="{591A223C-FA10-BC46-A853-03BA373D023C}" type="slidenum">
              <a:rPr lang="en-US" smtClean="0"/>
              <a:t>35</a:t>
            </a:fld>
            <a:endParaRPr lang="en-US"/>
          </a:p>
        </p:txBody>
      </p:sp>
      <p:sp>
        <p:nvSpPr>
          <p:cNvPr id="3" name="Title 2">
            <a:extLst>
              <a:ext uri="{FF2B5EF4-FFF2-40B4-BE49-F238E27FC236}">
                <a16:creationId xmlns:a16="http://schemas.microsoft.com/office/drawing/2014/main" id="{6007862F-5CB2-EE4C-BF5E-39A38F1A1FD6}"/>
              </a:ext>
            </a:extLst>
          </p:cNvPr>
          <p:cNvSpPr>
            <a:spLocks noGrp="1"/>
          </p:cNvSpPr>
          <p:nvPr>
            <p:ph type="title"/>
          </p:nvPr>
        </p:nvSpPr>
        <p:spPr>
          <a:xfrm>
            <a:off x="0" y="0"/>
            <a:ext cx="12192000" cy="928688"/>
          </a:xfrm>
        </p:spPr>
        <p:txBody>
          <a:bodyPr/>
          <a:lstStyle/>
          <a:p>
            <a:r>
              <a:rPr lang="en-ZA" dirty="0"/>
              <a:t>Properties of vector addition and scalar multiplication</a:t>
            </a:r>
            <a:endParaRPr lang="en-US"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1E5D712E-B7D4-9549-9623-14EBDD3A8A75}"/>
                  </a:ext>
                </a:extLst>
              </p:cNvPr>
              <p:cNvSpPr/>
              <p:nvPr/>
            </p:nvSpPr>
            <p:spPr>
              <a:xfrm>
                <a:off x="855134" y="1155977"/>
                <a:ext cx="10481732" cy="5430910"/>
              </a:xfrm>
              <a:prstGeom prst="rect">
                <a:avLst/>
              </a:prstGeom>
            </p:spPr>
            <p:txBody>
              <a:bodyPr wrap="square">
                <a:spAutoFit/>
              </a:bodyPr>
              <a:lstStyle/>
              <a:p>
                <a:pPr algn="just">
                  <a:spcAft>
                    <a:spcPts val="1200"/>
                  </a:spcAft>
                </a:pPr>
                <a:r>
                  <a:rPr lang="en-ZA" sz="2400" dirty="0"/>
                  <a:t>Vector addition follows several fundamental properties</a:t>
                </a:r>
                <a:r>
                  <a:rPr lang="sr-Latn-RS" sz="2200" b="1" dirty="0">
                    <a:latin typeface="Cambria" panose="02040503050406030204" pitchFamily="18" charset="0"/>
                    <a:ea typeface="Times New Roman" panose="02020603050405020304" pitchFamily="18" charset="0"/>
                    <a:cs typeface="Times New Roman" panose="02020603050405020304" pitchFamily="18" charset="0"/>
                  </a:rPr>
                  <a:t>:</a:t>
                </a:r>
                <a:endParaRPr lang="en-ZA" sz="2200" b="1" dirty="0">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mj-lt"/>
                  <a:buAutoNum type="arabicPeriod"/>
                </a:pPr>
                <a14:m>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𝑏</m:t>
                        </m:r>
                      </m:e>
                    </m:d>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𝑏</m:t>
                        </m:r>
                      </m:e>
                    </m:d>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oMath>
                </a14:m>
                <a:r>
                  <a:rPr lang="sr-Latn-RS" sz="2200" dirty="0">
                    <a:latin typeface="Cambria" panose="02040503050406030204" pitchFamily="18" charset="0"/>
                    <a:ea typeface="Times New Roman" panose="02020603050405020304" pitchFamily="18" charset="0"/>
                    <a:cs typeface="Times New Roman" panose="02020603050405020304" pitchFamily="18" charset="0"/>
                  </a:rPr>
                  <a:t>			</a:t>
                </a:r>
                <a:r>
                  <a:rPr lang="en-ZA" sz="2200" dirty="0">
                    <a:latin typeface="+mj-lt"/>
                  </a:rPr>
                  <a:t>commutativity</a:t>
                </a:r>
                <a:endParaRPr lang="en-ZA" sz="2200" dirty="0">
                  <a:latin typeface="+mj-lt"/>
                  <a:ea typeface="Times New Roman" panose="02020603050405020304" pitchFamily="18" charset="0"/>
                  <a:cs typeface="Times New Roman" panose="02020603050405020304" pitchFamily="18" charset="0"/>
                </a:endParaRPr>
              </a:p>
              <a:p>
                <a:pPr marL="342900" lvl="0" indent="-342900" algn="just">
                  <a:spcAft>
                    <a:spcPts val="800"/>
                  </a:spcAft>
                  <a:buFont typeface="+mj-lt"/>
                  <a:buAutoNum type="arabicPeriod"/>
                </a:pPr>
                <a14:m>
                  <m:oMath xmlns:m="http://schemas.openxmlformats.org/officeDocument/2006/math">
                    <m:d>
                      <m:dPr>
                        <m:ctrlPr>
                          <a:rPr lang="en-ZA" sz="2200" i="1">
                            <a:latin typeface="Cambria Math" panose="02040503050406030204" pitchFamily="18" charset="0"/>
                            <a:ea typeface="Times New Roman" panose="02020603050405020304" pitchFamily="18" charset="0"/>
                            <a:cs typeface="Times New Roman" panose="02020603050405020304" pitchFamily="18" charset="0"/>
                          </a:rPr>
                        </m:ctrlPr>
                      </m:d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𝑏</m:t>
                            </m:r>
                          </m:e>
                        </m:d>
                      </m:e>
                    </m:d>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000" i="1">
                            <a:latin typeface="Cambria Math" panose="02040503050406030204" pitchFamily="18" charset="0"/>
                          </a:rPr>
                        </m:ctrlPr>
                      </m:dPr>
                      <m:e>
                        <m:r>
                          <a:rPr lang="en-US" sz="2000" b="0" i="1" smtClean="0">
                            <a:latin typeface="Cambria Math" panose="02040503050406030204" pitchFamily="18" charset="0"/>
                          </a:rPr>
                          <m:t>𝑐</m:t>
                        </m:r>
                      </m:e>
                    </m:d>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𝑏</m:t>
                        </m:r>
                      </m:e>
                    </m:d>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𝑐</m:t>
                        </m:r>
                      </m:e>
                    </m:d>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oMath>
                </a14:m>
                <a:r>
                  <a:rPr lang="sr-Latn-RS" sz="2200" dirty="0">
                    <a:latin typeface="Cambria" panose="02040503050406030204" pitchFamily="18" charset="0"/>
                    <a:ea typeface="Times New Roman" panose="02020603050405020304" pitchFamily="18" charset="0"/>
                    <a:cs typeface="Times New Roman" panose="02020603050405020304" pitchFamily="18" charset="0"/>
                  </a:rPr>
                  <a:t>		</a:t>
                </a:r>
                <a:r>
                  <a:rPr lang="en-ZA" sz="2200" dirty="0">
                    <a:latin typeface="+mj-lt"/>
                  </a:rPr>
                  <a:t>associativity</a:t>
                </a:r>
                <a:endParaRPr lang="en-ZA" sz="2200" dirty="0">
                  <a:latin typeface="+mj-lt"/>
                  <a:ea typeface="Times New Roman" panose="02020603050405020304" pitchFamily="18" charset="0"/>
                  <a:cs typeface="Times New Roman" panose="02020603050405020304" pitchFamily="18" charset="0"/>
                </a:endParaRPr>
              </a:p>
              <a:p>
                <a:pPr marL="342900" lvl="0" indent="-342900" algn="just">
                  <a:spcAft>
                    <a:spcPts val="800"/>
                  </a:spcAft>
                  <a:buFont typeface="+mj-lt"/>
                  <a:buAutoNum type="arabicPeriod"/>
                </a:pPr>
                <a14:m>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r>
                      <a:rPr lang="sr-Latn-RS" sz="2200" b="1" i="1">
                        <a:latin typeface="Cambria Math" panose="02040503050406030204" pitchFamily="18" charset="0"/>
                        <a:ea typeface="Times New Roman" panose="02020603050405020304" pitchFamily="18" charset="0"/>
                        <a:cs typeface="Times New Roman" panose="02020603050405020304" pitchFamily="18" charset="0"/>
                      </a:rPr>
                      <m:t>𝟎</m:t>
                    </m:r>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oMath>
                </a14:m>
                <a:r>
                  <a:rPr lang="sr-Latn-RS" sz="2200" dirty="0">
                    <a:latin typeface="Cambria" panose="02040503050406030204" pitchFamily="18" charset="0"/>
                    <a:ea typeface="Times New Roman" panose="02020603050405020304" pitchFamily="18" charset="0"/>
                    <a:cs typeface="Times New Roman" panose="02020603050405020304" pitchFamily="18" charset="0"/>
                  </a:rPr>
                  <a:t>				</a:t>
                </a:r>
                <a:r>
                  <a:rPr lang="en-ZA" sz="2200" dirty="0">
                    <a:latin typeface="+mj-lt"/>
                  </a:rPr>
                  <a:t>the zero vector </a:t>
                </a:r>
                <a14:m>
                  <m:oMath xmlns:m="http://schemas.openxmlformats.org/officeDocument/2006/math">
                    <m:r>
                      <a:rPr lang="sr-Latn-RS" sz="2200" b="1" i="1">
                        <a:latin typeface="Cambria Math" panose="02040503050406030204" pitchFamily="18" charset="0"/>
                        <a:ea typeface="Times New Roman" panose="02020603050405020304" pitchFamily="18" charset="0"/>
                        <a:cs typeface="Times New Roman" panose="02020603050405020304" pitchFamily="18" charset="0"/>
                      </a:rPr>
                      <m:t>𝟎</m:t>
                    </m:r>
                  </m:oMath>
                </a14:m>
                <a:r>
                  <a:rPr lang="en-ZA" sz="2200" dirty="0">
                    <a:latin typeface="+mj-lt"/>
                  </a:rPr>
                  <a:t> acts as an identity</a:t>
                </a:r>
                <a:br>
                  <a:rPr lang="en-ZA" sz="2200" dirty="0">
                    <a:latin typeface="+mj-lt"/>
                  </a:rPr>
                </a:br>
                <a:r>
                  <a:rPr lang="en-ZA" sz="2200" dirty="0">
                    <a:latin typeface="+mj-lt"/>
                  </a:rPr>
                  <a:t> 						element for addition.</a:t>
                </a:r>
                <a:endParaRPr lang="en-ZA" sz="2200" dirty="0">
                  <a:latin typeface="+mj-lt"/>
                  <a:ea typeface="Times New Roman" panose="02020603050405020304" pitchFamily="18" charset="0"/>
                  <a:cs typeface="Times New Roman" panose="02020603050405020304" pitchFamily="18" charset="0"/>
                </a:endParaRPr>
              </a:p>
              <a:p>
                <a:pPr marL="342900" lvl="0" indent="-342900" algn="just">
                  <a:spcAft>
                    <a:spcPts val="800"/>
                  </a:spcAft>
                  <a:buFont typeface="+mj-lt"/>
                  <a:buAutoNum type="arabicPeriod"/>
                </a:pPr>
                <a14:m>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sr-Latn-RS" sz="2200" b="1" i="1">
                        <a:latin typeface="Cambria Math" panose="02040503050406030204" pitchFamily="18" charset="0"/>
                        <a:ea typeface="Times New Roman" panose="02020603050405020304" pitchFamily="18" charset="0"/>
                        <a:cs typeface="Times New Roman" panose="02020603050405020304" pitchFamily="18" charset="0"/>
                      </a:rPr>
                      <m:t>+</m:t>
                    </m:r>
                    <m:d>
                      <m:dPr>
                        <m:ctrlPr>
                          <a:rPr lang="en-ZA" sz="2200" b="1"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200" b="1"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e>
                    </m:d>
                    <m:r>
                      <a:rPr lang="sr-Latn-RS" sz="2200" b="1" i="1">
                        <a:latin typeface="Cambria Math" panose="02040503050406030204" pitchFamily="18" charset="0"/>
                        <a:ea typeface="Times New Roman" panose="02020603050405020304" pitchFamily="18" charset="0"/>
                        <a:cs typeface="Times New Roman" panose="02020603050405020304" pitchFamily="18" charset="0"/>
                      </a:rPr>
                      <m:t>=</m:t>
                    </m:r>
                    <m:d>
                      <m:dPr>
                        <m:ctrlPr>
                          <a:rPr lang="en-ZA" sz="2200" b="1"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200" b="1"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e>
                    </m:d>
                    <m:r>
                      <a:rPr lang="sr-Latn-RS" sz="2200" b="1"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sr-Latn-RS" sz="2200" b="1" i="1">
                        <a:latin typeface="Cambria Math" panose="02040503050406030204" pitchFamily="18" charset="0"/>
                        <a:ea typeface="Times New Roman" panose="02020603050405020304" pitchFamily="18" charset="0"/>
                        <a:cs typeface="Times New Roman" panose="02020603050405020304" pitchFamily="18" charset="0"/>
                      </a:rPr>
                      <m:t>=</m:t>
                    </m:r>
                    <m:r>
                      <a:rPr lang="sr-Latn-RS" sz="2200" b="1" i="1">
                        <a:latin typeface="Cambria Math" panose="02040503050406030204" pitchFamily="18" charset="0"/>
                        <a:ea typeface="Times New Roman" panose="02020603050405020304" pitchFamily="18" charset="0"/>
                        <a:cs typeface="Times New Roman" panose="02020603050405020304" pitchFamily="18" charset="0"/>
                      </a:rPr>
                      <m:t>𝟎</m:t>
                    </m:r>
                  </m:oMath>
                </a14:m>
                <a:r>
                  <a:rPr lang="sr-Latn-RS" sz="2200" dirty="0">
                    <a:latin typeface="Cambria" panose="02040503050406030204" pitchFamily="18" charset="0"/>
                    <a:ea typeface="Times New Roman" panose="02020603050405020304" pitchFamily="18" charset="0"/>
                    <a:cs typeface="Times New Roman" panose="02020603050405020304" pitchFamily="18" charset="0"/>
                  </a:rPr>
                  <a:t>		</a:t>
                </a:r>
                <a:r>
                  <a:rPr lang="en-ZA" sz="2400" dirty="0"/>
                  <a:t> </a:t>
                </a:r>
                <a:r>
                  <a:rPr lang="en-ZA" sz="2200" dirty="0">
                    <a:latin typeface="+mj-lt"/>
                  </a:rPr>
                  <a:t>every vector has its negative</a:t>
                </a:r>
                <a:endParaRPr lang="en-ZA" sz="2200" dirty="0">
                  <a:latin typeface="+mj-lt"/>
                  <a:ea typeface="Times New Roman" panose="02020603050405020304" pitchFamily="18" charset="0"/>
                  <a:cs typeface="Times New Roman" panose="02020603050405020304" pitchFamily="18" charset="0"/>
                </a:endParaRPr>
              </a:p>
              <a:p>
                <a:pPr marL="342900" lvl="0" indent="-342900" algn="just">
                  <a:spcAft>
                    <a:spcPts val="800"/>
                  </a:spcAft>
                  <a:buFont typeface="+mj-lt"/>
                  <a:buAutoNum type="arabicPeriod"/>
                </a:pPr>
                <a:r>
                  <a:rPr lang="en-ZA" sz="2200" dirty="0">
                    <a:latin typeface="+mj-lt"/>
                  </a:rPr>
                  <a:t>If </a:t>
                </a:r>
                <a14:m>
                  <m:oMath xmlns:m="http://schemas.openxmlformats.org/officeDocument/2006/math">
                    <m:d>
                      <m:dPr>
                        <m:begChr m:val="|"/>
                        <m:endChr m:val="⟩"/>
                        <m:ctrlPr>
                          <a:rPr lang="en-US" sz="2200" i="1">
                            <a:latin typeface="Cambria Math" panose="02040503050406030204" pitchFamily="18" charset="0"/>
                          </a:rPr>
                        </m:ctrlPr>
                      </m:dPr>
                      <m:e>
                        <m:r>
                          <a:rPr lang="en-US" sz="2200" i="1">
                            <a:latin typeface="Cambria Math" panose="02040503050406030204" pitchFamily="18" charset="0"/>
                          </a:rPr>
                          <m:t>𝑎</m:t>
                        </m:r>
                      </m:e>
                    </m:d>
                  </m:oMath>
                </a14:m>
                <a:r>
                  <a:rPr lang="en-ZA" sz="2200" dirty="0">
                    <a:latin typeface="+mj-lt"/>
                  </a:rPr>
                  <a:t> and </a:t>
                </a:r>
                <a14:m>
                  <m:oMath xmlns:m="http://schemas.openxmlformats.org/officeDocument/2006/math">
                    <m:d>
                      <m:dPr>
                        <m:begChr m:val="|"/>
                        <m:endChr m:val="⟩"/>
                        <m:ctrlPr>
                          <a:rPr lang="en-US" sz="2200" i="1">
                            <a:latin typeface="Cambria Math" panose="02040503050406030204" pitchFamily="18" charset="0"/>
                          </a:rPr>
                        </m:ctrlPr>
                      </m:dPr>
                      <m:e>
                        <m:r>
                          <a:rPr lang="en-US" sz="2200" b="0" i="1" smtClean="0">
                            <a:latin typeface="Cambria Math" panose="02040503050406030204" pitchFamily="18" charset="0"/>
                          </a:rPr>
                          <m:t>𝑏</m:t>
                        </m:r>
                      </m:e>
                    </m:d>
                  </m:oMath>
                </a14:m>
                <a:r>
                  <a:rPr lang="en-ZA" sz="2200" dirty="0">
                    <a:latin typeface="+mj-lt"/>
                  </a:rPr>
                  <a:t> belong to a set </a:t>
                </a:r>
                <a14:m>
                  <m:oMath xmlns:m="http://schemas.openxmlformats.org/officeDocument/2006/math">
                    <m:r>
                      <a:rPr lang="sr-Latn-RS" sz="2200" i="1">
                        <a:latin typeface="Cambria Math" panose="02040503050406030204" pitchFamily="18" charset="0"/>
                        <a:ea typeface="Times New Roman" panose="02020603050405020304" pitchFamily="18" charset="0"/>
                        <a:cs typeface="Times New Roman" panose="02020603050405020304" pitchFamily="18" charset="0"/>
                      </a:rPr>
                      <m:t>𝑉</m:t>
                    </m:r>
                  </m:oMath>
                </a14:m>
                <a:r>
                  <a:rPr lang="sr-Latn-RS" sz="2200" dirty="0">
                    <a:latin typeface="+mj-lt"/>
                    <a:ea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sz="2200" i="1">
                            <a:latin typeface="Cambria Math" panose="02040503050406030204" pitchFamily="18" charset="0"/>
                          </a:rPr>
                        </m:ctrlPr>
                      </m:dPr>
                      <m:e>
                        <m:r>
                          <a:rPr lang="en-US" sz="2200" i="1">
                            <a:latin typeface="Cambria Math" panose="02040503050406030204" pitchFamily="18" charset="0"/>
                          </a:rPr>
                          <m:t>𝑎</m:t>
                        </m:r>
                      </m:e>
                    </m:d>
                    <m:r>
                      <a:rPr lang="sr-Latn-RS" sz="2200" b="1"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200" i="1">
                            <a:latin typeface="Cambria Math" panose="02040503050406030204" pitchFamily="18" charset="0"/>
                          </a:rPr>
                        </m:ctrlPr>
                      </m:dPr>
                      <m:e>
                        <m:r>
                          <a:rPr lang="en-US" sz="2200" i="1">
                            <a:latin typeface="Cambria Math" panose="02040503050406030204" pitchFamily="18" charset="0"/>
                          </a:rPr>
                          <m:t>𝑏</m:t>
                        </m:r>
                      </m:e>
                    </m:d>
                    <m:r>
                      <a:rPr lang="sr-Latn-RS" sz="2200" b="1" i="1">
                        <a:latin typeface="Cambria Math" panose="02040503050406030204" pitchFamily="18" charset="0"/>
                        <a:ea typeface="Times New Roman" panose="02020603050405020304" pitchFamily="18" charset="0"/>
                        <a:cs typeface="Times New Roman" panose="02020603050405020304" pitchFamily="18" charset="0"/>
                      </a:rPr>
                      <m:t>∈</m:t>
                    </m:r>
                    <m:r>
                      <a:rPr lang="sr-Latn-RS" sz="2200" i="1">
                        <a:latin typeface="Cambria Math" panose="02040503050406030204" pitchFamily="18" charset="0"/>
                        <a:ea typeface="Times New Roman" panose="02020603050405020304" pitchFamily="18" charset="0"/>
                        <a:cs typeface="Times New Roman" panose="02020603050405020304" pitchFamily="18" charset="0"/>
                      </a:rPr>
                      <m:t>𝑉</m:t>
                    </m:r>
                  </m:oMath>
                </a14:m>
                <a:r>
                  <a:rPr lang="sr-Latn-RS" sz="2200" dirty="0">
                    <a:latin typeface="+mj-lt"/>
                    <a:ea typeface="Times New Roman" panose="02020603050405020304" pitchFamily="18" charset="0"/>
                    <a:cs typeface="Times New Roman" panose="02020603050405020304" pitchFamily="18" charset="0"/>
                  </a:rPr>
                  <a:t>)</a:t>
                </a:r>
                <a:r>
                  <a:rPr lang="en-ZA" sz="2200" dirty="0">
                    <a:latin typeface="+mj-lt"/>
                  </a:rPr>
                  <a:t>, then their sum </a:t>
                </a:r>
                <a14:m>
                  <m:oMath xmlns:m="http://schemas.openxmlformats.org/officeDocument/2006/math">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200" i="1">
                            <a:latin typeface="Cambria Math" panose="02040503050406030204" pitchFamily="18" charset="0"/>
                          </a:rPr>
                        </m:ctrlPr>
                      </m:dPr>
                      <m:e>
                        <m:r>
                          <a:rPr lang="en-US" sz="2200" i="1">
                            <a:latin typeface="Cambria Math" panose="02040503050406030204" pitchFamily="18" charset="0"/>
                          </a:rPr>
                          <m:t>𝑎</m:t>
                        </m:r>
                      </m:e>
                    </m:d>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200" i="1">
                            <a:latin typeface="Cambria Math" panose="02040503050406030204" pitchFamily="18" charset="0"/>
                          </a:rPr>
                        </m:ctrlPr>
                      </m:dPr>
                      <m:e>
                        <m:r>
                          <a:rPr lang="en-US" sz="2200" i="1">
                            <a:latin typeface="Cambria Math" panose="02040503050406030204" pitchFamily="18" charset="0"/>
                          </a:rPr>
                          <m:t>𝑏</m:t>
                        </m:r>
                      </m:e>
                    </m:d>
                    <m:r>
                      <a:rPr lang="sr-Latn-RS" sz="2200" b="1" i="1">
                        <a:latin typeface="Cambria Math" panose="02040503050406030204" pitchFamily="18" charset="0"/>
                        <a:ea typeface="Times New Roman" panose="02020603050405020304" pitchFamily="18" charset="0"/>
                        <a:cs typeface="Times New Roman" panose="02020603050405020304" pitchFamily="18" charset="0"/>
                      </a:rPr>
                      <m:t>)</m:t>
                    </m:r>
                  </m:oMath>
                </a14:m>
                <a:r>
                  <a:rPr lang="en-ZA" sz="2200" dirty="0">
                    <a:latin typeface="+mj-lt"/>
                  </a:rPr>
                  <a:t> also belongs to </a:t>
                </a:r>
                <a14:m>
                  <m:oMath xmlns:m="http://schemas.openxmlformats.org/officeDocument/2006/math">
                    <m:r>
                      <a:rPr lang="sr-Latn-RS" sz="2200" i="1">
                        <a:latin typeface="Cambria Math" panose="02040503050406030204" pitchFamily="18" charset="0"/>
                        <a:ea typeface="Times New Roman" panose="02020603050405020304" pitchFamily="18" charset="0"/>
                        <a:cs typeface="Times New Roman" panose="02020603050405020304" pitchFamily="18" charset="0"/>
                      </a:rPr>
                      <m:t>𝑉</m:t>
                    </m:r>
                  </m:oMath>
                </a14:m>
                <a:r>
                  <a:rPr lang="en-ZA" sz="2200" dirty="0">
                    <a:latin typeface="+mj-lt"/>
                  </a:rPr>
                  <a:t>. This means vector addition is a </a:t>
                </a:r>
                <a:r>
                  <a:rPr lang="en-ZA" sz="2200" b="1" dirty="0">
                    <a:latin typeface="+mj-lt"/>
                  </a:rPr>
                  <a:t>closed operation</a:t>
                </a:r>
                <a:r>
                  <a:rPr lang="en-ZA" sz="2200" dirty="0">
                    <a:latin typeface="+mj-lt"/>
                  </a:rPr>
                  <a:t> within the set</a:t>
                </a:r>
                <a:r>
                  <a:rPr lang="en-ZA" sz="2400" dirty="0"/>
                  <a:t>. </a:t>
                </a:r>
                <a:endParaRPr lang="en-ZA" sz="2200" dirty="0">
                  <a:latin typeface="Cambria" panose="02040503050406030204" pitchFamily="18" charset="0"/>
                  <a:ea typeface="Times New Roman" panose="02020603050405020304" pitchFamily="18" charset="0"/>
                  <a:cs typeface="Times New Roman" panose="02020603050405020304" pitchFamily="18" charset="0"/>
                </a:endParaRPr>
              </a:p>
              <a:p>
                <a:pPr algn="just">
                  <a:spcAft>
                    <a:spcPts val="1200"/>
                  </a:spcAft>
                </a:pPr>
                <a:r>
                  <a:rPr lang="en-ZA" sz="2400" dirty="0"/>
                  <a:t>Linearity: properties of scalar multiplication and vector addition</a:t>
                </a:r>
                <a:endParaRPr lang="en-ZA" sz="2200" b="1" dirty="0">
                  <a:latin typeface="Cambria" panose="02040503050406030204" pitchFamily="18" charset="0"/>
                  <a:ea typeface="Times New Roman" panose="02020603050405020304" pitchFamily="18" charset="0"/>
                  <a:cs typeface="Times New Roman" panose="02020603050405020304" pitchFamily="18" charset="0"/>
                </a:endParaRPr>
              </a:p>
              <a:p>
                <a:pPr marL="342900" lvl="0" indent="-342900" algn="just">
                  <a:spcAft>
                    <a:spcPts val="800"/>
                  </a:spcAft>
                  <a:buFont typeface="+mj-lt"/>
                  <a:buAutoNum type="arabicPeriod"/>
                </a:pPr>
                <a14:m>
                  <m:oMath xmlns:m="http://schemas.openxmlformats.org/officeDocument/2006/math">
                    <m:d>
                      <m:dPr>
                        <m:ctrlPr>
                          <a:rPr lang="en-ZA" sz="2200" b="1"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ZA" sz="2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2200" i="1">
                                <a:latin typeface="Cambria Math" panose="02040503050406030204" pitchFamily="18" charset="0"/>
                                <a:ea typeface="Times New Roman" panose="02020603050405020304" pitchFamily="18" charset="0"/>
                                <a:cs typeface="Times New Roman" panose="02020603050405020304" pitchFamily="18" charset="0"/>
                              </a:rPr>
                              <m:t>1</m:t>
                            </m:r>
                          </m:sub>
                        </m:sSub>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2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2200" i="1">
                                <a:latin typeface="Cambria Math" panose="02040503050406030204" pitchFamily="18" charset="0"/>
                                <a:ea typeface="Times New Roman" panose="02020603050405020304" pitchFamily="18" charset="0"/>
                                <a:cs typeface="Times New Roman" panose="02020603050405020304" pitchFamily="18" charset="0"/>
                              </a:rPr>
                              <m:t>2</m:t>
                            </m:r>
                          </m:sub>
                        </m:sSub>
                      </m:e>
                    </m:d>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sr-Latn-RS" sz="2200" b="1"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2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2200" i="1">
                            <a:latin typeface="Cambria Math" panose="02040503050406030204" pitchFamily="18" charset="0"/>
                            <a:ea typeface="Times New Roman" panose="02020603050405020304" pitchFamily="18" charset="0"/>
                            <a:cs typeface="Times New Roman" panose="02020603050405020304" pitchFamily="18" charset="0"/>
                          </a:rPr>
                          <m:t>1</m:t>
                        </m:r>
                      </m:sub>
                    </m:sSub>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2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2200" i="1">
                            <a:latin typeface="Cambria Math" panose="02040503050406030204" pitchFamily="18" charset="0"/>
                            <a:ea typeface="Times New Roman" panose="02020603050405020304" pitchFamily="18" charset="0"/>
                            <a:cs typeface="Times New Roman" panose="02020603050405020304" pitchFamily="18" charset="0"/>
                          </a:rPr>
                          <m:t>2</m:t>
                        </m:r>
                      </m:sub>
                    </m:sSub>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oMath>
                </a14:m>
                <a:r>
                  <a:rPr lang="sr-Latn-RS" sz="2200" dirty="0">
                    <a:latin typeface="Cambria" panose="02040503050406030204" pitchFamily="18" charset="0"/>
                    <a:ea typeface="Times New Roman" panose="02020603050405020304" pitchFamily="18" charset="0"/>
                    <a:cs typeface="Times New Roman" panose="02020603050405020304" pitchFamily="18" charset="0"/>
                  </a:rPr>
                  <a:t>	</a:t>
                </a:r>
                <a:r>
                  <a:rPr lang="sr-Latn-RS" sz="2200" b="1" dirty="0">
                    <a:latin typeface="Cambria" panose="02040503050406030204" pitchFamily="18" charset="0"/>
                    <a:ea typeface="Times New Roman" panose="02020603050405020304" pitchFamily="18" charset="0"/>
                    <a:cs typeface="Times New Roman" panose="02020603050405020304" pitchFamily="18" charset="0"/>
                  </a:rPr>
                  <a:t>	</a:t>
                </a:r>
                <a:r>
                  <a:rPr lang="en-ZA" sz="2200" dirty="0">
                    <a:latin typeface="+mj-lt"/>
                  </a:rPr>
                  <a:t>distributivity of scalar addition</a:t>
                </a:r>
                <a:endParaRPr lang="en-ZA" sz="2200" dirty="0">
                  <a:latin typeface="+mj-lt"/>
                  <a:ea typeface="Times New Roman" panose="02020603050405020304" pitchFamily="18" charset="0"/>
                  <a:cs typeface="Times New Roman" panose="02020603050405020304" pitchFamily="18" charset="0"/>
                </a:endParaRPr>
              </a:p>
              <a:p>
                <a:pPr marL="342900" lvl="0" indent="-342900" algn="just">
                  <a:spcAft>
                    <a:spcPts val="800"/>
                  </a:spcAft>
                  <a:buFont typeface="+mj-lt"/>
                  <a:buAutoNum type="arabicPeriod"/>
                </a:pPr>
                <a14:m>
                  <m:oMath xmlns:m="http://schemas.openxmlformats.org/officeDocument/2006/math">
                    <m:sSub>
                      <m:sSubPr>
                        <m:ctrlPr>
                          <a:rPr lang="en-ZA" sz="2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2200" i="1">
                            <a:latin typeface="Cambria Math" panose="02040503050406030204" pitchFamily="18" charset="0"/>
                            <a:ea typeface="Times New Roman" panose="02020603050405020304" pitchFamily="18" charset="0"/>
                            <a:cs typeface="Times New Roman" panose="02020603050405020304" pitchFamily="18" charset="0"/>
                          </a:rPr>
                          <m:t>1</m:t>
                        </m:r>
                      </m:sub>
                    </m:sSub>
                    <m:d>
                      <m:dPr>
                        <m:ctrlPr>
                          <a:rPr lang="en-ZA" sz="2200" b="1" i="1">
                            <a:latin typeface="Cambria Math" panose="02040503050406030204" pitchFamily="18" charset="0"/>
                            <a:ea typeface="Times New Roman" panose="02020603050405020304" pitchFamily="18" charset="0"/>
                            <a:cs typeface="Times New Roman" panose="02020603050405020304" pitchFamily="18" charset="0"/>
                          </a:rPr>
                        </m:ctrlPr>
                      </m:d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sr-Latn-RS" sz="2200" b="1"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𝑏</m:t>
                            </m:r>
                          </m:e>
                        </m:d>
                      </m:e>
                    </m:d>
                    <m:r>
                      <a:rPr lang="sr-Latn-RS" sz="2200" b="1"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2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2200" i="1">
                            <a:latin typeface="Cambria Math" panose="02040503050406030204" pitchFamily="18" charset="0"/>
                            <a:ea typeface="Times New Roman" panose="02020603050405020304" pitchFamily="18" charset="0"/>
                            <a:cs typeface="Times New Roman" panose="02020603050405020304" pitchFamily="18" charset="0"/>
                          </a:rPr>
                          <m:t>1</m:t>
                        </m:r>
                      </m:sub>
                    </m:sSub>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sr-Latn-RS" sz="2200" b="1"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2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2200" i="1">
                            <a:latin typeface="Cambria Math" panose="02040503050406030204" pitchFamily="18" charset="0"/>
                            <a:ea typeface="Times New Roman" panose="02020603050405020304" pitchFamily="18" charset="0"/>
                            <a:cs typeface="Times New Roman" panose="02020603050405020304" pitchFamily="18" charset="0"/>
                          </a:rPr>
                          <m:t>1</m:t>
                        </m:r>
                      </m:sub>
                    </m:sSub>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𝑏</m:t>
                        </m:r>
                      </m:e>
                    </m:d>
                  </m:oMath>
                </a14:m>
                <a:r>
                  <a:rPr lang="sr-Latn-RS" sz="2200" dirty="0">
                    <a:latin typeface="Cambria" panose="02040503050406030204" pitchFamily="18" charset="0"/>
                    <a:ea typeface="Times New Roman" panose="02020603050405020304" pitchFamily="18" charset="0"/>
                    <a:cs typeface="Times New Roman" panose="02020603050405020304" pitchFamily="18" charset="0"/>
                  </a:rPr>
                  <a:t>		</a:t>
                </a:r>
                <a:r>
                  <a:rPr lang="en-ZA" sz="2200" dirty="0">
                    <a:latin typeface="+mj-lt"/>
                  </a:rPr>
                  <a:t>distributivity of vector addition</a:t>
                </a:r>
                <a:endParaRPr lang="en-ZA" sz="2200" dirty="0">
                  <a:latin typeface="+mj-lt"/>
                  <a:ea typeface="Times New Roman" panose="02020603050405020304" pitchFamily="18" charset="0"/>
                  <a:cs typeface="Times New Roman" panose="02020603050405020304" pitchFamily="18" charset="0"/>
                </a:endParaRPr>
              </a:p>
              <a:p>
                <a:pPr marL="342900" lvl="0" indent="-342900" algn="just">
                  <a:spcAft>
                    <a:spcPts val="800"/>
                  </a:spcAft>
                  <a:buFont typeface="+mj-lt"/>
                  <a:buAutoNum type="arabicPeriod"/>
                </a:pPr>
                <a14:m>
                  <m:oMath xmlns:m="http://schemas.openxmlformats.org/officeDocument/2006/math">
                    <m:sSub>
                      <m:sSubPr>
                        <m:ctrlPr>
                          <a:rPr lang="en-ZA" sz="2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2200" i="1">
                            <a:latin typeface="Cambria Math" panose="02040503050406030204" pitchFamily="18" charset="0"/>
                            <a:ea typeface="Times New Roman" panose="02020603050405020304" pitchFamily="18" charset="0"/>
                            <a:cs typeface="Times New Roman" panose="02020603050405020304" pitchFamily="18" charset="0"/>
                          </a:rPr>
                          <m:t>1</m:t>
                        </m:r>
                      </m:sub>
                    </m:sSub>
                    <m:r>
                      <a:rPr lang="sr-Latn-RS" sz="2200" b="1"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2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2200" i="1">
                            <a:latin typeface="Cambria Math" panose="02040503050406030204" pitchFamily="18" charset="0"/>
                            <a:ea typeface="Times New Roman" panose="02020603050405020304" pitchFamily="18" charset="0"/>
                            <a:cs typeface="Times New Roman" panose="02020603050405020304" pitchFamily="18" charset="0"/>
                          </a:rPr>
                          <m:t>2</m:t>
                        </m:r>
                      </m:sub>
                    </m:sSub>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sr-Latn-RS" sz="2200" b="1" i="1">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ZA" sz="2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r>
                          <a:rPr lang="sr-Latn-RS" sz="2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2200" i="1">
                            <a:latin typeface="Cambria Math" panose="02040503050406030204" pitchFamily="18" charset="0"/>
                            <a:ea typeface="Times New Roman" panose="02020603050405020304" pitchFamily="18" charset="0"/>
                            <a:cs typeface="Times New Roman" panose="02020603050405020304" pitchFamily="18" charset="0"/>
                          </a:rPr>
                          <m:t>1</m:t>
                        </m:r>
                      </m:sub>
                    </m:sSub>
                    <m:sSub>
                      <m:sSubPr>
                        <m:ctrlPr>
                          <a:rPr lang="en-ZA" sz="2200" i="1">
                            <a:latin typeface="Cambria Math" panose="02040503050406030204" pitchFamily="18" charset="0"/>
                            <a:ea typeface="Times New Roman" panose="02020603050405020304" pitchFamily="18" charset="0"/>
                            <a:cs typeface="Times New Roman" panose="02020603050405020304" pitchFamily="18" charset="0"/>
                          </a:rPr>
                        </m:ctrlPr>
                      </m:sSubPr>
                      <m:e>
                        <m:r>
                          <a:rPr lang="sr-Latn-RS" sz="2200" i="1">
                            <a:latin typeface="Cambria Math" panose="02040503050406030204" pitchFamily="18" charset="0"/>
                            <a:ea typeface="Times New Roman" panose="02020603050405020304" pitchFamily="18" charset="0"/>
                            <a:cs typeface="Times New Roman" panose="02020603050405020304" pitchFamily="18" charset="0"/>
                          </a:rPr>
                          <m:t>𝑘</m:t>
                        </m:r>
                      </m:e>
                      <m:sub>
                        <m:r>
                          <a:rPr lang="sr-Latn-RS" sz="2200" i="1">
                            <a:latin typeface="Cambria Math" panose="02040503050406030204" pitchFamily="18" charset="0"/>
                            <a:ea typeface="Times New Roman" panose="02020603050405020304" pitchFamily="18" charset="0"/>
                            <a:cs typeface="Times New Roman" panose="02020603050405020304" pitchFamily="18" charset="0"/>
                          </a:rPr>
                          <m:t>2</m:t>
                        </m:r>
                      </m:sub>
                    </m:sSub>
                    <m:r>
                      <a:rPr lang="sr-Latn-RS" sz="22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oMath>
                </a14:m>
                <a:r>
                  <a:rPr lang="sr-Latn-RS" sz="2200" b="1" dirty="0">
                    <a:latin typeface="Cambria" panose="02040503050406030204" pitchFamily="18" charset="0"/>
                    <a:ea typeface="Times New Roman" panose="02020603050405020304" pitchFamily="18" charset="0"/>
                    <a:cs typeface="Times New Roman" panose="02020603050405020304" pitchFamily="18" charset="0"/>
                  </a:rPr>
                  <a:t>			</a:t>
                </a:r>
                <a:r>
                  <a:rPr lang="en-ZA" sz="2200" dirty="0">
                    <a:latin typeface="+mj-lt"/>
                  </a:rPr>
                  <a:t>associativity of scalar multiplication</a:t>
                </a:r>
                <a:endParaRPr lang="en-ZA" sz="2200" dirty="0">
                  <a:latin typeface="+mj-lt"/>
                  <a:ea typeface="Times New Roman" panose="02020603050405020304" pitchFamily="18" charset="0"/>
                  <a:cs typeface="Times New Roman" panose="02020603050405020304" pitchFamily="18" charset="0"/>
                </a:endParaRPr>
              </a:p>
            </p:txBody>
          </p:sp>
        </mc:Choice>
        <mc:Fallback xmlns="">
          <p:sp>
            <p:nvSpPr>
              <p:cNvPr id="4" name="Rectangle 3">
                <a:extLst>
                  <a:ext uri="{FF2B5EF4-FFF2-40B4-BE49-F238E27FC236}">
                    <a16:creationId xmlns:a16="http://schemas.microsoft.com/office/drawing/2014/main" id="{1E5D712E-B7D4-9549-9623-14EBDD3A8A75}"/>
                  </a:ext>
                </a:extLst>
              </p:cNvPr>
              <p:cNvSpPr>
                <a:spLocks noRot="1" noChangeAspect="1" noMove="1" noResize="1" noEditPoints="1" noAdjustHandles="1" noChangeArrowheads="1" noChangeShapeType="1" noTextEdit="1"/>
              </p:cNvSpPr>
              <p:nvPr/>
            </p:nvSpPr>
            <p:spPr>
              <a:xfrm>
                <a:off x="855134" y="1155977"/>
                <a:ext cx="10481732" cy="5430910"/>
              </a:xfrm>
              <a:prstGeom prst="rect">
                <a:avLst/>
              </a:prstGeom>
              <a:blipFill>
                <a:blip r:embed="rId3"/>
                <a:stretch>
                  <a:fillRect l="-726" t="-699" r="-605"/>
                </a:stretch>
              </a:blipFill>
            </p:spPr>
            <p:txBody>
              <a:bodyPr/>
              <a:lstStyle/>
              <a:p>
                <a:r>
                  <a:rPr lang="en-US">
                    <a:noFill/>
                  </a:rPr>
                  <a:t> </a:t>
                </a:r>
              </a:p>
            </p:txBody>
          </p:sp>
        </mc:Fallback>
      </mc:AlternateContent>
    </p:spTree>
    <p:extLst>
      <p:ext uri="{BB962C8B-B14F-4D97-AF65-F5344CB8AC3E}">
        <p14:creationId xmlns:p14="http://schemas.microsoft.com/office/powerpoint/2010/main" val="12100301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8DFAE3-9D16-0748-BD23-7EA0DD0C7C77}"/>
              </a:ext>
            </a:extLst>
          </p:cNvPr>
          <p:cNvSpPr>
            <a:spLocks noGrp="1"/>
          </p:cNvSpPr>
          <p:nvPr>
            <p:ph type="sldNum" sz="quarter" idx="12"/>
          </p:nvPr>
        </p:nvSpPr>
        <p:spPr/>
        <p:txBody>
          <a:bodyPr/>
          <a:lstStyle/>
          <a:p>
            <a:fld id="{591A223C-FA10-BC46-A853-03BA373D023C}" type="slidenum">
              <a:rPr lang="en-US" smtClean="0"/>
              <a:t>36</a:t>
            </a:fld>
            <a:endParaRPr lang="en-US"/>
          </a:p>
        </p:txBody>
      </p:sp>
      <p:sp>
        <p:nvSpPr>
          <p:cNvPr id="2" name="Title 1">
            <a:extLst>
              <a:ext uri="{FF2B5EF4-FFF2-40B4-BE49-F238E27FC236}">
                <a16:creationId xmlns:a16="http://schemas.microsoft.com/office/drawing/2014/main" id="{73B8D20F-50E4-2B4E-ACE7-2E4008D33AF2}"/>
              </a:ext>
            </a:extLst>
          </p:cNvPr>
          <p:cNvSpPr>
            <a:spLocks noGrp="1"/>
          </p:cNvSpPr>
          <p:nvPr>
            <p:ph type="title"/>
          </p:nvPr>
        </p:nvSpPr>
        <p:spPr/>
        <p:txBody>
          <a:bodyPr/>
          <a:lstStyle/>
          <a:p>
            <a:r>
              <a:rPr lang="en-ZA" dirty="0"/>
              <a:t>Inner product</a:t>
            </a:r>
            <a:endParaRPr lang="en-US" dirty="0"/>
          </a:p>
        </p:txBody>
      </p:sp>
      <p:sp>
        <p:nvSpPr>
          <p:cNvPr id="4" name="TextBox 3">
            <a:extLst>
              <a:ext uri="{FF2B5EF4-FFF2-40B4-BE49-F238E27FC236}">
                <a16:creationId xmlns:a16="http://schemas.microsoft.com/office/drawing/2014/main" id="{F4C7E4F6-44AD-ED44-BC93-E23B218BF49F}"/>
              </a:ext>
            </a:extLst>
          </p:cNvPr>
          <p:cNvSpPr txBox="1"/>
          <p:nvPr/>
        </p:nvSpPr>
        <p:spPr>
          <a:xfrm>
            <a:off x="9773587" y="2983043"/>
            <a:ext cx="184731" cy="369332"/>
          </a:xfrm>
          <a:prstGeom prst="rect">
            <a:avLst/>
          </a:prstGeom>
          <a:noFill/>
        </p:spPr>
        <p:txBody>
          <a:bodyPr wrap="none" rtlCol="0">
            <a:spAutoFit/>
          </a:bodyPr>
          <a:lstStyle/>
          <a:p>
            <a:endParaRPr lang="en-US" dirty="0"/>
          </a:p>
        </p:txBody>
      </p: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77A6EEDF-B09A-E44D-8160-4F262E31E920}"/>
                  </a:ext>
                </a:extLst>
              </p:cNvPr>
              <p:cNvSpPr/>
              <p:nvPr/>
            </p:nvSpPr>
            <p:spPr>
              <a:xfrm>
                <a:off x="1653283" y="1694191"/>
                <a:ext cx="9522114" cy="1138773"/>
              </a:xfrm>
              <a:prstGeom prst="rect">
                <a:avLst/>
              </a:prstGeom>
              <a:solidFill>
                <a:schemeClr val="accent4">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m:t>
                      </m:r>
                      <m:r>
                        <a:rPr lang="en-US" sz="2400" i="1">
                          <a:latin typeface="Cambria Math" panose="02040503050406030204" pitchFamily="18" charset="0"/>
                        </a:rPr>
                        <m:t>𝑎</m:t>
                      </m:r>
                      <m:r>
                        <a:rPr lang="en-US" sz="2400">
                          <a:latin typeface="Cambria Math" panose="02040503050406030204" pitchFamily="18" charset="0"/>
                        </a:rPr>
                        <m:t>|</m:t>
                      </m:r>
                      <m:d>
                        <m:dPr>
                          <m:begChr m:val="|"/>
                          <m:endChr m:val="⟩"/>
                          <m:ctrlPr>
                            <a:rPr lang="en-US" sz="2400" i="1" smtClean="0">
                              <a:latin typeface="Cambria Math" panose="02040503050406030204" pitchFamily="18" charset="0"/>
                            </a:rPr>
                          </m:ctrlPr>
                        </m:dPr>
                        <m:e>
                          <m:r>
                            <a:rPr lang="sr-Latn-RS" sz="2400" b="0" i="1" smtClean="0">
                              <a:latin typeface="Cambria Math" panose="02040503050406030204" pitchFamily="18" charset="0"/>
                            </a:rPr>
                            <m:t>𝑏</m:t>
                          </m:r>
                        </m:e>
                      </m:d>
                      <m:r>
                        <a:rPr lang="sr-Latn-RS" sz="2400" b="0" i="1" smtClean="0">
                          <a:latin typeface="Cambria Math" panose="02040503050406030204" pitchFamily="18" charset="0"/>
                        </a:rPr>
                        <m:t>=</m:t>
                      </m:r>
                      <m:r>
                        <a:rPr lang="en-US" sz="2400" b="1" smtClean="0">
                          <a:solidFill>
                            <a:srgbClr val="FF0000"/>
                          </a:solidFill>
                          <a:latin typeface="Cambria Math" panose="02040503050406030204" pitchFamily="18" charset="0"/>
                        </a:rPr>
                        <m:t>⟨</m:t>
                      </m:r>
                      <m:r>
                        <a:rPr lang="en-US" sz="2400" b="1" i="1">
                          <a:solidFill>
                            <a:srgbClr val="FF0000"/>
                          </a:solidFill>
                          <a:latin typeface="Cambria Math" panose="02040503050406030204" pitchFamily="18" charset="0"/>
                        </a:rPr>
                        <m:t>𝒂</m:t>
                      </m:r>
                      <m:d>
                        <m:dPr>
                          <m:begChr m:val="|"/>
                          <m:endChr m:val="⟩"/>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𝒃</m:t>
                          </m:r>
                        </m:e>
                      </m:d>
                      <m:r>
                        <a:rPr lang="en-US" sz="2400" i="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3"/>
                                    <m:mcJc m:val="center"/>
                                  </m:mcPr>
                                </m:mc>
                              </m:mcs>
                              <m:ctrlPr>
                                <a:rPr lang="en-US" sz="2400" i="1">
                                  <a:latin typeface="Cambria Math" panose="02040503050406030204" pitchFamily="18" charset="0"/>
                                </a:rPr>
                              </m:ctrlPr>
                            </m:mPr>
                            <m:mr>
                              <m:e>
                                <m:sSubSup>
                                  <m:sSubSupPr>
                                    <m:ctrlPr>
                                      <a:rPr lang="en-US" sz="2400" i="1">
                                        <a:latin typeface="Cambria Math" panose="02040503050406030204" pitchFamily="18" charset="0"/>
                                      </a:rPr>
                                    </m:ctrlPr>
                                  </m:sSubSupPr>
                                  <m:e>
                                    <m:r>
                                      <a:rPr lang="en-US" sz="2400" i="1">
                                        <a:latin typeface="Cambria Math" panose="02040503050406030204" pitchFamily="18" charset="0"/>
                                      </a:rPr>
                                      <m:t>𝑎</m:t>
                                    </m:r>
                                  </m:e>
                                  <m:sub>
                                    <m:r>
                                      <a:rPr lang="en-US" sz="2400" i="0">
                                        <a:latin typeface="Cambria Math" panose="02040503050406030204" pitchFamily="18" charset="0"/>
                                      </a:rPr>
                                      <m:t>1</m:t>
                                    </m:r>
                                  </m:sub>
                                  <m:sup>
                                    <m:r>
                                      <a:rPr lang="en-US" sz="2400" i="0">
                                        <a:latin typeface="Cambria Math" panose="02040503050406030204" pitchFamily="18" charset="0"/>
                                      </a:rPr>
                                      <m:t>∗</m:t>
                                    </m:r>
                                  </m:sup>
                                </m:sSubSup>
                              </m:e>
                              <m:e>
                                <m:r>
                                  <a:rPr lang="en-US" sz="2400" i="0">
                                    <a:latin typeface="Cambria Math" panose="02040503050406030204" pitchFamily="18" charset="0"/>
                                  </a:rPr>
                                  <m:t>⋯</m:t>
                                </m:r>
                              </m:e>
                              <m:e>
                                <m:sSubSup>
                                  <m:sSubSupPr>
                                    <m:ctrlPr>
                                      <a:rPr lang="en-US" sz="2400" i="1">
                                        <a:latin typeface="Cambria Math" panose="02040503050406030204" pitchFamily="18" charset="0"/>
                                      </a:rPr>
                                    </m:ctrlPr>
                                  </m:sSubSupPr>
                                  <m:e>
                                    <m:r>
                                      <a:rPr lang="en-US" sz="2400" i="1">
                                        <a:latin typeface="Cambria Math" panose="02040503050406030204" pitchFamily="18" charset="0"/>
                                      </a:rPr>
                                      <m:t>𝑎</m:t>
                                    </m:r>
                                  </m:e>
                                  <m:sub>
                                    <m:r>
                                      <a:rPr lang="en-US" sz="2400" i="1">
                                        <a:latin typeface="Cambria Math" panose="02040503050406030204" pitchFamily="18" charset="0"/>
                                      </a:rPr>
                                      <m:t>𝑛</m:t>
                                    </m:r>
                                  </m:sub>
                                  <m:sup>
                                    <m:r>
                                      <a:rPr lang="en-US" sz="2400" i="0">
                                        <a:latin typeface="Cambria Math" panose="02040503050406030204" pitchFamily="18" charset="0"/>
                                      </a:rPr>
                                      <m:t>∗</m:t>
                                    </m:r>
                                  </m:sup>
                                </m:sSubSup>
                              </m:e>
                            </m:mr>
                          </m:m>
                        </m:e>
                      </m:d>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0">
                                        <a:latin typeface="Cambria Math" panose="02040503050406030204" pitchFamily="18" charset="0"/>
                                      </a:rPr>
                                      <m:t>1</m:t>
                                    </m:r>
                                  </m:sub>
                                </m:sSub>
                              </m:e>
                            </m:mr>
                            <m:mr>
                              <m:e>
                                <m:r>
                                  <a:rPr lang="en-US" sz="2400" i="0">
                                    <a:latin typeface="Cambria Math" panose="02040503050406030204" pitchFamily="18" charset="0"/>
                                  </a:rPr>
                                  <m:t>⋮</m:t>
                                </m:r>
                              </m:e>
                            </m:mr>
                            <m:mr>
                              <m:e>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𝑛</m:t>
                                    </m:r>
                                  </m:sub>
                                </m:sSub>
                              </m:e>
                            </m:mr>
                          </m:m>
                        </m:e>
                      </m:d>
                      <m:r>
                        <a:rPr lang="en-US" sz="2400" i="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𝑎</m:t>
                          </m:r>
                        </m:e>
                        <m:sub>
                          <m:r>
                            <a:rPr lang="en-US" sz="2400" i="0">
                              <a:latin typeface="Cambria Math" panose="02040503050406030204" pitchFamily="18" charset="0"/>
                            </a:rPr>
                            <m:t>1</m:t>
                          </m:r>
                        </m:sub>
                        <m:sup>
                          <m:r>
                            <a:rPr lang="en-US" sz="2400" i="0">
                              <a:latin typeface="Cambria Math" panose="02040503050406030204" pitchFamily="18" charset="0"/>
                            </a:rPr>
                            <m:t>∗</m:t>
                          </m:r>
                        </m:sup>
                      </m:sSubSup>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0">
                              <a:latin typeface="Cambria Math" panose="02040503050406030204" pitchFamily="18" charset="0"/>
                            </a:rPr>
                            <m:t>1</m:t>
                          </m:r>
                        </m:sub>
                      </m:sSub>
                      <m:r>
                        <a:rPr lang="en-US" sz="2400" i="0">
                          <a:latin typeface="Cambria Math" panose="02040503050406030204" pitchFamily="18" charset="0"/>
                        </a:rPr>
                        <m:t>+⋯+</m:t>
                      </m:r>
                      <m:sSubSup>
                        <m:sSubSupPr>
                          <m:ctrlPr>
                            <a:rPr lang="en-US" sz="2400" i="1">
                              <a:latin typeface="Cambria Math" panose="02040503050406030204" pitchFamily="18" charset="0"/>
                            </a:rPr>
                          </m:ctrlPr>
                        </m:sSubSupPr>
                        <m:e>
                          <m:r>
                            <a:rPr lang="en-US" sz="2400" i="1">
                              <a:latin typeface="Cambria Math" panose="02040503050406030204" pitchFamily="18" charset="0"/>
                            </a:rPr>
                            <m:t>𝑎</m:t>
                          </m:r>
                        </m:e>
                        <m:sub>
                          <m:r>
                            <a:rPr lang="en-US" sz="2400" i="1">
                              <a:latin typeface="Cambria Math" panose="02040503050406030204" pitchFamily="18" charset="0"/>
                            </a:rPr>
                            <m:t>𝑛</m:t>
                          </m:r>
                        </m:sub>
                        <m:sup>
                          <m:r>
                            <a:rPr lang="en-US" sz="2400" i="0">
                              <a:latin typeface="Cambria Math" panose="02040503050406030204" pitchFamily="18" charset="0"/>
                            </a:rPr>
                            <m:t>∗</m:t>
                          </m:r>
                        </m:sup>
                      </m:sSubSup>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𝑛</m:t>
                          </m:r>
                        </m:sub>
                      </m:sSub>
                      <m:r>
                        <a:rPr lang="en-US" sz="2400" i="0">
                          <a:latin typeface="Cambria Math" panose="02040503050406030204" pitchFamily="18" charset="0"/>
                        </a:rPr>
                        <m:t>=</m:t>
                      </m:r>
                      <m:nary>
                        <m:naryPr>
                          <m:chr m:val="∑"/>
                          <m:limLoc m:val="undOvr"/>
                          <m:ctrlPr>
                            <a:rPr lang="en-US" sz="2400" i="1">
                              <a:latin typeface="Cambria Math" panose="02040503050406030204" pitchFamily="18" charset="0"/>
                            </a:rPr>
                          </m:ctrlPr>
                        </m:naryPr>
                        <m:sub>
                          <m:r>
                            <a:rPr lang="en-US" sz="2400" i="1">
                              <a:latin typeface="Cambria Math" panose="02040503050406030204" pitchFamily="18" charset="0"/>
                            </a:rPr>
                            <m:t>𝑖</m:t>
                          </m:r>
                          <m:r>
                            <a:rPr lang="en-US" sz="2400" i="0">
                              <a:latin typeface="Cambria Math" panose="02040503050406030204" pitchFamily="18" charset="0"/>
                            </a:rPr>
                            <m:t>=1</m:t>
                          </m:r>
                        </m:sub>
                        <m:sup>
                          <m:r>
                            <a:rPr lang="en-US" sz="2400" i="1">
                              <a:latin typeface="Cambria Math" panose="02040503050406030204" pitchFamily="18" charset="0"/>
                            </a:rPr>
                            <m:t>𝑛</m:t>
                          </m:r>
                        </m:sup>
                        <m:e>
                          <m:sSubSup>
                            <m:sSubSupPr>
                              <m:ctrlPr>
                                <a:rPr lang="en-US" sz="2400" i="1">
                                  <a:latin typeface="Cambria Math" panose="02040503050406030204" pitchFamily="18" charset="0"/>
                                </a:rPr>
                              </m:ctrlPr>
                            </m:sSubSupPr>
                            <m:e>
                              <m:r>
                                <a:rPr lang="en-US" sz="2400" i="1">
                                  <a:latin typeface="Cambria Math" panose="02040503050406030204" pitchFamily="18" charset="0"/>
                                </a:rPr>
                                <m:t>𝑎</m:t>
                              </m:r>
                            </m:e>
                            <m:sub>
                              <m:r>
                                <a:rPr lang="en-US" sz="2400" i="1">
                                  <a:latin typeface="Cambria Math" panose="02040503050406030204" pitchFamily="18" charset="0"/>
                                </a:rPr>
                                <m:t>𝑖</m:t>
                              </m:r>
                            </m:sub>
                            <m:sup>
                              <m:r>
                                <a:rPr lang="en-US" sz="2400" i="0">
                                  <a:latin typeface="Cambria Math" panose="02040503050406030204" pitchFamily="18" charset="0"/>
                                </a:rPr>
                                <m:t>∗</m:t>
                              </m:r>
                            </m:sup>
                          </m:sSubSup>
                          <m:sSub>
                            <m:sSubPr>
                              <m:ctrlPr>
                                <a:rPr lang="en-US"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𝑖</m:t>
                              </m:r>
                            </m:sub>
                          </m:sSub>
                          <m:r>
                            <a:rPr lang="en-US" sz="2400" i="0">
                              <a:latin typeface="Cambria Math" panose="02040503050406030204" pitchFamily="18" charset="0"/>
                            </a:rPr>
                            <m:t>=</m:t>
                          </m:r>
                          <m:r>
                            <a:rPr lang="en-US" sz="2400" i="1">
                              <a:latin typeface="Cambria Math" panose="02040503050406030204" pitchFamily="18" charset="0"/>
                            </a:rPr>
                            <m:t>𝑧</m:t>
                          </m:r>
                        </m:e>
                      </m:nary>
                    </m:oMath>
                  </m:oMathPara>
                </a14:m>
                <a:endParaRPr lang="en-US" sz="2400" dirty="0"/>
              </a:p>
            </p:txBody>
          </p:sp>
        </mc:Choice>
        <mc:Fallback xmlns="">
          <p:sp>
            <p:nvSpPr>
              <p:cNvPr id="40" name="Rectangle 39">
                <a:extLst>
                  <a:ext uri="{FF2B5EF4-FFF2-40B4-BE49-F238E27FC236}">
                    <a16:creationId xmlns:a16="http://schemas.microsoft.com/office/drawing/2014/main" id="{77A6EEDF-B09A-E44D-8160-4F262E31E920}"/>
                  </a:ext>
                </a:extLst>
              </p:cNvPr>
              <p:cNvSpPr>
                <a:spLocks noRot="1" noChangeAspect="1" noMove="1" noResize="1" noEditPoints="1" noAdjustHandles="1" noChangeArrowheads="1" noChangeShapeType="1" noTextEdit="1"/>
              </p:cNvSpPr>
              <p:nvPr/>
            </p:nvSpPr>
            <p:spPr>
              <a:xfrm>
                <a:off x="1653283" y="1694191"/>
                <a:ext cx="9522114" cy="1138773"/>
              </a:xfrm>
              <a:prstGeom prst="rect">
                <a:avLst/>
              </a:prstGeom>
              <a:blipFill>
                <a:blip r:embed="rId3"/>
                <a:stretch>
                  <a:fillRect l="-133" t="-101099" b="-153846"/>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B93108A1-1714-DA4D-8105-475B2DFA6574}"/>
              </a:ext>
            </a:extLst>
          </p:cNvPr>
          <p:cNvGrpSpPr/>
          <p:nvPr/>
        </p:nvGrpSpPr>
        <p:grpSpPr>
          <a:xfrm>
            <a:off x="274198" y="2770547"/>
            <a:ext cx="10021744" cy="2766400"/>
            <a:chOff x="274198" y="2983043"/>
            <a:chExt cx="10021744" cy="2766400"/>
          </a:xfrm>
        </p:grpSpPr>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6EE0512B-0D40-7D4D-B10E-B7393437BA5C}"/>
                    </a:ext>
                  </a:extLst>
                </p:cNvPr>
                <p:cNvSpPr/>
                <p:nvPr/>
              </p:nvSpPr>
              <p:spPr>
                <a:xfrm>
                  <a:off x="4881511" y="3433044"/>
                  <a:ext cx="5414431" cy="461665"/>
                </a:xfrm>
                <a:prstGeom prst="rect">
                  <a:avLst/>
                </a:prstGeom>
              </p:spPr>
              <p:txBody>
                <a:bodyPr wrap="none">
                  <a:spAutoFit/>
                </a:bodyPr>
                <a:lstStyle/>
                <a:p>
                  <a14:m>
                    <m:oMath xmlns:m="http://schemas.openxmlformats.org/officeDocument/2006/math">
                      <m:r>
                        <a:rPr lang="en-US" sz="2400" smtClean="0">
                          <a:latin typeface="Cambria Math" panose="02040503050406030204" pitchFamily="18" charset="0"/>
                        </a:rPr>
                        <m:t>⟨</m:t>
                      </m:r>
                      <m:r>
                        <a:rPr lang="en-US" sz="2400" i="1">
                          <a:latin typeface="Cambria Math" panose="02040503050406030204" pitchFamily="18" charset="0"/>
                        </a:rPr>
                        <m:t>𝑎</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𝑏</m:t>
                          </m:r>
                        </m:e>
                      </m:d>
                      <m:r>
                        <a:rPr lang="en-US" sz="2400" i="1">
                          <a:latin typeface="Cambria Math" panose="02040503050406030204" pitchFamily="18" charset="0"/>
                        </a:rPr>
                        <m:t>=</m:t>
                      </m:r>
                      <m:d>
                        <m:dPr>
                          <m:ctrlPr>
                            <a:rPr lang="en-US" sz="2400" i="1">
                              <a:latin typeface="Cambria Math" panose="02040503050406030204" pitchFamily="18" charset="0"/>
                            </a:rPr>
                          </m:ctrlPr>
                        </m:dPr>
                        <m:e>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r>
                                <a:rPr lang="en-US" sz="2400" i="1">
                                  <a:latin typeface="Cambria Math" panose="02040503050406030204" pitchFamily="18" charset="0"/>
                                  <a:ea typeface="Cambria Math" panose="02040503050406030204" pitchFamily="18" charset="0"/>
                                </a:rPr>
                                <m:t>𝜃</m:t>
                              </m:r>
                            </m:e>
                          </m:func>
                        </m:e>
                      </m:d>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𝑏</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oMath>
                  </a14:m>
                  <a:r>
                    <a:rPr lang="en-US" sz="2400" dirty="0"/>
                    <a:t> </a:t>
                  </a:r>
                  <a14:m>
                    <m:oMath xmlns:m="http://schemas.openxmlformats.org/officeDocument/2006/math">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𝑏</m:t>
                          </m:r>
                        </m:e>
                      </m:d>
                      <m:func>
                        <m:funcPr>
                          <m:ctrlPr>
                            <a:rPr lang="en-US" sz="2400" i="1">
                              <a:latin typeface="Cambria Math" panose="02040503050406030204" pitchFamily="18" charset="0"/>
                            </a:rPr>
                          </m:ctrlPr>
                        </m:funcPr>
                        <m:fName>
                          <m:r>
                            <m:rPr>
                              <m:sty m:val="p"/>
                            </m:rPr>
                            <a:rPr lang="en-US" sz="2400">
                              <a:latin typeface="Cambria Math" panose="02040503050406030204" pitchFamily="18" charset="0"/>
                            </a:rPr>
                            <m:t>cos</m:t>
                          </m:r>
                        </m:fName>
                        <m:e>
                          <m:r>
                            <a:rPr lang="en-US" sz="2400" i="1">
                              <a:latin typeface="Cambria Math" panose="02040503050406030204" pitchFamily="18" charset="0"/>
                              <a:ea typeface="Cambria Math" panose="02040503050406030204" pitchFamily="18" charset="0"/>
                            </a:rPr>
                            <m:t>𝜃</m:t>
                          </m:r>
                        </m:e>
                      </m:func>
                    </m:oMath>
                  </a14:m>
                  <a:endParaRPr lang="en-US" sz="2400" dirty="0"/>
                </a:p>
              </p:txBody>
            </p:sp>
          </mc:Choice>
          <mc:Fallback xmlns="">
            <p:sp>
              <p:nvSpPr>
                <p:cNvPr id="62" name="Rectangle 61">
                  <a:extLst>
                    <a:ext uri="{FF2B5EF4-FFF2-40B4-BE49-F238E27FC236}">
                      <a16:creationId xmlns:a16="http://schemas.microsoft.com/office/drawing/2014/main" id="{6EE0512B-0D40-7D4D-B10E-B7393437BA5C}"/>
                    </a:ext>
                  </a:extLst>
                </p:cNvPr>
                <p:cNvSpPr>
                  <a:spLocks noRot="1" noChangeAspect="1" noMove="1" noResize="1" noEditPoints="1" noAdjustHandles="1" noChangeArrowheads="1" noChangeShapeType="1" noTextEdit="1"/>
                </p:cNvSpPr>
                <p:nvPr/>
              </p:nvSpPr>
              <p:spPr>
                <a:xfrm>
                  <a:off x="4881511" y="3433044"/>
                  <a:ext cx="5414431" cy="461665"/>
                </a:xfrm>
                <a:prstGeom prst="rect">
                  <a:avLst/>
                </a:prstGeom>
                <a:blipFill>
                  <a:blip r:embed="rId4"/>
                  <a:stretch>
                    <a:fillRect l="-937" b="-16216"/>
                  </a:stretch>
                </a:blipFill>
              </p:spPr>
              <p:txBody>
                <a:bodyPr/>
                <a:lstStyle/>
                <a:p>
                  <a:r>
                    <a:rPr lang="en-US">
                      <a:noFill/>
                    </a:rPr>
                    <a:t> </a:t>
                  </a:r>
                </a:p>
              </p:txBody>
            </p:sp>
          </mc:Fallback>
        </mc:AlternateContent>
        <p:sp>
          <p:nvSpPr>
            <p:cNvPr id="42" name="Freeform 41">
              <a:extLst>
                <a:ext uri="{FF2B5EF4-FFF2-40B4-BE49-F238E27FC236}">
                  <a16:creationId xmlns:a16="http://schemas.microsoft.com/office/drawing/2014/main" id="{231EB885-581D-9D46-B35A-8E2305CC5DE7}"/>
                </a:ext>
              </a:extLst>
            </p:cNvPr>
            <p:cNvSpPr/>
            <p:nvPr/>
          </p:nvSpPr>
          <p:spPr>
            <a:xfrm>
              <a:off x="366299" y="2983043"/>
              <a:ext cx="514402" cy="98875"/>
            </a:xfrm>
            <a:custGeom>
              <a:avLst/>
              <a:gdLst>
                <a:gd name="connsiteX0" fmla="*/ 0 w 306977"/>
                <a:gd name="connsiteY0" fmla="*/ 42677 h 59005"/>
                <a:gd name="connsiteX1" fmla="*/ 160020 w 306977"/>
                <a:gd name="connsiteY1" fmla="*/ 223 h 59005"/>
                <a:gd name="connsiteX2" fmla="*/ 306977 w 306977"/>
                <a:gd name="connsiteY2" fmla="*/ 59005 h 59005"/>
              </a:gdLst>
              <a:ahLst/>
              <a:cxnLst>
                <a:cxn ang="0">
                  <a:pos x="connsiteX0" y="connsiteY0"/>
                </a:cxn>
                <a:cxn ang="0">
                  <a:pos x="connsiteX1" y="connsiteY1"/>
                </a:cxn>
                <a:cxn ang="0">
                  <a:pos x="connsiteX2" y="connsiteY2"/>
                </a:cxn>
              </a:cxnLst>
              <a:rect l="l" t="t" r="r" b="b"/>
              <a:pathLst>
                <a:path w="306977" h="59005">
                  <a:moveTo>
                    <a:pt x="0" y="42677"/>
                  </a:moveTo>
                  <a:cubicBezTo>
                    <a:pt x="54428" y="20089"/>
                    <a:pt x="108857" y="-2498"/>
                    <a:pt x="160020" y="223"/>
                  </a:cubicBezTo>
                  <a:cubicBezTo>
                    <a:pt x="211183" y="2944"/>
                    <a:pt x="259080" y="30974"/>
                    <a:pt x="306977" y="59005"/>
                  </a:cubicBezTo>
                </a:path>
              </a:pathLst>
            </a:custGeom>
            <a:noFill/>
            <a:ln cap="rnd">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44" name="Rectangle 43">
              <a:extLst>
                <a:ext uri="{FF2B5EF4-FFF2-40B4-BE49-F238E27FC236}">
                  <a16:creationId xmlns:a16="http://schemas.microsoft.com/office/drawing/2014/main" id="{B0B606CF-3649-994A-8FA7-E783648C848A}"/>
                </a:ext>
              </a:extLst>
            </p:cNvPr>
            <p:cNvSpPr/>
            <p:nvPr/>
          </p:nvSpPr>
          <p:spPr>
            <a:xfrm rot="20520000">
              <a:off x="579914" y="3908337"/>
              <a:ext cx="1808531" cy="1608656"/>
            </a:xfrm>
            <a:prstGeom prst="rect">
              <a:avLst/>
            </a:prstGeom>
            <a:gradFill>
              <a:gsLst>
                <a:gs pos="100000">
                  <a:schemeClr val="accent4">
                    <a:lumMod val="5000"/>
                    <a:lumOff val="95000"/>
                  </a:schemeClr>
                </a:gs>
                <a:gs pos="0">
                  <a:schemeClr val="accent4">
                    <a:lumMod val="45000"/>
                    <a:lumOff val="55000"/>
                  </a:schemeClr>
                </a:gs>
                <a:gs pos="37000">
                  <a:schemeClr val="accent4">
                    <a:lumMod val="30000"/>
                    <a:lumOff val="70000"/>
                    <a:alpha val="62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47" name="Straight Arrow Connector 46">
              <a:extLst>
                <a:ext uri="{FF2B5EF4-FFF2-40B4-BE49-F238E27FC236}">
                  <a16:creationId xmlns:a16="http://schemas.microsoft.com/office/drawing/2014/main" id="{7805C7F2-1768-404B-8F76-087499480FBE}"/>
                </a:ext>
              </a:extLst>
            </p:cNvPr>
            <p:cNvCxnSpPr>
              <a:cxnSpLocks/>
              <a:endCxn id="44" idx="3"/>
            </p:cNvCxnSpPr>
            <p:nvPr/>
          </p:nvCxnSpPr>
          <p:spPr>
            <a:xfrm flipV="1">
              <a:off x="895153" y="4433232"/>
              <a:ext cx="1449034" cy="1316210"/>
            </a:xfrm>
            <a:prstGeom prst="straightConnector1">
              <a:avLst/>
            </a:prstGeom>
            <a:ln w="12700" cap="rnd">
              <a:solidFill>
                <a:schemeClr val="accent1">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E5EA62A-EE26-F24A-8CE0-E952255BD35F}"/>
                </a:ext>
              </a:extLst>
            </p:cNvPr>
            <p:cNvCxnSpPr>
              <a:cxnSpLocks/>
            </p:cNvCxnSpPr>
            <p:nvPr/>
          </p:nvCxnSpPr>
          <p:spPr>
            <a:xfrm flipV="1">
              <a:off x="897448" y="5063344"/>
              <a:ext cx="2135312" cy="686099"/>
            </a:xfrm>
            <a:prstGeom prst="straightConnector1">
              <a:avLst/>
            </a:prstGeom>
            <a:ln w="12700" cap="rnd">
              <a:solidFill>
                <a:schemeClr val="accent6">
                  <a:lumMod val="75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Rectangle 51">
                  <a:extLst>
                    <a:ext uri="{FF2B5EF4-FFF2-40B4-BE49-F238E27FC236}">
                      <a16:creationId xmlns:a16="http://schemas.microsoft.com/office/drawing/2014/main" id="{261DCF9E-7513-8445-86D6-189B3D2D8333}"/>
                    </a:ext>
                  </a:extLst>
                </p:cNvPr>
                <p:cNvSpPr/>
                <p:nvPr/>
              </p:nvSpPr>
              <p:spPr>
                <a:xfrm>
                  <a:off x="1251344" y="4542881"/>
                  <a:ext cx="603370"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sz="2200" i="1">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𝑎</m:t>
                            </m:r>
                          </m:e>
                        </m:d>
                      </m:oMath>
                    </m:oMathPara>
                  </a14:m>
                  <a:endParaRPr lang="en-US" sz="2200" dirty="0">
                    <a:solidFill>
                      <a:schemeClr val="tx1"/>
                    </a:solidFill>
                  </a:endParaRPr>
                </a:p>
              </p:txBody>
            </p:sp>
          </mc:Choice>
          <mc:Fallback xmlns="">
            <p:sp>
              <p:nvSpPr>
                <p:cNvPr id="52" name="Rectangle 51">
                  <a:extLst>
                    <a:ext uri="{FF2B5EF4-FFF2-40B4-BE49-F238E27FC236}">
                      <a16:creationId xmlns:a16="http://schemas.microsoft.com/office/drawing/2014/main" id="{261DCF9E-7513-8445-86D6-189B3D2D8333}"/>
                    </a:ext>
                  </a:extLst>
                </p:cNvPr>
                <p:cNvSpPr>
                  <a:spLocks noRot="1" noChangeAspect="1" noMove="1" noResize="1" noEditPoints="1" noAdjustHandles="1" noChangeArrowheads="1" noChangeShapeType="1" noTextEdit="1"/>
                </p:cNvSpPr>
                <p:nvPr/>
              </p:nvSpPr>
              <p:spPr>
                <a:xfrm>
                  <a:off x="1251344" y="4542881"/>
                  <a:ext cx="603370" cy="430887"/>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1D892707-F480-A24D-8839-504801DA7896}"/>
                    </a:ext>
                  </a:extLst>
                </p:cNvPr>
                <p:cNvSpPr/>
                <p:nvPr/>
              </p:nvSpPr>
              <p:spPr>
                <a:xfrm>
                  <a:off x="2614991" y="5100472"/>
                  <a:ext cx="597920"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sz="22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𝑏</m:t>
                            </m:r>
                          </m:e>
                        </m:d>
                      </m:oMath>
                    </m:oMathPara>
                  </a14:m>
                  <a:endParaRPr lang="en-US" sz="2200" dirty="0">
                    <a:solidFill>
                      <a:schemeClr val="tx1"/>
                    </a:solidFill>
                  </a:endParaRPr>
                </a:p>
              </p:txBody>
            </p:sp>
          </mc:Choice>
          <mc:Fallback xmlns="">
            <p:sp>
              <p:nvSpPr>
                <p:cNvPr id="53" name="Rectangle 52">
                  <a:extLst>
                    <a:ext uri="{FF2B5EF4-FFF2-40B4-BE49-F238E27FC236}">
                      <a16:creationId xmlns:a16="http://schemas.microsoft.com/office/drawing/2014/main" id="{1D892707-F480-A24D-8839-504801DA7896}"/>
                    </a:ext>
                  </a:extLst>
                </p:cNvPr>
                <p:cNvSpPr>
                  <a:spLocks noRot="1" noChangeAspect="1" noMove="1" noResize="1" noEditPoints="1" noAdjustHandles="1" noChangeArrowheads="1" noChangeShapeType="1" noTextEdit="1"/>
                </p:cNvSpPr>
                <p:nvPr/>
              </p:nvSpPr>
              <p:spPr>
                <a:xfrm>
                  <a:off x="2614991" y="5100472"/>
                  <a:ext cx="597920" cy="430887"/>
                </a:xfrm>
                <a:prstGeom prst="rect">
                  <a:avLst/>
                </a:prstGeom>
                <a:blipFill>
                  <a:blip r:embed="rId6"/>
                  <a:stretch>
                    <a:fillRect/>
                  </a:stretch>
                </a:blipFill>
              </p:spPr>
              <p:txBody>
                <a:bodyPr/>
                <a:lstStyle/>
                <a:p>
                  <a:r>
                    <a:rPr lang="en-US">
                      <a:noFill/>
                    </a:rPr>
                    <a:t> </a:t>
                  </a:r>
                </a:p>
              </p:txBody>
            </p:sp>
          </mc:Fallback>
        </mc:AlternateContent>
        <p:sp>
          <p:nvSpPr>
            <p:cNvPr id="54" name="Freeform 53">
              <a:extLst>
                <a:ext uri="{FF2B5EF4-FFF2-40B4-BE49-F238E27FC236}">
                  <a16:creationId xmlns:a16="http://schemas.microsoft.com/office/drawing/2014/main" id="{AB50584A-64C5-D341-9F38-A05701670576}"/>
                </a:ext>
              </a:extLst>
            </p:cNvPr>
            <p:cNvSpPr/>
            <p:nvPr/>
          </p:nvSpPr>
          <p:spPr>
            <a:xfrm rot="288810">
              <a:off x="1606941" y="5094997"/>
              <a:ext cx="232994" cy="321420"/>
            </a:xfrm>
            <a:custGeom>
              <a:avLst/>
              <a:gdLst>
                <a:gd name="connsiteX0" fmla="*/ 526273 w 526273"/>
                <a:gd name="connsiteY0" fmla="*/ 934135 h 934135"/>
                <a:gd name="connsiteX1" fmla="*/ 0 w 526273"/>
                <a:gd name="connsiteY1" fmla="*/ 0 h 934135"/>
                <a:gd name="connsiteX0" fmla="*/ 526273 w 526273"/>
                <a:gd name="connsiteY0" fmla="*/ 934135 h 934135"/>
                <a:gd name="connsiteX1" fmla="*/ 407861 w 526273"/>
                <a:gd name="connsiteY1" fmla="*/ 381548 h 934135"/>
                <a:gd name="connsiteX2" fmla="*/ 0 w 526273"/>
                <a:gd name="connsiteY2" fmla="*/ 0 h 934135"/>
                <a:gd name="connsiteX0" fmla="*/ 526273 w 526290"/>
                <a:gd name="connsiteY0" fmla="*/ 934135 h 934135"/>
                <a:gd name="connsiteX1" fmla="*/ 407861 w 526290"/>
                <a:gd name="connsiteY1" fmla="*/ 381548 h 934135"/>
                <a:gd name="connsiteX2" fmla="*/ 0 w 526290"/>
                <a:gd name="connsiteY2" fmla="*/ 0 h 934135"/>
                <a:gd name="connsiteX0" fmla="*/ 526273 w 526290"/>
                <a:gd name="connsiteY0" fmla="*/ 934135 h 934135"/>
                <a:gd name="connsiteX1" fmla="*/ 407861 w 526290"/>
                <a:gd name="connsiteY1" fmla="*/ 381548 h 934135"/>
                <a:gd name="connsiteX2" fmla="*/ 0 w 526290"/>
                <a:gd name="connsiteY2" fmla="*/ 0 h 934135"/>
                <a:gd name="connsiteX0" fmla="*/ 526273 w 526284"/>
                <a:gd name="connsiteY0" fmla="*/ 934135 h 934135"/>
                <a:gd name="connsiteX1" fmla="*/ 394281 w 526284"/>
                <a:gd name="connsiteY1" fmla="*/ 354269 h 934135"/>
                <a:gd name="connsiteX2" fmla="*/ 0 w 526284"/>
                <a:gd name="connsiteY2" fmla="*/ 0 h 934135"/>
                <a:gd name="connsiteX0" fmla="*/ 526273 w 526284"/>
                <a:gd name="connsiteY0" fmla="*/ 934135 h 934135"/>
                <a:gd name="connsiteX1" fmla="*/ 394281 w 526284"/>
                <a:gd name="connsiteY1" fmla="*/ 354269 h 934135"/>
                <a:gd name="connsiteX2" fmla="*/ 0 w 526284"/>
                <a:gd name="connsiteY2" fmla="*/ 0 h 934135"/>
                <a:gd name="connsiteX0" fmla="*/ 526273 w 526282"/>
                <a:gd name="connsiteY0" fmla="*/ 934135 h 934135"/>
                <a:gd name="connsiteX1" fmla="*/ 394281 w 526282"/>
                <a:gd name="connsiteY1" fmla="*/ 354269 h 934135"/>
                <a:gd name="connsiteX2" fmla="*/ 0 w 526282"/>
                <a:gd name="connsiteY2" fmla="*/ 0 h 934135"/>
                <a:gd name="connsiteX0" fmla="*/ 526273 w 526287"/>
                <a:gd name="connsiteY0" fmla="*/ 934135 h 934135"/>
                <a:gd name="connsiteX1" fmla="*/ 411152 w 526287"/>
                <a:gd name="connsiteY1" fmla="*/ 423983 h 934135"/>
                <a:gd name="connsiteX2" fmla="*/ 0 w 526287"/>
                <a:gd name="connsiteY2" fmla="*/ 0 h 934135"/>
                <a:gd name="connsiteX0" fmla="*/ 526273 w 526287"/>
                <a:gd name="connsiteY0" fmla="*/ 934135 h 934135"/>
                <a:gd name="connsiteX1" fmla="*/ 411152 w 526287"/>
                <a:gd name="connsiteY1" fmla="*/ 423983 h 934135"/>
                <a:gd name="connsiteX2" fmla="*/ 0 w 526287"/>
                <a:gd name="connsiteY2" fmla="*/ 0 h 934135"/>
                <a:gd name="connsiteX0" fmla="*/ 526273 w 526278"/>
                <a:gd name="connsiteY0" fmla="*/ 934135 h 934135"/>
                <a:gd name="connsiteX1" fmla="*/ 358360 w 526278"/>
                <a:gd name="connsiteY1" fmla="*/ 318356 h 934135"/>
                <a:gd name="connsiteX2" fmla="*/ 0 w 526278"/>
                <a:gd name="connsiteY2" fmla="*/ 0 h 934135"/>
              </a:gdLst>
              <a:ahLst/>
              <a:cxnLst>
                <a:cxn ang="0">
                  <a:pos x="connsiteX0" y="connsiteY0"/>
                </a:cxn>
                <a:cxn ang="0">
                  <a:pos x="connsiteX1" y="connsiteY1"/>
                </a:cxn>
                <a:cxn ang="0">
                  <a:pos x="connsiteX2" y="connsiteY2"/>
                </a:cxn>
              </a:cxnLst>
              <a:rect l="l" t="t" r="r" b="b"/>
              <a:pathLst>
                <a:path w="526278" h="934135">
                  <a:moveTo>
                    <a:pt x="526273" y="934135"/>
                  </a:moveTo>
                  <a:cubicBezTo>
                    <a:pt x="527043" y="738010"/>
                    <a:pt x="443597" y="506686"/>
                    <a:pt x="358360" y="318356"/>
                  </a:cubicBezTo>
                  <a:cubicBezTo>
                    <a:pt x="272034" y="166871"/>
                    <a:pt x="199329" y="107698"/>
                    <a:pt x="0" y="0"/>
                  </a:cubicBezTo>
                </a:path>
              </a:pathLst>
            </a:custGeom>
            <a:noFill/>
            <a:ln w="12700" cap="rnd">
              <a:solidFill>
                <a:srgbClr val="00B050"/>
              </a:solidFill>
              <a:tailEnd type="none"/>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941" tIns="45971" rIns="91941" bIns="45971" numCol="1" spcCol="0" rtlCol="0" fromWordArt="0" anchor="ctr" anchorCtr="0" forceAA="0" compatLnSpc="1">
              <a:prstTxWarp prst="textNoShape">
                <a:avLst/>
              </a:prstTxWarp>
              <a:noAutofit/>
            </a:bodyPr>
            <a:lstStyle/>
            <a:p>
              <a:pPr algn="ctr"/>
              <a:endParaRPr lang="en-US" sz="2000"/>
            </a:p>
          </p:txBody>
        </p:sp>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D76C88FE-565A-BF44-A0CB-3282410E6FB1}"/>
                    </a:ext>
                  </a:extLst>
                </p:cNvPr>
                <p:cNvSpPr/>
                <p:nvPr/>
              </p:nvSpPr>
              <p:spPr>
                <a:xfrm>
                  <a:off x="1082819" y="5161635"/>
                  <a:ext cx="851919" cy="43088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ea typeface="Cambria Math" panose="02040503050406030204" pitchFamily="18" charset="0"/>
                          </a:rPr>
                          <m:t>𝜃</m:t>
                        </m:r>
                      </m:oMath>
                    </m:oMathPara>
                  </a14:m>
                  <a:endParaRPr lang="en-US" sz="2200" dirty="0"/>
                </a:p>
              </p:txBody>
            </p:sp>
          </mc:Choice>
          <mc:Fallback xmlns="">
            <p:sp>
              <p:nvSpPr>
                <p:cNvPr id="60" name="Rectangle 59">
                  <a:extLst>
                    <a:ext uri="{FF2B5EF4-FFF2-40B4-BE49-F238E27FC236}">
                      <a16:creationId xmlns:a16="http://schemas.microsoft.com/office/drawing/2014/main" id="{D76C88FE-565A-BF44-A0CB-3282410E6FB1}"/>
                    </a:ext>
                  </a:extLst>
                </p:cNvPr>
                <p:cNvSpPr>
                  <a:spLocks noRot="1" noChangeAspect="1" noMove="1" noResize="1" noEditPoints="1" noAdjustHandles="1" noChangeArrowheads="1" noChangeShapeType="1" noTextEdit="1"/>
                </p:cNvSpPr>
                <p:nvPr/>
              </p:nvSpPr>
              <p:spPr>
                <a:xfrm>
                  <a:off x="1082819" y="5161635"/>
                  <a:ext cx="851919" cy="430887"/>
                </a:xfrm>
                <a:prstGeom prst="rect">
                  <a:avLst/>
                </a:prstGeom>
                <a:blipFill>
                  <a:blip r:embed="rId7"/>
                  <a:stretch>
                    <a:fillRect/>
                  </a:stretch>
                </a:blipFill>
              </p:spPr>
              <p:txBody>
                <a:bodyPr/>
                <a:lstStyle/>
                <a:p>
                  <a:r>
                    <a:rPr lang="en-US">
                      <a:noFill/>
                    </a:rPr>
                    <a:t> </a:t>
                  </a:r>
                </a:p>
              </p:txBody>
            </p:sp>
          </mc:Fallback>
        </mc:AlternateContent>
        <p:sp>
          <p:nvSpPr>
            <p:cNvPr id="63" name="Delay 62">
              <a:extLst>
                <a:ext uri="{FF2B5EF4-FFF2-40B4-BE49-F238E27FC236}">
                  <a16:creationId xmlns:a16="http://schemas.microsoft.com/office/drawing/2014/main" id="{5C4DC425-B496-6540-AEED-2B9AFD5B5F01}"/>
                </a:ext>
              </a:extLst>
            </p:cNvPr>
            <p:cNvSpPr/>
            <p:nvPr/>
          </p:nvSpPr>
          <p:spPr>
            <a:xfrm rot="4239121" flipH="1">
              <a:off x="691858" y="3081166"/>
              <a:ext cx="527898" cy="441089"/>
            </a:xfrm>
            <a:prstGeom prst="flowChartDelay">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4" name="Chord 63">
              <a:extLst>
                <a:ext uri="{FF2B5EF4-FFF2-40B4-BE49-F238E27FC236}">
                  <a16:creationId xmlns:a16="http://schemas.microsoft.com/office/drawing/2014/main" id="{520F350A-0839-1748-853B-A461CE96E073}"/>
                </a:ext>
              </a:extLst>
            </p:cNvPr>
            <p:cNvSpPr/>
            <p:nvPr/>
          </p:nvSpPr>
          <p:spPr>
            <a:xfrm rot="4239121">
              <a:off x="749523" y="3001283"/>
              <a:ext cx="910464" cy="1861113"/>
            </a:xfrm>
            <a:prstGeom prst="chord">
              <a:avLst>
                <a:gd name="adj1" fmla="val 5472977"/>
                <a:gd name="adj2" fmla="val 16200000"/>
              </a:avLst>
            </a:prstGeom>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65" name="Oval 64">
              <a:extLst>
                <a:ext uri="{FF2B5EF4-FFF2-40B4-BE49-F238E27FC236}">
                  <a16:creationId xmlns:a16="http://schemas.microsoft.com/office/drawing/2014/main" id="{64A09755-5CEA-8346-8B7A-304BF997E3AD}"/>
                </a:ext>
              </a:extLst>
            </p:cNvPr>
            <p:cNvSpPr/>
            <p:nvPr/>
          </p:nvSpPr>
          <p:spPr>
            <a:xfrm rot="4239121">
              <a:off x="991460" y="3010234"/>
              <a:ext cx="432879" cy="1861113"/>
            </a:xfrm>
            <a:prstGeom prst="ellipse">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p>
          </p:txBody>
        </p:sp>
        <p:sp>
          <p:nvSpPr>
            <p:cNvPr id="66" name="Freeform 65">
              <a:extLst>
                <a:ext uri="{FF2B5EF4-FFF2-40B4-BE49-F238E27FC236}">
                  <a16:creationId xmlns:a16="http://schemas.microsoft.com/office/drawing/2014/main" id="{D611725A-40C2-DC43-9E0C-22192C2B1F76}"/>
                </a:ext>
              </a:extLst>
            </p:cNvPr>
            <p:cNvSpPr/>
            <p:nvPr/>
          </p:nvSpPr>
          <p:spPr>
            <a:xfrm>
              <a:off x="322672" y="3573133"/>
              <a:ext cx="1745076" cy="676831"/>
            </a:xfrm>
            <a:custGeom>
              <a:avLst/>
              <a:gdLst>
                <a:gd name="connsiteX0" fmla="*/ 0 w 1047750"/>
                <a:gd name="connsiteY0" fmla="*/ 361950 h 361950"/>
                <a:gd name="connsiteX1" fmla="*/ 1047750 w 1047750"/>
                <a:gd name="connsiteY1" fmla="*/ 0 h 361950"/>
                <a:gd name="connsiteX0" fmla="*/ 0 w 1047750"/>
                <a:gd name="connsiteY0" fmla="*/ 361950 h 361950"/>
                <a:gd name="connsiteX1" fmla="*/ 495300 w 1047750"/>
                <a:gd name="connsiteY1" fmla="*/ 66675 h 361950"/>
                <a:gd name="connsiteX2" fmla="*/ 1047750 w 1047750"/>
                <a:gd name="connsiteY2" fmla="*/ 0 h 361950"/>
                <a:gd name="connsiteX0" fmla="*/ 0 w 1047750"/>
                <a:gd name="connsiteY0" fmla="*/ 361950 h 361950"/>
                <a:gd name="connsiteX1" fmla="*/ 495300 w 1047750"/>
                <a:gd name="connsiteY1" fmla="*/ 66675 h 361950"/>
                <a:gd name="connsiteX2" fmla="*/ 1047750 w 1047750"/>
                <a:gd name="connsiteY2" fmla="*/ 0 h 361950"/>
                <a:gd name="connsiteX0" fmla="*/ 0 w 1047750"/>
                <a:gd name="connsiteY0" fmla="*/ 361950 h 361950"/>
                <a:gd name="connsiteX1" fmla="*/ 495300 w 1047750"/>
                <a:gd name="connsiteY1" fmla="*/ 66675 h 361950"/>
                <a:gd name="connsiteX2" fmla="*/ 1047750 w 1047750"/>
                <a:gd name="connsiteY2" fmla="*/ 0 h 361950"/>
                <a:gd name="connsiteX0" fmla="*/ 0 w 1047750"/>
                <a:gd name="connsiteY0" fmla="*/ 361950 h 361950"/>
                <a:gd name="connsiteX1" fmla="*/ 495300 w 1047750"/>
                <a:gd name="connsiteY1" fmla="*/ 66675 h 361950"/>
                <a:gd name="connsiteX2" fmla="*/ 1047750 w 1047750"/>
                <a:gd name="connsiteY2" fmla="*/ 0 h 361950"/>
                <a:gd name="connsiteX0" fmla="*/ 0 w 1047750"/>
                <a:gd name="connsiteY0" fmla="*/ 363602 h 363602"/>
                <a:gd name="connsiteX1" fmla="*/ 495300 w 1047750"/>
                <a:gd name="connsiteY1" fmla="*/ 68327 h 363602"/>
                <a:gd name="connsiteX2" fmla="*/ 1047750 w 1047750"/>
                <a:gd name="connsiteY2" fmla="*/ 1652 h 363602"/>
                <a:gd name="connsiteX0" fmla="*/ 0 w 1044575"/>
                <a:gd name="connsiteY0" fmla="*/ 372252 h 372252"/>
                <a:gd name="connsiteX1" fmla="*/ 495300 w 1044575"/>
                <a:gd name="connsiteY1" fmla="*/ 76977 h 372252"/>
                <a:gd name="connsiteX2" fmla="*/ 1044575 w 1044575"/>
                <a:gd name="connsiteY2" fmla="*/ 777 h 372252"/>
                <a:gd name="connsiteX0" fmla="*/ 0 w 1044575"/>
                <a:gd name="connsiteY0" fmla="*/ 372252 h 372252"/>
                <a:gd name="connsiteX1" fmla="*/ 495300 w 1044575"/>
                <a:gd name="connsiteY1" fmla="*/ 76977 h 372252"/>
                <a:gd name="connsiteX2" fmla="*/ 1044575 w 1044575"/>
                <a:gd name="connsiteY2" fmla="*/ 777 h 372252"/>
                <a:gd name="connsiteX0" fmla="*/ 0 w 1044575"/>
                <a:gd name="connsiteY0" fmla="*/ 374422 h 374422"/>
                <a:gd name="connsiteX1" fmla="*/ 495300 w 1044575"/>
                <a:gd name="connsiteY1" fmla="*/ 79147 h 374422"/>
                <a:gd name="connsiteX2" fmla="*/ 1044575 w 1044575"/>
                <a:gd name="connsiteY2" fmla="*/ 2947 h 374422"/>
                <a:gd name="connsiteX0" fmla="*/ 0 w 1041400"/>
                <a:gd name="connsiteY0" fmla="*/ 390936 h 390936"/>
                <a:gd name="connsiteX1" fmla="*/ 492125 w 1041400"/>
                <a:gd name="connsiteY1" fmla="*/ 76611 h 390936"/>
                <a:gd name="connsiteX2" fmla="*/ 1041400 w 1041400"/>
                <a:gd name="connsiteY2" fmla="*/ 411 h 390936"/>
                <a:gd name="connsiteX0" fmla="*/ 0 w 1041400"/>
                <a:gd name="connsiteY0" fmla="*/ 390757 h 390757"/>
                <a:gd name="connsiteX1" fmla="*/ 66675 w 1041400"/>
                <a:gd name="connsiteY1" fmla="*/ 298682 h 390757"/>
                <a:gd name="connsiteX2" fmla="*/ 492125 w 1041400"/>
                <a:gd name="connsiteY2" fmla="*/ 76432 h 390757"/>
                <a:gd name="connsiteX3" fmla="*/ 1041400 w 1041400"/>
                <a:gd name="connsiteY3" fmla="*/ 232 h 390757"/>
                <a:gd name="connsiteX0" fmla="*/ 0 w 1041400"/>
                <a:gd name="connsiteY0" fmla="*/ 390757 h 390757"/>
                <a:gd name="connsiteX1" fmla="*/ 66675 w 1041400"/>
                <a:gd name="connsiteY1" fmla="*/ 298682 h 390757"/>
                <a:gd name="connsiteX2" fmla="*/ 492125 w 1041400"/>
                <a:gd name="connsiteY2" fmla="*/ 76432 h 390757"/>
                <a:gd name="connsiteX3" fmla="*/ 1041400 w 1041400"/>
                <a:gd name="connsiteY3" fmla="*/ 232 h 390757"/>
                <a:gd name="connsiteX0" fmla="*/ 0 w 1041400"/>
                <a:gd name="connsiteY0" fmla="*/ 390757 h 390757"/>
                <a:gd name="connsiteX1" fmla="*/ 66675 w 1041400"/>
                <a:gd name="connsiteY1" fmla="*/ 298682 h 390757"/>
                <a:gd name="connsiteX2" fmla="*/ 492125 w 1041400"/>
                <a:gd name="connsiteY2" fmla="*/ 76432 h 390757"/>
                <a:gd name="connsiteX3" fmla="*/ 1041400 w 1041400"/>
                <a:gd name="connsiteY3" fmla="*/ 232 h 390757"/>
                <a:gd name="connsiteX0" fmla="*/ 0 w 1041400"/>
                <a:gd name="connsiteY0" fmla="*/ 403909 h 403909"/>
                <a:gd name="connsiteX1" fmla="*/ 66675 w 1041400"/>
                <a:gd name="connsiteY1" fmla="*/ 311834 h 403909"/>
                <a:gd name="connsiteX2" fmla="*/ 492125 w 1041400"/>
                <a:gd name="connsiteY2" fmla="*/ 89584 h 403909"/>
                <a:gd name="connsiteX3" fmla="*/ 920750 w 1041400"/>
                <a:gd name="connsiteY3" fmla="*/ 3859 h 403909"/>
                <a:gd name="connsiteX4" fmla="*/ 1041400 w 1041400"/>
                <a:gd name="connsiteY4" fmla="*/ 13384 h 4039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1400" h="403909">
                  <a:moveTo>
                    <a:pt x="0" y="403909"/>
                  </a:moveTo>
                  <a:cubicBezTo>
                    <a:pt x="11642" y="391738"/>
                    <a:pt x="-12171" y="380096"/>
                    <a:pt x="66675" y="311834"/>
                  </a:cubicBezTo>
                  <a:cubicBezTo>
                    <a:pt x="151871" y="253097"/>
                    <a:pt x="349779" y="140913"/>
                    <a:pt x="492125" y="89584"/>
                  </a:cubicBezTo>
                  <a:cubicBezTo>
                    <a:pt x="634471" y="38255"/>
                    <a:pt x="829204" y="16559"/>
                    <a:pt x="920750" y="3859"/>
                  </a:cubicBezTo>
                  <a:cubicBezTo>
                    <a:pt x="1012296" y="-8841"/>
                    <a:pt x="1021292" y="13913"/>
                    <a:pt x="1041400" y="13384"/>
                  </a:cubicBezTo>
                </a:path>
              </a:pathLst>
            </a:custGeom>
            <a:noFill/>
            <a:ln w="889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grpSp>
      <mc:AlternateContent xmlns:mc="http://schemas.openxmlformats.org/markup-compatibility/2006" xmlns:a14="http://schemas.microsoft.com/office/drawing/2010/main">
        <mc:Choice Requires="a14">
          <p:graphicFrame>
            <p:nvGraphicFramePr>
              <p:cNvPr id="67" name="Table 66">
                <a:extLst>
                  <a:ext uri="{FF2B5EF4-FFF2-40B4-BE49-F238E27FC236}">
                    <a16:creationId xmlns:a16="http://schemas.microsoft.com/office/drawing/2014/main" id="{3D71B143-1D04-A64D-BD46-4B4C8A80A008}"/>
                  </a:ext>
                </a:extLst>
              </p:cNvPr>
              <p:cNvGraphicFramePr>
                <a:graphicFrameLocks noGrp="1"/>
              </p:cNvGraphicFramePr>
              <p:nvPr>
                <p:extLst/>
              </p:nvPr>
            </p:nvGraphicFramePr>
            <p:xfrm>
              <a:off x="3805050" y="3933245"/>
              <a:ext cx="7861950" cy="1188720"/>
            </p:xfrm>
            <a:graphic>
              <a:graphicData uri="http://schemas.openxmlformats.org/drawingml/2006/table">
                <a:tbl>
                  <a:tblPr>
                    <a:tableStyleId>{1FECB4D8-DB02-4DC6-A0A2-4F2EBAE1DC90}</a:tableStyleId>
                  </a:tblPr>
                  <a:tblGrid>
                    <a:gridCol w="2620650">
                      <a:extLst>
                        <a:ext uri="{9D8B030D-6E8A-4147-A177-3AD203B41FA5}">
                          <a16:colId xmlns:a16="http://schemas.microsoft.com/office/drawing/2014/main" val="1972288130"/>
                        </a:ext>
                      </a:extLst>
                    </a:gridCol>
                    <a:gridCol w="2620650">
                      <a:extLst>
                        <a:ext uri="{9D8B030D-6E8A-4147-A177-3AD203B41FA5}">
                          <a16:colId xmlns:a16="http://schemas.microsoft.com/office/drawing/2014/main" val="53994105"/>
                        </a:ext>
                      </a:extLst>
                    </a:gridCol>
                    <a:gridCol w="2620650">
                      <a:extLst>
                        <a:ext uri="{9D8B030D-6E8A-4147-A177-3AD203B41FA5}">
                          <a16:colId xmlns:a16="http://schemas.microsoft.com/office/drawing/2014/main" val="3986128091"/>
                        </a:ext>
                      </a:extLst>
                    </a:gridCol>
                  </a:tblGrid>
                  <a:tr h="228917">
                    <a:tc>
                      <a:txBody>
                        <a:bodyPr/>
                        <a:lstStyle/>
                        <a:p>
                          <a:pPr algn="r"/>
                          <a:r>
                            <a:rPr lang="en-ZA" sz="2000" b="0" dirty="0"/>
                            <a:t>parallel vectors</a:t>
                          </a:r>
                          <a:r>
                            <a:rPr lang="en-US" sz="2000" dirty="0"/>
                            <a:t>:</a:t>
                          </a:r>
                        </a:p>
                      </a:txBody>
                      <a:tcPr/>
                    </a:tc>
                    <a:tc>
                      <a:txBody>
                        <a:bodyPr/>
                        <a:lstStyle/>
                        <a:p>
                          <a:pPr algn="l"/>
                          <a:r>
                            <a:rPr lang="en-US" sz="2000" dirty="0"/>
                            <a:t> </a:t>
                          </a:r>
                          <a14:m>
                            <m:oMath xmlns:m="http://schemas.openxmlformats.org/officeDocument/2006/math">
                              <m:r>
                                <a:rPr lang="en-US" sz="2000" smtClean="0">
                                  <a:latin typeface="Cambria Math" panose="02040503050406030204" pitchFamily="18" charset="0"/>
                                </a:rPr>
                                <m:t>𝜃</m:t>
                              </m:r>
                              <m:r>
                                <a:rPr lang="en-US" sz="2000" smtClean="0">
                                  <a:latin typeface="Cambria Math" panose="02040503050406030204" pitchFamily="18" charset="0"/>
                                </a:rPr>
                                <m:t>=0, </m:t>
                              </m:r>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cos</m:t>
                                  </m:r>
                                </m:fName>
                                <m:e>
                                  <m:r>
                                    <a:rPr lang="en-US" sz="2000">
                                      <a:latin typeface="Cambria Math" panose="02040503050406030204" pitchFamily="18" charset="0"/>
                                    </a:rPr>
                                    <m:t>𝜃</m:t>
                                  </m:r>
                                </m:e>
                              </m:func>
                              <m:r>
                                <a:rPr lang="en-US" sz="2000">
                                  <a:latin typeface="Cambria Math" panose="02040503050406030204" pitchFamily="18" charset="0"/>
                                </a:rPr>
                                <m:t>=1</m:t>
                              </m:r>
                            </m:oMath>
                          </a14:m>
                          <a:endParaRPr lang="en-US" sz="2000" dirty="0"/>
                        </a:p>
                      </a:txBody>
                      <a:tcPr/>
                    </a:tc>
                    <a:tc>
                      <a:txBody>
                        <a:bodyPr/>
                        <a:lstStyle/>
                        <a:p>
                          <a:pPr algn="l"/>
                          <a:r>
                            <a:rPr lang="en-US" sz="2000" dirty="0"/>
                            <a:t> </a:t>
                          </a:r>
                          <a14:m>
                            <m:oMath xmlns:m="http://schemas.openxmlformats.org/officeDocument/2006/math">
                              <m:r>
                                <a:rPr lang="en-US" sz="2000" smtClean="0">
                                  <a:latin typeface="Cambria Math" panose="02040503050406030204" pitchFamily="18" charset="0"/>
                                </a:rPr>
                                <m:t>⟨</m:t>
                              </m:r>
                              <m:r>
                                <a:rPr lang="en-US" sz="2000">
                                  <a:latin typeface="Cambria Math" panose="02040503050406030204" pitchFamily="18" charset="0"/>
                                </a:rPr>
                                <m:t>𝑎</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𝑏</m:t>
                                  </m:r>
                                </m:e>
                              </m:d>
                              <m:r>
                                <a:rPr lang="en-US" sz="2000">
                                  <a:latin typeface="Cambria Math" panose="02040503050406030204" pitchFamily="18" charset="0"/>
                                </a:rPr>
                                <m:t>=</m:t>
                              </m:r>
                              <m:d>
                                <m:dPr>
                                  <m:begChr m:val="‖"/>
                                  <m:endChr m:val="‖"/>
                                  <m:ctrlPr>
                                    <a:rPr lang="en-US" sz="2000" i="1" smtClean="0">
                                      <a:latin typeface="Cambria Math" panose="02040503050406030204" pitchFamily="18" charset="0"/>
                                    </a:rPr>
                                  </m:ctrlPr>
                                </m:dPr>
                                <m:e>
                                  <m:r>
                                    <a:rPr lang="en-US" sz="2000">
                                      <a:latin typeface="Cambria Math" panose="02040503050406030204" pitchFamily="18" charset="0"/>
                                    </a:rPr>
                                    <m:t>𝑎</m:t>
                                  </m:r>
                                </m:e>
                              </m:d>
                              <m:r>
                                <m:rPr>
                                  <m:nor/>
                                </m:rPr>
                                <a:rPr lang="en-US" sz="2000" dirty="0"/>
                                <m:t> </m:t>
                              </m:r>
                              <m:d>
                                <m:dPr>
                                  <m:begChr m:val="‖"/>
                                  <m:endChr m:val="‖"/>
                                  <m:ctrlPr>
                                    <a:rPr lang="en-US" sz="2000" i="1">
                                      <a:latin typeface="Cambria Math" panose="02040503050406030204" pitchFamily="18" charset="0"/>
                                    </a:rPr>
                                  </m:ctrlPr>
                                </m:dPr>
                                <m:e>
                                  <m:r>
                                    <a:rPr lang="en-US" sz="2000" smtClean="0">
                                      <a:latin typeface="Cambria Math" panose="02040503050406030204" pitchFamily="18" charset="0"/>
                                    </a:rPr>
                                    <m:t>𝑏</m:t>
                                  </m:r>
                                </m:e>
                              </m:d>
                            </m:oMath>
                          </a14:m>
                          <a:endParaRPr lang="en-US" sz="2000" dirty="0"/>
                        </a:p>
                      </a:txBody>
                      <a:tcPr/>
                    </a:tc>
                    <a:extLst>
                      <a:ext uri="{0D108BD9-81ED-4DB2-BD59-A6C34878D82A}">
                        <a16:rowId xmlns:a16="http://schemas.microsoft.com/office/drawing/2014/main" val="3679992121"/>
                      </a:ext>
                    </a:extLst>
                  </a:tr>
                  <a:tr h="298231">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ZA" sz="2000" b="0" dirty="0"/>
                            <a:t>anti-parallel vectors</a:t>
                          </a:r>
                          <a:r>
                            <a:rPr lang="en-US" sz="2000" dirty="0"/>
                            <a:t>:</a:t>
                          </a:r>
                        </a:p>
                      </a:txBody>
                      <a:tcPr/>
                    </a:tc>
                    <a:tc>
                      <a:txBody>
                        <a:bodyPr/>
                        <a:lstStyle/>
                        <a:p>
                          <a:pPr marL="0" marR="0" lvl="0" indent="0" algn="l" defTabSz="640903" rtl="0" eaLnBrk="1" fontAlgn="auto" latinLnBrk="0" hangingPunct="1">
                            <a:lnSpc>
                              <a:spcPct val="100000"/>
                            </a:lnSpc>
                            <a:spcBef>
                              <a:spcPts val="0"/>
                            </a:spcBef>
                            <a:spcAft>
                              <a:spcPts val="0"/>
                            </a:spcAft>
                            <a:buClrTx/>
                            <a:buSzTx/>
                            <a:buFontTx/>
                            <a:buNone/>
                            <a:tabLst/>
                            <a:defRPr/>
                          </a:pPr>
                          <a:r>
                            <a:rPr lang="en-US" sz="2000" dirty="0"/>
                            <a:t> </a:t>
                          </a:r>
                          <a14:m>
                            <m:oMath xmlns:m="http://schemas.openxmlformats.org/officeDocument/2006/math">
                              <m:r>
                                <a:rPr lang="en-US" sz="2000" smtClean="0">
                                  <a:latin typeface="Cambria Math" panose="02040503050406030204" pitchFamily="18" charset="0"/>
                                </a:rPr>
                                <m:t>𝜃</m:t>
                              </m:r>
                              <m:r>
                                <a:rPr lang="en-US" sz="2000" smtClean="0">
                                  <a:latin typeface="Cambria Math" panose="02040503050406030204" pitchFamily="18" charset="0"/>
                                </a:rPr>
                                <m:t>=</m:t>
                              </m:r>
                              <m:r>
                                <a:rPr lang="en-US" sz="2000" smtClean="0">
                                  <a:latin typeface="Cambria Math" panose="02040503050406030204" pitchFamily="18" charset="0"/>
                                </a:rPr>
                                <m:t>𝜋</m:t>
                              </m:r>
                              <m:r>
                                <a:rPr lang="en-US" sz="2000" smtClean="0">
                                  <a:latin typeface="Cambria Math" panose="02040503050406030204" pitchFamily="18" charset="0"/>
                                </a:rPr>
                                <m:t>, </m:t>
                              </m:r>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cos</m:t>
                                  </m:r>
                                </m:fName>
                                <m:e>
                                  <m:r>
                                    <a:rPr lang="en-US" sz="2000">
                                      <a:latin typeface="Cambria Math" panose="02040503050406030204" pitchFamily="18" charset="0"/>
                                    </a:rPr>
                                    <m:t>𝜃</m:t>
                                  </m:r>
                                </m:e>
                              </m:func>
                              <m:r>
                                <a:rPr lang="en-US" sz="2000">
                                  <a:latin typeface="Cambria Math" panose="02040503050406030204" pitchFamily="18" charset="0"/>
                                </a:rPr>
                                <m:t>=−1</m:t>
                              </m:r>
                            </m:oMath>
                          </a14:m>
                          <a:endParaRPr lang="en-US" sz="2000" dirty="0"/>
                        </a:p>
                      </a:txBody>
                      <a:tcPr/>
                    </a:tc>
                    <a:tc>
                      <a:txBody>
                        <a:bodyPr/>
                        <a:lstStyle/>
                        <a:p>
                          <a:pPr algn="l"/>
                          <a:r>
                            <a:rPr lang="en-US" sz="2000" dirty="0"/>
                            <a:t> </a:t>
                          </a:r>
                          <a14:m>
                            <m:oMath xmlns:m="http://schemas.openxmlformats.org/officeDocument/2006/math">
                              <m:r>
                                <a:rPr lang="en-US" sz="2000" smtClean="0">
                                  <a:latin typeface="Cambria Math" panose="02040503050406030204" pitchFamily="18" charset="0"/>
                                </a:rPr>
                                <m:t>⟨</m:t>
                              </m:r>
                              <m:r>
                                <a:rPr lang="en-US" sz="2000">
                                  <a:latin typeface="Cambria Math" panose="02040503050406030204" pitchFamily="18" charset="0"/>
                                </a:rPr>
                                <m:t>𝑎</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𝑏</m:t>
                                  </m:r>
                                </m:e>
                              </m:d>
                              <m:r>
                                <a:rPr lang="en-US" sz="2000">
                                  <a:latin typeface="Cambria Math" panose="02040503050406030204" pitchFamily="18" charset="0"/>
                                </a:rPr>
                                <m:t>=</m:t>
                              </m:r>
                              <m:r>
                                <a:rPr lang="en-US" sz="2000" smtClean="0">
                                  <a:latin typeface="Cambria Math" panose="02040503050406030204" pitchFamily="18" charset="0"/>
                                </a:rPr>
                                <m:t>−</m:t>
                              </m:r>
                              <m:d>
                                <m:dPr>
                                  <m:begChr m:val="‖"/>
                                  <m:endChr m:val="‖"/>
                                  <m:ctrlPr>
                                    <a:rPr lang="en-US" sz="2000" i="1" smtClean="0">
                                      <a:latin typeface="Cambria Math" panose="02040503050406030204" pitchFamily="18" charset="0"/>
                                    </a:rPr>
                                  </m:ctrlPr>
                                </m:dPr>
                                <m:e>
                                  <m:r>
                                    <a:rPr lang="en-US" sz="2000">
                                      <a:latin typeface="Cambria Math" panose="02040503050406030204" pitchFamily="18" charset="0"/>
                                    </a:rPr>
                                    <m:t>𝑎</m:t>
                                  </m:r>
                                </m:e>
                              </m:d>
                              <m:r>
                                <m:rPr>
                                  <m:nor/>
                                </m:rPr>
                                <a:rPr lang="en-US" sz="2000" dirty="0"/>
                                <m:t> </m:t>
                              </m:r>
                              <m:d>
                                <m:dPr>
                                  <m:begChr m:val="‖"/>
                                  <m:endChr m:val="‖"/>
                                  <m:ctrlPr>
                                    <a:rPr lang="en-US" sz="2000" i="1">
                                      <a:latin typeface="Cambria Math" panose="02040503050406030204" pitchFamily="18" charset="0"/>
                                    </a:rPr>
                                  </m:ctrlPr>
                                </m:dPr>
                                <m:e>
                                  <m:r>
                                    <a:rPr lang="en-US" sz="2000" smtClean="0">
                                      <a:latin typeface="Cambria Math" panose="02040503050406030204" pitchFamily="18" charset="0"/>
                                    </a:rPr>
                                    <m:t>𝑏</m:t>
                                  </m:r>
                                </m:e>
                              </m:d>
                            </m:oMath>
                          </a14:m>
                          <a:endParaRPr lang="en-US" sz="2000" dirty="0"/>
                        </a:p>
                      </a:txBody>
                      <a:tcPr/>
                    </a:tc>
                    <a:extLst>
                      <a:ext uri="{0D108BD9-81ED-4DB2-BD59-A6C34878D82A}">
                        <a16:rowId xmlns:a16="http://schemas.microsoft.com/office/drawing/2014/main" val="2327480975"/>
                      </a:ext>
                    </a:extLst>
                  </a:tr>
                  <a:tr h="249683">
                    <a:tc>
                      <a:txBody>
                        <a:bodyPr/>
                        <a:lstStyle/>
                        <a:p>
                          <a:pPr algn="r"/>
                          <a:r>
                            <a:rPr lang="en-ZA" sz="2000" b="0" dirty="0"/>
                            <a:t>orthogonal</a:t>
                          </a:r>
                          <a:r>
                            <a:rPr lang="en-US" sz="2000" dirty="0"/>
                            <a:t> vectors:</a:t>
                          </a:r>
                        </a:p>
                      </a:txBody>
                      <a:tcPr/>
                    </a:tc>
                    <a:tc>
                      <a:txBody>
                        <a:bodyPr/>
                        <a:lstStyle/>
                        <a:p>
                          <a:pPr algn="l"/>
                          <a:r>
                            <a:rPr lang="en-US" sz="2000" dirty="0"/>
                            <a:t> </a:t>
                          </a:r>
                          <a14:m>
                            <m:oMath xmlns:m="http://schemas.openxmlformats.org/officeDocument/2006/math">
                              <m:r>
                                <a:rPr lang="en-US" sz="2000" smtClean="0">
                                  <a:latin typeface="Cambria Math" panose="02040503050406030204" pitchFamily="18" charset="0"/>
                                </a:rPr>
                                <m:t>𝜃</m:t>
                              </m:r>
                              <m:r>
                                <a:rPr lang="en-US" sz="2000" smtClean="0">
                                  <a:latin typeface="Cambria Math" panose="02040503050406030204" pitchFamily="18" charset="0"/>
                                </a:rPr>
                                <m:t>=</m:t>
                              </m:r>
                              <m:f>
                                <m:fPr>
                                  <m:type m:val="lin"/>
                                  <m:ctrlPr>
                                    <a:rPr lang="en-US" sz="2000" i="1">
                                      <a:latin typeface="Cambria Math" panose="02040503050406030204" pitchFamily="18" charset="0"/>
                                    </a:rPr>
                                  </m:ctrlPr>
                                </m:fPr>
                                <m:num>
                                  <m:r>
                                    <a:rPr lang="en-US" sz="2000">
                                      <a:latin typeface="Cambria Math" panose="02040503050406030204" pitchFamily="18" charset="0"/>
                                    </a:rPr>
                                    <m:t>𝜋</m:t>
                                  </m:r>
                                </m:num>
                                <m:den>
                                  <m:r>
                                    <a:rPr lang="en-US" sz="2000">
                                      <a:latin typeface="Cambria Math" panose="02040503050406030204" pitchFamily="18" charset="0"/>
                                    </a:rPr>
                                    <m:t>2</m:t>
                                  </m:r>
                                </m:den>
                              </m:f>
                              <m:r>
                                <a:rPr lang="en-US" sz="2000" smtClean="0">
                                  <a:latin typeface="Cambria Math" panose="02040503050406030204" pitchFamily="18" charset="0"/>
                                </a:rPr>
                                <m:t>, </m:t>
                              </m:r>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cos</m:t>
                                  </m:r>
                                </m:fName>
                                <m:e>
                                  <m:r>
                                    <a:rPr lang="en-US" sz="2000">
                                      <a:latin typeface="Cambria Math" panose="02040503050406030204" pitchFamily="18" charset="0"/>
                                    </a:rPr>
                                    <m:t>𝜃</m:t>
                                  </m:r>
                                </m:e>
                              </m:func>
                              <m:r>
                                <a:rPr lang="en-US" sz="2000">
                                  <a:latin typeface="Cambria Math" panose="02040503050406030204" pitchFamily="18" charset="0"/>
                                </a:rPr>
                                <m:t>=0</m:t>
                              </m:r>
                            </m:oMath>
                          </a14:m>
                          <a:endParaRPr lang="en-US" sz="2000" dirty="0"/>
                        </a:p>
                      </a:txBody>
                      <a:tcPr/>
                    </a:tc>
                    <a:tc>
                      <a:txBody>
                        <a:bodyPr/>
                        <a:lstStyle/>
                        <a:p>
                          <a:pPr algn="l"/>
                          <a:r>
                            <a:rPr lang="en-US" sz="2000" dirty="0"/>
                            <a:t> </a:t>
                          </a:r>
                          <a14:m>
                            <m:oMath xmlns:m="http://schemas.openxmlformats.org/officeDocument/2006/math">
                              <m:r>
                                <a:rPr lang="en-US" sz="2000" smtClean="0">
                                  <a:latin typeface="Cambria Math" panose="02040503050406030204" pitchFamily="18" charset="0"/>
                                </a:rPr>
                                <m:t>⟨</m:t>
                              </m:r>
                              <m:r>
                                <a:rPr lang="en-US" sz="2000">
                                  <a:latin typeface="Cambria Math" panose="02040503050406030204" pitchFamily="18" charset="0"/>
                                </a:rPr>
                                <m:t>𝑎</m:t>
                              </m:r>
                              <m:d>
                                <m:dPr>
                                  <m:begChr m:val="|"/>
                                  <m:endChr m:val="⟩"/>
                                  <m:ctrlPr>
                                    <a:rPr lang="en-US" sz="2000" i="1">
                                      <a:latin typeface="Cambria Math" panose="02040503050406030204" pitchFamily="18" charset="0"/>
                                    </a:rPr>
                                  </m:ctrlPr>
                                </m:dPr>
                                <m:e>
                                  <m:r>
                                    <a:rPr lang="en-US" sz="2000">
                                      <a:latin typeface="Cambria Math" panose="02040503050406030204" pitchFamily="18" charset="0"/>
                                    </a:rPr>
                                    <m:t>𝑏</m:t>
                                  </m:r>
                                </m:e>
                              </m:d>
                              <m:r>
                                <a:rPr lang="en-US" sz="2000">
                                  <a:latin typeface="Cambria Math" panose="02040503050406030204" pitchFamily="18" charset="0"/>
                                </a:rPr>
                                <m:t>=</m:t>
                              </m:r>
                              <m:r>
                                <a:rPr lang="en-US" sz="2000" smtClean="0">
                                  <a:latin typeface="Cambria Math" panose="02040503050406030204" pitchFamily="18" charset="0"/>
                                </a:rPr>
                                <m:t>0</m:t>
                              </m:r>
                            </m:oMath>
                          </a14:m>
                          <a:endParaRPr lang="en-US" sz="2000" dirty="0"/>
                        </a:p>
                      </a:txBody>
                      <a:tcPr/>
                    </a:tc>
                    <a:extLst>
                      <a:ext uri="{0D108BD9-81ED-4DB2-BD59-A6C34878D82A}">
                        <a16:rowId xmlns:a16="http://schemas.microsoft.com/office/drawing/2014/main" val="2873857014"/>
                      </a:ext>
                    </a:extLst>
                  </a:tr>
                </a:tbl>
              </a:graphicData>
            </a:graphic>
          </p:graphicFrame>
        </mc:Choice>
        <mc:Fallback xmlns="">
          <p:graphicFrame>
            <p:nvGraphicFramePr>
              <p:cNvPr id="67" name="Table 66">
                <a:extLst>
                  <a:ext uri="{FF2B5EF4-FFF2-40B4-BE49-F238E27FC236}">
                    <a16:creationId xmlns:a16="http://schemas.microsoft.com/office/drawing/2014/main" id="{3D71B143-1D04-A64D-BD46-4B4C8A80A008}"/>
                  </a:ext>
                </a:extLst>
              </p:cNvPr>
              <p:cNvGraphicFramePr>
                <a:graphicFrameLocks noGrp="1"/>
              </p:cNvGraphicFramePr>
              <p:nvPr>
                <p:extLst>
                  <p:ext uri="{D42A27DB-BD31-4B8C-83A1-F6EECF244321}">
                    <p14:modId xmlns:p14="http://schemas.microsoft.com/office/powerpoint/2010/main" val="2036201193"/>
                  </p:ext>
                </p:extLst>
              </p:nvPr>
            </p:nvGraphicFramePr>
            <p:xfrm>
              <a:off x="3805050" y="3933245"/>
              <a:ext cx="7861950" cy="1188720"/>
            </p:xfrm>
            <a:graphic>
              <a:graphicData uri="http://schemas.openxmlformats.org/drawingml/2006/table">
                <a:tbl>
                  <a:tblPr>
                    <a:tableStyleId>{1FECB4D8-DB02-4DC6-A0A2-4F2EBAE1DC90}</a:tableStyleId>
                  </a:tblPr>
                  <a:tblGrid>
                    <a:gridCol w="2620650">
                      <a:extLst>
                        <a:ext uri="{9D8B030D-6E8A-4147-A177-3AD203B41FA5}">
                          <a16:colId xmlns:a16="http://schemas.microsoft.com/office/drawing/2014/main" val="1972288130"/>
                        </a:ext>
                      </a:extLst>
                    </a:gridCol>
                    <a:gridCol w="2620650">
                      <a:extLst>
                        <a:ext uri="{9D8B030D-6E8A-4147-A177-3AD203B41FA5}">
                          <a16:colId xmlns:a16="http://schemas.microsoft.com/office/drawing/2014/main" val="53994105"/>
                        </a:ext>
                      </a:extLst>
                    </a:gridCol>
                    <a:gridCol w="2620650">
                      <a:extLst>
                        <a:ext uri="{9D8B030D-6E8A-4147-A177-3AD203B41FA5}">
                          <a16:colId xmlns:a16="http://schemas.microsoft.com/office/drawing/2014/main" val="3986128091"/>
                        </a:ext>
                      </a:extLst>
                    </a:gridCol>
                  </a:tblGrid>
                  <a:tr h="396240">
                    <a:tc>
                      <a:txBody>
                        <a:bodyPr/>
                        <a:lstStyle/>
                        <a:p>
                          <a:pPr algn="r"/>
                          <a:r>
                            <a:rPr lang="en-ZA" sz="2000" b="0" dirty="0"/>
                            <a:t>parallel vectors</a:t>
                          </a:r>
                          <a:r>
                            <a:rPr lang="en-US" sz="2000" dirty="0"/>
                            <a:t>:</a:t>
                          </a:r>
                        </a:p>
                      </a:txBody>
                      <a:tcPr/>
                    </a:tc>
                    <a:tc>
                      <a:txBody>
                        <a:bodyPr/>
                        <a:lstStyle/>
                        <a:p>
                          <a:endParaRPr lang="en-US"/>
                        </a:p>
                      </a:txBody>
                      <a:tcPr>
                        <a:blipFill>
                          <a:blip r:embed="rId8"/>
                          <a:stretch>
                            <a:fillRect l="-100485" t="-6250" r="-100485" b="-375000"/>
                          </a:stretch>
                        </a:blipFill>
                      </a:tcPr>
                    </a:tc>
                    <a:tc>
                      <a:txBody>
                        <a:bodyPr/>
                        <a:lstStyle/>
                        <a:p>
                          <a:endParaRPr lang="en-US"/>
                        </a:p>
                      </a:txBody>
                      <a:tcPr>
                        <a:blipFill>
                          <a:blip r:embed="rId8"/>
                          <a:stretch>
                            <a:fillRect l="-199517" t="-6250" b="-375000"/>
                          </a:stretch>
                        </a:blipFill>
                      </a:tcPr>
                    </a:tc>
                    <a:extLst>
                      <a:ext uri="{0D108BD9-81ED-4DB2-BD59-A6C34878D82A}">
                        <a16:rowId xmlns:a16="http://schemas.microsoft.com/office/drawing/2014/main" val="3679992121"/>
                      </a:ext>
                    </a:extLst>
                  </a:tr>
                  <a:tr h="39624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ZA" sz="2000" b="0" dirty="0"/>
                            <a:t>anti-parallel vectors</a:t>
                          </a:r>
                          <a:r>
                            <a:rPr lang="en-US" sz="2000" dirty="0"/>
                            <a:t>:</a:t>
                          </a:r>
                        </a:p>
                      </a:txBody>
                      <a:tcPr/>
                    </a:tc>
                    <a:tc>
                      <a:txBody>
                        <a:bodyPr/>
                        <a:lstStyle/>
                        <a:p>
                          <a:endParaRPr lang="en-US"/>
                        </a:p>
                      </a:txBody>
                      <a:tcPr>
                        <a:blipFill>
                          <a:blip r:embed="rId8"/>
                          <a:stretch>
                            <a:fillRect l="-100485" t="-109677" r="-100485" b="-287097"/>
                          </a:stretch>
                        </a:blipFill>
                      </a:tcPr>
                    </a:tc>
                    <a:tc>
                      <a:txBody>
                        <a:bodyPr/>
                        <a:lstStyle/>
                        <a:p>
                          <a:endParaRPr lang="en-US"/>
                        </a:p>
                      </a:txBody>
                      <a:tcPr>
                        <a:blipFill>
                          <a:blip r:embed="rId8"/>
                          <a:stretch>
                            <a:fillRect l="-199517" t="-109677" b="-287097"/>
                          </a:stretch>
                        </a:blipFill>
                      </a:tcPr>
                    </a:tc>
                    <a:extLst>
                      <a:ext uri="{0D108BD9-81ED-4DB2-BD59-A6C34878D82A}">
                        <a16:rowId xmlns:a16="http://schemas.microsoft.com/office/drawing/2014/main" val="2327480975"/>
                      </a:ext>
                    </a:extLst>
                  </a:tr>
                  <a:tr h="396240">
                    <a:tc>
                      <a:txBody>
                        <a:bodyPr/>
                        <a:lstStyle/>
                        <a:p>
                          <a:pPr algn="r"/>
                          <a:r>
                            <a:rPr lang="en-ZA" sz="2000" b="0" dirty="0"/>
                            <a:t>orthogonal</a:t>
                          </a:r>
                          <a:r>
                            <a:rPr lang="en-US" sz="2000" dirty="0"/>
                            <a:t> vectors:</a:t>
                          </a:r>
                        </a:p>
                      </a:txBody>
                      <a:tcPr/>
                    </a:tc>
                    <a:tc>
                      <a:txBody>
                        <a:bodyPr/>
                        <a:lstStyle/>
                        <a:p>
                          <a:endParaRPr lang="en-US"/>
                        </a:p>
                      </a:txBody>
                      <a:tcPr>
                        <a:blipFill>
                          <a:blip r:embed="rId8"/>
                          <a:stretch>
                            <a:fillRect l="-100485" t="-203125" r="-100485" b="-178125"/>
                          </a:stretch>
                        </a:blipFill>
                      </a:tcPr>
                    </a:tc>
                    <a:tc>
                      <a:txBody>
                        <a:bodyPr/>
                        <a:lstStyle/>
                        <a:p>
                          <a:endParaRPr lang="en-US"/>
                        </a:p>
                      </a:txBody>
                      <a:tcPr>
                        <a:blipFill>
                          <a:blip r:embed="rId8"/>
                          <a:stretch>
                            <a:fillRect l="-199517" t="-203125" b="-178125"/>
                          </a:stretch>
                        </a:blipFill>
                      </a:tcPr>
                    </a:tc>
                    <a:extLst>
                      <a:ext uri="{0D108BD9-81ED-4DB2-BD59-A6C34878D82A}">
                        <a16:rowId xmlns:a16="http://schemas.microsoft.com/office/drawing/2014/main" val="2873857014"/>
                      </a:ext>
                    </a:extLst>
                  </a:tr>
                </a:tbl>
              </a:graphicData>
            </a:graphic>
          </p:graphicFrame>
        </mc:Fallback>
      </mc:AlternateContent>
      <p:grpSp>
        <p:nvGrpSpPr>
          <p:cNvPr id="33" name="Group 32">
            <a:extLst>
              <a:ext uri="{FF2B5EF4-FFF2-40B4-BE49-F238E27FC236}">
                <a16:creationId xmlns:a16="http://schemas.microsoft.com/office/drawing/2014/main" id="{D193A9BC-B4D7-1945-A895-1994E02800DE}"/>
              </a:ext>
            </a:extLst>
          </p:cNvPr>
          <p:cNvGrpSpPr/>
          <p:nvPr/>
        </p:nvGrpSpPr>
        <p:grpSpPr>
          <a:xfrm>
            <a:off x="3805050" y="5733020"/>
            <a:ext cx="7309373" cy="986476"/>
            <a:chOff x="3805050" y="5531546"/>
            <a:chExt cx="7309373" cy="986476"/>
          </a:xfrm>
        </p:grpSpPr>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0ED44C53-A5E7-2548-AA75-FDF00DCB0D39}"/>
                    </a:ext>
                  </a:extLst>
                </p:cNvPr>
                <p:cNvSpPr/>
                <p:nvPr/>
              </p:nvSpPr>
              <p:spPr>
                <a:xfrm>
                  <a:off x="3805050" y="5531546"/>
                  <a:ext cx="7309373" cy="461665"/>
                </a:xfrm>
                <a:prstGeom prst="rect">
                  <a:avLst/>
                </a:prstGeom>
              </p:spPr>
              <p:txBody>
                <a:bodyPr wrap="none">
                  <a:spAutoFit/>
                </a:bodyPr>
                <a:lstStyle/>
                <a:p>
                  <a14:m>
                    <m:oMath xmlns:m="http://schemas.openxmlformats.org/officeDocument/2006/math">
                      <m:r>
                        <a:rPr lang="en-US" sz="2400"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𝑎</m:t>
                          </m:r>
                        </m:e>
                      </m:d>
                      <m:r>
                        <m:rPr>
                          <m:nor/>
                        </m:rPr>
                        <a:rPr lang="en-US" sz="2400" dirty="0"/>
                        <m:t> </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𝑏</m:t>
                          </m:r>
                        </m:e>
                      </m:d>
                      <m:r>
                        <a:rPr lang="en-US" sz="2400" i="1">
                          <a:latin typeface="Cambria Math" panose="02040503050406030204" pitchFamily="18" charset="0"/>
                          <a:ea typeface="Cambria Math" panose="02040503050406030204" pitchFamily="18" charset="0"/>
                        </a:rPr>
                        <m:t>≤</m:t>
                      </m:r>
                      <m:r>
                        <a:rPr lang="en-US" sz="2400">
                          <a:latin typeface="Cambria Math" panose="02040503050406030204" pitchFamily="18" charset="0"/>
                        </a:rPr>
                        <m:t>⟨</m:t>
                      </m:r>
                      <m:r>
                        <a:rPr lang="en-US" sz="2400">
                          <a:latin typeface="Cambria Math" panose="02040503050406030204" pitchFamily="18" charset="0"/>
                        </a:rPr>
                        <m:t>𝑎</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𝑏</m:t>
                          </m:r>
                        </m:e>
                      </m:d>
                      <m:r>
                        <a:rPr lang="en-US" sz="2400" i="1">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𝑎</m:t>
                          </m:r>
                        </m:e>
                      </m:d>
                      <m:d>
                        <m:dPr>
                          <m:begChr m:val="‖"/>
                          <m:endChr m:val="‖"/>
                          <m:ctrlPr>
                            <a:rPr lang="en-US" sz="2400" i="1">
                              <a:latin typeface="Cambria Math" panose="02040503050406030204" pitchFamily="18" charset="0"/>
                            </a:rPr>
                          </m:ctrlPr>
                        </m:dPr>
                        <m:e>
                          <m:r>
                            <a:rPr lang="en-US" sz="2400">
                              <a:latin typeface="Cambria Math" panose="02040503050406030204" pitchFamily="18" charset="0"/>
                            </a:rPr>
                            <m:t>𝑏</m:t>
                          </m:r>
                        </m:e>
                      </m:d>
                      <m:r>
                        <a:rPr lang="sr-Latn-RS" sz="2400" b="0" i="1" smtClean="0">
                          <a:latin typeface="Cambria Math" panose="02040503050406030204" pitchFamily="18" charset="0"/>
                        </a:rPr>
                        <m:t>              </m:t>
                      </m:r>
                      <m:d>
                        <m:dPr>
                          <m:begChr m:val="|"/>
                          <m:endChr m:val="|"/>
                          <m:ctrlPr>
                            <a:rPr lang="en-US" sz="2400" i="1">
                              <a:latin typeface="Cambria Math" panose="02040503050406030204" pitchFamily="18" charset="0"/>
                            </a:rPr>
                          </m:ctrlPr>
                        </m:dPr>
                        <m:e>
                          <m:r>
                            <a:rPr lang="en-US" sz="2400">
                              <a:latin typeface="Cambria Math" panose="02040503050406030204" pitchFamily="18" charset="0"/>
                            </a:rPr>
                            <m:t>⟨</m:t>
                          </m:r>
                          <m:r>
                            <a:rPr lang="en-US" sz="2400" i="1">
                              <a:latin typeface="Cambria Math" panose="02040503050406030204" pitchFamily="18" charset="0"/>
                            </a:rPr>
                            <m:t>𝑎</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𝑏</m:t>
                              </m:r>
                            </m:e>
                          </m:d>
                        </m:e>
                      </m:d>
                      <m:r>
                        <a:rPr lang="en-US" sz="2400" i="1">
                          <a:latin typeface="Cambria Math" panose="02040503050406030204" pitchFamily="18" charset="0"/>
                          <a:ea typeface="Cambria Math" panose="02040503050406030204" pitchFamily="18" charset="0"/>
                        </a:rPr>
                        <m:t>≤</m:t>
                      </m:r>
                      <m:r>
                        <m:rPr>
                          <m:nor/>
                        </m:rPr>
                        <a:rPr lang="en-US" sz="2400" dirty="0"/>
                        <m:t> </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m:rPr>
                          <m:nor/>
                        </m:rPr>
                        <a:rPr lang="en-US" sz="2400" dirty="0"/>
                        <m:t> </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𝑏</m:t>
                          </m:r>
                        </m:e>
                      </m:d>
                    </m:oMath>
                  </a14:m>
                  <a:r>
                    <a:rPr lang="en-US" sz="2400" dirty="0"/>
                    <a:t> </a:t>
                  </a:r>
                </a:p>
              </p:txBody>
            </p:sp>
          </mc:Choice>
          <mc:Fallback xmlns="">
            <p:sp>
              <p:nvSpPr>
                <p:cNvPr id="28" name="Rectangle 27">
                  <a:extLst>
                    <a:ext uri="{FF2B5EF4-FFF2-40B4-BE49-F238E27FC236}">
                      <a16:creationId xmlns:a16="http://schemas.microsoft.com/office/drawing/2014/main" id="{0ED44C53-A5E7-2548-AA75-FDF00DCB0D39}"/>
                    </a:ext>
                  </a:extLst>
                </p:cNvPr>
                <p:cNvSpPr>
                  <a:spLocks noRot="1" noChangeAspect="1" noMove="1" noResize="1" noEditPoints="1" noAdjustHandles="1" noChangeArrowheads="1" noChangeShapeType="1" noTextEdit="1"/>
                </p:cNvSpPr>
                <p:nvPr/>
              </p:nvSpPr>
              <p:spPr>
                <a:xfrm>
                  <a:off x="3805050" y="5531546"/>
                  <a:ext cx="7309373" cy="461665"/>
                </a:xfrm>
                <a:prstGeom prst="rect">
                  <a:avLst/>
                </a:prstGeom>
                <a:blipFill>
                  <a:blip r:embed="rId9"/>
                  <a:stretch>
                    <a:fillRect t="-5263" r="-1217" b="-26316"/>
                  </a:stretch>
                </a:blipFill>
              </p:spPr>
              <p:txBody>
                <a:bodyPr/>
                <a:lstStyle/>
                <a:p>
                  <a:r>
                    <a:rPr lang="en-US">
                      <a:noFill/>
                    </a:rPr>
                    <a:t> </a:t>
                  </a:r>
                </a:p>
              </p:txBody>
            </p:sp>
          </mc:Fallback>
        </mc:AlternateContent>
        <p:sp>
          <p:nvSpPr>
            <p:cNvPr id="30" name="TextBox 29">
              <a:extLst>
                <a:ext uri="{FF2B5EF4-FFF2-40B4-BE49-F238E27FC236}">
                  <a16:creationId xmlns:a16="http://schemas.microsoft.com/office/drawing/2014/main" id="{7AEFA243-E991-B946-A1CD-CAFB99424DA0}"/>
                </a:ext>
              </a:extLst>
            </p:cNvPr>
            <p:cNvSpPr txBox="1"/>
            <p:nvPr/>
          </p:nvSpPr>
          <p:spPr>
            <a:xfrm>
              <a:off x="5999106" y="6056357"/>
              <a:ext cx="3504101" cy="461665"/>
            </a:xfrm>
            <a:prstGeom prst="rect">
              <a:avLst/>
            </a:prstGeom>
            <a:noFill/>
          </p:spPr>
          <p:txBody>
            <a:bodyPr wrap="none" rtlCol="0">
              <a:spAutoFit/>
            </a:bodyPr>
            <a:lstStyle/>
            <a:p>
              <a:r>
                <a:rPr lang="en-ZA" sz="2400" dirty="0"/>
                <a:t>Cauchy-Schwarz inequality</a:t>
              </a:r>
              <a:endParaRPr lang="en-US" sz="2400" dirty="0"/>
            </a:p>
          </p:txBody>
        </p:sp>
        <p:sp>
          <p:nvSpPr>
            <p:cNvPr id="32" name="Right Arrow 31">
              <a:extLst>
                <a:ext uri="{FF2B5EF4-FFF2-40B4-BE49-F238E27FC236}">
                  <a16:creationId xmlns:a16="http://schemas.microsoft.com/office/drawing/2014/main" id="{548EA0A8-10E4-5D44-B777-F14763230EDA}"/>
                </a:ext>
              </a:extLst>
            </p:cNvPr>
            <p:cNvSpPr/>
            <p:nvPr/>
          </p:nvSpPr>
          <p:spPr>
            <a:xfrm>
              <a:off x="7844512" y="5593592"/>
              <a:ext cx="501389" cy="350165"/>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4" name="Picture 73">
            <a:extLst>
              <a:ext uri="{FF2B5EF4-FFF2-40B4-BE49-F238E27FC236}">
                <a16:creationId xmlns:a16="http://schemas.microsoft.com/office/drawing/2014/main" id="{BA524F46-38BE-1244-ACCA-AAD8A51A93C6}"/>
              </a:ext>
            </a:extLst>
          </p:cNvPr>
          <p:cNvPicPr>
            <a:picLocks noChangeAspect="1"/>
          </p:cNvPicPr>
          <p:nvPr/>
        </p:nvPicPr>
        <p:blipFill>
          <a:blip r:embed="rId10"/>
          <a:stretch>
            <a:fillRect/>
          </a:stretch>
        </p:blipFill>
        <p:spPr>
          <a:xfrm>
            <a:off x="8617918" y="0"/>
            <a:ext cx="3370021" cy="1691592"/>
          </a:xfrm>
          <a:prstGeom prst="rect">
            <a:avLst/>
          </a:prstGeom>
        </p:spPr>
      </p:pic>
    </p:spTree>
    <p:extLst>
      <p:ext uri="{BB962C8B-B14F-4D97-AF65-F5344CB8AC3E}">
        <p14:creationId xmlns:p14="http://schemas.microsoft.com/office/powerpoint/2010/main" val="1785212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dissolve">
                                      <p:cBhvr>
                                        <p:cTn id="12" dur="500"/>
                                        <p:tgtEl>
                                          <p:spTgt spid="6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dissolve">
                                      <p:cBhvr>
                                        <p:cTn id="1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EE7C83-1CCD-174A-853A-8462C54BDC1A}"/>
              </a:ext>
            </a:extLst>
          </p:cNvPr>
          <p:cNvSpPr>
            <a:spLocks noGrp="1"/>
          </p:cNvSpPr>
          <p:nvPr>
            <p:ph type="sldNum" sz="quarter" idx="12"/>
          </p:nvPr>
        </p:nvSpPr>
        <p:spPr/>
        <p:txBody>
          <a:bodyPr/>
          <a:lstStyle/>
          <a:p>
            <a:fld id="{591A223C-FA10-BC46-A853-03BA373D023C}" type="slidenum">
              <a:rPr lang="en-US" smtClean="0"/>
              <a:t>37</a:t>
            </a:fld>
            <a:endParaRPr lang="en-US"/>
          </a:p>
        </p:txBody>
      </p:sp>
      <p:sp>
        <p:nvSpPr>
          <p:cNvPr id="3" name="Title 2">
            <a:extLst>
              <a:ext uri="{FF2B5EF4-FFF2-40B4-BE49-F238E27FC236}">
                <a16:creationId xmlns:a16="http://schemas.microsoft.com/office/drawing/2014/main" id="{F7AACD1C-BBAF-C149-8D57-82C4E2CBCF08}"/>
              </a:ext>
            </a:extLst>
          </p:cNvPr>
          <p:cNvSpPr>
            <a:spLocks noGrp="1"/>
          </p:cNvSpPr>
          <p:nvPr>
            <p:ph type="title"/>
          </p:nvPr>
        </p:nvSpPr>
        <p:spPr>
          <a:xfrm>
            <a:off x="0" y="0"/>
            <a:ext cx="12192000" cy="928688"/>
          </a:xfrm>
        </p:spPr>
        <p:txBody>
          <a:bodyPr/>
          <a:lstStyle/>
          <a:p>
            <a:r>
              <a:rPr lang="en-ZA" dirty="0"/>
              <a:t>Inner product properties in quantum computing</a:t>
            </a:r>
            <a:endParaRPr lang="en-US"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F6E6E415-9D49-F44C-85E5-7F21133660B7}"/>
                  </a:ext>
                </a:extLst>
              </p:cNvPr>
              <p:cNvGraphicFramePr>
                <a:graphicFrameLocks noGrp="1"/>
              </p:cNvGraphicFramePr>
              <p:nvPr>
                <p:extLst/>
              </p:nvPr>
            </p:nvGraphicFramePr>
            <p:xfrm>
              <a:off x="184347" y="1789178"/>
              <a:ext cx="11578866" cy="4307459"/>
            </p:xfrm>
            <a:graphic>
              <a:graphicData uri="http://schemas.openxmlformats.org/drawingml/2006/table">
                <a:tbl>
                  <a:tblPr bandRow="1">
                    <a:tableStyleId>{5FD0F851-EC5A-4D38-B0AD-8093EC10F338}</a:tableStyleId>
                  </a:tblPr>
                  <a:tblGrid>
                    <a:gridCol w="7502812">
                      <a:extLst>
                        <a:ext uri="{9D8B030D-6E8A-4147-A177-3AD203B41FA5}">
                          <a16:colId xmlns:a16="http://schemas.microsoft.com/office/drawing/2014/main" val="141558605"/>
                        </a:ext>
                      </a:extLst>
                    </a:gridCol>
                    <a:gridCol w="4076054">
                      <a:extLst>
                        <a:ext uri="{9D8B030D-6E8A-4147-A177-3AD203B41FA5}">
                          <a16:colId xmlns:a16="http://schemas.microsoft.com/office/drawing/2014/main" val="1572730598"/>
                        </a:ext>
                      </a:extLst>
                    </a:gridCol>
                  </a:tblGrid>
                  <a:tr h="421367">
                    <a:tc>
                      <a:txBody>
                        <a:bodyPr/>
                        <a:lstStyle/>
                        <a:p>
                          <a:r>
                            <a:rPr lang="en-ZA" sz="2200" dirty="0">
                              <a:latin typeface="+mj-lt"/>
                            </a:rPr>
                            <a:t>The norm:  the square root of its inner product with itself.</a:t>
                          </a:r>
                          <a:endParaRPr lang="en-US" sz="2200" dirty="0">
                            <a:latin typeface="+mj-lt"/>
                          </a:endParaRPr>
                        </a:p>
                      </a:txBody>
                      <a:tcPr anchor="ctr"/>
                    </a:tc>
                    <a:tc>
                      <a:txBody>
                        <a:bodyPr/>
                        <a:lstStyle/>
                        <a:p>
                          <a:pPr/>
                          <a14:m>
                            <m:oMathPara xmlns:m="http://schemas.openxmlformats.org/officeDocument/2006/math">
                              <m:oMathParaPr>
                                <m:jc m:val="centerGroup"/>
                              </m:oMathParaPr>
                              <m:oMath xmlns:m="http://schemas.openxmlformats.org/officeDocument/2006/math">
                                <m:d>
                                  <m:dPr>
                                    <m:begChr m:val="‖"/>
                                    <m:endChr m:val="‖"/>
                                    <m:ctrlPr>
                                      <a:rPr lang="en-US" sz="2200" i="1" smtClean="0">
                                        <a:latin typeface="Cambria Math" panose="02040503050406030204" pitchFamily="18" charset="0"/>
                                      </a:rPr>
                                    </m:ctrlPr>
                                  </m:dPr>
                                  <m:e>
                                    <m:d>
                                      <m:dPr>
                                        <m:begChr m:val="|"/>
                                        <m:endChr m:val="⟩"/>
                                        <m:ctrlPr>
                                          <a:rPr lang="en-US" sz="2200" i="1">
                                            <a:latin typeface="Cambria Math" panose="02040503050406030204" pitchFamily="18" charset="0"/>
                                          </a:rPr>
                                        </m:ctrlPr>
                                      </m:dPr>
                                      <m:e>
                                        <m:r>
                                          <a:rPr lang="en-US" sz="2200">
                                            <a:latin typeface="Cambria Math" panose="02040503050406030204" pitchFamily="18" charset="0"/>
                                          </a:rPr>
                                          <m:t>𝑎</m:t>
                                        </m:r>
                                      </m:e>
                                    </m:d>
                                  </m:e>
                                </m:d>
                                <m:r>
                                  <a:rPr lang="en-US" sz="2200">
                                    <a:latin typeface="Cambria Math" panose="02040503050406030204" pitchFamily="18" charset="0"/>
                                  </a:rPr>
                                  <m:t>=</m:t>
                                </m:r>
                                <m:rad>
                                  <m:radPr>
                                    <m:degHide m:val="on"/>
                                    <m:ctrlPr>
                                      <a:rPr lang="en-US" sz="2200" i="1">
                                        <a:latin typeface="Cambria Math" panose="02040503050406030204" pitchFamily="18" charset="0"/>
                                      </a:rPr>
                                    </m:ctrlPr>
                                  </m:radPr>
                                  <m:deg/>
                                  <m:e>
                                    <m:r>
                                      <a:rPr lang="en-US" sz="2200">
                                        <a:latin typeface="Cambria Math" panose="02040503050406030204" pitchFamily="18" charset="0"/>
                                      </a:rPr>
                                      <m:t>⟨</m:t>
                                    </m:r>
                                    <m:r>
                                      <a:rPr lang="en-US" sz="2200">
                                        <a:latin typeface="Cambria Math" panose="02040503050406030204" pitchFamily="18" charset="0"/>
                                      </a:rPr>
                                      <m:t>𝑎</m:t>
                                    </m:r>
                                    <m:d>
                                      <m:dPr>
                                        <m:begChr m:val="|"/>
                                        <m:endChr m:val="⟩"/>
                                        <m:ctrlPr>
                                          <a:rPr lang="en-US" sz="2200" i="1">
                                            <a:latin typeface="Cambria Math" panose="02040503050406030204" pitchFamily="18" charset="0"/>
                                          </a:rPr>
                                        </m:ctrlPr>
                                      </m:dPr>
                                      <m:e>
                                        <m:r>
                                          <a:rPr lang="en-US" sz="2200">
                                            <a:latin typeface="Cambria Math" panose="02040503050406030204" pitchFamily="18" charset="0"/>
                                          </a:rPr>
                                          <m:t>𝑎</m:t>
                                        </m:r>
                                      </m:e>
                                    </m:d>
                                  </m:e>
                                </m:rad>
                              </m:oMath>
                            </m:oMathPara>
                          </a14:m>
                          <a:endParaRPr lang="en-US" sz="2200" dirty="0">
                            <a:solidFill>
                              <a:schemeClr val="tx1"/>
                            </a:solidFill>
                          </a:endParaRPr>
                        </a:p>
                      </a:txBody>
                      <a:tcPr anchor="ctr"/>
                    </a:tc>
                    <a:extLst>
                      <a:ext uri="{0D108BD9-81ED-4DB2-BD59-A6C34878D82A}">
                        <a16:rowId xmlns:a16="http://schemas.microsoft.com/office/drawing/2014/main" val="2097916927"/>
                      </a:ext>
                    </a:extLst>
                  </a:tr>
                  <a:tr h="266866">
                    <a:tc>
                      <a:txBody>
                        <a:bodyPr/>
                        <a:lstStyle/>
                        <a:p>
                          <a:endParaRPr lang="en-ZA" sz="2200" dirty="0">
                            <a:latin typeface="+mj-lt"/>
                          </a:endParaRPr>
                        </a:p>
                        <a:p>
                          <a:r>
                            <a:rPr lang="en-ZA" sz="2200" dirty="0">
                              <a:latin typeface="+mj-lt"/>
                            </a:rPr>
                            <a:t>A vector is normalized, if its inner product with itself equals 1.</a:t>
                          </a:r>
                        </a:p>
                        <a:p>
                          <a:endParaRPr lang="en-US" sz="2200" dirty="0">
                            <a:latin typeface="+mj-lt"/>
                          </a:endParaRPr>
                        </a:p>
                      </a:txBody>
                      <a:tcPr anchor="ctr"/>
                    </a:tc>
                    <a:tc>
                      <a:txBody>
                        <a:bodyPr/>
                        <a:lstStyle/>
                        <a:p>
                          <a:pPr/>
                          <a14:m>
                            <m:oMathPara xmlns:m="http://schemas.openxmlformats.org/officeDocument/2006/math">
                              <m:oMathParaPr>
                                <m:jc m:val="centerGroup"/>
                              </m:oMathParaPr>
                              <m:oMath xmlns:m="http://schemas.openxmlformats.org/officeDocument/2006/math">
                                <m:r>
                                  <a:rPr lang="en-US" sz="2200" smtClean="0">
                                    <a:latin typeface="Cambria Math" panose="02040503050406030204" pitchFamily="18" charset="0"/>
                                  </a:rPr>
                                  <m:t>⟨</m:t>
                                </m:r>
                                <m:r>
                                  <a:rPr lang="en-US" sz="2200">
                                    <a:latin typeface="Cambria Math" panose="02040503050406030204" pitchFamily="18" charset="0"/>
                                  </a:rPr>
                                  <m:t>𝑎</m:t>
                                </m:r>
                                <m:d>
                                  <m:dPr>
                                    <m:begChr m:val="|"/>
                                    <m:endChr m:val="⟩"/>
                                    <m:ctrlPr>
                                      <a:rPr lang="en-US" sz="2200" i="1">
                                        <a:latin typeface="Cambria Math" panose="02040503050406030204" pitchFamily="18" charset="0"/>
                                      </a:rPr>
                                    </m:ctrlPr>
                                  </m:dPr>
                                  <m:e>
                                    <m:r>
                                      <a:rPr lang="en-US" sz="2200">
                                        <a:latin typeface="Cambria Math" panose="02040503050406030204" pitchFamily="18" charset="0"/>
                                      </a:rPr>
                                      <m:t>𝑎</m:t>
                                    </m:r>
                                  </m:e>
                                </m:d>
                                <m:r>
                                  <a:rPr lang="en-US" sz="2200">
                                    <a:latin typeface="Cambria Math" panose="02040503050406030204" pitchFamily="18" charset="0"/>
                                  </a:rPr>
                                  <m:t>=1</m:t>
                                </m:r>
                              </m:oMath>
                            </m:oMathPara>
                          </a14:m>
                          <a:endParaRPr lang="en-US" sz="2200" dirty="0">
                            <a:solidFill>
                              <a:schemeClr val="tx1"/>
                            </a:solidFill>
                          </a:endParaRPr>
                        </a:p>
                      </a:txBody>
                      <a:tcPr anchor="ctr"/>
                    </a:tc>
                    <a:extLst>
                      <a:ext uri="{0D108BD9-81ED-4DB2-BD59-A6C34878D82A}">
                        <a16:rowId xmlns:a16="http://schemas.microsoft.com/office/drawing/2014/main" val="3896350643"/>
                      </a:ext>
                    </a:extLst>
                  </a:tr>
                  <a:tr h="421367">
                    <a:tc>
                      <a:txBody>
                        <a:bodyPr/>
                        <a:lstStyle/>
                        <a:p>
                          <a:r>
                            <a:rPr lang="en-ZA" sz="2200" dirty="0">
                              <a:latin typeface="+mj-lt"/>
                            </a:rPr>
                            <a:t>Two vectors are orthogonal if their inner product is 0.</a:t>
                          </a:r>
                        </a:p>
                      </a:txBody>
                      <a:tcPr anchor="ctr"/>
                    </a:tc>
                    <a:tc>
                      <a:txBody>
                        <a:bodyPr/>
                        <a:lstStyle/>
                        <a:p>
                          <a:pPr/>
                          <a14:m>
                            <m:oMathPara xmlns:m="http://schemas.openxmlformats.org/officeDocument/2006/math">
                              <m:oMathParaPr>
                                <m:jc m:val="centerGroup"/>
                              </m:oMathParaPr>
                              <m:oMath xmlns:m="http://schemas.openxmlformats.org/officeDocument/2006/math">
                                <m:r>
                                  <a:rPr lang="en-US" sz="2200" smtClean="0">
                                    <a:latin typeface="Cambria Math" panose="02040503050406030204" pitchFamily="18" charset="0"/>
                                  </a:rPr>
                                  <m:t>⟨</m:t>
                                </m:r>
                                <m:r>
                                  <a:rPr lang="en-US" sz="2200">
                                    <a:latin typeface="Cambria Math" panose="02040503050406030204" pitchFamily="18" charset="0"/>
                                  </a:rPr>
                                  <m:t>𝑎</m:t>
                                </m:r>
                                <m:d>
                                  <m:dPr>
                                    <m:begChr m:val="|"/>
                                    <m:endChr m:val="⟩"/>
                                    <m:ctrlPr>
                                      <a:rPr lang="en-US" sz="2200" i="1">
                                        <a:latin typeface="Cambria Math" panose="02040503050406030204" pitchFamily="18" charset="0"/>
                                      </a:rPr>
                                    </m:ctrlPr>
                                  </m:dPr>
                                  <m:e>
                                    <m:r>
                                      <a:rPr lang="en-US" sz="2200">
                                        <a:latin typeface="Cambria Math" panose="02040503050406030204" pitchFamily="18" charset="0"/>
                                      </a:rPr>
                                      <m:t>𝑏</m:t>
                                    </m:r>
                                  </m:e>
                                </m:d>
                                <m:r>
                                  <a:rPr lang="en-US" sz="2200">
                                    <a:latin typeface="Cambria Math" panose="02040503050406030204" pitchFamily="18" charset="0"/>
                                  </a:rPr>
                                  <m:t>=0</m:t>
                                </m:r>
                              </m:oMath>
                            </m:oMathPara>
                          </a14:m>
                          <a:endParaRPr lang="en-US" sz="2200" dirty="0">
                            <a:solidFill>
                              <a:schemeClr val="tx1"/>
                            </a:solidFill>
                          </a:endParaRPr>
                        </a:p>
                      </a:txBody>
                      <a:tcPr anchor="ctr"/>
                    </a:tc>
                    <a:extLst>
                      <a:ext uri="{0D108BD9-81ED-4DB2-BD59-A6C34878D82A}">
                        <a16:rowId xmlns:a16="http://schemas.microsoft.com/office/drawing/2014/main" val="2592781505"/>
                      </a:ext>
                    </a:extLst>
                  </a:tr>
                  <a:tr h="434945">
                    <a:tc>
                      <a:txBody>
                        <a:bodyPr/>
                        <a:lstStyle/>
                        <a:p>
                          <a:endParaRPr lang="en-ZA" sz="2200" dirty="0"/>
                        </a:p>
                        <a:p>
                          <a:r>
                            <a:rPr lang="en-ZA" sz="2200" dirty="0">
                              <a:latin typeface="+mj-lt"/>
                            </a:rPr>
                            <a:t>The condition of orthonormality.</a:t>
                          </a:r>
                        </a:p>
                        <a:p>
                          <a:endParaRPr lang="en-US" sz="2200" dirty="0">
                            <a:latin typeface="+mj-lt"/>
                          </a:endParaRPr>
                        </a:p>
                      </a:txBody>
                      <a:tcPr anchor="ctr"/>
                    </a:tc>
                    <a:tc>
                      <a:txBody>
                        <a:bodyPr/>
                        <a:lstStyle/>
                        <a:p>
                          <a:pPr/>
                          <a14:m>
                            <m:oMathPara xmlns:m="http://schemas.openxmlformats.org/officeDocument/2006/math">
                              <m:oMathParaPr>
                                <m:jc m:val="centerGroup"/>
                              </m:oMathParaPr>
                              <m:oMath xmlns:m="http://schemas.openxmlformats.org/officeDocument/2006/math">
                                <m:r>
                                  <a:rPr lang="en-US" sz="2200" smtClean="0">
                                    <a:latin typeface="Cambria Math" panose="02040503050406030204" pitchFamily="18" charset="0"/>
                                  </a:rPr>
                                  <m:t>⟨</m:t>
                                </m:r>
                                <m:sSub>
                                  <m:sSubPr>
                                    <m:ctrlPr>
                                      <a:rPr lang="en-US" sz="2200" i="1">
                                        <a:latin typeface="Cambria Math" panose="02040503050406030204" pitchFamily="18" charset="0"/>
                                      </a:rPr>
                                    </m:ctrlPr>
                                  </m:sSubPr>
                                  <m:e>
                                    <m:r>
                                      <a:rPr lang="en-US" sz="2200" smtClean="0">
                                        <a:latin typeface="Cambria Math" panose="02040503050406030204" pitchFamily="18" charset="0"/>
                                      </a:rPr>
                                      <m:t>𝑎</m:t>
                                    </m:r>
                                  </m:e>
                                  <m:sub>
                                    <m:r>
                                      <a:rPr lang="en-US" sz="2200">
                                        <a:latin typeface="Cambria Math" panose="02040503050406030204" pitchFamily="18" charset="0"/>
                                      </a:rPr>
                                      <m:t>𝑖</m:t>
                                    </m:r>
                                  </m:sub>
                                </m:sSub>
                                <m:d>
                                  <m:dPr>
                                    <m:begChr m:val="|"/>
                                    <m:endChr m:val="⟩"/>
                                    <m:ctrlPr>
                                      <a:rPr lang="en-US" sz="2200" i="1">
                                        <a:latin typeface="Cambria Math" panose="02040503050406030204" pitchFamily="18" charset="0"/>
                                      </a:rPr>
                                    </m:ctrlPr>
                                  </m:dPr>
                                  <m:e>
                                    <m:sSub>
                                      <m:sSubPr>
                                        <m:ctrlPr>
                                          <a:rPr lang="en-US" sz="2200" i="1">
                                            <a:latin typeface="Cambria Math" panose="02040503050406030204" pitchFamily="18" charset="0"/>
                                          </a:rPr>
                                        </m:ctrlPr>
                                      </m:sSubPr>
                                      <m:e>
                                        <m:r>
                                          <a:rPr lang="sr-Latn-RS" sz="2200" b="0" i="1" smtClean="0">
                                            <a:latin typeface="Cambria Math" panose="02040503050406030204" pitchFamily="18" charset="0"/>
                                          </a:rPr>
                                          <m:t>𝑎</m:t>
                                        </m:r>
                                      </m:e>
                                      <m:sub>
                                        <m:r>
                                          <a:rPr lang="en-US" sz="2200">
                                            <a:latin typeface="Cambria Math" panose="02040503050406030204" pitchFamily="18" charset="0"/>
                                          </a:rPr>
                                          <m:t>𝑗</m:t>
                                        </m:r>
                                      </m:sub>
                                    </m:sSub>
                                  </m:e>
                                </m:d>
                                <m:r>
                                  <a:rPr lang="en-US" sz="2200">
                                    <a:latin typeface="Cambria Math" panose="02040503050406030204" pitchFamily="18" charset="0"/>
                                  </a:rPr>
                                  <m:t>=</m:t>
                                </m:r>
                                <m:sSub>
                                  <m:sSubPr>
                                    <m:ctrlPr>
                                      <a:rPr lang="en-US" sz="2200" i="1">
                                        <a:latin typeface="Cambria Math" panose="02040503050406030204" pitchFamily="18" charset="0"/>
                                      </a:rPr>
                                    </m:ctrlPr>
                                  </m:sSubPr>
                                  <m:e>
                                    <m:r>
                                      <a:rPr lang="en-US" sz="2200">
                                        <a:latin typeface="Cambria Math" panose="02040503050406030204" pitchFamily="18" charset="0"/>
                                      </a:rPr>
                                      <m:t>𝛿</m:t>
                                    </m:r>
                                  </m:e>
                                  <m:sub>
                                    <m:r>
                                      <a:rPr lang="en-US" sz="2200">
                                        <a:latin typeface="Cambria Math" panose="02040503050406030204" pitchFamily="18" charset="0"/>
                                      </a:rPr>
                                      <m:t>𝑖𝑗</m:t>
                                    </m:r>
                                  </m:sub>
                                </m:sSub>
                                <m:r>
                                  <a:rPr lang="en-US" sz="2200">
                                    <a:latin typeface="Cambria Math" panose="02040503050406030204" pitchFamily="18" charset="0"/>
                                  </a:rPr>
                                  <m:t>=</m:t>
                                </m:r>
                                <m:d>
                                  <m:dPr>
                                    <m:begChr m:val="{"/>
                                    <m:endChr m:val=""/>
                                    <m:ctrlPr>
                                      <a:rPr lang="en-US" sz="2200" i="1">
                                        <a:latin typeface="Cambria Math" panose="02040503050406030204" pitchFamily="18" charset="0"/>
                                      </a:rPr>
                                    </m:ctrlPr>
                                  </m:dPr>
                                  <m:e>
                                    <m:m>
                                      <m:mPr>
                                        <m:plcHide m:val="on"/>
                                        <m:mcs>
                                          <m:mc>
                                            <m:mcPr>
                                              <m:count m:val="2"/>
                                              <m:mcJc m:val="center"/>
                                            </m:mcPr>
                                          </m:mc>
                                        </m:mcs>
                                        <m:ctrlPr>
                                          <a:rPr lang="en-US" sz="2200" i="1">
                                            <a:latin typeface="Cambria Math" panose="02040503050406030204" pitchFamily="18" charset="0"/>
                                          </a:rPr>
                                        </m:ctrlPr>
                                      </m:mPr>
                                      <m:mr>
                                        <m:e>
                                          <m:r>
                                            <a:rPr lang="en-US" sz="2200">
                                              <a:latin typeface="Cambria Math" panose="02040503050406030204" pitchFamily="18" charset="0"/>
                                            </a:rPr>
                                            <m:t>0</m:t>
                                          </m:r>
                                        </m:e>
                                        <m:e>
                                          <m:r>
                                            <a:rPr lang="en-US" sz="2200">
                                              <a:latin typeface="Cambria Math" panose="02040503050406030204" pitchFamily="18" charset="0"/>
                                            </a:rPr>
                                            <m:t>𝑖𝑓</m:t>
                                          </m:r>
                                          <m:r>
                                            <a:rPr lang="en-US" sz="2200">
                                              <a:latin typeface="Cambria Math" panose="02040503050406030204" pitchFamily="18" charset="0"/>
                                            </a:rPr>
                                            <m:t> </m:t>
                                          </m:r>
                                          <m:r>
                                            <a:rPr lang="en-US" sz="2200">
                                              <a:latin typeface="Cambria Math" panose="02040503050406030204" pitchFamily="18" charset="0"/>
                                            </a:rPr>
                                            <m:t>𝑖</m:t>
                                          </m:r>
                                          <m:r>
                                            <a:rPr lang="en-US" sz="2200">
                                              <a:latin typeface="Cambria Math" panose="02040503050406030204" pitchFamily="18" charset="0"/>
                                            </a:rPr>
                                            <m:t>≠</m:t>
                                          </m:r>
                                          <m:r>
                                            <a:rPr lang="en-US" sz="2200">
                                              <a:latin typeface="Cambria Math" panose="02040503050406030204" pitchFamily="18" charset="0"/>
                                            </a:rPr>
                                            <m:t>𝑗</m:t>
                                          </m:r>
                                        </m:e>
                                      </m:mr>
                                      <m:mr>
                                        <m:e>
                                          <m:r>
                                            <a:rPr lang="en-US" sz="2200">
                                              <a:latin typeface="Cambria Math" panose="02040503050406030204" pitchFamily="18" charset="0"/>
                                            </a:rPr>
                                            <m:t>1</m:t>
                                          </m:r>
                                        </m:e>
                                        <m:e>
                                          <m:r>
                                            <a:rPr lang="en-US" sz="2200">
                                              <a:latin typeface="Cambria Math" panose="02040503050406030204" pitchFamily="18" charset="0"/>
                                            </a:rPr>
                                            <m:t>𝑖𝑓</m:t>
                                          </m:r>
                                          <m:r>
                                            <a:rPr lang="en-US" sz="2200">
                                              <a:latin typeface="Cambria Math" panose="02040503050406030204" pitchFamily="18" charset="0"/>
                                            </a:rPr>
                                            <m:t> </m:t>
                                          </m:r>
                                          <m:r>
                                            <a:rPr lang="en-US" sz="2200">
                                              <a:latin typeface="Cambria Math" panose="02040503050406030204" pitchFamily="18" charset="0"/>
                                            </a:rPr>
                                            <m:t>𝑖</m:t>
                                          </m:r>
                                          <m:r>
                                            <a:rPr lang="en-US" sz="2200">
                                              <a:latin typeface="Cambria Math" panose="02040503050406030204" pitchFamily="18" charset="0"/>
                                            </a:rPr>
                                            <m:t>=</m:t>
                                          </m:r>
                                          <m:r>
                                            <a:rPr lang="en-US" sz="2200">
                                              <a:latin typeface="Cambria Math" panose="02040503050406030204" pitchFamily="18" charset="0"/>
                                            </a:rPr>
                                            <m:t>𝑗</m:t>
                                          </m:r>
                                        </m:e>
                                      </m:mr>
                                    </m:m>
                                    <m:r>
                                      <a:rPr lang="en-US" sz="2200">
                                        <a:latin typeface="Cambria Math" panose="02040503050406030204" pitchFamily="18" charset="0"/>
                                      </a:rPr>
                                      <m:t> </m:t>
                                    </m:r>
                                  </m:e>
                                </m:d>
                              </m:oMath>
                            </m:oMathPara>
                          </a14:m>
                          <a:endParaRPr lang="en-US" sz="2200" dirty="0">
                            <a:solidFill>
                              <a:schemeClr val="tx1"/>
                            </a:solidFill>
                          </a:endParaRPr>
                        </a:p>
                      </a:txBody>
                      <a:tcPr anchor="ctr"/>
                    </a:tc>
                    <a:extLst>
                      <a:ext uri="{0D108BD9-81ED-4DB2-BD59-A6C34878D82A}">
                        <a16:rowId xmlns:a16="http://schemas.microsoft.com/office/drawing/2014/main" val="2324877703"/>
                      </a:ext>
                    </a:extLst>
                  </a:tr>
                  <a:tr h="266866">
                    <a:tc>
                      <a:txBody>
                        <a:bodyPr/>
                        <a:lstStyle/>
                        <a:p>
                          <a:r>
                            <a:rPr lang="en-ZA" sz="2200" dirty="0">
                              <a:latin typeface="+mj-lt"/>
                            </a:rPr>
                            <a:t>The conjugate symmetry.</a:t>
                          </a:r>
                          <a:endParaRPr lang="en-US" sz="2200" dirty="0">
                            <a:latin typeface="+mj-lt"/>
                          </a:endParaRPr>
                        </a:p>
                      </a:txBody>
                      <a:tcPr anchor="ctr"/>
                    </a:tc>
                    <a:tc>
                      <a:txBody>
                        <a:bodyPr/>
                        <a:lstStyle/>
                        <a:p>
                          <a:pPr/>
                          <a14:m>
                            <m:oMathPara xmlns:m="http://schemas.openxmlformats.org/officeDocument/2006/math">
                              <m:oMathParaPr>
                                <m:jc m:val="centerGroup"/>
                              </m:oMathParaPr>
                              <m:oMath xmlns:m="http://schemas.openxmlformats.org/officeDocument/2006/math">
                                <m:r>
                                  <a:rPr lang="en-US" sz="2200" smtClean="0">
                                    <a:latin typeface="Cambria Math" panose="02040503050406030204" pitchFamily="18" charset="0"/>
                                  </a:rPr>
                                  <m:t>⟨</m:t>
                                </m:r>
                                <m:r>
                                  <a:rPr lang="en-US" sz="2200">
                                    <a:latin typeface="Cambria Math" panose="02040503050406030204" pitchFamily="18" charset="0"/>
                                  </a:rPr>
                                  <m:t>𝑎</m:t>
                                </m:r>
                                <m:d>
                                  <m:dPr>
                                    <m:begChr m:val="|"/>
                                    <m:endChr m:val="⟩"/>
                                    <m:ctrlPr>
                                      <a:rPr lang="en-US" sz="2200" i="1">
                                        <a:latin typeface="Cambria Math" panose="02040503050406030204" pitchFamily="18" charset="0"/>
                                      </a:rPr>
                                    </m:ctrlPr>
                                  </m:dPr>
                                  <m:e>
                                    <m:r>
                                      <a:rPr lang="en-US" sz="2200">
                                        <a:latin typeface="Cambria Math" panose="02040503050406030204" pitchFamily="18" charset="0"/>
                                      </a:rPr>
                                      <m:t>𝑏</m:t>
                                    </m:r>
                                  </m:e>
                                </m:d>
                                <m:r>
                                  <a:rPr lang="en-US" sz="2200">
                                    <a:latin typeface="Cambria Math" panose="02040503050406030204" pitchFamily="18" charset="0"/>
                                  </a:rPr>
                                  <m:t>=</m:t>
                                </m:r>
                                <m:sSup>
                                  <m:sSupPr>
                                    <m:ctrlPr>
                                      <a:rPr lang="en-US" sz="2200" i="1">
                                        <a:latin typeface="Cambria Math" panose="02040503050406030204" pitchFamily="18" charset="0"/>
                                      </a:rPr>
                                    </m:ctrlPr>
                                  </m:sSupPr>
                                  <m:e>
                                    <m:r>
                                      <a:rPr lang="en-US" sz="2200">
                                        <a:latin typeface="Cambria Math" panose="02040503050406030204" pitchFamily="18" charset="0"/>
                                      </a:rPr>
                                      <m:t>⟨</m:t>
                                    </m:r>
                                    <m:r>
                                      <a:rPr lang="en-US" sz="2200">
                                        <a:latin typeface="Cambria Math" panose="02040503050406030204" pitchFamily="18" charset="0"/>
                                      </a:rPr>
                                      <m:t>𝑏</m:t>
                                    </m:r>
                                    <m:d>
                                      <m:dPr>
                                        <m:begChr m:val="|"/>
                                        <m:endChr m:val="⟩"/>
                                        <m:ctrlPr>
                                          <a:rPr lang="en-US" sz="2200" i="1">
                                            <a:latin typeface="Cambria Math" panose="02040503050406030204" pitchFamily="18" charset="0"/>
                                          </a:rPr>
                                        </m:ctrlPr>
                                      </m:dPr>
                                      <m:e>
                                        <m:r>
                                          <a:rPr lang="en-US" sz="2200">
                                            <a:latin typeface="Cambria Math" panose="02040503050406030204" pitchFamily="18" charset="0"/>
                                          </a:rPr>
                                          <m:t>𝑎</m:t>
                                        </m:r>
                                      </m:e>
                                    </m:d>
                                  </m:e>
                                  <m:sup>
                                    <m:r>
                                      <a:rPr lang="en-US" sz="2200">
                                        <a:latin typeface="Cambria Math" panose="02040503050406030204" pitchFamily="18" charset="0"/>
                                      </a:rPr>
                                      <m:t>∗</m:t>
                                    </m:r>
                                  </m:sup>
                                </m:sSup>
                              </m:oMath>
                            </m:oMathPara>
                          </a14:m>
                          <a:endParaRPr lang="en-US" sz="2200" dirty="0">
                            <a:solidFill>
                              <a:schemeClr val="tx1"/>
                            </a:solidFill>
                          </a:endParaRPr>
                        </a:p>
                      </a:txBody>
                      <a:tcPr anchor="ctr"/>
                    </a:tc>
                    <a:extLst>
                      <a:ext uri="{0D108BD9-81ED-4DB2-BD59-A6C34878D82A}">
                        <a16:rowId xmlns:a16="http://schemas.microsoft.com/office/drawing/2014/main" val="3152493578"/>
                      </a:ext>
                    </a:extLst>
                  </a:tr>
                  <a:tr h="449458">
                    <a:tc>
                      <a:txBody>
                        <a:bodyPr/>
                        <a:lstStyle/>
                        <a:p>
                          <a:r>
                            <a:rPr lang="en-ZA" sz="2200" dirty="0">
                              <a:latin typeface="+mj-lt"/>
                            </a:rPr>
                            <a:t>Linearity with respect to the ket vector.</a:t>
                          </a:r>
                          <a:endParaRPr lang="en-US" sz="2200" b="1" dirty="0">
                            <a:latin typeface="+mj-lt"/>
                          </a:endParaRPr>
                        </a:p>
                      </a:txBody>
                      <a:tcPr anchor="ctr"/>
                    </a:tc>
                    <a:tc>
                      <a:txBody>
                        <a:bodyPr/>
                        <a:lstStyle/>
                        <a:p>
                          <a:pPr/>
                          <a14:m>
                            <m:oMathPara xmlns:m="http://schemas.openxmlformats.org/officeDocument/2006/math">
                              <m:oMathParaPr>
                                <m:jc m:val="centerGroup"/>
                              </m:oMathParaPr>
                              <m:oMath xmlns:m="http://schemas.openxmlformats.org/officeDocument/2006/math">
                                <m:r>
                                  <a:rPr lang="en-US" sz="2200" smtClean="0">
                                    <a:latin typeface="Cambria Math" panose="02040503050406030204" pitchFamily="18" charset="0"/>
                                  </a:rPr>
                                  <m:t>⟨</m:t>
                                </m:r>
                                <m:r>
                                  <a:rPr lang="en-US" sz="2200">
                                    <a:latin typeface="Cambria Math" panose="02040503050406030204" pitchFamily="18" charset="0"/>
                                  </a:rPr>
                                  <m:t>𝑎</m:t>
                                </m:r>
                                <m:d>
                                  <m:dPr>
                                    <m:begChr m:val="|"/>
                                    <m:endChr m:val="⟩"/>
                                    <m:ctrlPr>
                                      <a:rPr lang="en-US" sz="2200" i="1">
                                        <a:latin typeface="Cambria Math" panose="02040503050406030204" pitchFamily="18" charset="0"/>
                                      </a:rPr>
                                    </m:ctrlPr>
                                  </m:dPr>
                                  <m:e>
                                    <m:r>
                                      <a:rPr lang="en-US" sz="2200">
                                        <a:latin typeface="Cambria Math" panose="02040503050406030204" pitchFamily="18" charset="0"/>
                                      </a:rPr>
                                      <m:t>𝑧𝑏</m:t>
                                    </m:r>
                                  </m:e>
                                </m:d>
                                <m:r>
                                  <a:rPr lang="en-US" sz="2200">
                                    <a:latin typeface="Cambria Math" panose="02040503050406030204" pitchFamily="18" charset="0"/>
                                  </a:rPr>
                                  <m:t>=</m:t>
                                </m:r>
                                <m:r>
                                  <a:rPr lang="sr-Latn-RS" sz="2200">
                                    <a:latin typeface="Cambria Math" panose="02040503050406030204" pitchFamily="18" charset="0"/>
                                  </a:rPr>
                                  <m:t>𝑧</m:t>
                                </m:r>
                                <m:r>
                                  <a:rPr lang="en-US" sz="2200">
                                    <a:latin typeface="Cambria Math" panose="02040503050406030204" pitchFamily="18" charset="0"/>
                                  </a:rPr>
                                  <m:t>⟨</m:t>
                                </m:r>
                                <m:r>
                                  <a:rPr lang="en-US" sz="2200">
                                    <a:latin typeface="Cambria Math" panose="02040503050406030204" pitchFamily="18" charset="0"/>
                                  </a:rPr>
                                  <m:t>𝑎</m:t>
                                </m:r>
                                <m:d>
                                  <m:dPr>
                                    <m:begChr m:val="|"/>
                                    <m:endChr m:val="⟩"/>
                                    <m:ctrlPr>
                                      <a:rPr lang="en-US" sz="2200" i="1">
                                        <a:latin typeface="Cambria Math" panose="02040503050406030204" pitchFamily="18" charset="0"/>
                                      </a:rPr>
                                    </m:ctrlPr>
                                  </m:dPr>
                                  <m:e>
                                    <m:r>
                                      <a:rPr lang="en-US" sz="2200">
                                        <a:latin typeface="Cambria Math" panose="02040503050406030204" pitchFamily="18" charset="0"/>
                                      </a:rPr>
                                      <m:t>𝑏</m:t>
                                    </m:r>
                                  </m:e>
                                </m:d>
                              </m:oMath>
                            </m:oMathPara>
                          </a14:m>
                          <a:endParaRPr lang="en-US" sz="2200" dirty="0"/>
                        </a:p>
                        <a:p>
                          <a:pPr/>
                          <a14:m>
                            <m:oMathPara xmlns:m="http://schemas.openxmlformats.org/officeDocument/2006/math">
                              <m:oMathParaPr>
                                <m:jc m:val="centerGroup"/>
                              </m:oMathParaPr>
                              <m:oMath xmlns:m="http://schemas.openxmlformats.org/officeDocument/2006/math">
                                <m:r>
                                  <a:rPr lang="en-US" sz="2200" smtClean="0">
                                    <a:latin typeface="Cambria Math" panose="02040503050406030204" pitchFamily="18" charset="0"/>
                                  </a:rPr>
                                  <m:t>⟨</m:t>
                                </m:r>
                                <m:r>
                                  <a:rPr lang="en-US" sz="2200">
                                    <a:latin typeface="Cambria Math" panose="02040503050406030204" pitchFamily="18" charset="0"/>
                                  </a:rPr>
                                  <m:t>𝑧𝑎</m:t>
                                </m:r>
                                <m:d>
                                  <m:dPr>
                                    <m:begChr m:val="|"/>
                                    <m:endChr m:val="⟩"/>
                                    <m:ctrlPr>
                                      <a:rPr lang="en-US" sz="2200" i="1">
                                        <a:latin typeface="Cambria Math" panose="02040503050406030204" pitchFamily="18" charset="0"/>
                                      </a:rPr>
                                    </m:ctrlPr>
                                  </m:dPr>
                                  <m:e>
                                    <m:r>
                                      <a:rPr lang="en-US" sz="2200">
                                        <a:latin typeface="Cambria Math" panose="02040503050406030204" pitchFamily="18" charset="0"/>
                                      </a:rPr>
                                      <m:t>𝑏</m:t>
                                    </m:r>
                                  </m:e>
                                </m:d>
                                <m:r>
                                  <a:rPr lang="en-US" sz="2200">
                                    <a:latin typeface="Cambria Math" panose="02040503050406030204" pitchFamily="18" charset="0"/>
                                  </a:rPr>
                                  <m:t>=</m:t>
                                </m:r>
                                <m:sSup>
                                  <m:sSupPr>
                                    <m:ctrlPr>
                                      <a:rPr lang="en-US" sz="2200" i="1">
                                        <a:latin typeface="Cambria Math" panose="02040503050406030204" pitchFamily="18" charset="0"/>
                                      </a:rPr>
                                    </m:ctrlPr>
                                  </m:sSupPr>
                                  <m:e>
                                    <m:r>
                                      <a:rPr lang="en-US" sz="2200">
                                        <a:latin typeface="Cambria Math" panose="02040503050406030204" pitchFamily="18" charset="0"/>
                                      </a:rPr>
                                      <m:t>𝑧</m:t>
                                    </m:r>
                                  </m:e>
                                  <m:sup>
                                    <m:r>
                                      <a:rPr lang="en-US" sz="2200">
                                        <a:latin typeface="Cambria Math" panose="02040503050406030204" pitchFamily="18" charset="0"/>
                                      </a:rPr>
                                      <m:t>∗</m:t>
                                    </m:r>
                                  </m:sup>
                                </m:sSup>
                                <m:r>
                                  <a:rPr lang="en-US" sz="2200">
                                    <a:latin typeface="Cambria Math" panose="02040503050406030204" pitchFamily="18" charset="0"/>
                                  </a:rPr>
                                  <m:t>⟨</m:t>
                                </m:r>
                                <m:r>
                                  <a:rPr lang="en-US" sz="2200">
                                    <a:latin typeface="Cambria Math" panose="02040503050406030204" pitchFamily="18" charset="0"/>
                                  </a:rPr>
                                  <m:t>𝑎</m:t>
                                </m:r>
                                <m:d>
                                  <m:dPr>
                                    <m:begChr m:val="|"/>
                                    <m:endChr m:val="⟩"/>
                                    <m:ctrlPr>
                                      <a:rPr lang="en-US" sz="2200" i="1">
                                        <a:latin typeface="Cambria Math" panose="02040503050406030204" pitchFamily="18" charset="0"/>
                                      </a:rPr>
                                    </m:ctrlPr>
                                  </m:dPr>
                                  <m:e>
                                    <m:r>
                                      <a:rPr lang="en-US" sz="2200">
                                        <a:latin typeface="Cambria Math" panose="02040503050406030204" pitchFamily="18" charset="0"/>
                                      </a:rPr>
                                      <m:t>𝑏</m:t>
                                    </m:r>
                                  </m:e>
                                </m:d>
                              </m:oMath>
                            </m:oMathPara>
                          </a14:m>
                          <a:endParaRPr lang="en-US" sz="2200" dirty="0">
                            <a:solidFill>
                              <a:schemeClr val="tx1"/>
                            </a:solidFill>
                          </a:endParaRPr>
                        </a:p>
                      </a:txBody>
                      <a:tcPr anchor="ctr"/>
                    </a:tc>
                    <a:extLst>
                      <a:ext uri="{0D108BD9-81ED-4DB2-BD59-A6C34878D82A}">
                        <a16:rowId xmlns:a16="http://schemas.microsoft.com/office/drawing/2014/main" val="3785367197"/>
                      </a:ext>
                    </a:extLst>
                  </a:tr>
                </a:tbl>
              </a:graphicData>
            </a:graphic>
          </p:graphicFrame>
        </mc:Choice>
        <mc:Fallback xmlns="">
          <p:graphicFrame>
            <p:nvGraphicFramePr>
              <p:cNvPr id="4" name="Table 3">
                <a:extLst>
                  <a:ext uri="{FF2B5EF4-FFF2-40B4-BE49-F238E27FC236}">
                    <a16:creationId xmlns:a16="http://schemas.microsoft.com/office/drawing/2014/main" id="{F6E6E415-9D49-F44C-85E5-7F21133660B7}"/>
                  </a:ext>
                </a:extLst>
              </p:cNvPr>
              <p:cNvGraphicFramePr>
                <a:graphicFrameLocks noGrp="1"/>
              </p:cNvGraphicFramePr>
              <p:nvPr>
                <p:extLst>
                  <p:ext uri="{D42A27DB-BD31-4B8C-83A1-F6EECF244321}">
                    <p14:modId xmlns:p14="http://schemas.microsoft.com/office/powerpoint/2010/main" val="611293217"/>
                  </p:ext>
                </p:extLst>
              </p:nvPr>
            </p:nvGraphicFramePr>
            <p:xfrm>
              <a:off x="184347" y="1789178"/>
              <a:ext cx="11578866" cy="4307459"/>
            </p:xfrm>
            <a:graphic>
              <a:graphicData uri="http://schemas.openxmlformats.org/drawingml/2006/table">
                <a:tbl>
                  <a:tblPr bandRow="1">
                    <a:tableStyleId>{5FD0F851-EC5A-4D38-B0AD-8093EC10F338}</a:tableStyleId>
                  </a:tblPr>
                  <a:tblGrid>
                    <a:gridCol w="7502812">
                      <a:extLst>
                        <a:ext uri="{9D8B030D-6E8A-4147-A177-3AD203B41FA5}">
                          <a16:colId xmlns:a16="http://schemas.microsoft.com/office/drawing/2014/main" val="141558605"/>
                        </a:ext>
                      </a:extLst>
                    </a:gridCol>
                    <a:gridCol w="4076054">
                      <a:extLst>
                        <a:ext uri="{9D8B030D-6E8A-4147-A177-3AD203B41FA5}">
                          <a16:colId xmlns:a16="http://schemas.microsoft.com/office/drawing/2014/main" val="1572730598"/>
                        </a:ext>
                      </a:extLst>
                    </a:gridCol>
                  </a:tblGrid>
                  <a:tr h="497459">
                    <a:tc>
                      <a:txBody>
                        <a:bodyPr/>
                        <a:lstStyle/>
                        <a:p>
                          <a:r>
                            <a:rPr lang="en-ZA" sz="2200" dirty="0">
                              <a:latin typeface="+mj-lt"/>
                            </a:rPr>
                            <a:t>The norm:  the square root of its inner product with itself.</a:t>
                          </a:r>
                          <a:endParaRPr lang="en-US" sz="2200" dirty="0">
                            <a:latin typeface="+mj-lt"/>
                          </a:endParaRPr>
                        </a:p>
                      </a:txBody>
                      <a:tcPr anchor="ctr"/>
                    </a:tc>
                    <a:tc>
                      <a:txBody>
                        <a:bodyPr/>
                        <a:lstStyle/>
                        <a:p>
                          <a:endParaRPr lang="en-US"/>
                        </a:p>
                      </a:txBody>
                      <a:tcPr anchor="ctr">
                        <a:blipFill>
                          <a:blip r:embed="rId3"/>
                          <a:stretch>
                            <a:fillRect l="-184424" r="312" b="-874359"/>
                          </a:stretch>
                        </a:blipFill>
                      </a:tcPr>
                    </a:tc>
                    <a:extLst>
                      <a:ext uri="{0D108BD9-81ED-4DB2-BD59-A6C34878D82A}">
                        <a16:rowId xmlns:a16="http://schemas.microsoft.com/office/drawing/2014/main" val="2097916927"/>
                      </a:ext>
                    </a:extLst>
                  </a:tr>
                  <a:tr h="1097280">
                    <a:tc>
                      <a:txBody>
                        <a:bodyPr/>
                        <a:lstStyle/>
                        <a:p>
                          <a:endParaRPr lang="en-ZA" sz="2200" dirty="0">
                            <a:latin typeface="+mj-lt"/>
                          </a:endParaRPr>
                        </a:p>
                        <a:p>
                          <a:r>
                            <a:rPr lang="en-ZA" sz="2200" dirty="0">
                              <a:latin typeface="+mj-lt"/>
                            </a:rPr>
                            <a:t>A vector is normalized, if its inner product with itself equals 1.</a:t>
                          </a:r>
                        </a:p>
                        <a:p>
                          <a:endParaRPr lang="en-US" sz="2200" dirty="0">
                            <a:latin typeface="+mj-lt"/>
                          </a:endParaRPr>
                        </a:p>
                      </a:txBody>
                      <a:tcPr anchor="ctr"/>
                    </a:tc>
                    <a:tc>
                      <a:txBody>
                        <a:bodyPr/>
                        <a:lstStyle/>
                        <a:p>
                          <a:endParaRPr lang="en-US"/>
                        </a:p>
                      </a:txBody>
                      <a:tcPr anchor="ctr">
                        <a:blipFill>
                          <a:blip r:embed="rId3"/>
                          <a:stretch>
                            <a:fillRect l="-184424" t="-44828" r="312" b="-291954"/>
                          </a:stretch>
                        </a:blipFill>
                      </a:tcPr>
                    </a:tc>
                    <a:extLst>
                      <a:ext uri="{0D108BD9-81ED-4DB2-BD59-A6C34878D82A}">
                        <a16:rowId xmlns:a16="http://schemas.microsoft.com/office/drawing/2014/main" val="3896350643"/>
                      </a:ext>
                    </a:extLst>
                  </a:tr>
                  <a:tr h="426720">
                    <a:tc>
                      <a:txBody>
                        <a:bodyPr/>
                        <a:lstStyle/>
                        <a:p>
                          <a:r>
                            <a:rPr lang="en-ZA" sz="2200" dirty="0">
                              <a:latin typeface="+mj-lt"/>
                            </a:rPr>
                            <a:t>Two vectors are orthogonal if their inner product is 0.</a:t>
                          </a:r>
                        </a:p>
                      </a:txBody>
                      <a:tcPr anchor="ctr"/>
                    </a:tc>
                    <a:tc>
                      <a:txBody>
                        <a:bodyPr/>
                        <a:lstStyle/>
                        <a:p>
                          <a:endParaRPr lang="en-US"/>
                        </a:p>
                      </a:txBody>
                      <a:tcPr anchor="ctr">
                        <a:blipFill>
                          <a:blip r:embed="rId3"/>
                          <a:stretch>
                            <a:fillRect l="-184424" t="-370588" r="312" b="-647059"/>
                          </a:stretch>
                        </a:blipFill>
                      </a:tcPr>
                    </a:tc>
                    <a:extLst>
                      <a:ext uri="{0D108BD9-81ED-4DB2-BD59-A6C34878D82A}">
                        <a16:rowId xmlns:a16="http://schemas.microsoft.com/office/drawing/2014/main" val="2592781505"/>
                      </a:ext>
                    </a:extLst>
                  </a:tr>
                  <a:tr h="1097280">
                    <a:tc>
                      <a:txBody>
                        <a:bodyPr/>
                        <a:lstStyle/>
                        <a:p>
                          <a:endParaRPr lang="en-ZA" sz="2200" dirty="0"/>
                        </a:p>
                        <a:p>
                          <a:r>
                            <a:rPr lang="en-ZA" sz="2200" dirty="0">
                              <a:latin typeface="+mj-lt"/>
                            </a:rPr>
                            <a:t>The condition of orthonormality.</a:t>
                          </a:r>
                        </a:p>
                        <a:p>
                          <a:endParaRPr lang="en-US" sz="2200" dirty="0">
                            <a:latin typeface="+mj-lt"/>
                          </a:endParaRPr>
                        </a:p>
                      </a:txBody>
                      <a:tcPr anchor="ctr"/>
                    </a:tc>
                    <a:tc>
                      <a:txBody>
                        <a:bodyPr/>
                        <a:lstStyle/>
                        <a:p>
                          <a:endParaRPr lang="en-US"/>
                        </a:p>
                      </a:txBody>
                      <a:tcPr anchor="ctr">
                        <a:blipFill>
                          <a:blip r:embed="rId3"/>
                          <a:stretch>
                            <a:fillRect l="-184424" t="-183908" r="312" b="-152874"/>
                          </a:stretch>
                        </a:blipFill>
                      </a:tcPr>
                    </a:tc>
                    <a:extLst>
                      <a:ext uri="{0D108BD9-81ED-4DB2-BD59-A6C34878D82A}">
                        <a16:rowId xmlns:a16="http://schemas.microsoft.com/office/drawing/2014/main" val="2324877703"/>
                      </a:ext>
                    </a:extLst>
                  </a:tr>
                  <a:tr h="426720">
                    <a:tc>
                      <a:txBody>
                        <a:bodyPr/>
                        <a:lstStyle/>
                        <a:p>
                          <a:r>
                            <a:rPr lang="en-ZA" sz="2200" dirty="0">
                              <a:latin typeface="+mj-lt"/>
                            </a:rPr>
                            <a:t>The conjugate symmetry.</a:t>
                          </a:r>
                          <a:endParaRPr lang="en-US" sz="2200" dirty="0">
                            <a:latin typeface="+mj-lt"/>
                          </a:endParaRPr>
                        </a:p>
                      </a:txBody>
                      <a:tcPr anchor="ctr"/>
                    </a:tc>
                    <a:tc>
                      <a:txBody>
                        <a:bodyPr/>
                        <a:lstStyle/>
                        <a:p>
                          <a:endParaRPr lang="en-US"/>
                        </a:p>
                      </a:txBody>
                      <a:tcPr anchor="ctr">
                        <a:blipFill>
                          <a:blip r:embed="rId3"/>
                          <a:stretch>
                            <a:fillRect l="-184424" t="-726471" r="312" b="-291176"/>
                          </a:stretch>
                        </a:blipFill>
                      </a:tcPr>
                    </a:tc>
                    <a:extLst>
                      <a:ext uri="{0D108BD9-81ED-4DB2-BD59-A6C34878D82A}">
                        <a16:rowId xmlns:a16="http://schemas.microsoft.com/office/drawing/2014/main" val="3152493578"/>
                      </a:ext>
                    </a:extLst>
                  </a:tr>
                  <a:tr h="762000">
                    <a:tc>
                      <a:txBody>
                        <a:bodyPr/>
                        <a:lstStyle/>
                        <a:p>
                          <a:r>
                            <a:rPr lang="en-ZA" sz="2200" dirty="0">
                              <a:latin typeface="+mj-lt"/>
                            </a:rPr>
                            <a:t>Linearity with respect to the ket vector.</a:t>
                          </a:r>
                          <a:endParaRPr lang="en-US" sz="2200" b="1" dirty="0">
                            <a:latin typeface="+mj-lt"/>
                          </a:endParaRPr>
                        </a:p>
                      </a:txBody>
                      <a:tcPr anchor="ctr"/>
                    </a:tc>
                    <a:tc>
                      <a:txBody>
                        <a:bodyPr/>
                        <a:lstStyle/>
                        <a:p>
                          <a:endParaRPr lang="en-US"/>
                        </a:p>
                      </a:txBody>
                      <a:tcPr anchor="ctr">
                        <a:blipFill>
                          <a:blip r:embed="rId3"/>
                          <a:stretch>
                            <a:fillRect l="-184424" t="-468333" r="312" b="-65000"/>
                          </a:stretch>
                        </a:blipFill>
                      </a:tcPr>
                    </a:tc>
                    <a:extLst>
                      <a:ext uri="{0D108BD9-81ED-4DB2-BD59-A6C34878D82A}">
                        <a16:rowId xmlns:a16="http://schemas.microsoft.com/office/drawing/2014/main" val="3785367197"/>
                      </a:ext>
                    </a:extLst>
                  </a:tr>
                </a:tbl>
              </a:graphicData>
            </a:graphic>
          </p:graphicFrame>
        </mc:Fallback>
      </mc:AlternateContent>
      <p:pic>
        <p:nvPicPr>
          <p:cNvPr id="5" name="Picture 4">
            <a:extLst>
              <a:ext uri="{FF2B5EF4-FFF2-40B4-BE49-F238E27FC236}">
                <a16:creationId xmlns:a16="http://schemas.microsoft.com/office/drawing/2014/main" id="{AEA595D4-6121-464C-B9BC-F140E50D6DF1}"/>
              </a:ext>
            </a:extLst>
          </p:cNvPr>
          <p:cNvPicPr>
            <a:picLocks noChangeAspect="1"/>
          </p:cNvPicPr>
          <p:nvPr/>
        </p:nvPicPr>
        <p:blipFill>
          <a:blip r:embed="rId4"/>
          <a:stretch>
            <a:fillRect/>
          </a:stretch>
        </p:blipFill>
        <p:spPr>
          <a:xfrm>
            <a:off x="8617918" y="0"/>
            <a:ext cx="3370021" cy="1691592"/>
          </a:xfrm>
          <a:prstGeom prst="rect">
            <a:avLst/>
          </a:prstGeom>
        </p:spPr>
      </p:pic>
    </p:spTree>
    <p:extLst>
      <p:ext uri="{BB962C8B-B14F-4D97-AF65-F5344CB8AC3E}">
        <p14:creationId xmlns:p14="http://schemas.microsoft.com/office/powerpoint/2010/main" val="32862213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ounded Rectangle 41">
            <a:extLst>
              <a:ext uri="{FF2B5EF4-FFF2-40B4-BE49-F238E27FC236}">
                <a16:creationId xmlns:a16="http://schemas.microsoft.com/office/drawing/2014/main" id="{73DAA793-6F54-0845-A6F7-6DA5BCE810D2}"/>
              </a:ext>
            </a:extLst>
          </p:cNvPr>
          <p:cNvSpPr/>
          <p:nvPr/>
        </p:nvSpPr>
        <p:spPr>
          <a:xfrm>
            <a:off x="8311327" y="6070907"/>
            <a:ext cx="2274946" cy="540227"/>
          </a:xfrm>
          <a:prstGeom prst="roundRect">
            <a:avLst>
              <a:gd name="adj" fmla="val 10533"/>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37" name="Rounded Rectangle 36">
            <a:extLst>
              <a:ext uri="{FF2B5EF4-FFF2-40B4-BE49-F238E27FC236}">
                <a16:creationId xmlns:a16="http://schemas.microsoft.com/office/drawing/2014/main" id="{35CB0639-6E07-2040-B62E-5A562047C5A9}"/>
              </a:ext>
            </a:extLst>
          </p:cNvPr>
          <p:cNvSpPr/>
          <p:nvPr/>
        </p:nvSpPr>
        <p:spPr>
          <a:xfrm>
            <a:off x="5996650" y="1071857"/>
            <a:ext cx="6075918" cy="2567628"/>
          </a:xfrm>
          <a:prstGeom prst="roundRect">
            <a:avLst>
              <a:gd name="adj" fmla="val 10533"/>
            </a:avLst>
          </a:prstGeom>
          <a:solidFill>
            <a:srgbClr val="C7E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3" name="Slide Number Placeholder 2">
            <a:extLst>
              <a:ext uri="{FF2B5EF4-FFF2-40B4-BE49-F238E27FC236}">
                <a16:creationId xmlns:a16="http://schemas.microsoft.com/office/drawing/2014/main" id="{963BA209-F9CC-EF4D-A2EE-CE47C38D9E26}"/>
              </a:ext>
            </a:extLst>
          </p:cNvPr>
          <p:cNvSpPr>
            <a:spLocks noGrp="1"/>
          </p:cNvSpPr>
          <p:nvPr>
            <p:ph type="sldNum" sz="quarter" idx="12"/>
          </p:nvPr>
        </p:nvSpPr>
        <p:spPr/>
        <p:txBody>
          <a:bodyPr/>
          <a:lstStyle/>
          <a:p>
            <a:fld id="{591A223C-FA10-BC46-A853-03BA373D023C}" type="slidenum">
              <a:rPr lang="en-US" smtClean="0"/>
              <a:t>38</a:t>
            </a:fld>
            <a:endParaRPr lang="en-US"/>
          </a:p>
        </p:txBody>
      </p:sp>
      <p:sp>
        <p:nvSpPr>
          <p:cNvPr id="2" name="Title 1">
            <a:extLst>
              <a:ext uri="{FF2B5EF4-FFF2-40B4-BE49-F238E27FC236}">
                <a16:creationId xmlns:a16="http://schemas.microsoft.com/office/drawing/2014/main" id="{3A91AF02-09B0-E642-9F77-97A7DFA2E384}"/>
              </a:ext>
            </a:extLst>
          </p:cNvPr>
          <p:cNvSpPr>
            <a:spLocks noGrp="1"/>
          </p:cNvSpPr>
          <p:nvPr>
            <p:ph type="title"/>
          </p:nvPr>
        </p:nvSpPr>
        <p:spPr/>
        <p:txBody>
          <a:bodyPr/>
          <a:lstStyle/>
          <a:p>
            <a:r>
              <a:rPr lang="en-US" dirty="0"/>
              <a:t>Outer product</a:t>
            </a:r>
          </a:p>
        </p:txBody>
      </p:sp>
      <p:sp>
        <p:nvSpPr>
          <p:cNvPr id="6" name="Rounded Rectangle 5">
            <a:extLst>
              <a:ext uri="{FF2B5EF4-FFF2-40B4-BE49-F238E27FC236}">
                <a16:creationId xmlns:a16="http://schemas.microsoft.com/office/drawing/2014/main" id="{F406E3E6-CB44-C54D-98B2-106ABA313F16}"/>
              </a:ext>
            </a:extLst>
          </p:cNvPr>
          <p:cNvSpPr/>
          <p:nvPr/>
        </p:nvSpPr>
        <p:spPr>
          <a:xfrm>
            <a:off x="106016" y="1040403"/>
            <a:ext cx="5725158" cy="3119018"/>
          </a:xfrm>
          <a:prstGeom prst="roundRect">
            <a:avLst>
              <a:gd name="adj" fmla="val 10533"/>
            </a:avLst>
          </a:prstGeom>
          <a:solidFill>
            <a:srgbClr val="FFFD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7" name="Rectangle 6">
            <a:extLst>
              <a:ext uri="{FF2B5EF4-FFF2-40B4-BE49-F238E27FC236}">
                <a16:creationId xmlns:a16="http://schemas.microsoft.com/office/drawing/2014/main" id="{370EAD5D-A1FE-FB40-9C6F-C21BB3CEA666}"/>
              </a:ext>
            </a:extLst>
          </p:cNvPr>
          <p:cNvSpPr/>
          <p:nvPr/>
        </p:nvSpPr>
        <p:spPr>
          <a:xfrm>
            <a:off x="165976" y="1602112"/>
            <a:ext cx="5620227" cy="707886"/>
          </a:xfrm>
          <a:prstGeom prst="rect">
            <a:avLst/>
          </a:prstGeom>
        </p:spPr>
        <p:txBody>
          <a:bodyPr wrap="square">
            <a:spAutoFit/>
          </a:bodyPr>
          <a:lstStyle/>
          <a:p>
            <a:pPr algn="ctr"/>
            <a:r>
              <a:rPr lang="en-ZA" sz="2000" dirty="0"/>
              <a:t>The outer product is the product of a ket vector and a bra vector. The outer product produces a matrix.</a:t>
            </a:r>
          </a:p>
        </p:txBody>
      </p:sp>
      <p:sp>
        <p:nvSpPr>
          <p:cNvPr id="8" name="TextBox 7">
            <a:extLst>
              <a:ext uri="{FF2B5EF4-FFF2-40B4-BE49-F238E27FC236}">
                <a16:creationId xmlns:a16="http://schemas.microsoft.com/office/drawing/2014/main" id="{05170C4A-F430-B649-B300-02BCBB4F20D7}"/>
              </a:ext>
            </a:extLst>
          </p:cNvPr>
          <p:cNvSpPr txBox="1"/>
          <p:nvPr/>
        </p:nvSpPr>
        <p:spPr>
          <a:xfrm>
            <a:off x="106016" y="1131817"/>
            <a:ext cx="5725158" cy="461665"/>
          </a:xfrm>
          <a:prstGeom prst="rect">
            <a:avLst/>
          </a:prstGeom>
          <a:noFill/>
        </p:spPr>
        <p:txBody>
          <a:bodyPr wrap="square" rtlCol="0">
            <a:spAutoFit/>
          </a:bodyPr>
          <a:lstStyle/>
          <a:p>
            <a:pPr algn="ctr"/>
            <a:r>
              <a:rPr lang="en-US" sz="2400" dirty="0"/>
              <a:t>Outer product</a:t>
            </a:r>
          </a:p>
        </p:txBody>
      </p:sp>
      <p:sp>
        <p:nvSpPr>
          <p:cNvPr id="20" name="TextBox 19">
            <a:extLst>
              <a:ext uri="{FF2B5EF4-FFF2-40B4-BE49-F238E27FC236}">
                <a16:creationId xmlns:a16="http://schemas.microsoft.com/office/drawing/2014/main" id="{49428F6A-7692-7B47-9766-BB77FDCA2A31}"/>
              </a:ext>
            </a:extLst>
          </p:cNvPr>
          <p:cNvSpPr txBox="1"/>
          <p:nvPr/>
        </p:nvSpPr>
        <p:spPr>
          <a:xfrm>
            <a:off x="5996650" y="1131817"/>
            <a:ext cx="6042271" cy="461665"/>
          </a:xfrm>
          <a:prstGeom prst="rect">
            <a:avLst/>
          </a:prstGeom>
          <a:noFill/>
        </p:spPr>
        <p:txBody>
          <a:bodyPr wrap="square" rtlCol="0">
            <a:spAutoFit/>
          </a:bodyPr>
          <a:lstStyle/>
          <a:p>
            <a:pPr algn="ctr"/>
            <a:r>
              <a:rPr lang="en-US" sz="2400" dirty="0"/>
              <a:t>Outer product with itself</a:t>
            </a:r>
          </a:p>
        </p:txBody>
      </p: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D85F7DE3-AB69-EF46-9B97-D5362CA2C532}"/>
                  </a:ext>
                </a:extLst>
              </p:cNvPr>
              <p:cNvSpPr txBox="1"/>
              <p:nvPr/>
            </p:nvSpPr>
            <p:spPr>
              <a:xfrm>
                <a:off x="5996650" y="2585042"/>
                <a:ext cx="6195350" cy="922176"/>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ZA" sz="2400" i="1">
                          <a:latin typeface="Cambria Math" panose="02040503050406030204" pitchFamily="18" charset="0"/>
                          <a:ea typeface="Cambria Math" panose="02040503050406030204" pitchFamily="18" charset="0"/>
                        </a:rPr>
                        <m:t>𝜌</m:t>
                      </m:r>
                      <m:r>
                        <a:rPr lang="en-US" sz="2400" i="1">
                          <a:latin typeface="Cambria Math" panose="02040503050406030204" pitchFamily="18" charset="0"/>
                          <a:ea typeface="Cambria Math" panose="02040503050406030204" pitchFamily="18" charset="0"/>
                        </a:rPr>
                        <m:t>=</m:t>
                      </m:r>
                      <m:d>
                        <m:dPr>
                          <m:begChr m:val="|"/>
                          <m:endChr m:val="⟩"/>
                          <m:ctrlPr>
                            <a:rPr lang="en-ZA" sz="2400" i="1" smtClean="0">
                              <a:latin typeface="Cambria Math" panose="02040503050406030204" pitchFamily="18" charset="0"/>
                            </a:rPr>
                          </m:ctrlPr>
                        </m:dPr>
                        <m:e>
                          <m:r>
                            <a:rPr lang="sr-Latn-RS" sz="2400" i="1">
                              <a:latin typeface="Cambria Math" panose="02040503050406030204" pitchFamily="18" charset="0"/>
                            </a:rPr>
                            <m:t>𝑎</m:t>
                          </m:r>
                        </m:e>
                      </m:d>
                      <m:r>
                        <a:rPr lang="sr-Latn-RS" sz="2400">
                          <a:latin typeface="Cambria Math" panose="02040503050406030204" pitchFamily="18" charset="0"/>
                        </a:rPr>
                        <m:t>⟨</m:t>
                      </m:r>
                      <m:r>
                        <m:rPr>
                          <m:sty m:val="p"/>
                        </m:rPr>
                        <a:rPr lang="en-US" sz="2400" b="0" i="0" smtClean="0">
                          <a:latin typeface="Cambria Math" panose="02040503050406030204" pitchFamily="18" charset="0"/>
                        </a:rPr>
                        <m:t>a</m:t>
                      </m:r>
                      <m:r>
                        <a:rPr lang="sr-Latn-RS" sz="2400">
                          <a:latin typeface="Cambria Math" panose="02040503050406030204" pitchFamily="18" charset="0"/>
                        </a:rPr>
                        <m:t>|</m:t>
                      </m:r>
                      <m:r>
                        <a:rPr lang="sr-Latn-RS" sz="2400" i="1">
                          <a:latin typeface="Cambria Math" panose="02040503050406030204" pitchFamily="18" charset="0"/>
                        </a:rPr>
                        <m:t>=</m:t>
                      </m:r>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sSubSup>
                                  <m:sSubSupPr>
                                    <m:ctrlPr>
                                      <a:rPr lang="en-ZA" sz="2400" i="1">
                                        <a:latin typeface="Cambria Math" panose="02040503050406030204" pitchFamily="18" charset="0"/>
                                      </a:rPr>
                                    </m:ctrlPr>
                                  </m:sSubSupPr>
                                  <m:e>
                                    <m:r>
                                      <a:rPr lang="en-US" sz="2400" b="0" i="1" smtClean="0">
                                        <a:latin typeface="Cambria Math" panose="02040503050406030204" pitchFamily="18" charset="0"/>
                                      </a:rPr>
                                      <m:t>𝑎</m:t>
                                    </m:r>
                                  </m:e>
                                  <m:sub>
                                    <m:r>
                                      <a:rPr lang="sr-Latn-RS" sz="2400" i="1">
                                        <a:latin typeface="Cambria Math" panose="02040503050406030204" pitchFamily="18" charset="0"/>
                                      </a:rPr>
                                      <m:t>1</m:t>
                                    </m:r>
                                  </m:sub>
                                  <m:sup>
                                    <m:r>
                                      <a:rPr lang="sr-Latn-RS" sz="2400" i="1">
                                        <a:latin typeface="Cambria Math" panose="02040503050406030204" pitchFamily="18" charset="0"/>
                                      </a:rPr>
                                      <m:t>∗</m:t>
                                    </m:r>
                                  </m:sup>
                                </m:sSubSup>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sSubSup>
                                  <m:sSubSupPr>
                                    <m:ctrlPr>
                                      <a:rPr lang="en-ZA" sz="2400" i="1">
                                        <a:latin typeface="Cambria Math" panose="02040503050406030204" pitchFamily="18" charset="0"/>
                                      </a:rPr>
                                    </m:ctrlPr>
                                  </m:sSubSupPr>
                                  <m:e>
                                    <m:r>
                                      <a:rPr lang="en-US" sz="2400" b="0" i="1" smtClean="0">
                                        <a:latin typeface="Cambria Math" panose="02040503050406030204" pitchFamily="18" charset="0"/>
                                      </a:rPr>
                                      <m:t>𝑎</m:t>
                                    </m:r>
                                  </m:e>
                                  <m:sub>
                                    <m:r>
                                      <a:rPr lang="sr-Latn-RS" sz="2400" i="1">
                                        <a:latin typeface="Cambria Math" panose="02040503050406030204" pitchFamily="18" charset="0"/>
                                      </a:rPr>
                                      <m:t>2</m:t>
                                    </m:r>
                                  </m:sub>
                                  <m:sup>
                                    <m:r>
                                      <a:rPr lang="sr-Latn-RS" sz="2400" i="1">
                                        <a:latin typeface="Cambria Math" panose="02040503050406030204" pitchFamily="18" charset="0"/>
                                      </a:rPr>
                                      <m:t>∗</m:t>
                                    </m:r>
                                  </m:sup>
                                </m:sSubSup>
                              </m:e>
                            </m:m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2</m:t>
                                    </m:r>
                                  </m:sub>
                                </m:sSub>
                                <m:sSubSup>
                                  <m:sSubSupPr>
                                    <m:ctrlPr>
                                      <a:rPr lang="en-ZA" sz="2400" i="1">
                                        <a:latin typeface="Cambria Math" panose="02040503050406030204" pitchFamily="18" charset="0"/>
                                      </a:rPr>
                                    </m:ctrlPr>
                                  </m:sSubSupPr>
                                  <m:e>
                                    <m:r>
                                      <a:rPr lang="en-US" sz="2400" b="0" i="1" smtClean="0">
                                        <a:latin typeface="Cambria Math" panose="02040503050406030204" pitchFamily="18" charset="0"/>
                                      </a:rPr>
                                      <m:t>𝑎</m:t>
                                    </m:r>
                                  </m:e>
                                  <m:sub>
                                    <m:r>
                                      <a:rPr lang="sr-Latn-RS" sz="2400" i="1">
                                        <a:latin typeface="Cambria Math" panose="02040503050406030204" pitchFamily="18" charset="0"/>
                                      </a:rPr>
                                      <m:t>1</m:t>
                                    </m:r>
                                  </m:sub>
                                  <m:sup>
                                    <m:r>
                                      <a:rPr lang="sr-Latn-RS" sz="2400" i="1">
                                        <a:latin typeface="Cambria Math" panose="02040503050406030204" pitchFamily="18" charset="0"/>
                                      </a:rPr>
                                      <m:t>∗</m:t>
                                    </m:r>
                                  </m:sup>
                                </m:sSubSup>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2</m:t>
                                    </m:r>
                                  </m:sub>
                                </m:sSub>
                                <m:sSubSup>
                                  <m:sSubSupPr>
                                    <m:ctrlPr>
                                      <a:rPr lang="en-ZA" sz="2400" i="1">
                                        <a:latin typeface="Cambria Math" panose="02040503050406030204" pitchFamily="18" charset="0"/>
                                      </a:rPr>
                                    </m:ctrlPr>
                                  </m:sSubSupPr>
                                  <m:e>
                                    <m:r>
                                      <a:rPr lang="en-US" sz="2400" b="0" i="1" smtClean="0">
                                        <a:latin typeface="Cambria Math" panose="02040503050406030204" pitchFamily="18" charset="0"/>
                                      </a:rPr>
                                      <m:t>𝑎</m:t>
                                    </m:r>
                                  </m:e>
                                  <m:sub>
                                    <m:r>
                                      <a:rPr lang="sr-Latn-RS" sz="2400" i="1">
                                        <a:latin typeface="Cambria Math" panose="02040503050406030204" pitchFamily="18" charset="0"/>
                                      </a:rPr>
                                      <m:t>2</m:t>
                                    </m:r>
                                  </m:sub>
                                  <m:sup>
                                    <m:r>
                                      <a:rPr lang="sr-Latn-RS" sz="2400" i="1">
                                        <a:latin typeface="Cambria Math" panose="02040503050406030204" pitchFamily="18" charset="0"/>
                                      </a:rPr>
                                      <m:t>∗</m:t>
                                    </m:r>
                                  </m:sup>
                                </m:sSubSup>
                              </m:e>
                            </m:mr>
                          </m:m>
                        </m:e>
                      </m:d>
                      <m:r>
                        <a:rPr lang="sr-Latn-RS" sz="2400" i="1">
                          <a:latin typeface="Cambria Math" panose="02040503050406030204" pitchFamily="18" charset="0"/>
                        </a:rPr>
                        <m:t>=</m:t>
                      </m:r>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sSup>
                                  <m:sSupPr>
                                    <m:ctrlPr>
                                      <a:rPr lang="en-ZA" sz="2400" i="1" smtClean="0">
                                        <a:latin typeface="Cambria Math" panose="02040503050406030204" pitchFamily="18" charset="0"/>
                                      </a:rPr>
                                    </m:ctrlPr>
                                  </m:sSupPr>
                                  <m:e>
                                    <m:d>
                                      <m:dPr>
                                        <m:begChr m:val="|"/>
                                        <m:endChr m:val="|"/>
                                        <m:ctrlPr>
                                          <a:rPr lang="en-ZA" sz="2400" i="1" smtClean="0">
                                            <a:latin typeface="Cambria Math" panose="02040503050406030204" pitchFamily="18" charset="0"/>
                                          </a:rPr>
                                        </m:ctrlPr>
                                      </m:dP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e>
                                    </m:d>
                                  </m:e>
                                  <m:sup>
                                    <m:r>
                                      <a:rPr lang="en-US" sz="2400" b="0" i="1" smtClean="0">
                                        <a:latin typeface="Cambria Math" panose="02040503050406030204" pitchFamily="18" charset="0"/>
                                      </a:rPr>
                                      <m:t>2</m:t>
                                    </m:r>
                                  </m:sup>
                                </m:sSup>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sSubSup>
                                  <m:sSubSupPr>
                                    <m:ctrlPr>
                                      <a:rPr lang="en-ZA" sz="2400" i="1">
                                        <a:latin typeface="Cambria Math" panose="02040503050406030204" pitchFamily="18" charset="0"/>
                                      </a:rPr>
                                    </m:ctrlPr>
                                  </m:sSubSupPr>
                                  <m:e>
                                    <m:r>
                                      <a:rPr lang="en-US" sz="2400" i="1">
                                        <a:latin typeface="Cambria Math" panose="02040503050406030204" pitchFamily="18" charset="0"/>
                                      </a:rPr>
                                      <m:t>𝑎</m:t>
                                    </m:r>
                                  </m:e>
                                  <m:sub>
                                    <m:r>
                                      <a:rPr lang="sr-Latn-RS" sz="2400" i="1">
                                        <a:latin typeface="Cambria Math" panose="02040503050406030204" pitchFamily="18" charset="0"/>
                                      </a:rPr>
                                      <m:t>2</m:t>
                                    </m:r>
                                  </m:sub>
                                  <m:sup>
                                    <m:r>
                                      <a:rPr lang="sr-Latn-RS" sz="2400" i="1">
                                        <a:latin typeface="Cambria Math" panose="02040503050406030204" pitchFamily="18" charset="0"/>
                                      </a:rPr>
                                      <m:t>∗</m:t>
                                    </m:r>
                                  </m:sup>
                                </m:sSubSup>
                              </m:e>
                            </m:m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2</m:t>
                                    </m:r>
                                  </m:sub>
                                </m:sSub>
                                <m:sSubSup>
                                  <m:sSubSupPr>
                                    <m:ctrlPr>
                                      <a:rPr lang="en-ZA" sz="2400" i="1">
                                        <a:latin typeface="Cambria Math" panose="02040503050406030204" pitchFamily="18" charset="0"/>
                                      </a:rPr>
                                    </m:ctrlPr>
                                  </m:sSubSupPr>
                                  <m:e>
                                    <m:r>
                                      <a:rPr lang="en-US" sz="2400" i="1">
                                        <a:latin typeface="Cambria Math" panose="02040503050406030204" pitchFamily="18" charset="0"/>
                                      </a:rPr>
                                      <m:t>𝑎</m:t>
                                    </m:r>
                                  </m:e>
                                  <m:sub>
                                    <m:r>
                                      <a:rPr lang="sr-Latn-RS" sz="2400" i="1">
                                        <a:latin typeface="Cambria Math" panose="02040503050406030204" pitchFamily="18" charset="0"/>
                                      </a:rPr>
                                      <m:t>1</m:t>
                                    </m:r>
                                  </m:sub>
                                  <m:sup>
                                    <m:r>
                                      <a:rPr lang="sr-Latn-RS" sz="2400" i="1">
                                        <a:latin typeface="Cambria Math" panose="02040503050406030204" pitchFamily="18" charset="0"/>
                                      </a:rPr>
                                      <m:t>∗</m:t>
                                    </m:r>
                                  </m:sup>
                                </m:sSubSup>
                              </m:e>
                              <m:e>
                                <m:sSup>
                                  <m:sSupPr>
                                    <m:ctrlPr>
                                      <a:rPr lang="en-ZA" sz="2400" i="1">
                                        <a:latin typeface="Cambria Math" panose="02040503050406030204" pitchFamily="18" charset="0"/>
                                      </a:rPr>
                                    </m:ctrlPr>
                                  </m:sSupPr>
                                  <m:e>
                                    <m:d>
                                      <m:dPr>
                                        <m:begChr m:val="|"/>
                                        <m:endChr m:val="|"/>
                                        <m:ctrlPr>
                                          <a:rPr lang="en-ZA" sz="2400" i="1">
                                            <a:latin typeface="Cambria Math" panose="02040503050406030204" pitchFamily="18" charset="0"/>
                                          </a:rPr>
                                        </m:ctrlPr>
                                      </m:dP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b="0" i="1" smtClean="0">
                                                <a:latin typeface="Cambria Math" panose="02040503050406030204" pitchFamily="18" charset="0"/>
                                              </a:rPr>
                                              <m:t>2</m:t>
                                            </m:r>
                                          </m:sub>
                                        </m:sSub>
                                      </m:e>
                                    </m:d>
                                  </m:e>
                                  <m:sup>
                                    <m:r>
                                      <a:rPr lang="en-US" sz="2400" i="1">
                                        <a:latin typeface="Cambria Math" panose="02040503050406030204" pitchFamily="18" charset="0"/>
                                      </a:rPr>
                                      <m:t>2</m:t>
                                    </m:r>
                                  </m:sup>
                                </m:sSup>
                              </m:e>
                            </m:mr>
                          </m:m>
                        </m:e>
                      </m:d>
                    </m:oMath>
                  </m:oMathPara>
                </a14:m>
                <a:endParaRPr lang="en-US" sz="2400" dirty="0"/>
              </a:p>
            </p:txBody>
          </p:sp>
        </mc:Choice>
        <mc:Fallback>
          <p:sp>
            <p:nvSpPr>
              <p:cNvPr id="22" name="TextBox 21">
                <a:extLst>
                  <a:ext uri="{FF2B5EF4-FFF2-40B4-BE49-F238E27FC236}">
                    <a16:creationId xmlns:a16="http://schemas.microsoft.com/office/drawing/2014/main" id="{D85F7DE3-AB69-EF46-9B97-D5362CA2C532}"/>
                  </a:ext>
                </a:extLst>
              </p:cNvPr>
              <p:cNvSpPr txBox="1">
                <a:spLocks noRot="1" noChangeAspect="1" noMove="1" noResize="1" noEditPoints="1" noAdjustHandles="1" noChangeArrowheads="1" noChangeShapeType="1" noTextEdit="1"/>
              </p:cNvSpPr>
              <p:nvPr/>
            </p:nvSpPr>
            <p:spPr>
              <a:xfrm>
                <a:off x="5996650" y="2585042"/>
                <a:ext cx="6195350" cy="922176"/>
              </a:xfrm>
              <a:prstGeom prst="rect">
                <a:avLst/>
              </a:prstGeom>
              <a:blipFill>
                <a:blip r:embed="rId3"/>
                <a:stretch>
                  <a:fillRect/>
                </a:stretch>
              </a:blipFill>
            </p:spPr>
            <p:txBody>
              <a:bodyPr/>
              <a:lstStyle/>
              <a:p>
                <a:r>
                  <a:rPr lang="en-US">
                    <a:noFill/>
                  </a:rPr>
                  <a:t> </a:t>
                </a:r>
              </a:p>
            </p:txBody>
          </p:sp>
        </mc:Fallback>
      </mc:AlternateContent>
      <p:sp>
        <p:nvSpPr>
          <p:cNvPr id="30" name="Rounded Rectangle 29">
            <a:extLst>
              <a:ext uri="{FF2B5EF4-FFF2-40B4-BE49-F238E27FC236}">
                <a16:creationId xmlns:a16="http://schemas.microsoft.com/office/drawing/2014/main" id="{DB927F15-22EA-064E-BC67-CB744EE33E5D}"/>
              </a:ext>
            </a:extLst>
          </p:cNvPr>
          <p:cNvSpPr/>
          <p:nvPr/>
        </p:nvSpPr>
        <p:spPr>
          <a:xfrm>
            <a:off x="1101995" y="4701246"/>
            <a:ext cx="4626650" cy="1118907"/>
          </a:xfrm>
          <a:prstGeom prst="roundRect">
            <a:avLst>
              <a:gd name="adj" fmla="val 10533"/>
            </a:avLst>
          </a:prstGeom>
          <a:solidFill>
            <a:srgbClr val="F4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23" name="TextBox 22">
            <a:extLst>
              <a:ext uri="{FF2B5EF4-FFF2-40B4-BE49-F238E27FC236}">
                <a16:creationId xmlns:a16="http://schemas.microsoft.com/office/drawing/2014/main" id="{D5520BDC-EC0B-834F-98DE-44C07718AC27}"/>
              </a:ext>
            </a:extLst>
          </p:cNvPr>
          <p:cNvSpPr txBox="1"/>
          <p:nvPr/>
        </p:nvSpPr>
        <p:spPr>
          <a:xfrm>
            <a:off x="1912857" y="4754035"/>
            <a:ext cx="3004925" cy="400110"/>
          </a:xfrm>
          <a:prstGeom prst="rect">
            <a:avLst/>
          </a:prstGeom>
          <a:noFill/>
        </p:spPr>
        <p:txBody>
          <a:bodyPr wrap="none" rtlCol="0">
            <a:spAutoFit/>
          </a:bodyPr>
          <a:lstStyle/>
          <a:p>
            <a:r>
              <a:rPr lang="en-US" sz="2000" dirty="0"/>
              <a:t>diagonal and inner product</a:t>
            </a:r>
          </a:p>
        </p:txBody>
      </p:sp>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BF9798EB-3DE9-BC49-8339-0A09FD3C4269}"/>
                  </a:ext>
                </a:extLst>
              </p:cNvPr>
              <p:cNvSpPr txBox="1"/>
              <p:nvPr/>
            </p:nvSpPr>
            <p:spPr>
              <a:xfrm>
                <a:off x="1078725" y="5254525"/>
                <a:ext cx="4729179"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Tr</m:t>
                      </m:r>
                      <m:d>
                        <m:dPr>
                          <m:ctrlPr>
                            <a:rPr lang="en-US" sz="2400" b="0" i="1" smtClean="0">
                              <a:latin typeface="Cambria Math" panose="02040503050406030204" pitchFamily="18" charset="0"/>
                            </a:rPr>
                          </m:ctrlPr>
                        </m:dPr>
                        <m:e>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𝑎</m:t>
                              </m:r>
                            </m:e>
                          </m:d>
                          <m:r>
                            <a:rPr lang="sr-Latn-RS" sz="2400">
                              <a:latin typeface="Cambria Math" panose="02040503050406030204" pitchFamily="18" charset="0"/>
                            </a:rPr>
                            <m:t>⟨</m:t>
                          </m:r>
                          <m:r>
                            <a:rPr lang="sr-Latn-RS" sz="2400" i="1">
                              <a:latin typeface="Cambria Math" panose="02040503050406030204" pitchFamily="18" charset="0"/>
                            </a:rPr>
                            <m:t>𝑏</m:t>
                          </m:r>
                          <m:r>
                            <a:rPr lang="sr-Latn-RS" sz="2400">
                              <a:latin typeface="Cambria Math" panose="02040503050406030204" pitchFamily="18" charset="0"/>
                            </a:rPr>
                            <m:t>|</m:t>
                          </m:r>
                        </m:e>
                      </m:d>
                      <m:r>
                        <a:rPr lang="en-US" sz="2400" b="0" i="0" smtClean="0">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sSubSup>
                        <m:sSubSupPr>
                          <m:ctrlPr>
                            <a:rPr lang="en-ZA" sz="2400" i="1">
                              <a:latin typeface="Cambria Math" panose="02040503050406030204" pitchFamily="18" charset="0"/>
                            </a:rPr>
                          </m:ctrlPr>
                        </m:sSubSupPr>
                        <m:e>
                          <m:r>
                            <a:rPr lang="sr-Latn-RS" sz="2400" i="1">
                              <a:latin typeface="Cambria Math" panose="02040503050406030204" pitchFamily="18" charset="0"/>
                            </a:rPr>
                            <m:t>𝑏</m:t>
                          </m:r>
                        </m:e>
                        <m:sub>
                          <m:r>
                            <a:rPr lang="sr-Latn-RS" sz="2400" i="1">
                              <a:latin typeface="Cambria Math" panose="02040503050406030204" pitchFamily="18" charset="0"/>
                            </a:rPr>
                            <m:t>1</m:t>
                          </m:r>
                        </m:sub>
                        <m:sup>
                          <m:r>
                            <a:rPr lang="sr-Latn-RS" sz="2400" i="1">
                              <a:latin typeface="Cambria Math" panose="02040503050406030204" pitchFamily="18" charset="0"/>
                            </a:rPr>
                            <m:t>∗</m:t>
                          </m:r>
                        </m:sup>
                      </m:sSubSup>
                      <m:r>
                        <a:rPr lang="en-US" sz="2400" b="0" i="0" smtClean="0">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2</m:t>
                          </m:r>
                        </m:sub>
                      </m:sSub>
                      <m:sSubSup>
                        <m:sSubSupPr>
                          <m:ctrlPr>
                            <a:rPr lang="en-ZA" sz="2400" i="1">
                              <a:latin typeface="Cambria Math" panose="02040503050406030204" pitchFamily="18" charset="0"/>
                            </a:rPr>
                          </m:ctrlPr>
                        </m:sSubSupPr>
                        <m:e>
                          <m:r>
                            <a:rPr lang="sr-Latn-RS" sz="2400" i="1">
                              <a:latin typeface="Cambria Math" panose="02040503050406030204" pitchFamily="18" charset="0"/>
                            </a:rPr>
                            <m:t>𝑏</m:t>
                          </m:r>
                        </m:e>
                        <m:sub>
                          <m:r>
                            <a:rPr lang="sr-Latn-RS" sz="2400" i="1">
                              <a:latin typeface="Cambria Math" panose="02040503050406030204" pitchFamily="18" charset="0"/>
                            </a:rPr>
                            <m:t>2</m:t>
                          </m:r>
                        </m:sub>
                        <m:sup>
                          <m:r>
                            <a:rPr lang="sr-Latn-RS" sz="2400" i="1">
                              <a:latin typeface="Cambria Math" panose="02040503050406030204" pitchFamily="18" charset="0"/>
                            </a:rPr>
                            <m:t>∗</m:t>
                          </m:r>
                        </m:sup>
                      </m:sSubSup>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𝑏</m:t>
                          </m:r>
                        </m:e>
                        <m:e>
                          <m:r>
                            <a:rPr lang="en-US" sz="2400" b="0" i="1" smtClean="0">
                              <a:latin typeface="Cambria Math" panose="02040503050406030204" pitchFamily="18" charset="0"/>
                            </a:rPr>
                            <m:t>𝑎</m:t>
                          </m:r>
                        </m:e>
                      </m:d>
                    </m:oMath>
                  </m:oMathPara>
                </a14:m>
                <a:endParaRPr lang="en-US" sz="2400" dirty="0"/>
              </a:p>
            </p:txBody>
          </p:sp>
        </mc:Choice>
        <mc:Fallback>
          <p:sp>
            <p:nvSpPr>
              <p:cNvPr id="25" name="TextBox 24">
                <a:extLst>
                  <a:ext uri="{FF2B5EF4-FFF2-40B4-BE49-F238E27FC236}">
                    <a16:creationId xmlns:a16="http://schemas.microsoft.com/office/drawing/2014/main" id="{BF9798EB-3DE9-BC49-8339-0A09FD3C4269}"/>
                  </a:ext>
                </a:extLst>
              </p:cNvPr>
              <p:cNvSpPr txBox="1">
                <a:spLocks noRot="1" noChangeAspect="1" noMove="1" noResize="1" noEditPoints="1" noAdjustHandles="1" noChangeArrowheads="1" noChangeShapeType="1" noTextEdit="1"/>
              </p:cNvSpPr>
              <p:nvPr/>
            </p:nvSpPr>
            <p:spPr>
              <a:xfrm>
                <a:off x="1078725" y="5254525"/>
                <a:ext cx="4729179" cy="461665"/>
              </a:xfrm>
              <a:prstGeom prst="rect">
                <a:avLst/>
              </a:prstGeom>
              <a:blipFill>
                <a:blip r:embed="rId4"/>
                <a:stretch>
                  <a:fillRect b="-1621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Rectangle 26">
                <a:extLst>
                  <a:ext uri="{FF2B5EF4-FFF2-40B4-BE49-F238E27FC236}">
                    <a16:creationId xmlns:a16="http://schemas.microsoft.com/office/drawing/2014/main" id="{9DB7F3C4-F6E0-C04B-979D-F86461DBFEE4}"/>
                  </a:ext>
                </a:extLst>
              </p:cNvPr>
              <p:cNvSpPr/>
              <p:nvPr/>
            </p:nvSpPr>
            <p:spPr>
              <a:xfrm>
                <a:off x="67609" y="2356218"/>
                <a:ext cx="5572359" cy="1704569"/>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𝑎</m:t>
                          </m:r>
                        </m:e>
                      </m:d>
                      <m:r>
                        <a:rPr lang="sr-Latn-RS" sz="2400">
                          <a:latin typeface="Cambria Math" panose="02040503050406030204" pitchFamily="18" charset="0"/>
                        </a:rPr>
                        <m:t>=</m:t>
                      </m:r>
                      <m:d>
                        <m:dPr>
                          <m:ctrlPr>
                            <a:rPr lang="en-ZA" sz="2400" i="1">
                              <a:latin typeface="Cambria Math" panose="02040503050406030204" pitchFamily="18" charset="0"/>
                            </a:rPr>
                          </m:ctrlPr>
                        </m:dPr>
                        <m:e>
                          <m:m>
                            <m:mPr>
                              <m:mcs>
                                <m:mc>
                                  <m:mcPr>
                                    <m:count m:val="1"/>
                                    <m:mcJc m:val="center"/>
                                  </m:mcPr>
                                </m:mc>
                              </m:mcs>
                              <m:ctrlPr>
                                <a:rPr lang="en-ZA" sz="2400" i="1">
                                  <a:latin typeface="Cambria Math" panose="02040503050406030204" pitchFamily="18" charset="0"/>
                                </a:rPr>
                              </m:ctrlPr>
                            </m:mP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e>
                            </m:m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i="1">
                                        <a:latin typeface="Cambria Math" panose="02040503050406030204" pitchFamily="18" charset="0"/>
                                      </a:rPr>
                                      <m:t>2</m:t>
                                    </m:r>
                                  </m:sub>
                                </m:sSub>
                              </m:e>
                            </m:mr>
                          </m:m>
                        </m:e>
                      </m:d>
                      <m:r>
                        <a:rPr lang="en-US" sz="2400" i="1">
                          <a:latin typeface="Cambria Math" panose="02040503050406030204" pitchFamily="18" charset="0"/>
                        </a:rPr>
                        <m:t>,  </m:t>
                      </m:r>
                      <m:d>
                        <m:dPr>
                          <m:begChr m:val="|"/>
                          <m:endChr m:val="⟩"/>
                          <m:ctrlPr>
                            <a:rPr lang="en-ZA" sz="2400" i="1">
                              <a:latin typeface="Cambria Math" panose="02040503050406030204" pitchFamily="18" charset="0"/>
                            </a:rPr>
                          </m:ctrlPr>
                        </m:dPr>
                        <m:e>
                          <m:r>
                            <a:rPr lang="en-US" sz="2400" i="1">
                              <a:latin typeface="Cambria Math" panose="02040503050406030204" pitchFamily="18" charset="0"/>
                            </a:rPr>
                            <m:t>𝑏</m:t>
                          </m:r>
                        </m:e>
                      </m:d>
                      <m:r>
                        <a:rPr lang="sr-Latn-RS" sz="2400">
                          <a:latin typeface="Cambria Math" panose="02040503050406030204" pitchFamily="18" charset="0"/>
                        </a:rPr>
                        <m:t>=</m:t>
                      </m:r>
                      <m:d>
                        <m:dPr>
                          <m:ctrlPr>
                            <a:rPr lang="en-ZA" sz="2400" i="1">
                              <a:latin typeface="Cambria Math" panose="02040503050406030204" pitchFamily="18" charset="0"/>
                            </a:rPr>
                          </m:ctrlPr>
                        </m:dPr>
                        <m:e>
                          <m:m>
                            <m:mPr>
                              <m:mcs>
                                <m:mc>
                                  <m:mcPr>
                                    <m:count m:val="1"/>
                                    <m:mcJc m:val="center"/>
                                  </m:mcPr>
                                </m:mc>
                              </m:mcs>
                              <m:ctrlPr>
                                <a:rPr lang="en-ZA" sz="2400" i="1">
                                  <a:latin typeface="Cambria Math" panose="02040503050406030204" pitchFamily="18" charset="0"/>
                                </a:rPr>
                              </m:ctrlPr>
                            </m:mPr>
                            <m:mr>
                              <m:e>
                                <m:sSub>
                                  <m:sSubPr>
                                    <m:ctrlPr>
                                      <a:rPr lang="en-ZA" sz="2400" i="1">
                                        <a:latin typeface="Cambria Math" panose="02040503050406030204" pitchFamily="18" charset="0"/>
                                      </a:rPr>
                                    </m:ctrlPr>
                                  </m:sSubPr>
                                  <m:e>
                                    <m:r>
                                      <a:rPr lang="en-US" sz="2400" i="1">
                                        <a:latin typeface="Cambria Math" panose="02040503050406030204" pitchFamily="18" charset="0"/>
                                      </a:rPr>
                                      <m:t>𝑏</m:t>
                                    </m:r>
                                  </m:e>
                                  <m:sub>
                                    <m:r>
                                      <a:rPr lang="sr-Latn-RS" sz="2400" i="1">
                                        <a:latin typeface="Cambria Math" panose="02040503050406030204" pitchFamily="18" charset="0"/>
                                      </a:rPr>
                                      <m:t>1</m:t>
                                    </m:r>
                                  </m:sub>
                                </m:sSub>
                              </m:e>
                            </m:mr>
                            <m:mr>
                              <m:e>
                                <m:sSub>
                                  <m:sSubPr>
                                    <m:ctrlPr>
                                      <a:rPr lang="en-ZA" sz="2400" i="1">
                                        <a:latin typeface="Cambria Math" panose="02040503050406030204" pitchFamily="18" charset="0"/>
                                      </a:rPr>
                                    </m:ctrlPr>
                                  </m:sSubPr>
                                  <m:e>
                                    <m:r>
                                      <a:rPr lang="en-US" sz="2400" i="1">
                                        <a:latin typeface="Cambria Math" panose="02040503050406030204" pitchFamily="18" charset="0"/>
                                      </a:rPr>
                                      <m:t>𝑏</m:t>
                                    </m:r>
                                  </m:e>
                                  <m:sub>
                                    <m:r>
                                      <a:rPr lang="en-US" sz="2400" i="1">
                                        <a:latin typeface="Cambria Math" panose="02040503050406030204" pitchFamily="18" charset="0"/>
                                      </a:rPr>
                                      <m:t>2</m:t>
                                    </m:r>
                                  </m:sub>
                                </m:sSub>
                              </m:e>
                            </m:mr>
                          </m:m>
                        </m:e>
                      </m:d>
                    </m:oMath>
                  </m:oMathPara>
                </a14:m>
                <a:endParaRPr lang="en-US" sz="2400" i="1" dirty="0">
                  <a:latin typeface="Cambria Math" panose="02040503050406030204" pitchFamily="18" charset="0"/>
                </a:endParaRPr>
              </a:p>
              <a:p>
                <a:endParaRPr lang="en-US" sz="1200" i="1" dirty="0">
                  <a:latin typeface="Cambria Math" panose="02040503050406030204" pitchFamily="18" charset="0"/>
                </a:endParaRPr>
              </a:p>
              <a:p>
                <a14:m>
                  <m:oMathPara xmlns:m="http://schemas.openxmlformats.org/officeDocument/2006/math">
                    <m:oMathParaPr>
                      <m:jc m:val="centerGroup"/>
                    </m:oMathParaPr>
                    <m:oMath xmlns:m="http://schemas.openxmlformats.org/officeDocument/2006/math">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𝑎</m:t>
                          </m:r>
                        </m:e>
                      </m:d>
                      <m:r>
                        <a:rPr lang="sr-Latn-RS" sz="2400">
                          <a:latin typeface="Cambria Math" panose="02040503050406030204" pitchFamily="18" charset="0"/>
                        </a:rPr>
                        <m:t>⟨</m:t>
                      </m:r>
                      <m:r>
                        <a:rPr lang="sr-Latn-RS" sz="2400" i="1">
                          <a:latin typeface="Cambria Math" panose="02040503050406030204" pitchFamily="18" charset="0"/>
                        </a:rPr>
                        <m:t>𝑏</m:t>
                      </m:r>
                      <m:r>
                        <a:rPr lang="sr-Latn-RS" sz="2400">
                          <a:latin typeface="Cambria Math" panose="02040503050406030204" pitchFamily="18" charset="0"/>
                        </a:rPr>
                        <m:t>|=</m:t>
                      </m:r>
                      <m:d>
                        <m:dPr>
                          <m:ctrlPr>
                            <a:rPr lang="en-ZA" sz="2400" i="1">
                              <a:latin typeface="Cambria Math" panose="02040503050406030204" pitchFamily="18" charset="0"/>
                            </a:rPr>
                          </m:ctrlPr>
                        </m:dPr>
                        <m:e>
                          <m:m>
                            <m:mPr>
                              <m:mcs>
                                <m:mc>
                                  <m:mcPr>
                                    <m:count m:val="1"/>
                                    <m:mcJc m:val="center"/>
                                  </m:mcPr>
                                </m:mc>
                              </m:mcs>
                              <m:ctrlPr>
                                <a:rPr lang="en-ZA" sz="2400" i="1">
                                  <a:latin typeface="Cambria Math" panose="02040503050406030204" pitchFamily="18" charset="0"/>
                                </a:rPr>
                              </m:ctrlPr>
                            </m:mP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e>
                            </m:m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en-US" sz="2400" i="1">
                                        <a:latin typeface="Cambria Math" panose="02040503050406030204" pitchFamily="18" charset="0"/>
                                      </a:rPr>
                                      <m:t>2</m:t>
                                    </m:r>
                                  </m:sub>
                                </m:sSub>
                              </m:e>
                            </m:mr>
                          </m:m>
                        </m:e>
                      </m:d>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sSubSup>
                                  <m:sSubSupPr>
                                    <m:ctrlPr>
                                      <a:rPr lang="en-ZA" sz="2400" i="1">
                                        <a:latin typeface="Cambria Math" panose="02040503050406030204" pitchFamily="18" charset="0"/>
                                      </a:rPr>
                                    </m:ctrlPr>
                                  </m:sSubSupPr>
                                  <m:e>
                                    <m:r>
                                      <a:rPr lang="sr-Latn-RS" sz="2400" i="1">
                                        <a:latin typeface="Cambria Math" panose="02040503050406030204" pitchFamily="18" charset="0"/>
                                      </a:rPr>
                                      <m:t>𝑏</m:t>
                                    </m:r>
                                  </m:e>
                                  <m:sub>
                                    <m:r>
                                      <a:rPr lang="sr-Latn-RS" sz="2400" i="1">
                                        <a:latin typeface="Cambria Math" panose="02040503050406030204" pitchFamily="18" charset="0"/>
                                      </a:rPr>
                                      <m:t>1</m:t>
                                    </m:r>
                                  </m:sub>
                                  <m:sup>
                                    <m:r>
                                      <a:rPr lang="sr-Latn-RS" sz="2400" i="1">
                                        <a:latin typeface="Cambria Math" panose="02040503050406030204" pitchFamily="18" charset="0"/>
                                      </a:rPr>
                                      <m:t>∗</m:t>
                                    </m:r>
                                  </m:sup>
                                </m:sSubSup>
                              </m:e>
                              <m:e>
                                <m:sSubSup>
                                  <m:sSubSupPr>
                                    <m:ctrlPr>
                                      <a:rPr lang="en-ZA" sz="2400" i="1">
                                        <a:latin typeface="Cambria Math" panose="02040503050406030204" pitchFamily="18" charset="0"/>
                                      </a:rPr>
                                    </m:ctrlPr>
                                  </m:sSubSupPr>
                                  <m:e>
                                    <m:r>
                                      <a:rPr lang="sr-Latn-RS" sz="2400" i="1">
                                        <a:latin typeface="Cambria Math" panose="02040503050406030204" pitchFamily="18" charset="0"/>
                                      </a:rPr>
                                      <m:t>𝑏</m:t>
                                    </m:r>
                                  </m:e>
                                  <m:sub>
                                    <m:r>
                                      <a:rPr lang="en-US" sz="2400" i="1">
                                        <a:latin typeface="Cambria Math" panose="02040503050406030204" pitchFamily="18" charset="0"/>
                                      </a:rPr>
                                      <m:t>2</m:t>
                                    </m:r>
                                  </m:sub>
                                  <m:sup>
                                    <m:r>
                                      <a:rPr lang="sr-Latn-RS" sz="2400" i="1">
                                        <a:latin typeface="Cambria Math" panose="02040503050406030204" pitchFamily="18" charset="0"/>
                                      </a:rPr>
                                      <m:t>∗</m:t>
                                    </m:r>
                                  </m:sup>
                                </m:sSubSup>
                              </m:e>
                            </m:mr>
                          </m:m>
                        </m:e>
                      </m:d>
                      <m:r>
                        <a:rPr lang="sr-Latn-RS" sz="2400" i="1">
                          <a:latin typeface="Cambria Math" panose="02040503050406030204" pitchFamily="18" charset="0"/>
                        </a:rPr>
                        <m:t>=</m:t>
                      </m:r>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sSubSup>
                                  <m:sSubSupPr>
                                    <m:ctrlPr>
                                      <a:rPr lang="en-ZA" sz="2400" i="1">
                                        <a:latin typeface="Cambria Math" panose="02040503050406030204" pitchFamily="18" charset="0"/>
                                      </a:rPr>
                                    </m:ctrlPr>
                                  </m:sSubSupPr>
                                  <m:e>
                                    <m:r>
                                      <a:rPr lang="sr-Latn-RS" sz="2400" i="1">
                                        <a:latin typeface="Cambria Math" panose="02040503050406030204" pitchFamily="18" charset="0"/>
                                      </a:rPr>
                                      <m:t>𝑏</m:t>
                                    </m:r>
                                  </m:e>
                                  <m:sub>
                                    <m:r>
                                      <a:rPr lang="sr-Latn-RS" sz="2400" i="1">
                                        <a:latin typeface="Cambria Math" panose="02040503050406030204" pitchFamily="18" charset="0"/>
                                      </a:rPr>
                                      <m:t>1</m:t>
                                    </m:r>
                                  </m:sub>
                                  <m:sup>
                                    <m:r>
                                      <a:rPr lang="sr-Latn-RS" sz="2400" i="1">
                                        <a:latin typeface="Cambria Math" panose="02040503050406030204" pitchFamily="18" charset="0"/>
                                      </a:rPr>
                                      <m:t>∗</m:t>
                                    </m:r>
                                  </m:sup>
                                </m:sSubSup>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sSubSup>
                                  <m:sSubSupPr>
                                    <m:ctrlPr>
                                      <a:rPr lang="en-ZA" sz="2400" i="1">
                                        <a:latin typeface="Cambria Math" panose="02040503050406030204" pitchFamily="18" charset="0"/>
                                      </a:rPr>
                                    </m:ctrlPr>
                                  </m:sSubSupPr>
                                  <m:e>
                                    <m:r>
                                      <a:rPr lang="sr-Latn-RS" sz="2400" i="1">
                                        <a:latin typeface="Cambria Math" panose="02040503050406030204" pitchFamily="18" charset="0"/>
                                      </a:rPr>
                                      <m:t>𝑏</m:t>
                                    </m:r>
                                  </m:e>
                                  <m:sub>
                                    <m:r>
                                      <a:rPr lang="sr-Latn-RS" sz="2400" i="1">
                                        <a:latin typeface="Cambria Math" panose="02040503050406030204" pitchFamily="18" charset="0"/>
                                      </a:rPr>
                                      <m:t>2</m:t>
                                    </m:r>
                                  </m:sub>
                                  <m:sup>
                                    <m:r>
                                      <a:rPr lang="sr-Latn-RS" sz="2400" i="1">
                                        <a:latin typeface="Cambria Math" panose="02040503050406030204" pitchFamily="18" charset="0"/>
                                      </a:rPr>
                                      <m:t>∗</m:t>
                                    </m:r>
                                  </m:sup>
                                </m:sSubSup>
                              </m:e>
                            </m:mr>
                            <m:mr>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2</m:t>
                                    </m:r>
                                  </m:sub>
                                </m:sSub>
                                <m:sSubSup>
                                  <m:sSubSupPr>
                                    <m:ctrlPr>
                                      <a:rPr lang="en-ZA" sz="2400" i="1">
                                        <a:latin typeface="Cambria Math" panose="02040503050406030204" pitchFamily="18" charset="0"/>
                                      </a:rPr>
                                    </m:ctrlPr>
                                  </m:sSubSupPr>
                                  <m:e>
                                    <m:r>
                                      <a:rPr lang="sr-Latn-RS" sz="2400" i="1">
                                        <a:latin typeface="Cambria Math" panose="02040503050406030204" pitchFamily="18" charset="0"/>
                                      </a:rPr>
                                      <m:t>𝑏</m:t>
                                    </m:r>
                                  </m:e>
                                  <m:sub>
                                    <m:r>
                                      <a:rPr lang="sr-Latn-RS" sz="2400" i="1">
                                        <a:latin typeface="Cambria Math" panose="02040503050406030204" pitchFamily="18" charset="0"/>
                                      </a:rPr>
                                      <m:t>1</m:t>
                                    </m:r>
                                  </m:sub>
                                  <m:sup>
                                    <m:r>
                                      <a:rPr lang="sr-Latn-RS" sz="2400" i="1">
                                        <a:latin typeface="Cambria Math" panose="02040503050406030204" pitchFamily="18" charset="0"/>
                                      </a:rPr>
                                      <m:t>∗</m:t>
                                    </m:r>
                                  </m:sup>
                                </m:sSubSup>
                              </m:e>
                              <m:e>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2</m:t>
                                    </m:r>
                                  </m:sub>
                                </m:sSub>
                                <m:sSubSup>
                                  <m:sSubSupPr>
                                    <m:ctrlPr>
                                      <a:rPr lang="en-ZA" sz="2400" i="1">
                                        <a:latin typeface="Cambria Math" panose="02040503050406030204" pitchFamily="18" charset="0"/>
                                      </a:rPr>
                                    </m:ctrlPr>
                                  </m:sSubSupPr>
                                  <m:e>
                                    <m:r>
                                      <a:rPr lang="sr-Latn-RS" sz="2400" i="1">
                                        <a:latin typeface="Cambria Math" panose="02040503050406030204" pitchFamily="18" charset="0"/>
                                      </a:rPr>
                                      <m:t>𝑏</m:t>
                                    </m:r>
                                  </m:e>
                                  <m:sub>
                                    <m:r>
                                      <a:rPr lang="sr-Latn-RS" sz="2400" i="1">
                                        <a:latin typeface="Cambria Math" panose="02040503050406030204" pitchFamily="18" charset="0"/>
                                      </a:rPr>
                                      <m:t>2</m:t>
                                    </m:r>
                                  </m:sub>
                                  <m:sup>
                                    <m:r>
                                      <a:rPr lang="sr-Latn-RS" sz="2400" i="1">
                                        <a:latin typeface="Cambria Math" panose="02040503050406030204" pitchFamily="18" charset="0"/>
                                      </a:rPr>
                                      <m:t>∗</m:t>
                                    </m:r>
                                  </m:sup>
                                </m:sSubSup>
                              </m:e>
                            </m:mr>
                          </m:m>
                        </m:e>
                      </m:d>
                    </m:oMath>
                  </m:oMathPara>
                </a14:m>
                <a:endParaRPr lang="en-US" sz="2400" dirty="0"/>
              </a:p>
            </p:txBody>
          </p:sp>
        </mc:Choice>
        <mc:Fallback>
          <p:sp>
            <p:nvSpPr>
              <p:cNvPr id="27" name="Rectangle 26">
                <a:extLst>
                  <a:ext uri="{FF2B5EF4-FFF2-40B4-BE49-F238E27FC236}">
                    <a16:creationId xmlns:a16="http://schemas.microsoft.com/office/drawing/2014/main" id="{9DB7F3C4-F6E0-C04B-979D-F86461DBFEE4}"/>
                  </a:ext>
                </a:extLst>
              </p:cNvPr>
              <p:cNvSpPr>
                <a:spLocks noRot="1" noChangeAspect="1" noMove="1" noResize="1" noEditPoints="1" noAdjustHandles="1" noChangeArrowheads="1" noChangeShapeType="1" noTextEdit="1"/>
              </p:cNvSpPr>
              <p:nvPr/>
            </p:nvSpPr>
            <p:spPr>
              <a:xfrm>
                <a:off x="67609" y="2356218"/>
                <a:ext cx="5572359" cy="1704569"/>
              </a:xfrm>
              <a:prstGeom prst="rect">
                <a:avLst/>
              </a:prstGeom>
              <a:blipFill>
                <a:blip r:embed="rId5"/>
                <a:stretch>
                  <a:fillRect/>
                </a:stretch>
              </a:blipFill>
            </p:spPr>
            <p:txBody>
              <a:bodyPr/>
              <a:lstStyle/>
              <a:p>
                <a:r>
                  <a:rPr lang="en-US">
                    <a:noFill/>
                  </a:rPr>
                  <a:t> </a:t>
                </a:r>
              </a:p>
            </p:txBody>
          </p:sp>
        </mc:Fallback>
      </mc:AlternateContent>
      <p:sp>
        <p:nvSpPr>
          <p:cNvPr id="29" name="Right Arrow 28">
            <a:extLst>
              <a:ext uri="{FF2B5EF4-FFF2-40B4-BE49-F238E27FC236}">
                <a16:creationId xmlns:a16="http://schemas.microsoft.com/office/drawing/2014/main" id="{0875E619-632A-7E44-B65D-D4897765C969}"/>
              </a:ext>
            </a:extLst>
          </p:cNvPr>
          <p:cNvSpPr/>
          <p:nvPr/>
        </p:nvSpPr>
        <p:spPr>
          <a:xfrm rot="5400000">
            <a:off x="10725007" y="3820310"/>
            <a:ext cx="427648" cy="348262"/>
          </a:xfrm>
          <a:prstGeom prst="right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ounded Rectangle 33">
            <a:extLst>
              <a:ext uri="{FF2B5EF4-FFF2-40B4-BE49-F238E27FC236}">
                <a16:creationId xmlns:a16="http://schemas.microsoft.com/office/drawing/2014/main" id="{5F1AE047-4072-AE45-BB29-0F5BEC8887E3}"/>
              </a:ext>
            </a:extLst>
          </p:cNvPr>
          <p:cNvSpPr/>
          <p:nvPr/>
        </p:nvSpPr>
        <p:spPr>
          <a:xfrm>
            <a:off x="7297175" y="4220708"/>
            <a:ext cx="4626650" cy="799695"/>
          </a:xfrm>
          <a:prstGeom prst="roundRect">
            <a:avLst>
              <a:gd name="adj" fmla="val 10533"/>
            </a:avLst>
          </a:prstGeom>
          <a:solidFill>
            <a:srgbClr val="F4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0DB0CF1D-4CE9-BF4B-B9C5-847492078643}"/>
                  </a:ext>
                </a:extLst>
              </p:cNvPr>
              <p:cNvSpPr txBox="1"/>
              <p:nvPr/>
            </p:nvSpPr>
            <p:spPr>
              <a:xfrm>
                <a:off x="7239627" y="4413470"/>
                <a:ext cx="4741746"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m:rPr>
                          <m:sty m:val="p"/>
                        </m:rPr>
                        <a:rPr lang="en-US" sz="2400" b="0" i="0" smtClean="0">
                          <a:latin typeface="Cambria Math" panose="02040503050406030204" pitchFamily="18" charset="0"/>
                        </a:rPr>
                        <m:t>Tr</m:t>
                      </m:r>
                      <m:d>
                        <m:dPr>
                          <m:ctrlPr>
                            <a:rPr lang="en-US" sz="2400" b="0" i="1" smtClean="0">
                              <a:latin typeface="Cambria Math" panose="02040503050406030204" pitchFamily="18" charset="0"/>
                            </a:rPr>
                          </m:ctrlPr>
                        </m:dPr>
                        <m:e>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𝑎</m:t>
                              </m:r>
                            </m:e>
                          </m:d>
                          <m:r>
                            <a:rPr lang="sr-Latn-RS" sz="2400">
                              <a:latin typeface="Cambria Math" panose="02040503050406030204" pitchFamily="18" charset="0"/>
                            </a:rPr>
                            <m:t>⟨</m:t>
                          </m:r>
                          <m:r>
                            <m:rPr>
                              <m:sty m:val="p"/>
                            </m:rPr>
                            <a:rPr lang="en-US" sz="2400" b="0" i="0" smtClean="0">
                              <a:latin typeface="Cambria Math" panose="02040503050406030204" pitchFamily="18" charset="0"/>
                            </a:rPr>
                            <m:t>a</m:t>
                          </m:r>
                          <m:r>
                            <a:rPr lang="sr-Latn-RS" sz="2400">
                              <a:latin typeface="Cambria Math" panose="02040503050406030204" pitchFamily="18" charset="0"/>
                            </a:rPr>
                            <m:t>|</m:t>
                          </m:r>
                        </m:e>
                      </m:d>
                      <m:r>
                        <a:rPr lang="en-US" sz="2400" b="0" i="0" smtClean="0">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sSubSup>
                        <m:sSubSupPr>
                          <m:ctrlPr>
                            <a:rPr lang="en-ZA" sz="2400" i="1">
                              <a:latin typeface="Cambria Math" panose="02040503050406030204" pitchFamily="18" charset="0"/>
                            </a:rPr>
                          </m:ctrlPr>
                        </m:sSubSupPr>
                        <m:e>
                          <m:r>
                            <a:rPr lang="en-US" sz="2400" b="0" i="1" smtClean="0">
                              <a:latin typeface="Cambria Math" panose="02040503050406030204" pitchFamily="18" charset="0"/>
                            </a:rPr>
                            <m:t>𝑎</m:t>
                          </m:r>
                        </m:e>
                        <m:sub>
                          <m:r>
                            <a:rPr lang="sr-Latn-RS" sz="2400" i="1">
                              <a:latin typeface="Cambria Math" panose="02040503050406030204" pitchFamily="18" charset="0"/>
                            </a:rPr>
                            <m:t>1</m:t>
                          </m:r>
                        </m:sub>
                        <m:sup>
                          <m:r>
                            <a:rPr lang="sr-Latn-RS" sz="2400" i="1">
                              <a:latin typeface="Cambria Math" panose="02040503050406030204" pitchFamily="18" charset="0"/>
                            </a:rPr>
                            <m:t>∗</m:t>
                          </m:r>
                        </m:sup>
                      </m:sSubSup>
                      <m:r>
                        <a:rPr lang="en-US" sz="2400" b="0" i="0" smtClean="0">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2</m:t>
                          </m:r>
                        </m:sub>
                      </m:sSub>
                      <m:sSubSup>
                        <m:sSubSupPr>
                          <m:ctrlPr>
                            <a:rPr lang="en-ZA" sz="2400" i="1">
                              <a:latin typeface="Cambria Math" panose="02040503050406030204" pitchFamily="18" charset="0"/>
                            </a:rPr>
                          </m:ctrlPr>
                        </m:sSubSupPr>
                        <m:e>
                          <m:r>
                            <a:rPr lang="en-US" sz="2400" b="0" i="1" smtClean="0">
                              <a:latin typeface="Cambria Math" panose="02040503050406030204" pitchFamily="18" charset="0"/>
                            </a:rPr>
                            <m:t>𝑎</m:t>
                          </m:r>
                        </m:e>
                        <m:sub>
                          <m:r>
                            <a:rPr lang="sr-Latn-RS" sz="2400" i="1">
                              <a:latin typeface="Cambria Math" panose="02040503050406030204" pitchFamily="18" charset="0"/>
                            </a:rPr>
                            <m:t>2</m:t>
                          </m:r>
                        </m:sub>
                        <m:sup>
                          <m:r>
                            <a:rPr lang="sr-Latn-RS" sz="2400" i="1">
                              <a:latin typeface="Cambria Math" panose="02040503050406030204" pitchFamily="18" charset="0"/>
                            </a:rPr>
                            <m:t>∗</m:t>
                          </m:r>
                        </m:sup>
                      </m:sSubSup>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𝑎</m:t>
                          </m:r>
                        </m:e>
                        <m:e>
                          <m:r>
                            <a:rPr lang="en-US" sz="2400" b="0" i="1" smtClean="0">
                              <a:latin typeface="Cambria Math" panose="02040503050406030204" pitchFamily="18" charset="0"/>
                            </a:rPr>
                            <m:t>𝑎</m:t>
                          </m:r>
                        </m:e>
                      </m:d>
                    </m:oMath>
                  </m:oMathPara>
                </a14:m>
                <a:endParaRPr lang="en-US" sz="2400" dirty="0"/>
              </a:p>
            </p:txBody>
          </p:sp>
        </mc:Choice>
        <mc:Fallback>
          <p:sp>
            <p:nvSpPr>
              <p:cNvPr id="36" name="TextBox 35">
                <a:extLst>
                  <a:ext uri="{FF2B5EF4-FFF2-40B4-BE49-F238E27FC236}">
                    <a16:creationId xmlns:a16="http://schemas.microsoft.com/office/drawing/2014/main" id="{0DB0CF1D-4CE9-BF4B-B9C5-847492078643}"/>
                  </a:ext>
                </a:extLst>
              </p:cNvPr>
              <p:cNvSpPr txBox="1">
                <a:spLocks noRot="1" noChangeAspect="1" noMove="1" noResize="1" noEditPoints="1" noAdjustHandles="1" noChangeArrowheads="1" noChangeShapeType="1" noTextEdit="1"/>
              </p:cNvSpPr>
              <p:nvPr/>
            </p:nvSpPr>
            <p:spPr>
              <a:xfrm>
                <a:off x="7239627" y="4413470"/>
                <a:ext cx="4741746" cy="461665"/>
              </a:xfrm>
              <a:prstGeom prst="rect">
                <a:avLst/>
              </a:prstGeom>
              <a:blipFill>
                <a:blip r:embed="rId6"/>
                <a:stretch>
                  <a:fillRect b="-16667"/>
                </a:stretch>
              </a:blipFill>
            </p:spPr>
            <p:txBody>
              <a:bodyPr/>
              <a:lstStyle/>
              <a:p>
                <a:r>
                  <a:rPr lang="en-US">
                    <a:noFill/>
                  </a:rPr>
                  <a:t> </a:t>
                </a:r>
              </a:p>
            </p:txBody>
          </p:sp>
        </mc:Fallback>
      </mc:AlternateContent>
      <p:sp>
        <p:nvSpPr>
          <p:cNvPr id="38" name="Right Arrow 37">
            <a:extLst>
              <a:ext uri="{FF2B5EF4-FFF2-40B4-BE49-F238E27FC236}">
                <a16:creationId xmlns:a16="http://schemas.microsoft.com/office/drawing/2014/main" id="{0EFCA387-0041-4644-AC77-4A490575DDF9}"/>
              </a:ext>
            </a:extLst>
          </p:cNvPr>
          <p:cNvSpPr/>
          <p:nvPr/>
        </p:nvSpPr>
        <p:spPr>
          <a:xfrm rot="5400000">
            <a:off x="4283225" y="4284309"/>
            <a:ext cx="427648" cy="348262"/>
          </a:xfrm>
          <a:prstGeom prst="right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39" name="Rectangle 38">
                <a:extLst>
                  <a:ext uri="{FF2B5EF4-FFF2-40B4-BE49-F238E27FC236}">
                    <a16:creationId xmlns:a16="http://schemas.microsoft.com/office/drawing/2014/main" id="{4784389D-35C7-DD4E-A262-5D00E2B3D640}"/>
                  </a:ext>
                </a:extLst>
              </p:cNvPr>
              <p:cNvSpPr/>
              <p:nvPr/>
            </p:nvSpPr>
            <p:spPr>
              <a:xfrm>
                <a:off x="5996650" y="1648332"/>
                <a:ext cx="6042271" cy="707886"/>
              </a:xfrm>
              <a:prstGeom prst="rect">
                <a:avLst/>
              </a:prstGeom>
            </p:spPr>
            <p:txBody>
              <a:bodyPr wrap="square">
                <a:spAutoFit/>
              </a:bodyPr>
              <a:lstStyle/>
              <a:p>
                <a:pPr algn="ctr"/>
                <a:r>
                  <a:rPr lang="en-ZA" sz="2000" dirty="0"/>
                  <a:t>In quantum mechanics, the outer product of a state vector with itself,  </a:t>
                </a:r>
                <a14:m>
                  <m:oMath xmlns:m="http://schemas.openxmlformats.org/officeDocument/2006/math">
                    <m:r>
                      <a:rPr lang="en-ZA" sz="2000" i="1">
                        <a:latin typeface="Cambria Math" panose="02040503050406030204" pitchFamily="18" charset="0"/>
                        <a:ea typeface="Cambria Math" panose="02040503050406030204" pitchFamily="18" charset="0"/>
                      </a:rPr>
                      <m:t>𝜌</m:t>
                    </m:r>
                    <m:r>
                      <a:rPr lang="en-US" sz="2000" i="1">
                        <a:latin typeface="Cambria Math" panose="02040503050406030204" pitchFamily="18" charset="0"/>
                        <a:ea typeface="Cambria Math" panose="02040503050406030204" pitchFamily="18" charset="0"/>
                      </a:rPr>
                      <m:t>=</m:t>
                    </m:r>
                    <m:d>
                      <m:dPr>
                        <m:begChr m:val="|"/>
                        <m:endChr m:val="⟩"/>
                        <m:ctrlPr>
                          <a:rPr lang="en-ZA" sz="2000" i="1">
                            <a:latin typeface="Cambria Math" panose="02040503050406030204" pitchFamily="18" charset="0"/>
                          </a:rPr>
                        </m:ctrlPr>
                      </m:dPr>
                      <m:e>
                        <m:r>
                          <a:rPr lang="sr-Latn-RS" sz="2000" i="1">
                            <a:latin typeface="Cambria Math" panose="02040503050406030204" pitchFamily="18" charset="0"/>
                          </a:rPr>
                          <m:t>𝑎</m:t>
                        </m:r>
                      </m:e>
                    </m:d>
                    <m:r>
                      <a:rPr lang="sr-Latn-RS" sz="2000">
                        <a:latin typeface="Cambria Math" panose="02040503050406030204" pitchFamily="18" charset="0"/>
                      </a:rPr>
                      <m:t>⟨</m:t>
                    </m:r>
                    <m:r>
                      <a:rPr lang="sr-Latn-RS" sz="2000" i="1">
                        <a:latin typeface="Cambria Math" panose="02040503050406030204" pitchFamily="18" charset="0"/>
                      </a:rPr>
                      <m:t>𝑎</m:t>
                    </m:r>
                    <m:r>
                      <a:rPr lang="sr-Latn-RS" sz="2000">
                        <a:latin typeface="Cambria Math" panose="02040503050406030204" pitchFamily="18" charset="0"/>
                      </a:rPr>
                      <m:t>|</m:t>
                    </m:r>
                  </m:oMath>
                </a14:m>
                <a:r>
                  <a:rPr lang="en-ZA" sz="2000" dirty="0"/>
                  <a:t>, is called a density matrix </a:t>
                </a:r>
              </a:p>
            </p:txBody>
          </p:sp>
        </mc:Choice>
        <mc:Fallback>
          <p:sp>
            <p:nvSpPr>
              <p:cNvPr id="39" name="Rectangle 38">
                <a:extLst>
                  <a:ext uri="{FF2B5EF4-FFF2-40B4-BE49-F238E27FC236}">
                    <a16:creationId xmlns:a16="http://schemas.microsoft.com/office/drawing/2014/main" id="{4784389D-35C7-DD4E-A262-5D00E2B3D640}"/>
                  </a:ext>
                </a:extLst>
              </p:cNvPr>
              <p:cNvSpPr>
                <a:spLocks noRot="1" noChangeAspect="1" noMove="1" noResize="1" noEditPoints="1" noAdjustHandles="1" noChangeArrowheads="1" noChangeShapeType="1" noTextEdit="1"/>
              </p:cNvSpPr>
              <p:nvPr/>
            </p:nvSpPr>
            <p:spPr>
              <a:xfrm>
                <a:off x="5996650" y="1648332"/>
                <a:ext cx="6042271" cy="707886"/>
              </a:xfrm>
              <a:prstGeom prst="rect">
                <a:avLst/>
              </a:prstGeom>
              <a:blipFill>
                <a:blip r:embed="rId7"/>
                <a:stretch>
                  <a:fillRect t="-3509" r="-210" b="-12281"/>
                </a:stretch>
              </a:blipFill>
            </p:spPr>
            <p:txBody>
              <a:bodyPr/>
              <a:lstStyle/>
              <a:p>
                <a:r>
                  <a:rPr lang="en-US">
                    <a:noFill/>
                  </a:rPr>
                  <a:t> </a:t>
                </a:r>
              </a:p>
            </p:txBody>
          </p:sp>
        </mc:Fallback>
      </mc:AlternateContent>
      <p:sp>
        <p:nvSpPr>
          <p:cNvPr id="40" name="TextBox 39">
            <a:extLst>
              <a:ext uri="{FF2B5EF4-FFF2-40B4-BE49-F238E27FC236}">
                <a16:creationId xmlns:a16="http://schemas.microsoft.com/office/drawing/2014/main" id="{A344C8E7-2B71-CB45-B367-2643D1D72028}"/>
              </a:ext>
            </a:extLst>
          </p:cNvPr>
          <p:cNvSpPr txBox="1"/>
          <p:nvPr/>
        </p:nvSpPr>
        <p:spPr>
          <a:xfrm>
            <a:off x="6827623" y="5516135"/>
            <a:ext cx="5275419" cy="400110"/>
          </a:xfrm>
          <a:prstGeom prst="rect">
            <a:avLst/>
          </a:prstGeom>
          <a:noFill/>
        </p:spPr>
        <p:txBody>
          <a:bodyPr wrap="none" rtlCol="0">
            <a:spAutoFit/>
          </a:bodyPr>
          <a:lstStyle/>
          <a:p>
            <a:r>
              <a:rPr lang="en-ZA" sz="2000" dirty="0"/>
              <a:t>for a normalized vector, this sum is equal to one.</a:t>
            </a:r>
            <a:endParaRPr lang="en-US" sz="2000" dirty="0"/>
          </a:p>
        </p:txBody>
      </p:sp>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17A6C2A1-890B-C141-AFB1-DA570B7FFFF7}"/>
                  </a:ext>
                </a:extLst>
              </p:cNvPr>
              <p:cNvSpPr txBox="1"/>
              <p:nvPr/>
            </p:nvSpPr>
            <p:spPr>
              <a:xfrm>
                <a:off x="8462871" y="6107258"/>
                <a:ext cx="2123402"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m:rPr>
                          <m:sty m:val="p"/>
                        </m:rPr>
                        <a:rPr lang="en-US" sz="2400" smtClean="0">
                          <a:latin typeface="Cambria Math" panose="02040503050406030204" pitchFamily="18" charset="0"/>
                        </a:rPr>
                        <m:t>Tr</m:t>
                      </m:r>
                      <m:d>
                        <m:dPr>
                          <m:ctrlPr>
                            <a:rPr lang="en-US" sz="2400" i="1">
                              <a:latin typeface="Cambria Math" panose="02040503050406030204" pitchFamily="18" charset="0"/>
                            </a:rPr>
                          </m:ctrlPr>
                        </m:dPr>
                        <m:e>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𝑎</m:t>
                              </m:r>
                            </m:e>
                          </m:d>
                          <m:r>
                            <a:rPr lang="sr-Latn-RS" sz="2400">
                              <a:latin typeface="Cambria Math" panose="02040503050406030204" pitchFamily="18" charset="0"/>
                            </a:rPr>
                            <m:t>⟨</m:t>
                          </m:r>
                          <m:r>
                            <m:rPr>
                              <m:sty m:val="p"/>
                            </m:rPr>
                            <a:rPr lang="en-US" sz="2400">
                              <a:latin typeface="Cambria Math" panose="02040503050406030204" pitchFamily="18" charset="0"/>
                            </a:rPr>
                            <m:t>a</m:t>
                          </m:r>
                          <m:r>
                            <a:rPr lang="sr-Latn-RS" sz="2400">
                              <a:latin typeface="Cambria Math" panose="02040503050406030204" pitchFamily="18" charset="0"/>
                            </a:rPr>
                            <m:t>|</m:t>
                          </m:r>
                        </m:e>
                      </m:d>
                      <m:r>
                        <a:rPr lang="en-US" sz="2400">
                          <a:latin typeface="Cambria Math" panose="02040503050406030204" pitchFamily="18" charset="0"/>
                        </a:rPr>
                        <m:t>=</m:t>
                      </m:r>
                      <m:r>
                        <a:rPr lang="en-US" sz="2400" b="0" i="0" smtClean="0">
                          <a:latin typeface="Cambria Math" panose="02040503050406030204" pitchFamily="18" charset="0"/>
                        </a:rPr>
                        <m:t>1</m:t>
                      </m:r>
                    </m:oMath>
                  </m:oMathPara>
                </a14:m>
                <a:endParaRPr lang="en-US" sz="2400" dirty="0"/>
              </a:p>
            </p:txBody>
          </p:sp>
        </mc:Choice>
        <mc:Fallback>
          <p:sp>
            <p:nvSpPr>
              <p:cNvPr id="41" name="TextBox 40">
                <a:extLst>
                  <a:ext uri="{FF2B5EF4-FFF2-40B4-BE49-F238E27FC236}">
                    <a16:creationId xmlns:a16="http://schemas.microsoft.com/office/drawing/2014/main" id="{17A6C2A1-890B-C141-AFB1-DA570B7FFFF7}"/>
                  </a:ext>
                </a:extLst>
              </p:cNvPr>
              <p:cNvSpPr txBox="1">
                <a:spLocks noRot="1" noChangeAspect="1" noMove="1" noResize="1" noEditPoints="1" noAdjustHandles="1" noChangeArrowheads="1" noChangeShapeType="1" noTextEdit="1"/>
              </p:cNvSpPr>
              <p:nvPr/>
            </p:nvSpPr>
            <p:spPr>
              <a:xfrm>
                <a:off x="8462871" y="6107258"/>
                <a:ext cx="2123402" cy="461665"/>
              </a:xfrm>
              <a:prstGeom prst="rect">
                <a:avLst/>
              </a:prstGeom>
              <a:blipFill>
                <a:blip r:embed="rId8"/>
                <a:stretch>
                  <a:fillRect b="-16216"/>
                </a:stretch>
              </a:blipFill>
            </p:spPr>
            <p:txBody>
              <a:bodyPr/>
              <a:lstStyle/>
              <a:p>
                <a:r>
                  <a:rPr lang="en-US">
                    <a:noFill/>
                  </a:rPr>
                  <a:t> </a:t>
                </a:r>
              </a:p>
            </p:txBody>
          </p:sp>
        </mc:Fallback>
      </mc:AlternateContent>
      <p:sp>
        <p:nvSpPr>
          <p:cNvPr id="43" name="Right Arrow 42">
            <a:extLst>
              <a:ext uri="{FF2B5EF4-FFF2-40B4-BE49-F238E27FC236}">
                <a16:creationId xmlns:a16="http://schemas.microsoft.com/office/drawing/2014/main" id="{84C1E545-C990-394B-ABC8-B7D52C2450FF}"/>
              </a:ext>
            </a:extLst>
          </p:cNvPr>
          <p:cNvSpPr/>
          <p:nvPr/>
        </p:nvSpPr>
        <p:spPr>
          <a:xfrm rot="5400000">
            <a:off x="9251508" y="5144112"/>
            <a:ext cx="427648" cy="348262"/>
          </a:xfrm>
          <a:prstGeom prst="rightArrow">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14781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ounded Rectangle 26">
            <a:extLst>
              <a:ext uri="{FF2B5EF4-FFF2-40B4-BE49-F238E27FC236}">
                <a16:creationId xmlns:a16="http://schemas.microsoft.com/office/drawing/2014/main" id="{56CA6200-B191-834C-BFEC-CF39A4B028B8}"/>
              </a:ext>
            </a:extLst>
          </p:cNvPr>
          <p:cNvSpPr/>
          <p:nvPr/>
        </p:nvSpPr>
        <p:spPr>
          <a:xfrm>
            <a:off x="282411" y="1166633"/>
            <a:ext cx="4822923" cy="1957567"/>
          </a:xfrm>
          <a:prstGeom prst="roundRect">
            <a:avLst>
              <a:gd name="adj" fmla="val 11958"/>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4D7E0EE5-C0E4-0240-ABEB-E0172D8FA44C}"/>
              </a:ext>
            </a:extLst>
          </p:cNvPr>
          <p:cNvSpPr>
            <a:spLocks noGrp="1"/>
          </p:cNvSpPr>
          <p:nvPr>
            <p:ph type="sldNum" sz="quarter" idx="12"/>
          </p:nvPr>
        </p:nvSpPr>
        <p:spPr/>
        <p:txBody>
          <a:bodyPr/>
          <a:lstStyle/>
          <a:p>
            <a:fld id="{591A223C-FA10-BC46-A853-03BA373D023C}" type="slidenum">
              <a:rPr lang="en-US" smtClean="0"/>
              <a:t>39</a:t>
            </a:fld>
            <a:endParaRPr lang="en-US"/>
          </a:p>
        </p:txBody>
      </p:sp>
      <p:sp>
        <p:nvSpPr>
          <p:cNvPr id="3" name="Title 2">
            <a:extLst>
              <a:ext uri="{FF2B5EF4-FFF2-40B4-BE49-F238E27FC236}">
                <a16:creationId xmlns:a16="http://schemas.microsoft.com/office/drawing/2014/main" id="{B8C72225-BE3B-844D-87D5-101CE2FA396C}"/>
              </a:ext>
            </a:extLst>
          </p:cNvPr>
          <p:cNvSpPr>
            <a:spLocks noGrp="1"/>
          </p:cNvSpPr>
          <p:nvPr>
            <p:ph type="title"/>
          </p:nvPr>
        </p:nvSpPr>
        <p:spPr>
          <a:xfrm>
            <a:off x="0" y="0"/>
            <a:ext cx="12192000" cy="928688"/>
          </a:xfrm>
        </p:spPr>
        <p:txBody>
          <a:bodyPr/>
          <a:lstStyle/>
          <a:p>
            <a:r>
              <a:rPr lang="en-US" dirty="0"/>
              <a:t>Dirac notation </a:t>
            </a:r>
            <a:r>
              <a:rPr lang="en-US" dirty="0" err="1"/>
              <a:t>cheatsheet</a:t>
            </a:r>
            <a:endParaRPr lang="en-US" dirty="0"/>
          </a:p>
        </p:txBody>
      </p:sp>
      <p:grpSp>
        <p:nvGrpSpPr>
          <p:cNvPr id="19" name="Group 18">
            <a:extLst>
              <a:ext uri="{FF2B5EF4-FFF2-40B4-BE49-F238E27FC236}">
                <a16:creationId xmlns:a16="http://schemas.microsoft.com/office/drawing/2014/main" id="{6DC22382-6B78-EF4B-8A62-026D0411F1B6}"/>
              </a:ext>
            </a:extLst>
          </p:cNvPr>
          <p:cNvGrpSpPr/>
          <p:nvPr/>
        </p:nvGrpSpPr>
        <p:grpSpPr>
          <a:xfrm>
            <a:off x="1223378" y="1218025"/>
            <a:ext cx="3259158" cy="1689403"/>
            <a:chOff x="815350" y="1348153"/>
            <a:chExt cx="3259158" cy="1689403"/>
          </a:xfrm>
        </p:grpSpPr>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57246B20-0FBC-804E-901F-887C1439F695}"/>
                    </a:ext>
                  </a:extLst>
                </p:cNvPr>
                <p:cNvSpPr/>
                <p:nvPr/>
              </p:nvSpPr>
              <p:spPr>
                <a:xfrm>
                  <a:off x="1207632" y="1348153"/>
                  <a:ext cx="2012859" cy="12330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r>
                          <a:rPr lang="en-US" sz="280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1"/>
                                      <m:mcJc m:val="center"/>
                                    </m:mcPr>
                                  </m:mc>
                                </m:mcs>
                                <m:ctrlPr>
                                  <a:rPr lang="en-US" sz="2800" i="1">
                                    <a:latin typeface="Cambria Math" panose="02040503050406030204" pitchFamily="18" charset="0"/>
                                  </a:rPr>
                                </m:ctrlPr>
                              </m:mPr>
                              <m:m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a:latin typeface="Cambria Math" panose="02040503050406030204" pitchFamily="18" charset="0"/>
                                        </a:rPr>
                                        <m:t>1</m:t>
                                      </m:r>
                                    </m:sub>
                                  </m:sSub>
                                </m:e>
                              </m:mr>
                              <m:mr>
                                <m:e>
                                  <m:r>
                                    <a:rPr lang="en-US" sz="2800">
                                      <a:latin typeface="Cambria Math" panose="02040503050406030204" pitchFamily="18" charset="0"/>
                                    </a:rPr>
                                    <m:t>⋮</m:t>
                                  </m:r>
                                </m:e>
                              </m:mr>
                              <m:m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𝑛</m:t>
                                      </m:r>
                                    </m:sub>
                                  </m:sSub>
                                </m:e>
                              </m:mr>
                            </m:m>
                          </m:e>
                        </m:d>
                      </m:oMath>
                    </m:oMathPara>
                  </a14:m>
                  <a:endParaRPr lang="en-US" sz="2800" dirty="0"/>
                </a:p>
              </p:txBody>
            </p:sp>
          </mc:Choice>
          <mc:Fallback xmlns="">
            <p:sp>
              <p:nvSpPr>
                <p:cNvPr id="7" name="Rectangle 6">
                  <a:extLst>
                    <a:ext uri="{FF2B5EF4-FFF2-40B4-BE49-F238E27FC236}">
                      <a16:creationId xmlns:a16="http://schemas.microsoft.com/office/drawing/2014/main" id="{57246B20-0FBC-804E-901F-887C1439F695}"/>
                    </a:ext>
                  </a:extLst>
                </p:cNvPr>
                <p:cNvSpPr>
                  <a:spLocks noRot="1" noChangeAspect="1" noMove="1" noResize="1" noEditPoints="1" noAdjustHandles="1" noChangeArrowheads="1" noChangeShapeType="1" noTextEdit="1"/>
                </p:cNvSpPr>
                <p:nvPr/>
              </p:nvSpPr>
              <p:spPr>
                <a:xfrm>
                  <a:off x="1207632" y="1348153"/>
                  <a:ext cx="2012859" cy="1233030"/>
                </a:xfrm>
                <a:prstGeom prst="rect">
                  <a:avLst/>
                </a:prstGeom>
                <a:blipFill>
                  <a:blip r:embed="rId3"/>
                  <a:stretch>
                    <a:fillRect/>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42D4807B-10F8-904F-A217-38B49A799F2C}"/>
                </a:ext>
              </a:extLst>
            </p:cNvPr>
            <p:cNvSpPr txBox="1"/>
            <p:nvPr/>
          </p:nvSpPr>
          <p:spPr>
            <a:xfrm>
              <a:off x="815350" y="2575891"/>
              <a:ext cx="3259158" cy="461665"/>
            </a:xfrm>
            <a:prstGeom prst="rect">
              <a:avLst/>
            </a:prstGeom>
            <a:noFill/>
          </p:spPr>
          <p:txBody>
            <a:bodyPr wrap="square" rtlCol="0">
              <a:spAutoFit/>
            </a:bodyPr>
            <a:lstStyle/>
            <a:p>
              <a:r>
                <a:rPr lang="en-US" sz="2400" dirty="0"/>
                <a:t>a ket is a column vector</a:t>
              </a:r>
            </a:p>
          </p:txBody>
        </p:sp>
      </p:grpSp>
      <p:grpSp>
        <p:nvGrpSpPr>
          <p:cNvPr id="4" name="Group 3">
            <a:extLst>
              <a:ext uri="{FF2B5EF4-FFF2-40B4-BE49-F238E27FC236}">
                <a16:creationId xmlns:a16="http://schemas.microsoft.com/office/drawing/2014/main" id="{1591E75C-F236-9A47-B90A-BE540C3127A4}"/>
              </a:ext>
            </a:extLst>
          </p:cNvPr>
          <p:cNvGrpSpPr/>
          <p:nvPr/>
        </p:nvGrpSpPr>
        <p:grpSpPr>
          <a:xfrm>
            <a:off x="282411" y="3352332"/>
            <a:ext cx="4822923" cy="1362051"/>
            <a:chOff x="115014" y="3291000"/>
            <a:chExt cx="4822923" cy="1362051"/>
          </a:xfrm>
        </p:grpSpPr>
        <p:sp>
          <p:nvSpPr>
            <p:cNvPr id="26" name="Rounded Rectangle 25">
              <a:extLst>
                <a:ext uri="{FF2B5EF4-FFF2-40B4-BE49-F238E27FC236}">
                  <a16:creationId xmlns:a16="http://schemas.microsoft.com/office/drawing/2014/main" id="{023ADE81-2565-A640-9D04-64789271CA11}"/>
                </a:ext>
              </a:extLst>
            </p:cNvPr>
            <p:cNvSpPr/>
            <p:nvPr/>
          </p:nvSpPr>
          <p:spPr>
            <a:xfrm>
              <a:off x="115014" y="3291000"/>
              <a:ext cx="4822923" cy="1362051"/>
            </a:xfrm>
            <a:prstGeom prst="roundRect">
              <a:avLst>
                <a:gd name="adj" fmla="val 11958"/>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7D0A5FE8-4AD0-594E-ABB4-74A7266F640B}"/>
                </a:ext>
              </a:extLst>
            </p:cNvPr>
            <p:cNvGrpSpPr/>
            <p:nvPr/>
          </p:nvGrpSpPr>
          <p:grpSpPr>
            <a:xfrm>
              <a:off x="825816" y="3484632"/>
              <a:ext cx="3257751" cy="1054275"/>
              <a:chOff x="585186" y="3117503"/>
              <a:chExt cx="3257751" cy="1054275"/>
            </a:xfrm>
          </p:grpSpPr>
          <p:sp>
            <p:nvSpPr>
              <p:cNvPr id="9" name="TextBox 8">
                <a:extLst>
                  <a:ext uri="{FF2B5EF4-FFF2-40B4-BE49-F238E27FC236}">
                    <a16:creationId xmlns:a16="http://schemas.microsoft.com/office/drawing/2014/main" id="{694ABA42-07E5-FE46-838D-6598E4F96F53}"/>
                  </a:ext>
                </a:extLst>
              </p:cNvPr>
              <p:cNvSpPr txBox="1"/>
              <p:nvPr/>
            </p:nvSpPr>
            <p:spPr>
              <a:xfrm>
                <a:off x="881257" y="3710113"/>
                <a:ext cx="2809176" cy="461665"/>
              </a:xfrm>
              <a:prstGeom prst="rect">
                <a:avLst/>
              </a:prstGeom>
              <a:noFill/>
            </p:spPr>
            <p:txBody>
              <a:bodyPr wrap="square" rtlCol="0">
                <a:spAutoFit/>
              </a:bodyPr>
              <a:lstStyle/>
              <a:p>
                <a:r>
                  <a:rPr lang="en-US" sz="2400" dirty="0"/>
                  <a:t>a bra is a row vector</a:t>
                </a:r>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00649D01-D34E-D349-8382-599727482C92}"/>
                      </a:ext>
                    </a:extLst>
                  </p:cNvPr>
                  <p:cNvSpPr/>
                  <p:nvPr/>
                </p:nvSpPr>
                <p:spPr>
                  <a:xfrm>
                    <a:off x="585186" y="3117503"/>
                    <a:ext cx="325775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a:latin typeface="Cambria Math" panose="02040503050406030204" pitchFamily="18" charset="0"/>
                            </a:rPr>
                            <m:t>⟨</m:t>
                          </m:r>
                          <m:r>
                            <a:rPr lang="en-US" sz="2800" i="1">
                              <a:latin typeface="Cambria Math" panose="02040503050406030204" pitchFamily="18" charset="0"/>
                            </a:rPr>
                            <m:t>𝑎</m:t>
                          </m:r>
                          <m:r>
                            <a:rPr lang="en-US" sz="280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3"/>
                                        <m:mcJc m:val="center"/>
                                      </m:mcPr>
                                    </m:mc>
                                  </m:mcs>
                                  <m:ctrlPr>
                                    <a:rPr lang="en-US" sz="2800" i="1">
                                      <a:latin typeface="Cambria Math" panose="02040503050406030204" pitchFamily="18" charset="0"/>
                                    </a:rPr>
                                  </m:ctrlPr>
                                </m:mPr>
                                <m:mr>
                                  <m:e>
                                    <m:sSubSup>
                                      <m:sSubSupPr>
                                        <m:ctrlPr>
                                          <a:rPr lang="en-US" sz="2800" i="1">
                                            <a:latin typeface="Cambria Math" panose="02040503050406030204" pitchFamily="18" charset="0"/>
                                          </a:rPr>
                                        </m:ctrlPr>
                                      </m:sSubSupPr>
                                      <m:e>
                                        <m:r>
                                          <a:rPr lang="en-US" sz="2800" i="1">
                                            <a:latin typeface="Cambria Math" panose="02040503050406030204" pitchFamily="18" charset="0"/>
                                          </a:rPr>
                                          <m:t>𝑎</m:t>
                                        </m:r>
                                      </m:e>
                                      <m:sub>
                                        <m:r>
                                          <a:rPr lang="en-US" sz="2800">
                                            <a:latin typeface="Cambria Math" panose="02040503050406030204" pitchFamily="18" charset="0"/>
                                          </a:rPr>
                                          <m:t>1</m:t>
                                        </m:r>
                                      </m:sub>
                                      <m:sup>
                                        <m:r>
                                          <a:rPr lang="en-US" sz="2800">
                                            <a:latin typeface="Cambria Math" panose="02040503050406030204" pitchFamily="18" charset="0"/>
                                          </a:rPr>
                                          <m:t>∗</m:t>
                                        </m:r>
                                      </m:sup>
                                    </m:sSubSup>
                                  </m:e>
                                  <m:e>
                                    <m:r>
                                      <a:rPr lang="en-US" sz="2800">
                                        <a:latin typeface="Cambria Math" panose="02040503050406030204" pitchFamily="18" charset="0"/>
                                      </a:rPr>
                                      <m:t>⋯</m:t>
                                    </m:r>
                                  </m:e>
                                  <m:e>
                                    <m:sSubSup>
                                      <m:sSubSupPr>
                                        <m:ctrlPr>
                                          <a:rPr lang="en-US" sz="2800" i="1">
                                            <a:latin typeface="Cambria Math" panose="02040503050406030204" pitchFamily="18" charset="0"/>
                                          </a:rPr>
                                        </m:ctrlPr>
                                      </m:sSubSupPr>
                                      <m:e>
                                        <m:r>
                                          <a:rPr lang="en-US" sz="2800" i="1">
                                            <a:latin typeface="Cambria Math" panose="02040503050406030204" pitchFamily="18" charset="0"/>
                                          </a:rPr>
                                          <m:t>𝑎</m:t>
                                        </m:r>
                                      </m:e>
                                      <m:sub>
                                        <m:r>
                                          <a:rPr lang="en-US" sz="2800" i="1">
                                            <a:latin typeface="Cambria Math" panose="02040503050406030204" pitchFamily="18" charset="0"/>
                                          </a:rPr>
                                          <m:t>𝑛</m:t>
                                        </m:r>
                                      </m:sub>
                                      <m:sup>
                                        <m:r>
                                          <a:rPr lang="en-US" sz="2800">
                                            <a:latin typeface="Cambria Math" panose="02040503050406030204" pitchFamily="18" charset="0"/>
                                          </a:rPr>
                                          <m:t>∗</m:t>
                                        </m:r>
                                      </m:sup>
                                    </m:sSubSup>
                                  </m:e>
                                </m:mr>
                              </m:m>
                            </m:e>
                          </m:d>
                        </m:oMath>
                      </m:oMathPara>
                    </a14:m>
                    <a:endParaRPr lang="en-US" sz="2800" dirty="0"/>
                  </a:p>
                </p:txBody>
              </p:sp>
            </mc:Choice>
            <mc:Fallback xmlns="">
              <p:sp>
                <p:nvSpPr>
                  <p:cNvPr id="10" name="Rectangle 9">
                    <a:extLst>
                      <a:ext uri="{FF2B5EF4-FFF2-40B4-BE49-F238E27FC236}">
                        <a16:creationId xmlns:a16="http://schemas.microsoft.com/office/drawing/2014/main" id="{00649D01-D34E-D349-8382-599727482C92}"/>
                      </a:ext>
                    </a:extLst>
                  </p:cNvPr>
                  <p:cNvSpPr>
                    <a:spLocks noRot="1" noChangeAspect="1" noMove="1" noResize="1" noEditPoints="1" noAdjustHandles="1" noChangeArrowheads="1" noChangeShapeType="1" noTextEdit="1"/>
                  </p:cNvSpPr>
                  <p:nvPr/>
                </p:nvSpPr>
                <p:spPr>
                  <a:xfrm>
                    <a:off x="585186" y="3117503"/>
                    <a:ext cx="3257751" cy="523220"/>
                  </a:xfrm>
                  <a:prstGeom prst="rect">
                    <a:avLst/>
                  </a:prstGeom>
                  <a:blipFill>
                    <a:blip r:embed="rId4"/>
                    <a:stretch>
                      <a:fillRect l="-388" b="-16667"/>
                    </a:stretch>
                  </a:blipFill>
                </p:spPr>
                <p:txBody>
                  <a:bodyPr/>
                  <a:lstStyle/>
                  <a:p>
                    <a:r>
                      <a:rPr lang="en-US">
                        <a:noFill/>
                      </a:rPr>
                      <a:t> </a:t>
                    </a:r>
                  </a:p>
                </p:txBody>
              </p:sp>
            </mc:Fallback>
          </mc:AlternateContent>
        </p:grpSp>
      </p:grpSp>
      <p:grpSp>
        <p:nvGrpSpPr>
          <p:cNvPr id="32" name="Group 31">
            <a:extLst>
              <a:ext uri="{FF2B5EF4-FFF2-40B4-BE49-F238E27FC236}">
                <a16:creationId xmlns:a16="http://schemas.microsoft.com/office/drawing/2014/main" id="{3D8016E5-351F-FB43-9D41-CE5744001464}"/>
              </a:ext>
            </a:extLst>
          </p:cNvPr>
          <p:cNvGrpSpPr/>
          <p:nvPr/>
        </p:nvGrpSpPr>
        <p:grpSpPr>
          <a:xfrm>
            <a:off x="282411" y="4931155"/>
            <a:ext cx="4914761" cy="1804123"/>
            <a:chOff x="6007106" y="3250534"/>
            <a:chExt cx="4914761" cy="1804123"/>
          </a:xfrm>
        </p:grpSpPr>
        <p:sp>
          <p:nvSpPr>
            <p:cNvPr id="30" name="Rounded Rectangle 29">
              <a:extLst>
                <a:ext uri="{FF2B5EF4-FFF2-40B4-BE49-F238E27FC236}">
                  <a16:creationId xmlns:a16="http://schemas.microsoft.com/office/drawing/2014/main" id="{851ECFF9-70D6-144E-B40C-D1719C75C927}"/>
                </a:ext>
              </a:extLst>
            </p:cNvPr>
            <p:cNvSpPr/>
            <p:nvPr/>
          </p:nvSpPr>
          <p:spPr>
            <a:xfrm>
              <a:off x="6007106" y="3250534"/>
              <a:ext cx="4914761" cy="1804123"/>
            </a:xfrm>
            <a:prstGeom prst="roundRect">
              <a:avLst>
                <a:gd name="adj" fmla="val 11958"/>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773F5689-5C0E-1140-A441-27693C025EDA}"/>
                </a:ext>
              </a:extLst>
            </p:cNvPr>
            <p:cNvGrpSpPr/>
            <p:nvPr/>
          </p:nvGrpSpPr>
          <p:grpSpPr>
            <a:xfrm>
              <a:off x="6813579" y="3450701"/>
              <a:ext cx="3393652" cy="1416558"/>
              <a:chOff x="5512517" y="3054371"/>
              <a:chExt cx="3393652" cy="1416558"/>
            </a:xfrm>
          </p:grpSpPr>
          <p:sp>
            <p:nvSpPr>
              <p:cNvPr id="11" name="Rectangle 10">
                <a:extLst>
                  <a:ext uri="{FF2B5EF4-FFF2-40B4-BE49-F238E27FC236}">
                    <a16:creationId xmlns:a16="http://schemas.microsoft.com/office/drawing/2014/main" id="{4F342456-AA1C-5042-A31D-988CD1570909}"/>
                  </a:ext>
                </a:extLst>
              </p:cNvPr>
              <p:cNvSpPr/>
              <p:nvPr/>
            </p:nvSpPr>
            <p:spPr>
              <a:xfrm>
                <a:off x="5512517" y="3639932"/>
                <a:ext cx="3393652" cy="830997"/>
              </a:xfrm>
              <a:prstGeom prst="rect">
                <a:avLst/>
              </a:prstGeom>
            </p:spPr>
            <p:txBody>
              <a:bodyPr wrap="square">
                <a:spAutoFit/>
              </a:bodyPr>
              <a:lstStyle/>
              <a:p>
                <a:r>
                  <a:rPr lang="en-US" sz="2400" dirty="0"/>
                  <a:t>bra and ket are complex conjugates of each other</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30ADB84F-7B4F-B442-9E12-DE6C5ACD51DF}"/>
                      </a:ext>
                    </a:extLst>
                  </p:cNvPr>
                  <p:cNvSpPr/>
                  <p:nvPr/>
                </p:nvSpPr>
                <p:spPr>
                  <a:xfrm>
                    <a:off x="6156206" y="3054371"/>
                    <a:ext cx="1803892" cy="5343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a:latin typeface="Cambria Math" panose="02040503050406030204" pitchFamily="18" charset="0"/>
                            </a:rPr>
                            <m:t>⟨</m:t>
                          </m:r>
                          <m:r>
                            <a:rPr lang="en-US" sz="2800" i="1">
                              <a:latin typeface="Cambria Math" panose="02040503050406030204" pitchFamily="18" charset="0"/>
                            </a:rPr>
                            <m:t>𝑎</m:t>
                          </m:r>
                          <m:r>
                            <a:rPr lang="en-US" sz="2800" i="0">
                              <a:latin typeface="Cambria Math" panose="02040503050406030204" pitchFamily="18" charset="0"/>
                            </a:rPr>
                            <m:t>|=</m:t>
                          </m:r>
                          <m:sSup>
                            <m:sSupPr>
                              <m:ctrlPr>
                                <a:rPr lang="en-US" sz="2800" i="1">
                                  <a:latin typeface="Cambria Math" panose="02040503050406030204" pitchFamily="18" charset="0"/>
                                </a:rPr>
                              </m:ctrlPr>
                            </m:sSupPr>
                            <m:e>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e>
                            <m:sup>
                              <m:r>
                                <a:rPr lang="en-US" sz="2800" i="0">
                                  <a:latin typeface="Cambria Math" panose="02040503050406030204" pitchFamily="18" charset="0"/>
                                </a:rPr>
                                <m:t>†</m:t>
                              </m:r>
                            </m:sup>
                          </m:sSup>
                        </m:oMath>
                      </m:oMathPara>
                    </a14:m>
                    <a:endParaRPr lang="en-US" sz="2800" dirty="0"/>
                  </a:p>
                </p:txBody>
              </p:sp>
            </mc:Choice>
            <mc:Fallback xmlns="">
              <p:sp>
                <p:nvSpPr>
                  <p:cNvPr id="12" name="Rectangle 11">
                    <a:extLst>
                      <a:ext uri="{FF2B5EF4-FFF2-40B4-BE49-F238E27FC236}">
                        <a16:creationId xmlns:a16="http://schemas.microsoft.com/office/drawing/2014/main" id="{30ADB84F-7B4F-B442-9E12-DE6C5ACD51DF}"/>
                      </a:ext>
                    </a:extLst>
                  </p:cNvPr>
                  <p:cNvSpPr>
                    <a:spLocks noRot="1" noChangeAspect="1" noMove="1" noResize="1" noEditPoints="1" noAdjustHandles="1" noChangeArrowheads="1" noChangeShapeType="1" noTextEdit="1"/>
                  </p:cNvSpPr>
                  <p:nvPr/>
                </p:nvSpPr>
                <p:spPr>
                  <a:xfrm>
                    <a:off x="6156206" y="3054371"/>
                    <a:ext cx="1803892" cy="534377"/>
                  </a:xfrm>
                  <a:prstGeom prst="rect">
                    <a:avLst/>
                  </a:prstGeom>
                  <a:blipFill>
                    <a:blip r:embed="rId5"/>
                    <a:stretch>
                      <a:fillRect l="-699" b="-18605"/>
                    </a:stretch>
                  </a:blipFill>
                </p:spPr>
                <p:txBody>
                  <a:bodyPr/>
                  <a:lstStyle/>
                  <a:p>
                    <a:r>
                      <a:rPr lang="en-US">
                        <a:noFill/>
                      </a:rPr>
                      <a:t> </a:t>
                    </a:r>
                  </a:p>
                </p:txBody>
              </p:sp>
            </mc:Fallback>
          </mc:AlternateContent>
        </p:grpSp>
      </p:grpSp>
      <p:grpSp>
        <p:nvGrpSpPr>
          <p:cNvPr id="33" name="Group 32">
            <a:extLst>
              <a:ext uri="{FF2B5EF4-FFF2-40B4-BE49-F238E27FC236}">
                <a16:creationId xmlns:a16="http://schemas.microsoft.com/office/drawing/2014/main" id="{D64CBBA6-AB84-3648-8A65-2CB45E3BDBB0}"/>
              </a:ext>
            </a:extLst>
          </p:cNvPr>
          <p:cNvGrpSpPr/>
          <p:nvPr/>
        </p:nvGrpSpPr>
        <p:grpSpPr>
          <a:xfrm>
            <a:off x="5734256" y="475684"/>
            <a:ext cx="6678014" cy="1719521"/>
            <a:chOff x="6028985" y="1275595"/>
            <a:chExt cx="6678014" cy="1719521"/>
          </a:xfrm>
        </p:grpSpPr>
        <p:sp>
          <p:nvSpPr>
            <p:cNvPr id="28" name="Rounded Rectangle 27">
              <a:extLst>
                <a:ext uri="{FF2B5EF4-FFF2-40B4-BE49-F238E27FC236}">
                  <a16:creationId xmlns:a16="http://schemas.microsoft.com/office/drawing/2014/main" id="{45A19EB0-EBB2-4144-ADA8-ED0C112710CC}"/>
                </a:ext>
              </a:extLst>
            </p:cNvPr>
            <p:cNvSpPr/>
            <p:nvPr/>
          </p:nvSpPr>
          <p:spPr>
            <a:xfrm>
              <a:off x="6028985" y="1355681"/>
              <a:ext cx="5744364" cy="1639435"/>
            </a:xfrm>
            <a:prstGeom prst="roundRect">
              <a:avLst>
                <a:gd name="adj" fmla="val 11958"/>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A3DA4E74-460A-0544-814D-68E2CEDF5748}"/>
                </a:ext>
              </a:extLst>
            </p:cNvPr>
            <p:cNvGrpSpPr/>
            <p:nvPr/>
          </p:nvGrpSpPr>
          <p:grpSpPr>
            <a:xfrm>
              <a:off x="6190601" y="1275595"/>
              <a:ext cx="6516398" cy="1707397"/>
              <a:chOff x="4889539" y="1275595"/>
              <a:chExt cx="6516398" cy="1707397"/>
            </a:xfrm>
          </p:grpSpPr>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9B5B44D7-907C-1B4D-84FD-DEE830B489F5}"/>
                      </a:ext>
                    </a:extLst>
                  </p:cNvPr>
                  <p:cNvSpPr/>
                  <p:nvPr/>
                </p:nvSpPr>
                <p:spPr>
                  <a:xfrm>
                    <a:off x="4889539" y="1275595"/>
                    <a:ext cx="5582747" cy="1313116"/>
                  </a:xfrm>
                  <a:prstGeom prst="rect">
                    <a:avLst/>
                  </a:prstGeom>
                </p:spPr>
                <p:txBody>
                  <a:bodyPr wrap="none">
                    <a:spAutoFit/>
                  </a:bodyPr>
                  <a:lstStyle/>
                  <a:p>
                    <a14:m>
                      <m:oMath xmlns:m="http://schemas.openxmlformats.org/officeDocument/2006/math">
                        <m:d>
                          <m:dPr>
                            <m:begChr m:val="|"/>
                            <m:endChr m:val="⟩"/>
                            <m:ctrlPr>
                              <a:rPr lang="en-US" sz="2800" i="1" smtClean="0">
                                <a:latin typeface="Cambria Math" panose="02040503050406030204" pitchFamily="18" charset="0"/>
                              </a:rPr>
                            </m:ctrlPr>
                          </m:dPr>
                          <m:e>
                            <m:r>
                              <a:rPr lang="en-US" sz="2800" i="1">
                                <a:latin typeface="Cambria Math" panose="02040503050406030204" pitchFamily="18" charset="0"/>
                              </a:rPr>
                              <m:t>𝑎</m:t>
                            </m:r>
                          </m:e>
                        </m:d>
                      </m:oMath>
                    </a14:m>
                    <a:r>
                      <a:rPr lang="en-US" sz="2800" dirty="0"/>
                      <a:t> </a:t>
                    </a:r>
                    <a14:m>
                      <m:oMath xmlns:m="http://schemas.openxmlformats.org/officeDocument/2006/math">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𝑏</m:t>
                            </m:r>
                          </m:e>
                        </m:d>
                        <m:r>
                          <a:rPr lang="en-US" sz="2800" b="0" i="1" smtClean="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oMath>
                    </a14:m>
                    <a:r>
                      <a:rPr lang="en-US" sz="2800" dirty="0"/>
                      <a:t> ⨂ </a:t>
                    </a:r>
                    <a14:m>
                      <m:oMath xmlns:m="http://schemas.openxmlformats.org/officeDocument/2006/math">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𝑏</m:t>
                            </m:r>
                          </m:e>
                        </m:d>
                        <m:r>
                          <a:rPr lang="en-US" sz="2800" b="0" i="0" smtClean="0">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1"/>
                                      <m:mcJc m:val="center"/>
                                    </m:mcPr>
                                  </m:mc>
                                </m:mcs>
                                <m:ctrlPr>
                                  <a:rPr lang="en-US" sz="2800" i="1">
                                    <a:latin typeface="Cambria Math" panose="02040503050406030204" pitchFamily="18" charset="0"/>
                                  </a:rPr>
                                </m:ctrlPr>
                              </m:mPr>
                              <m:mr>
                                <m:e>
                                  <m:sSub>
                                    <m:sSubPr>
                                      <m:ctrlPr>
                                        <a:rPr lang="en-US" sz="2800" i="1">
                                          <a:latin typeface="Cambria Math" panose="02040503050406030204" pitchFamily="18" charset="0"/>
                                        </a:rPr>
                                      </m:ctrlPr>
                                    </m:sSubPr>
                                    <m:e>
                                      <m:r>
                                        <a:rPr lang="en-US" sz="2800" i="1" smtClean="0">
                                          <a:latin typeface="Cambria Math" panose="02040503050406030204" pitchFamily="18" charset="0"/>
                                        </a:rPr>
                                        <m:t>𝑎</m:t>
                                      </m:r>
                                    </m:e>
                                    <m:sub>
                                      <m:r>
                                        <a:rPr lang="en-US" sz="2800">
                                          <a:latin typeface="Cambria Math" panose="02040503050406030204" pitchFamily="18" charset="0"/>
                                        </a:rPr>
                                        <m:t>1</m:t>
                                      </m:r>
                                    </m:sub>
                                  </m:sSub>
                                </m:e>
                              </m:mr>
                              <m:mr>
                                <m:e>
                                  <m:r>
                                    <a:rPr lang="en-US" sz="2800">
                                      <a:latin typeface="Cambria Math" panose="02040503050406030204" pitchFamily="18" charset="0"/>
                                    </a:rPr>
                                    <m:t>⋮</m:t>
                                  </m:r>
                                </m:e>
                              </m:mr>
                              <m:m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𝑛</m:t>
                                      </m:r>
                                    </m:sub>
                                  </m:sSub>
                                </m:e>
                              </m:mr>
                            </m:m>
                          </m:e>
                        </m:d>
                      </m:oMath>
                    </a14:m>
                    <a:r>
                      <a:rPr lang="en-US" sz="2800" dirty="0"/>
                      <a:t> ⨂ </a:t>
                    </a:r>
                    <a14:m>
                      <m:oMath xmlns:m="http://schemas.openxmlformats.org/officeDocument/2006/math">
                        <m:d>
                          <m:dPr>
                            <m:ctrlPr>
                              <a:rPr lang="en-US" sz="2800" i="1">
                                <a:latin typeface="Cambria Math" panose="02040503050406030204" pitchFamily="18" charset="0"/>
                              </a:rPr>
                            </m:ctrlPr>
                          </m:dPr>
                          <m:e>
                            <m:m>
                              <m:mPr>
                                <m:plcHide m:val="on"/>
                                <m:mcs>
                                  <m:mc>
                                    <m:mcPr>
                                      <m:count m:val="1"/>
                                      <m:mcJc m:val="center"/>
                                    </m:mcPr>
                                  </m:mc>
                                </m:mcs>
                                <m:ctrlPr>
                                  <a:rPr lang="en-US" sz="2800" i="1">
                                    <a:latin typeface="Cambria Math" panose="02040503050406030204" pitchFamily="18" charset="0"/>
                                  </a:rPr>
                                </m:ctrlPr>
                              </m:mPr>
                              <m:mr>
                                <m:e>
                                  <m:sSub>
                                    <m:sSubPr>
                                      <m:ctrlPr>
                                        <a:rPr lang="en-US" sz="2800" i="1">
                                          <a:latin typeface="Cambria Math" panose="02040503050406030204" pitchFamily="18" charset="0"/>
                                        </a:rPr>
                                      </m:ctrlPr>
                                    </m:sSubPr>
                                    <m:e>
                                      <m:r>
                                        <a:rPr lang="en-US" sz="2800" b="0" i="1" smtClean="0">
                                          <a:latin typeface="Cambria Math" panose="02040503050406030204" pitchFamily="18" charset="0"/>
                                        </a:rPr>
                                        <m:t>𝑏</m:t>
                                      </m:r>
                                    </m:e>
                                    <m:sub>
                                      <m:r>
                                        <a:rPr lang="en-US" sz="2800">
                                          <a:latin typeface="Cambria Math" panose="02040503050406030204" pitchFamily="18" charset="0"/>
                                        </a:rPr>
                                        <m:t>1</m:t>
                                      </m:r>
                                    </m:sub>
                                  </m:sSub>
                                </m:e>
                              </m:mr>
                              <m:mr>
                                <m:e>
                                  <m:r>
                                    <a:rPr lang="en-US" sz="2800">
                                      <a:latin typeface="Cambria Math" panose="02040503050406030204" pitchFamily="18" charset="0"/>
                                    </a:rPr>
                                    <m:t>⋮</m:t>
                                  </m:r>
                                </m:e>
                              </m:mr>
                              <m:mr>
                                <m:e>
                                  <m:sSub>
                                    <m:sSubPr>
                                      <m:ctrlPr>
                                        <a:rPr lang="en-US" sz="2800" i="1">
                                          <a:latin typeface="Cambria Math" panose="02040503050406030204" pitchFamily="18" charset="0"/>
                                        </a:rPr>
                                      </m:ctrlPr>
                                    </m:sSubPr>
                                    <m:e>
                                      <m:r>
                                        <a:rPr lang="en-US" sz="2800" b="0" i="1" smtClean="0">
                                          <a:latin typeface="Cambria Math" panose="02040503050406030204" pitchFamily="18" charset="0"/>
                                        </a:rPr>
                                        <m:t>𝑏</m:t>
                                      </m:r>
                                    </m:e>
                                    <m:sub>
                                      <m:r>
                                        <a:rPr lang="en-US" sz="2800" i="1">
                                          <a:latin typeface="Cambria Math" panose="02040503050406030204" pitchFamily="18" charset="0"/>
                                        </a:rPr>
                                        <m:t>𝑛</m:t>
                                      </m:r>
                                    </m:sub>
                                  </m:sSub>
                                </m:e>
                              </m:mr>
                            </m:m>
                          </m:e>
                        </m:d>
                      </m:oMath>
                    </a14:m>
                    <a:endParaRPr lang="en-US" sz="2800" dirty="0"/>
                  </a:p>
                </p:txBody>
              </p:sp>
            </mc:Choice>
            <mc:Fallback xmlns="">
              <p:sp>
                <p:nvSpPr>
                  <p:cNvPr id="15" name="Rectangle 14">
                    <a:extLst>
                      <a:ext uri="{FF2B5EF4-FFF2-40B4-BE49-F238E27FC236}">
                        <a16:creationId xmlns:a16="http://schemas.microsoft.com/office/drawing/2014/main" id="{9B5B44D7-907C-1B4D-84FD-DEE830B489F5}"/>
                      </a:ext>
                    </a:extLst>
                  </p:cNvPr>
                  <p:cNvSpPr>
                    <a:spLocks noRot="1" noChangeAspect="1" noMove="1" noResize="1" noEditPoints="1" noAdjustHandles="1" noChangeArrowheads="1" noChangeShapeType="1" noTextEdit="1"/>
                  </p:cNvSpPr>
                  <p:nvPr/>
                </p:nvSpPr>
                <p:spPr>
                  <a:xfrm>
                    <a:off x="4889539" y="1275595"/>
                    <a:ext cx="5582747" cy="1313116"/>
                  </a:xfrm>
                  <a:prstGeom prst="rect">
                    <a:avLst/>
                  </a:prstGeom>
                  <a:blipFill>
                    <a:blip r:embed="rId6"/>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64706EEF-1FB6-164D-AF3B-0DD4FCBB6BAE}"/>
                  </a:ext>
                </a:extLst>
              </p:cNvPr>
              <p:cNvSpPr txBox="1"/>
              <p:nvPr/>
            </p:nvSpPr>
            <p:spPr>
              <a:xfrm>
                <a:off x="4889539" y="2521327"/>
                <a:ext cx="6516398" cy="461665"/>
              </a:xfrm>
              <a:prstGeom prst="rect">
                <a:avLst/>
              </a:prstGeom>
              <a:noFill/>
            </p:spPr>
            <p:txBody>
              <a:bodyPr wrap="square" rtlCol="0">
                <a:spAutoFit/>
              </a:bodyPr>
              <a:lstStyle/>
              <a:p>
                <a:r>
                  <a:rPr lang="en-US" sz="2400" dirty="0"/>
                  <a:t>ket-ket product is the Kronecker product</a:t>
                </a:r>
              </a:p>
            </p:txBody>
          </p:sp>
        </p:grpSp>
      </p:grpSp>
      <p:grpSp>
        <p:nvGrpSpPr>
          <p:cNvPr id="6" name="Group 5">
            <a:extLst>
              <a:ext uri="{FF2B5EF4-FFF2-40B4-BE49-F238E27FC236}">
                <a16:creationId xmlns:a16="http://schemas.microsoft.com/office/drawing/2014/main" id="{47042A80-21AD-7D41-82E0-CF190A5C63F1}"/>
              </a:ext>
            </a:extLst>
          </p:cNvPr>
          <p:cNvGrpSpPr/>
          <p:nvPr/>
        </p:nvGrpSpPr>
        <p:grpSpPr>
          <a:xfrm>
            <a:off x="5814174" y="2500842"/>
            <a:ext cx="5664445" cy="2043974"/>
            <a:chOff x="115015" y="4575631"/>
            <a:chExt cx="5664445" cy="2043974"/>
          </a:xfrm>
        </p:grpSpPr>
        <p:sp>
          <p:nvSpPr>
            <p:cNvPr id="25" name="Rounded Rectangle 24">
              <a:extLst>
                <a:ext uri="{FF2B5EF4-FFF2-40B4-BE49-F238E27FC236}">
                  <a16:creationId xmlns:a16="http://schemas.microsoft.com/office/drawing/2014/main" id="{2F1E1D9B-5434-1642-B175-C6C70BC87CB8}"/>
                </a:ext>
              </a:extLst>
            </p:cNvPr>
            <p:cNvSpPr/>
            <p:nvPr/>
          </p:nvSpPr>
          <p:spPr>
            <a:xfrm>
              <a:off x="115015" y="4575631"/>
              <a:ext cx="5664445" cy="2043974"/>
            </a:xfrm>
            <a:prstGeom prst="roundRect">
              <a:avLst>
                <a:gd name="adj" fmla="val 11958"/>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22AD6663-38E1-DE4B-8E40-6E2F4C2C1C67}"/>
                </a:ext>
              </a:extLst>
            </p:cNvPr>
            <p:cNvGrpSpPr/>
            <p:nvPr/>
          </p:nvGrpSpPr>
          <p:grpSpPr>
            <a:xfrm>
              <a:off x="288551" y="4722119"/>
              <a:ext cx="5340690" cy="1649693"/>
              <a:chOff x="47921" y="3903166"/>
              <a:chExt cx="5340690" cy="1649693"/>
            </a:xfrm>
          </p:grpSpPr>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D0217CB7-7A2F-1B4A-B890-BD46F623A082}"/>
                      </a:ext>
                    </a:extLst>
                  </p:cNvPr>
                  <p:cNvSpPr/>
                  <p:nvPr/>
                </p:nvSpPr>
                <p:spPr>
                  <a:xfrm>
                    <a:off x="422829" y="3903166"/>
                    <a:ext cx="4487639" cy="13131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smtClean="0">
                              <a:solidFill>
                                <a:schemeClr val="tx1"/>
                              </a:solidFill>
                              <a:latin typeface="Cambria Math" panose="02040503050406030204" pitchFamily="18" charset="0"/>
                            </a:rPr>
                            <m:t>⟨</m:t>
                          </m:r>
                          <m:r>
                            <a:rPr lang="en-US" sz="2800" b="0" i="1">
                              <a:solidFill>
                                <a:schemeClr val="tx1"/>
                              </a:solidFill>
                              <a:latin typeface="Cambria Math" panose="02040503050406030204" pitchFamily="18" charset="0"/>
                            </a:rPr>
                            <m:t>𝑎</m:t>
                          </m:r>
                          <m:d>
                            <m:dPr>
                              <m:begChr m:val="|"/>
                              <m:endChr m:val="⟩"/>
                              <m:ctrlPr>
                                <a:rPr lang="en-US" sz="2800" i="1">
                                  <a:solidFill>
                                    <a:schemeClr val="tx1"/>
                                  </a:solidFill>
                                  <a:latin typeface="Cambria Math" panose="02040503050406030204" pitchFamily="18" charset="0"/>
                                </a:rPr>
                              </m:ctrlPr>
                            </m:dPr>
                            <m:e>
                              <m:r>
                                <a:rPr lang="en-US" sz="2800" b="0" i="1">
                                  <a:solidFill>
                                    <a:schemeClr val="tx1"/>
                                  </a:solidFill>
                                  <a:latin typeface="Cambria Math" panose="02040503050406030204" pitchFamily="18" charset="0"/>
                                </a:rPr>
                                <m:t>𝑏</m:t>
                              </m:r>
                            </m:e>
                          </m:d>
                          <m:r>
                            <a:rPr lang="en-US" sz="2800" b="0">
                              <a:solidFill>
                                <a:schemeClr val="tx1"/>
                              </a:solidFill>
                              <a:latin typeface="Cambria Math" panose="02040503050406030204" pitchFamily="18" charset="0"/>
                            </a:rPr>
                            <m:t>=</m:t>
                          </m:r>
                          <m:d>
                            <m:dPr>
                              <m:ctrlPr>
                                <a:rPr lang="en-US" sz="2800" i="1">
                                  <a:latin typeface="Cambria Math" panose="02040503050406030204" pitchFamily="18" charset="0"/>
                                </a:rPr>
                              </m:ctrlPr>
                            </m:dPr>
                            <m:e>
                              <m:m>
                                <m:mPr>
                                  <m:plcHide m:val="on"/>
                                  <m:mcs>
                                    <m:mc>
                                      <m:mcPr>
                                        <m:count m:val="3"/>
                                        <m:mcJc m:val="center"/>
                                      </m:mcPr>
                                    </m:mc>
                                  </m:mcs>
                                  <m:ctrlPr>
                                    <a:rPr lang="en-US" sz="2800" i="1">
                                      <a:latin typeface="Cambria Math" panose="02040503050406030204" pitchFamily="18" charset="0"/>
                                    </a:rPr>
                                  </m:ctrlPr>
                                </m:mPr>
                                <m:mr>
                                  <m:e>
                                    <m:sSubSup>
                                      <m:sSubSupPr>
                                        <m:ctrlPr>
                                          <a:rPr lang="en-US" sz="2800" i="1">
                                            <a:latin typeface="Cambria Math" panose="02040503050406030204" pitchFamily="18" charset="0"/>
                                          </a:rPr>
                                        </m:ctrlPr>
                                      </m:sSubSupPr>
                                      <m:e>
                                        <m:r>
                                          <a:rPr lang="en-US" sz="2800" i="1">
                                            <a:latin typeface="Cambria Math" panose="02040503050406030204" pitchFamily="18" charset="0"/>
                                          </a:rPr>
                                          <m:t>𝑎</m:t>
                                        </m:r>
                                      </m:e>
                                      <m:sub>
                                        <m:r>
                                          <a:rPr lang="en-US" sz="2800">
                                            <a:latin typeface="Cambria Math" panose="02040503050406030204" pitchFamily="18" charset="0"/>
                                          </a:rPr>
                                          <m:t>1</m:t>
                                        </m:r>
                                      </m:sub>
                                      <m:sup>
                                        <m:r>
                                          <a:rPr lang="en-US" sz="2800">
                                            <a:latin typeface="Cambria Math" panose="02040503050406030204" pitchFamily="18" charset="0"/>
                                          </a:rPr>
                                          <m:t>∗</m:t>
                                        </m:r>
                                      </m:sup>
                                    </m:sSubSup>
                                  </m:e>
                                  <m:e>
                                    <m:r>
                                      <a:rPr lang="en-US" sz="2800">
                                        <a:latin typeface="Cambria Math" panose="02040503050406030204" pitchFamily="18" charset="0"/>
                                      </a:rPr>
                                      <m:t>⋯</m:t>
                                    </m:r>
                                  </m:e>
                                  <m:e>
                                    <m:sSubSup>
                                      <m:sSubSupPr>
                                        <m:ctrlPr>
                                          <a:rPr lang="en-US" sz="2800" i="1">
                                            <a:latin typeface="Cambria Math" panose="02040503050406030204" pitchFamily="18" charset="0"/>
                                          </a:rPr>
                                        </m:ctrlPr>
                                      </m:sSubSupPr>
                                      <m:e>
                                        <m:r>
                                          <a:rPr lang="en-US" sz="2800" i="1">
                                            <a:latin typeface="Cambria Math" panose="02040503050406030204" pitchFamily="18" charset="0"/>
                                          </a:rPr>
                                          <m:t>𝑎</m:t>
                                        </m:r>
                                      </m:e>
                                      <m:sub>
                                        <m:r>
                                          <a:rPr lang="en-US" sz="2800" i="1">
                                            <a:latin typeface="Cambria Math" panose="02040503050406030204" pitchFamily="18" charset="0"/>
                                          </a:rPr>
                                          <m:t>𝑛</m:t>
                                        </m:r>
                                      </m:sub>
                                      <m:sup>
                                        <m:r>
                                          <a:rPr lang="en-US" sz="2800">
                                            <a:latin typeface="Cambria Math" panose="02040503050406030204" pitchFamily="18" charset="0"/>
                                          </a:rPr>
                                          <m:t>∗</m:t>
                                        </m:r>
                                      </m:sup>
                                    </m:sSubSup>
                                  </m:e>
                                </m:mr>
                              </m:m>
                            </m:e>
                          </m:d>
                          <m:d>
                            <m:dPr>
                              <m:ctrlPr>
                                <a:rPr lang="en-US" sz="2800" i="1">
                                  <a:latin typeface="Cambria Math" panose="02040503050406030204" pitchFamily="18" charset="0"/>
                                </a:rPr>
                              </m:ctrlPr>
                            </m:dPr>
                            <m:e>
                              <m:m>
                                <m:mPr>
                                  <m:plcHide m:val="on"/>
                                  <m:mcs>
                                    <m:mc>
                                      <m:mcPr>
                                        <m:count m:val="1"/>
                                        <m:mcJc m:val="center"/>
                                      </m:mcPr>
                                    </m:mc>
                                  </m:mcs>
                                  <m:ctrlPr>
                                    <a:rPr lang="en-US" sz="2800" i="1">
                                      <a:latin typeface="Cambria Math" panose="02040503050406030204" pitchFamily="18" charset="0"/>
                                    </a:rPr>
                                  </m:ctrlPr>
                                </m:mPr>
                                <m:mr>
                                  <m:e>
                                    <m:sSub>
                                      <m:sSubPr>
                                        <m:ctrlPr>
                                          <a:rPr lang="en-US" sz="2800" i="1">
                                            <a:latin typeface="Cambria Math" panose="02040503050406030204" pitchFamily="18" charset="0"/>
                                          </a:rPr>
                                        </m:ctrlPr>
                                      </m:sSubPr>
                                      <m:e>
                                        <m:r>
                                          <a:rPr lang="en-US" sz="2800" i="1">
                                            <a:latin typeface="Cambria Math" panose="02040503050406030204" pitchFamily="18" charset="0"/>
                                          </a:rPr>
                                          <m:t>𝑏</m:t>
                                        </m:r>
                                      </m:e>
                                      <m:sub>
                                        <m:r>
                                          <a:rPr lang="en-US" sz="2800">
                                            <a:latin typeface="Cambria Math" panose="02040503050406030204" pitchFamily="18" charset="0"/>
                                          </a:rPr>
                                          <m:t>1</m:t>
                                        </m:r>
                                      </m:sub>
                                    </m:sSub>
                                  </m:e>
                                </m:mr>
                                <m:mr>
                                  <m:e>
                                    <m:r>
                                      <a:rPr lang="en-US" sz="2800">
                                        <a:latin typeface="Cambria Math" panose="02040503050406030204" pitchFamily="18" charset="0"/>
                                      </a:rPr>
                                      <m:t>⋮</m:t>
                                    </m:r>
                                  </m:e>
                                </m:mr>
                                <m:mr>
                                  <m:e>
                                    <m:sSub>
                                      <m:sSubPr>
                                        <m:ctrlPr>
                                          <a:rPr lang="en-US" sz="2800" i="1">
                                            <a:latin typeface="Cambria Math" panose="02040503050406030204" pitchFamily="18" charset="0"/>
                                          </a:rPr>
                                        </m:ctrlPr>
                                      </m:sSubPr>
                                      <m:e>
                                        <m:r>
                                          <a:rPr lang="en-US" sz="2800" i="1">
                                            <a:latin typeface="Cambria Math" panose="02040503050406030204" pitchFamily="18" charset="0"/>
                                          </a:rPr>
                                          <m:t>𝑏</m:t>
                                        </m:r>
                                      </m:e>
                                      <m:sub>
                                        <m:r>
                                          <a:rPr lang="en-US" sz="2800" i="1">
                                            <a:latin typeface="Cambria Math" panose="02040503050406030204" pitchFamily="18" charset="0"/>
                                          </a:rPr>
                                          <m:t>𝑛</m:t>
                                        </m:r>
                                      </m:sub>
                                    </m:sSub>
                                  </m:e>
                                </m:mr>
                              </m:m>
                            </m:e>
                          </m:d>
                        </m:oMath>
                      </m:oMathPara>
                    </a14:m>
                    <a:endParaRPr lang="en-US" sz="2800" dirty="0"/>
                  </a:p>
                </p:txBody>
              </p:sp>
            </mc:Choice>
            <mc:Fallback xmlns="">
              <p:sp>
                <p:nvSpPr>
                  <p:cNvPr id="13" name="Rectangle 12">
                    <a:extLst>
                      <a:ext uri="{FF2B5EF4-FFF2-40B4-BE49-F238E27FC236}">
                        <a16:creationId xmlns:a16="http://schemas.microsoft.com/office/drawing/2014/main" id="{D0217CB7-7A2F-1B4A-B890-BD46F623A082}"/>
                      </a:ext>
                    </a:extLst>
                  </p:cNvPr>
                  <p:cNvSpPr>
                    <a:spLocks noRot="1" noChangeAspect="1" noMove="1" noResize="1" noEditPoints="1" noAdjustHandles="1" noChangeArrowheads="1" noChangeShapeType="1" noTextEdit="1"/>
                  </p:cNvSpPr>
                  <p:nvPr/>
                </p:nvSpPr>
                <p:spPr>
                  <a:xfrm>
                    <a:off x="422829" y="3903166"/>
                    <a:ext cx="4487639" cy="1313116"/>
                  </a:xfrm>
                  <a:prstGeom prst="rect">
                    <a:avLst/>
                  </a:prstGeom>
                  <a:blipFill>
                    <a:blip r:embed="rId7"/>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1ED64B56-6011-714E-B771-6BB96B64C611}"/>
                  </a:ext>
                </a:extLst>
              </p:cNvPr>
              <p:cNvSpPr txBox="1"/>
              <p:nvPr/>
            </p:nvSpPr>
            <p:spPr>
              <a:xfrm>
                <a:off x="47921" y="5091194"/>
                <a:ext cx="5340690" cy="461665"/>
              </a:xfrm>
              <a:prstGeom prst="rect">
                <a:avLst/>
              </a:prstGeom>
              <a:noFill/>
            </p:spPr>
            <p:txBody>
              <a:bodyPr wrap="square" rtlCol="0">
                <a:spAutoFit/>
              </a:bodyPr>
              <a:lstStyle/>
              <a:p>
                <a:pPr algn="ctr"/>
                <a:r>
                  <a:rPr lang="en-US" sz="2400" dirty="0"/>
                  <a:t>bra-ket product is the inner product</a:t>
                </a:r>
              </a:p>
            </p:txBody>
          </p:sp>
        </p:grpSp>
      </p:grpSp>
      <p:grpSp>
        <p:nvGrpSpPr>
          <p:cNvPr id="29" name="Group 28">
            <a:extLst>
              <a:ext uri="{FF2B5EF4-FFF2-40B4-BE49-F238E27FC236}">
                <a16:creationId xmlns:a16="http://schemas.microsoft.com/office/drawing/2014/main" id="{BB9DE9ED-26CA-CC46-9E0D-70B2B7F89227}"/>
              </a:ext>
            </a:extLst>
          </p:cNvPr>
          <p:cNvGrpSpPr/>
          <p:nvPr/>
        </p:nvGrpSpPr>
        <p:grpSpPr>
          <a:xfrm>
            <a:off x="5895872" y="4691304"/>
            <a:ext cx="5664444" cy="2043974"/>
            <a:chOff x="6257617" y="4632685"/>
            <a:chExt cx="5664444" cy="2043974"/>
          </a:xfrm>
        </p:grpSpPr>
        <p:sp>
          <p:nvSpPr>
            <p:cNvPr id="31" name="Rounded Rectangle 30">
              <a:extLst>
                <a:ext uri="{FF2B5EF4-FFF2-40B4-BE49-F238E27FC236}">
                  <a16:creationId xmlns:a16="http://schemas.microsoft.com/office/drawing/2014/main" id="{AA95894E-9CF3-9844-9216-24E8B6B7FD2C}"/>
                </a:ext>
              </a:extLst>
            </p:cNvPr>
            <p:cNvSpPr/>
            <p:nvPr/>
          </p:nvSpPr>
          <p:spPr>
            <a:xfrm>
              <a:off x="6257617" y="4632685"/>
              <a:ext cx="5664444" cy="2043974"/>
            </a:xfrm>
            <a:prstGeom prst="roundRect">
              <a:avLst>
                <a:gd name="adj" fmla="val 11958"/>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4" name="Group 23">
              <a:extLst>
                <a:ext uri="{FF2B5EF4-FFF2-40B4-BE49-F238E27FC236}">
                  <a16:creationId xmlns:a16="http://schemas.microsoft.com/office/drawing/2014/main" id="{4EFEF8BE-9327-734F-B50F-6AC76BF18454}"/>
                </a:ext>
              </a:extLst>
            </p:cNvPr>
            <p:cNvGrpSpPr/>
            <p:nvPr/>
          </p:nvGrpSpPr>
          <p:grpSpPr>
            <a:xfrm>
              <a:off x="6365390" y="4791834"/>
              <a:ext cx="5474974" cy="1789760"/>
              <a:chOff x="5064327" y="3977890"/>
              <a:chExt cx="5474974" cy="1789760"/>
            </a:xfrm>
          </p:grpSpPr>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154995CB-5FE0-F249-B35C-DCF6E3906D2E}"/>
                      </a:ext>
                    </a:extLst>
                  </p:cNvPr>
                  <p:cNvSpPr/>
                  <p:nvPr/>
                </p:nvSpPr>
                <p:spPr>
                  <a:xfrm>
                    <a:off x="5387488" y="3977890"/>
                    <a:ext cx="4559261" cy="123303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𝑎</m:t>
                              </m:r>
                            </m:e>
                          </m:d>
                          <m:r>
                            <a:rPr lang="en-US" sz="2800">
                              <a:latin typeface="Cambria Math" panose="02040503050406030204" pitchFamily="18" charset="0"/>
                            </a:rPr>
                            <m:t>⟨</m:t>
                          </m:r>
                          <m:r>
                            <a:rPr lang="en-US" sz="2800" i="1">
                              <a:latin typeface="Cambria Math" panose="02040503050406030204" pitchFamily="18" charset="0"/>
                            </a:rPr>
                            <m:t>𝑏</m:t>
                          </m:r>
                          <m:r>
                            <a:rPr lang="en-US" sz="2800">
                              <a:latin typeface="Cambria Math" panose="02040503050406030204" pitchFamily="18" charset="0"/>
                            </a:rPr>
                            <m:t>|=</m:t>
                          </m:r>
                          <m:d>
                            <m:dPr>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1</m:t>
                                        </m:r>
                                      </m:sub>
                                    </m:sSub>
                                  </m:e>
                                </m:mr>
                                <m:mr>
                                  <m:e>
                                    <m:r>
                                      <a:rPr lang="en-US" sz="2800" i="1">
                                        <a:latin typeface="Cambria Math" panose="02040503050406030204" pitchFamily="18" charset="0"/>
                                      </a:rPr>
                                      <m:t>⋮</m:t>
                                    </m:r>
                                  </m:e>
                                </m:mr>
                                <m:mr>
                                  <m:e>
                                    <m:sSub>
                                      <m:sSubPr>
                                        <m:ctrlPr>
                                          <a:rPr lang="en-US" sz="2800" i="1">
                                            <a:latin typeface="Cambria Math" panose="02040503050406030204" pitchFamily="18" charset="0"/>
                                          </a:rPr>
                                        </m:ctrlPr>
                                      </m:sSubPr>
                                      <m:e>
                                        <m:r>
                                          <a:rPr lang="en-US" sz="2800" i="1">
                                            <a:latin typeface="Cambria Math" panose="02040503050406030204" pitchFamily="18" charset="0"/>
                                          </a:rPr>
                                          <m:t>𝑎</m:t>
                                        </m:r>
                                      </m:e>
                                      <m:sub>
                                        <m:r>
                                          <a:rPr lang="en-US" sz="2800" i="1">
                                            <a:latin typeface="Cambria Math" panose="02040503050406030204" pitchFamily="18" charset="0"/>
                                          </a:rPr>
                                          <m:t>𝑛</m:t>
                                        </m:r>
                                      </m:sub>
                                    </m:sSub>
                                  </m:e>
                                </m:mr>
                              </m:m>
                            </m:e>
                          </m:d>
                          <m:d>
                            <m:dPr>
                              <m:ctrlPr>
                                <a:rPr lang="en-US" sz="2800" i="1">
                                  <a:latin typeface="Cambria Math" panose="02040503050406030204" pitchFamily="18" charset="0"/>
                                </a:rPr>
                              </m:ctrlPr>
                            </m:dPr>
                            <m:e>
                              <m:m>
                                <m:mPr>
                                  <m:mcs>
                                    <m:mc>
                                      <m:mcPr>
                                        <m:count m:val="3"/>
                                        <m:mcJc m:val="center"/>
                                      </m:mcPr>
                                    </m:mc>
                                  </m:mcs>
                                  <m:ctrlPr>
                                    <a:rPr lang="en-US" sz="2800" i="1">
                                      <a:latin typeface="Cambria Math" panose="02040503050406030204" pitchFamily="18" charset="0"/>
                                    </a:rPr>
                                  </m:ctrlPr>
                                </m:mPr>
                                <m:mr>
                                  <m:e>
                                    <m:sSubSup>
                                      <m:sSubSupPr>
                                        <m:ctrlPr>
                                          <a:rPr lang="en-US" sz="2800" i="1">
                                            <a:latin typeface="Cambria Math" panose="02040503050406030204" pitchFamily="18" charset="0"/>
                                          </a:rPr>
                                        </m:ctrlPr>
                                      </m:sSubSupPr>
                                      <m:e>
                                        <m:r>
                                          <a:rPr lang="en-US" sz="2800" i="1">
                                            <a:latin typeface="Cambria Math" panose="02040503050406030204" pitchFamily="18" charset="0"/>
                                          </a:rPr>
                                          <m:t>𝑏</m:t>
                                        </m:r>
                                      </m:e>
                                      <m:sub>
                                        <m:r>
                                          <a:rPr lang="en-US" sz="2800" i="1">
                                            <a:latin typeface="Cambria Math" panose="02040503050406030204" pitchFamily="18" charset="0"/>
                                          </a:rPr>
                                          <m:t>1</m:t>
                                        </m:r>
                                      </m:sub>
                                      <m:sup>
                                        <m:r>
                                          <a:rPr lang="en-US" sz="2800" i="1">
                                            <a:latin typeface="Cambria Math" panose="02040503050406030204" pitchFamily="18" charset="0"/>
                                          </a:rPr>
                                          <m:t>∗</m:t>
                                        </m:r>
                                      </m:sup>
                                    </m:sSubSup>
                                  </m:e>
                                  <m:e>
                                    <m:r>
                                      <a:rPr lang="en-US" sz="2800" i="1">
                                        <a:latin typeface="Cambria Math" panose="02040503050406030204" pitchFamily="18" charset="0"/>
                                      </a:rPr>
                                      <m:t>⋯</m:t>
                                    </m:r>
                                  </m:e>
                                  <m:e>
                                    <m:sSubSup>
                                      <m:sSubSupPr>
                                        <m:ctrlPr>
                                          <a:rPr lang="en-US" sz="2800" i="1">
                                            <a:latin typeface="Cambria Math" panose="02040503050406030204" pitchFamily="18" charset="0"/>
                                          </a:rPr>
                                        </m:ctrlPr>
                                      </m:sSubSupPr>
                                      <m:e>
                                        <m:r>
                                          <a:rPr lang="en-US" sz="2800" i="1">
                                            <a:latin typeface="Cambria Math" panose="02040503050406030204" pitchFamily="18" charset="0"/>
                                          </a:rPr>
                                          <m:t>𝑏</m:t>
                                        </m:r>
                                      </m:e>
                                      <m:sub>
                                        <m:r>
                                          <a:rPr lang="en-US" sz="2800" i="1">
                                            <a:latin typeface="Cambria Math" panose="02040503050406030204" pitchFamily="18" charset="0"/>
                                          </a:rPr>
                                          <m:t>𝑛</m:t>
                                        </m:r>
                                      </m:sub>
                                      <m:sup>
                                        <m:r>
                                          <a:rPr lang="en-US" sz="2800" i="1">
                                            <a:latin typeface="Cambria Math" panose="02040503050406030204" pitchFamily="18" charset="0"/>
                                          </a:rPr>
                                          <m:t>∗</m:t>
                                        </m:r>
                                      </m:sup>
                                    </m:sSubSup>
                                  </m:e>
                                </m:mr>
                              </m:m>
                            </m:e>
                          </m:d>
                        </m:oMath>
                      </m:oMathPara>
                    </a14:m>
                    <a:endParaRPr lang="en-US" sz="2800" dirty="0"/>
                  </a:p>
                </p:txBody>
              </p:sp>
            </mc:Choice>
            <mc:Fallback xmlns="">
              <p:sp>
                <p:nvSpPr>
                  <p:cNvPr id="14" name="Rectangle 13">
                    <a:extLst>
                      <a:ext uri="{FF2B5EF4-FFF2-40B4-BE49-F238E27FC236}">
                        <a16:creationId xmlns:a16="http://schemas.microsoft.com/office/drawing/2014/main" id="{154995CB-5FE0-F249-B35C-DCF6E3906D2E}"/>
                      </a:ext>
                    </a:extLst>
                  </p:cNvPr>
                  <p:cNvSpPr>
                    <a:spLocks noRot="1" noChangeAspect="1" noMove="1" noResize="1" noEditPoints="1" noAdjustHandles="1" noChangeArrowheads="1" noChangeShapeType="1" noTextEdit="1"/>
                  </p:cNvSpPr>
                  <p:nvPr/>
                </p:nvSpPr>
                <p:spPr>
                  <a:xfrm>
                    <a:off x="5387488" y="3977890"/>
                    <a:ext cx="4559261" cy="1233030"/>
                  </a:xfrm>
                  <a:prstGeom prst="rect">
                    <a:avLst/>
                  </a:prstGeom>
                  <a:blipFill>
                    <a:blip r:embed="rId8"/>
                    <a:stretch>
                      <a:fillRect b="-1020"/>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9E29DBE3-65A1-DD43-B4C4-072E4E5E67AF}"/>
                  </a:ext>
                </a:extLst>
              </p:cNvPr>
              <p:cNvSpPr txBox="1"/>
              <p:nvPr/>
            </p:nvSpPr>
            <p:spPr>
              <a:xfrm>
                <a:off x="5064327" y="5305985"/>
                <a:ext cx="5474974" cy="461665"/>
              </a:xfrm>
              <a:prstGeom prst="rect">
                <a:avLst/>
              </a:prstGeom>
              <a:noFill/>
            </p:spPr>
            <p:txBody>
              <a:bodyPr wrap="square" rtlCol="0">
                <a:spAutoFit/>
              </a:bodyPr>
              <a:lstStyle/>
              <a:p>
                <a:pPr algn="ctr"/>
                <a:r>
                  <a:rPr lang="en-US" sz="2400" dirty="0"/>
                  <a:t>ket-bra product is the outer product</a:t>
                </a:r>
              </a:p>
            </p:txBody>
          </p:sp>
        </p:grpSp>
      </p:grpSp>
    </p:spTree>
    <p:extLst>
      <p:ext uri="{BB962C8B-B14F-4D97-AF65-F5344CB8AC3E}">
        <p14:creationId xmlns:p14="http://schemas.microsoft.com/office/powerpoint/2010/main" val="222070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dissolv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dissolve">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dissolve">
                                      <p:cBhvr>
                                        <p:cTn id="2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8D20F-50E4-2B4E-ACE7-2E4008D33AF2}"/>
              </a:ext>
            </a:extLst>
          </p:cNvPr>
          <p:cNvSpPr>
            <a:spLocks noGrp="1"/>
          </p:cNvSpPr>
          <p:nvPr>
            <p:ph type="title"/>
          </p:nvPr>
        </p:nvSpPr>
        <p:spPr>
          <a:xfrm>
            <a:off x="0" y="0"/>
            <a:ext cx="12192000" cy="928688"/>
          </a:xfrm>
        </p:spPr>
        <p:txBody>
          <a:bodyPr/>
          <a:lstStyle/>
          <a:p>
            <a:r>
              <a:rPr lang="en-US" dirty="0"/>
              <a:t>Vector spaces</a:t>
            </a:r>
          </a:p>
        </p:txBody>
      </p:sp>
      <p:sp>
        <p:nvSpPr>
          <p:cNvPr id="3" name="Slide Number Placeholder 2">
            <a:extLst>
              <a:ext uri="{FF2B5EF4-FFF2-40B4-BE49-F238E27FC236}">
                <a16:creationId xmlns:a16="http://schemas.microsoft.com/office/drawing/2014/main" id="{198DFAE3-9D16-0748-BD23-7EA0DD0C7C77}"/>
              </a:ext>
            </a:extLst>
          </p:cNvPr>
          <p:cNvSpPr>
            <a:spLocks noGrp="1"/>
          </p:cNvSpPr>
          <p:nvPr>
            <p:ph type="sldNum" sz="quarter" idx="12"/>
          </p:nvPr>
        </p:nvSpPr>
        <p:spPr/>
        <p:txBody>
          <a:bodyPr/>
          <a:lstStyle/>
          <a:p>
            <a:fld id="{591A223C-FA10-BC46-A853-03BA373D023C}" type="slidenum">
              <a:rPr lang="en-US" smtClean="0"/>
              <a:t>40</a:t>
            </a:fld>
            <a:endParaRPr lang="en-US" dirty="0"/>
          </a:p>
        </p:txBody>
      </p:sp>
      <p:graphicFrame>
        <p:nvGraphicFramePr>
          <p:cNvPr id="5" name="Diagram 4">
            <a:extLst>
              <a:ext uri="{FF2B5EF4-FFF2-40B4-BE49-F238E27FC236}">
                <a16:creationId xmlns:a16="http://schemas.microsoft.com/office/drawing/2014/main" id="{A91AD4AD-3855-5B44-8514-4427581A188E}"/>
              </a:ext>
            </a:extLst>
          </p:cNvPr>
          <p:cNvGraphicFramePr/>
          <p:nvPr>
            <p:extLst>
              <p:ext uri="{D42A27DB-BD31-4B8C-83A1-F6EECF244321}">
                <p14:modId xmlns:p14="http://schemas.microsoft.com/office/powerpoint/2010/main" val="516256210"/>
              </p:ext>
            </p:extLst>
          </p:nvPr>
        </p:nvGraphicFramePr>
        <p:xfrm>
          <a:off x="603604" y="1711375"/>
          <a:ext cx="7131321" cy="41607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C6954332-20EE-F44B-92C5-AEFD391A49E3}"/>
              </a:ext>
            </a:extLst>
          </p:cNvPr>
          <p:cNvSpPr txBox="1"/>
          <p:nvPr/>
        </p:nvSpPr>
        <p:spPr>
          <a:xfrm>
            <a:off x="8693158" y="5401807"/>
            <a:ext cx="2708755" cy="369332"/>
          </a:xfrm>
          <a:prstGeom prst="rect">
            <a:avLst/>
          </a:prstGeom>
          <a:noFill/>
        </p:spPr>
        <p:txBody>
          <a:bodyPr wrap="none" rtlCol="0">
            <a:spAutoFit/>
          </a:bodyPr>
          <a:lstStyle/>
          <a:p>
            <a:r>
              <a:rPr lang="en-US" dirty="0"/>
              <a:t>David Hilbert (1862–1943) </a:t>
            </a:r>
          </a:p>
        </p:txBody>
      </p:sp>
      <p:pic>
        <p:nvPicPr>
          <p:cNvPr id="7" name="Picture 6">
            <a:extLst>
              <a:ext uri="{FF2B5EF4-FFF2-40B4-BE49-F238E27FC236}">
                <a16:creationId xmlns:a16="http://schemas.microsoft.com/office/drawing/2014/main" id="{8B974FFB-6610-B74D-B82E-09ABA231E106}"/>
              </a:ext>
            </a:extLst>
          </p:cNvPr>
          <p:cNvPicPr>
            <a:picLocks noChangeAspect="1"/>
          </p:cNvPicPr>
          <p:nvPr/>
        </p:nvPicPr>
        <p:blipFill>
          <a:blip r:embed="rId8"/>
          <a:stretch>
            <a:fillRect/>
          </a:stretch>
        </p:blipFill>
        <p:spPr>
          <a:xfrm>
            <a:off x="8381607" y="1861457"/>
            <a:ext cx="3020306" cy="3409721"/>
          </a:xfrm>
          <a:prstGeom prst="rect">
            <a:avLst/>
          </a:prstGeom>
        </p:spPr>
      </p:pic>
    </p:spTree>
    <p:extLst>
      <p:ext uri="{BB962C8B-B14F-4D97-AF65-F5344CB8AC3E}">
        <p14:creationId xmlns:p14="http://schemas.microsoft.com/office/powerpoint/2010/main" val="19730666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EEA37-8D67-1A45-91E1-FABA3B16976C}"/>
              </a:ext>
            </a:extLst>
          </p:cNvPr>
          <p:cNvSpPr>
            <a:spLocks noGrp="1"/>
          </p:cNvSpPr>
          <p:nvPr>
            <p:ph type="title"/>
          </p:nvPr>
        </p:nvSpPr>
        <p:spPr>
          <a:xfrm>
            <a:off x="0" y="0"/>
            <a:ext cx="12192000" cy="928688"/>
          </a:xfrm>
        </p:spPr>
        <p:txBody>
          <a:bodyPr/>
          <a:lstStyle/>
          <a:p>
            <a:r>
              <a:rPr lang="en-ZA" dirty="0"/>
              <a:t>Basis Vectors</a:t>
            </a:r>
            <a:endParaRPr lang="en-US" dirty="0"/>
          </a:p>
        </p:txBody>
      </p:sp>
      <p:sp>
        <p:nvSpPr>
          <p:cNvPr id="4" name="TextBox 3">
            <a:extLst>
              <a:ext uri="{FF2B5EF4-FFF2-40B4-BE49-F238E27FC236}">
                <a16:creationId xmlns:a16="http://schemas.microsoft.com/office/drawing/2014/main" id="{1081E279-6FF3-0745-A22A-50B06639013F}"/>
              </a:ext>
            </a:extLst>
          </p:cNvPr>
          <p:cNvSpPr txBox="1"/>
          <p:nvPr/>
        </p:nvSpPr>
        <p:spPr>
          <a:xfrm>
            <a:off x="12646325" y="5848709"/>
            <a:ext cx="184731" cy="369332"/>
          </a:xfrm>
          <a:prstGeom prst="rect">
            <a:avLst/>
          </a:prstGeom>
          <a:noFill/>
        </p:spPr>
        <p:txBody>
          <a:bodyPr wrap="none" rtlCol="0">
            <a:spAutoFit/>
          </a:bodyPr>
          <a:lstStyle/>
          <a:p>
            <a:endParaRPr lang="en-US" dirty="0"/>
          </a:p>
        </p:txBody>
      </p:sp>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0D7D2395-A84D-0345-B3A5-C2977B96954E}"/>
                  </a:ext>
                </a:extLst>
              </p:cNvPr>
              <p:cNvSpPr/>
              <p:nvPr/>
            </p:nvSpPr>
            <p:spPr>
              <a:xfrm>
                <a:off x="1110115" y="4721459"/>
                <a:ext cx="52931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1" i="1">
                          <a:solidFill>
                            <a:schemeClr val="tx1">
                              <a:lumMod val="50000"/>
                              <a:lumOff val="50000"/>
                            </a:schemeClr>
                          </a:solidFill>
                          <a:latin typeface="Cambria Math" panose="02040503050406030204" pitchFamily="18" charset="0"/>
                        </a:rPr>
                        <m:t>𝑶</m:t>
                      </m:r>
                    </m:oMath>
                  </m:oMathPara>
                </a14:m>
                <a:endParaRPr lang="en-US" sz="2800" b="1" i="1" dirty="0">
                  <a:solidFill>
                    <a:schemeClr val="tx1">
                      <a:lumMod val="50000"/>
                      <a:lumOff val="50000"/>
                    </a:schemeClr>
                  </a:solidFill>
                </a:endParaRPr>
              </a:p>
            </p:txBody>
          </p:sp>
        </mc:Choice>
        <mc:Fallback xmlns="">
          <p:sp>
            <p:nvSpPr>
              <p:cNvPr id="14" name="Rectangle 13">
                <a:extLst>
                  <a:ext uri="{FF2B5EF4-FFF2-40B4-BE49-F238E27FC236}">
                    <a16:creationId xmlns:a16="http://schemas.microsoft.com/office/drawing/2014/main" id="{0D7D2395-A84D-0345-B3A5-C2977B96954E}"/>
                  </a:ext>
                </a:extLst>
              </p:cNvPr>
              <p:cNvSpPr>
                <a:spLocks noRot="1" noChangeAspect="1" noMove="1" noResize="1" noEditPoints="1" noAdjustHandles="1" noChangeArrowheads="1" noChangeShapeType="1" noTextEdit="1"/>
              </p:cNvSpPr>
              <p:nvPr/>
            </p:nvSpPr>
            <p:spPr>
              <a:xfrm>
                <a:off x="1110115" y="4721459"/>
                <a:ext cx="529311"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A2E9FB81-FE72-384A-BAEA-BFCAD2D92256}"/>
                  </a:ext>
                </a:extLst>
              </p:cNvPr>
              <p:cNvSpPr/>
              <p:nvPr/>
            </p:nvSpPr>
            <p:spPr>
              <a:xfrm>
                <a:off x="3084426" y="5024475"/>
                <a:ext cx="46519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a:solidFill>
                            <a:schemeClr val="tx1">
                              <a:lumMod val="50000"/>
                              <a:lumOff val="50000"/>
                            </a:schemeClr>
                          </a:solidFill>
                          <a:latin typeface="Cambria Math" panose="02040503050406030204" pitchFamily="18" charset="0"/>
                        </a:rPr>
                        <m:t>1</m:t>
                      </m:r>
                    </m:oMath>
                  </m:oMathPara>
                </a14:m>
                <a:endParaRPr lang="en-US" sz="2800" dirty="0">
                  <a:solidFill>
                    <a:schemeClr val="tx1">
                      <a:lumMod val="50000"/>
                      <a:lumOff val="50000"/>
                    </a:schemeClr>
                  </a:solidFill>
                </a:endParaRPr>
              </a:p>
            </p:txBody>
          </p:sp>
        </mc:Choice>
        <mc:Fallback xmlns="">
          <p:sp>
            <p:nvSpPr>
              <p:cNvPr id="15" name="Rectangle 14">
                <a:extLst>
                  <a:ext uri="{FF2B5EF4-FFF2-40B4-BE49-F238E27FC236}">
                    <a16:creationId xmlns:a16="http://schemas.microsoft.com/office/drawing/2014/main" id="{A2E9FB81-FE72-384A-BAEA-BFCAD2D92256}"/>
                  </a:ext>
                </a:extLst>
              </p:cNvPr>
              <p:cNvSpPr>
                <a:spLocks noRot="1" noChangeAspect="1" noMove="1" noResize="1" noEditPoints="1" noAdjustHandles="1" noChangeArrowheads="1" noChangeShapeType="1" noTextEdit="1"/>
              </p:cNvSpPr>
              <p:nvPr/>
            </p:nvSpPr>
            <p:spPr>
              <a:xfrm>
                <a:off x="3084426" y="5024475"/>
                <a:ext cx="465192"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77F11BF7-0B19-9042-A50F-9D585F44EE37}"/>
                  </a:ext>
                </a:extLst>
              </p:cNvPr>
              <p:cNvSpPr/>
              <p:nvPr/>
            </p:nvSpPr>
            <p:spPr>
              <a:xfrm>
                <a:off x="4706844" y="5019794"/>
                <a:ext cx="46519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lumMod val="50000"/>
                              <a:lumOff val="50000"/>
                            </a:schemeClr>
                          </a:solidFill>
                          <a:latin typeface="Cambria Math" panose="02040503050406030204" pitchFamily="18" charset="0"/>
                        </a:rPr>
                        <m:t>2</m:t>
                      </m:r>
                    </m:oMath>
                  </m:oMathPara>
                </a14:m>
                <a:endParaRPr lang="en-US" sz="2800" dirty="0">
                  <a:solidFill>
                    <a:schemeClr val="tx1">
                      <a:lumMod val="50000"/>
                      <a:lumOff val="50000"/>
                    </a:schemeClr>
                  </a:solidFill>
                </a:endParaRPr>
              </a:p>
            </p:txBody>
          </p:sp>
        </mc:Choice>
        <mc:Fallback xmlns="">
          <p:sp>
            <p:nvSpPr>
              <p:cNvPr id="16" name="Rectangle 15">
                <a:extLst>
                  <a:ext uri="{FF2B5EF4-FFF2-40B4-BE49-F238E27FC236}">
                    <a16:creationId xmlns:a16="http://schemas.microsoft.com/office/drawing/2014/main" id="{77F11BF7-0B19-9042-A50F-9D585F44EE37}"/>
                  </a:ext>
                </a:extLst>
              </p:cNvPr>
              <p:cNvSpPr>
                <a:spLocks noRot="1" noChangeAspect="1" noMove="1" noResize="1" noEditPoints="1" noAdjustHandles="1" noChangeArrowheads="1" noChangeShapeType="1" noTextEdit="1"/>
              </p:cNvSpPr>
              <p:nvPr/>
            </p:nvSpPr>
            <p:spPr>
              <a:xfrm>
                <a:off x="4706844" y="5019794"/>
                <a:ext cx="465192" cy="523220"/>
              </a:xfrm>
              <a:prstGeom prst="rect">
                <a:avLst/>
              </a:prstGeom>
              <a:blipFill>
                <a:blip r:embed="rId5"/>
                <a:stretch>
                  <a:fillRect/>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4C3869B7-BA6C-D54B-A507-91A13D75E0AC}"/>
              </a:ext>
            </a:extLst>
          </p:cNvPr>
          <p:cNvCxnSpPr>
            <a:cxnSpLocks/>
          </p:cNvCxnSpPr>
          <p:nvPr/>
        </p:nvCxnSpPr>
        <p:spPr>
          <a:xfrm flipV="1">
            <a:off x="1684124" y="2143439"/>
            <a:ext cx="0" cy="3463727"/>
          </a:xfrm>
          <a:prstGeom prst="straightConnector1">
            <a:avLst/>
          </a:prstGeom>
          <a:ln w="12700" cap="rnd">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411F12D-4BA0-FD43-8CDE-0EB850F1E987}"/>
              </a:ext>
            </a:extLst>
          </p:cNvPr>
          <p:cNvCxnSpPr>
            <a:cxnSpLocks/>
          </p:cNvCxnSpPr>
          <p:nvPr/>
        </p:nvCxnSpPr>
        <p:spPr>
          <a:xfrm>
            <a:off x="1358330" y="4708275"/>
            <a:ext cx="4628402" cy="0"/>
          </a:xfrm>
          <a:prstGeom prst="straightConnector1">
            <a:avLst/>
          </a:prstGeom>
          <a:ln w="12700" cap="rnd">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33AF365-EC9D-B64F-8FE9-3E9CB1164D24}"/>
              </a:ext>
            </a:extLst>
          </p:cNvPr>
          <p:cNvCxnSpPr>
            <a:cxnSpLocks/>
          </p:cNvCxnSpPr>
          <p:nvPr/>
        </p:nvCxnSpPr>
        <p:spPr>
          <a:xfrm>
            <a:off x="3317022" y="4465941"/>
            <a:ext cx="0" cy="44199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4DF67BC-6B95-2D4C-80FE-1F1FC28701A3}"/>
              </a:ext>
            </a:extLst>
          </p:cNvPr>
          <p:cNvCxnSpPr>
            <a:cxnSpLocks/>
          </p:cNvCxnSpPr>
          <p:nvPr/>
        </p:nvCxnSpPr>
        <p:spPr>
          <a:xfrm rot="16200000">
            <a:off x="1684128" y="2726747"/>
            <a:ext cx="0" cy="412032"/>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1C60CB0E-FBBB-684C-9242-49552072410F}"/>
                  </a:ext>
                </a:extLst>
              </p:cNvPr>
              <p:cNvSpPr/>
              <p:nvPr/>
            </p:nvSpPr>
            <p:spPr>
              <a:xfrm>
                <a:off x="5434269" y="4703728"/>
                <a:ext cx="46807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i="1">
                          <a:latin typeface="Cambria Math" panose="02040503050406030204" pitchFamily="18" charset="0"/>
                        </a:rPr>
                        <m:t>𝑥</m:t>
                      </m:r>
                    </m:oMath>
                  </m:oMathPara>
                </a14:m>
                <a:endParaRPr lang="en-US" sz="2800" dirty="0"/>
              </a:p>
            </p:txBody>
          </p:sp>
        </mc:Choice>
        <mc:Fallback xmlns="">
          <p:sp>
            <p:nvSpPr>
              <p:cNvPr id="21" name="Rectangle 20">
                <a:extLst>
                  <a:ext uri="{FF2B5EF4-FFF2-40B4-BE49-F238E27FC236}">
                    <a16:creationId xmlns:a16="http://schemas.microsoft.com/office/drawing/2014/main" id="{1C60CB0E-FBBB-684C-9242-49552072410F}"/>
                  </a:ext>
                </a:extLst>
              </p:cNvPr>
              <p:cNvSpPr>
                <a:spLocks noRot="1" noChangeAspect="1" noMove="1" noResize="1" noEditPoints="1" noAdjustHandles="1" noChangeArrowheads="1" noChangeShapeType="1" noTextEdit="1"/>
              </p:cNvSpPr>
              <p:nvPr/>
            </p:nvSpPr>
            <p:spPr>
              <a:xfrm>
                <a:off x="5434269" y="4703728"/>
                <a:ext cx="468077"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21491611-4263-3A4E-83AB-6B50058AC8EE}"/>
                  </a:ext>
                </a:extLst>
              </p:cNvPr>
              <p:cNvSpPr/>
              <p:nvPr/>
            </p:nvSpPr>
            <p:spPr>
              <a:xfrm>
                <a:off x="975775" y="1881829"/>
                <a:ext cx="47295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𝑦</m:t>
                      </m:r>
                    </m:oMath>
                  </m:oMathPara>
                </a14:m>
                <a:endParaRPr lang="en-US" sz="2800" dirty="0"/>
              </a:p>
            </p:txBody>
          </p:sp>
        </mc:Choice>
        <mc:Fallback xmlns="">
          <p:sp>
            <p:nvSpPr>
              <p:cNvPr id="22" name="Rectangle 21">
                <a:extLst>
                  <a:ext uri="{FF2B5EF4-FFF2-40B4-BE49-F238E27FC236}">
                    <a16:creationId xmlns:a16="http://schemas.microsoft.com/office/drawing/2014/main" id="{21491611-4263-3A4E-83AB-6B50058AC8EE}"/>
                  </a:ext>
                </a:extLst>
              </p:cNvPr>
              <p:cNvSpPr>
                <a:spLocks noRot="1" noChangeAspect="1" noMove="1" noResize="1" noEditPoints="1" noAdjustHandles="1" noChangeArrowheads="1" noChangeShapeType="1" noTextEdit="1"/>
              </p:cNvSpPr>
              <p:nvPr/>
            </p:nvSpPr>
            <p:spPr>
              <a:xfrm>
                <a:off x="975775" y="1881829"/>
                <a:ext cx="472950" cy="523220"/>
              </a:xfrm>
              <a:prstGeom prst="rect">
                <a:avLst/>
              </a:prstGeom>
              <a:blipFill>
                <a:blip r:embed="rId7"/>
                <a:stretch>
                  <a:fillRect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CB383CA3-5C77-1844-829E-6799376BDC86}"/>
                  </a:ext>
                </a:extLst>
              </p:cNvPr>
              <p:cNvSpPr/>
              <p:nvPr/>
            </p:nvSpPr>
            <p:spPr>
              <a:xfrm>
                <a:off x="803682" y="2660496"/>
                <a:ext cx="46519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a:solidFill>
                            <a:schemeClr val="tx1">
                              <a:lumMod val="50000"/>
                              <a:lumOff val="50000"/>
                            </a:schemeClr>
                          </a:solidFill>
                          <a:latin typeface="Cambria Math" panose="02040503050406030204" pitchFamily="18" charset="0"/>
                        </a:rPr>
                        <m:t>1</m:t>
                      </m:r>
                    </m:oMath>
                  </m:oMathPara>
                </a14:m>
                <a:endParaRPr lang="en-US" sz="2800" dirty="0">
                  <a:solidFill>
                    <a:schemeClr val="tx1">
                      <a:lumMod val="50000"/>
                      <a:lumOff val="50000"/>
                    </a:schemeClr>
                  </a:solidFill>
                </a:endParaRPr>
              </a:p>
            </p:txBody>
          </p:sp>
        </mc:Choice>
        <mc:Fallback xmlns="">
          <p:sp>
            <p:nvSpPr>
              <p:cNvPr id="23" name="Rectangle 22">
                <a:extLst>
                  <a:ext uri="{FF2B5EF4-FFF2-40B4-BE49-F238E27FC236}">
                    <a16:creationId xmlns:a16="http://schemas.microsoft.com/office/drawing/2014/main" id="{CB383CA3-5C77-1844-829E-6799376BDC86}"/>
                  </a:ext>
                </a:extLst>
              </p:cNvPr>
              <p:cNvSpPr>
                <a:spLocks noRot="1" noChangeAspect="1" noMove="1" noResize="1" noEditPoints="1" noAdjustHandles="1" noChangeArrowheads="1" noChangeShapeType="1" noTextEdit="1"/>
              </p:cNvSpPr>
              <p:nvPr/>
            </p:nvSpPr>
            <p:spPr>
              <a:xfrm>
                <a:off x="803682" y="2660496"/>
                <a:ext cx="465192" cy="523220"/>
              </a:xfrm>
              <a:prstGeom prst="rect">
                <a:avLst/>
              </a:prstGeom>
              <a:blipFill>
                <a:blip r:embed="rId8"/>
                <a:stretch>
                  <a:fillRect/>
                </a:stretch>
              </a:blipFill>
            </p:spPr>
            <p:txBody>
              <a:bodyPr/>
              <a:lstStyle/>
              <a:p>
                <a:r>
                  <a:rPr lang="en-US">
                    <a:noFill/>
                  </a:rPr>
                  <a:t> </a:t>
                </a:r>
              </a:p>
            </p:txBody>
          </p:sp>
        </mc:Fallback>
      </mc:AlternateContent>
      <p:cxnSp>
        <p:nvCxnSpPr>
          <p:cNvPr id="26" name="Straight Arrow Connector 25">
            <a:extLst>
              <a:ext uri="{FF2B5EF4-FFF2-40B4-BE49-F238E27FC236}">
                <a16:creationId xmlns:a16="http://schemas.microsoft.com/office/drawing/2014/main" id="{F80EAFBC-FFAA-0042-8474-4542F442AFEE}"/>
              </a:ext>
            </a:extLst>
          </p:cNvPr>
          <p:cNvCxnSpPr>
            <a:cxnSpLocks/>
          </p:cNvCxnSpPr>
          <p:nvPr/>
        </p:nvCxnSpPr>
        <p:spPr>
          <a:xfrm>
            <a:off x="1671330" y="4708275"/>
            <a:ext cx="1645699" cy="0"/>
          </a:xfrm>
          <a:prstGeom prst="straightConnector1">
            <a:avLst/>
          </a:prstGeom>
          <a:ln w="50800" cap="rnd">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4DC851E-96E6-5846-997B-D96EE5FF76B2}"/>
              </a:ext>
            </a:extLst>
          </p:cNvPr>
          <p:cNvCxnSpPr>
            <a:cxnSpLocks/>
          </p:cNvCxnSpPr>
          <p:nvPr/>
        </p:nvCxnSpPr>
        <p:spPr>
          <a:xfrm rot="16200000">
            <a:off x="792943" y="3801313"/>
            <a:ext cx="1765390" cy="6981"/>
          </a:xfrm>
          <a:prstGeom prst="straightConnector1">
            <a:avLst/>
          </a:prstGeom>
          <a:ln w="508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ED1FBC08-166B-A144-9ABC-2F5D3FFB9D7D}"/>
                  </a:ext>
                </a:extLst>
              </p:cNvPr>
              <p:cNvSpPr/>
              <p:nvPr/>
            </p:nvSpPr>
            <p:spPr>
              <a:xfrm>
                <a:off x="1817046" y="4683531"/>
                <a:ext cx="83542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2800" i="1">
                                  <a:solidFill>
                                    <a:srgbClr val="0000FF"/>
                                  </a:solidFill>
                                  <a:latin typeface="Cambria Math" panose="02040503050406030204" pitchFamily="18" charset="0"/>
                                  <a:cs typeface="Times New Roman" panose="02020603050405020304" pitchFamily="18" charset="0"/>
                                </a:rPr>
                              </m:ctrlPr>
                            </m:sSubPr>
                            <m:e>
                              <m:r>
                                <a:rPr lang="en-US" sz="2800" i="1">
                                  <a:solidFill>
                                    <a:srgbClr val="0000FF"/>
                                  </a:solidFill>
                                  <a:latin typeface="Cambria Math" panose="02040503050406030204" pitchFamily="18" charset="0"/>
                                  <a:cs typeface="Times New Roman" panose="02020603050405020304" pitchFamily="18" charset="0"/>
                                </a:rPr>
                                <m:t>𝑒</m:t>
                              </m:r>
                            </m:e>
                            <m:sub>
                              <m:r>
                                <a:rPr lang="en-US" sz="2800" i="1">
                                  <a:solidFill>
                                    <a:srgbClr val="0000FF"/>
                                  </a:solidFill>
                                  <a:latin typeface="Cambria Math" panose="02040503050406030204" pitchFamily="18" charset="0"/>
                                  <a:cs typeface="Times New Roman" panose="02020603050405020304" pitchFamily="18" charset="0"/>
                                </a:rPr>
                                <m:t>1</m:t>
                              </m:r>
                            </m:sub>
                          </m:sSub>
                        </m:e>
                      </m:d>
                    </m:oMath>
                  </m:oMathPara>
                </a14:m>
                <a:endParaRPr lang="en-US" sz="2800" dirty="0">
                  <a:solidFill>
                    <a:srgbClr val="0000FF"/>
                  </a:solidFill>
                </a:endParaRPr>
              </a:p>
            </p:txBody>
          </p:sp>
        </mc:Choice>
        <mc:Fallback xmlns="">
          <p:sp>
            <p:nvSpPr>
              <p:cNvPr id="30" name="Rectangle 29">
                <a:extLst>
                  <a:ext uri="{FF2B5EF4-FFF2-40B4-BE49-F238E27FC236}">
                    <a16:creationId xmlns:a16="http://schemas.microsoft.com/office/drawing/2014/main" id="{ED1FBC08-166B-A144-9ABC-2F5D3FFB9D7D}"/>
                  </a:ext>
                </a:extLst>
              </p:cNvPr>
              <p:cNvSpPr>
                <a:spLocks noRot="1" noChangeAspect="1" noMove="1" noResize="1" noEditPoints="1" noAdjustHandles="1" noChangeArrowheads="1" noChangeShapeType="1" noTextEdit="1"/>
              </p:cNvSpPr>
              <p:nvPr/>
            </p:nvSpPr>
            <p:spPr>
              <a:xfrm>
                <a:off x="1817046" y="4683531"/>
                <a:ext cx="835422"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1F80726F-70CA-7D40-9877-E84194E65F41}"/>
                  </a:ext>
                </a:extLst>
              </p:cNvPr>
              <p:cNvSpPr/>
              <p:nvPr/>
            </p:nvSpPr>
            <p:spPr>
              <a:xfrm>
                <a:off x="737894" y="3416184"/>
                <a:ext cx="84369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2800" i="1">
                                  <a:solidFill>
                                    <a:srgbClr val="FF0000"/>
                                  </a:solidFill>
                                  <a:latin typeface="Cambria Math" panose="02040503050406030204" pitchFamily="18" charset="0"/>
                                  <a:cs typeface="Times New Roman" panose="02020603050405020304" pitchFamily="18" charset="0"/>
                                </a:rPr>
                              </m:ctrlPr>
                            </m:sSubPr>
                            <m:e>
                              <m:r>
                                <a:rPr lang="en-US" sz="2800" i="1">
                                  <a:solidFill>
                                    <a:srgbClr val="FF0000"/>
                                  </a:solidFill>
                                  <a:latin typeface="Cambria Math" panose="02040503050406030204" pitchFamily="18" charset="0"/>
                                  <a:cs typeface="Times New Roman" panose="02020603050405020304" pitchFamily="18" charset="0"/>
                                </a:rPr>
                                <m:t>𝑒</m:t>
                              </m:r>
                            </m:e>
                            <m:sub>
                              <m:r>
                                <a:rPr lang="en-US" sz="2800" i="1">
                                  <a:solidFill>
                                    <a:srgbClr val="FF0000"/>
                                  </a:solidFill>
                                  <a:latin typeface="Cambria Math" panose="02040503050406030204" pitchFamily="18" charset="0"/>
                                  <a:cs typeface="Times New Roman" panose="02020603050405020304" pitchFamily="18" charset="0"/>
                                </a:rPr>
                                <m:t>2</m:t>
                              </m:r>
                            </m:sub>
                          </m:sSub>
                        </m:e>
                      </m:d>
                    </m:oMath>
                  </m:oMathPara>
                </a14:m>
                <a:endParaRPr lang="en-US" sz="2800" dirty="0">
                  <a:solidFill>
                    <a:srgbClr val="FF0000"/>
                  </a:solidFill>
                </a:endParaRPr>
              </a:p>
            </p:txBody>
          </p:sp>
        </mc:Choice>
        <mc:Fallback xmlns="">
          <p:sp>
            <p:nvSpPr>
              <p:cNvPr id="31" name="Rectangle 30">
                <a:extLst>
                  <a:ext uri="{FF2B5EF4-FFF2-40B4-BE49-F238E27FC236}">
                    <a16:creationId xmlns:a16="http://schemas.microsoft.com/office/drawing/2014/main" id="{1F80726F-70CA-7D40-9877-E84194E65F41}"/>
                  </a:ext>
                </a:extLst>
              </p:cNvPr>
              <p:cNvSpPr>
                <a:spLocks noRot="1" noChangeAspect="1" noMove="1" noResize="1" noEditPoints="1" noAdjustHandles="1" noChangeArrowheads="1" noChangeShapeType="1" noTextEdit="1"/>
              </p:cNvSpPr>
              <p:nvPr/>
            </p:nvSpPr>
            <p:spPr>
              <a:xfrm>
                <a:off x="737894" y="3416184"/>
                <a:ext cx="843693" cy="523220"/>
              </a:xfrm>
              <a:prstGeom prst="rect">
                <a:avLst/>
              </a:prstGeom>
              <a:blipFill>
                <a:blip r:embed="rId11"/>
                <a:stretch>
                  <a:fillRect b="-2381"/>
                </a:stretch>
              </a:blipFill>
            </p:spPr>
            <p:txBody>
              <a:bodyPr/>
              <a:lstStyle/>
              <a:p>
                <a:r>
                  <a:rPr lang="en-US">
                    <a:noFill/>
                  </a:rPr>
                  <a:t> </a:t>
                </a:r>
              </a:p>
            </p:txBody>
          </p:sp>
        </mc:Fallback>
      </mc:AlternateContent>
      <p:cxnSp>
        <p:nvCxnSpPr>
          <p:cNvPr id="32" name="Straight Connector 31">
            <a:extLst>
              <a:ext uri="{FF2B5EF4-FFF2-40B4-BE49-F238E27FC236}">
                <a16:creationId xmlns:a16="http://schemas.microsoft.com/office/drawing/2014/main" id="{CDD3F120-FCFE-8F40-9037-57DDE27F9043}"/>
              </a:ext>
            </a:extLst>
          </p:cNvPr>
          <p:cNvCxnSpPr>
            <a:cxnSpLocks/>
          </p:cNvCxnSpPr>
          <p:nvPr/>
        </p:nvCxnSpPr>
        <p:spPr>
          <a:xfrm>
            <a:off x="1679821" y="4465941"/>
            <a:ext cx="0" cy="44199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C18124C-ECAC-1346-960C-1C0CBB28D2DA}"/>
              </a:ext>
            </a:extLst>
          </p:cNvPr>
          <p:cNvCxnSpPr>
            <a:cxnSpLocks/>
          </p:cNvCxnSpPr>
          <p:nvPr/>
        </p:nvCxnSpPr>
        <p:spPr>
          <a:xfrm>
            <a:off x="4948699" y="4473454"/>
            <a:ext cx="0" cy="44199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D6BC451D-16DC-7549-987D-B8580872BDE6}"/>
              </a:ext>
            </a:extLst>
          </p:cNvPr>
          <p:cNvSpPr txBox="1"/>
          <p:nvPr/>
        </p:nvSpPr>
        <p:spPr>
          <a:xfrm>
            <a:off x="7585140" y="1477380"/>
            <a:ext cx="3727320" cy="2308324"/>
          </a:xfrm>
          <a:prstGeom prst="rect">
            <a:avLst/>
          </a:prstGeom>
          <a:noFill/>
        </p:spPr>
        <p:txBody>
          <a:bodyPr wrap="square" rtlCol="0">
            <a:spAutoFit/>
          </a:bodyPr>
          <a:lstStyle/>
          <a:p>
            <a:pPr algn="ctr"/>
            <a:r>
              <a:rPr lang="en-ZA" sz="2400" dirty="0"/>
              <a:t>A set of vectors forms a </a:t>
            </a:r>
            <a:r>
              <a:rPr lang="en-ZA" sz="2400" b="1" dirty="0"/>
              <a:t>basis</a:t>
            </a:r>
            <a:r>
              <a:rPr lang="en-ZA" sz="2400" dirty="0"/>
              <a:t> of a vector space if any vector in that space can be expressed as a sum of the basis vectors multiplied by scalars.</a:t>
            </a:r>
            <a:endParaRPr lang="en-US" sz="2400" dirty="0"/>
          </a:p>
        </p:txBody>
      </p:sp>
      <p:grpSp>
        <p:nvGrpSpPr>
          <p:cNvPr id="8" name="Group 7">
            <a:extLst>
              <a:ext uri="{FF2B5EF4-FFF2-40B4-BE49-F238E27FC236}">
                <a16:creationId xmlns:a16="http://schemas.microsoft.com/office/drawing/2014/main" id="{C4282B92-8C73-5A45-97A1-1C5A29AEB66A}"/>
              </a:ext>
            </a:extLst>
          </p:cNvPr>
          <p:cNvGrpSpPr/>
          <p:nvPr/>
        </p:nvGrpSpPr>
        <p:grpSpPr>
          <a:xfrm>
            <a:off x="1678463" y="2300908"/>
            <a:ext cx="10487427" cy="2886328"/>
            <a:chOff x="1678463" y="2300908"/>
            <a:chExt cx="10487427" cy="2886328"/>
          </a:xfrm>
        </p:grpSpPr>
        <p:grpSp>
          <p:nvGrpSpPr>
            <p:cNvPr id="7" name="Group 6">
              <a:extLst>
                <a:ext uri="{FF2B5EF4-FFF2-40B4-BE49-F238E27FC236}">
                  <a16:creationId xmlns:a16="http://schemas.microsoft.com/office/drawing/2014/main" id="{84AE22FA-AF11-714B-95ED-306B8461C066}"/>
                </a:ext>
              </a:extLst>
            </p:cNvPr>
            <p:cNvGrpSpPr/>
            <p:nvPr/>
          </p:nvGrpSpPr>
          <p:grpSpPr>
            <a:xfrm>
              <a:off x="1678463" y="2300908"/>
              <a:ext cx="3754046" cy="2886328"/>
              <a:chOff x="1678463" y="2300908"/>
              <a:chExt cx="3754046" cy="2886328"/>
            </a:xfrm>
          </p:grpSpPr>
          <p:grpSp>
            <p:nvGrpSpPr>
              <p:cNvPr id="6" name="Group 5">
                <a:extLst>
                  <a:ext uri="{FF2B5EF4-FFF2-40B4-BE49-F238E27FC236}">
                    <a16:creationId xmlns:a16="http://schemas.microsoft.com/office/drawing/2014/main" id="{97556F73-5410-9D47-B42C-387A561A8617}"/>
                  </a:ext>
                </a:extLst>
              </p:cNvPr>
              <p:cNvGrpSpPr/>
              <p:nvPr/>
            </p:nvGrpSpPr>
            <p:grpSpPr>
              <a:xfrm>
                <a:off x="1678463" y="2300908"/>
                <a:ext cx="3754046" cy="2363108"/>
                <a:chOff x="1678463" y="2300908"/>
                <a:chExt cx="3754046" cy="2363108"/>
              </a:xfrm>
            </p:grpSpPr>
            <p:cxnSp>
              <p:nvCxnSpPr>
                <p:cNvPr id="24" name="Straight Arrow Connector 23">
                  <a:extLst>
                    <a:ext uri="{FF2B5EF4-FFF2-40B4-BE49-F238E27FC236}">
                      <a16:creationId xmlns:a16="http://schemas.microsoft.com/office/drawing/2014/main" id="{3E6AE020-3672-3548-9D25-65AC3948AFEB}"/>
                    </a:ext>
                  </a:extLst>
                </p:cNvPr>
                <p:cNvCxnSpPr>
                  <a:cxnSpLocks/>
                </p:cNvCxnSpPr>
                <p:nvPr/>
              </p:nvCxnSpPr>
              <p:spPr>
                <a:xfrm flipV="1">
                  <a:off x="1678463" y="2966725"/>
                  <a:ext cx="3238144" cy="1697291"/>
                </a:xfrm>
                <a:prstGeom prst="straightConnector1">
                  <a:avLst/>
                </a:prstGeom>
                <a:ln w="50800" cap="rnd">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0F1A3F52-58C5-EC44-8B1E-BB7F7C9A0971}"/>
                        </a:ext>
                      </a:extLst>
                    </p:cNvPr>
                    <p:cNvSpPr/>
                    <p:nvPr/>
                  </p:nvSpPr>
                  <p:spPr>
                    <a:xfrm>
                      <a:off x="2279018" y="2300908"/>
                      <a:ext cx="315349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r>
                                  <a:rPr lang="en-US" sz="28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𝑣</m:t>
                                </m:r>
                              </m:e>
                            </m:d>
                            <m:r>
                              <a:rPr lang="en-US" sz="28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=2</m:t>
                            </m:r>
                            <m:d>
                              <m:dPr>
                                <m:begChr m:val="|"/>
                                <m:endChr m:val="⟩"/>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2800" i="1">
                                        <a:solidFill>
                                          <a:srgbClr val="0000FF"/>
                                        </a:solidFill>
                                        <a:latin typeface="Cambria Math" panose="02040503050406030204" pitchFamily="18" charset="0"/>
                                        <a:cs typeface="Times New Roman" panose="02020603050405020304" pitchFamily="18" charset="0"/>
                                      </a:rPr>
                                    </m:ctrlPr>
                                  </m:sSubPr>
                                  <m:e>
                                    <m:r>
                                      <a:rPr lang="en-US" sz="2800" i="1">
                                        <a:solidFill>
                                          <a:srgbClr val="0000FF"/>
                                        </a:solidFill>
                                        <a:latin typeface="Cambria Math" panose="02040503050406030204" pitchFamily="18" charset="0"/>
                                        <a:cs typeface="Times New Roman" panose="02020603050405020304" pitchFamily="18" charset="0"/>
                                      </a:rPr>
                                      <m:t>𝑒</m:t>
                                    </m:r>
                                  </m:e>
                                  <m:sub>
                                    <m:r>
                                      <a:rPr lang="en-US" sz="2800" i="1">
                                        <a:solidFill>
                                          <a:srgbClr val="0000FF"/>
                                        </a:solidFill>
                                        <a:latin typeface="Cambria Math" panose="02040503050406030204" pitchFamily="18" charset="0"/>
                                        <a:cs typeface="Times New Roman" panose="02020603050405020304" pitchFamily="18" charset="0"/>
                                      </a:rPr>
                                      <m:t>1</m:t>
                                    </m:r>
                                  </m:sub>
                                </m:sSub>
                              </m:e>
                            </m:d>
                            <m:r>
                              <a:rPr lang="en-US" sz="2800" b="0" i="1" smtClean="0">
                                <a:latin typeface="Cambria Math" panose="02040503050406030204" pitchFamily="18" charset="0"/>
                                <a:ea typeface="Times New Roman" panose="02020603050405020304" pitchFamily="18" charset="0"/>
                                <a:cs typeface="Times New Roman" panose="02020603050405020304" pitchFamily="18" charset="0"/>
                              </a:rPr>
                              <m:t>+1</m:t>
                            </m:r>
                            <m:d>
                              <m:dPr>
                                <m:begChr m:val="|"/>
                                <m:endChr m:val="⟩"/>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2800" i="1">
                                        <a:solidFill>
                                          <a:srgbClr val="FF0000"/>
                                        </a:solidFill>
                                        <a:latin typeface="Cambria Math" panose="02040503050406030204" pitchFamily="18" charset="0"/>
                                        <a:cs typeface="Times New Roman" panose="02020603050405020304" pitchFamily="18" charset="0"/>
                                      </a:rPr>
                                    </m:ctrlPr>
                                  </m:sSubPr>
                                  <m:e>
                                    <m:r>
                                      <a:rPr lang="en-US" sz="2800" i="1">
                                        <a:solidFill>
                                          <a:srgbClr val="FF0000"/>
                                        </a:solidFill>
                                        <a:latin typeface="Cambria Math" panose="02040503050406030204" pitchFamily="18" charset="0"/>
                                        <a:cs typeface="Times New Roman" panose="02020603050405020304" pitchFamily="18" charset="0"/>
                                      </a:rPr>
                                      <m:t>𝑒</m:t>
                                    </m:r>
                                  </m:e>
                                  <m:sub>
                                    <m:r>
                                      <a:rPr lang="en-US" sz="2800" i="1">
                                        <a:solidFill>
                                          <a:srgbClr val="FF0000"/>
                                        </a:solidFill>
                                        <a:latin typeface="Cambria Math" panose="02040503050406030204" pitchFamily="18" charset="0"/>
                                        <a:cs typeface="Times New Roman" panose="02020603050405020304" pitchFamily="18" charset="0"/>
                                      </a:rPr>
                                      <m:t>2</m:t>
                                    </m:r>
                                  </m:sub>
                                </m:sSub>
                              </m:e>
                            </m:d>
                          </m:oMath>
                        </m:oMathPara>
                      </a14:m>
                      <a:endParaRPr lang="en-US" sz="2800" dirty="0">
                        <a:solidFill>
                          <a:schemeClr val="tx1"/>
                        </a:solidFill>
                      </a:endParaRPr>
                    </a:p>
                  </p:txBody>
                </p:sp>
              </mc:Choice>
              <mc:Fallback xmlns="">
                <p:sp>
                  <p:nvSpPr>
                    <p:cNvPr id="25" name="Rectangle 24">
                      <a:extLst>
                        <a:ext uri="{FF2B5EF4-FFF2-40B4-BE49-F238E27FC236}">
                          <a16:creationId xmlns:a16="http://schemas.microsoft.com/office/drawing/2014/main" id="{0F1A3F52-58C5-EC44-8B1E-BB7F7C9A0971}"/>
                        </a:ext>
                      </a:extLst>
                    </p:cNvPr>
                    <p:cNvSpPr>
                      <a:spLocks noRot="1" noChangeAspect="1" noMove="1" noResize="1" noEditPoints="1" noAdjustHandles="1" noChangeArrowheads="1" noChangeShapeType="1" noTextEdit="1"/>
                    </p:cNvSpPr>
                    <p:nvPr/>
                  </p:nvSpPr>
                  <p:spPr>
                    <a:xfrm>
                      <a:off x="2279018" y="2300908"/>
                      <a:ext cx="3153491" cy="523220"/>
                    </a:xfrm>
                    <a:prstGeom prst="rect">
                      <a:avLst/>
                    </a:prstGeom>
                    <a:blipFill>
                      <a:blip r:embed="rId12"/>
                      <a:stretch>
                        <a:fillRect b="-2381"/>
                      </a:stretch>
                    </a:blipFill>
                  </p:spPr>
                  <p:txBody>
                    <a:bodyPr/>
                    <a:lstStyle/>
                    <a:p>
                      <a:r>
                        <a:rPr lang="en-US">
                          <a:noFill/>
                        </a:rPr>
                        <a:t> </a:t>
                      </a:r>
                    </a:p>
                  </p:txBody>
                </p:sp>
              </mc:Fallback>
            </mc:AlternateContent>
            <p:cxnSp>
              <p:nvCxnSpPr>
                <p:cNvPr id="28" name="Straight Arrow Connector 27">
                  <a:extLst>
                    <a:ext uri="{FF2B5EF4-FFF2-40B4-BE49-F238E27FC236}">
                      <a16:creationId xmlns:a16="http://schemas.microsoft.com/office/drawing/2014/main" id="{580AD938-C6A5-3B4D-9FC2-1D0DC9A4898B}"/>
                    </a:ext>
                  </a:extLst>
                </p:cNvPr>
                <p:cNvCxnSpPr>
                  <a:cxnSpLocks/>
                </p:cNvCxnSpPr>
                <p:nvPr/>
              </p:nvCxnSpPr>
              <p:spPr>
                <a:xfrm flipV="1">
                  <a:off x="4945238" y="2922106"/>
                  <a:ext cx="3461" cy="1543834"/>
                </a:xfrm>
                <a:prstGeom prst="straightConnector1">
                  <a:avLst/>
                </a:prstGeom>
                <a:ln w="6350" cap="rnd">
                  <a:solidFill>
                    <a:schemeClr val="bg1">
                      <a:lumMod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FC3AB5B-1D58-624D-A512-111D890F3859}"/>
                    </a:ext>
                  </a:extLst>
                </p:cNvPr>
                <p:cNvCxnSpPr>
                  <a:cxnSpLocks/>
                </p:cNvCxnSpPr>
                <p:nvPr/>
              </p:nvCxnSpPr>
              <p:spPr>
                <a:xfrm>
                  <a:off x="1871001" y="2928077"/>
                  <a:ext cx="3065274" cy="0"/>
                </a:xfrm>
                <a:prstGeom prst="straightConnector1">
                  <a:avLst/>
                </a:prstGeom>
                <a:ln w="6350" cap="rnd">
                  <a:solidFill>
                    <a:schemeClr val="bg1">
                      <a:lumMod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grpSp>
          <p:cxnSp>
            <p:nvCxnSpPr>
              <p:cNvPr id="34" name="Straight Arrow Connector 33">
                <a:extLst>
                  <a:ext uri="{FF2B5EF4-FFF2-40B4-BE49-F238E27FC236}">
                    <a16:creationId xmlns:a16="http://schemas.microsoft.com/office/drawing/2014/main" id="{B0382E9E-6E0F-DC46-9A98-9BDBB7FA7545}"/>
                  </a:ext>
                </a:extLst>
              </p:cNvPr>
              <p:cNvCxnSpPr>
                <a:cxnSpLocks/>
              </p:cNvCxnSpPr>
              <p:nvPr/>
            </p:nvCxnSpPr>
            <p:spPr>
              <a:xfrm>
                <a:off x="3331634" y="4708275"/>
                <a:ext cx="1645699" cy="0"/>
              </a:xfrm>
              <a:prstGeom prst="straightConnector1">
                <a:avLst/>
              </a:prstGeom>
              <a:ln w="50800" cap="rnd">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3955AB50-AFD3-0D4D-8A5E-E6D5AB2C915B}"/>
                      </a:ext>
                    </a:extLst>
                  </p:cNvPr>
                  <p:cNvSpPr/>
                  <p:nvPr/>
                </p:nvSpPr>
                <p:spPr>
                  <a:xfrm>
                    <a:off x="3438053" y="4664016"/>
                    <a:ext cx="83542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2800" i="1">
                                      <a:solidFill>
                                        <a:srgbClr val="0000FF"/>
                                      </a:solidFill>
                                      <a:latin typeface="Cambria Math" panose="02040503050406030204" pitchFamily="18" charset="0"/>
                                      <a:cs typeface="Times New Roman" panose="02020603050405020304" pitchFamily="18" charset="0"/>
                                    </a:rPr>
                                  </m:ctrlPr>
                                </m:sSubPr>
                                <m:e>
                                  <m:r>
                                    <a:rPr lang="en-US" sz="2800" i="1">
                                      <a:solidFill>
                                        <a:srgbClr val="0000FF"/>
                                      </a:solidFill>
                                      <a:latin typeface="Cambria Math" panose="02040503050406030204" pitchFamily="18" charset="0"/>
                                      <a:cs typeface="Times New Roman" panose="02020603050405020304" pitchFamily="18" charset="0"/>
                                    </a:rPr>
                                    <m:t>𝑒</m:t>
                                  </m:r>
                                </m:e>
                                <m:sub>
                                  <m:r>
                                    <a:rPr lang="en-US" sz="2800" i="1">
                                      <a:solidFill>
                                        <a:srgbClr val="0000FF"/>
                                      </a:solidFill>
                                      <a:latin typeface="Cambria Math" panose="02040503050406030204" pitchFamily="18" charset="0"/>
                                      <a:cs typeface="Times New Roman" panose="02020603050405020304" pitchFamily="18" charset="0"/>
                                    </a:rPr>
                                    <m:t>1</m:t>
                                  </m:r>
                                </m:sub>
                              </m:sSub>
                            </m:e>
                          </m:d>
                        </m:oMath>
                      </m:oMathPara>
                    </a14:m>
                    <a:endParaRPr lang="en-US" sz="2800" dirty="0">
                      <a:solidFill>
                        <a:srgbClr val="0000FF"/>
                      </a:solidFill>
                    </a:endParaRPr>
                  </a:p>
                </p:txBody>
              </p:sp>
            </mc:Choice>
            <mc:Fallback xmlns="">
              <p:sp>
                <p:nvSpPr>
                  <p:cNvPr id="35" name="Rectangle 34">
                    <a:extLst>
                      <a:ext uri="{FF2B5EF4-FFF2-40B4-BE49-F238E27FC236}">
                        <a16:creationId xmlns:a16="http://schemas.microsoft.com/office/drawing/2014/main" id="{3955AB50-AFD3-0D4D-8A5E-E6D5AB2C915B}"/>
                      </a:ext>
                    </a:extLst>
                  </p:cNvPr>
                  <p:cNvSpPr>
                    <a:spLocks noRot="1" noChangeAspect="1" noMove="1" noResize="1" noEditPoints="1" noAdjustHandles="1" noChangeArrowheads="1" noChangeShapeType="1" noTextEdit="1"/>
                  </p:cNvSpPr>
                  <p:nvPr/>
                </p:nvSpPr>
                <p:spPr>
                  <a:xfrm>
                    <a:off x="3438053" y="4664016"/>
                    <a:ext cx="835422" cy="523220"/>
                  </a:xfrm>
                  <a:prstGeom prst="rect">
                    <a:avLst/>
                  </a:prstGeom>
                  <a:blipFill>
                    <a:blip r:embed="rId13"/>
                    <a:stretch>
                      <a:fillRect b="-2381"/>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731B686-55FB-5D45-833E-BC0E42012368}"/>
                    </a:ext>
                  </a:extLst>
                </p:cNvPr>
                <p:cNvSpPr/>
                <p:nvPr/>
              </p:nvSpPr>
              <p:spPr>
                <a:xfrm>
                  <a:off x="6731710" y="3875302"/>
                  <a:ext cx="5434180" cy="130362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en-US" sz="2800" i="1">
                                <a:latin typeface="Cambria Math" panose="02040503050406030204" pitchFamily="18" charset="0"/>
                              </a:rPr>
                              <m:t>𝑣</m:t>
                            </m:r>
                          </m:e>
                        </m:d>
                        <m:r>
                          <a:rPr lang="en-US" sz="2800" i="1">
                            <a:latin typeface="Cambria Math" panose="02040503050406030204" pitchFamily="18" charset="0"/>
                          </a:rPr>
                          <m:t> =</m:t>
                        </m:r>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sr-Latn-RS" sz="2800" i="1">
                                <a:latin typeface="Cambria Math" panose="02040503050406030204" pitchFamily="18" charset="0"/>
                              </a:rPr>
                              <m:t>1</m:t>
                            </m:r>
                          </m:sub>
                        </m:sSub>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𝑒</m:t>
                                </m:r>
                              </m:e>
                              <m:sub>
                                <m:r>
                                  <a:rPr lang="sr-Latn-RS" sz="2800" i="1">
                                    <a:latin typeface="Cambria Math" panose="02040503050406030204" pitchFamily="18" charset="0"/>
                                  </a:rPr>
                                  <m:t>1</m:t>
                                </m:r>
                              </m:sub>
                            </m:sSub>
                          </m:e>
                        </m:d>
                        <m:r>
                          <a:rPr lang="sr-Latn-R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sr-Latn-RS" sz="2800" i="1">
                                <a:latin typeface="Cambria Math" panose="02040503050406030204" pitchFamily="18" charset="0"/>
                              </a:rPr>
                              <m:t>2</m:t>
                            </m:r>
                          </m:sub>
                        </m:sSub>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𝑒</m:t>
                                </m:r>
                              </m:e>
                              <m:sub>
                                <m:r>
                                  <a:rPr lang="sr-Latn-RS" sz="2800" i="1">
                                    <a:latin typeface="Cambria Math" panose="02040503050406030204" pitchFamily="18" charset="0"/>
                                  </a:rPr>
                                  <m:t>2</m:t>
                                </m:r>
                              </m:sub>
                            </m:sSub>
                          </m:e>
                        </m:d>
                        <m:r>
                          <a:rPr lang="sr-Latn-RS" sz="2800" b="0" i="1" smtClean="0">
                            <a:latin typeface="Cambria Math" panose="02040503050406030204" pitchFamily="18" charset="0"/>
                          </a:rPr>
                          <m:t>=</m:t>
                        </m:r>
                        <m:nary>
                          <m:naryPr>
                            <m:chr m:val="∑"/>
                            <m:ctrlPr>
                              <a:rPr lang="en-US" sz="2800" i="1">
                                <a:latin typeface="Cambria Math" panose="02040503050406030204" pitchFamily="18" charset="0"/>
                              </a:rPr>
                            </m:ctrlPr>
                          </m:naryPr>
                          <m:sub>
                            <m:r>
                              <m:rPr>
                                <m:brk m:alnAt="23"/>
                              </m:rPr>
                              <a:rPr lang="en-US" sz="2800" i="1">
                                <a:latin typeface="Cambria Math" panose="02040503050406030204" pitchFamily="18" charset="0"/>
                              </a:rPr>
                              <m:t>𝑘</m:t>
                            </m:r>
                            <m:r>
                              <a:rPr lang="en-US" sz="2800" i="1">
                                <a:latin typeface="Cambria Math" panose="02040503050406030204" pitchFamily="18" charset="0"/>
                              </a:rPr>
                              <m:t>=1</m:t>
                            </m:r>
                          </m:sub>
                          <m:sup>
                            <m:r>
                              <a:rPr lang="en-US" sz="2800" i="1">
                                <a:latin typeface="Cambria Math" panose="02040503050406030204" pitchFamily="18" charset="0"/>
                              </a:rPr>
                              <m:t>𝑛</m:t>
                            </m:r>
                            <m:r>
                              <a:rPr lang="sr-Latn-RS" sz="2800" b="0" i="1" smtClean="0">
                                <a:latin typeface="Cambria Math" panose="02040503050406030204" pitchFamily="18" charset="0"/>
                              </a:rPr>
                              <m:t>=2</m:t>
                            </m:r>
                          </m:sup>
                          <m:e>
                            <m:sSub>
                              <m:sSubPr>
                                <m:ctrlPr>
                                  <a:rPr lang="en-US" sz="2800" i="1">
                                    <a:latin typeface="Cambria Math" panose="02040503050406030204" pitchFamily="18" charset="0"/>
                                  </a:rPr>
                                </m:ctrlPr>
                              </m:sSubPr>
                              <m:e>
                                <m:r>
                                  <a:rPr lang="sr-Latn-RS" sz="2800" i="1">
                                    <a:latin typeface="Cambria Math" panose="02040503050406030204" pitchFamily="18" charset="0"/>
                                  </a:rPr>
                                  <m:t>𝑐</m:t>
                                </m:r>
                              </m:e>
                              <m:sub>
                                <m:r>
                                  <a:rPr lang="en-US" sz="2800" i="1">
                                    <a:latin typeface="Cambria Math" panose="02040503050406030204" pitchFamily="18" charset="0"/>
                                  </a:rPr>
                                  <m:t>𝑘</m:t>
                                </m:r>
                              </m:sub>
                            </m:sSub>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𝑒</m:t>
                                    </m:r>
                                  </m:e>
                                  <m:sub>
                                    <m:r>
                                      <m:rPr>
                                        <m:sty m:val="p"/>
                                      </m:rPr>
                                      <a:rPr lang="en-US" sz="2800">
                                        <a:latin typeface="Cambria Math" panose="02040503050406030204" pitchFamily="18" charset="0"/>
                                      </a:rPr>
                                      <m:t>k</m:t>
                                    </m:r>
                                  </m:sub>
                                </m:sSub>
                              </m:e>
                            </m:d>
                          </m:e>
                        </m:nary>
                      </m:oMath>
                    </m:oMathPara>
                  </a14:m>
                  <a:endParaRPr lang="en-US" sz="2800" dirty="0"/>
                </a:p>
              </p:txBody>
            </p:sp>
          </mc:Choice>
          <mc:Fallback xmlns="">
            <p:sp>
              <p:nvSpPr>
                <p:cNvPr id="5" name="Rectangle 4">
                  <a:extLst>
                    <a:ext uri="{FF2B5EF4-FFF2-40B4-BE49-F238E27FC236}">
                      <a16:creationId xmlns:a16="http://schemas.microsoft.com/office/drawing/2014/main" id="{7731B686-55FB-5D45-833E-BC0E42012368}"/>
                    </a:ext>
                  </a:extLst>
                </p:cNvPr>
                <p:cNvSpPr>
                  <a:spLocks noRot="1" noChangeAspect="1" noMove="1" noResize="1" noEditPoints="1" noAdjustHandles="1" noChangeArrowheads="1" noChangeShapeType="1" noTextEdit="1"/>
                </p:cNvSpPr>
                <p:nvPr/>
              </p:nvSpPr>
              <p:spPr>
                <a:xfrm>
                  <a:off x="6731710" y="3875302"/>
                  <a:ext cx="5434180" cy="1303627"/>
                </a:xfrm>
                <a:prstGeom prst="rect">
                  <a:avLst/>
                </a:prstGeom>
                <a:blipFill>
                  <a:blip r:embed="rId14"/>
                  <a:stretch>
                    <a:fillRect t="-100000" b="-157692"/>
                  </a:stretch>
                </a:blipFill>
              </p:spPr>
              <p:txBody>
                <a:bodyPr/>
                <a:lstStyle/>
                <a:p>
                  <a:r>
                    <a:rPr lang="en-US">
                      <a:noFill/>
                    </a:rPr>
                    <a:t> </a:t>
                  </a:r>
                </a:p>
              </p:txBody>
            </p:sp>
          </mc:Fallback>
        </mc:AlternateContent>
      </p:grpSp>
      <p:sp>
        <p:nvSpPr>
          <p:cNvPr id="36" name="Slide Number Placeholder 2">
            <a:extLst>
              <a:ext uri="{FF2B5EF4-FFF2-40B4-BE49-F238E27FC236}">
                <a16:creationId xmlns:a16="http://schemas.microsoft.com/office/drawing/2014/main" id="{DA5A2DFD-DE9F-9049-A227-397357BA3FFC}"/>
              </a:ext>
            </a:extLst>
          </p:cNvPr>
          <p:cNvSpPr>
            <a:spLocks noGrp="1"/>
          </p:cNvSpPr>
          <p:nvPr>
            <p:ph type="sldNum" sz="quarter" idx="12"/>
          </p:nvPr>
        </p:nvSpPr>
        <p:spPr>
          <a:xfrm>
            <a:off x="9448800" y="6492875"/>
            <a:ext cx="2743200" cy="365125"/>
          </a:xfrm>
        </p:spPr>
        <p:txBody>
          <a:bodyPr/>
          <a:lstStyle/>
          <a:p>
            <a:fld id="{591A223C-FA10-BC46-A853-03BA373D023C}" type="slidenum">
              <a:rPr lang="en-US" smtClean="0"/>
              <a:t>41</a:t>
            </a:fld>
            <a:endParaRPr lang="en-US" dirty="0"/>
          </a:p>
        </p:txBody>
      </p:sp>
    </p:spTree>
    <p:extLst>
      <p:ext uri="{BB962C8B-B14F-4D97-AF65-F5344CB8AC3E}">
        <p14:creationId xmlns:p14="http://schemas.microsoft.com/office/powerpoint/2010/main" val="3652621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C94E375-FC39-D645-91A4-FF8F5E6FD55F}"/>
              </a:ext>
            </a:extLst>
          </p:cNvPr>
          <p:cNvSpPr>
            <a:spLocks noGrp="1"/>
          </p:cNvSpPr>
          <p:nvPr>
            <p:ph type="sldNum" sz="quarter" idx="12"/>
          </p:nvPr>
        </p:nvSpPr>
        <p:spPr/>
        <p:txBody>
          <a:bodyPr/>
          <a:lstStyle/>
          <a:p>
            <a:fld id="{591A223C-FA10-BC46-A853-03BA373D023C}" type="slidenum">
              <a:rPr lang="en-US" smtClean="0"/>
              <a:t>42</a:t>
            </a:fld>
            <a:endParaRPr lang="en-US"/>
          </a:p>
        </p:txBody>
      </p:sp>
      <p:sp>
        <p:nvSpPr>
          <p:cNvPr id="3" name="Title 2">
            <a:extLst>
              <a:ext uri="{FF2B5EF4-FFF2-40B4-BE49-F238E27FC236}">
                <a16:creationId xmlns:a16="http://schemas.microsoft.com/office/drawing/2014/main" id="{F431A1D5-0309-AC41-8450-DDC3B3F89BF8}"/>
              </a:ext>
            </a:extLst>
          </p:cNvPr>
          <p:cNvSpPr>
            <a:spLocks noGrp="1"/>
          </p:cNvSpPr>
          <p:nvPr>
            <p:ph type="title"/>
          </p:nvPr>
        </p:nvSpPr>
        <p:spPr>
          <a:xfrm>
            <a:off x="0" y="0"/>
            <a:ext cx="12192000" cy="928688"/>
          </a:xfrm>
        </p:spPr>
        <p:txBody>
          <a:bodyPr/>
          <a:lstStyle/>
          <a:p>
            <a:r>
              <a:rPr lang="en-ZA" dirty="0"/>
              <a:t>Higher-dimensional spaces</a:t>
            </a:r>
            <a:endParaRPr lang="en-US"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A6F8B42A-4FEB-5948-9C7C-D03542F3DE45}"/>
                  </a:ext>
                </a:extLst>
              </p:cNvPr>
              <p:cNvSpPr/>
              <p:nvPr/>
            </p:nvSpPr>
            <p:spPr>
              <a:xfrm>
                <a:off x="4888320" y="961241"/>
                <a:ext cx="3265702" cy="7081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en-US" sz="2400" i="1">
                                  <a:latin typeface="Cambria Math" panose="02040503050406030204" pitchFamily="18" charset="0"/>
                                </a:rPr>
                                <m:t>1</m:t>
                              </m:r>
                            </m:sub>
                          </m:sSub>
                        </m:e>
                      </m:d>
                      <m:r>
                        <a:rPr lang="en-US" sz="2400" b="0" i="0">
                          <a:latin typeface="Cambria Math" panose="02040503050406030204" pitchFamily="18" charset="0"/>
                        </a:rPr>
                        <m:t>=</m:t>
                      </m:r>
                      <m:d>
                        <m:dPr>
                          <m:ctrlPr>
                            <a:rPr lang="en-US" sz="2400" b="0" i="1">
                              <a:latin typeface="Cambria Math" panose="02040503050406030204" pitchFamily="18" charset="0"/>
                            </a:rPr>
                          </m:ctrlPr>
                        </m:dPr>
                        <m:e>
                          <m:m>
                            <m:mPr>
                              <m:plcHide m:val="on"/>
                              <m:mcs>
                                <m:mc>
                                  <m:mcPr>
                                    <m:count m:val="1"/>
                                    <m:mcJc m:val="center"/>
                                  </m:mcPr>
                                </m:mc>
                              </m:mcs>
                              <m:ctrlPr>
                                <a:rPr lang="en-US" sz="2400" b="0" i="1">
                                  <a:latin typeface="Cambria Math" panose="02040503050406030204" pitchFamily="18" charset="0"/>
                                </a:rPr>
                              </m:ctrlPr>
                            </m:mPr>
                            <m:mr>
                              <m:e>
                                <m:r>
                                  <a:rPr lang="en-US" sz="2400" b="0" i="0">
                                    <a:latin typeface="Cambria Math" panose="02040503050406030204" pitchFamily="18" charset="0"/>
                                  </a:rPr>
                                  <m:t>1</m:t>
                                </m:r>
                              </m:e>
                            </m:mr>
                            <m:mr>
                              <m:e>
                                <m:r>
                                  <a:rPr lang="en-US" sz="2400" b="0" i="0">
                                    <a:latin typeface="Cambria Math" panose="02040503050406030204" pitchFamily="18" charset="0"/>
                                  </a:rPr>
                                  <m:t>0</m:t>
                                </m:r>
                              </m:e>
                            </m:mr>
                          </m:m>
                        </m:e>
                      </m:d>
                      <m:r>
                        <a:rPr lang="en-US" sz="2400" b="0" i="0">
                          <a:latin typeface="Cambria Math" panose="02040503050406030204" pitchFamily="18" charset="0"/>
                        </a:rPr>
                        <m:t>,</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sr-Latn-RS" sz="2400" b="0" i="1" smtClean="0">
                                  <a:latin typeface="Cambria Math" panose="02040503050406030204" pitchFamily="18" charset="0"/>
                                </a:rPr>
                                <m:t>2</m:t>
                              </m:r>
                            </m:sub>
                          </m:sSub>
                        </m:e>
                      </m:d>
                      <m:r>
                        <a:rPr lang="en-US" sz="2400">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1"/>
                                    <m:mcJc m:val="center"/>
                                  </m:mcPr>
                                </m:mc>
                              </m:mcs>
                              <m:ctrlPr>
                                <a:rPr lang="en-US" sz="2400" i="1">
                                  <a:latin typeface="Cambria Math" panose="02040503050406030204" pitchFamily="18" charset="0"/>
                                </a:rPr>
                              </m:ctrlPr>
                            </m:mPr>
                            <m:mr>
                              <m:e>
                                <m:r>
                                  <a:rPr lang="en-US" sz="2400">
                                    <a:latin typeface="Cambria Math" panose="02040503050406030204" pitchFamily="18" charset="0"/>
                                  </a:rPr>
                                  <m:t>0</m:t>
                                </m:r>
                              </m:e>
                            </m:mr>
                            <m:mr>
                              <m:e>
                                <m:r>
                                  <a:rPr lang="en-US" sz="2400">
                                    <a:latin typeface="Cambria Math" panose="02040503050406030204" pitchFamily="18" charset="0"/>
                                  </a:rPr>
                                  <m:t>1</m:t>
                                </m:r>
                              </m:e>
                            </m:mr>
                          </m:m>
                        </m:e>
                      </m:d>
                    </m:oMath>
                  </m:oMathPara>
                </a14:m>
                <a:endParaRPr lang="en-US" sz="2400" dirty="0"/>
              </a:p>
            </p:txBody>
          </p:sp>
        </mc:Choice>
        <mc:Fallback xmlns="">
          <p:sp>
            <p:nvSpPr>
              <p:cNvPr id="4" name="Rectangle 3">
                <a:extLst>
                  <a:ext uri="{FF2B5EF4-FFF2-40B4-BE49-F238E27FC236}">
                    <a16:creationId xmlns:a16="http://schemas.microsoft.com/office/drawing/2014/main" id="{A6F8B42A-4FEB-5948-9C7C-D03542F3DE45}"/>
                  </a:ext>
                </a:extLst>
              </p:cNvPr>
              <p:cNvSpPr>
                <a:spLocks noRot="1" noChangeAspect="1" noMove="1" noResize="1" noEditPoints="1" noAdjustHandles="1" noChangeArrowheads="1" noChangeShapeType="1" noTextEdit="1"/>
              </p:cNvSpPr>
              <p:nvPr/>
            </p:nvSpPr>
            <p:spPr>
              <a:xfrm>
                <a:off x="4888320" y="961241"/>
                <a:ext cx="3265702" cy="708143"/>
              </a:xfrm>
              <a:prstGeom prst="rect">
                <a:avLst/>
              </a:prstGeom>
              <a:blipFill>
                <a:blip r:embed="rId3"/>
                <a:stretch>
                  <a:fillRect b="-7143"/>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5863E97A-0686-C042-BE57-019846F3448E}"/>
              </a:ext>
            </a:extLst>
          </p:cNvPr>
          <p:cNvSpPr txBox="1"/>
          <p:nvPr/>
        </p:nvSpPr>
        <p:spPr>
          <a:xfrm>
            <a:off x="193667" y="1084481"/>
            <a:ext cx="4381649" cy="461665"/>
          </a:xfrm>
          <a:prstGeom prst="rect">
            <a:avLst/>
          </a:prstGeom>
          <a:noFill/>
        </p:spPr>
        <p:txBody>
          <a:bodyPr wrap="none" rtlCol="0">
            <a:spAutoFit/>
          </a:bodyPr>
          <a:lstStyle/>
          <a:p>
            <a:r>
              <a:rPr lang="en-ZA" sz="2400" dirty="0">
                <a:latin typeface="+mj-lt"/>
              </a:rPr>
              <a:t>basis of a two-dimensional space:</a:t>
            </a:r>
            <a:endParaRPr lang="en-US" sz="2400" dirty="0">
              <a:latin typeface="+mj-lt"/>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49AC4B50-EE65-E843-BB7B-153910E4E86B}"/>
                  </a:ext>
                </a:extLst>
              </p:cNvPr>
              <p:cNvSpPr/>
              <p:nvPr/>
            </p:nvSpPr>
            <p:spPr>
              <a:xfrm>
                <a:off x="4888320" y="1887439"/>
                <a:ext cx="6889194" cy="14719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sr-Latn-RS" sz="2400" b="0" i="1" smtClean="0">
                                  <a:latin typeface="Cambria Math" panose="02040503050406030204" pitchFamily="18" charset="0"/>
                                </a:rPr>
                                <m:t>1</m:t>
                              </m:r>
                            </m:sub>
                          </m:sSub>
                        </m:e>
                      </m:d>
                      <m:r>
                        <a:rPr lang="en-US" sz="2400" b="0" i="0">
                          <a:latin typeface="Cambria Math" panose="02040503050406030204" pitchFamily="18" charset="0"/>
                        </a:rPr>
                        <m:t>=</m:t>
                      </m:r>
                      <m:d>
                        <m:dPr>
                          <m:ctrlPr>
                            <a:rPr lang="en-US" sz="2400" b="0" i="1">
                              <a:latin typeface="Cambria Math" panose="02040503050406030204" pitchFamily="18" charset="0"/>
                            </a:rPr>
                          </m:ctrlPr>
                        </m:dPr>
                        <m:e>
                          <m:m>
                            <m:mPr>
                              <m:mcs>
                                <m:mc>
                                  <m:mcPr>
                                    <m:count m:val="1"/>
                                    <m:mcJc m:val="center"/>
                                  </m:mcPr>
                                </m:mc>
                              </m:mcs>
                              <m:ctrlPr>
                                <a:rPr lang="en-US" sz="2400" b="0" i="1">
                                  <a:latin typeface="Cambria Math" panose="02040503050406030204" pitchFamily="18" charset="0"/>
                                </a:rPr>
                              </m:ctrlPr>
                            </m:mPr>
                            <m:mr>
                              <m:e>
                                <m:r>
                                  <a:rPr lang="en-US" sz="2400" b="0" i="0">
                                    <a:latin typeface="Cambria Math" panose="02040503050406030204" pitchFamily="18" charset="0"/>
                                  </a:rPr>
                                  <m:t>1</m:t>
                                </m:r>
                              </m:e>
                            </m:mr>
                            <m:mr>
                              <m:e>
                                <m:r>
                                  <a:rPr lang="en-US" sz="2400" b="0" i="0">
                                    <a:latin typeface="Cambria Math" panose="02040503050406030204" pitchFamily="18" charset="0"/>
                                  </a:rPr>
                                  <m:t>0</m:t>
                                </m:r>
                              </m:e>
                            </m:mr>
                            <m:mr>
                              <m:e>
                                <m:r>
                                  <a:rPr lang="en-US" sz="2400" b="0" i="0">
                                    <a:latin typeface="Cambria Math" panose="02040503050406030204" pitchFamily="18" charset="0"/>
                                  </a:rPr>
                                  <m:t>0</m:t>
                                </m:r>
                              </m:e>
                            </m:mr>
                            <m:mr>
                              <m:e>
                                <m:r>
                                  <a:rPr lang="en-US" sz="2400" b="0" i="1" smtClean="0">
                                    <a:latin typeface="Cambria Math" panose="02040503050406030204" pitchFamily="18" charset="0"/>
                                  </a:rPr>
                                  <m:t>0</m:t>
                                </m:r>
                              </m:e>
                            </m:mr>
                          </m:m>
                        </m:e>
                      </m:d>
                      <m:r>
                        <a:rPr lang="en-US" sz="2400" b="0" i="0">
                          <a:latin typeface="Cambria Math" panose="02040503050406030204" pitchFamily="18" charset="0"/>
                        </a:rPr>
                        <m:t>,</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sr-Latn-RS" sz="2400" b="0" i="1" smtClean="0">
                                  <a:latin typeface="Cambria Math" panose="02040503050406030204" pitchFamily="18" charset="0"/>
                                </a:rPr>
                                <m:t>2</m:t>
                              </m:r>
                            </m:sub>
                          </m:sSub>
                        </m:e>
                      </m:d>
                      <m:r>
                        <a:rPr lang="en-US" sz="2400">
                          <a:latin typeface="Cambria Math" panose="02040503050406030204" pitchFamily="18" charset="0"/>
                        </a:rPr>
                        <m:t>=</m:t>
                      </m:r>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en-US" sz="2400" b="0" i="0" smtClean="0">
                                    <a:latin typeface="Cambria Math" panose="02040503050406030204" pitchFamily="18" charset="0"/>
                                  </a:rPr>
                                  <m:t>0</m:t>
                                </m:r>
                              </m:e>
                            </m:mr>
                            <m:mr>
                              <m:e>
                                <m:r>
                                  <a:rPr lang="en-US" sz="2400" b="0" i="0" smtClean="0">
                                    <a:latin typeface="Cambria Math" panose="02040503050406030204" pitchFamily="18" charset="0"/>
                                  </a:rPr>
                                  <m:t>1</m:t>
                                </m:r>
                              </m:e>
                            </m:mr>
                            <m:mr>
                              <m:e>
                                <m:r>
                                  <a:rPr lang="en-US" sz="2400">
                                    <a:latin typeface="Cambria Math" panose="02040503050406030204" pitchFamily="18" charset="0"/>
                                  </a:rPr>
                                  <m:t>0</m:t>
                                </m:r>
                              </m:e>
                            </m:mr>
                            <m:mr>
                              <m:e>
                                <m:r>
                                  <a:rPr lang="en-US" sz="2400" i="1">
                                    <a:latin typeface="Cambria Math" panose="02040503050406030204" pitchFamily="18" charset="0"/>
                                  </a:rPr>
                                  <m:t>0</m:t>
                                </m:r>
                              </m:e>
                            </m:mr>
                          </m:m>
                        </m:e>
                      </m:d>
                      <m:r>
                        <a:rPr lang="en-US" sz="2400" b="0" i="0">
                          <a:latin typeface="Cambria Math" panose="02040503050406030204" pitchFamily="18" charset="0"/>
                        </a:rPr>
                        <m:t>,</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sr-Latn-RS" sz="2400" b="0" i="1" smtClean="0">
                                  <a:latin typeface="Cambria Math" panose="02040503050406030204" pitchFamily="18" charset="0"/>
                                </a:rPr>
                                <m:t>3</m:t>
                              </m:r>
                            </m:sub>
                          </m:sSub>
                        </m:e>
                      </m:d>
                      <m:r>
                        <a:rPr lang="en-US" sz="2400">
                          <a:latin typeface="Cambria Math" panose="02040503050406030204" pitchFamily="18" charset="0"/>
                        </a:rPr>
                        <m:t>=</m:t>
                      </m:r>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en-US" sz="2400" b="0" i="0" smtClean="0">
                                    <a:latin typeface="Cambria Math" panose="02040503050406030204" pitchFamily="18" charset="0"/>
                                  </a:rPr>
                                  <m:t>0</m:t>
                                </m:r>
                              </m:e>
                            </m:mr>
                            <m:mr>
                              <m:e>
                                <m:r>
                                  <a:rPr lang="en-US" sz="2400">
                                    <a:latin typeface="Cambria Math" panose="02040503050406030204" pitchFamily="18" charset="0"/>
                                  </a:rPr>
                                  <m:t>0</m:t>
                                </m:r>
                              </m:e>
                            </m:mr>
                            <m:mr>
                              <m:e>
                                <m:r>
                                  <a:rPr lang="en-US" sz="2400" b="0" i="0" smtClean="0">
                                    <a:latin typeface="Cambria Math" panose="02040503050406030204" pitchFamily="18" charset="0"/>
                                  </a:rPr>
                                  <m:t>1</m:t>
                                </m:r>
                              </m:e>
                            </m:mr>
                            <m:mr>
                              <m:e>
                                <m:r>
                                  <a:rPr lang="en-US" sz="2400" i="1">
                                    <a:latin typeface="Cambria Math" panose="02040503050406030204" pitchFamily="18" charset="0"/>
                                  </a:rPr>
                                  <m:t>0</m:t>
                                </m:r>
                              </m:e>
                            </m:mr>
                          </m:m>
                        </m:e>
                      </m:d>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sr-Latn-RS" sz="2400" b="0" i="1" smtClean="0">
                                  <a:latin typeface="Cambria Math" panose="02040503050406030204" pitchFamily="18" charset="0"/>
                                </a:rPr>
                                <m:t>4</m:t>
                              </m:r>
                            </m:sub>
                          </m:sSub>
                        </m:e>
                      </m:d>
                      <m:r>
                        <a:rPr lang="en-US" sz="2400">
                          <a:latin typeface="Cambria Math" panose="02040503050406030204" pitchFamily="18" charset="0"/>
                        </a:rPr>
                        <m:t>=</m:t>
                      </m:r>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en-US" sz="2400" b="0" i="0" smtClean="0">
                                    <a:latin typeface="Cambria Math" panose="02040503050406030204" pitchFamily="18" charset="0"/>
                                  </a:rPr>
                                  <m:t>0</m:t>
                                </m:r>
                              </m:e>
                            </m:mr>
                            <m:mr>
                              <m:e>
                                <m:r>
                                  <a:rPr lang="en-US" sz="2400">
                                    <a:latin typeface="Cambria Math" panose="02040503050406030204" pitchFamily="18" charset="0"/>
                                  </a:rPr>
                                  <m:t>0</m:t>
                                </m:r>
                              </m:e>
                            </m:mr>
                            <m:mr>
                              <m:e>
                                <m:r>
                                  <a:rPr lang="en-US" sz="2400">
                                    <a:latin typeface="Cambria Math" panose="02040503050406030204" pitchFamily="18" charset="0"/>
                                  </a:rPr>
                                  <m:t>0</m:t>
                                </m:r>
                              </m:e>
                            </m:mr>
                            <m:mr>
                              <m:e>
                                <m:r>
                                  <a:rPr lang="en-US" sz="2400" b="0" i="1" smtClean="0">
                                    <a:latin typeface="Cambria Math" panose="02040503050406030204" pitchFamily="18" charset="0"/>
                                  </a:rPr>
                                  <m:t>1</m:t>
                                </m:r>
                              </m:e>
                            </m:mr>
                          </m:m>
                        </m:e>
                      </m:d>
                    </m:oMath>
                  </m:oMathPara>
                </a14:m>
                <a:endParaRPr lang="en-US" sz="2400" dirty="0"/>
              </a:p>
            </p:txBody>
          </p:sp>
        </mc:Choice>
        <mc:Fallback xmlns="">
          <p:sp>
            <p:nvSpPr>
              <p:cNvPr id="8" name="Rectangle 7">
                <a:extLst>
                  <a:ext uri="{FF2B5EF4-FFF2-40B4-BE49-F238E27FC236}">
                    <a16:creationId xmlns:a16="http://schemas.microsoft.com/office/drawing/2014/main" id="{49AC4B50-EE65-E843-BB7B-153910E4E86B}"/>
                  </a:ext>
                </a:extLst>
              </p:cNvPr>
              <p:cNvSpPr>
                <a:spLocks noRot="1" noChangeAspect="1" noMove="1" noResize="1" noEditPoints="1" noAdjustHandles="1" noChangeArrowheads="1" noChangeShapeType="1" noTextEdit="1"/>
              </p:cNvSpPr>
              <p:nvPr/>
            </p:nvSpPr>
            <p:spPr>
              <a:xfrm>
                <a:off x="4888320" y="1887439"/>
                <a:ext cx="6889194" cy="1471941"/>
              </a:xfrm>
              <a:prstGeom prst="rect">
                <a:avLst/>
              </a:prstGeom>
              <a:blipFill>
                <a:blip r:embed="rId4"/>
                <a:stretch>
                  <a:fillRect b="-85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EF3D61BB-352B-124E-8E86-4016A9D88CC5}"/>
              </a:ext>
            </a:extLst>
          </p:cNvPr>
          <p:cNvSpPr txBox="1"/>
          <p:nvPr/>
        </p:nvSpPr>
        <p:spPr>
          <a:xfrm>
            <a:off x="193667" y="2374798"/>
            <a:ext cx="4410695" cy="461665"/>
          </a:xfrm>
          <a:prstGeom prst="rect">
            <a:avLst/>
          </a:prstGeom>
          <a:noFill/>
        </p:spPr>
        <p:txBody>
          <a:bodyPr wrap="none" rtlCol="0">
            <a:spAutoFit/>
          </a:bodyPr>
          <a:lstStyle/>
          <a:p>
            <a:r>
              <a:rPr lang="en-ZA" sz="2400" dirty="0"/>
              <a:t>basis of a four-dimensional space:</a:t>
            </a:r>
            <a:endParaRPr lang="en-US" sz="2400" dirty="0"/>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BFC028B6-92E6-5744-AD66-967F07C569DB}"/>
                  </a:ext>
                </a:extLst>
              </p:cNvPr>
              <p:cNvSpPr/>
              <p:nvPr/>
            </p:nvSpPr>
            <p:spPr>
              <a:xfrm>
                <a:off x="4888320" y="3763109"/>
                <a:ext cx="6290376" cy="14719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en-US" sz="2400" i="1">
                                  <a:latin typeface="Cambria Math" panose="02040503050406030204" pitchFamily="18" charset="0"/>
                                </a:rPr>
                                <m:t>1</m:t>
                              </m:r>
                            </m:sub>
                          </m:sSub>
                        </m:e>
                      </m:d>
                      <m:r>
                        <a:rPr lang="en-US" sz="2400" b="0" i="0">
                          <a:latin typeface="Cambria Math" panose="02040503050406030204" pitchFamily="18" charset="0"/>
                        </a:rPr>
                        <m:t>=</m:t>
                      </m:r>
                      <m:d>
                        <m:dPr>
                          <m:ctrlPr>
                            <a:rPr lang="en-US" sz="2400" b="0" i="1">
                              <a:latin typeface="Cambria Math" panose="02040503050406030204" pitchFamily="18" charset="0"/>
                            </a:rPr>
                          </m:ctrlPr>
                        </m:dPr>
                        <m:e>
                          <m:m>
                            <m:mPr>
                              <m:mcs>
                                <m:mc>
                                  <m:mcPr>
                                    <m:count m:val="1"/>
                                    <m:mcJc m:val="center"/>
                                  </m:mcPr>
                                </m:mc>
                              </m:mcs>
                              <m:ctrlPr>
                                <a:rPr lang="en-US" sz="2400" b="0" i="1">
                                  <a:latin typeface="Cambria Math" panose="02040503050406030204" pitchFamily="18" charset="0"/>
                                </a:rPr>
                              </m:ctrlPr>
                            </m:mPr>
                            <m:mr>
                              <m:e>
                                <m:r>
                                  <a:rPr lang="en-US" sz="2400" b="0" i="0">
                                    <a:latin typeface="Cambria Math" panose="02040503050406030204" pitchFamily="18" charset="0"/>
                                  </a:rPr>
                                  <m:t>1</m:t>
                                </m:r>
                              </m:e>
                            </m:mr>
                            <m:mr>
                              <m:e>
                                <m:r>
                                  <a:rPr lang="en-US" sz="2400" b="0" i="0">
                                    <a:latin typeface="Cambria Math" panose="02040503050406030204" pitchFamily="18" charset="0"/>
                                  </a:rPr>
                                  <m:t>0</m:t>
                                </m:r>
                              </m:e>
                            </m:mr>
                            <m:mr>
                              <m:e>
                                <m:r>
                                  <a:rPr lang="en-US" sz="2400" b="0" i="1" smtClean="0">
                                    <a:latin typeface="Cambria Math" panose="02040503050406030204" pitchFamily="18" charset="0"/>
                                    <a:ea typeface="Cambria Math" panose="02040503050406030204" pitchFamily="18" charset="0"/>
                                  </a:rPr>
                                  <m:t>⋮</m:t>
                                </m:r>
                              </m:e>
                            </m:mr>
                            <m:mr>
                              <m:e>
                                <m:r>
                                  <a:rPr lang="en-US" sz="2400" b="0" i="1" smtClean="0">
                                    <a:latin typeface="Cambria Math" panose="02040503050406030204" pitchFamily="18" charset="0"/>
                                  </a:rPr>
                                  <m:t>0</m:t>
                                </m:r>
                              </m:e>
                            </m:mr>
                          </m:m>
                        </m:e>
                      </m:d>
                      <m:r>
                        <a:rPr lang="en-US" sz="2400" b="0" i="0">
                          <a:latin typeface="Cambria Math" panose="02040503050406030204" pitchFamily="18" charset="0"/>
                        </a:rPr>
                        <m:t>,</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sr-Latn-RS" sz="2400" b="0" i="1" smtClean="0">
                                  <a:latin typeface="Cambria Math" panose="02040503050406030204" pitchFamily="18" charset="0"/>
                                </a:rPr>
                                <m:t>2</m:t>
                              </m:r>
                            </m:sub>
                          </m:sSub>
                        </m:e>
                      </m:d>
                      <m:r>
                        <a:rPr lang="en-US" sz="2400">
                          <a:latin typeface="Cambria Math" panose="02040503050406030204" pitchFamily="18" charset="0"/>
                        </a:rPr>
                        <m:t>=</m:t>
                      </m:r>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en-US" sz="2400" b="0" i="0" smtClean="0">
                                    <a:latin typeface="Cambria Math" panose="02040503050406030204" pitchFamily="18" charset="0"/>
                                  </a:rPr>
                                  <m:t>0</m:t>
                                </m:r>
                              </m:e>
                            </m:mr>
                            <m:mr>
                              <m:e>
                                <m:r>
                                  <a:rPr lang="en-US" sz="2400" b="0" i="0" smtClean="0">
                                    <a:latin typeface="Cambria Math" panose="02040503050406030204" pitchFamily="18" charset="0"/>
                                  </a:rPr>
                                  <m:t>1</m:t>
                                </m:r>
                              </m:e>
                            </m:mr>
                            <m:mr>
                              <m:e>
                                <m:r>
                                  <a:rPr lang="en-US" sz="2400" i="1">
                                    <a:latin typeface="Cambria Math" panose="02040503050406030204" pitchFamily="18" charset="0"/>
                                    <a:ea typeface="Cambria Math" panose="02040503050406030204" pitchFamily="18" charset="0"/>
                                  </a:rPr>
                                  <m:t>⋮</m:t>
                                </m:r>
                              </m:e>
                            </m:mr>
                            <m:mr>
                              <m:e>
                                <m:r>
                                  <a:rPr lang="en-US" sz="2400" i="1">
                                    <a:latin typeface="Cambria Math" panose="02040503050406030204" pitchFamily="18" charset="0"/>
                                  </a:rPr>
                                  <m:t>0</m:t>
                                </m:r>
                              </m:e>
                            </m:mr>
                          </m:m>
                        </m:e>
                      </m:d>
                      <m:r>
                        <a:rPr lang="en-US" sz="2400">
                          <a:latin typeface="Cambria Math" panose="02040503050406030204" pitchFamily="18" charset="0"/>
                        </a:rPr>
                        <m:t>,</m:t>
                      </m:r>
                      <m:r>
                        <a:rPr lang="sr-Latn-RS" sz="2400" b="0" i="0" smtClean="0">
                          <a:latin typeface="Cambria Math" panose="02040503050406030204" pitchFamily="18" charset="0"/>
                        </a:rPr>
                        <m:t>  </m:t>
                      </m:r>
                      <m:r>
                        <a:rPr lang="en-US" sz="2400" i="1" smtClean="0">
                          <a:latin typeface="Cambria Math" panose="02040503050406030204" pitchFamily="18" charset="0"/>
                          <a:ea typeface="Cambria Math" panose="02040503050406030204" pitchFamily="18" charset="0"/>
                        </a:rPr>
                        <m:t>⋯</m:t>
                      </m:r>
                      <m:r>
                        <a:rPr lang="sr-Latn-RS" sz="2400" b="0" i="1" smtClean="0">
                          <a:latin typeface="Cambria Math" panose="02040503050406030204" pitchFamily="18" charset="0"/>
                          <a:ea typeface="Cambria Math" panose="02040503050406030204" pitchFamily="18" charset="0"/>
                        </a:rPr>
                        <m:t>    </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sr-Latn-RS" sz="2400" b="0" i="1" smtClean="0">
                                  <a:latin typeface="Cambria Math" panose="02040503050406030204" pitchFamily="18" charset="0"/>
                                </a:rPr>
                                <m:t>𝑛</m:t>
                              </m:r>
                            </m:sub>
                          </m:sSub>
                        </m:e>
                      </m:d>
                      <m:r>
                        <a:rPr lang="en-US" sz="2400">
                          <a:latin typeface="Cambria Math" panose="02040503050406030204" pitchFamily="18" charset="0"/>
                        </a:rPr>
                        <m:t>=</m:t>
                      </m:r>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en-US" sz="2400" b="0" i="0" smtClean="0">
                                    <a:latin typeface="Cambria Math" panose="02040503050406030204" pitchFamily="18" charset="0"/>
                                  </a:rPr>
                                  <m:t>0</m:t>
                                </m:r>
                              </m:e>
                            </m:mr>
                            <m:mr>
                              <m:e>
                                <m:r>
                                  <a:rPr lang="en-US" sz="2400">
                                    <a:latin typeface="Cambria Math" panose="02040503050406030204" pitchFamily="18" charset="0"/>
                                  </a:rPr>
                                  <m:t>0</m:t>
                                </m:r>
                              </m:e>
                            </m:mr>
                            <m:mr>
                              <m:e>
                                <m:r>
                                  <a:rPr lang="en-US" sz="2400" i="1">
                                    <a:latin typeface="Cambria Math" panose="02040503050406030204" pitchFamily="18" charset="0"/>
                                    <a:ea typeface="Cambria Math" panose="02040503050406030204" pitchFamily="18" charset="0"/>
                                  </a:rPr>
                                  <m:t>⋮</m:t>
                                </m:r>
                              </m:e>
                            </m:mr>
                            <m:mr>
                              <m:e>
                                <m:r>
                                  <a:rPr lang="en-US" sz="2400" b="0" i="1" smtClean="0">
                                    <a:latin typeface="Cambria Math" panose="02040503050406030204" pitchFamily="18" charset="0"/>
                                  </a:rPr>
                                  <m:t>1</m:t>
                                </m:r>
                              </m:e>
                            </m:mr>
                          </m:m>
                        </m:e>
                      </m:d>
                    </m:oMath>
                  </m:oMathPara>
                </a14:m>
                <a:endParaRPr lang="en-US" sz="2400" dirty="0"/>
              </a:p>
            </p:txBody>
          </p:sp>
        </mc:Choice>
        <mc:Fallback xmlns="">
          <p:sp>
            <p:nvSpPr>
              <p:cNvPr id="10" name="Rectangle 9">
                <a:extLst>
                  <a:ext uri="{FF2B5EF4-FFF2-40B4-BE49-F238E27FC236}">
                    <a16:creationId xmlns:a16="http://schemas.microsoft.com/office/drawing/2014/main" id="{BFC028B6-92E6-5744-AD66-967F07C569DB}"/>
                  </a:ext>
                </a:extLst>
              </p:cNvPr>
              <p:cNvSpPr>
                <a:spLocks noRot="1" noChangeAspect="1" noMove="1" noResize="1" noEditPoints="1" noAdjustHandles="1" noChangeArrowheads="1" noChangeShapeType="1" noTextEdit="1"/>
              </p:cNvSpPr>
              <p:nvPr/>
            </p:nvSpPr>
            <p:spPr>
              <a:xfrm>
                <a:off x="4888320" y="3763109"/>
                <a:ext cx="6290376" cy="1471941"/>
              </a:xfrm>
              <a:prstGeom prst="rect">
                <a:avLst/>
              </a:prstGeom>
              <a:blipFill>
                <a:blip r:embed="rId5"/>
                <a:stretch>
                  <a:fillRect b="-1709"/>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9E48E2E7-4D49-AD44-A7C1-826E7DEF1A1B}"/>
              </a:ext>
            </a:extLst>
          </p:cNvPr>
          <p:cNvSpPr txBox="1"/>
          <p:nvPr/>
        </p:nvSpPr>
        <p:spPr>
          <a:xfrm>
            <a:off x="193667" y="4318131"/>
            <a:ext cx="4062331" cy="461665"/>
          </a:xfrm>
          <a:prstGeom prst="rect">
            <a:avLst/>
          </a:prstGeom>
          <a:noFill/>
        </p:spPr>
        <p:txBody>
          <a:bodyPr wrap="none" rtlCol="0">
            <a:spAutoFit/>
          </a:bodyPr>
          <a:lstStyle/>
          <a:p>
            <a:r>
              <a:rPr lang="en-ZA" sz="2400" dirty="0"/>
              <a:t>basis of a n-dimensional space:</a:t>
            </a:r>
            <a:endParaRPr lang="en-US" sz="2400" dirty="0"/>
          </a:p>
        </p:txBody>
      </p:sp>
      <p:sp>
        <p:nvSpPr>
          <p:cNvPr id="12" name="Oval 11">
            <a:extLst>
              <a:ext uri="{FF2B5EF4-FFF2-40B4-BE49-F238E27FC236}">
                <a16:creationId xmlns:a16="http://schemas.microsoft.com/office/drawing/2014/main" id="{B5FBE080-312E-B04A-A947-20170119CFFB}"/>
              </a:ext>
            </a:extLst>
          </p:cNvPr>
          <p:cNvSpPr/>
          <p:nvPr/>
        </p:nvSpPr>
        <p:spPr>
          <a:xfrm>
            <a:off x="1036320" y="3621285"/>
            <a:ext cx="144000" cy="144000"/>
          </a:xfrm>
          <a:prstGeom prst="ellipse">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6A8335C-465E-F345-A048-6384D648E4FF}"/>
              </a:ext>
            </a:extLst>
          </p:cNvPr>
          <p:cNvSpPr/>
          <p:nvPr/>
        </p:nvSpPr>
        <p:spPr>
          <a:xfrm>
            <a:off x="2069145" y="3621285"/>
            <a:ext cx="144000" cy="144000"/>
          </a:xfrm>
          <a:prstGeom prst="ellipse">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9896F6C-AAA8-C14F-A612-1E74C236AAF4}"/>
              </a:ext>
            </a:extLst>
          </p:cNvPr>
          <p:cNvSpPr/>
          <p:nvPr/>
        </p:nvSpPr>
        <p:spPr>
          <a:xfrm>
            <a:off x="3101970" y="3621285"/>
            <a:ext cx="144000" cy="144000"/>
          </a:xfrm>
          <a:prstGeom prst="ellipse">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03F290D1-A9CC-8A42-8BC5-D5B85D5936C1}"/>
                  </a:ext>
                </a:extLst>
              </p:cNvPr>
              <p:cNvSpPr/>
              <p:nvPr/>
            </p:nvSpPr>
            <p:spPr>
              <a:xfrm>
                <a:off x="2358342" y="5353462"/>
                <a:ext cx="7475316" cy="1268552"/>
              </a:xfrm>
              <a:prstGeom prst="rect">
                <a:avLst/>
              </a:prstGeom>
              <a:solidFill>
                <a:schemeClr val="bg1">
                  <a:lumMod val="95000"/>
                </a:schemeClr>
              </a:solid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latin typeface="Cambria Math" panose="02040503050406030204" pitchFamily="18" charset="0"/>
                            </a:rPr>
                          </m:ctrlPr>
                        </m:dPr>
                        <m:e>
                          <m:r>
                            <a:rPr lang="sr-Latn-RS" sz="2800" b="0" i="1" smtClean="0">
                              <a:latin typeface="Cambria Math" panose="02040503050406030204" pitchFamily="18" charset="0"/>
                            </a:rPr>
                            <m:t>𝑣</m:t>
                          </m:r>
                        </m:e>
                      </m:d>
                      <m:r>
                        <a:rPr lang="sr-Latn-R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sr-Latn-RS" sz="2800" b="0" i="1" smtClean="0">
                              <a:latin typeface="Cambria Math" panose="02040503050406030204" pitchFamily="18" charset="0"/>
                            </a:rPr>
                            <m:t>1</m:t>
                          </m:r>
                        </m:sub>
                      </m:sSub>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𝑒</m:t>
                              </m:r>
                            </m:e>
                            <m:sub>
                              <m:r>
                                <a:rPr lang="sr-Latn-RS" sz="2800" b="0" i="1" smtClean="0">
                                  <a:latin typeface="Cambria Math" panose="02040503050406030204" pitchFamily="18" charset="0"/>
                                </a:rPr>
                                <m:t>1</m:t>
                              </m:r>
                            </m:sub>
                          </m:sSub>
                        </m:e>
                      </m:d>
                      <m:r>
                        <a:rPr lang="sr-Latn-RS" sz="2800" b="0"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sr-Latn-RS" sz="2800" b="0" i="1" smtClean="0">
                              <a:latin typeface="Cambria Math" panose="02040503050406030204" pitchFamily="18" charset="0"/>
                            </a:rPr>
                            <m:t>2</m:t>
                          </m:r>
                        </m:sub>
                      </m:sSub>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𝑒</m:t>
                              </m:r>
                            </m:e>
                            <m:sub>
                              <m:r>
                                <a:rPr lang="sr-Latn-RS" sz="2800" b="0" i="1" smtClean="0">
                                  <a:latin typeface="Cambria Math" panose="02040503050406030204" pitchFamily="18" charset="0"/>
                                </a:rPr>
                                <m:t>2</m:t>
                              </m:r>
                            </m:sub>
                          </m:sSub>
                        </m:e>
                      </m:d>
                      <m:r>
                        <a:rPr lang="sr-Latn-RS" sz="2800" b="1" i="1" smtClean="0">
                          <a:latin typeface="Cambria Math" panose="02040503050406030204" pitchFamily="18" charset="0"/>
                        </a:rPr>
                        <m:t>+</m:t>
                      </m:r>
                      <m:r>
                        <a:rPr lang="en-US" sz="2800" i="1">
                          <a:latin typeface="Cambria Math" panose="02040503050406030204" pitchFamily="18" charset="0"/>
                          <a:ea typeface="Cambria Math" panose="02040503050406030204" pitchFamily="18" charset="0"/>
                        </a:rPr>
                        <m:t>⋯</m:t>
                      </m:r>
                      <m:r>
                        <a:rPr lang="sr-Latn-RS" sz="2800" b="1" i="1" smtClean="0">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sr-Latn-RS" sz="2800" b="0" i="1" smtClean="0">
                              <a:latin typeface="Cambria Math" panose="02040503050406030204" pitchFamily="18" charset="0"/>
                            </a:rPr>
                            <m:t>𝑛</m:t>
                          </m:r>
                        </m:sub>
                      </m:sSub>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𝑒</m:t>
                              </m:r>
                            </m:e>
                            <m:sub>
                              <m:r>
                                <a:rPr lang="sr-Latn-RS" sz="2800" b="0" i="1" smtClean="0">
                                  <a:latin typeface="Cambria Math" panose="02040503050406030204" pitchFamily="18" charset="0"/>
                                </a:rPr>
                                <m:t>𝑛</m:t>
                              </m:r>
                            </m:sub>
                          </m:sSub>
                        </m:e>
                      </m:d>
                      <m:r>
                        <a:rPr lang="en-US" sz="2800" b="1" i="1" smtClean="0">
                          <a:latin typeface="Cambria Math" panose="02040503050406030204" pitchFamily="18" charset="0"/>
                        </a:rPr>
                        <m:t>=</m:t>
                      </m:r>
                      <m:nary>
                        <m:naryPr>
                          <m:chr m:val="∑"/>
                          <m:ctrlPr>
                            <a:rPr lang="en-US" sz="2800" i="1">
                              <a:latin typeface="Cambria Math" panose="02040503050406030204" pitchFamily="18" charset="0"/>
                            </a:rPr>
                          </m:ctrlPr>
                        </m:naryPr>
                        <m:sub>
                          <m:r>
                            <m:rPr>
                              <m:brk m:alnAt="23"/>
                            </m:rPr>
                            <a:rPr lang="en-US" sz="2800" i="1">
                              <a:latin typeface="Cambria Math" panose="02040503050406030204" pitchFamily="18" charset="0"/>
                            </a:rPr>
                            <m:t>𝑘</m:t>
                          </m:r>
                          <m:r>
                            <a:rPr lang="en-US" sz="2800" i="1">
                              <a:latin typeface="Cambria Math" panose="02040503050406030204" pitchFamily="18" charset="0"/>
                            </a:rPr>
                            <m:t>=1</m:t>
                          </m:r>
                        </m:sub>
                        <m:sup>
                          <m:r>
                            <a:rPr lang="en-US" sz="2800" i="1">
                              <a:latin typeface="Cambria Math" panose="02040503050406030204" pitchFamily="18" charset="0"/>
                            </a:rPr>
                            <m:t>𝑛</m:t>
                          </m:r>
                        </m:sup>
                        <m:e>
                          <m:sSub>
                            <m:sSubPr>
                              <m:ctrlPr>
                                <a:rPr lang="en-US" sz="2800" i="1">
                                  <a:latin typeface="Cambria Math" panose="02040503050406030204" pitchFamily="18" charset="0"/>
                                </a:rPr>
                              </m:ctrlPr>
                            </m:sSubPr>
                            <m:e>
                              <m:r>
                                <a:rPr lang="en-US" sz="2800" i="1">
                                  <a:latin typeface="Cambria Math" panose="02040503050406030204" pitchFamily="18" charset="0"/>
                                </a:rPr>
                                <m:t>𝑐</m:t>
                              </m:r>
                            </m:e>
                            <m:sub>
                              <m:r>
                                <a:rPr lang="en-US" sz="2800" i="1">
                                  <a:latin typeface="Cambria Math" panose="02040503050406030204" pitchFamily="18" charset="0"/>
                                </a:rPr>
                                <m:t>𝑘</m:t>
                              </m:r>
                            </m:sub>
                          </m:sSub>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𝑒</m:t>
                                  </m:r>
                                </m:e>
                                <m:sub>
                                  <m:r>
                                    <a:rPr lang="sr-Latn-RS" sz="2800" b="0" i="1" smtClean="0">
                                      <a:latin typeface="Cambria Math" panose="02040503050406030204" pitchFamily="18" charset="0"/>
                                    </a:rPr>
                                    <m:t>𝑘</m:t>
                                  </m:r>
                                </m:sub>
                              </m:sSub>
                            </m:e>
                          </m:d>
                        </m:e>
                      </m:nary>
                    </m:oMath>
                  </m:oMathPara>
                </a14:m>
                <a:endParaRPr lang="en-US" sz="2800" dirty="0"/>
              </a:p>
            </p:txBody>
          </p:sp>
        </mc:Choice>
        <mc:Fallback xmlns="">
          <p:sp>
            <p:nvSpPr>
              <p:cNvPr id="15" name="Rectangle 14">
                <a:extLst>
                  <a:ext uri="{FF2B5EF4-FFF2-40B4-BE49-F238E27FC236}">
                    <a16:creationId xmlns:a16="http://schemas.microsoft.com/office/drawing/2014/main" id="{03F290D1-A9CC-8A42-8BC5-D5B85D5936C1}"/>
                  </a:ext>
                </a:extLst>
              </p:cNvPr>
              <p:cNvSpPr>
                <a:spLocks noRot="1" noChangeAspect="1" noMove="1" noResize="1" noEditPoints="1" noAdjustHandles="1" noChangeArrowheads="1" noChangeShapeType="1" noTextEdit="1"/>
              </p:cNvSpPr>
              <p:nvPr/>
            </p:nvSpPr>
            <p:spPr>
              <a:xfrm>
                <a:off x="2358342" y="5353462"/>
                <a:ext cx="7475316" cy="1268552"/>
              </a:xfrm>
              <a:prstGeom prst="rect">
                <a:avLst/>
              </a:prstGeom>
              <a:blipFill>
                <a:blip r:embed="rId6"/>
                <a:stretch>
                  <a:fillRect t="-108000" b="-164000"/>
                </a:stretch>
              </a:blipFill>
            </p:spPr>
            <p:txBody>
              <a:bodyPr/>
              <a:lstStyle/>
              <a:p>
                <a:r>
                  <a:rPr lang="en-US">
                    <a:noFill/>
                  </a:rPr>
                  <a:t> </a:t>
                </a:r>
              </a:p>
            </p:txBody>
          </p:sp>
        </mc:Fallback>
      </mc:AlternateContent>
    </p:spTree>
    <p:extLst>
      <p:ext uri="{BB962C8B-B14F-4D97-AF65-F5344CB8AC3E}">
        <p14:creationId xmlns:p14="http://schemas.microsoft.com/office/powerpoint/2010/main" val="1417282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4B06C0F-519B-9246-B4A6-8A7802C50FB6}"/>
              </a:ext>
            </a:extLst>
          </p:cNvPr>
          <p:cNvPicPr>
            <a:picLocks noChangeAspect="1"/>
          </p:cNvPicPr>
          <p:nvPr/>
        </p:nvPicPr>
        <p:blipFill>
          <a:blip r:embed="rId3"/>
          <a:stretch>
            <a:fillRect/>
          </a:stretch>
        </p:blipFill>
        <p:spPr>
          <a:xfrm>
            <a:off x="1841465" y="464344"/>
            <a:ext cx="8202759" cy="5948301"/>
          </a:xfrm>
          <a:prstGeom prst="rect">
            <a:avLst/>
          </a:prstGeom>
        </p:spPr>
      </p:pic>
      <p:sp>
        <p:nvSpPr>
          <p:cNvPr id="2" name="Slide Number Placeholder 1">
            <a:extLst>
              <a:ext uri="{FF2B5EF4-FFF2-40B4-BE49-F238E27FC236}">
                <a16:creationId xmlns:a16="http://schemas.microsoft.com/office/drawing/2014/main" id="{8BBC3C70-05A7-7E4A-BACA-4191CB642B2A}"/>
              </a:ext>
            </a:extLst>
          </p:cNvPr>
          <p:cNvSpPr>
            <a:spLocks noGrp="1"/>
          </p:cNvSpPr>
          <p:nvPr>
            <p:ph type="sldNum" sz="quarter" idx="12"/>
          </p:nvPr>
        </p:nvSpPr>
        <p:spPr/>
        <p:txBody>
          <a:bodyPr/>
          <a:lstStyle/>
          <a:p>
            <a:fld id="{591A223C-FA10-BC46-A853-03BA373D023C}" type="slidenum">
              <a:rPr lang="en-US" smtClean="0"/>
              <a:t>43</a:t>
            </a:fld>
            <a:endParaRPr lang="en-US"/>
          </a:p>
        </p:txBody>
      </p:sp>
      <p:sp>
        <p:nvSpPr>
          <p:cNvPr id="3" name="Title 2">
            <a:extLst>
              <a:ext uri="{FF2B5EF4-FFF2-40B4-BE49-F238E27FC236}">
                <a16:creationId xmlns:a16="http://schemas.microsoft.com/office/drawing/2014/main" id="{17E168F8-9636-A440-A054-504BFFD7B27A}"/>
              </a:ext>
            </a:extLst>
          </p:cNvPr>
          <p:cNvSpPr>
            <a:spLocks noGrp="1"/>
          </p:cNvSpPr>
          <p:nvPr>
            <p:ph type="title"/>
          </p:nvPr>
        </p:nvSpPr>
        <p:spPr>
          <a:xfrm>
            <a:off x="0" y="0"/>
            <a:ext cx="12192000" cy="928688"/>
          </a:xfrm>
        </p:spPr>
        <p:txBody>
          <a:bodyPr/>
          <a:lstStyle/>
          <a:p>
            <a:r>
              <a:rPr lang="en-ZA" dirty="0"/>
              <a:t>Linear Transformations and Linear Operators</a:t>
            </a:r>
            <a:endParaRPr lang="en-US" dirty="0"/>
          </a:p>
        </p:txBody>
      </p:sp>
      <p:pic>
        <p:nvPicPr>
          <p:cNvPr id="5" name="Picture 4">
            <a:extLst>
              <a:ext uri="{FF2B5EF4-FFF2-40B4-BE49-F238E27FC236}">
                <a16:creationId xmlns:a16="http://schemas.microsoft.com/office/drawing/2014/main" id="{75707413-A059-8B4D-A979-58CFD81CD73E}"/>
              </a:ext>
            </a:extLst>
          </p:cNvPr>
          <p:cNvPicPr>
            <a:picLocks noChangeAspect="1"/>
          </p:cNvPicPr>
          <p:nvPr/>
        </p:nvPicPr>
        <p:blipFill>
          <a:blip r:embed="rId4"/>
          <a:stretch>
            <a:fillRect/>
          </a:stretch>
        </p:blipFill>
        <p:spPr>
          <a:xfrm flipH="1">
            <a:off x="4151949" y="685459"/>
            <a:ext cx="3678639" cy="3721167"/>
          </a:xfrm>
          <a:prstGeom prst="rect">
            <a:avLst/>
          </a:prstGeom>
        </p:spPr>
      </p:pic>
    </p:spTree>
    <p:extLst>
      <p:ext uri="{BB962C8B-B14F-4D97-AF65-F5344CB8AC3E}">
        <p14:creationId xmlns:p14="http://schemas.microsoft.com/office/powerpoint/2010/main" val="30384749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7902349-78DE-BE40-A787-7C8C339F59DF}"/>
              </a:ext>
            </a:extLst>
          </p:cNvPr>
          <p:cNvSpPr>
            <a:spLocks noGrp="1"/>
          </p:cNvSpPr>
          <p:nvPr>
            <p:ph type="sldNum" sz="quarter" idx="12"/>
          </p:nvPr>
        </p:nvSpPr>
        <p:spPr/>
        <p:txBody>
          <a:bodyPr/>
          <a:lstStyle/>
          <a:p>
            <a:fld id="{591A223C-FA10-BC46-A853-03BA373D023C}" type="slidenum">
              <a:rPr lang="en-US" smtClean="0"/>
              <a:t>44</a:t>
            </a:fld>
            <a:endParaRPr lang="en-US"/>
          </a:p>
        </p:txBody>
      </p:sp>
      <p:sp>
        <p:nvSpPr>
          <p:cNvPr id="3" name="Title 2">
            <a:extLst>
              <a:ext uri="{FF2B5EF4-FFF2-40B4-BE49-F238E27FC236}">
                <a16:creationId xmlns:a16="http://schemas.microsoft.com/office/drawing/2014/main" id="{E83518BF-AAFC-0D4A-BCC2-879289356B9B}"/>
              </a:ext>
            </a:extLst>
          </p:cNvPr>
          <p:cNvSpPr>
            <a:spLocks noGrp="1"/>
          </p:cNvSpPr>
          <p:nvPr>
            <p:ph type="title"/>
          </p:nvPr>
        </p:nvSpPr>
        <p:spPr>
          <a:xfrm>
            <a:off x="0" y="0"/>
            <a:ext cx="12192000" cy="928688"/>
          </a:xfrm>
        </p:spPr>
        <p:txBody>
          <a:bodyPr/>
          <a:lstStyle/>
          <a:p>
            <a:r>
              <a:rPr lang="en-ZA" dirty="0"/>
              <a:t>Linear transformations</a:t>
            </a:r>
            <a:endParaRPr lang="en-US" dirty="0"/>
          </a:p>
        </p:txBody>
      </p: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9278BCF5-D24F-AE46-A5E3-892C542C200D}"/>
                  </a:ext>
                </a:extLst>
              </p:cNvPr>
              <p:cNvSpPr/>
              <p:nvPr/>
            </p:nvSpPr>
            <p:spPr>
              <a:xfrm>
                <a:off x="7834458" y="1137265"/>
                <a:ext cx="136947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FF"/>
                          </a:solidFill>
                          <a:latin typeface="Cambria Math" panose="02040503050406030204" pitchFamily="18" charset="0"/>
                        </a:rPr>
                        <m:t>𝐴</m:t>
                      </m:r>
                      <m:r>
                        <a:rPr lang="en-US" sz="2800" b="0" i="1" smtClean="0">
                          <a:latin typeface="Cambria Math" panose="02040503050406030204" pitchFamily="18" charset="0"/>
                        </a:rPr>
                        <m:t>𝑥</m:t>
                      </m:r>
                      <m:r>
                        <a:rPr lang="en-US" sz="2800" b="0" i="1">
                          <a:latin typeface="Cambria Math" panose="02040503050406030204" pitchFamily="18" charset="0"/>
                        </a:rPr>
                        <m:t>=</m:t>
                      </m:r>
                      <m:r>
                        <a:rPr lang="sr-Latn-RS" sz="2800" b="0" i="1" smtClean="0">
                          <a:latin typeface="Cambria Math" panose="02040503050406030204" pitchFamily="18" charset="0"/>
                        </a:rPr>
                        <m:t>𝑦</m:t>
                      </m:r>
                    </m:oMath>
                  </m:oMathPara>
                </a14:m>
                <a:endParaRPr lang="en-US" sz="2800" i="1" dirty="0"/>
              </a:p>
            </p:txBody>
          </p:sp>
        </mc:Choice>
        <mc:Fallback xmlns="">
          <p:sp>
            <p:nvSpPr>
              <p:cNvPr id="27" name="Rectangle 26">
                <a:extLst>
                  <a:ext uri="{FF2B5EF4-FFF2-40B4-BE49-F238E27FC236}">
                    <a16:creationId xmlns:a16="http://schemas.microsoft.com/office/drawing/2014/main" id="{9278BCF5-D24F-AE46-A5E3-892C542C200D}"/>
                  </a:ext>
                </a:extLst>
              </p:cNvPr>
              <p:cNvSpPr>
                <a:spLocks noRot="1" noChangeAspect="1" noMove="1" noResize="1" noEditPoints="1" noAdjustHandles="1" noChangeArrowheads="1" noChangeShapeType="1" noTextEdit="1"/>
              </p:cNvSpPr>
              <p:nvPr/>
            </p:nvSpPr>
            <p:spPr>
              <a:xfrm>
                <a:off x="7834458" y="1137265"/>
                <a:ext cx="1369477" cy="523220"/>
              </a:xfrm>
              <a:prstGeom prst="rect">
                <a:avLst/>
              </a:prstGeom>
              <a:blipFill>
                <a:blip r:embed="rId3"/>
                <a:stretch>
                  <a:fillRect b="-7143"/>
                </a:stretch>
              </a:blipFill>
            </p:spPr>
            <p:txBody>
              <a:bodyPr/>
              <a:lstStyle/>
              <a:p>
                <a:r>
                  <a:rPr lang="en-US">
                    <a:noFill/>
                  </a:rPr>
                  <a:t> </a:t>
                </a:r>
              </a:p>
            </p:txBody>
          </p:sp>
        </mc:Fallback>
      </mc:AlternateContent>
      <p:grpSp>
        <p:nvGrpSpPr>
          <p:cNvPr id="59" name="Group 58">
            <a:extLst>
              <a:ext uri="{FF2B5EF4-FFF2-40B4-BE49-F238E27FC236}">
                <a16:creationId xmlns:a16="http://schemas.microsoft.com/office/drawing/2014/main" id="{0A56F82F-0395-8540-8FFA-034EF81F2128}"/>
              </a:ext>
            </a:extLst>
          </p:cNvPr>
          <p:cNvGrpSpPr/>
          <p:nvPr/>
        </p:nvGrpSpPr>
        <p:grpSpPr>
          <a:xfrm>
            <a:off x="1403508" y="2601591"/>
            <a:ext cx="10054518" cy="2505628"/>
            <a:chOff x="678911" y="2640903"/>
            <a:chExt cx="10054518" cy="2505628"/>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374325F2-990C-1549-BC0D-319724D84EBA}"/>
                    </a:ext>
                  </a:extLst>
                </p:cNvPr>
                <p:cNvSpPr/>
                <p:nvPr/>
              </p:nvSpPr>
              <p:spPr>
                <a:xfrm>
                  <a:off x="4066437" y="4623311"/>
                  <a:ext cx="46519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a:solidFill>
                              <a:schemeClr val="tx1">
                                <a:lumMod val="50000"/>
                                <a:lumOff val="50000"/>
                              </a:schemeClr>
                            </a:solidFill>
                            <a:latin typeface="Cambria Math" panose="02040503050406030204" pitchFamily="18" charset="0"/>
                          </a:rPr>
                          <m:t>1</m:t>
                        </m:r>
                      </m:oMath>
                    </m:oMathPara>
                  </a14:m>
                  <a:endParaRPr lang="en-US" sz="2800" dirty="0">
                    <a:solidFill>
                      <a:schemeClr val="tx1">
                        <a:lumMod val="50000"/>
                        <a:lumOff val="50000"/>
                      </a:schemeClr>
                    </a:solidFill>
                  </a:endParaRPr>
                </a:p>
              </p:txBody>
            </p:sp>
          </mc:Choice>
          <mc:Fallback xmlns="">
            <p:sp>
              <p:nvSpPr>
                <p:cNvPr id="5" name="Rectangle 4">
                  <a:extLst>
                    <a:ext uri="{FF2B5EF4-FFF2-40B4-BE49-F238E27FC236}">
                      <a16:creationId xmlns:a16="http://schemas.microsoft.com/office/drawing/2014/main" id="{374325F2-990C-1549-BC0D-319724D84EBA}"/>
                    </a:ext>
                  </a:extLst>
                </p:cNvPr>
                <p:cNvSpPr>
                  <a:spLocks noRot="1" noChangeAspect="1" noMove="1" noResize="1" noEditPoints="1" noAdjustHandles="1" noChangeArrowheads="1" noChangeShapeType="1" noTextEdit="1"/>
                </p:cNvSpPr>
                <p:nvPr/>
              </p:nvSpPr>
              <p:spPr>
                <a:xfrm>
                  <a:off x="4066437" y="4623311"/>
                  <a:ext cx="465192" cy="523220"/>
                </a:xfrm>
                <a:prstGeom prst="rect">
                  <a:avLst/>
                </a:prstGeom>
                <a:blipFill>
                  <a:blip r:embed="rId4"/>
                  <a:stretch>
                    <a:fillRect/>
                  </a:stretch>
                </a:blipFill>
              </p:spPr>
              <p:txBody>
                <a:bodyPr/>
                <a:lstStyle/>
                <a:p>
                  <a:r>
                    <a:rPr lang="en-US">
                      <a:noFill/>
                    </a:rPr>
                    <a:t> </a:t>
                  </a:r>
                </a:p>
              </p:txBody>
            </p:sp>
          </mc:Fallback>
        </mc:AlternateContent>
        <p:grpSp>
          <p:nvGrpSpPr>
            <p:cNvPr id="57" name="Group 56">
              <a:extLst>
                <a:ext uri="{FF2B5EF4-FFF2-40B4-BE49-F238E27FC236}">
                  <a16:creationId xmlns:a16="http://schemas.microsoft.com/office/drawing/2014/main" id="{01E9E6A3-DDBB-6343-8D04-3B173CD8D14E}"/>
                </a:ext>
              </a:extLst>
            </p:cNvPr>
            <p:cNvGrpSpPr/>
            <p:nvPr/>
          </p:nvGrpSpPr>
          <p:grpSpPr>
            <a:xfrm>
              <a:off x="678911" y="2640903"/>
              <a:ext cx="10054518" cy="2505628"/>
              <a:chOff x="678911" y="2640903"/>
              <a:chExt cx="10054518" cy="2505628"/>
            </a:xfrm>
          </p:grpSpPr>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7E9A999E-39DC-3A4C-A285-9FD2B776DBF5}"/>
                      </a:ext>
                    </a:extLst>
                  </p:cNvPr>
                  <p:cNvSpPr/>
                  <p:nvPr/>
                </p:nvSpPr>
                <p:spPr>
                  <a:xfrm>
                    <a:off x="678911" y="4623311"/>
                    <a:ext cx="732893"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lumMod val="50000"/>
                                  <a:lumOff val="50000"/>
                                </a:schemeClr>
                              </a:solidFill>
                              <a:latin typeface="Cambria Math" panose="02040503050406030204" pitchFamily="18" charset="0"/>
                            </a:rPr>
                            <m:t>−</m:t>
                          </m:r>
                          <m:r>
                            <a:rPr lang="en-US" sz="2800" i="1">
                              <a:solidFill>
                                <a:schemeClr val="tx1">
                                  <a:lumMod val="50000"/>
                                  <a:lumOff val="50000"/>
                                </a:schemeClr>
                              </a:solidFill>
                              <a:latin typeface="Cambria Math" panose="02040503050406030204" pitchFamily="18" charset="0"/>
                            </a:rPr>
                            <m:t>1</m:t>
                          </m:r>
                        </m:oMath>
                      </m:oMathPara>
                    </a14:m>
                    <a:endParaRPr lang="en-US" sz="2800" dirty="0">
                      <a:solidFill>
                        <a:schemeClr val="tx1">
                          <a:lumMod val="50000"/>
                          <a:lumOff val="50000"/>
                        </a:schemeClr>
                      </a:solidFill>
                    </a:endParaRPr>
                  </a:p>
                </p:txBody>
              </p:sp>
            </mc:Choice>
            <mc:Fallback xmlns="">
              <p:sp>
                <p:nvSpPr>
                  <p:cNvPr id="43" name="Rectangle 42">
                    <a:extLst>
                      <a:ext uri="{FF2B5EF4-FFF2-40B4-BE49-F238E27FC236}">
                        <a16:creationId xmlns:a16="http://schemas.microsoft.com/office/drawing/2014/main" id="{7E9A999E-39DC-3A4C-A285-9FD2B776DBF5}"/>
                      </a:ext>
                    </a:extLst>
                  </p:cNvPr>
                  <p:cNvSpPr>
                    <a:spLocks noRot="1" noChangeAspect="1" noMove="1" noResize="1" noEditPoints="1" noAdjustHandles="1" noChangeArrowheads="1" noChangeShapeType="1" noTextEdit="1"/>
                  </p:cNvSpPr>
                  <p:nvPr/>
                </p:nvSpPr>
                <p:spPr>
                  <a:xfrm>
                    <a:off x="678911" y="4623311"/>
                    <a:ext cx="732893" cy="523220"/>
                  </a:xfrm>
                  <a:prstGeom prst="rect">
                    <a:avLst/>
                  </a:prstGeom>
                  <a:blipFill>
                    <a:blip r:embed="rId5"/>
                    <a:stretch>
                      <a:fillRect/>
                    </a:stretch>
                  </a:blipFill>
                </p:spPr>
                <p:txBody>
                  <a:bodyPr/>
                  <a:lstStyle/>
                  <a:p>
                    <a:r>
                      <a:rPr lang="en-US">
                        <a:noFill/>
                      </a:rPr>
                      <a:t> </a:t>
                    </a:r>
                  </a:p>
                </p:txBody>
              </p:sp>
            </mc:Fallback>
          </mc:AlternateContent>
          <p:grpSp>
            <p:nvGrpSpPr>
              <p:cNvPr id="54" name="Group 53">
                <a:extLst>
                  <a:ext uri="{FF2B5EF4-FFF2-40B4-BE49-F238E27FC236}">
                    <a16:creationId xmlns:a16="http://schemas.microsoft.com/office/drawing/2014/main" id="{AF8009E7-1A07-B343-BBF6-C0C204E82634}"/>
                  </a:ext>
                </a:extLst>
              </p:cNvPr>
              <p:cNvGrpSpPr/>
              <p:nvPr/>
            </p:nvGrpSpPr>
            <p:grpSpPr>
              <a:xfrm>
                <a:off x="1039007" y="2640903"/>
                <a:ext cx="9694422" cy="1765415"/>
                <a:chOff x="1042251" y="2644148"/>
                <a:chExt cx="9694422" cy="1765415"/>
              </a:xfrm>
            </p:grpSpPr>
            <p:grpSp>
              <p:nvGrpSpPr>
                <p:cNvPr id="52" name="Group 51">
                  <a:extLst>
                    <a:ext uri="{FF2B5EF4-FFF2-40B4-BE49-F238E27FC236}">
                      <a16:creationId xmlns:a16="http://schemas.microsoft.com/office/drawing/2014/main" id="{818C6453-1491-C546-99C9-15420009BC93}"/>
                    </a:ext>
                  </a:extLst>
                </p:cNvPr>
                <p:cNvGrpSpPr/>
                <p:nvPr/>
              </p:nvGrpSpPr>
              <p:grpSpPr>
                <a:xfrm>
                  <a:off x="1042251" y="2644148"/>
                  <a:ext cx="2538484" cy="1765415"/>
                  <a:chOff x="1042251" y="2644148"/>
                  <a:chExt cx="2538484" cy="1765415"/>
                </a:xfrm>
              </p:grpSpPr>
              <p:cxnSp>
                <p:nvCxnSpPr>
                  <p:cNvPr id="36" name="Straight Arrow Connector 35">
                    <a:extLst>
                      <a:ext uri="{FF2B5EF4-FFF2-40B4-BE49-F238E27FC236}">
                        <a16:creationId xmlns:a16="http://schemas.microsoft.com/office/drawing/2014/main" id="{C505421C-127F-F047-A864-6C3DD9F50139}"/>
                      </a:ext>
                    </a:extLst>
                  </p:cNvPr>
                  <p:cNvCxnSpPr>
                    <a:cxnSpLocks/>
                  </p:cNvCxnSpPr>
                  <p:nvPr/>
                </p:nvCxnSpPr>
                <p:spPr>
                  <a:xfrm flipV="1">
                    <a:off x="1042251" y="2648431"/>
                    <a:ext cx="5661" cy="1620517"/>
                  </a:xfrm>
                  <a:prstGeom prst="straightConnector1">
                    <a:avLst/>
                  </a:prstGeom>
                  <a:ln w="6350" cap="rnd">
                    <a:solidFill>
                      <a:schemeClr val="bg1">
                        <a:lumMod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44B9C74E-566C-E542-8D8A-1DF8998F36E5}"/>
                      </a:ext>
                    </a:extLst>
                  </p:cNvPr>
                  <p:cNvCxnSpPr>
                    <a:cxnSpLocks/>
                  </p:cNvCxnSpPr>
                  <p:nvPr/>
                </p:nvCxnSpPr>
                <p:spPr>
                  <a:xfrm flipH="1" flipV="1">
                    <a:off x="1043609" y="2644148"/>
                    <a:ext cx="1620716" cy="1765415"/>
                  </a:xfrm>
                  <a:prstGeom prst="straightConnector1">
                    <a:avLst/>
                  </a:prstGeom>
                  <a:ln w="50800" cap="rnd">
                    <a:solidFill>
                      <a:srgbClr val="C0000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A3730093-FA9B-7243-96C3-82F19D1975AA}"/>
                          </a:ext>
                        </a:extLst>
                      </p:cNvPr>
                      <p:cNvSpPr/>
                      <p:nvPr/>
                    </p:nvSpPr>
                    <p:spPr>
                      <a:xfrm>
                        <a:off x="1101224" y="3503194"/>
                        <a:ext cx="71564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8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𝑦</m:t>
                                  </m:r>
                                </m:e>
                              </m:d>
                            </m:oMath>
                          </m:oMathPara>
                        </a14:m>
                        <a:endParaRPr lang="en-US" sz="2800" dirty="0">
                          <a:solidFill>
                            <a:schemeClr val="tx1"/>
                          </a:solidFill>
                        </a:endParaRPr>
                      </a:p>
                    </p:txBody>
                  </p:sp>
                </mc:Choice>
                <mc:Fallback xmlns="">
                  <p:sp>
                    <p:nvSpPr>
                      <p:cNvPr id="44" name="Rectangle 43">
                        <a:extLst>
                          <a:ext uri="{FF2B5EF4-FFF2-40B4-BE49-F238E27FC236}">
                            <a16:creationId xmlns:a16="http://schemas.microsoft.com/office/drawing/2014/main" id="{A3730093-FA9B-7243-96C3-82F19D1975AA}"/>
                          </a:ext>
                        </a:extLst>
                      </p:cNvPr>
                      <p:cNvSpPr>
                        <a:spLocks noRot="1" noChangeAspect="1" noMove="1" noResize="1" noEditPoints="1" noAdjustHandles="1" noChangeArrowheads="1" noChangeShapeType="1" noTextEdit="1"/>
                      </p:cNvSpPr>
                      <p:nvPr/>
                    </p:nvSpPr>
                    <p:spPr>
                      <a:xfrm>
                        <a:off x="1101224" y="3503194"/>
                        <a:ext cx="715644" cy="523220"/>
                      </a:xfrm>
                      <a:prstGeom prst="rect">
                        <a:avLst/>
                      </a:prstGeom>
                      <a:blipFill>
                        <a:blip r:embed="rId6"/>
                        <a:stretch>
                          <a:fillRect b="-6977"/>
                        </a:stretch>
                      </a:blipFill>
                    </p:spPr>
                    <p:txBody>
                      <a:bodyPr/>
                      <a:lstStyle/>
                      <a:p>
                        <a:r>
                          <a:rPr lang="en-US">
                            <a:noFill/>
                          </a:rPr>
                          <a:t> </a:t>
                        </a:r>
                      </a:p>
                    </p:txBody>
                  </p:sp>
                </mc:Fallback>
              </mc:AlternateContent>
              <p:sp>
                <p:nvSpPr>
                  <p:cNvPr id="45" name="Arc 44">
                    <a:extLst>
                      <a:ext uri="{FF2B5EF4-FFF2-40B4-BE49-F238E27FC236}">
                        <a16:creationId xmlns:a16="http://schemas.microsoft.com/office/drawing/2014/main" id="{E91F8D9F-EE1F-D040-B88F-AC0A418FE737}"/>
                      </a:ext>
                    </a:extLst>
                  </p:cNvPr>
                  <p:cNvSpPr/>
                  <p:nvPr/>
                </p:nvSpPr>
                <p:spPr>
                  <a:xfrm flipH="1">
                    <a:off x="1796382" y="3149638"/>
                    <a:ext cx="1784353" cy="1066192"/>
                  </a:xfrm>
                  <a:prstGeom prst="arc">
                    <a:avLst>
                      <a:gd name="adj1" fmla="val 12167128"/>
                      <a:gd name="adj2" fmla="val 19806838"/>
                    </a:avLst>
                  </a:prstGeom>
                  <a:ln w="127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9" name="Straight Arrow Connector 48">
                    <a:extLst>
                      <a:ext uri="{FF2B5EF4-FFF2-40B4-BE49-F238E27FC236}">
                        <a16:creationId xmlns:a16="http://schemas.microsoft.com/office/drawing/2014/main" id="{79AF33BD-1465-1D4F-99AF-0A18C891B974}"/>
                      </a:ext>
                    </a:extLst>
                  </p:cNvPr>
                  <p:cNvCxnSpPr>
                    <a:cxnSpLocks/>
                  </p:cNvCxnSpPr>
                  <p:nvPr/>
                </p:nvCxnSpPr>
                <p:spPr>
                  <a:xfrm>
                    <a:off x="1055498" y="2645306"/>
                    <a:ext cx="1487754" cy="3125"/>
                  </a:xfrm>
                  <a:prstGeom prst="straightConnector1">
                    <a:avLst/>
                  </a:prstGeom>
                  <a:ln w="6350" cap="rnd">
                    <a:solidFill>
                      <a:schemeClr val="bg1">
                        <a:lumMod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3" name="Rectangle 52">
                      <a:extLst>
                        <a:ext uri="{FF2B5EF4-FFF2-40B4-BE49-F238E27FC236}">
                          <a16:creationId xmlns:a16="http://schemas.microsoft.com/office/drawing/2014/main" id="{2524F3B2-0206-3943-A50A-D93A4B478BB4}"/>
                        </a:ext>
                      </a:extLst>
                    </p:cNvPr>
                    <p:cNvSpPr/>
                    <p:nvPr/>
                  </p:nvSpPr>
                  <p:spPr>
                    <a:xfrm>
                      <a:off x="5628330" y="3572999"/>
                      <a:ext cx="5108343" cy="81079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m:t>
                            </m:r>
                            <m:d>
                              <m:dPr>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r>
                                        <m:rPr>
                                          <m:brk m:alnAt="7"/>
                                        </m:rPr>
                                        <a:rPr lang="en-US" sz="2800" i="1">
                                          <a:latin typeface="Cambria Math" panose="02040503050406030204" pitchFamily="18" charset="0"/>
                                        </a:rPr>
                                        <m:t>−</m:t>
                                      </m:r>
                                      <m:r>
                                        <a:rPr lang="en-US" sz="2800" i="1">
                                          <a:latin typeface="Cambria Math" panose="02040503050406030204" pitchFamily="18" charset="0"/>
                                        </a:rPr>
                                        <m:t>1</m:t>
                                      </m:r>
                                    </m:e>
                                  </m:mr>
                                  <m:mr>
                                    <m:e>
                                      <m:r>
                                        <a:rPr lang="en-US" sz="2800" i="1">
                                          <a:latin typeface="Cambria Math" panose="02040503050406030204" pitchFamily="18" charset="0"/>
                                        </a:rPr>
                                        <m:t>1</m:t>
                                      </m:r>
                                    </m:e>
                                  </m:mr>
                                </m:m>
                              </m:e>
                            </m:d>
                            <m:r>
                              <a:rPr lang="sr-Latn-RS" sz="2800" b="0" i="1" smtClean="0">
                                <a:latin typeface="Cambria Math" panose="02040503050406030204" pitchFamily="18" charset="0"/>
                              </a:rPr>
                              <m:t>=</m:t>
                            </m:r>
                            <m:d>
                              <m:dPr>
                                <m:begChr m:val="|"/>
                                <m:endChr m:val="⟩"/>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800" b="0" i="1" smtClean="0">
                                    <a:latin typeface="Cambria Math" panose="02040503050406030204" pitchFamily="18" charset="0"/>
                                    <a:ea typeface="Times New Roman" panose="02020603050405020304" pitchFamily="18" charset="0"/>
                                    <a:cs typeface="Times New Roman" panose="02020603050405020304" pitchFamily="18" charset="0"/>
                                  </a:rPr>
                                  <m:t>𝑦</m:t>
                                </m:r>
                              </m:e>
                            </m:d>
                          </m:oMath>
                        </m:oMathPara>
                      </a14:m>
                      <a:endParaRPr lang="en-US" sz="2800" dirty="0"/>
                    </a:p>
                  </p:txBody>
                </p:sp>
              </mc:Choice>
              <mc:Fallback xmlns="">
                <p:sp>
                  <p:nvSpPr>
                    <p:cNvPr id="53" name="Rectangle 52">
                      <a:extLst>
                        <a:ext uri="{FF2B5EF4-FFF2-40B4-BE49-F238E27FC236}">
                          <a16:creationId xmlns:a16="http://schemas.microsoft.com/office/drawing/2014/main" id="{2524F3B2-0206-3943-A50A-D93A4B478BB4}"/>
                        </a:ext>
                      </a:extLst>
                    </p:cNvPr>
                    <p:cNvSpPr>
                      <a:spLocks noRot="1" noChangeAspect="1" noMove="1" noResize="1" noEditPoints="1" noAdjustHandles="1" noChangeArrowheads="1" noChangeShapeType="1" noTextEdit="1"/>
                    </p:cNvSpPr>
                    <p:nvPr/>
                  </p:nvSpPr>
                  <p:spPr>
                    <a:xfrm>
                      <a:off x="5628330" y="3572999"/>
                      <a:ext cx="5108343" cy="810799"/>
                    </a:xfrm>
                    <a:prstGeom prst="rect">
                      <a:avLst/>
                    </a:prstGeom>
                    <a:blipFill>
                      <a:blip r:embed="rId7"/>
                      <a:stretch>
                        <a:fillRect b="-7692"/>
                      </a:stretch>
                    </a:blipFill>
                  </p:spPr>
                  <p:txBody>
                    <a:bodyPr/>
                    <a:lstStyle/>
                    <a:p>
                      <a:r>
                        <a:rPr lang="en-US">
                          <a:noFill/>
                        </a:rPr>
                        <a:t> </a:t>
                      </a:r>
                    </a:p>
                  </p:txBody>
                </p:sp>
              </mc:Fallback>
            </mc:AlternateContent>
          </p:grpSp>
        </p:grpSp>
      </p:grpSp>
      <p:grpSp>
        <p:nvGrpSpPr>
          <p:cNvPr id="56" name="Group 55">
            <a:extLst>
              <a:ext uri="{FF2B5EF4-FFF2-40B4-BE49-F238E27FC236}">
                <a16:creationId xmlns:a16="http://schemas.microsoft.com/office/drawing/2014/main" id="{D395031F-5147-0849-9B43-FE0F8EF87EAF}"/>
              </a:ext>
            </a:extLst>
          </p:cNvPr>
          <p:cNvGrpSpPr/>
          <p:nvPr/>
        </p:nvGrpSpPr>
        <p:grpSpPr>
          <a:xfrm>
            <a:off x="1327806" y="1660485"/>
            <a:ext cx="9876632" cy="3261195"/>
            <a:chOff x="603209" y="1699797"/>
            <a:chExt cx="9876632" cy="3261195"/>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F372D153-6991-9D46-BA70-0CB819C379E4}"/>
                    </a:ext>
                  </a:extLst>
                </p:cNvPr>
                <p:cNvSpPr/>
                <p:nvPr/>
              </p:nvSpPr>
              <p:spPr>
                <a:xfrm>
                  <a:off x="2099463" y="4437772"/>
                  <a:ext cx="52931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1" i="1">
                            <a:solidFill>
                              <a:schemeClr val="tx1">
                                <a:lumMod val="50000"/>
                                <a:lumOff val="50000"/>
                              </a:schemeClr>
                            </a:solidFill>
                            <a:latin typeface="Cambria Math" panose="02040503050406030204" pitchFamily="18" charset="0"/>
                          </a:rPr>
                          <m:t>𝑶</m:t>
                        </m:r>
                      </m:oMath>
                    </m:oMathPara>
                  </a14:m>
                  <a:endParaRPr lang="en-US" sz="2800" b="1" i="1" dirty="0">
                    <a:solidFill>
                      <a:schemeClr val="tx1">
                        <a:lumMod val="50000"/>
                        <a:lumOff val="50000"/>
                      </a:schemeClr>
                    </a:solidFill>
                  </a:endParaRPr>
                </a:p>
              </p:txBody>
            </p:sp>
          </mc:Choice>
          <mc:Fallback xmlns="">
            <p:sp>
              <p:nvSpPr>
                <p:cNvPr id="4" name="Rectangle 3">
                  <a:extLst>
                    <a:ext uri="{FF2B5EF4-FFF2-40B4-BE49-F238E27FC236}">
                      <a16:creationId xmlns:a16="http://schemas.microsoft.com/office/drawing/2014/main" id="{F372D153-6991-9D46-BA70-0CB819C379E4}"/>
                    </a:ext>
                  </a:extLst>
                </p:cNvPr>
                <p:cNvSpPr>
                  <a:spLocks noRot="1" noChangeAspect="1" noMove="1" noResize="1" noEditPoints="1" noAdjustHandles="1" noChangeArrowheads="1" noChangeShapeType="1" noTextEdit="1"/>
                </p:cNvSpPr>
                <p:nvPr/>
              </p:nvSpPr>
              <p:spPr>
                <a:xfrm>
                  <a:off x="2099463" y="4437772"/>
                  <a:ext cx="529311" cy="523220"/>
                </a:xfrm>
                <a:prstGeom prst="rect">
                  <a:avLst/>
                </a:prstGeom>
                <a:blipFill>
                  <a:blip r:embed="rId8"/>
                  <a:stretch>
                    <a:fillRect/>
                  </a:stretch>
                </a:blipFill>
              </p:spPr>
              <p:txBody>
                <a:bodyPr/>
                <a:lstStyle/>
                <a:p>
                  <a:r>
                    <a:rPr lang="en-US">
                      <a:noFill/>
                    </a:rPr>
                    <a:t> </a:t>
                  </a:r>
                </a:p>
              </p:txBody>
            </p:sp>
          </mc:Fallback>
        </mc:AlternateContent>
        <p:cxnSp>
          <p:nvCxnSpPr>
            <p:cNvPr id="7" name="Straight Arrow Connector 6">
              <a:extLst>
                <a:ext uri="{FF2B5EF4-FFF2-40B4-BE49-F238E27FC236}">
                  <a16:creationId xmlns:a16="http://schemas.microsoft.com/office/drawing/2014/main" id="{C67927DF-A751-B844-AD82-908C52A41403}"/>
                </a:ext>
              </a:extLst>
            </p:cNvPr>
            <p:cNvCxnSpPr>
              <a:cxnSpLocks/>
            </p:cNvCxnSpPr>
            <p:nvPr/>
          </p:nvCxnSpPr>
          <p:spPr>
            <a:xfrm flipV="1">
              <a:off x="2673472" y="1859753"/>
              <a:ext cx="0" cy="2881035"/>
            </a:xfrm>
            <a:prstGeom prst="straightConnector1">
              <a:avLst/>
            </a:prstGeom>
            <a:ln w="12700" cap="rnd">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6BD2385-884C-3646-86BB-FF0E61D4CDE7}"/>
                </a:ext>
              </a:extLst>
            </p:cNvPr>
            <p:cNvCxnSpPr>
              <a:cxnSpLocks/>
            </p:cNvCxnSpPr>
            <p:nvPr/>
          </p:nvCxnSpPr>
          <p:spPr>
            <a:xfrm>
              <a:off x="603209" y="4420041"/>
              <a:ext cx="4096454" cy="0"/>
            </a:xfrm>
            <a:prstGeom prst="straightConnector1">
              <a:avLst/>
            </a:prstGeom>
            <a:ln w="12700" cap="rnd">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BD74E3C-1CF2-2342-A07B-7D2026876A14}"/>
                </a:ext>
              </a:extLst>
            </p:cNvPr>
            <p:cNvCxnSpPr>
              <a:cxnSpLocks/>
            </p:cNvCxnSpPr>
            <p:nvPr/>
          </p:nvCxnSpPr>
          <p:spPr>
            <a:xfrm>
              <a:off x="4300020" y="4182254"/>
              <a:ext cx="0" cy="44199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990C747-B027-8745-8E1D-365AA0A15FC8}"/>
                </a:ext>
              </a:extLst>
            </p:cNvPr>
            <p:cNvCxnSpPr>
              <a:cxnSpLocks/>
            </p:cNvCxnSpPr>
            <p:nvPr/>
          </p:nvCxnSpPr>
          <p:spPr>
            <a:xfrm rot="16200000">
              <a:off x="2673476" y="2443060"/>
              <a:ext cx="0" cy="412032"/>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DD47ADF6-5B64-2449-9B20-35F8411B4127}"/>
                    </a:ext>
                  </a:extLst>
                </p:cNvPr>
                <p:cNvSpPr/>
                <p:nvPr/>
              </p:nvSpPr>
              <p:spPr>
                <a:xfrm>
                  <a:off x="4781264" y="4437771"/>
                  <a:ext cx="468077"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sr-Latn-RS" sz="2800" i="1">
                            <a:latin typeface="Cambria Math" panose="02040503050406030204" pitchFamily="18" charset="0"/>
                          </a:rPr>
                          <m:t>𝑥</m:t>
                        </m:r>
                      </m:oMath>
                    </m:oMathPara>
                  </a14:m>
                  <a:endParaRPr lang="en-US" sz="2800" dirty="0"/>
                </a:p>
              </p:txBody>
            </p:sp>
          </mc:Choice>
          <mc:Fallback xmlns="">
            <p:sp>
              <p:nvSpPr>
                <p:cNvPr id="11" name="Rectangle 10">
                  <a:extLst>
                    <a:ext uri="{FF2B5EF4-FFF2-40B4-BE49-F238E27FC236}">
                      <a16:creationId xmlns:a16="http://schemas.microsoft.com/office/drawing/2014/main" id="{DD47ADF6-5B64-2449-9B20-35F8411B4127}"/>
                    </a:ext>
                  </a:extLst>
                </p:cNvPr>
                <p:cNvSpPr>
                  <a:spLocks noRot="1" noChangeAspect="1" noMove="1" noResize="1" noEditPoints="1" noAdjustHandles="1" noChangeArrowheads="1" noChangeShapeType="1" noTextEdit="1"/>
                </p:cNvSpPr>
                <p:nvPr/>
              </p:nvSpPr>
              <p:spPr>
                <a:xfrm>
                  <a:off x="4781264" y="4437771"/>
                  <a:ext cx="468077"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62D47505-2212-494C-9147-779A5749E34A}"/>
                    </a:ext>
                  </a:extLst>
                </p:cNvPr>
                <p:cNvSpPr/>
                <p:nvPr/>
              </p:nvSpPr>
              <p:spPr>
                <a:xfrm>
                  <a:off x="2067058" y="1699797"/>
                  <a:ext cx="472950"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𝑦</m:t>
                        </m:r>
                      </m:oMath>
                    </m:oMathPara>
                  </a14:m>
                  <a:endParaRPr lang="en-US" sz="2800" dirty="0"/>
                </a:p>
              </p:txBody>
            </p:sp>
          </mc:Choice>
          <mc:Fallback xmlns="">
            <p:sp>
              <p:nvSpPr>
                <p:cNvPr id="12" name="Rectangle 11">
                  <a:extLst>
                    <a:ext uri="{FF2B5EF4-FFF2-40B4-BE49-F238E27FC236}">
                      <a16:creationId xmlns:a16="http://schemas.microsoft.com/office/drawing/2014/main" id="{62D47505-2212-494C-9147-779A5749E34A}"/>
                    </a:ext>
                  </a:extLst>
                </p:cNvPr>
                <p:cNvSpPr>
                  <a:spLocks noRot="1" noChangeAspect="1" noMove="1" noResize="1" noEditPoints="1" noAdjustHandles="1" noChangeArrowheads="1" noChangeShapeType="1" noTextEdit="1"/>
                </p:cNvSpPr>
                <p:nvPr/>
              </p:nvSpPr>
              <p:spPr>
                <a:xfrm>
                  <a:off x="2067058" y="1699797"/>
                  <a:ext cx="472950" cy="523220"/>
                </a:xfrm>
                <a:prstGeom prst="rect">
                  <a:avLst/>
                </a:prstGeom>
                <a:blipFill>
                  <a:blip r:embed="rId10"/>
                  <a:stretch>
                    <a:fillRect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8276E43F-87E6-5648-ADBC-4F9137F0894C}"/>
                    </a:ext>
                  </a:extLst>
                </p:cNvPr>
                <p:cNvSpPr/>
                <p:nvPr/>
              </p:nvSpPr>
              <p:spPr>
                <a:xfrm>
                  <a:off x="2064813" y="2388838"/>
                  <a:ext cx="465192"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i="1">
                            <a:solidFill>
                              <a:schemeClr val="tx1">
                                <a:lumMod val="50000"/>
                                <a:lumOff val="50000"/>
                              </a:schemeClr>
                            </a:solidFill>
                            <a:latin typeface="Cambria Math" panose="02040503050406030204" pitchFamily="18" charset="0"/>
                          </a:rPr>
                          <m:t>1</m:t>
                        </m:r>
                      </m:oMath>
                    </m:oMathPara>
                  </a14:m>
                  <a:endParaRPr lang="en-US" sz="2800" dirty="0">
                    <a:solidFill>
                      <a:schemeClr val="tx1">
                        <a:lumMod val="50000"/>
                        <a:lumOff val="50000"/>
                      </a:schemeClr>
                    </a:solidFill>
                  </a:endParaRPr>
                </a:p>
              </p:txBody>
            </p:sp>
          </mc:Choice>
          <mc:Fallback xmlns="">
            <p:sp>
              <p:nvSpPr>
                <p:cNvPr id="13" name="Rectangle 12">
                  <a:extLst>
                    <a:ext uri="{FF2B5EF4-FFF2-40B4-BE49-F238E27FC236}">
                      <a16:creationId xmlns:a16="http://schemas.microsoft.com/office/drawing/2014/main" id="{8276E43F-87E6-5648-ADBC-4F9137F0894C}"/>
                    </a:ext>
                  </a:extLst>
                </p:cNvPr>
                <p:cNvSpPr>
                  <a:spLocks noRot="1" noChangeAspect="1" noMove="1" noResize="1" noEditPoints="1" noAdjustHandles="1" noChangeArrowheads="1" noChangeShapeType="1" noTextEdit="1"/>
                </p:cNvSpPr>
                <p:nvPr/>
              </p:nvSpPr>
              <p:spPr>
                <a:xfrm>
                  <a:off x="2064813" y="2388838"/>
                  <a:ext cx="465192" cy="523220"/>
                </a:xfrm>
                <a:prstGeom prst="rect">
                  <a:avLst/>
                </a:prstGeom>
                <a:blipFill>
                  <a:blip r:embed="rId11"/>
                  <a:stretch>
                    <a:fillRect/>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EC190AC1-2B55-A340-A30F-C156536F6AE2}"/>
                </a:ext>
              </a:extLst>
            </p:cNvPr>
            <p:cNvCxnSpPr>
              <a:cxnSpLocks/>
            </p:cNvCxnSpPr>
            <p:nvPr/>
          </p:nvCxnSpPr>
          <p:spPr>
            <a:xfrm flipV="1">
              <a:off x="2678317" y="2645933"/>
              <a:ext cx="1620716" cy="1765415"/>
            </a:xfrm>
            <a:prstGeom prst="straightConnector1">
              <a:avLst/>
            </a:prstGeom>
            <a:ln w="50800" cap="rnd">
              <a:solidFill>
                <a:schemeClr val="accent1">
                  <a:lumMod val="50000"/>
                </a:schemeClr>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0ED61246-8466-E440-A592-5E40BE89F214}"/>
                    </a:ext>
                  </a:extLst>
                </p:cNvPr>
                <p:cNvSpPr/>
                <p:nvPr/>
              </p:nvSpPr>
              <p:spPr>
                <a:xfrm>
                  <a:off x="3391965" y="3497031"/>
                  <a:ext cx="71077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80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800" b="0" i="1" smtClean="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𝑥</m:t>
                            </m:r>
                          </m:e>
                        </m:d>
                      </m:oMath>
                    </m:oMathPara>
                  </a14:m>
                  <a:endParaRPr lang="en-US" sz="2800" dirty="0">
                    <a:solidFill>
                      <a:schemeClr val="tx1"/>
                    </a:solidFill>
                  </a:endParaRPr>
                </a:p>
              </p:txBody>
            </p:sp>
          </mc:Choice>
          <mc:Fallback xmlns="">
            <p:sp>
              <p:nvSpPr>
                <p:cNvPr id="15" name="Rectangle 14">
                  <a:extLst>
                    <a:ext uri="{FF2B5EF4-FFF2-40B4-BE49-F238E27FC236}">
                      <a16:creationId xmlns:a16="http://schemas.microsoft.com/office/drawing/2014/main" id="{0ED61246-8466-E440-A592-5E40BE89F214}"/>
                    </a:ext>
                  </a:extLst>
                </p:cNvPr>
                <p:cNvSpPr>
                  <a:spLocks noRot="1" noChangeAspect="1" noMove="1" noResize="1" noEditPoints="1" noAdjustHandles="1" noChangeArrowheads="1" noChangeShapeType="1" noTextEdit="1"/>
                </p:cNvSpPr>
                <p:nvPr/>
              </p:nvSpPr>
              <p:spPr>
                <a:xfrm>
                  <a:off x="3391965" y="3497031"/>
                  <a:ext cx="710771" cy="523220"/>
                </a:xfrm>
                <a:prstGeom prst="rect">
                  <a:avLst/>
                </a:prstGeom>
                <a:blipFill>
                  <a:blip r:embed="rId12"/>
                  <a:stretch>
                    <a:fillRect/>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F176BE42-6931-BD46-B97A-15133385B26B}"/>
                </a:ext>
              </a:extLst>
            </p:cNvPr>
            <p:cNvCxnSpPr>
              <a:cxnSpLocks/>
            </p:cNvCxnSpPr>
            <p:nvPr/>
          </p:nvCxnSpPr>
          <p:spPr>
            <a:xfrm flipV="1">
              <a:off x="4299033" y="2645933"/>
              <a:ext cx="3461" cy="1543834"/>
            </a:xfrm>
            <a:prstGeom prst="straightConnector1">
              <a:avLst/>
            </a:prstGeom>
            <a:ln w="6350" cap="rnd">
              <a:solidFill>
                <a:schemeClr val="bg1">
                  <a:lumMod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397C171-C4F0-E045-A8C0-3D85BDC8778C}"/>
                </a:ext>
              </a:extLst>
            </p:cNvPr>
            <p:cNvCxnSpPr>
              <a:cxnSpLocks/>
            </p:cNvCxnSpPr>
            <p:nvPr/>
          </p:nvCxnSpPr>
          <p:spPr>
            <a:xfrm flipV="1">
              <a:off x="2879492" y="2646646"/>
              <a:ext cx="1426878" cy="0"/>
            </a:xfrm>
            <a:prstGeom prst="straightConnector1">
              <a:avLst/>
            </a:prstGeom>
            <a:ln w="6350" cap="rnd">
              <a:solidFill>
                <a:schemeClr val="bg1">
                  <a:lumMod val="50000"/>
                </a:schemeClr>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9C8FC3F-B870-EB46-804E-3BD03250027C}"/>
                </a:ext>
              </a:extLst>
            </p:cNvPr>
            <p:cNvCxnSpPr>
              <a:cxnSpLocks/>
            </p:cNvCxnSpPr>
            <p:nvPr/>
          </p:nvCxnSpPr>
          <p:spPr>
            <a:xfrm>
              <a:off x="2669169" y="4182254"/>
              <a:ext cx="0" cy="44199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A1BEC7A-4FE7-8748-ABA9-FC8D19484474}"/>
                </a:ext>
              </a:extLst>
            </p:cNvPr>
            <p:cNvCxnSpPr>
              <a:cxnSpLocks/>
            </p:cNvCxnSpPr>
            <p:nvPr/>
          </p:nvCxnSpPr>
          <p:spPr>
            <a:xfrm>
              <a:off x="1045869" y="4216772"/>
              <a:ext cx="0" cy="441999"/>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435BD348-C801-C842-85F3-497A7035FEA4}"/>
                    </a:ext>
                  </a:extLst>
                </p:cNvPr>
                <p:cNvSpPr/>
                <p:nvPr/>
              </p:nvSpPr>
              <p:spPr>
                <a:xfrm>
                  <a:off x="5371498" y="2489471"/>
                  <a:ext cx="5108343" cy="810799"/>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FF"/>
                            </a:solidFill>
                            <a:latin typeface="Cambria Math" panose="02040503050406030204" pitchFamily="18" charset="0"/>
                          </a:rPr>
                          <m:t>𝐴</m:t>
                        </m:r>
                        <m:d>
                          <m:dPr>
                            <m:begChr m:val="|"/>
                            <m:endChr m:val="⟩"/>
                            <m:ctrlPr>
                              <a:rPr lang="en-US" sz="28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800" b="0" i="1" smtClean="0">
                                <a:latin typeface="Cambria Math" panose="02040503050406030204" pitchFamily="18" charset="0"/>
                                <a:ea typeface="Times New Roman" panose="02020603050405020304" pitchFamily="18" charset="0"/>
                                <a:cs typeface="Times New Roman" panose="02020603050405020304" pitchFamily="18" charset="0"/>
                              </a:rPr>
                              <m:t>𝑥</m:t>
                            </m:r>
                          </m:e>
                        </m:d>
                        <m:r>
                          <a:rPr lang="en-US" sz="2800" b="0" i="1" smtClean="0">
                            <a:latin typeface="Cambria Math" panose="02040503050406030204" pitchFamily="18" charset="0"/>
                            <a:ea typeface="Times New Roman" panose="02020603050405020304" pitchFamily="18" charset="0"/>
                            <a:cs typeface="Times New Roman" panose="02020603050405020304" pitchFamily="18" charset="0"/>
                          </a:rPr>
                          <m:t>=</m:t>
                        </m:r>
                        <m:d>
                          <m:dPr>
                            <m:ctrlPr>
                              <a:rPr lang="en-US" sz="2800" i="1" smtClean="0">
                                <a:solidFill>
                                  <a:srgbClr val="0000FF"/>
                                </a:solidFill>
                                <a:latin typeface="Cambria Math" panose="02040503050406030204" pitchFamily="18" charset="0"/>
                              </a:rPr>
                            </m:ctrlPr>
                          </m:dPr>
                          <m:e>
                            <m:m>
                              <m:mPr>
                                <m:mcs>
                                  <m:mc>
                                    <m:mcPr>
                                      <m:count m:val="2"/>
                                      <m:mcJc m:val="center"/>
                                    </m:mcPr>
                                  </m:mc>
                                </m:mcs>
                                <m:ctrlPr>
                                  <a:rPr lang="en-US" sz="2800" i="1">
                                    <a:solidFill>
                                      <a:srgbClr val="0000FF"/>
                                    </a:solidFill>
                                    <a:latin typeface="Cambria Math" panose="02040503050406030204" pitchFamily="18" charset="0"/>
                                  </a:rPr>
                                </m:ctrlPr>
                              </m:mPr>
                              <m:mr>
                                <m:e>
                                  <m:r>
                                    <a:rPr lang="en-US" sz="2800" b="0" i="1" smtClean="0">
                                      <a:solidFill>
                                        <a:srgbClr val="0000FF"/>
                                      </a:solidFill>
                                      <a:latin typeface="Cambria Math" panose="02040503050406030204" pitchFamily="18" charset="0"/>
                                    </a:rPr>
                                    <m:t>0</m:t>
                                  </m:r>
                                </m:e>
                                <m:e>
                                  <m:r>
                                    <a:rPr lang="sr-Latn-RS" sz="2800" i="1">
                                      <a:solidFill>
                                        <a:srgbClr val="0000FF"/>
                                      </a:solidFill>
                                      <a:latin typeface="Cambria Math" panose="02040503050406030204" pitchFamily="18" charset="0"/>
                                    </a:rPr>
                                    <m:t>−</m:t>
                                  </m:r>
                                  <m:r>
                                    <a:rPr lang="en-US" sz="2800" b="0" i="1" smtClean="0">
                                      <a:solidFill>
                                        <a:srgbClr val="0000FF"/>
                                      </a:solidFill>
                                      <a:latin typeface="Cambria Math" panose="02040503050406030204" pitchFamily="18" charset="0"/>
                                    </a:rPr>
                                    <m:t>1</m:t>
                                  </m:r>
                                </m:e>
                              </m:mr>
                              <m:mr>
                                <m:e>
                                  <m:r>
                                    <a:rPr lang="en-US" sz="2800" b="0" i="1" smtClean="0">
                                      <a:solidFill>
                                        <a:srgbClr val="0000FF"/>
                                      </a:solidFill>
                                      <a:latin typeface="Cambria Math" panose="02040503050406030204" pitchFamily="18" charset="0"/>
                                    </a:rPr>
                                    <m:t>1</m:t>
                                  </m:r>
                                </m:e>
                                <m:e>
                                  <m:r>
                                    <a:rPr lang="en-US" sz="2800" b="0" i="1" smtClean="0">
                                      <a:solidFill>
                                        <a:srgbClr val="0000FF"/>
                                      </a:solidFill>
                                      <a:latin typeface="Cambria Math" panose="02040503050406030204" pitchFamily="18" charset="0"/>
                                    </a:rPr>
                                    <m:t>0</m:t>
                                  </m:r>
                                </m:e>
                              </m:mr>
                            </m:m>
                          </m:e>
                        </m:d>
                        <m:d>
                          <m:dPr>
                            <m:ctrlPr>
                              <a:rPr lang="en-US" sz="2800" i="1">
                                <a:latin typeface="Cambria Math" panose="02040503050406030204" pitchFamily="18" charset="0"/>
                              </a:rPr>
                            </m:ctrlPr>
                          </m:dPr>
                          <m:e>
                            <m:m>
                              <m:mPr>
                                <m:mcs>
                                  <m:mc>
                                    <m:mcPr>
                                      <m:count m:val="1"/>
                                      <m:mcJc m:val="center"/>
                                    </m:mcPr>
                                  </m:mc>
                                </m:mcs>
                                <m:ctrlPr>
                                  <a:rPr lang="en-US" sz="2800" i="1">
                                    <a:latin typeface="Cambria Math" panose="02040503050406030204" pitchFamily="18" charset="0"/>
                                  </a:rPr>
                                </m:ctrlPr>
                              </m:mPr>
                              <m:mr>
                                <m:e>
                                  <m:r>
                                    <m:rPr>
                                      <m:brk m:alnAt="7"/>
                                    </m:rPr>
                                    <a:rPr lang="en-US" sz="2800" b="0" i="1" smtClean="0">
                                      <a:latin typeface="Cambria Math" panose="02040503050406030204" pitchFamily="18" charset="0"/>
                                    </a:rPr>
                                    <m:t>1</m:t>
                                  </m:r>
                                </m:e>
                              </m:mr>
                              <m:mr>
                                <m:e>
                                  <m:r>
                                    <a:rPr lang="en-US" sz="2800" b="0" i="1" smtClean="0">
                                      <a:latin typeface="Cambria Math" panose="02040503050406030204" pitchFamily="18" charset="0"/>
                                    </a:rPr>
                                    <m:t>1</m:t>
                                  </m:r>
                                </m:e>
                              </m:mr>
                            </m:m>
                          </m:e>
                        </m:d>
                      </m:oMath>
                    </m:oMathPara>
                  </a14:m>
                  <a:endParaRPr lang="en-US" sz="2800" dirty="0"/>
                </a:p>
              </p:txBody>
            </p:sp>
          </mc:Choice>
          <mc:Fallback xmlns="">
            <p:sp>
              <p:nvSpPr>
                <p:cNvPr id="46" name="Rectangle 45">
                  <a:extLst>
                    <a:ext uri="{FF2B5EF4-FFF2-40B4-BE49-F238E27FC236}">
                      <a16:creationId xmlns:a16="http://schemas.microsoft.com/office/drawing/2014/main" id="{435BD348-C801-C842-85F3-497A7035FEA4}"/>
                    </a:ext>
                  </a:extLst>
                </p:cNvPr>
                <p:cNvSpPr>
                  <a:spLocks noRot="1" noChangeAspect="1" noMove="1" noResize="1" noEditPoints="1" noAdjustHandles="1" noChangeArrowheads="1" noChangeShapeType="1" noTextEdit="1"/>
                </p:cNvSpPr>
                <p:nvPr/>
              </p:nvSpPr>
              <p:spPr>
                <a:xfrm>
                  <a:off x="5371498" y="2489471"/>
                  <a:ext cx="5108343" cy="810799"/>
                </a:xfrm>
                <a:prstGeom prst="rect">
                  <a:avLst/>
                </a:prstGeom>
                <a:blipFill>
                  <a:blip r:embed="rId13"/>
                  <a:stretch>
                    <a:fillRect b="-7692"/>
                  </a:stretch>
                </a:blipFill>
              </p:spPr>
              <p:txBody>
                <a:bodyPr/>
                <a:lstStyle/>
                <a:p>
                  <a:r>
                    <a:rPr lang="en-US">
                      <a:noFill/>
                    </a:rPr>
                    <a:t> </a:t>
                  </a:r>
                </a:p>
              </p:txBody>
            </p:sp>
          </mc:Fallback>
        </mc:AlternateContent>
        <p:sp>
          <p:nvSpPr>
            <p:cNvPr id="55" name="Down Arrow 54">
              <a:extLst>
                <a:ext uri="{FF2B5EF4-FFF2-40B4-BE49-F238E27FC236}">
                  <a16:creationId xmlns:a16="http://schemas.microsoft.com/office/drawing/2014/main" id="{C07D09B8-B804-2B44-8E9C-5B858ECE5B62}"/>
                </a:ext>
              </a:extLst>
            </p:cNvPr>
            <p:cNvSpPr/>
            <p:nvPr/>
          </p:nvSpPr>
          <p:spPr>
            <a:xfrm>
              <a:off x="7441672" y="1765452"/>
              <a:ext cx="705853" cy="538185"/>
            </a:xfrm>
            <a:prstGeom prst="downArrow">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8" name="TextBox 57">
            <a:extLst>
              <a:ext uri="{FF2B5EF4-FFF2-40B4-BE49-F238E27FC236}">
                <a16:creationId xmlns:a16="http://schemas.microsoft.com/office/drawing/2014/main" id="{270D014D-6891-8740-A54E-FC1DB64D9D4E}"/>
              </a:ext>
            </a:extLst>
          </p:cNvPr>
          <p:cNvSpPr txBox="1"/>
          <p:nvPr/>
        </p:nvSpPr>
        <p:spPr>
          <a:xfrm>
            <a:off x="5768085" y="5118476"/>
            <a:ext cx="184731" cy="369332"/>
          </a:xfrm>
          <a:prstGeom prst="rect">
            <a:avLst/>
          </a:prstGeom>
          <a:noFill/>
        </p:spPr>
        <p:txBody>
          <a:bodyPr wrap="none" rtlCol="0">
            <a:spAutoFit/>
          </a:bodyPr>
          <a:lstStyle/>
          <a:p>
            <a:endParaRPr lang="en-US" dirty="0"/>
          </a:p>
        </p:txBody>
      </p:sp>
      <p:grpSp>
        <p:nvGrpSpPr>
          <p:cNvPr id="16" name="Group 15">
            <a:extLst>
              <a:ext uri="{FF2B5EF4-FFF2-40B4-BE49-F238E27FC236}">
                <a16:creationId xmlns:a16="http://schemas.microsoft.com/office/drawing/2014/main" id="{ABBBB6EE-6F59-0D4D-9600-86607AF26CC5}"/>
              </a:ext>
            </a:extLst>
          </p:cNvPr>
          <p:cNvGrpSpPr/>
          <p:nvPr/>
        </p:nvGrpSpPr>
        <p:grpSpPr>
          <a:xfrm>
            <a:off x="5017438" y="5184530"/>
            <a:ext cx="6494888" cy="1385092"/>
            <a:chOff x="5017438" y="5184530"/>
            <a:chExt cx="6494888" cy="1385092"/>
          </a:xfrm>
        </p:grpSpPr>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B738A0DA-91DE-4C40-B3D5-4AAB35D72F9E}"/>
                    </a:ext>
                  </a:extLst>
                </p:cNvPr>
                <p:cNvSpPr/>
                <p:nvPr/>
              </p:nvSpPr>
              <p:spPr>
                <a:xfrm>
                  <a:off x="5742926" y="5738625"/>
                  <a:ext cx="5769400" cy="830997"/>
                </a:xfrm>
                <a:prstGeom prst="rect">
                  <a:avLst/>
                </a:prstGeom>
              </p:spPr>
              <p:txBody>
                <a:bodyPr wrap="none">
                  <a:spAutoFit/>
                </a:bodyPr>
                <a:lstStyle/>
                <a:p>
                  <a:r>
                    <a:rPr lang="en-ZA" sz="2400" dirty="0"/>
                    <a:t>Additivity:	  </a:t>
                  </a:r>
                  <a14:m>
                    <m:oMath xmlns:m="http://schemas.openxmlformats.org/officeDocument/2006/math">
                      <m:r>
                        <a:rPr lang="en-US" sz="2400" b="0" i="1" smtClean="0">
                          <a:latin typeface="Cambria Math" panose="02040503050406030204" pitchFamily="18" charset="0"/>
                          <a:ea typeface="Times New Roman" panose="02020603050405020304" pitchFamily="18" charset="0"/>
                          <a:cs typeface="Times New Roman" panose="02020603050405020304" pitchFamily="18" charset="0"/>
                        </a:rPr>
                        <m:t>𝑇</m:t>
                      </m:r>
                      <m:d>
                        <m:dPr>
                          <m:ctrlPr>
                            <a:rPr lang="en-US" sz="2400" i="1">
                              <a:latin typeface="Cambria Math" panose="02040503050406030204" pitchFamily="18" charset="0"/>
                              <a:ea typeface="Times New Roman" panose="02020603050405020304" pitchFamily="18" charset="0"/>
                              <a:cs typeface="Times New Roman" panose="02020603050405020304" pitchFamily="18" charset="0"/>
                            </a:rPr>
                          </m:ctrlPr>
                        </m:dPr>
                        <m:e>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𝑎</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𝑏</m:t>
                              </m:r>
                            </m:e>
                          </m:d>
                        </m:e>
                      </m:d>
                      <m:r>
                        <a:rPr lang="en-US" sz="2400" b="0" i="1" smtClean="0">
                          <a:latin typeface="Cambria Math" panose="02040503050406030204" pitchFamily="18" charset="0"/>
                          <a:ea typeface="Times New Roman" panose="02020603050405020304" pitchFamily="18" charset="0"/>
                          <a:cs typeface="Times New Roman" panose="02020603050405020304" pitchFamily="18" charset="0"/>
                        </a:rPr>
                        <m:t>=</m:t>
                      </m:r>
                      <m:r>
                        <a:rPr lang="en-US" sz="2400" b="0" i="1" smtClean="0">
                          <a:latin typeface="Cambria Math" panose="02040503050406030204" pitchFamily="18" charset="0"/>
                          <a:ea typeface="Times New Roman" panose="02020603050405020304" pitchFamily="18" charset="0"/>
                          <a:cs typeface="Times New Roman" panose="02020603050405020304" pitchFamily="18" charset="0"/>
                        </a:rPr>
                        <m:t>𝑇</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en-US" sz="2400" b="0" i="1" smtClean="0">
                          <a:latin typeface="Cambria Math" panose="02040503050406030204" pitchFamily="18" charset="0"/>
                        </a:rPr>
                        <m:t>+</m:t>
                      </m:r>
                      <m:r>
                        <a:rPr lang="en-US" sz="2400" b="0" i="1" smtClean="0">
                          <a:latin typeface="Cambria Math" panose="02040503050406030204" pitchFamily="18" charset="0"/>
                        </a:rPr>
                        <m:t>𝑇</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𝑏</m:t>
                          </m:r>
                        </m:e>
                      </m:d>
                    </m:oMath>
                  </a14:m>
                  <a:endParaRPr lang="en-US" sz="2400" i="1" dirty="0">
                    <a:latin typeface="Cambria Math" panose="02040503050406030204" pitchFamily="18" charset="0"/>
                  </a:endParaRPr>
                </a:p>
                <a:p>
                  <a:r>
                    <a:rPr lang="en-US" sz="2400" dirty="0">
                      <a:ea typeface="Times New Roman" panose="02020603050405020304" pitchFamily="18" charset="0"/>
                      <a:cs typeface="Times New Roman" panose="02020603050405020304" pitchFamily="18" charset="0"/>
                    </a:rPr>
                    <a:t>Homogeneity:	  </a:t>
                  </a:r>
                  <a14:m>
                    <m:oMath xmlns:m="http://schemas.openxmlformats.org/officeDocument/2006/math">
                      <m:r>
                        <a:rPr lang="en-US" sz="2400" b="0" i="1" smtClean="0">
                          <a:latin typeface="Cambria Math" panose="02040503050406030204" pitchFamily="18" charset="0"/>
                          <a:ea typeface="Times New Roman" panose="02020603050405020304" pitchFamily="18" charset="0"/>
                          <a:cs typeface="Times New Roman" panose="02020603050405020304" pitchFamily="18" charset="0"/>
                        </a:rPr>
                        <m:t>𝑇</m:t>
                      </m:r>
                      <m:d>
                        <m:dPr>
                          <m:ctrlPr>
                            <a:rPr lang="en-US" sz="2400" i="1">
                              <a:latin typeface="Cambria Math" panose="02040503050406030204" pitchFamily="18" charset="0"/>
                              <a:ea typeface="Times New Roman" panose="02020603050405020304" pitchFamily="18" charset="0"/>
                              <a:cs typeface="Times New Roman" panose="02020603050405020304" pitchFamily="18" charset="0"/>
                            </a:rPr>
                          </m:ctrlPr>
                        </m:dPr>
                        <m:e>
                          <m:r>
                            <a:rPr lang="en-US" sz="2400" b="0" i="1" smtClean="0">
                              <a:latin typeface="Cambria Math" panose="02040503050406030204" pitchFamily="18" charset="0"/>
                              <a:ea typeface="Times New Roman" panose="02020603050405020304" pitchFamily="18" charset="0"/>
                              <a:cs typeface="Times New Roman" panose="02020603050405020304" pitchFamily="18" charset="0"/>
                            </a:rPr>
                            <m:t>𝑐</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𝑎</m:t>
                              </m:r>
                            </m:e>
                          </m:d>
                        </m:e>
                      </m:d>
                      <m:r>
                        <a:rPr lang="en-US" sz="2400" b="0" i="1" smtClean="0">
                          <a:latin typeface="Cambria Math" panose="02040503050406030204" pitchFamily="18" charset="0"/>
                          <a:ea typeface="Times New Roman" panose="02020603050405020304" pitchFamily="18" charset="0"/>
                          <a:cs typeface="Times New Roman" panose="02020603050405020304" pitchFamily="18" charset="0"/>
                        </a:rPr>
                        <m:t>=</m:t>
                      </m:r>
                      <m:r>
                        <a:rPr lang="en-US" sz="2400" b="0" i="1" smtClean="0">
                          <a:latin typeface="Cambria Math" panose="02040503050406030204" pitchFamily="18" charset="0"/>
                          <a:ea typeface="Times New Roman" panose="02020603050405020304" pitchFamily="18" charset="0"/>
                          <a:cs typeface="Times New Roman" panose="02020603050405020304" pitchFamily="18" charset="0"/>
                        </a:rPr>
                        <m:t>𝑐𝑇</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oMath>
                  </a14:m>
                  <a:endParaRPr lang="en-US" sz="2400" i="1" dirty="0">
                    <a:latin typeface="Cambria Math" panose="02040503050406030204" pitchFamily="18" charset="0"/>
                  </a:endParaRPr>
                </a:p>
              </p:txBody>
            </p:sp>
          </mc:Choice>
          <mc:Fallback xmlns="">
            <p:sp>
              <p:nvSpPr>
                <p:cNvPr id="60" name="Rectangle 59">
                  <a:extLst>
                    <a:ext uri="{FF2B5EF4-FFF2-40B4-BE49-F238E27FC236}">
                      <a16:creationId xmlns:a16="http://schemas.microsoft.com/office/drawing/2014/main" id="{B738A0DA-91DE-4C40-B3D5-4AAB35D72F9E}"/>
                    </a:ext>
                  </a:extLst>
                </p:cNvPr>
                <p:cNvSpPr>
                  <a:spLocks noRot="1" noChangeAspect="1" noMove="1" noResize="1" noEditPoints="1" noAdjustHandles="1" noChangeArrowheads="1" noChangeShapeType="1" noTextEdit="1"/>
                </p:cNvSpPr>
                <p:nvPr/>
              </p:nvSpPr>
              <p:spPr>
                <a:xfrm>
                  <a:off x="5742926" y="5738625"/>
                  <a:ext cx="5769400" cy="830997"/>
                </a:xfrm>
                <a:prstGeom prst="rect">
                  <a:avLst/>
                </a:prstGeom>
                <a:blipFill>
                  <a:blip r:embed="rId14"/>
                  <a:stretch>
                    <a:fillRect l="-1538" t="-6061" b="-15152"/>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CA52F9FA-2467-BB40-B106-5B552B156693}"/>
                </a:ext>
              </a:extLst>
            </p:cNvPr>
            <p:cNvSpPr txBox="1"/>
            <p:nvPr/>
          </p:nvSpPr>
          <p:spPr>
            <a:xfrm>
              <a:off x="5017438" y="5184530"/>
              <a:ext cx="1628844" cy="461665"/>
            </a:xfrm>
            <a:prstGeom prst="rect">
              <a:avLst/>
            </a:prstGeom>
            <a:noFill/>
          </p:spPr>
          <p:txBody>
            <a:bodyPr wrap="none" rtlCol="0">
              <a:spAutoFit/>
            </a:bodyPr>
            <a:lstStyle/>
            <a:p>
              <a:r>
                <a:rPr lang="en-US" sz="2400" dirty="0">
                  <a:ea typeface="Times New Roman" panose="02020603050405020304" pitchFamily="18" charset="0"/>
                  <a:cs typeface="Times New Roman" panose="02020603050405020304" pitchFamily="18" charset="0"/>
                </a:rPr>
                <a:t>Properties: </a:t>
              </a:r>
            </a:p>
          </p:txBody>
        </p:sp>
      </p:grpSp>
    </p:spTree>
    <p:extLst>
      <p:ext uri="{BB962C8B-B14F-4D97-AF65-F5344CB8AC3E}">
        <p14:creationId xmlns:p14="http://schemas.microsoft.com/office/powerpoint/2010/main" val="1830415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dissolve">
                                      <p:cBhvr>
                                        <p:cTn id="7" dur="5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dissolve">
                                      <p:cBhvr>
                                        <p:cTn id="12" dur="500"/>
                                        <p:tgtEl>
                                          <p:spTgt spid="5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dissolve">
                                      <p:cBhvr>
                                        <p:cTn id="1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FCD60-DB92-2F48-9CF4-CC4CC4742195}"/>
              </a:ext>
            </a:extLst>
          </p:cNvPr>
          <p:cNvSpPr>
            <a:spLocks noGrp="1"/>
          </p:cNvSpPr>
          <p:nvPr>
            <p:ph type="title"/>
          </p:nvPr>
        </p:nvSpPr>
        <p:spPr>
          <a:xfrm>
            <a:off x="0" y="0"/>
            <a:ext cx="12192000" cy="928688"/>
          </a:xfrm>
        </p:spPr>
        <p:txBody>
          <a:bodyPr/>
          <a:lstStyle/>
          <a:p>
            <a:r>
              <a:rPr lang="en-ZA" dirty="0"/>
              <a:t>Rotation operators</a:t>
            </a:r>
            <a:endParaRPr lang="en-US" dirty="0"/>
          </a:p>
        </p:txBody>
      </p:sp>
      <p:sp>
        <p:nvSpPr>
          <p:cNvPr id="3" name="Slide Number Placeholder 2">
            <a:extLst>
              <a:ext uri="{FF2B5EF4-FFF2-40B4-BE49-F238E27FC236}">
                <a16:creationId xmlns:a16="http://schemas.microsoft.com/office/drawing/2014/main" id="{E15329E1-FD47-224B-AD19-C3E46112DBE5}"/>
              </a:ext>
            </a:extLst>
          </p:cNvPr>
          <p:cNvSpPr>
            <a:spLocks noGrp="1"/>
          </p:cNvSpPr>
          <p:nvPr>
            <p:ph type="sldNum" sz="quarter" idx="12"/>
          </p:nvPr>
        </p:nvSpPr>
        <p:spPr>
          <a:xfrm>
            <a:off x="9448800" y="6487160"/>
            <a:ext cx="2743200" cy="365125"/>
          </a:xfrm>
        </p:spPr>
        <p:txBody>
          <a:bodyPr/>
          <a:lstStyle/>
          <a:p>
            <a:fld id="{591A223C-FA10-BC46-A853-03BA373D023C}" type="slidenum">
              <a:rPr lang="en-US" smtClean="0"/>
              <a:t>45</a:t>
            </a:fld>
            <a:endParaRPr lang="en-US" dirty="0"/>
          </a:p>
        </p:txBody>
      </p:sp>
      <p:sp>
        <p:nvSpPr>
          <p:cNvPr id="24" name="Arc 23">
            <a:extLst>
              <a:ext uri="{FF2B5EF4-FFF2-40B4-BE49-F238E27FC236}">
                <a16:creationId xmlns:a16="http://schemas.microsoft.com/office/drawing/2014/main" id="{EB8F9F05-AD18-D44B-A9BE-6E465C83B2E0}"/>
              </a:ext>
            </a:extLst>
          </p:cNvPr>
          <p:cNvSpPr/>
          <p:nvPr/>
        </p:nvSpPr>
        <p:spPr>
          <a:xfrm>
            <a:off x="1892464" y="1543739"/>
            <a:ext cx="2321221" cy="2671366"/>
          </a:xfrm>
          <a:prstGeom prst="arc">
            <a:avLst>
              <a:gd name="adj1" fmla="val 16200000"/>
              <a:gd name="adj2" fmla="val 2252166"/>
            </a:avLst>
          </a:prstGeom>
          <a:ln>
            <a:solidFill>
              <a:schemeClr val="accent6">
                <a:lumMod val="75000"/>
              </a:schemeClr>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9" name="Arc 68">
            <a:extLst>
              <a:ext uri="{FF2B5EF4-FFF2-40B4-BE49-F238E27FC236}">
                <a16:creationId xmlns:a16="http://schemas.microsoft.com/office/drawing/2014/main" id="{F6F87363-FF04-E349-9724-DE5A2C354EA8}"/>
              </a:ext>
            </a:extLst>
          </p:cNvPr>
          <p:cNvSpPr/>
          <p:nvPr/>
        </p:nvSpPr>
        <p:spPr>
          <a:xfrm rot="18064834">
            <a:off x="2204997" y="2423403"/>
            <a:ext cx="428364" cy="742651"/>
          </a:xfrm>
          <a:prstGeom prst="arc">
            <a:avLst>
              <a:gd name="adj1" fmla="val 17909302"/>
              <a:gd name="adj2" fmla="val 4552322"/>
            </a:avLst>
          </a:prstGeom>
          <a:ln w="25400">
            <a:solidFill>
              <a:schemeClr val="bg1">
                <a:lumMod val="50000"/>
              </a:schemeClr>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70" name="Rectangle 69">
                <a:extLst>
                  <a:ext uri="{FF2B5EF4-FFF2-40B4-BE49-F238E27FC236}">
                    <a16:creationId xmlns:a16="http://schemas.microsoft.com/office/drawing/2014/main" id="{C6C45AAF-1B0A-5F4F-B1B3-7C62E04C39B6}"/>
                  </a:ext>
                </a:extLst>
              </p:cNvPr>
              <p:cNvSpPr/>
              <p:nvPr/>
            </p:nvSpPr>
            <p:spPr>
              <a:xfrm>
                <a:off x="2029274" y="3048627"/>
                <a:ext cx="415755"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smtClean="0">
                          <a:solidFill>
                            <a:schemeClr val="tx1"/>
                          </a:solidFill>
                          <a:latin typeface="Cambria Math" panose="02040503050406030204" pitchFamily="18" charset="0"/>
                          <a:ea typeface="Cambria Math" panose="02040503050406030204" pitchFamily="18" charset="0"/>
                        </a:rPr>
                        <m:t>𝜃</m:t>
                      </m:r>
                    </m:oMath>
                  </m:oMathPara>
                </a14:m>
                <a:endParaRPr lang="en-US" sz="2200" dirty="0">
                  <a:solidFill>
                    <a:schemeClr val="tx1"/>
                  </a:solidFill>
                </a:endParaRPr>
              </a:p>
            </p:txBody>
          </p:sp>
        </mc:Choice>
        <mc:Fallback xmlns="">
          <p:sp>
            <p:nvSpPr>
              <p:cNvPr id="70" name="Rectangle 69">
                <a:extLst>
                  <a:ext uri="{FF2B5EF4-FFF2-40B4-BE49-F238E27FC236}">
                    <a16:creationId xmlns:a16="http://schemas.microsoft.com/office/drawing/2014/main" id="{C6C45AAF-1B0A-5F4F-B1B3-7C62E04C39B6}"/>
                  </a:ext>
                </a:extLst>
              </p:cNvPr>
              <p:cNvSpPr>
                <a:spLocks noRot="1" noChangeAspect="1" noMove="1" noResize="1" noEditPoints="1" noAdjustHandles="1" noChangeArrowheads="1" noChangeShapeType="1" noTextEdit="1"/>
              </p:cNvSpPr>
              <p:nvPr/>
            </p:nvSpPr>
            <p:spPr>
              <a:xfrm>
                <a:off x="2029274" y="3048627"/>
                <a:ext cx="415755" cy="43088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Rectangle 76">
                <a:extLst>
                  <a:ext uri="{FF2B5EF4-FFF2-40B4-BE49-F238E27FC236}">
                    <a16:creationId xmlns:a16="http://schemas.microsoft.com/office/drawing/2014/main" id="{60D43EE2-7357-674F-9968-9990AB09C21A}"/>
                  </a:ext>
                </a:extLst>
              </p:cNvPr>
              <p:cNvSpPr/>
              <p:nvPr/>
            </p:nvSpPr>
            <p:spPr>
              <a:xfrm>
                <a:off x="5957117" y="2271840"/>
                <a:ext cx="4361643" cy="65992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200" b="1" i="1">
                              <a:latin typeface="Cambria Math" panose="02040503050406030204" pitchFamily="18" charset="0"/>
                            </a:rPr>
                          </m:ctrlPr>
                        </m:dPr>
                        <m:e>
                          <m:m>
                            <m:mPr>
                              <m:mcs>
                                <m:mc>
                                  <m:mcPr>
                                    <m:count m:val="2"/>
                                    <m:mcJc m:val="center"/>
                                  </m:mcPr>
                                </m:mc>
                              </m:mcs>
                              <m:ctrlPr>
                                <a:rPr lang="en-US" sz="2200" i="1">
                                  <a:latin typeface="Cambria Math" panose="02040503050406030204" pitchFamily="18" charset="0"/>
                                </a:rPr>
                              </m:ctrlPr>
                            </m:mPr>
                            <m:mr>
                              <m:e>
                                <m:r>
                                  <m:rPr>
                                    <m:brk m:alnAt="7"/>
                                  </m:rPr>
                                  <a:rPr lang="en-US" sz="2200" i="1" smtClean="0">
                                    <a:solidFill>
                                      <a:srgbClr val="0000FF"/>
                                    </a:solidFill>
                                    <a:latin typeface="Cambria Math" panose="02040503050406030204" pitchFamily="18" charset="0"/>
                                  </a:rPr>
                                  <m:t>1</m:t>
                                </m:r>
                              </m:e>
                              <m:e>
                                <m:r>
                                  <a:rPr lang="en-US" sz="2200" i="1" smtClean="0">
                                    <a:solidFill>
                                      <a:srgbClr val="FF0000"/>
                                    </a:solidFill>
                                    <a:latin typeface="Cambria Math" panose="02040503050406030204" pitchFamily="18" charset="0"/>
                                  </a:rPr>
                                  <m:t>0</m:t>
                                </m:r>
                              </m:e>
                            </m:mr>
                            <m:mr>
                              <m:e>
                                <m:r>
                                  <a:rPr lang="en-US" sz="2200" i="1" smtClean="0">
                                    <a:solidFill>
                                      <a:srgbClr val="0000FF"/>
                                    </a:solidFill>
                                    <a:latin typeface="Cambria Math" panose="02040503050406030204" pitchFamily="18" charset="0"/>
                                  </a:rPr>
                                  <m:t>0</m:t>
                                </m:r>
                              </m:e>
                              <m:e>
                                <m:r>
                                  <a:rPr lang="en-US" sz="2200" i="1" smtClean="0">
                                    <a:solidFill>
                                      <a:srgbClr val="FF0000"/>
                                    </a:solidFill>
                                    <a:latin typeface="Cambria Math" panose="02040503050406030204" pitchFamily="18" charset="0"/>
                                  </a:rPr>
                                  <m:t>1</m:t>
                                </m:r>
                              </m:e>
                            </m:mr>
                          </m:m>
                        </m:e>
                      </m:d>
                      <m:r>
                        <a:rPr lang="en-US" sz="2200" b="1" i="1">
                          <a:latin typeface="Cambria Math" panose="02040503050406030204" pitchFamily="18" charset="0"/>
                          <a:ea typeface="Cambria Math" panose="02040503050406030204" pitchFamily="18" charset="0"/>
                        </a:rPr>
                        <m:t>⟶</m:t>
                      </m:r>
                      <m:d>
                        <m:dPr>
                          <m:ctrlPr>
                            <a:rPr lang="en-US" sz="2200" i="1">
                              <a:latin typeface="Cambria Math" panose="02040503050406030204" pitchFamily="18" charset="0"/>
                              <a:ea typeface="Cambria Math" panose="02040503050406030204" pitchFamily="18" charset="0"/>
                            </a:rPr>
                          </m:ctrlPr>
                        </m:dPr>
                        <m:e>
                          <m:m>
                            <m:mPr>
                              <m:mcs>
                                <m:mc>
                                  <m:mcPr>
                                    <m:count m:val="2"/>
                                    <m:mcJc m:val="center"/>
                                  </m:mcPr>
                                </m:mc>
                              </m:mcs>
                              <m:ctrlPr>
                                <a:rPr lang="en-US" sz="2200" i="1">
                                  <a:latin typeface="Cambria Math" panose="02040503050406030204" pitchFamily="18" charset="0"/>
                                  <a:ea typeface="Cambria Math" panose="02040503050406030204" pitchFamily="18" charset="0"/>
                                </a:rPr>
                              </m:ctrlPr>
                            </m:mPr>
                            <m:mr>
                              <m:e>
                                <m:func>
                                  <m:funcPr>
                                    <m:ctrlPr>
                                      <a:rPr lang="en-US" sz="2200" i="1" smtClean="0">
                                        <a:solidFill>
                                          <a:srgbClr val="0000FF"/>
                                        </a:solidFill>
                                        <a:latin typeface="Cambria Math" panose="02040503050406030204" pitchFamily="18" charset="0"/>
                                        <a:ea typeface="Cambria Math" panose="02040503050406030204" pitchFamily="18" charset="0"/>
                                      </a:rPr>
                                    </m:ctrlPr>
                                  </m:funcPr>
                                  <m:fName>
                                    <m:r>
                                      <a:rPr lang="en-US" sz="2200" i="1">
                                        <a:solidFill>
                                          <a:srgbClr val="0000FF"/>
                                        </a:solidFill>
                                        <a:latin typeface="Cambria Math" panose="02040503050406030204" pitchFamily="18" charset="0"/>
                                        <a:ea typeface="Cambria Math" panose="02040503050406030204" pitchFamily="18" charset="0"/>
                                      </a:rPr>
                                      <m:t>𝑐𝑜𝑠</m:t>
                                    </m:r>
                                  </m:fName>
                                  <m:e>
                                    <m:r>
                                      <a:rPr lang="en-US" sz="2200" i="1">
                                        <a:solidFill>
                                          <a:srgbClr val="0000FF"/>
                                        </a:solidFill>
                                        <a:latin typeface="Cambria Math" panose="02040503050406030204" pitchFamily="18" charset="0"/>
                                        <a:ea typeface="Cambria Math" panose="02040503050406030204" pitchFamily="18" charset="0"/>
                                      </a:rPr>
                                      <m:t>𝜃</m:t>
                                    </m:r>
                                  </m:e>
                                </m:func>
                              </m:e>
                              <m:e>
                                <m:func>
                                  <m:funcPr>
                                    <m:ctrlPr>
                                      <a:rPr lang="en-US" sz="2200" i="1" smtClean="0">
                                        <a:solidFill>
                                          <a:srgbClr val="FF0000"/>
                                        </a:solidFill>
                                        <a:latin typeface="Cambria Math" panose="02040503050406030204" pitchFamily="18" charset="0"/>
                                        <a:ea typeface="Cambria Math" panose="02040503050406030204" pitchFamily="18" charset="0"/>
                                      </a:rPr>
                                    </m:ctrlPr>
                                  </m:funcPr>
                                  <m:fName>
                                    <m:r>
                                      <a:rPr lang="en-US" sz="2200" i="1">
                                        <a:solidFill>
                                          <a:srgbClr val="FF0000"/>
                                        </a:solidFill>
                                        <a:latin typeface="Cambria Math" panose="02040503050406030204" pitchFamily="18" charset="0"/>
                                        <a:ea typeface="Cambria Math" panose="02040503050406030204" pitchFamily="18" charset="0"/>
                                      </a:rPr>
                                      <m:t>−</m:t>
                                    </m:r>
                                    <m:r>
                                      <a:rPr lang="en-US" sz="2200" i="1">
                                        <a:solidFill>
                                          <a:srgbClr val="FF0000"/>
                                        </a:solidFill>
                                        <a:latin typeface="Cambria Math" panose="02040503050406030204" pitchFamily="18" charset="0"/>
                                        <a:ea typeface="Cambria Math" panose="02040503050406030204" pitchFamily="18" charset="0"/>
                                      </a:rPr>
                                      <m:t>𝑠𝑖𝑛</m:t>
                                    </m:r>
                                  </m:fName>
                                  <m:e>
                                    <m:r>
                                      <a:rPr lang="en-US" sz="2200" i="1">
                                        <a:solidFill>
                                          <a:srgbClr val="FF0000"/>
                                        </a:solidFill>
                                        <a:latin typeface="Cambria Math" panose="02040503050406030204" pitchFamily="18" charset="0"/>
                                        <a:ea typeface="Cambria Math" panose="02040503050406030204" pitchFamily="18" charset="0"/>
                                      </a:rPr>
                                      <m:t>𝜃</m:t>
                                    </m:r>
                                  </m:e>
                                </m:func>
                              </m:e>
                            </m:mr>
                            <m:mr>
                              <m:e>
                                <m:func>
                                  <m:funcPr>
                                    <m:ctrlPr>
                                      <a:rPr lang="en-US" sz="2200" i="1" smtClean="0">
                                        <a:solidFill>
                                          <a:srgbClr val="0000FF"/>
                                        </a:solidFill>
                                        <a:latin typeface="Cambria Math" panose="02040503050406030204" pitchFamily="18" charset="0"/>
                                        <a:ea typeface="Cambria Math" panose="02040503050406030204" pitchFamily="18" charset="0"/>
                                      </a:rPr>
                                    </m:ctrlPr>
                                  </m:funcPr>
                                  <m:fName>
                                    <m:r>
                                      <a:rPr lang="en-US" sz="2200" i="1">
                                        <a:solidFill>
                                          <a:srgbClr val="0000FF"/>
                                        </a:solidFill>
                                        <a:latin typeface="Cambria Math" panose="02040503050406030204" pitchFamily="18" charset="0"/>
                                        <a:ea typeface="Cambria Math" panose="02040503050406030204" pitchFamily="18" charset="0"/>
                                      </a:rPr>
                                      <m:t>𝑠𝑖𝑛</m:t>
                                    </m:r>
                                  </m:fName>
                                  <m:e>
                                    <m:r>
                                      <a:rPr lang="en-US" sz="2200" i="1">
                                        <a:solidFill>
                                          <a:srgbClr val="0000FF"/>
                                        </a:solidFill>
                                        <a:latin typeface="Cambria Math" panose="02040503050406030204" pitchFamily="18" charset="0"/>
                                        <a:ea typeface="Cambria Math" panose="02040503050406030204" pitchFamily="18" charset="0"/>
                                      </a:rPr>
                                      <m:t>𝜃</m:t>
                                    </m:r>
                                  </m:e>
                                </m:func>
                              </m:e>
                              <m:e>
                                <m:func>
                                  <m:funcPr>
                                    <m:ctrlPr>
                                      <a:rPr lang="en-US" sz="2200" i="1" smtClean="0">
                                        <a:solidFill>
                                          <a:srgbClr val="FF0000"/>
                                        </a:solidFill>
                                        <a:latin typeface="Cambria Math" panose="02040503050406030204" pitchFamily="18" charset="0"/>
                                        <a:ea typeface="Cambria Math" panose="02040503050406030204" pitchFamily="18" charset="0"/>
                                      </a:rPr>
                                    </m:ctrlPr>
                                  </m:funcPr>
                                  <m:fName>
                                    <m:r>
                                      <a:rPr lang="en-US" sz="2200" i="1">
                                        <a:solidFill>
                                          <a:srgbClr val="FF0000"/>
                                        </a:solidFill>
                                        <a:latin typeface="Cambria Math" panose="02040503050406030204" pitchFamily="18" charset="0"/>
                                        <a:ea typeface="Cambria Math" panose="02040503050406030204" pitchFamily="18" charset="0"/>
                                      </a:rPr>
                                      <m:t>𝑐𝑜𝑠</m:t>
                                    </m:r>
                                  </m:fName>
                                  <m:e>
                                    <m:r>
                                      <a:rPr lang="en-US" sz="2200" i="1">
                                        <a:solidFill>
                                          <a:srgbClr val="FF0000"/>
                                        </a:solidFill>
                                        <a:latin typeface="Cambria Math" panose="02040503050406030204" pitchFamily="18" charset="0"/>
                                        <a:ea typeface="Cambria Math" panose="02040503050406030204" pitchFamily="18" charset="0"/>
                                      </a:rPr>
                                      <m:t>𝜃</m:t>
                                    </m:r>
                                  </m:e>
                                </m:func>
                              </m:e>
                            </m:mr>
                          </m:m>
                        </m:e>
                      </m:d>
                      <m:r>
                        <a:rPr lang="en-US" sz="2200">
                          <a:latin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𝑅</m:t>
                          </m:r>
                        </m:e>
                        <m:sub>
                          <m:r>
                            <a:rPr lang="en-US" sz="2200" i="1">
                              <a:latin typeface="Cambria Math" panose="02040503050406030204" pitchFamily="18" charset="0"/>
                              <a:ea typeface="Cambria Math" panose="02040503050406030204" pitchFamily="18" charset="0"/>
                            </a:rPr>
                            <m:t>𝜃</m:t>
                          </m:r>
                        </m:sub>
                      </m:sSub>
                    </m:oMath>
                  </m:oMathPara>
                </a14:m>
                <a:endParaRPr lang="en-US" sz="2200" dirty="0"/>
              </a:p>
            </p:txBody>
          </p:sp>
        </mc:Choice>
        <mc:Fallback xmlns="">
          <p:sp>
            <p:nvSpPr>
              <p:cNvPr id="77" name="Rectangle 76">
                <a:extLst>
                  <a:ext uri="{FF2B5EF4-FFF2-40B4-BE49-F238E27FC236}">
                    <a16:creationId xmlns:a16="http://schemas.microsoft.com/office/drawing/2014/main" id="{60D43EE2-7357-674F-9968-9990AB09C21A}"/>
                  </a:ext>
                </a:extLst>
              </p:cNvPr>
              <p:cNvSpPr>
                <a:spLocks noRot="1" noChangeAspect="1" noMove="1" noResize="1" noEditPoints="1" noAdjustHandles="1" noChangeArrowheads="1" noChangeShapeType="1" noTextEdit="1"/>
              </p:cNvSpPr>
              <p:nvPr/>
            </p:nvSpPr>
            <p:spPr>
              <a:xfrm>
                <a:off x="5957117" y="2271840"/>
                <a:ext cx="4361643" cy="659924"/>
              </a:xfrm>
              <a:prstGeom prst="rect">
                <a:avLst/>
              </a:prstGeom>
              <a:blipFill>
                <a:blip r:embed="rId4"/>
                <a:stretch>
                  <a:fillRect b="-5660"/>
                </a:stretch>
              </a:blipFill>
            </p:spPr>
            <p:txBody>
              <a:bodyPr/>
              <a:lstStyle/>
              <a:p>
                <a:r>
                  <a:rPr lang="en-US">
                    <a:noFill/>
                  </a:rPr>
                  <a:t> </a:t>
                </a:r>
              </a:p>
            </p:txBody>
          </p:sp>
        </mc:Fallback>
      </mc:AlternateContent>
      <p:grpSp>
        <p:nvGrpSpPr>
          <p:cNvPr id="8" name="Group 7">
            <a:extLst>
              <a:ext uri="{FF2B5EF4-FFF2-40B4-BE49-F238E27FC236}">
                <a16:creationId xmlns:a16="http://schemas.microsoft.com/office/drawing/2014/main" id="{C4CD4086-630F-7C4E-AA45-6ACA8302209B}"/>
              </a:ext>
            </a:extLst>
          </p:cNvPr>
          <p:cNvGrpSpPr/>
          <p:nvPr/>
        </p:nvGrpSpPr>
        <p:grpSpPr>
          <a:xfrm>
            <a:off x="1802333" y="1509584"/>
            <a:ext cx="10144886" cy="3612234"/>
            <a:chOff x="1802333" y="1509584"/>
            <a:chExt cx="10144886" cy="3612234"/>
          </a:xfrm>
        </p:grpSpPr>
        <mc:AlternateContent xmlns:mc="http://schemas.openxmlformats.org/markup-compatibility/2006" xmlns:a14="http://schemas.microsoft.com/office/drawing/2010/main">
          <mc:Choice Requires="a14">
            <p:sp>
              <p:nvSpPr>
                <p:cNvPr id="71" name="Rectangle 70">
                  <a:extLst>
                    <a:ext uri="{FF2B5EF4-FFF2-40B4-BE49-F238E27FC236}">
                      <a16:creationId xmlns:a16="http://schemas.microsoft.com/office/drawing/2014/main" id="{141D7812-DB9D-9C4C-9AC2-6C1BCD9202EF}"/>
                    </a:ext>
                  </a:extLst>
                </p:cNvPr>
                <p:cNvSpPr/>
                <p:nvPr/>
              </p:nvSpPr>
              <p:spPr>
                <a:xfrm>
                  <a:off x="2384585" y="1509584"/>
                  <a:ext cx="63735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𝑣</m:t>
                            </m:r>
                          </m:e>
                        </m:d>
                      </m:oMath>
                    </m:oMathPara>
                  </a14:m>
                  <a:endParaRPr lang="en-US" sz="2400" dirty="0">
                    <a:solidFill>
                      <a:schemeClr val="bg1">
                        <a:lumMod val="50000"/>
                      </a:schemeClr>
                    </a:solidFill>
                  </a:endParaRPr>
                </a:p>
              </p:txBody>
            </p:sp>
          </mc:Choice>
          <mc:Fallback xmlns="">
            <p:sp>
              <p:nvSpPr>
                <p:cNvPr id="71" name="Rectangle 70">
                  <a:extLst>
                    <a:ext uri="{FF2B5EF4-FFF2-40B4-BE49-F238E27FC236}">
                      <a16:creationId xmlns:a16="http://schemas.microsoft.com/office/drawing/2014/main" id="{141D7812-DB9D-9C4C-9AC2-6C1BCD9202EF}"/>
                    </a:ext>
                  </a:extLst>
                </p:cNvPr>
                <p:cNvSpPr>
                  <a:spLocks noRot="1" noChangeAspect="1" noMove="1" noResize="1" noEditPoints="1" noAdjustHandles="1" noChangeArrowheads="1" noChangeShapeType="1" noTextEdit="1"/>
                </p:cNvSpPr>
                <p:nvPr/>
              </p:nvSpPr>
              <p:spPr>
                <a:xfrm>
                  <a:off x="2384585" y="1509584"/>
                  <a:ext cx="637354" cy="461665"/>
                </a:xfrm>
                <a:prstGeom prst="rect">
                  <a:avLst/>
                </a:prstGeom>
                <a:blipFill>
                  <a:blip r:embed="rId5"/>
                  <a:stretch>
                    <a:fillRect/>
                  </a:stretch>
                </a:blipFill>
              </p:spPr>
              <p:txBody>
                <a:bodyPr/>
                <a:lstStyle/>
                <a:p>
                  <a:r>
                    <a:rPr lang="en-US">
                      <a:noFill/>
                    </a:rPr>
                    <a:t> </a:t>
                  </a:r>
                </a:p>
              </p:txBody>
            </p:sp>
          </mc:Fallback>
        </mc:AlternateContent>
        <p:cxnSp>
          <p:nvCxnSpPr>
            <p:cNvPr id="68" name="Straight Arrow Connector 67">
              <a:extLst>
                <a:ext uri="{FF2B5EF4-FFF2-40B4-BE49-F238E27FC236}">
                  <a16:creationId xmlns:a16="http://schemas.microsoft.com/office/drawing/2014/main" id="{1F5E3F37-D0C7-D64A-B6AB-F6E14FD2CC58}"/>
                </a:ext>
              </a:extLst>
            </p:cNvPr>
            <p:cNvCxnSpPr>
              <a:cxnSpLocks/>
            </p:cNvCxnSpPr>
            <p:nvPr/>
          </p:nvCxnSpPr>
          <p:spPr>
            <a:xfrm flipV="1">
              <a:off x="1802333" y="1882617"/>
              <a:ext cx="654481" cy="2111303"/>
            </a:xfrm>
            <a:prstGeom prst="straightConnector1">
              <a:avLst/>
            </a:prstGeom>
            <a:ln w="38100">
              <a:solidFill>
                <a:srgbClr val="00B050"/>
              </a:solidFill>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tangle 77">
                  <a:extLst>
                    <a:ext uri="{FF2B5EF4-FFF2-40B4-BE49-F238E27FC236}">
                      <a16:creationId xmlns:a16="http://schemas.microsoft.com/office/drawing/2014/main" id="{60BE98E6-4D9C-724C-8F6A-F3003B5017AE}"/>
                    </a:ext>
                  </a:extLst>
                </p:cNvPr>
                <p:cNvSpPr/>
                <p:nvPr/>
              </p:nvSpPr>
              <p:spPr>
                <a:xfrm>
                  <a:off x="4328656" y="4396748"/>
                  <a:ext cx="7618563" cy="725070"/>
                </a:xfrm>
                <a:prstGeom prst="rect">
                  <a:avLst/>
                </a:prstGeom>
              </p:spPr>
              <p:txBody>
                <a:bodyPr wrap="square">
                  <a:spAutoFit/>
                </a:bodyPr>
                <a:lstStyle/>
                <a:p>
                  <a14:m>
                    <m:oMath xmlns:m="http://schemas.openxmlformats.org/officeDocument/2006/math">
                      <m:d>
                        <m:dPr>
                          <m:begChr m:val="|"/>
                          <m:endChr m:val="⟩"/>
                          <m:ctrlPr>
                            <a:rPr lang="en-US" sz="2200" i="1" smtClean="0">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200" i="1">
                              <a:latin typeface="Cambria Math" panose="02040503050406030204" pitchFamily="18" charset="0"/>
                              <a:ea typeface="Times New Roman" panose="02020603050405020304" pitchFamily="18" charset="0"/>
                              <a:cs typeface="Times New Roman" panose="02020603050405020304" pitchFamily="18" charset="0"/>
                            </a:rPr>
                            <m:t>𝑣</m:t>
                          </m:r>
                        </m:e>
                      </m:d>
                      <m:r>
                        <a:rPr lang="sr-Latn-RS" sz="2200" b="1" i="1" smtClean="0">
                          <a:latin typeface="Cambria Math" panose="02040503050406030204" pitchFamily="18" charset="0"/>
                          <a:ea typeface="Times New Roman" panose="02020603050405020304" pitchFamily="18" charset="0"/>
                          <a:cs typeface="Times New Roman" panose="02020603050405020304" pitchFamily="18" charset="0"/>
                        </a:rPr>
                        <m:t>=</m:t>
                      </m:r>
                      <m:d>
                        <m:dPr>
                          <m:ctrlPr>
                            <a:rPr lang="en-US" sz="2200" b="1" i="1">
                              <a:latin typeface="Cambria Math" panose="02040503050406030204" pitchFamily="18" charset="0"/>
                            </a:rPr>
                          </m:ctrlPr>
                        </m:dPr>
                        <m:e>
                          <m:m>
                            <m:mPr>
                              <m:mcs>
                                <m:mc>
                                  <m:mcPr>
                                    <m:count m:val="1"/>
                                    <m:mcJc m:val="center"/>
                                  </m:mcPr>
                                </m:mc>
                              </m:mcs>
                              <m:ctrlPr>
                                <a:rPr lang="en-US" sz="2200" b="1" i="1">
                                  <a:latin typeface="Cambria Math" panose="02040503050406030204" pitchFamily="18" charset="0"/>
                                </a:rPr>
                              </m:ctrlPr>
                            </m:mPr>
                            <m:mr>
                              <m:e>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1</m:t>
                                    </m:r>
                                  </m:sub>
                                </m:sSub>
                              </m:e>
                            </m:mr>
                            <m:mr>
                              <m:e>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2</m:t>
                                    </m:r>
                                  </m:sub>
                                </m:sSub>
                              </m:e>
                            </m:mr>
                          </m:m>
                        </m:e>
                      </m:d>
                      <m:r>
                        <a:rPr lang="en-US" sz="2200" b="1" i="1">
                          <a:latin typeface="Cambria Math" panose="02040503050406030204" pitchFamily="18" charset="0"/>
                          <a:ea typeface="Cambria Math" panose="02040503050406030204" pitchFamily="18" charset="0"/>
                        </a:rPr>
                        <m:t>⟶</m:t>
                      </m:r>
                      <m:d>
                        <m:dPr>
                          <m:ctrlPr>
                            <a:rPr lang="en-US" sz="2200" i="1">
                              <a:latin typeface="Cambria Math" panose="02040503050406030204" pitchFamily="18" charset="0"/>
                              <a:ea typeface="Cambria Math" panose="02040503050406030204" pitchFamily="18" charset="0"/>
                            </a:rPr>
                          </m:ctrlPr>
                        </m:dPr>
                        <m:e>
                          <m:m>
                            <m:mPr>
                              <m:mcs>
                                <m:mc>
                                  <m:mcPr>
                                    <m:count m:val="2"/>
                                    <m:mcJc m:val="center"/>
                                  </m:mcPr>
                                </m:mc>
                              </m:mcs>
                              <m:ctrlPr>
                                <a:rPr lang="en-US" sz="2200" i="1">
                                  <a:latin typeface="Cambria Math" panose="02040503050406030204" pitchFamily="18" charset="0"/>
                                  <a:ea typeface="Cambria Math" panose="02040503050406030204" pitchFamily="18" charset="0"/>
                                </a:rPr>
                              </m:ctrlPr>
                            </m:mPr>
                            <m:mr>
                              <m:e>
                                <m:func>
                                  <m:funcPr>
                                    <m:ctrlPr>
                                      <a:rPr lang="en-US" sz="2200" i="1">
                                        <a:solidFill>
                                          <a:srgbClr val="0000FF"/>
                                        </a:solidFill>
                                        <a:latin typeface="Cambria Math" panose="02040503050406030204" pitchFamily="18" charset="0"/>
                                        <a:ea typeface="Cambria Math" panose="02040503050406030204" pitchFamily="18" charset="0"/>
                                      </a:rPr>
                                    </m:ctrlPr>
                                  </m:funcPr>
                                  <m:fName>
                                    <m:r>
                                      <a:rPr lang="en-US" sz="2200" i="1">
                                        <a:solidFill>
                                          <a:srgbClr val="0000FF"/>
                                        </a:solidFill>
                                        <a:latin typeface="Cambria Math" panose="02040503050406030204" pitchFamily="18" charset="0"/>
                                        <a:ea typeface="Cambria Math" panose="02040503050406030204" pitchFamily="18" charset="0"/>
                                      </a:rPr>
                                      <m:t>𝑐𝑜𝑠</m:t>
                                    </m:r>
                                  </m:fName>
                                  <m:e>
                                    <m:r>
                                      <a:rPr lang="en-US" sz="2200" i="1">
                                        <a:solidFill>
                                          <a:srgbClr val="0000FF"/>
                                        </a:solidFill>
                                        <a:latin typeface="Cambria Math" panose="02040503050406030204" pitchFamily="18" charset="0"/>
                                        <a:ea typeface="Cambria Math" panose="02040503050406030204" pitchFamily="18" charset="0"/>
                                      </a:rPr>
                                      <m:t>𝜃</m:t>
                                    </m:r>
                                  </m:e>
                                </m:func>
                              </m:e>
                              <m:e>
                                <m:func>
                                  <m:funcPr>
                                    <m:ctrlPr>
                                      <a:rPr lang="en-US" sz="2200" i="1">
                                        <a:solidFill>
                                          <a:srgbClr val="FF0000"/>
                                        </a:solidFill>
                                        <a:latin typeface="Cambria Math" panose="02040503050406030204" pitchFamily="18" charset="0"/>
                                        <a:ea typeface="Cambria Math" panose="02040503050406030204" pitchFamily="18" charset="0"/>
                                      </a:rPr>
                                    </m:ctrlPr>
                                  </m:funcPr>
                                  <m:fName>
                                    <m:r>
                                      <a:rPr lang="en-US" sz="2200" i="1">
                                        <a:solidFill>
                                          <a:srgbClr val="FF0000"/>
                                        </a:solidFill>
                                        <a:latin typeface="Cambria Math" panose="02040503050406030204" pitchFamily="18" charset="0"/>
                                        <a:ea typeface="Cambria Math" panose="02040503050406030204" pitchFamily="18" charset="0"/>
                                      </a:rPr>
                                      <m:t>−</m:t>
                                    </m:r>
                                    <m:r>
                                      <a:rPr lang="en-US" sz="2200" i="1">
                                        <a:solidFill>
                                          <a:srgbClr val="FF0000"/>
                                        </a:solidFill>
                                        <a:latin typeface="Cambria Math" panose="02040503050406030204" pitchFamily="18" charset="0"/>
                                        <a:ea typeface="Cambria Math" panose="02040503050406030204" pitchFamily="18" charset="0"/>
                                      </a:rPr>
                                      <m:t>𝑠𝑖𝑛</m:t>
                                    </m:r>
                                  </m:fName>
                                  <m:e>
                                    <m:r>
                                      <a:rPr lang="en-US" sz="2200" i="1">
                                        <a:solidFill>
                                          <a:srgbClr val="FF0000"/>
                                        </a:solidFill>
                                        <a:latin typeface="Cambria Math" panose="02040503050406030204" pitchFamily="18" charset="0"/>
                                        <a:ea typeface="Cambria Math" panose="02040503050406030204" pitchFamily="18" charset="0"/>
                                      </a:rPr>
                                      <m:t>𝜃</m:t>
                                    </m:r>
                                  </m:e>
                                </m:func>
                              </m:e>
                            </m:mr>
                            <m:mr>
                              <m:e>
                                <m:func>
                                  <m:funcPr>
                                    <m:ctrlPr>
                                      <a:rPr lang="en-US" sz="2200" i="1">
                                        <a:solidFill>
                                          <a:srgbClr val="0000FF"/>
                                        </a:solidFill>
                                        <a:latin typeface="Cambria Math" panose="02040503050406030204" pitchFamily="18" charset="0"/>
                                        <a:ea typeface="Cambria Math" panose="02040503050406030204" pitchFamily="18" charset="0"/>
                                      </a:rPr>
                                    </m:ctrlPr>
                                  </m:funcPr>
                                  <m:fName>
                                    <m:r>
                                      <a:rPr lang="en-US" sz="2200" i="1">
                                        <a:solidFill>
                                          <a:srgbClr val="0000FF"/>
                                        </a:solidFill>
                                        <a:latin typeface="Cambria Math" panose="02040503050406030204" pitchFamily="18" charset="0"/>
                                        <a:ea typeface="Cambria Math" panose="02040503050406030204" pitchFamily="18" charset="0"/>
                                      </a:rPr>
                                      <m:t>𝑠𝑖𝑛</m:t>
                                    </m:r>
                                  </m:fName>
                                  <m:e>
                                    <m:r>
                                      <a:rPr lang="en-US" sz="2200" i="1">
                                        <a:solidFill>
                                          <a:srgbClr val="0000FF"/>
                                        </a:solidFill>
                                        <a:latin typeface="Cambria Math" panose="02040503050406030204" pitchFamily="18" charset="0"/>
                                        <a:ea typeface="Cambria Math" panose="02040503050406030204" pitchFamily="18" charset="0"/>
                                      </a:rPr>
                                      <m:t>𝜃</m:t>
                                    </m:r>
                                  </m:e>
                                </m:func>
                              </m:e>
                              <m:e>
                                <m:func>
                                  <m:funcPr>
                                    <m:ctrlPr>
                                      <a:rPr lang="en-US" sz="2200" i="1">
                                        <a:solidFill>
                                          <a:srgbClr val="FF0000"/>
                                        </a:solidFill>
                                        <a:latin typeface="Cambria Math" panose="02040503050406030204" pitchFamily="18" charset="0"/>
                                        <a:ea typeface="Cambria Math" panose="02040503050406030204" pitchFamily="18" charset="0"/>
                                      </a:rPr>
                                    </m:ctrlPr>
                                  </m:funcPr>
                                  <m:fName>
                                    <m:r>
                                      <a:rPr lang="en-US" sz="2200" i="1">
                                        <a:solidFill>
                                          <a:srgbClr val="FF0000"/>
                                        </a:solidFill>
                                        <a:latin typeface="Cambria Math" panose="02040503050406030204" pitchFamily="18" charset="0"/>
                                        <a:ea typeface="Cambria Math" panose="02040503050406030204" pitchFamily="18" charset="0"/>
                                      </a:rPr>
                                      <m:t>𝑐𝑜𝑠</m:t>
                                    </m:r>
                                  </m:fName>
                                  <m:e>
                                    <m:r>
                                      <a:rPr lang="en-US" sz="2200" i="1">
                                        <a:solidFill>
                                          <a:srgbClr val="FF0000"/>
                                        </a:solidFill>
                                        <a:latin typeface="Cambria Math" panose="02040503050406030204" pitchFamily="18" charset="0"/>
                                        <a:ea typeface="Cambria Math" panose="02040503050406030204" pitchFamily="18" charset="0"/>
                                      </a:rPr>
                                      <m:t>𝜃</m:t>
                                    </m:r>
                                  </m:e>
                                </m:func>
                              </m:e>
                            </m:mr>
                          </m:m>
                        </m:e>
                      </m:d>
                      <m:d>
                        <m:dPr>
                          <m:ctrlPr>
                            <a:rPr lang="en-US" sz="2200" b="1" i="1">
                              <a:latin typeface="Cambria Math" panose="02040503050406030204" pitchFamily="18" charset="0"/>
                            </a:rPr>
                          </m:ctrlPr>
                        </m:dPr>
                        <m:e>
                          <m:m>
                            <m:mPr>
                              <m:mcs>
                                <m:mc>
                                  <m:mcPr>
                                    <m:count m:val="1"/>
                                    <m:mcJc m:val="center"/>
                                  </m:mcPr>
                                </m:mc>
                              </m:mcs>
                              <m:ctrlPr>
                                <a:rPr lang="en-US" sz="2200" b="1" i="1">
                                  <a:latin typeface="Cambria Math" panose="02040503050406030204" pitchFamily="18" charset="0"/>
                                </a:rPr>
                              </m:ctrlPr>
                            </m:mPr>
                            <m:mr>
                              <m:e>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1</m:t>
                                    </m:r>
                                  </m:sub>
                                </m:sSub>
                              </m:e>
                            </m:mr>
                            <m:mr>
                              <m:e>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2</m:t>
                                    </m:r>
                                  </m:sub>
                                </m:sSub>
                              </m:e>
                            </m:mr>
                          </m:m>
                        </m:e>
                      </m:d>
                      <m:r>
                        <a:rPr lang="sr-Latn-RS" sz="2200" b="1" i="1" smtClean="0">
                          <a:latin typeface="Cambria Math" panose="02040503050406030204" pitchFamily="18" charset="0"/>
                        </a:rPr>
                        <m:t>=</m:t>
                      </m:r>
                    </m:oMath>
                  </a14:m>
                  <a:r>
                    <a:rPr lang="en-US" sz="2200" dirty="0">
                      <a:ea typeface="Cambria Math" panose="02040503050406030204" pitchFamily="18" charset="0"/>
                    </a:rPr>
                    <a:t> </a:t>
                  </a:r>
                  <a14:m>
                    <m:oMath xmlns:m="http://schemas.openxmlformats.org/officeDocument/2006/math">
                      <m:d>
                        <m:dPr>
                          <m:ctrlPr>
                            <a:rPr lang="en-US" sz="2200" i="1">
                              <a:latin typeface="Cambria Math" panose="02040503050406030204" pitchFamily="18" charset="0"/>
                              <a:ea typeface="Cambria Math" panose="02040503050406030204" pitchFamily="18" charset="0"/>
                            </a:rPr>
                          </m:ctrlPr>
                        </m:dPr>
                        <m:e>
                          <m:m>
                            <m:mPr>
                              <m:mcs>
                                <m:mc>
                                  <m:mcPr>
                                    <m:count m:val="2"/>
                                    <m:mcJc m:val="center"/>
                                  </m:mcPr>
                                </m:mc>
                              </m:mcs>
                              <m:ctrlPr>
                                <a:rPr lang="en-US" sz="2200" i="1">
                                  <a:latin typeface="Cambria Math" panose="02040503050406030204" pitchFamily="18" charset="0"/>
                                  <a:ea typeface="Cambria Math" panose="02040503050406030204" pitchFamily="18" charset="0"/>
                                </a:rPr>
                              </m:ctrlPr>
                            </m:mPr>
                            <m:mr>
                              <m:e>
                                <m:func>
                                  <m:funcPr>
                                    <m:ctrlPr>
                                      <a:rPr lang="en-US" sz="2200" i="1">
                                        <a:solidFill>
                                          <a:srgbClr val="0000FF"/>
                                        </a:solidFill>
                                        <a:latin typeface="Cambria Math" panose="02040503050406030204" pitchFamily="18" charset="0"/>
                                        <a:ea typeface="Cambria Math" panose="02040503050406030204" pitchFamily="18" charset="0"/>
                                      </a:rPr>
                                    </m:ctrlPr>
                                  </m:funcPr>
                                  <m:fName>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1</m:t>
                                        </m:r>
                                      </m:sub>
                                    </m:sSub>
                                    <m:r>
                                      <a:rPr lang="en-US" sz="2200" i="1">
                                        <a:solidFill>
                                          <a:srgbClr val="0000FF"/>
                                        </a:solidFill>
                                        <a:latin typeface="Cambria Math" panose="02040503050406030204" pitchFamily="18" charset="0"/>
                                        <a:ea typeface="Cambria Math" panose="02040503050406030204" pitchFamily="18" charset="0"/>
                                      </a:rPr>
                                      <m:t>𝑐𝑜𝑠</m:t>
                                    </m:r>
                                  </m:fName>
                                  <m:e>
                                    <m:r>
                                      <a:rPr lang="en-US" sz="2200" i="1">
                                        <a:solidFill>
                                          <a:srgbClr val="0000FF"/>
                                        </a:solidFill>
                                        <a:latin typeface="Cambria Math" panose="02040503050406030204" pitchFamily="18" charset="0"/>
                                        <a:ea typeface="Cambria Math" panose="02040503050406030204" pitchFamily="18" charset="0"/>
                                      </a:rPr>
                                      <m:t>𝜃</m:t>
                                    </m:r>
                                  </m:e>
                                </m:func>
                              </m:e>
                              <m:e>
                                <m:func>
                                  <m:funcPr>
                                    <m:ctrlPr>
                                      <a:rPr lang="en-US" sz="2200" i="1">
                                        <a:solidFill>
                                          <a:srgbClr val="FF0000"/>
                                        </a:solidFill>
                                        <a:latin typeface="Cambria Math" panose="02040503050406030204" pitchFamily="18" charset="0"/>
                                        <a:ea typeface="Cambria Math" panose="02040503050406030204" pitchFamily="18" charset="0"/>
                                      </a:rPr>
                                    </m:ctrlPr>
                                  </m:funcPr>
                                  <m:fName>
                                    <m:r>
                                      <a:rPr lang="en-US" sz="2200" i="1" smtClean="0">
                                        <a:solidFill>
                                          <a:schemeClr val="tx1"/>
                                        </a:solidFill>
                                        <a:latin typeface="Cambria Math" panose="02040503050406030204" pitchFamily="18" charset="0"/>
                                        <a:ea typeface="Cambria Math" panose="02040503050406030204" pitchFamily="18" charset="0"/>
                                      </a:rPr>
                                      <m:t>−</m:t>
                                    </m:r>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sr-Latn-RS" sz="2200" b="0" i="1" smtClean="0">
                                            <a:latin typeface="Cambria Math" panose="02040503050406030204" pitchFamily="18" charset="0"/>
                                          </a:rPr>
                                          <m:t>2</m:t>
                                        </m:r>
                                      </m:sub>
                                    </m:sSub>
                                    <m:r>
                                      <a:rPr lang="en-US" sz="2200" i="1">
                                        <a:solidFill>
                                          <a:srgbClr val="FF0000"/>
                                        </a:solidFill>
                                        <a:latin typeface="Cambria Math" panose="02040503050406030204" pitchFamily="18" charset="0"/>
                                        <a:ea typeface="Cambria Math" panose="02040503050406030204" pitchFamily="18" charset="0"/>
                                      </a:rPr>
                                      <m:t>𝑠𝑖𝑛</m:t>
                                    </m:r>
                                  </m:fName>
                                  <m:e>
                                    <m:r>
                                      <a:rPr lang="en-US" sz="2200" i="1">
                                        <a:solidFill>
                                          <a:srgbClr val="FF0000"/>
                                        </a:solidFill>
                                        <a:latin typeface="Cambria Math" panose="02040503050406030204" pitchFamily="18" charset="0"/>
                                        <a:ea typeface="Cambria Math" panose="02040503050406030204" pitchFamily="18" charset="0"/>
                                      </a:rPr>
                                      <m:t>𝜃</m:t>
                                    </m:r>
                                  </m:e>
                                </m:func>
                              </m:e>
                            </m:mr>
                            <m:mr>
                              <m:e>
                                <m:func>
                                  <m:funcPr>
                                    <m:ctrlPr>
                                      <a:rPr lang="en-US" sz="2200" i="1">
                                        <a:solidFill>
                                          <a:srgbClr val="0000FF"/>
                                        </a:solidFill>
                                        <a:latin typeface="Cambria Math" panose="02040503050406030204" pitchFamily="18" charset="0"/>
                                        <a:ea typeface="Cambria Math" panose="02040503050406030204" pitchFamily="18" charset="0"/>
                                      </a:rPr>
                                    </m:ctrlPr>
                                  </m:funcPr>
                                  <m:fName>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1</m:t>
                                        </m:r>
                                      </m:sub>
                                    </m:sSub>
                                    <m:r>
                                      <a:rPr lang="en-US" sz="2200" i="1">
                                        <a:solidFill>
                                          <a:srgbClr val="0000FF"/>
                                        </a:solidFill>
                                        <a:latin typeface="Cambria Math" panose="02040503050406030204" pitchFamily="18" charset="0"/>
                                        <a:ea typeface="Cambria Math" panose="02040503050406030204" pitchFamily="18" charset="0"/>
                                      </a:rPr>
                                      <m:t>𝑠𝑖𝑛</m:t>
                                    </m:r>
                                  </m:fName>
                                  <m:e>
                                    <m:r>
                                      <a:rPr lang="en-US" sz="2200" i="1">
                                        <a:solidFill>
                                          <a:srgbClr val="0000FF"/>
                                        </a:solidFill>
                                        <a:latin typeface="Cambria Math" panose="02040503050406030204" pitchFamily="18" charset="0"/>
                                        <a:ea typeface="Cambria Math" panose="02040503050406030204" pitchFamily="18" charset="0"/>
                                      </a:rPr>
                                      <m:t>𝜃</m:t>
                                    </m:r>
                                  </m:e>
                                </m:func>
                              </m:e>
                              <m:e>
                                <m:func>
                                  <m:funcPr>
                                    <m:ctrlPr>
                                      <a:rPr lang="en-US" sz="2200" i="1">
                                        <a:solidFill>
                                          <a:srgbClr val="FF0000"/>
                                        </a:solidFill>
                                        <a:latin typeface="Cambria Math" panose="02040503050406030204" pitchFamily="18" charset="0"/>
                                        <a:ea typeface="Cambria Math" panose="02040503050406030204" pitchFamily="18" charset="0"/>
                                      </a:rPr>
                                    </m:ctrlPr>
                                  </m:funcPr>
                                  <m:fName>
                                    <m:sSub>
                                      <m:sSubPr>
                                        <m:ctrlPr>
                                          <a:rPr lang="en-US" sz="2200" i="1">
                                            <a:latin typeface="Cambria Math" panose="02040503050406030204" pitchFamily="18" charset="0"/>
                                          </a:rPr>
                                        </m:ctrlPr>
                                      </m:sSubPr>
                                      <m:e>
                                        <m:r>
                                          <a:rPr lang="en-US" sz="2200" i="1">
                                            <a:latin typeface="Cambria Math" panose="02040503050406030204" pitchFamily="18" charset="0"/>
                                          </a:rPr>
                                          <m:t>𝑎</m:t>
                                        </m:r>
                                      </m:e>
                                      <m:sub>
                                        <m:r>
                                          <a:rPr lang="en-US" sz="2200" i="1">
                                            <a:latin typeface="Cambria Math" panose="02040503050406030204" pitchFamily="18" charset="0"/>
                                          </a:rPr>
                                          <m:t>1</m:t>
                                        </m:r>
                                      </m:sub>
                                    </m:sSub>
                                    <m:r>
                                      <a:rPr lang="en-US" sz="2200" i="1">
                                        <a:solidFill>
                                          <a:srgbClr val="FF0000"/>
                                        </a:solidFill>
                                        <a:latin typeface="Cambria Math" panose="02040503050406030204" pitchFamily="18" charset="0"/>
                                        <a:ea typeface="Cambria Math" panose="02040503050406030204" pitchFamily="18" charset="0"/>
                                      </a:rPr>
                                      <m:t>𝑐𝑜𝑠</m:t>
                                    </m:r>
                                  </m:fName>
                                  <m:e>
                                    <m:r>
                                      <a:rPr lang="en-US" sz="2200" i="1">
                                        <a:solidFill>
                                          <a:srgbClr val="FF0000"/>
                                        </a:solidFill>
                                        <a:latin typeface="Cambria Math" panose="02040503050406030204" pitchFamily="18" charset="0"/>
                                        <a:ea typeface="Cambria Math" panose="02040503050406030204" pitchFamily="18" charset="0"/>
                                      </a:rPr>
                                      <m:t>𝜃</m:t>
                                    </m:r>
                                  </m:e>
                                </m:func>
                              </m:e>
                            </m:mr>
                          </m:m>
                        </m:e>
                      </m:d>
                    </m:oMath>
                  </a14:m>
                  <a:endParaRPr lang="en-US" sz="2200" dirty="0"/>
                </a:p>
              </p:txBody>
            </p:sp>
          </mc:Choice>
          <mc:Fallback xmlns="">
            <p:sp>
              <p:nvSpPr>
                <p:cNvPr id="78" name="Rectangle 77">
                  <a:extLst>
                    <a:ext uri="{FF2B5EF4-FFF2-40B4-BE49-F238E27FC236}">
                      <a16:creationId xmlns:a16="http://schemas.microsoft.com/office/drawing/2014/main" id="{60BE98E6-4D9C-724C-8F6A-F3003B5017AE}"/>
                    </a:ext>
                  </a:extLst>
                </p:cNvPr>
                <p:cNvSpPr>
                  <a:spLocks noRot="1" noChangeAspect="1" noMove="1" noResize="1" noEditPoints="1" noAdjustHandles="1" noChangeArrowheads="1" noChangeShapeType="1" noTextEdit="1"/>
                </p:cNvSpPr>
                <p:nvPr/>
              </p:nvSpPr>
              <p:spPr>
                <a:xfrm>
                  <a:off x="4328656" y="4396748"/>
                  <a:ext cx="7618563" cy="725070"/>
                </a:xfrm>
                <a:prstGeom prst="rect">
                  <a:avLst/>
                </a:prstGeom>
                <a:blipFill>
                  <a:blip r:embed="rId6"/>
                  <a:stretch>
                    <a:fillRect b="-1724"/>
                  </a:stretch>
                </a:blipFill>
              </p:spPr>
              <p:txBody>
                <a:bodyPr/>
                <a:lstStyle/>
                <a:p>
                  <a:r>
                    <a:rPr lang="en-US">
                      <a:noFill/>
                    </a:rPr>
                    <a:t> </a:t>
                  </a:r>
                </a:p>
              </p:txBody>
            </p:sp>
          </mc:Fallback>
        </mc:AlternateContent>
      </p:grpSp>
      <p:cxnSp>
        <p:nvCxnSpPr>
          <p:cNvPr id="28" name="Straight Arrow Connector 27">
            <a:extLst>
              <a:ext uri="{FF2B5EF4-FFF2-40B4-BE49-F238E27FC236}">
                <a16:creationId xmlns:a16="http://schemas.microsoft.com/office/drawing/2014/main" id="{051F3582-A0E7-4A47-BEE0-C1E3B2017FEE}"/>
              </a:ext>
            </a:extLst>
          </p:cNvPr>
          <p:cNvCxnSpPr>
            <a:cxnSpLocks/>
          </p:cNvCxnSpPr>
          <p:nvPr/>
        </p:nvCxnSpPr>
        <p:spPr>
          <a:xfrm flipV="1">
            <a:off x="1807346" y="1457730"/>
            <a:ext cx="0" cy="3005191"/>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EE5B72F-3ECD-2E4B-BEE2-23908C0C0A3D}"/>
              </a:ext>
            </a:extLst>
          </p:cNvPr>
          <p:cNvCxnSpPr>
            <a:cxnSpLocks/>
          </p:cNvCxnSpPr>
          <p:nvPr/>
        </p:nvCxnSpPr>
        <p:spPr>
          <a:xfrm flipV="1">
            <a:off x="788724" y="3964570"/>
            <a:ext cx="4064206" cy="0"/>
          </a:xfrm>
          <a:prstGeom prst="straightConnector1">
            <a:avLst/>
          </a:prstGeom>
          <a:ln>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893C09D2-C374-404F-9B8D-C5A58A7DB903}"/>
                  </a:ext>
                </a:extLst>
              </p:cNvPr>
              <p:cNvSpPr/>
              <p:nvPr/>
            </p:nvSpPr>
            <p:spPr>
              <a:xfrm>
                <a:off x="4459987" y="3872656"/>
                <a:ext cx="407997"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solidFill>
                            <a:schemeClr val="bg1">
                              <a:lumMod val="65000"/>
                            </a:schemeClr>
                          </a:solidFill>
                          <a:latin typeface="Cambria Math" panose="02040503050406030204" pitchFamily="18" charset="0"/>
                        </a:rPr>
                        <m:t>𝑥</m:t>
                      </m:r>
                    </m:oMath>
                  </m:oMathPara>
                </a14:m>
                <a:endParaRPr lang="en-US" sz="2200" dirty="0">
                  <a:solidFill>
                    <a:schemeClr val="bg1">
                      <a:lumMod val="65000"/>
                    </a:schemeClr>
                  </a:solidFill>
                </a:endParaRPr>
              </a:p>
            </p:txBody>
          </p:sp>
        </mc:Choice>
        <mc:Fallback xmlns="">
          <p:sp>
            <p:nvSpPr>
              <p:cNvPr id="30" name="Rectangle 29">
                <a:extLst>
                  <a:ext uri="{FF2B5EF4-FFF2-40B4-BE49-F238E27FC236}">
                    <a16:creationId xmlns:a16="http://schemas.microsoft.com/office/drawing/2014/main" id="{893C09D2-C374-404F-9B8D-C5A58A7DB903}"/>
                  </a:ext>
                </a:extLst>
              </p:cNvPr>
              <p:cNvSpPr>
                <a:spLocks noRot="1" noChangeAspect="1" noMove="1" noResize="1" noEditPoints="1" noAdjustHandles="1" noChangeArrowheads="1" noChangeShapeType="1" noTextEdit="1"/>
              </p:cNvSpPr>
              <p:nvPr/>
            </p:nvSpPr>
            <p:spPr>
              <a:xfrm>
                <a:off x="4459987" y="3872656"/>
                <a:ext cx="407997" cy="430887"/>
              </a:xfrm>
              <a:prstGeom prst="rect">
                <a:avLst/>
              </a:prstGeom>
              <a:blipFill>
                <a:blip r:embed="rId7"/>
                <a:stretch>
                  <a:fillRect/>
                </a:stretch>
              </a:blipFill>
            </p:spPr>
            <p:txBody>
              <a:bodyPr/>
              <a:lstStyle/>
              <a:p>
                <a:r>
                  <a:rPr lang="en-US">
                    <a:noFill/>
                  </a:rPr>
                  <a:t> </a:t>
                </a:r>
              </a:p>
            </p:txBody>
          </p:sp>
        </mc:Fallback>
      </mc:AlternateContent>
      <p:cxnSp>
        <p:nvCxnSpPr>
          <p:cNvPr id="35" name="Straight Arrow Connector 34">
            <a:extLst>
              <a:ext uri="{FF2B5EF4-FFF2-40B4-BE49-F238E27FC236}">
                <a16:creationId xmlns:a16="http://schemas.microsoft.com/office/drawing/2014/main" id="{55FEE835-A6B2-2F4D-8A90-AC6F881FFADA}"/>
              </a:ext>
            </a:extLst>
          </p:cNvPr>
          <p:cNvCxnSpPr>
            <a:cxnSpLocks/>
          </p:cNvCxnSpPr>
          <p:nvPr/>
        </p:nvCxnSpPr>
        <p:spPr>
          <a:xfrm flipV="1">
            <a:off x="1805165" y="2352482"/>
            <a:ext cx="1463226" cy="1624372"/>
          </a:xfrm>
          <a:prstGeom prst="straightConnector1">
            <a:avLst/>
          </a:prstGeom>
          <a:ln w="38100">
            <a:solidFill>
              <a:srgbClr val="00B050"/>
            </a:solidFill>
            <a:prstDash val="solid"/>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5" name="Rectangle 54">
                <a:extLst>
                  <a:ext uri="{FF2B5EF4-FFF2-40B4-BE49-F238E27FC236}">
                    <a16:creationId xmlns:a16="http://schemas.microsoft.com/office/drawing/2014/main" id="{63C52EFB-95C8-1442-AD98-D2F8E7305A32}"/>
                  </a:ext>
                </a:extLst>
              </p:cNvPr>
              <p:cNvSpPr/>
              <p:nvPr/>
            </p:nvSpPr>
            <p:spPr>
              <a:xfrm>
                <a:off x="1298527" y="1207055"/>
                <a:ext cx="410689"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b="0" i="1" smtClean="0">
                          <a:solidFill>
                            <a:schemeClr val="bg1">
                              <a:lumMod val="65000"/>
                            </a:schemeClr>
                          </a:solidFill>
                          <a:latin typeface="Cambria Math" panose="02040503050406030204" pitchFamily="18" charset="0"/>
                        </a:rPr>
                        <m:t>𝑦</m:t>
                      </m:r>
                    </m:oMath>
                  </m:oMathPara>
                </a14:m>
                <a:endParaRPr lang="en-US" sz="2200" dirty="0">
                  <a:solidFill>
                    <a:schemeClr val="bg1">
                      <a:lumMod val="65000"/>
                    </a:schemeClr>
                  </a:solidFill>
                </a:endParaRPr>
              </a:p>
            </p:txBody>
          </p:sp>
        </mc:Choice>
        <mc:Fallback xmlns="">
          <p:sp>
            <p:nvSpPr>
              <p:cNvPr id="55" name="Rectangle 54">
                <a:extLst>
                  <a:ext uri="{FF2B5EF4-FFF2-40B4-BE49-F238E27FC236}">
                    <a16:creationId xmlns:a16="http://schemas.microsoft.com/office/drawing/2014/main" id="{63C52EFB-95C8-1442-AD98-D2F8E7305A32}"/>
                  </a:ext>
                </a:extLst>
              </p:cNvPr>
              <p:cNvSpPr>
                <a:spLocks noRot="1" noChangeAspect="1" noMove="1" noResize="1" noEditPoints="1" noAdjustHandles="1" noChangeArrowheads="1" noChangeShapeType="1" noTextEdit="1"/>
              </p:cNvSpPr>
              <p:nvPr/>
            </p:nvSpPr>
            <p:spPr>
              <a:xfrm>
                <a:off x="1298527" y="1207055"/>
                <a:ext cx="410689" cy="430887"/>
              </a:xfrm>
              <a:prstGeom prst="rect">
                <a:avLst/>
              </a:prstGeom>
              <a:blipFill>
                <a:blip r:embed="rId8"/>
                <a:stretch>
                  <a:fillRect b="-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14A33933-05AF-F041-AA19-EA55886B4AE1}"/>
                  </a:ext>
                </a:extLst>
              </p:cNvPr>
              <p:cNvSpPr/>
              <p:nvPr/>
            </p:nvSpPr>
            <p:spPr>
              <a:xfrm>
                <a:off x="3255853" y="2027893"/>
                <a:ext cx="63735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400" b="0" i="1" smtClean="0">
                              <a:latin typeface="Cambria Math" panose="02040503050406030204" pitchFamily="18" charset="0"/>
                              <a:ea typeface="Times New Roman" panose="02020603050405020304" pitchFamily="18" charset="0"/>
                              <a:cs typeface="Times New Roman" panose="02020603050405020304" pitchFamily="18" charset="0"/>
                            </a:rPr>
                            <m:t>𝑣</m:t>
                          </m:r>
                        </m:e>
                      </m:d>
                    </m:oMath>
                  </m:oMathPara>
                </a14:m>
                <a:endParaRPr lang="en-US" sz="2200" dirty="0">
                  <a:solidFill>
                    <a:schemeClr val="bg1">
                      <a:lumMod val="50000"/>
                    </a:schemeClr>
                  </a:solidFill>
                </a:endParaRPr>
              </a:p>
            </p:txBody>
          </p:sp>
        </mc:Choice>
        <mc:Fallback xmlns="">
          <p:sp>
            <p:nvSpPr>
              <p:cNvPr id="56" name="Rectangle 55">
                <a:extLst>
                  <a:ext uri="{FF2B5EF4-FFF2-40B4-BE49-F238E27FC236}">
                    <a16:creationId xmlns:a16="http://schemas.microsoft.com/office/drawing/2014/main" id="{14A33933-05AF-F041-AA19-EA55886B4AE1}"/>
                  </a:ext>
                </a:extLst>
              </p:cNvPr>
              <p:cNvSpPr>
                <a:spLocks noRot="1" noChangeAspect="1" noMove="1" noResize="1" noEditPoints="1" noAdjustHandles="1" noChangeArrowheads="1" noChangeShapeType="1" noTextEdit="1"/>
              </p:cNvSpPr>
              <p:nvPr/>
            </p:nvSpPr>
            <p:spPr>
              <a:xfrm>
                <a:off x="3255853" y="2027893"/>
                <a:ext cx="637354" cy="461665"/>
              </a:xfrm>
              <a:prstGeom prst="rect">
                <a:avLst/>
              </a:prstGeom>
              <a:blipFill>
                <a:blip r:embed="rId9"/>
                <a:stretch>
                  <a:fillRect/>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A8268C35-BDA8-A445-8FA2-B2ADC36EBB12}"/>
              </a:ext>
            </a:extLst>
          </p:cNvPr>
          <p:cNvCxnSpPr>
            <a:cxnSpLocks/>
          </p:cNvCxnSpPr>
          <p:nvPr/>
        </p:nvCxnSpPr>
        <p:spPr>
          <a:xfrm>
            <a:off x="1802281" y="3964570"/>
            <a:ext cx="2160000" cy="1"/>
          </a:xfrm>
          <a:prstGeom prst="straightConnector1">
            <a:avLst/>
          </a:prstGeom>
          <a:ln w="25400">
            <a:solidFill>
              <a:schemeClr val="accent5">
                <a:lumMod val="75000"/>
              </a:schemeClr>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5DACD614-109A-5745-B3AE-7CAAD0CC2F80}"/>
              </a:ext>
            </a:extLst>
          </p:cNvPr>
          <p:cNvCxnSpPr>
            <a:cxnSpLocks/>
          </p:cNvCxnSpPr>
          <p:nvPr/>
        </p:nvCxnSpPr>
        <p:spPr>
          <a:xfrm rot="16200000">
            <a:off x="732124" y="2881305"/>
            <a:ext cx="2160000" cy="1"/>
          </a:xfrm>
          <a:prstGeom prst="straightConnector1">
            <a:avLst/>
          </a:prstGeom>
          <a:ln w="25400">
            <a:solidFill>
              <a:srgbClr val="C00000"/>
            </a:solidFill>
            <a:prstDash val="solid"/>
            <a:headEnd type="ova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8D0703E4-A7D0-6D4F-B033-EF78A0E6134A}"/>
                  </a:ext>
                </a:extLst>
              </p:cNvPr>
              <p:cNvSpPr/>
              <p:nvPr/>
            </p:nvSpPr>
            <p:spPr>
              <a:xfrm>
                <a:off x="3388265" y="3963570"/>
                <a:ext cx="60266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FF"/>
                                  </a:solidFill>
                                  <a:latin typeface="Cambria Math" panose="02040503050406030204" pitchFamily="18" charset="0"/>
                                </a:rPr>
                              </m:ctrlPr>
                            </m:sSubPr>
                            <m:e>
                              <m:r>
                                <a:rPr lang="en-US" b="0" i="1">
                                  <a:solidFill>
                                    <a:srgbClr val="0000FF"/>
                                  </a:solidFill>
                                  <a:latin typeface="Cambria Math" panose="02040503050406030204" pitchFamily="18" charset="0"/>
                                </a:rPr>
                                <m:t>𝑒</m:t>
                              </m:r>
                            </m:e>
                            <m:sub>
                              <m:r>
                                <a:rPr lang="en-US" b="0" i="1">
                                  <a:solidFill>
                                    <a:srgbClr val="0000FF"/>
                                  </a:solidFill>
                                  <a:latin typeface="Cambria Math" panose="02040503050406030204" pitchFamily="18" charset="0"/>
                                </a:rPr>
                                <m:t>1</m:t>
                              </m:r>
                            </m:sub>
                          </m:sSub>
                        </m:e>
                      </m:d>
                    </m:oMath>
                  </m:oMathPara>
                </a14:m>
                <a:endParaRPr lang="en-US" dirty="0">
                  <a:solidFill>
                    <a:schemeClr val="bg1">
                      <a:lumMod val="50000"/>
                    </a:schemeClr>
                  </a:solidFill>
                </a:endParaRPr>
              </a:p>
            </p:txBody>
          </p:sp>
        </mc:Choice>
        <mc:Fallback xmlns="">
          <p:sp>
            <p:nvSpPr>
              <p:cNvPr id="41" name="Rectangle 40">
                <a:extLst>
                  <a:ext uri="{FF2B5EF4-FFF2-40B4-BE49-F238E27FC236}">
                    <a16:creationId xmlns:a16="http://schemas.microsoft.com/office/drawing/2014/main" id="{8D0703E4-A7D0-6D4F-B033-EF78A0E6134A}"/>
                  </a:ext>
                </a:extLst>
              </p:cNvPr>
              <p:cNvSpPr>
                <a:spLocks noRot="1" noChangeAspect="1" noMove="1" noResize="1" noEditPoints="1" noAdjustHandles="1" noChangeArrowheads="1" noChangeShapeType="1" noTextEdit="1"/>
              </p:cNvSpPr>
              <p:nvPr/>
            </p:nvSpPr>
            <p:spPr>
              <a:xfrm>
                <a:off x="3388265" y="3963570"/>
                <a:ext cx="602665" cy="369332"/>
              </a:xfrm>
              <a:prstGeom prst="rect">
                <a:avLst/>
              </a:prstGeom>
              <a:blipFill>
                <a:blip r:embed="rId10"/>
                <a:stretch>
                  <a:fillRect/>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44217760-3C0B-EF43-84EA-B33A887DE84F}"/>
              </a:ext>
            </a:extLst>
          </p:cNvPr>
          <p:cNvGrpSpPr/>
          <p:nvPr/>
        </p:nvGrpSpPr>
        <p:grpSpPr>
          <a:xfrm>
            <a:off x="0" y="1281217"/>
            <a:ext cx="11414234" cy="3225547"/>
            <a:chOff x="0" y="1281217"/>
            <a:chExt cx="11414234" cy="3225547"/>
          </a:xfrm>
        </p:grpSpPr>
        <mc:AlternateContent xmlns:mc="http://schemas.openxmlformats.org/markup-compatibility/2006" xmlns:a14="http://schemas.microsoft.com/office/drawing/2010/main">
          <mc:Choice Requires="a14">
            <p:sp>
              <p:nvSpPr>
                <p:cNvPr id="62" name="Rectangle 61">
                  <a:extLst>
                    <a:ext uri="{FF2B5EF4-FFF2-40B4-BE49-F238E27FC236}">
                      <a16:creationId xmlns:a16="http://schemas.microsoft.com/office/drawing/2014/main" id="{848F0C9D-8DD1-D441-AAC8-38B4F0E8A837}"/>
                    </a:ext>
                  </a:extLst>
                </p:cNvPr>
                <p:cNvSpPr/>
                <p:nvPr/>
              </p:nvSpPr>
              <p:spPr>
                <a:xfrm>
                  <a:off x="1682628" y="1470606"/>
                  <a:ext cx="81567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000" b="0" i="1" smtClean="0">
                                <a:solidFill>
                                  <a:schemeClr val="tx1"/>
                                </a:solidFill>
                                <a:latin typeface="Cambria Math" panose="02040503050406030204" pitchFamily="18" charset="0"/>
                                <a:ea typeface="Cambria Math" panose="02040503050406030204" pitchFamily="18" charset="0"/>
                              </a:rPr>
                            </m:ctrlPr>
                          </m:funcPr>
                          <m:fName>
                            <m:r>
                              <a:rPr lang="en-US" sz="2000" b="0" i="1" smtClean="0">
                                <a:solidFill>
                                  <a:schemeClr val="tx1"/>
                                </a:solidFill>
                                <a:latin typeface="Cambria Math" panose="02040503050406030204" pitchFamily="18" charset="0"/>
                                <a:ea typeface="Cambria Math" panose="02040503050406030204" pitchFamily="18" charset="0"/>
                              </a:rPr>
                              <m:t>𝑐𝑜𝑠</m:t>
                            </m:r>
                          </m:fName>
                          <m:e>
                            <m:r>
                              <a:rPr lang="en-US" sz="2000" i="1">
                                <a:solidFill>
                                  <a:schemeClr val="tx1"/>
                                </a:solidFill>
                                <a:latin typeface="Cambria Math" panose="02040503050406030204" pitchFamily="18" charset="0"/>
                                <a:ea typeface="Cambria Math" panose="02040503050406030204" pitchFamily="18" charset="0"/>
                              </a:rPr>
                              <m:t>𝜃</m:t>
                            </m:r>
                          </m:e>
                        </m:func>
                      </m:oMath>
                    </m:oMathPara>
                  </a14:m>
                  <a:endParaRPr lang="en-US" sz="2000" dirty="0">
                    <a:solidFill>
                      <a:schemeClr val="tx1"/>
                    </a:solidFill>
                  </a:endParaRPr>
                </a:p>
              </p:txBody>
            </p:sp>
          </mc:Choice>
          <mc:Fallback xmlns="">
            <p:sp>
              <p:nvSpPr>
                <p:cNvPr id="62" name="Rectangle 61">
                  <a:extLst>
                    <a:ext uri="{FF2B5EF4-FFF2-40B4-BE49-F238E27FC236}">
                      <a16:creationId xmlns:a16="http://schemas.microsoft.com/office/drawing/2014/main" id="{848F0C9D-8DD1-D441-AAC8-38B4F0E8A837}"/>
                    </a:ext>
                  </a:extLst>
                </p:cNvPr>
                <p:cNvSpPr>
                  <a:spLocks noRot="1" noChangeAspect="1" noMove="1" noResize="1" noEditPoints="1" noAdjustHandles="1" noChangeArrowheads="1" noChangeShapeType="1" noTextEdit="1"/>
                </p:cNvSpPr>
                <p:nvPr/>
              </p:nvSpPr>
              <p:spPr>
                <a:xfrm>
                  <a:off x="1682628" y="1470606"/>
                  <a:ext cx="815673" cy="400110"/>
                </a:xfrm>
                <a:prstGeom prst="rect">
                  <a:avLst/>
                </a:prstGeom>
                <a:blipFill>
                  <a:blip r:embed="rId11"/>
                  <a:stretch>
                    <a:fillRect/>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BD25666C-8932-E945-A1CC-CA7B7D0EF60D}"/>
                </a:ext>
              </a:extLst>
            </p:cNvPr>
            <p:cNvGrpSpPr/>
            <p:nvPr/>
          </p:nvGrpSpPr>
          <p:grpSpPr>
            <a:xfrm>
              <a:off x="0" y="1281217"/>
              <a:ext cx="11414234" cy="3225547"/>
              <a:chOff x="0" y="1281217"/>
              <a:chExt cx="11414234" cy="3225547"/>
            </a:xfrm>
          </p:grpSpPr>
          <mc:AlternateContent xmlns:mc="http://schemas.openxmlformats.org/markup-compatibility/2006" xmlns:a14="http://schemas.microsoft.com/office/drawing/2010/main">
            <mc:Choice Requires="a14">
              <p:sp>
                <p:nvSpPr>
                  <p:cNvPr id="76" name="Rectangle 75">
                    <a:extLst>
                      <a:ext uri="{FF2B5EF4-FFF2-40B4-BE49-F238E27FC236}">
                        <a16:creationId xmlns:a16="http://schemas.microsoft.com/office/drawing/2014/main" id="{0BF85D73-33DA-5944-93E5-C2C2D0121D71}"/>
                      </a:ext>
                    </a:extLst>
                  </p:cNvPr>
                  <p:cNvSpPr/>
                  <p:nvPr/>
                </p:nvSpPr>
                <p:spPr>
                  <a:xfrm>
                    <a:off x="5105217" y="1281217"/>
                    <a:ext cx="6309017" cy="659924"/>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d>
                            <m:dPr>
                              <m:begChr m:val="|"/>
                              <m:endChr m:val="⟩"/>
                              <m:ctrlPr>
                                <a:rPr lang="en-US" sz="2200"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2200" i="1">
                                      <a:solidFill>
                                        <a:srgbClr val="0000FF"/>
                                      </a:solidFill>
                                      <a:latin typeface="Cambria Math" panose="02040503050406030204" pitchFamily="18" charset="0"/>
                                    </a:rPr>
                                  </m:ctrlPr>
                                </m:sSubPr>
                                <m:e>
                                  <m:r>
                                    <a:rPr lang="en-US" sz="2200" i="1">
                                      <a:solidFill>
                                        <a:srgbClr val="0000FF"/>
                                      </a:solidFill>
                                      <a:latin typeface="Cambria Math" panose="02040503050406030204" pitchFamily="18" charset="0"/>
                                    </a:rPr>
                                    <m:t>𝑒</m:t>
                                  </m:r>
                                </m:e>
                                <m:sub>
                                  <m:r>
                                    <a:rPr lang="en-US" sz="2200" i="1">
                                      <a:solidFill>
                                        <a:srgbClr val="0000FF"/>
                                      </a:solidFill>
                                      <a:latin typeface="Cambria Math" panose="02040503050406030204" pitchFamily="18" charset="0"/>
                                    </a:rPr>
                                    <m:t>1</m:t>
                                  </m:r>
                                </m:sub>
                              </m:sSub>
                            </m:e>
                          </m:d>
                          <m:r>
                            <a:rPr lang="sr-Latn-RS" sz="2200" b="1" i="1" smtClean="0">
                              <a:solidFill>
                                <a:srgbClr val="0000FF"/>
                              </a:solidFill>
                              <a:latin typeface="Cambria Math" panose="02040503050406030204" pitchFamily="18" charset="0"/>
                            </a:rPr>
                            <m:t>=</m:t>
                          </m:r>
                          <m:d>
                            <m:dPr>
                              <m:ctrlPr>
                                <a:rPr lang="en-US" sz="2200" b="1" i="1" smtClean="0">
                                  <a:solidFill>
                                    <a:srgbClr val="0000FF"/>
                                  </a:solidFill>
                                  <a:latin typeface="Cambria Math" panose="02040503050406030204" pitchFamily="18" charset="0"/>
                                </a:rPr>
                              </m:ctrlPr>
                            </m:dPr>
                            <m:e>
                              <m:m>
                                <m:mPr>
                                  <m:mcs>
                                    <m:mc>
                                      <m:mcPr>
                                        <m:count m:val="1"/>
                                        <m:mcJc m:val="center"/>
                                      </m:mcPr>
                                    </m:mc>
                                  </m:mcs>
                                  <m:ctrlPr>
                                    <a:rPr lang="en-US" sz="2200" b="1" i="1">
                                      <a:solidFill>
                                        <a:srgbClr val="0000FF"/>
                                      </a:solidFill>
                                      <a:latin typeface="Cambria Math" panose="02040503050406030204" pitchFamily="18" charset="0"/>
                                    </a:rPr>
                                  </m:ctrlPr>
                                </m:mPr>
                                <m:mr>
                                  <m:e>
                                    <m:r>
                                      <a:rPr lang="en-US" sz="2200" i="1">
                                        <a:solidFill>
                                          <a:srgbClr val="0000FF"/>
                                        </a:solidFill>
                                        <a:latin typeface="Cambria Math" panose="02040503050406030204" pitchFamily="18" charset="0"/>
                                      </a:rPr>
                                      <m:t>1</m:t>
                                    </m:r>
                                  </m:e>
                                </m:mr>
                                <m:mr>
                                  <m:e>
                                    <m:r>
                                      <a:rPr lang="en-US" sz="2200" i="1">
                                        <a:solidFill>
                                          <a:srgbClr val="0000FF"/>
                                        </a:solidFill>
                                        <a:latin typeface="Cambria Math" panose="02040503050406030204" pitchFamily="18" charset="0"/>
                                      </a:rPr>
                                      <m:t>0</m:t>
                                    </m:r>
                                  </m:e>
                                </m:mr>
                              </m:m>
                            </m:e>
                          </m:d>
                          <m:r>
                            <a:rPr lang="en-US" sz="2200" b="1" i="1" smtClean="0">
                              <a:solidFill>
                                <a:schemeClr val="tx1"/>
                              </a:solidFill>
                              <a:latin typeface="Cambria Math" panose="02040503050406030204" pitchFamily="18" charset="0"/>
                              <a:ea typeface="Cambria Math" panose="02040503050406030204" pitchFamily="18" charset="0"/>
                            </a:rPr>
                            <m:t>⟶</m:t>
                          </m:r>
                          <m:d>
                            <m:dPr>
                              <m:ctrlPr>
                                <a:rPr lang="en-US" sz="2200" b="1" i="1" smtClean="0">
                                  <a:solidFill>
                                    <a:srgbClr val="0000FF"/>
                                  </a:solidFill>
                                  <a:latin typeface="Cambria Math" panose="02040503050406030204" pitchFamily="18" charset="0"/>
                                </a:rPr>
                              </m:ctrlPr>
                            </m:dPr>
                            <m:e>
                              <m:m>
                                <m:mPr>
                                  <m:mcs>
                                    <m:mc>
                                      <m:mcPr>
                                        <m:count m:val="1"/>
                                        <m:mcJc m:val="center"/>
                                      </m:mcPr>
                                    </m:mc>
                                  </m:mcs>
                                  <m:ctrlPr>
                                    <a:rPr lang="en-US" sz="2200" b="1" i="1">
                                      <a:solidFill>
                                        <a:srgbClr val="0000FF"/>
                                      </a:solidFill>
                                      <a:latin typeface="Cambria Math" panose="02040503050406030204" pitchFamily="18" charset="0"/>
                                    </a:rPr>
                                  </m:ctrlPr>
                                </m:mPr>
                                <m:mr>
                                  <m:e>
                                    <m:func>
                                      <m:funcPr>
                                        <m:ctrlPr>
                                          <a:rPr lang="en-US" sz="2200" i="1">
                                            <a:solidFill>
                                              <a:srgbClr val="0000FF"/>
                                            </a:solidFill>
                                            <a:latin typeface="Cambria Math" panose="02040503050406030204" pitchFamily="18" charset="0"/>
                                            <a:ea typeface="Cambria Math" panose="02040503050406030204" pitchFamily="18" charset="0"/>
                                          </a:rPr>
                                        </m:ctrlPr>
                                      </m:funcPr>
                                      <m:fName>
                                        <m:r>
                                          <a:rPr lang="en-US" sz="2200" i="1">
                                            <a:solidFill>
                                              <a:srgbClr val="0000FF"/>
                                            </a:solidFill>
                                            <a:latin typeface="Cambria Math" panose="02040503050406030204" pitchFamily="18" charset="0"/>
                                            <a:ea typeface="Cambria Math" panose="02040503050406030204" pitchFamily="18" charset="0"/>
                                          </a:rPr>
                                          <m:t>𝑐𝑜𝑠</m:t>
                                        </m:r>
                                      </m:fName>
                                      <m:e>
                                        <m:r>
                                          <a:rPr lang="en-US" sz="2200" i="1">
                                            <a:solidFill>
                                              <a:srgbClr val="0000FF"/>
                                            </a:solidFill>
                                            <a:latin typeface="Cambria Math" panose="02040503050406030204" pitchFamily="18" charset="0"/>
                                            <a:ea typeface="Cambria Math" panose="02040503050406030204" pitchFamily="18" charset="0"/>
                                          </a:rPr>
                                          <m:t>𝜃</m:t>
                                        </m:r>
                                      </m:e>
                                    </m:func>
                                  </m:e>
                                </m:mr>
                                <m:mr>
                                  <m:e>
                                    <m:func>
                                      <m:funcPr>
                                        <m:ctrlPr>
                                          <a:rPr lang="en-US" sz="2200" i="1">
                                            <a:solidFill>
                                              <a:srgbClr val="0000FF"/>
                                            </a:solidFill>
                                            <a:latin typeface="Cambria Math" panose="02040503050406030204" pitchFamily="18" charset="0"/>
                                            <a:ea typeface="Cambria Math" panose="02040503050406030204" pitchFamily="18" charset="0"/>
                                          </a:rPr>
                                        </m:ctrlPr>
                                      </m:funcPr>
                                      <m:fName>
                                        <m:r>
                                          <a:rPr lang="en-US" sz="2200" i="1">
                                            <a:solidFill>
                                              <a:srgbClr val="0000FF"/>
                                            </a:solidFill>
                                            <a:latin typeface="Cambria Math" panose="02040503050406030204" pitchFamily="18" charset="0"/>
                                            <a:ea typeface="Cambria Math" panose="02040503050406030204" pitchFamily="18" charset="0"/>
                                          </a:rPr>
                                          <m:t>𝑠𝑖𝑛</m:t>
                                        </m:r>
                                      </m:fName>
                                      <m:e>
                                        <m:r>
                                          <a:rPr lang="en-US" sz="2200" i="1">
                                            <a:solidFill>
                                              <a:srgbClr val="0000FF"/>
                                            </a:solidFill>
                                            <a:latin typeface="Cambria Math" panose="02040503050406030204" pitchFamily="18" charset="0"/>
                                            <a:ea typeface="Cambria Math" panose="02040503050406030204" pitchFamily="18" charset="0"/>
                                          </a:rPr>
                                          <m:t>𝜃</m:t>
                                        </m:r>
                                      </m:e>
                                    </m:func>
                                  </m:e>
                                </m:mr>
                              </m:m>
                            </m:e>
                          </m:d>
                          <m:r>
                            <a:rPr lang="en-US" sz="2200" b="1" i="1" smtClean="0">
                              <a:solidFill>
                                <a:schemeClr val="tx1"/>
                              </a:solidFill>
                              <a:latin typeface="Cambria Math" panose="02040503050406030204" pitchFamily="18" charset="0"/>
                              <a:ea typeface="Cambria Math" panose="02040503050406030204" pitchFamily="18" charset="0"/>
                            </a:rPr>
                            <m:t>, </m:t>
                          </m:r>
                          <m:sSub>
                            <m:sSubPr>
                              <m:ctrlPr>
                                <a:rPr lang="en-US" sz="2200" i="1" smtClean="0">
                                  <a:solidFill>
                                    <a:srgbClr val="FF0000"/>
                                  </a:solidFill>
                                  <a:latin typeface="Cambria Math" panose="02040503050406030204" pitchFamily="18" charset="0"/>
                                </a:rPr>
                              </m:ctrlPr>
                            </m:sSubPr>
                            <m:e>
                              <m:r>
                                <a:rPr lang="en-US" sz="2200" b="0" i="1" smtClean="0">
                                  <a:solidFill>
                                    <a:srgbClr val="FF0000"/>
                                  </a:solidFill>
                                  <a:latin typeface="Cambria Math" panose="02040503050406030204" pitchFamily="18" charset="0"/>
                                </a:rPr>
                                <m:t>     </m:t>
                              </m:r>
                              <m:r>
                                <a:rPr lang="en-US" sz="2200" i="1">
                                  <a:solidFill>
                                    <a:srgbClr val="FF0000"/>
                                  </a:solidFill>
                                  <a:latin typeface="Cambria Math" panose="02040503050406030204" pitchFamily="18" charset="0"/>
                                </a:rPr>
                                <m:t>𝑒</m:t>
                              </m:r>
                            </m:e>
                            <m:sub>
                              <m:r>
                                <a:rPr lang="en-US" sz="2200" b="0" i="1" smtClean="0">
                                  <a:solidFill>
                                    <a:srgbClr val="FF0000"/>
                                  </a:solidFill>
                                  <a:latin typeface="Cambria Math" panose="02040503050406030204" pitchFamily="18" charset="0"/>
                                </a:rPr>
                                <m:t>2</m:t>
                              </m:r>
                            </m:sub>
                          </m:sSub>
                          <m:r>
                            <a:rPr lang="en-US" sz="2200" b="0" i="0" smtClean="0">
                              <a:solidFill>
                                <a:srgbClr val="FF0000"/>
                              </a:solidFill>
                              <a:latin typeface="Cambria Math" panose="02040503050406030204" pitchFamily="18" charset="0"/>
                            </a:rPr>
                            <m:t>=</m:t>
                          </m:r>
                          <m:d>
                            <m:dPr>
                              <m:ctrlPr>
                                <a:rPr lang="en-US" sz="2200" i="1" smtClean="0">
                                  <a:solidFill>
                                    <a:srgbClr val="FF0000"/>
                                  </a:solidFill>
                                  <a:latin typeface="Cambria Math" panose="02040503050406030204" pitchFamily="18" charset="0"/>
                                </a:rPr>
                              </m:ctrlPr>
                            </m:dPr>
                            <m:e>
                              <m:m>
                                <m:mPr>
                                  <m:mcs>
                                    <m:mc>
                                      <m:mcPr>
                                        <m:count m:val="1"/>
                                        <m:mcJc m:val="center"/>
                                      </m:mcPr>
                                    </m:mc>
                                  </m:mcs>
                                  <m:ctrlPr>
                                    <a:rPr lang="en-US" sz="2200" i="1">
                                      <a:solidFill>
                                        <a:srgbClr val="FF0000"/>
                                      </a:solidFill>
                                      <a:latin typeface="Cambria Math" panose="02040503050406030204" pitchFamily="18" charset="0"/>
                                    </a:rPr>
                                  </m:ctrlPr>
                                </m:mPr>
                                <m:mr>
                                  <m:e>
                                    <m:r>
                                      <m:rPr>
                                        <m:brk m:alnAt="7"/>
                                      </m:rPr>
                                      <a:rPr lang="en-US" sz="2200" i="1">
                                        <a:solidFill>
                                          <a:srgbClr val="FF0000"/>
                                        </a:solidFill>
                                        <a:latin typeface="Cambria Math" panose="02040503050406030204" pitchFamily="18" charset="0"/>
                                      </a:rPr>
                                      <m:t>0</m:t>
                                    </m:r>
                                  </m:e>
                                </m:mr>
                                <m:mr>
                                  <m:e>
                                    <m:r>
                                      <a:rPr lang="en-US" sz="2200" i="1">
                                        <a:solidFill>
                                          <a:srgbClr val="FF0000"/>
                                        </a:solidFill>
                                        <a:latin typeface="Cambria Math" panose="02040503050406030204" pitchFamily="18" charset="0"/>
                                      </a:rPr>
                                      <m:t>1</m:t>
                                    </m:r>
                                  </m:e>
                                </m:mr>
                              </m:m>
                            </m:e>
                          </m:d>
                          <m:r>
                            <a:rPr lang="en-US" sz="2200" b="1" i="1">
                              <a:latin typeface="Cambria Math" panose="02040503050406030204" pitchFamily="18" charset="0"/>
                              <a:ea typeface="Cambria Math" panose="02040503050406030204" pitchFamily="18" charset="0"/>
                            </a:rPr>
                            <m:t>⟶</m:t>
                          </m:r>
                          <m:d>
                            <m:dPr>
                              <m:ctrlPr>
                                <a:rPr lang="en-US" sz="2200" b="1" i="1" smtClean="0">
                                  <a:solidFill>
                                    <a:srgbClr val="FF0000"/>
                                  </a:solidFill>
                                  <a:latin typeface="Cambria Math" panose="02040503050406030204" pitchFamily="18" charset="0"/>
                                </a:rPr>
                              </m:ctrlPr>
                            </m:dPr>
                            <m:e>
                              <m:m>
                                <m:mPr>
                                  <m:mcs>
                                    <m:mc>
                                      <m:mcPr>
                                        <m:count m:val="1"/>
                                        <m:mcJc m:val="center"/>
                                      </m:mcPr>
                                    </m:mc>
                                  </m:mcs>
                                  <m:ctrlPr>
                                    <a:rPr lang="en-US" sz="2200" b="1" i="1">
                                      <a:solidFill>
                                        <a:srgbClr val="FF0000"/>
                                      </a:solidFill>
                                      <a:latin typeface="Cambria Math" panose="02040503050406030204" pitchFamily="18" charset="0"/>
                                    </a:rPr>
                                  </m:ctrlPr>
                                </m:mPr>
                                <m:mr>
                                  <m:e>
                                    <m:func>
                                      <m:funcPr>
                                        <m:ctrlPr>
                                          <a:rPr lang="en-US" sz="2200" i="1">
                                            <a:solidFill>
                                              <a:srgbClr val="FF0000"/>
                                            </a:solidFill>
                                            <a:latin typeface="Cambria Math" panose="02040503050406030204" pitchFamily="18" charset="0"/>
                                            <a:ea typeface="Cambria Math" panose="02040503050406030204" pitchFamily="18" charset="0"/>
                                          </a:rPr>
                                        </m:ctrlPr>
                                      </m:funcPr>
                                      <m:fName>
                                        <m:r>
                                          <a:rPr lang="en-US" sz="2200" i="1">
                                            <a:solidFill>
                                              <a:srgbClr val="FF0000"/>
                                            </a:solidFill>
                                            <a:latin typeface="Cambria Math" panose="02040503050406030204" pitchFamily="18" charset="0"/>
                                            <a:ea typeface="Cambria Math" panose="02040503050406030204" pitchFamily="18" charset="0"/>
                                          </a:rPr>
                                          <m:t>−</m:t>
                                        </m:r>
                                        <m:r>
                                          <a:rPr lang="en-US" sz="2200" i="1">
                                            <a:solidFill>
                                              <a:srgbClr val="FF0000"/>
                                            </a:solidFill>
                                            <a:latin typeface="Cambria Math" panose="02040503050406030204" pitchFamily="18" charset="0"/>
                                            <a:ea typeface="Cambria Math" panose="02040503050406030204" pitchFamily="18" charset="0"/>
                                          </a:rPr>
                                          <m:t>𝑠𝑖𝑛</m:t>
                                        </m:r>
                                      </m:fName>
                                      <m:e>
                                        <m:r>
                                          <a:rPr lang="en-US" sz="2200" i="1">
                                            <a:solidFill>
                                              <a:srgbClr val="FF0000"/>
                                            </a:solidFill>
                                            <a:latin typeface="Cambria Math" panose="02040503050406030204" pitchFamily="18" charset="0"/>
                                            <a:ea typeface="Cambria Math" panose="02040503050406030204" pitchFamily="18" charset="0"/>
                                          </a:rPr>
                                          <m:t>𝜃</m:t>
                                        </m:r>
                                      </m:e>
                                    </m:func>
                                  </m:e>
                                </m:mr>
                                <m:mr>
                                  <m:e>
                                    <m:func>
                                      <m:funcPr>
                                        <m:ctrlPr>
                                          <a:rPr lang="en-US" sz="2200" i="1">
                                            <a:solidFill>
                                              <a:srgbClr val="FF0000"/>
                                            </a:solidFill>
                                            <a:latin typeface="Cambria Math" panose="02040503050406030204" pitchFamily="18" charset="0"/>
                                            <a:ea typeface="Cambria Math" panose="02040503050406030204" pitchFamily="18" charset="0"/>
                                          </a:rPr>
                                        </m:ctrlPr>
                                      </m:funcPr>
                                      <m:fName>
                                        <m:r>
                                          <a:rPr lang="en-US" sz="2200" i="1">
                                            <a:solidFill>
                                              <a:srgbClr val="FF0000"/>
                                            </a:solidFill>
                                            <a:latin typeface="Cambria Math" panose="02040503050406030204" pitchFamily="18" charset="0"/>
                                            <a:ea typeface="Cambria Math" panose="02040503050406030204" pitchFamily="18" charset="0"/>
                                          </a:rPr>
                                          <m:t>𝑐𝑜𝑠</m:t>
                                        </m:r>
                                      </m:fName>
                                      <m:e>
                                        <m:r>
                                          <a:rPr lang="en-US" sz="2200" i="1">
                                            <a:solidFill>
                                              <a:srgbClr val="FF0000"/>
                                            </a:solidFill>
                                            <a:latin typeface="Cambria Math" panose="02040503050406030204" pitchFamily="18" charset="0"/>
                                            <a:ea typeface="Cambria Math" panose="02040503050406030204" pitchFamily="18" charset="0"/>
                                          </a:rPr>
                                          <m:t>𝜃</m:t>
                                        </m:r>
                                      </m:e>
                                    </m:func>
                                  </m:e>
                                </m:mr>
                              </m:m>
                            </m:e>
                          </m:d>
                        </m:oMath>
                      </m:oMathPara>
                    </a14:m>
                    <a:endParaRPr lang="en-US" sz="2200" dirty="0"/>
                  </a:p>
                </p:txBody>
              </p:sp>
            </mc:Choice>
            <mc:Fallback xmlns="">
              <p:sp>
                <p:nvSpPr>
                  <p:cNvPr id="76" name="Rectangle 75">
                    <a:extLst>
                      <a:ext uri="{FF2B5EF4-FFF2-40B4-BE49-F238E27FC236}">
                        <a16:creationId xmlns:a16="http://schemas.microsoft.com/office/drawing/2014/main" id="{0BF85D73-33DA-5944-93E5-C2C2D0121D71}"/>
                      </a:ext>
                    </a:extLst>
                  </p:cNvPr>
                  <p:cNvSpPr>
                    <a:spLocks noRot="1" noChangeAspect="1" noMove="1" noResize="1" noEditPoints="1" noAdjustHandles="1" noChangeArrowheads="1" noChangeShapeType="1" noTextEdit="1"/>
                  </p:cNvSpPr>
                  <p:nvPr/>
                </p:nvSpPr>
                <p:spPr>
                  <a:xfrm>
                    <a:off x="5105217" y="1281217"/>
                    <a:ext cx="6309017" cy="659924"/>
                  </a:xfrm>
                  <a:prstGeom prst="rect">
                    <a:avLst/>
                  </a:prstGeom>
                  <a:blipFill>
                    <a:blip r:embed="rId12"/>
                    <a:stretch>
                      <a:fillRect b="-5660"/>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9579B51D-51CE-F547-B711-60973603A81E}"/>
                  </a:ext>
                </a:extLst>
              </p:cNvPr>
              <p:cNvGrpSpPr/>
              <p:nvPr/>
            </p:nvGrpSpPr>
            <p:grpSpPr>
              <a:xfrm>
                <a:off x="0" y="1422116"/>
                <a:ext cx="4865418" cy="3084648"/>
                <a:chOff x="0" y="1422116"/>
                <a:chExt cx="4865418" cy="3084648"/>
              </a:xfrm>
            </p:grpSpPr>
            <p:cxnSp>
              <p:nvCxnSpPr>
                <p:cNvPr id="14" name="Straight Arrow Connector 13">
                  <a:extLst>
                    <a:ext uri="{FF2B5EF4-FFF2-40B4-BE49-F238E27FC236}">
                      <a16:creationId xmlns:a16="http://schemas.microsoft.com/office/drawing/2014/main" id="{81BF5B0B-E19C-3744-B92E-682125D188CB}"/>
                    </a:ext>
                  </a:extLst>
                </p:cNvPr>
                <p:cNvCxnSpPr>
                  <a:cxnSpLocks/>
                </p:cNvCxnSpPr>
                <p:nvPr/>
              </p:nvCxnSpPr>
              <p:spPr>
                <a:xfrm rot="20100000" flipV="1">
                  <a:off x="1345854" y="1918104"/>
                  <a:ext cx="0" cy="2160000"/>
                </a:xfrm>
                <a:prstGeom prst="straightConnector1">
                  <a:avLst/>
                </a:prstGeom>
                <a:ln w="25400">
                  <a:solidFill>
                    <a:srgbClr val="FF0000"/>
                  </a:solidFill>
                  <a:round/>
                  <a:tailEnd type="triangle"/>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3DB89949-4B43-054E-A3B6-39742D243D53}"/>
                    </a:ext>
                  </a:extLst>
                </p:cNvPr>
                <p:cNvGrpSpPr/>
                <p:nvPr/>
              </p:nvGrpSpPr>
              <p:grpSpPr>
                <a:xfrm>
                  <a:off x="0" y="1422116"/>
                  <a:ext cx="4865418" cy="3084648"/>
                  <a:chOff x="0" y="1422116"/>
                  <a:chExt cx="4865418" cy="3084648"/>
                </a:xfrm>
              </p:grpSpPr>
              <p:sp>
                <p:nvSpPr>
                  <p:cNvPr id="58" name="Arc 57">
                    <a:extLst>
                      <a:ext uri="{FF2B5EF4-FFF2-40B4-BE49-F238E27FC236}">
                        <a16:creationId xmlns:a16="http://schemas.microsoft.com/office/drawing/2014/main" id="{D6BD8073-8FA6-7349-8EFD-8E46FF16B5D6}"/>
                      </a:ext>
                    </a:extLst>
                  </p:cNvPr>
                  <p:cNvSpPr/>
                  <p:nvPr/>
                </p:nvSpPr>
                <p:spPr>
                  <a:xfrm rot="20792265">
                    <a:off x="2421943" y="3469154"/>
                    <a:ext cx="428364" cy="742651"/>
                  </a:xfrm>
                  <a:prstGeom prst="arc">
                    <a:avLst>
                      <a:gd name="adj1" fmla="val 17909302"/>
                      <a:gd name="adj2" fmla="val 2787789"/>
                    </a:avLst>
                  </a:prstGeom>
                  <a:ln w="25400">
                    <a:solidFill>
                      <a:schemeClr val="bg1">
                        <a:lumMod val="50000"/>
                      </a:schemeClr>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p:sp>
                <p:nvSpPr>
                  <p:cNvPr id="66" name="Arc 65">
                    <a:extLst>
                      <a:ext uri="{FF2B5EF4-FFF2-40B4-BE49-F238E27FC236}">
                        <a16:creationId xmlns:a16="http://schemas.microsoft.com/office/drawing/2014/main" id="{23DCB355-3CB3-644A-97CE-27DC780EE27D}"/>
                      </a:ext>
                    </a:extLst>
                  </p:cNvPr>
                  <p:cNvSpPr/>
                  <p:nvPr/>
                </p:nvSpPr>
                <p:spPr>
                  <a:xfrm rot="14808433">
                    <a:off x="1480056" y="2733651"/>
                    <a:ext cx="428364" cy="742651"/>
                  </a:xfrm>
                  <a:prstGeom prst="arc">
                    <a:avLst>
                      <a:gd name="adj1" fmla="val 17909302"/>
                      <a:gd name="adj2" fmla="val 2787789"/>
                    </a:avLst>
                  </a:prstGeom>
                  <a:ln w="25400">
                    <a:solidFill>
                      <a:schemeClr val="bg1">
                        <a:lumMod val="50000"/>
                      </a:schemeClr>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p:cxnSp>
                <p:nvCxnSpPr>
                  <p:cNvPr id="27" name="Straight Connector 26">
                    <a:extLst>
                      <a:ext uri="{FF2B5EF4-FFF2-40B4-BE49-F238E27FC236}">
                        <a16:creationId xmlns:a16="http://schemas.microsoft.com/office/drawing/2014/main" id="{E2CDB44F-9D6F-CE4A-8453-C574DDB40492}"/>
                      </a:ext>
                    </a:extLst>
                  </p:cNvPr>
                  <p:cNvCxnSpPr>
                    <a:cxnSpLocks/>
                  </p:cNvCxnSpPr>
                  <p:nvPr/>
                </p:nvCxnSpPr>
                <p:spPr>
                  <a:xfrm>
                    <a:off x="907824" y="2027060"/>
                    <a:ext cx="899563"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6F12D7C-B3EC-2944-97D7-B7CE016EE4F7}"/>
                      </a:ext>
                    </a:extLst>
                  </p:cNvPr>
                  <p:cNvCxnSpPr>
                    <a:cxnSpLocks/>
                  </p:cNvCxnSpPr>
                  <p:nvPr/>
                </p:nvCxnSpPr>
                <p:spPr>
                  <a:xfrm>
                    <a:off x="889426" y="2044546"/>
                    <a:ext cx="0" cy="1920024"/>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7403A3D-B30F-4841-94B8-5BAD3FAE4D18}"/>
                      </a:ext>
                    </a:extLst>
                  </p:cNvPr>
                  <p:cNvCxnSpPr>
                    <a:cxnSpLocks/>
                  </p:cNvCxnSpPr>
                  <p:nvPr/>
                </p:nvCxnSpPr>
                <p:spPr>
                  <a:xfrm>
                    <a:off x="3758406" y="3063396"/>
                    <a:ext cx="0" cy="950576"/>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EBFC6A47-675E-D54A-898D-249125D90C53}"/>
                          </a:ext>
                        </a:extLst>
                      </p:cNvPr>
                      <p:cNvSpPr/>
                      <p:nvPr/>
                    </p:nvSpPr>
                    <p:spPr>
                      <a:xfrm>
                        <a:off x="3798266" y="2691969"/>
                        <a:ext cx="1067152" cy="60830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000" b="1" i="1">
                                      <a:latin typeface="Cambria Math" panose="02040503050406030204" pitchFamily="18" charset="0"/>
                                    </a:rPr>
                                  </m:ctrlPr>
                                </m:dPr>
                                <m:e>
                                  <m:m>
                                    <m:mPr>
                                      <m:mcs>
                                        <m:mc>
                                          <m:mcPr>
                                            <m:count m:val="1"/>
                                            <m:mcJc m:val="center"/>
                                          </m:mcPr>
                                        </m:mc>
                                      </m:mcs>
                                      <m:ctrlPr>
                                        <a:rPr lang="en-US" sz="2000" b="1" i="1">
                                          <a:latin typeface="Cambria Math" panose="02040503050406030204" pitchFamily="18" charset="0"/>
                                        </a:rPr>
                                      </m:ctrlPr>
                                    </m:mPr>
                                    <m:mr>
                                      <m:e>
                                        <m:func>
                                          <m:funcPr>
                                            <m:ctrlPr>
                                              <a:rPr lang="en-US" sz="2000" i="1">
                                                <a:latin typeface="Cambria Math" panose="02040503050406030204" pitchFamily="18" charset="0"/>
                                                <a:ea typeface="Cambria Math" panose="02040503050406030204" pitchFamily="18" charset="0"/>
                                              </a:rPr>
                                            </m:ctrlPr>
                                          </m:funcPr>
                                          <m:fName>
                                            <m:r>
                                              <a:rPr lang="en-US" sz="2000" i="1">
                                                <a:latin typeface="Cambria Math" panose="02040503050406030204" pitchFamily="18" charset="0"/>
                                                <a:ea typeface="Cambria Math" panose="02040503050406030204" pitchFamily="18" charset="0"/>
                                              </a:rPr>
                                              <m:t>𝑐𝑜𝑠</m:t>
                                            </m:r>
                                          </m:fName>
                                          <m:e>
                                            <m:r>
                                              <a:rPr lang="en-US" sz="2000" i="1">
                                                <a:latin typeface="Cambria Math" panose="02040503050406030204" pitchFamily="18" charset="0"/>
                                                <a:ea typeface="Cambria Math" panose="02040503050406030204" pitchFamily="18" charset="0"/>
                                              </a:rPr>
                                              <m:t>𝜃</m:t>
                                            </m:r>
                                          </m:e>
                                        </m:func>
                                      </m:e>
                                    </m:mr>
                                    <m:mr>
                                      <m:e>
                                        <m:func>
                                          <m:funcPr>
                                            <m:ctrlPr>
                                              <a:rPr lang="en-US" sz="2000" i="1">
                                                <a:latin typeface="Cambria Math" panose="02040503050406030204" pitchFamily="18" charset="0"/>
                                                <a:ea typeface="Cambria Math" panose="02040503050406030204" pitchFamily="18" charset="0"/>
                                              </a:rPr>
                                            </m:ctrlPr>
                                          </m:funcPr>
                                          <m:fName>
                                            <m:r>
                                              <a:rPr lang="en-US" sz="2000" i="1">
                                                <a:latin typeface="Cambria Math" panose="02040503050406030204" pitchFamily="18" charset="0"/>
                                                <a:ea typeface="Cambria Math" panose="02040503050406030204" pitchFamily="18" charset="0"/>
                                              </a:rPr>
                                              <m:t>𝑠𝑖𝑛</m:t>
                                            </m:r>
                                          </m:fName>
                                          <m:e>
                                            <m:r>
                                              <a:rPr lang="en-US" sz="2000" i="1">
                                                <a:latin typeface="Cambria Math" panose="02040503050406030204" pitchFamily="18" charset="0"/>
                                                <a:ea typeface="Cambria Math" panose="02040503050406030204" pitchFamily="18" charset="0"/>
                                              </a:rPr>
                                              <m:t>𝜃</m:t>
                                            </m:r>
                                          </m:e>
                                        </m:func>
                                      </m:e>
                                    </m:mr>
                                  </m:m>
                                </m:e>
                              </m:d>
                            </m:oMath>
                          </m:oMathPara>
                        </a14:m>
                        <a:endParaRPr lang="en-US" sz="2000" dirty="0"/>
                      </a:p>
                    </p:txBody>
                  </p:sp>
                </mc:Choice>
                <mc:Fallback xmlns="">
                  <p:sp>
                    <p:nvSpPr>
                      <p:cNvPr id="18" name="Rectangle 17">
                        <a:extLst>
                          <a:ext uri="{FF2B5EF4-FFF2-40B4-BE49-F238E27FC236}">
                            <a16:creationId xmlns:a16="http://schemas.microsoft.com/office/drawing/2014/main" id="{EBFC6A47-675E-D54A-898D-249125D90C53}"/>
                          </a:ext>
                        </a:extLst>
                      </p:cNvPr>
                      <p:cNvSpPr>
                        <a:spLocks noRot="1" noChangeAspect="1" noMove="1" noResize="1" noEditPoints="1" noAdjustHandles="1" noChangeArrowheads="1" noChangeShapeType="1" noTextEdit="1"/>
                      </p:cNvSpPr>
                      <p:nvPr/>
                    </p:nvSpPr>
                    <p:spPr>
                      <a:xfrm>
                        <a:off x="3798266" y="2691969"/>
                        <a:ext cx="1067152" cy="608308"/>
                      </a:xfrm>
                      <a:prstGeom prst="rect">
                        <a:avLst/>
                      </a:prstGeom>
                      <a:blipFill>
                        <a:blip r:embed="rId13"/>
                        <a:stretch>
                          <a:fillRect b="-4082"/>
                        </a:stretch>
                      </a:blipFill>
                    </p:spPr>
                    <p:txBody>
                      <a:bodyPr/>
                      <a:lstStyle/>
                      <a:p>
                        <a:r>
                          <a:rPr lang="en-US">
                            <a:noFill/>
                          </a:rPr>
                          <a:t> </a:t>
                        </a:r>
                      </a:p>
                    </p:txBody>
                  </p:sp>
                </mc:Fallback>
              </mc:AlternateContent>
              <p:cxnSp>
                <p:nvCxnSpPr>
                  <p:cNvPr id="64" name="Straight Connector 63">
                    <a:extLst>
                      <a:ext uri="{FF2B5EF4-FFF2-40B4-BE49-F238E27FC236}">
                        <a16:creationId xmlns:a16="http://schemas.microsoft.com/office/drawing/2014/main" id="{A60FFB32-4AFD-C540-8FCB-114F7B1E98EB}"/>
                      </a:ext>
                    </a:extLst>
                  </p:cNvPr>
                  <p:cNvCxnSpPr>
                    <a:cxnSpLocks/>
                  </p:cNvCxnSpPr>
                  <p:nvPr/>
                </p:nvCxnSpPr>
                <p:spPr>
                  <a:xfrm>
                    <a:off x="1807387" y="3063396"/>
                    <a:ext cx="1951019" cy="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B70152DC-0FE9-0049-9C0E-D3369FFD015F}"/>
                      </a:ext>
                    </a:extLst>
                  </p:cNvPr>
                  <p:cNvCxnSpPr>
                    <a:cxnSpLocks/>
                  </p:cNvCxnSpPr>
                  <p:nvPr/>
                </p:nvCxnSpPr>
                <p:spPr>
                  <a:xfrm rot="20100000">
                    <a:off x="1706200" y="3519824"/>
                    <a:ext cx="2160000" cy="0"/>
                  </a:xfrm>
                  <a:prstGeom prst="straightConnector1">
                    <a:avLst/>
                  </a:prstGeom>
                  <a:ln w="25400" cap="rnd">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07CA13F3-3A97-0D45-BF79-5E8EF06F12BA}"/>
                          </a:ext>
                        </a:extLst>
                      </p:cNvPr>
                      <p:cNvSpPr/>
                      <p:nvPr/>
                    </p:nvSpPr>
                    <p:spPr>
                      <a:xfrm>
                        <a:off x="3204059" y="3222363"/>
                        <a:ext cx="60266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0000FF"/>
                                          </a:solidFill>
                                          <a:latin typeface="Cambria Math" panose="02040503050406030204" pitchFamily="18" charset="0"/>
                                        </a:rPr>
                                      </m:ctrlPr>
                                    </m:sSubPr>
                                    <m:e>
                                      <m:r>
                                        <a:rPr lang="en-US" b="0" i="1">
                                          <a:solidFill>
                                            <a:srgbClr val="0000FF"/>
                                          </a:solidFill>
                                          <a:latin typeface="Cambria Math" panose="02040503050406030204" pitchFamily="18" charset="0"/>
                                        </a:rPr>
                                        <m:t>𝑒</m:t>
                                      </m:r>
                                    </m:e>
                                    <m:sub>
                                      <m:r>
                                        <a:rPr lang="en-US" b="0" i="1">
                                          <a:solidFill>
                                            <a:srgbClr val="0000FF"/>
                                          </a:solidFill>
                                          <a:latin typeface="Cambria Math" panose="02040503050406030204" pitchFamily="18" charset="0"/>
                                        </a:rPr>
                                        <m:t>1</m:t>
                                      </m:r>
                                    </m:sub>
                                  </m:sSub>
                                </m:e>
                              </m:d>
                            </m:oMath>
                          </m:oMathPara>
                        </a14:m>
                        <a:endParaRPr lang="en-US" dirty="0">
                          <a:solidFill>
                            <a:schemeClr val="bg1">
                              <a:lumMod val="50000"/>
                            </a:schemeClr>
                          </a:solidFill>
                        </a:endParaRPr>
                      </a:p>
                    </p:txBody>
                  </p:sp>
                </mc:Choice>
                <mc:Fallback xmlns="">
                  <p:sp>
                    <p:nvSpPr>
                      <p:cNvPr id="47" name="Rectangle 46">
                        <a:extLst>
                          <a:ext uri="{FF2B5EF4-FFF2-40B4-BE49-F238E27FC236}">
                            <a16:creationId xmlns:a16="http://schemas.microsoft.com/office/drawing/2014/main" id="{07CA13F3-3A97-0D45-BF79-5E8EF06F12BA}"/>
                          </a:ext>
                        </a:extLst>
                      </p:cNvPr>
                      <p:cNvSpPr>
                        <a:spLocks noRot="1" noChangeAspect="1" noMove="1" noResize="1" noEditPoints="1" noAdjustHandles="1" noChangeArrowheads="1" noChangeShapeType="1" noTextEdit="1"/>
                      </p:cNvSpPr>
                      <p:nvPr/>
                    </p:nvSpPr>
                    <p:spPr>
                      <a:xfrm>
                        <a:off x="3204059" y="3222363"/>
                        <a:ext cx="602664"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Rectangle 47">
                        <a:extLst>
                          <a:ext uri="{FF2B5EF4-FFF2-40B4-BE49-F238E27FC236}">
                            <a16:creationId xmlns:a16="http://schemas.microsoft.com/office/drawing/2014/main" id="{B95A6F7E-9F8A-974A-A1AF-4DA4F4968C93}"/>
                          </a:ext>
                        </a:extLst>
                      </p:cNvPr>
                      <p:cNvSpPr/>
                      <p:nvPr/>
                    </p:nvSpPr>
                    <p:spPr>
                      <a:xfrm>
                        <a:off x="577616" y="2591389"/>
                        <a:ext cx="60798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𝑒</m:t>
                                      </m:r>
                                    </m:e>
                                    <m:sub>
                                      <m:r>
                                        <a:rPr lang="en-US" i="1">
                                          <a:solidFill>
                                            <a:srgbClr val="C00000"/>
                                          </a:solidFill>
                                          <a:latin typeface="Cambria Math" panose="02040503050406030204" pitchFamily="18" charset="0"/>
                                        </a:rPr>
                                        <m:t>2</m:t>
                                      </m:r>
                                    </m:sub>
                                  </m:sSub>
                                </m:e>
                              </m:d>
                            </m:oMath>
                          </m:oMathPara>
                        </a14:m>
                        <a:endParaRPr lang="en-US" dirty="0">
                          <a:solidFill>
                            <a:schemeClr val="bg1">
                              <a:lumMod val="50000"/>
                            </a:schemeClr>
                          </a:solidFill>
                        </a:endParaRPr>
                      </a:p>
                    </p:txBody>
                  </p:sp>
                </mc:Choice>
                <mc:Fallback xmlns="">
                  <p:sp>
                    <p:nvSpPr>
                      <p:cNvPr id="48" name="Rectangle 47">
                        <a:extLst>
                          <a:ext uri="{FF2B5EF4-FFF2-40B4-BE49-F238E27FC236}">
                            <a16:creationId xmlns:a16="http://schemas.microsoft.com/office/drawing/2014/main" id="{B95A6F7E-9F8A-974A-A1AF-4DA4F4968C93}"/>
                          </a:ext>
                        </a:extLst>
                      </p:cNvPr>
                      <p:cNvSpPr>
                        <a:spLocks noRot="1" noChangeAspect="1" noMove="1" noResize="1" noEditPoints="1" noAdjustHandles="1" noChangeArrowheads="1" noChangeShapeType="1" noTextEdit="1"/>
                      </p:cNvSpPr>
                      <p:nvPr/>
                    </p:nvSpPr>
                    <p:spPr>
                      <a:xfrm>
                        <a:off x="577616" y="2591389"/>
                        <a:ext cx="607987"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Rectangle 58">
                        <a:extLst>
                          <a:ext uri="{FF2B5EF4-FFF2-40B4-BE49-F238E27FC236}">
                            <a16:creationId xmlns:a16="http://schemas.microsoft.com/office/drawing/2014/main" id="{B4B14A35-C8A6-C745-8DB0-36711F1C6B7A}"/>
                          </a:ext>
                        </a:extLst>
                      </p:cNvPr>
                      <p:cNvSpPr/>
                      <p:nvPr/>
                    </p:nvSpPr>
                    <p:spPr>
                      <a:xfrm>
                        <a:off x="0" y="1422116"/>
                        <a:ext cx="1232966" cy="60830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000" b="1" i="1">
                                      <a:latin typeface="Cambria Math" panose="02040503050406030204" pitchFamily="18" charset="0"/>
                                    </a:rPr>
                                  </m:ctrlPr>
                                </m:dPr>
                                <m:e>
                                  <m:m>
                                    <m:mPr>
                                      <m:mcs>
                                        <m:mc>
                                          <m:mcPr>
                                            <m:count m:val="1"/>
                                            <m:mcJc m:val="center"/>
                                          </m:mcPr>
                                        </m:mc>
                                      </m:mcs>
                                      <m:ctrlPr>
                                        <a:rPr lang="en-US" sz="2000" b="1" i="1">
                                          <a:latin typeface="Cambria Math" panose="02040503050406030204" pitchFamily="18" charset="0"/>
                                        </a:rPr>
                                      </m:ctrlPr>
                                    </m:mPr>
                                    <m:mr>
                                      <m:e>
                                        <m:func>
                                          <m:funcPr>
                                            <m:ctrlPr>
                                              <a:rPr lang="en-US" sz="2000" i="1">
                                                <a:latin typeface="Cambria Math" panose="02040503050406030204" pitchFamily="18" charset="0"/>
                                                <a:ea typeface="Cambria Math" panose="02040503050406030204" pitchFamily="18" charset="0"/>
                                              </a:rPr>
                                            </m:ctrlPr>
                                          </m:funcPr>
                                          <m:fName>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𝑠𝑖𝑛</m:t>
                                            </m:r>
                                          </m:fName>
                                          <m:e>
                                            <m:r>
                                              <a:rPr lang="en-US" sz="2000" i="1">
                                                <a:latin typeface="Cambria Math" panose="02040503050406030204" pitchFamily="18" charset="0"/>
                                                <a:ea typeface="Cambria Math" panose="02040503050406030204" pitchFamily="18" charset="0"/>
                                              </a:rPr>
                                              <m:t>𝜃</m:t>
                                            </m:r>
                                          </m:e>
                                        </m:func>
                                      </m:e>
                                    </m:mr>
                                    <m:mr>
                                      <m:e>
                                        <m:func>
                                          <m:funcPr>
                                            <m:ctrlPr>
                                              <a:rPr lang="en-US" sz="2000" i="1">
                                                <a:latin typeface="Cambria Math" panose="02040503050406030204" pitchFamily="18" charset="0"/>
                                                <a:ea typeface="Cambria Math" panose="02040503050406030204" pitchFamily="18" charset="0"/>
                                              </a:rPr>
                                            </m:ctrlPr>
                                          </m:funcPr>
                                          <m:fName>
                                            <m:r>
                                              <a:rPr lang="en-US" sz="2000" i="1">
                                                <a:latin typeface="Cambria Math" panose="02040503050406030204" pitchFamily="18" charset="0"/>
                                                <a:ea typeface="Cambria Math" panose="02040503050406030204" pitchFamily="18" charset="0"/>
                                              </a:rPr>
                                              <m:t>𝑐𝑜𝑠</m:t>
                                            </m:r>
                                          </m:fName>
                                          <m:e>
                                            <m:r>
                                              <a:rPr lang="en-US" sz="2000" i="1">
                                                <a:latin typeface="Cambria Math" panose="02040503050406030204" pitchFamily="18" charset="0"/>
                                                <a:ea typeface="Cambria Math" panose="02040503050406030204" pitchFamily="18" charset="0"/>
                                              </a:rPr>
                                              <m:t>𝜃</m:t>
                                            </m:r>
                                          </m:e>
                                        </m:func>
                                      </m:e>
                                    </m:mr>
                                  </m:m>
                                </m:e>
                              </m:d>
                            </m:oMath>
                          </m:oMathPara>
                        </a14:m>
                        <a:endParaRPr lang="en-US" sz="2000" dirty="0"/>
                      </a:p>
                    </p:txBody>
                  </p:sp>
                </mc:Choice>
                <mc:Fallback xmlns="">
                  <p:sp>
                    <p:nvSpPr>
                      <p:cNvPr id="59" name="Rectangle 58">
                        <a:extLst>
                          <a:ext uri="{FF2B5EF4-FFF2-40B4-BE49-F238E27FC236}">
                            <a16:creationId xmlns:a16="http://schemas.microsoft.com/office/drawing/2014/main" id="{B4B14A35-C8A6-C745-8DB0-36711F1C6B7A}"/>
                          </a:ext>
                        </a:extLst>
                      </p:cNvPr>
                      <p:cNvSpPr>
                        <a:spLocks noRot="1" noChangeAspect="1" noMove="1" noResize="1" noEditPoints="1" noAdjustHandles="1" noChangeArrowheads="1" noChangeShapeType="1" noTextEdit="1"/>
                      </p:cNvSpPr>
                      <p:nvPr/>
                    </p:nvSpPr>
                    <p:spPr>
                      <a:xfrm>
                        <a:off x="0" y="1422116"/>
                        <a:ext cx="1232966" cy="608308"/>
                      </a:xfrm>
                      <a:prstGeom prst="rect">
                        <a:avLst/>
                      </a:prstGeom>
                      <a:blipFill>
                        <a:blip r:embed="rId16"/>
                        <a:stretch>
                          <a:fillRect b="-40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Rectangle 59">
                        <a:extLst>
                          <a:ext uri="{FF2B5EF4-FFF2-40B4-BE49-F238E27FC236}">
                            <a16:creationId xmlns:a16="http://schemas.microsoft.com/office/drawing/2014/main" id="{70E03E56-DBAD-1847-9BEA-5F51C7D11985}"/>
                          </a:ext>
                        </a:extLst>
                      </p:cNvPr>
                      <p:cNvSpPr/>
                      <p:nvPr/>
                    </p:nvSpPr>
                    <p:spPr>
                      <a:xfrm>
                        <a:off x="2578808" y="4106654"/>
                        <a:ext cx="815673"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000" b="0" i="1" smtClean="0">
                                      <a:solidFill>
                                        <a:schemeClr val="tx1"/>
                                      </a:solidFill>
                                      <a:latin typeface="Cambria Math" panose="02040503050406030204" pitchFamily="18" charset="0"/>
                                      <a:ea typeface="Cambria Math" panose="02040503050406030204" pitchFamily="18" charset="0"/>
                                    </a:rPr>
                                  </m:ctrlPr>
                                </m:funcPr>
                                <m:fName>
                                  <m:r>
                                    <a:rPr lang="en-US" sz="2000" b="0" i="1" smtClean="0">
                                      <a:solidFill>
                                        <a:schemeClr val="tx1"/>
                                      </a:solidFill>
                                      <a:latin typeface="Cambria Math" panose="02040503050406030204" pitchFamily="18" charset="0"/>
                                      <a:ea typeface="Cambria Math" panose="02040503050406030204" pitchFamily="18" charset="0"/>
                                    </a:rPr>
                                    <m:t>𝑐𝑜𝑠</m:t>
                                  </m:r>
                                </m:fName>
                                <m:e>
                                  <m:r>
                                    <a:rPr lang="en-US" sz="2000" i="1">
                                      <a:solidFill>
                                        <a:schemeClr val="tx1"/>
                                      </a:solidFill>
                                      <a:latin typeface="Cambria Math" panose="02040503050406030204" pitchFamily="18" charset="0"/>
                                      <a:ea typeface="Cambria Math" panose="02040503050406030204" pitchFamily="18" charset="0"/>
                                    </a:rPr>
                                    <m:t>𝜃</m:t>
                                  </m:r>
                                </m:e>
                              </m:func>
                            </m:oMath>
                          </m:oMathPara>
                        </a14:m>
                        <a:endParaRPr lang="en-US" sz="2000" dirty="0">
                          <a:solidFill>
                            <a:schemeClr val="tx1"/>
                          </a:solidFill>
                        </a:endParaRPr>
                      </a:p>
                    </p:txBody>
                  </p:sp>
                </mc:Choice>
                <mc:Fallback xmlns="">
                  <p:sp>
                    <p:nvSpPr>
                      <p:cNvPr id="60" name="Rectangle 59">
                        <a:extLst>
                          <a:ext uri="{FF2B5EF4-FFF2-40B4-BE49-F238E27FC236}">
                            <a16:creationId xmlns:a16="http://schemas.microsoft.com/office/drawing/2014/main" id="{70E03E56-DBAD-1847-9BEA-5F51C7D11985}"/>
                          </a:ext>
                        </a:extLst>
                      </p:cNvPr>
                      <p:cNvSpPr>
                        <a:spLocks noRot="1" noChangeAspect="1" noMove="1" noResize="1" noEditPoints="1" noAdjustHandles="1" noChangeArrowheads="1" noChangeShapeType="1" noTextEdit="1"/>
                      </p:cNvSpPr>
                      <p:nvPr/>
                    </p:nvSpPr>
                    <p:spPr>
                      <a:xfrm>
                        <a:off x="2578808" y="4106654"/>
                        <a:ext cx="815673" cy="400110"/>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Rectangle 60">
                        <a:extLst>
                          <a:ext uri="{FF2B5EF4-FFF2-40B4-BE49-F238E27FC236}">
                            <a16:creationId xmlns:a16="http://schemas.microsoft.com/office/drawing/2014/main" id="{1202F87E-F7E4-8942-A54F-E5EFEFF351D3}"/>
                          </a:ext>
                        </a:extLst>
                      </p:cNvPr>
                      <p:cNvSpPr/>
                      <p:nvPr/>
                    </p:nvSpPr>
                    <p:spPr>
                      <a:xfrm>
                        <a:off x="433815" y="3948181"/>
                        <a:ext cx="98148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unc>
                                <m:funcPr>
                                  <m:ctrlPr>
                                    <a:rPr lang="en-US" sz="2000" b="0" i="1" smtClean="0">
                                      <a:solidFill>
                                        <a:schemeClr val="tx1"/>
                                      </a:solidFill>
                                      <a:latin typeface="Cambria Math" panose="02040503050406030204" pitchFamily="18" charset="0"/>
                                      <a:ea typeface="Cambria Math" panose="02040503050406030204" pitchFamily="18" charset="0"/>
                                    </a:rPr>
                                  </m:ctrlPr>
                                </m:funcPr>
                                <m:fName>
                                  <m:r>
                                    <a:rPr lang="en-US" sz="2000" b="0" i="1" smtClean="0">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𝑠𝑖𝑛</m:t>
                                  </m:r>
                                </m:fName>
                                <m:e>
                                  <m:r>
                                    <a:rPr lang="en-US" sz="2000" i="1">
                                      <a:solidFill>
                                        <a:schemeClr val="tx1"/>
                                      </a:solidFill>
                                      <a:latin typeface="Cambria Math" panose="02040503050406030204" pitchFamily="18" charset="0"/>
                                      <a:ea typeface="Cambria Math" panose="02040503050406030204" pitchFamily="18" charset="0"/>
                                    </a:rPr>
                                    <m:t>𝜃</m:t>
                                  </m:r>
                                </m:e>
                              </m:func>
                            </m:oMath>
                          </m:oMathPara>
                        </a14:m>
                        <a:endParaRPr lang="en-US" sz="2000" dirty="0">
                          <a:solidFill>
                            <a:schemeClr val="tx1"/>
                          </a:solidFill>
                        </a:endParaRPr>
                      </a:p>
                    </p:txBody>
                  </p:sp>
                </mc:Choice>
                <mc:Fallback xmlns="">
                  <p:sp>
                    <p:nvSpPr>
                      <p:cNvPr id="61" name="Rectangle 60">
                        <a:extLst>
                          <a:ext uri="{FF2B5EF4-FFF2-40B4-BE49-F238E27FC236}">
                            <a16:creationId xmlns:a16="http://schemas.microsoft.com/office/drawing/2014/main" id="{1202F87E-F7E4-8942-A54F-E5EFEFF351D3}"/>
                          </a:ext>
                        </a:extLst>
                      </p:cNvPr>
                      <p:cNvSpPr>
                        <a:spLocks noRot="1" noChangeAspect="1" noMove="1" noResize="1" noEditPoints="1" noAdjustHandles="1" noChangeArrowheads="1" noChangeShapeType="1" noTextEdit="1"/>
                      </p:cNvSpPr>
                      <p:nvPr/>
                    </p:nvSpPr>
                    <p:spPr>
                      <a:xfrm>
                        <a:off x="433815" y="3948181"/>
                        <a:ext cx="981487" cy="400110"/>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Rectangle 71">
                        <a:extLst>
                          <a:ext uri="{FF2B5EF4-FFF2-40B4-BE49-F238E27FC236}">
                            <a16:creationId xmlns:a16="http://schemas.microsoft.com/office/drawing/2014/main" id="{7137899E-12EA-4546-BBB2-A9C8B8E38916}"/>
                          </a:ext>
                        </a:extLst>
                      </p:cNvPr>
                      <p:cNvSpPr/>
                      <p:nvPr/>
                    </p:nvSpPr>
                    <p:spPr>
                      <a:xfrm>
                        <a:off x="1305711" y="2044504"/>
                        <a:ext cx="60516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i="1">
                                          <a:solidFill>
                                            <a:srgbClr val="C00000"/>
                                          </a:solidFill>
                                          <a:latin typeface="Cambria Math" panose="02040503050406030204" pitchFamily="18" charset="0"/>
                                        </a:rPr>
                                      </m:ctrlPr>
                                    </m:sSubPr>
                                    <m:e>
                                      <m:r>
                                        <a:rPr lang="en-US" i="1">
                                          <a:solidFill>
                                            <a:srgbClr val="C00000"/>
                                          </a:solidFill>
                                          <a:latin typeface="Cambria Math" panose="02040503050406030204" pitchFamily="18" charset="0"/>
                                        </a:rPr>
                                        <m:t>𝑒</m:t>
                                      </m:r>
                                    </m:e>
                                    <m:sub>
                                      <m:r>
                                        <a:rPr lang="en-US" i="1">
                                          <a:solidFill>
                                            <a:srgbClr val="C00000"/>
                                          </a:solidFill>
                                          <a:latin typeface="Cambria Math" panose="02040503050406030204" pitchFamily="18" charset="0"/>
                                        </a:rPr>
                                        <m:t>2</m:t>
                                      </m:r>
                                    </m:sub>
                                  </m:sSub>
                                </m:e>
                              </m:d>
                            </m:oMath>
                          </m:oMathPara>
                        </a14:m>
                        <a:endParaRPr lang="en-US" dirty="0">
                          <a:solidFill>
                            <a:schemeClr val="bg1">
                              <a:lumMod val="50000"/>
                            </a:schemeClr>
                          </a:solidFill>
                        </a:endParaRPr>
                      </a:p>
                    </p:txBody>
                  </p:sp>
                </mc:Choice>
                <mc:Fallback xmlns="">
                  <p:sp>
                    <p:nvSpPr>
                      <p:cNvPr id="72" name="Rectangle 71">
                        <a:extLst>
                          <a:ext uri="{FF2B5EF4-FFF2-40B4-BE49-F238E27FC236}">
                            <a16:creationId xmlns:a16="http://schemas.microsoft.com/office/drawing/2014/main" id="{7137899E-12EA-4546-BBB2-A9C8B8E38916}"/>
                          </a:ext>
                        </a:extLst>
                      </p:cNvPr>
                      <p:cNvSpPr>
                        <a:spLocks noRot="1" noChangeAspect="1" noMove="1" noResize="1" noEditPoints="1" noAdjustHandles="1" noChangeArrowheads="1" noChangeShapeType="1" noTextEdit="1"/>
                      </p:cNvSpPr>
                      <p:nvPr/>
                    </p:nvSpPr>
                    <p:spPr>
                      <a:xfrm>
                        <a:off x="1305711" y="2044504"/>
                        <a:ext cx="605166"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8D18413A-723A-E64F-B70C-32282FCFC2BA}"/>
                          </a:ext>
                        </a:extLst>
                      </p:cNvPr>
                      <p:cNvSpPr/>
                      <p:nvPr/>
                    </p:nvSpPr>
                    <p:spPr>
                      <a:xfrm>
                        <a:off x="2314249" y="3591695"/>
                        <a:ext cx="415755" cy="43088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200" i="1" smtClean="0">
                                  <a:solidFill>
                                    <a:schemeClr val="tx1"/>
                                  </a:solidFill>
                                  <a:latin typeface="Cambria Math" panose="02040503050406030204" pitchFamily="18" charset="0"/>
                                  <a:ea typeface="Cambria Math" panose="02040503050406030204" pitchFamily="18" charset="0"/>
                                </a:rPr>
                                <m:t>𝜃</m:t>
                              </m:r>
                            </m:oMath>
                          </m:oMathPara>
                        </a14:m>
                        <a:endParaRPr lang="en-US" sz="2200" dirty="0">
                          <a:solidFill>
                            <a:schemeClr val="tx1"/>
                          </a:solidFill>
                        </a:endParaRPr>
                      </a:p>
                    </p:txBody>
                  </p:sp>
                </mc:Choice>
                <mc:Fallback xmlns="">
                  <p:sp>
                    <p:nvSpPr>
                      <p:cNvPr id="44" name="Rectangle 43">
                        <a:extLst>
                          <a:ext uri="{FF2B5EF4-FFF2-40B4-BE49-F238E27FC236}">
                            <a16:creationId xmlns:a16="http://schemas.microsoft.com/office/drawing/2014/main" id="{8D18413A-723A-E64F-B70C-32282FCFC2BA}"/>
                          </a:ext>
                        </a:extLst>
                      </p:cNvPr>
                      <p:cNvSpPr>
                        <a:spLocks noRot="1" noChangeAspect="1" noMove="1" noResize="1" noEditPoints="1" noAdjustHandles="1" noChangeArrowheads="1" noChangeShapeType="1" noTextEdit="1"/>
                      </p:cNvSpPr>
                      <p:nvPr/>
                    </p:nvSpPr>
                    <p:spPr>
                      <a:xfrm>
                        <a:off x="2314249" y="3591695"/>
                        <a:ext cx="415755" cy="430887"/>
                      </a:xfrm>
                      <a:prstGeom prst="rect">
                        <a:avLst/>
                      </a:prstGeom>
                      <a:blipFill>
                        <a:blip r:embed="rId20"/>
                        <a:stretch>
                          <a:fillRect/>
                        </a:stretch>
                      </a:blipFill>
                    </p:spPr>
                    <p:txBody>
                      <a:bodyPr/>
                      <a:lstStyle/>
                      <a:p>
                        <a:r>
                          <a:rPr lang="en-US">
                            <a:noFill/>
                          </a:rPr>
                          <a:t> </a:t>
                        </a:r>
                      </a:p>
                    </p:txBody>
                  </p:sp>
                </mc:Fallback>
              </mc:AlternateContent>
            </p:grpSp>
          </p:grpSp>
        </p:grpSp>
      </p:grpSp>
      <p:grpSp>
        <p:nvGrpSpPr>
          <p:cNvPr id="12" name="Group 11">
            <a:extLst>
              <a:ext uri="{FF2B5EF4-FFF2-40B4-BE49-F238E27FC236}">
                <a16:creationId xmlns:a16="http://schemas.microsoft.com/office/drawing/2014/main" id="{05F7F0BE-F8D2-724D-84C0-E58EDDA49388}"/>
              </a:ext>
            </a:extLst>
          </p:cNvPr>
          <p:cNvGrpSpPr/>
          <p:nvPr/>
        </p:nvGrpSpPr>
        <p:grpSpPr>
          <a:xfrm>
            <a:off x="123092" y="5523107"/>
            <a:ext cx="11824127" cy="988859"/>
            <a:chOff x="123092" y="5523107"/>
            <a:chExt cx="11824127" cy="988859"/>
          </a:xfrm>
        </p:grpSpPr>
        <mc:AlternateContent xmlns:mc="http://schemas.openxmlformats.org/markup-compatibility/2006" xmlns:a14="http://schemas.microsoft.com/office/drawing/2010/main">
          <mc:Choice Requires="a14">
            <p:sp>
              <p:nvSpPr>
                <p:cNvPr id="80" name="Rectangle 79">
                  <a:extLst>
                    <a:ext uri="{FF2B5EF4-FFF2-40B4-BE49-F238E27FC236}">
                      <a16:creationId xmlns:a16="http://schemas.microsoft.com/office/drawing/2014/main" id="{ACFA5B09-D80E-7C49-A3E2-0D0F4A4B3087}"/>
                    </a:ext>
                  </a:extLst>
                </p:cNvPr>
                <p:cNvSpPr/>
                <p:nvPr/>
              </p:nvSpPr>
              <p:spPr>
                <a:xfrm>
                  <a:off x="2730004" y="5852042"/>
                  <a:ext cx="7086492" cy="659924"/>
                </a:xfrm>
                <a:prstGeom prst="rect">
                  <a:avLst/>
                </a:prstGeom>
                <a:ln>
                  <a:solidFill>
                    <a:srgbClr val="0070C0"/>
                  </a:solidFill>
                </a:ln>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200" i="1" smtClean="0">
                                <a:latin typeface="Cambria Math" panose="02040503050406030204" pitchFamily="18" charset="0"/>
                              </a:rPr>
                            </m:ctrlPr>
                          </m:sSubPr>
                          <m:e>
                            <m:r>
                              <a:rPr lang="en-US" sz="2200" i="1">
                                <a:latin typeface="Cambria Math" panose="02040503050406030204" pitchFamily="18" charset="0"/>
                              </a:rPr>
                              <m:t>𝑅</m:t>
                            </m:r>
                          </m:e>
                          <m:sub>
                            <m:r>
                              <a:rPr lang="en-US" sz="2200" i="1">
                                <a:latin typeface="Cambria Math" panose="02040503050406030204" pitchFamily="18" charset="0"/>
                              </a:rPr>
                              <m:t>𝜃</m:t>
                            </m:r>
                          </m:sub>
                        </m:sSub>
                        <m:sSubSup>
                          <m:sSubSupPr>
                            <m:ctrlPr>
                              <a:rPr lang="en-US" sz="2200" i="1">
                                <a:latin typeface="Cambria Math" panose="02040503050406030204" pitchFamily="18" charset="0"/>
                              </a:rPr>
                            </m:ctrlPr>
                          </m:sSubSupPr>
                          <m:e>
                            <m:r>
                              <a:rPr lang="en-US" sz="2200" i="1">
                                <a:latin typeface="Cambria Math" panose="02040503050406030204" pitchFamily="18" charset="0"/>
                              </a:rPr>
                              <m:t>𝑅</m:t>
                            </m:r>
                          </m:e>
                          <m:sub>
                            <m:r>
                              <a:rPr lang="en-US" sz="2200" i="1">
                                <a:latin typeface="Cambria Math" panose="02040503050406030204" pitchFamily="18" charset="0"/>
                              </a:rPr>
                              <m:t>𝜃</m:t>
                            </m:r>
                          </m:sub>
                          <m:sup>
                            <m:r>
                              <a:rPr lang="en-US" sz="2200" i="1">
                                <a:latin typeface="Cambria Math" panose="02040503050406030204" pitchFamily="18" charset="0"/>
                              </a:rPr>
                              <m:t>†</m:t>
                            </m:r>
                            <m:r>
                              <m:rPr>
                                <m:nor/>
                              </m:rPr>
                              <a:rPr lang="en-US" sz="2200"/>
                              <m:t> </m:t>
                            </m:r>
                          </m:sup>
                        </m:sSubSup>
                        <m:r>
                          <a:rPr lang="en-US" sz="2200" i="0">
                            <a:latin typeface="Cambria Math" panose="02040503050406030204" pitchFamily="18" charset="0"/>
                          </a:rPr>
                          <m:t>=</m:t>
                        </m:r>
                        <m:d>
                          <m:dPr>
                            <m:ctrlPr>
                              <a:rPr lang="en-US" sz="2200" i="1">
                                <a:latin typeface="Cambria Math" panose="02040503050406030204" pitchFamily="18" charset="0"/>
                                <a:ea typeface="Cambria Math" panose="02040503050406030204" pitchFamily="18" charset="0"/>
                              </a:rPr>
                            </m:ctrlPr>
                          </m:dPr>
                          <m:e>
                            <m:m>
                              <m:mPr>
                                <m:mcs>
                                  <m:mc>
                                    <m:mcPr>
                                      <m:count m:val="2"/>
                                      <m:mcJc m:val="center"/>
                                    </m:mcPr>
                                  </m:mc>
                                </m:mcs>
                                <m:ctrlPr>
                                  <a:rPr lang="en-US" sz="2200" i="1">
                                    <a:latin typeface="Cambria Math" panose="02040503050406030204" pitchFamily="18" charset="0"/>
                                    <a:ea typeface="Cambria Math" panose="02040503050406030204" pitchFamily="18" charset="0"/>
                                  </a:rPr>
                                </m:ctrlPr>
                              </m:mPr>
                              <m:mr>
                                <m:e>
                                  <m:func>
                                    <m:funcPr>
                                      <m:ctrlPr>
                                        <a:rPr lang="en-US" sz="2200" i="1">
                                          <a:solidFill>
                                            <a:srgbClr val="0000FF"/>
                                          </a:solidFill>
                                          <a:latin typeface="Cambria Math" panose="02040503050406030204" pitchFamily="18" charset="0"/>
                                          <a:ea typeface="Cambria Math" panose="02040503050406030204" pitchFamily="18" charset="0"/>
                                        </a:rPr>
                                      </m:ctrlPr>
                                    </m:funcPr>
                                    <m:fName>
                                      <m:r>
                                        <a:rPr lang="en-US" sz="2200" i="1">
                                          <a:solidFill>
                                            <a:srgbClr val="0000FF"/>
                                          </a:solidFill>
                                          <a:latin typeface="Cambria Math" panose="02040503050406030204" pitchFamily="18" charset="0"/>
                                          <a:ea typeface="Cambria Math" panose="02040503050406030204" pitchFamily="18" charset="0"/>
                                        </a:rPr>
                                        <m:t>𝑐𝑜𝑠</m:t>
                                      </m:r>
                                    </m:fName>
                                    <m:e>
                                      <m:r>
                                        <a:rPr lang="en-US" sz="2200" i="1">
                                          <a:solidFill>
                                            <a:srgbClr val="0000FF"/>
                                          </a:solidFill>
                                          <a:latin typeface="Cambria Math" panose="02040503050406030204" pitchFamily="18" charset="0"/>
                                          <a:ea typeface="Cambria Math" panose="02040503050406030204" pitchFamily="18" charset="0"/>
                                        </a:rPr>
                                        <m:t>𝜃</m:t>
                                      </m:r>
                                    </m:e>
                                  </m:func>
                                </m:e>
                                <m:e>
                                  <m:func>
                                    <m:funcPr>
                                      <m:ctrlPr>
                                        <a:rPr lang="en-US" sz="2200" i="1">
                                          <a:solidFill>
                                            <a:srgbClr val="FF0000"/>
                                          </a:solidFill>
                                          <a:latin typeface="Cambria Math" panose="02040503050406030204" pitchFamily="18" charset="0"/>
                                          <a:ea typeface="Cambria Math" panose="02040503050406030204" pitchFamily="18" charset="0"/>
                                        </a:rPr>
                                      </m:ctrlPr>
                                    </m:funcPr>
                                    <m:fName>
                                      <m:r>
                                        <a:rPr lang="en-US" sz="2200" i="1">
                                          <a:solidFill>
                                            <a:srgbClr val="FF0000"/>
                                          </a:solidFill>
                                          <a:latin typeface="Cambria Math" panose="02040503050406030204" pitchFamily="18" charset="0"/>
                                          <a:ea typeface="Cambria Math" panose="02040503050406030204" pitchFamily="18" charset="0"/>
                                        </a:rPr>
                                        <m:t>−</m:t>
                                      </m:r>
                                      <m:r>
                                        <a:rPr lang="en-US" sz="2200" i="1">
                                          <a:solidFill>
                                            <a:srgbClr val="FF0000"/>
                                          </a:solidFill>
                                          <a:latin typeface="Cambria Math" panose="02040503050406030204" pitchFamily="18" charset="0"/>
                                          <a:ea typeface="Cambria Math" panose="02040503050406030204" pitchFamily="18" charset="0"/>
                                        </a:rPr>
                                        <m:t>𝑠𝑖𝑛</m:t>
                                      </m:r>
                                    </m:fName>
                                    <m:e>
                                      <m:r>
                                        <a:rPr lang="en-US" sz="2200" i="1">
                                          <a:solidFill>
                                            <a:srgbClr val="FF0000"/>
                                          </a:solidFill>
                                          <a:latin typeface="Cambria Math" panose="02040503050406030204" pitchFamily="18" charset="0"/>
                                          <a:ea typeface="Cambria Math" panose="02040503050406030204" pitchFamily="18" charset="0"/>
                                        </a:rPr>
                                        <m:t>𝜃</m:t>
                                      </m:r>
                                    </m:e>
                                  </m:func>
                                </m:e>
                              </m:mr>
                              <m:mr>
                                <m:e>
                                  <m:func>
                                    <m:funcPr>
                                      <m:ctrlPr>
                                        <a:rPr lang="en-US" sz="2200" i="1">
                                          <a:solidFill>
                                            <a:srgbClr val="0000FF"/>
                                          </a:solidFill>
                                          <a:latin typeface="Cambria Math" panose="02040503050406030204" pitchFamily="18" charset="0"/>
                                          <a:ea typeface="Cambria Math" panose="02040503050406030204" pitchFamily="18" charset="0"/>
                                        </a:rPr>
                                      </m:ctrlPr>
                                    </m:funcPr>
                                    <m:fName>
                                      <m:r>
                                        <a:rPr lang="en-US" sz="2200" i="1">
                                          <a:solidFill>
                                            <a:srgbClr val="0000FF"/>
                                          </a:solidFill>
                                          <a:latin typeface="Cambria Math" panose="02040503050406030204" pitchFamily="18" charset="0"/>
                                          <a:ea typeface="Cambria Math" panose="02040503050406030204" pitchFamily="18" charset="0"/>
                                        </a:rPr>
                                        <m:t>𝑠𝑖𝑛</m:t>
                                      </m:r>
                                    </m:fName>
                                    <m:e>
                                      <m:r>
                                        <a:rPr lang="en-US" sz="2200" i="1">
                                          <a:solidFill>
                                            <a:srgbClr val="0000FF"/>
                                          </a:solidFill>
                                          <a:latin typeface="Cambria Math" panose="02040503050406030204" pitchFamily="18" charset="0"/>
                                          <a:ea typeface="Cambria Math" panose="02040503050406030204" pitchFamily="18" charset="0"/>
                                        </a:rPr>
                                        <m:t>𝜃</m:t>
                                      </m:r>
                                    </m:e>
                                  </m:func>
                                </m:e>
                                <m:e>
                                  <m:func>
                                    <m:funcPr>
                                      <m:ctrlPr>
                                        <a:rPr lang="en-US" sz="2200" i="1">
                                          <a:solidFill>
                                            <a:srgbClr val="FF0000"/>
                                          </a:solidFill>
                                          <a:latin typeface="Cambria Math" panose="02040503050406030204" pitchFamily="18" charset="0"/>
                                          <a:ea typeface="Cambria Math" panose="02040503050406030204" pitchFamily="18" charset="0"/>
                                        </a:rPr>
                                      </m:ctrlPr>
                                    </m:funcPr>
                                    <m:fName>
                                      <m:r>
                                        <a:rPr lang="en-US" sz="2200" i="1">
                                          <a:solidFill>
                                            <a:srgbClr val="FF0000"/>
                                          </a:solidFill>
                                          <a:latin typeface="Cambria Math" panose="02040503050406030204" pitchFamily="18" charset="0"/>
                                          <a:ea typeface="Cambria Math" panose="02040503050406030204" pitchFamily="18" charset="0"/>
                                        </a:rPr>
                                        <m:t>𝑐𝑜𝑠</m:t>
                                      </m:r>
                                    </m:fName>
                                    <m:e>
                                      <m:r>
                                        <a:rPr lang="en-US" sz="2200" i="1">
                                          <a:solidFill>
                                            <a:srgbClr val="FF0000"/>
                                          </a:solidFill>
                                          <a:latin typeface="Cambria Math" panose="02040503050406030204" pitchFamily="18" charset="0"/>
                                          <a:ea typeface="Cambria Math" panose="02040503050406030204" pitchFamily="18" charset="0"/>
                                        </a:rPr>
                                        <m:t>𝜃</m:t>
                                      </m:r>
                                    </m:e>
                                  </m:func>
                                </m:e>
                              </m:mr>
                            </m:m>
                          </m:e>
                        </m:d>
                        <m:d>
                          <m:dPr>
                            <m:ctrlPr>
                              <a:rPr lang="en-US" sz="2200" i="1">
                                <a:latin typeface="Cambria Math" panose="02040503050406030204" pitchFamily="18" charset="0"/>
                                <a:ea typeface="Cambria Math" panose="02040503050406030204" pitchFamily="18" charset="0"/>
                              </a:rPr>
                            </m:ctrlPr>
                          </m:dPr>
                          <m:e>
                            <m:m>
                              <m:mPr>
                                <m:mcs>
                                  <m:mc>
                                    <m:mcPr>
                                      <m:count m:val="2"/>
                                      <m:mcJc m:val="center"/>
                                    </m:mcPr>
                                  </m:mc>
                                </m:mcs>
                                <m:ctrlPr>
                                  <a:rPr lang="en-US" sz="2200" i="1">
                                    <a:latin typeface="Cambria Math" panose="02040503050406030204" pitchFamily="18" charset="0"/>
                                    <a:ea typeface="Cambria Math" panose="02040503050406030204" pitchFamily="18" charset="0"/>
                                  </a:rPr>
                                </m:ctrlPr>
                              </m:mPr>
                              <m:mr>
                                <m:e>
                                  <m:func>
                                    <m:funcPr>
                                      <m:ctrlPr>
                                        <a:rPr lang="en-US" sz="2200" i="1">
                                          <a:solidFill>
                                            <a:srgbClr val="0000FF"/>
                                          </a:solidFill>
                                          <a:latin typeface="Cambria Math" panose="02040503050406030204" pitchFamily="18" charset="0"/>
                                          <a:ea typeface="Cambria Math" panose="02040503050406030204" pitchFamily="18" charset="0"/>
                                        </a:rPr>
                                      </m:ctrlPr>
                                    </m:funcPr>
                                    <m:fName>
                                      <m:r>
                                        <a:rPr lang="en-US" sz="2200" i="1">
                                          <a:solidFill>
                                            <a:srgbClr val="0000FF"/>
                                          </a:solidFill>
                                          <a:latin typeface="Cambria Math" panose="02040503050406030204" pitchFamily="18" charset="0"/>
                                          <a:ea typeface="Cambria Math" panose="02040503050406030204" pitchFamily="18" charset="0"/>
                                        </a:rPr>
                                        <m:t>𝑐𝑜𝑠</m:t>
                                      </m:r>
                                    </m:fName>
                                    <m:e>
                                      <m:r>
                                        <a:rPr lang="en-US" sz="2200" i="1">
                                          <a:solidFill>
                                            <a:srgbClr val="0000FF"/>
                                          </a:solidFill>
                                          <a:latin typeface="Cambria Math" panose="02040503050406030204" pitchFamily="18" charset="0"/>
                                          <a:ea typeface="Cambria Math" panose="02040503050406030204" pitchFamily="18" charset="0"/>
                                        </a:rPr>
                                        <m:t>𝜃</m:t>
                                      </m:r>
                                    </m:e>
                                  </m:func>
                                </m:e>
                                <m:e>
                                  <m:func>
                                    <m:funcPr>
                                      <m:ctrlPr>
                                        <a:rPr lang="en-US" sz="2200" i="1">
                                          <a:solidFill>
                                            <a:srgbClr val="0000FF"/>
                                          </a:solidFill>
                                          <a:latin typeface="Cambria Math" panose="02040503050406030204" pitchFamily="18" charset="0"/>
                                          <a:ea typeface="Cambria Math" panose="02040503050406030204" pitchFamily="18" charset="0"/>
                                        </a:rPr>
                                      </m:ctrlPr>
                                    </m:funcPr>
                                    <m:fName>
                                      <m:r>
                                        <a:rPr lang="en-US" sz="2200" i="1">
                                          <a:solidFill>
                                            <a:srgbClr val="0000FF"/>
                                          </a:solidFill>
                                          <a:latin typeface="Cambria Math" panose="02040503050406030204" pitchFamily="18" charset="0"/>
                                          <a:ea typeface="Cambria Math" panose="02040503050406030204" pitchFamily="18" charset="0"/>
                                        </a:rPr>
                                        <m:t>𝑠𝑖𝑛</m:t>
                                      </m:r>
                                    </m:fName>
                                    <m:e>
                                      <m:r>
                                        <a:rPr lang="en-US" sz="2200" i="1">
                                          <a:solidFill>
                                            <a:srgbClr val="0000FF"/>
                                          </a:solidFill>
                                          <a:latin typeface="Cambria Math" panose="02040503050406030204" pitchFamily="18" charset="0"/>
                                          <a:ea typeface="Cambria Math" panose="02040503050406030204" pitchFamily="18" charset="0"/>
                                        </a:rPr>
                                        <m:t>𝜃</m:t>
                                      </m:r>
                                    </m:e>
                                  </m:func>
                                </m:e>
                              </m:mr>
                              <m:mr>
                                <m:e>
                                  <m:func>
                                    <m:funcPr>
                                      <m:ctrlPr>
                                        <a:rPr lang="en-US" sz="2200" i="1">
                                          <a:solidFill>
                                            <a:srgbClr val="FF0000"/>
                                          </a:solidFill>
                                          <a:latin typeface="Cambria Math" panose="02040503050406030204" pitchFamily="18" charset="0"/>
                                          <a:ea typeface="Cambria Math" panose="02040503050406030204" pitchFamily="18" charset="0"/>
                                        </a:rPr>
                                      </m:ctrlPr>
                                    </m:funcPr>
                                    <m:fName>
                                      <m:r>
                                        <a:rPr lang="en-US" sz="2200" i="1">
                                          <a:solidFill>
                                            <a:srgbClr val="FF0000"/>
                                          </a:solidFill>
                                          <a:latin typeface="Cambria Math" panose="02040503050406030204" pitchFamily="18" charset="0"/>
                                          <a:ea typeface="Cambria Math" panose="02040503050406030204" pitchFamily="18" charset="0"/>
                                        </a:rPr>
                                        <m:t>−</m:t>
                                      </m:r>
                                      <m:r>
                                        <a:rPr lang="en-US" sz="2200" i="1">
                                          <a:solidFill>
                                            <a:srgbClr val="FF0000"/>
                                          </a:solidFill>
                                          <a:latin typeface="Cambria Math" panose="02040503050406030204" pitchFamily="18" charset="0"/>
                                          <a:ea typeface="Cambria Math" panose="02040503050406030204" pitchFamily="18" charset="0"/>
                                        </a:rPr>
                                        <m:t>𝑠𝑖𝑛</m:t>
                                      </m:r>
                                    </m:fName>
                                    <m:e>
                                      <m:r>
                                        <a:rPr lang="en-US" sz="2200" i="1">
                                          <a:solidFill>
                                            <a:srgbClr val="FF0000"/>
                                          </a:solidFill>
                                          <a:latin typeface="Cambria Math" panose="02040503050406030204" pitchFamily="18" charset="0"/>
                                          <a:ea typeface="Cambria Math" panose="02040503050406030204" pitchFamily="18" charset="0"/>
                                        </a:rPr>
                                        <m:t>𝜃</m:t>
                                      </m:r>
                                    </m:e>
                                  </m:func>
                                </m:e>
                                <m:e>
                                  <m:func>
                                    <m:funcPr>
                                      <m:ctrlPr>
                                        <a:rPr lang="en-US" sz="2200" i="1">
                                          <a:solidFill>
                                            <a:srgbClr val="FF0000"/>
                                          </a:solidFill>
                                          <a:latin typeface="Cambria Math" panose="02040503050406030204" pitchFamily="18" charset="0"/>
                                          <a:ea typeface="Cambria Math" panose="02040503050406030204" pitchFamily="18" charset="0"/>
                                        </a:rPr>
                                      </m:ctrlPr>
                                    </m:funcPr>
                                    <m:fName>
                                      <m:r>
                                        <a:rPr lang="en-US" sz="2200" i="1">
                                          <a:solidFill>
                                            <a:srgbClr val="FF0000"/>
                                          </a:solidFill>
                                          <a:latin typeface="Cambria Math" panose="02040503050406030204" pitchFamily="18" charset="0"/>
                                          <a:ea typeface="Cambria Math" panose="02040503050406030204" pitchFamily="18" charset="0"/>
                                        </a:rPr>
                                        <m:t>𝑐𝑜𝑠</m:t>
                                      </m:r>
                                    </m:fName>
                                    <m:e>
                                      <m:r>
                                        <a:rPr lang="en-US" sz="2200" i="1">
                                          <a:solidFill>
                                            <a:srgbClr val="FF0000"/>
                                          </a:solidFill>
                                          <a:latin typeface="Cambria Math" panose="02040503050406030204" pitchFamily="18" charset="0"/>
                                          <a:ea typeface="Cambria Math" panose="02040503050406030204" pitchFamily="18" charset="0"/>
                                        </a:rPr>
                                        <m:t>𝜃</m:t>
                                      </m:r>
                                    </m:e>
                                  </m:func>
                                </m:e>
                              </m:mr>
                            </m:m>
                          </m:e>
                        </m:d>
                        <m:r>
                          <a:rPr lang="en-US" sz="2200" b="0" i="1" smtClean="0">
                            <a:solidFill>
                              <a:schemeClr val="tx1"/>
                            </a:solidFill>
                            <a:latin typeface="Cambria Math" panose="02040503050406030204" pitchFamily="18" charset="0"/>
                            <a:ea typeface="Cambria Math" panose="02040503050406030204" pitchFamily="18" charset="0"/>
                          </a:rPr>
                          <m:t>=</m:t>
                        </m:r>
                        <m:d>
                          <m:dPr>
                            <m:ctrlPr>
                              <a:rPr lang="en-US" sz="2200" i="1" smtClean="0">
                                <a:solidFill>
                                  <a:schemeClr val="tx1"/>
                                </a:solidFill>
                                <a:latin typeface="Cambria Math" panose="02040503050406030204" pitchFamily="18" charset="0"/>
                                <a:ea typeface="Cambria Math" panose="02040503050406030204" pitchFamily="18" charset="0"/>
                              </a:rPr>
                            </m:ctrlPr>
                          </m:dPr>
                          <m:e>
                            <m:m>
                              <m:mPr>
                                <m:mcs>
                                  <m:mc>
                                    <m:mcPr>
                                      <m:count m:val="2"/>
                                      <m:mcJc m:val="center"/>
                                    </m:mcPr>
                                  </m:mc>
                                </m:mcs>
                                <m:ctrlPr>
                                  <a:rPr lang="en-US" sz="2200" i="1">
                                    <a:solidFill>
                                      <a:schemeClr val="tx1"/>
                                    </a:solidFill>
                                    <a:latin typeface="Cambria Math" panose="02040503050406030204" pitchFamily="18" charset="0"/>
                                    <a:ea typeface="Cambria Math" panose="02040503050406030204" pitchFamily="18" charset="0"/>
                                  </a:rPr>
                                </m:ctrlPr>
                              </m:mPr>
                              <m:mr>
                                <m:e>
                                  <m:r>
                                    <a:rPr lang="en-US" sz="2200" b="0" i="1" smtClean="0">
                                      <a:solidFill>
                                        <a:schemeClr val="tx1"/>
                                      </a:solidFill>
                                      <a:latin typeface="Cambria Math" panose="02040503050406030204" pitchFamily="18" charset="0"/>
                                      <a:ea typeface="Cambria Math" panose="02040503050406030204" pitchFamily="18" charset="0"/>
                                    </a:rPr>
                                    <m:t>1</m:t>
                                  </m:r>
                                </m:e>
                                <m:e>
                                  <m:r>
                                    <a:rPr lang="en-US" sz="2200" b="0" i="1" smtClean="0">
                                      <a:solidFill>
                                        <a:schemeClr val="tx1"/>
                                      </a:solidFill>
                                      <a:latin typeface="Cambria Math" panose="02040503050406030204" pitchFamily="18" charset="0"/>
                                      <a:ea typeface="Cambria Math" panose="02040503050406030204" pitchFamily="18" charset="0"/>
                                    </a:rPr>
                                    <m:t>0</m:t>
                                  </m:r>
                                </m:e>
                              </m:mr>
                              <m:mr>
                                <m:e>
                                  <m:r>
                                    <a:rPr lang="en-US" sz="2200" b="0" i="1" smtClean="0">
                                      <a:solidFill>
                                        <a:schemeClr val="tx1"/>
                                      </a:solidFill>
                                      <a:latin typeface="Cambria Math" panose="02040503050406030204" pitchFamily="18" charset="0"/>
                                      <a:ea typeface="Cambria Math" panose="02040503050406030204" pitchFamily="18" charset="0"/>
                                    </a:rPr>
                                    <m:t>0</m:t>
                                  </m:r>
                                </m:e>
                                <m:e>
                                  <m:r>
                                    <a:rPr lang="en-US" sz="2200" b="0" i="1" smtClean="0">
                                      <a:solidFill>
                                        <a:schemeClr val="tx1"/>
                                      </a:solidFill>
                                      <a:latin typeface="Cambria Math" panose="02040503050406030204" pitchFamily="18" charset="0"/>
                                      <a:ea typeface="Cambria Math" panose="02040503050406030204" pitchFamily="18" charset="0"/>
                                    </a:rPr>
                                    <m:t>1</m:t>
                                  </m:r>
                                </m:e>
                              </m:mr>
                            </m:m>
                          </m:e>
                        </m:d>
                        <m:r>
                          <a:rPr lang="en-US" sz="2200" i="0">
                            <a:latin typeface="Cambria Math" panose="02040503050406030204" pitchFamily="18" charset="0"/>
                          </a:rPr>
                          <m:t>=</m:t>
                        </m:r>
                        <m:r>
                          <a:rPr lang="en-US" sz="2200" i="1">
                            <a:latin typeface="Cambria Math" panose="02040503050406030204" pitchFamily="18" charset="0"/>
                          </a:rPr>
                          <m:t>𝐼</m:t>
                        </m:r>
                      </m:oMath>
                    </m:oMathPara>
                  </a14:m>
                  <a:endParaRPr lang="en-US" sz="2200" dirty="0"/>
                </a:p>
              </p:txBody>
            </p:sp>
          </mc:Choice>
          <mc:Fallback xmlns="">
            <p:sp>
              <p:nvSpPr>
                <p:cNvPr id="80" name="Rectangle 79">
                  <a:extLst>
                    <a:ext uri="{FF2B5EF4-FFF2-40B4-BE49-F238E27FC236}">
                      <a16:creationId xmlns:a16="http://schemas.microsoft.com/office/drawing/2014/main" id="{ACFA5B09-D80E-7C49-A3E2-0D0F4A4B3087}"/>
                    </a:ext>
                  </a:extLst>
                </p:cNvPr>
                <p:cNvSpPr>
                  <a:spLocks noRot="1" noChangeAspect="1" noMove="1" noResize="1" noEditPoints="1" noAdjustHandles="1" noChangeArrowheads="1" noChangeShapeType="1" noTextEdit="1"/>
                </p:cNvSpPr>
                <p:nvPr/>
              </p:nvSpPr>
              <p:spPr>
                <a:xfrm>
                  <a:off x="2730004" y="5852042"/>
                  <a:ext cx="7086492" cy="659924"/>
                </a:xfrm>
                <a:prstGeom prst="rect">
                  <a:avLst/>
                </a:prstGeom>
                <a:blipFill>
                  <a:blip r:embed="rId21"/>
                  <a:stretch>
                    <a:fillRect t="-7407" b="-3704"/>
                  </a:stretch>
                </a:blipFill>
                <a:ln>
                  <a:solidFill>
                    <a:srgbClr val="0070C0"/>
                  </a:solidFill>
                </a:ln>
              </p:spPr>
              <p:txBody>
                <a:bodyPr/>
                <a:lstStyle/>
                <a:p>
                  <a:r>
                    <a:rPr lang="en-US">
                      <a:noFill/>
                    </a:rPr>
                    <a:t> </a:t>
                  </a:r>
                </a:p>
              </p:txBody>
            </p:sp>
          </mc:Fallback>
        </mc:AlternateContent>
        <p:cxnSp>
          <p:nvCxnSpPr>
            <p:cNvPr id="10" name="Straight Connector 9">
              <a:extLst>
                <a:ext uri="{FF2B5EF4-FFF2-40B4-BE49-F238E27FC236}">
                  <a16:creationId xmlns:a16="http://schemas.microsoft.com/office/drawing/2014/main" id="{FB07AA65-FEFF-6949-A843-51737181AA3B}"/>
                </a:ext>
              </a:extLst>
            </p:cNvPr>
            <p:cNvCxnSpPr>
              <a:cxnSpLocks/>
            </p:cNvCxnSpPr>
            <p:nvPr/>
          </p:nvCxnSpPr>
          <p:spPr>
            <a:xfrm>
              <a:off x="123092" y="5523107"/>
              <a:ext cx="11824127"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10691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dissolv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7"/>
                                        </p:tgtEl>
                                        <p:attrNameLst>
                                          <p:attrName>style.visibility</p:attrName>
                                        </p:attrNameLst>
                                      </p:cBhvr>
                                      <p:to>
                                        <p:strVal val="visible"/>
                                      </p:to>
                                    </p:set>
                                    <p:animEffect transition="in" filter="dissolve">
                                      <p:cBhvr>
                                        <p:cTn id="17" dur="500"/>
                                        <p:tgtEl>
                                          <p:spTgt spid="7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dissolv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7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E6B1F-13EE-CE4F-868F-1F422F9AE23A}"/>
              </a:ext>
            </a:extLst>
          </p:cNvPr>
          <p:cNvSpPr>
            <a:spLocks noGrp="1"/>
          </p:cNvSpPr>
          <p:nvPr>
            <p:ph type="title"/>
          </p:nvPr>
        </p:nvSpPr>
        <p:spPr>
          <a:xfrm>
            <a:off x="0" y="0"/>
            <a:ext cx="12192000" cy="928688"/>
          </a:xfrm>
        </p:spPr>
        <p:txBody>
          <a:bodyPr/>
          <a:lstStyle/>
          <a:p>
            <a:r>
              <a:rPr lang="en-ZA" dirty="0"/>
              <a:t>Application of operators in quantum computing</a:t>
            </a:r>
            <a:endParaRPr lang="en-US" dirty="0"/>
          </a:p>
        </p:txBody>
      </p:sp>
      <p:sp>
        <p:nvSpPr>
          <p:cNvPr id="3" name="Slide Number Placeholder 2">
            <a:extLst>
              <a:ext uri="{FF2B5EF4-FFF2-40B4-BE49-F238E27FC236}">
                <a16:creationId xmlns:a16="http://schemas.microsoft.com/office/drawing/2014/main" id="{914CDFCD-A059-6D45-A57E-26578422FE71}"/>
              </a:ext>
            </a:extLst>
          </p:cNvPr>
          <p:cNvSpPr>
            <a:spLocks noGrp="1"/>
          </p:cNvSpPr>
          <p:nvPr>
            <p:ph type="sldNum" sz="quarter" idx="12"/>
          </p:nvPr>
        </p:nvSpPr>
        <p:spPr/>
        <p:txBody>
          <a:bodyPr/>
          <a:lstStyle/>
          <a:p>
            <a:fld id="{591A223C-FA10-BC46-A853-03BA373D023C}" type="slidenum">
              <a:rPr lang="en-US" smtClean="0"/>
              <a:t>46</a:t>
            </a:fld>
            <a:endParaRPr lang="en-US"/>
          </a:p>
        </p:txBody>
      </p:sp>
      <p:grpSp>
        <p:nvGrpSpPr>
          <p:cNvPr id="15" name="Group 14">
            <a:extLst>
              <a:ext uri="{FF2B5EF4-FFF2-40B4-BE49-F238E27FC236}">
                <a16:creationId xmlns:a16="http://schemas.microsoft.com/office/drawing/2014/main" id="{A28D333A-8B77-4F49-8373-4D3A0FB13CCF}"/>
              </a:ext>
            </a:extLst>
          </p:cNvPr>
          <p:cNvGrpSpPr/>
          <p:nvPr/>
        </p:nvGrpSpPr>
        <p:grpSpPr>
          <a:xfrm>
            <a:off x="420162" y="3090994"/>
            <a:ext cx="7799421" cy="461665"/>
            <a:chOff x="318562" y="3983985"/>
            <a:chExt cx="7799421" cy="461665"/>
          </a:xfrm>
        </p:grpSpPr>
        <p:sp>
          <p:nvSpPr>
            <p:cNvPr id="6" name="Rectangle 5">
              <a:extLst>
                <a:ext uri="{FF2B5EF4-FFF2-40B4-BE49-F238E27FC236}">
                  <a16:creationId xmlns:a16="http://schemas.microsoft.com/office/drawing/2014/main" id="{FD353754-CE07-314D-8D40-8175200CB43E}"/>
                </a:ext>
              </a:extLst>
            </p:cNvPr>
            <p:cNvSpPr/>
            <p:nvPr/>
          </p:nvSpPr>
          <p:spPr>
            <a:xfrm>
              <a:off x="318562" y="3999375"/>
              <a:ext cx="4731616" cy="430887"/>
            </a:xfrm>
            <a:prstGeom prst="rect">
              <a:avLst/>
            </a:prstGeom>
            <a:solidFill>
              <a:schemeClr val="accent4">
                <a:lumMod val="20000"/>
                <a:lumOff val="80000"/>
              </a:schemeClr>
            </a:solidFill>
          </p:spPr>
          <p:txBody>
            <a:bodyPr wrap="none">
              <a:spAutoFit/>
            </a:bodyPr>
            <a:lstStyle/>
            <a:p>
              <a:r>
                <a:rPr lang="en-ZA" sz="2200" dirty="0">
                  <a:latin typeface="+mj-lt"/>
                </a:rPr>
                <a:t>Operators are applied from right to left </a:t>
              </a:r>
              <a:r>
                <a:rPr lang="en-US" sz="2200" dirty="0">
                  <a:latin typeface="+mj-lt"/>
                  <a:ea typeface="Times New Roman" panose="02020603050405020304" pitchFamily="18" charset="0"/>
                  <a:cs typeface="Times New Roman" panose="02020603050405020304" pitchFamily="18" charset="0"/>
                </a:rPr>
                <a:t>:</a:t>
              </a:r>
              <a:endParaRPr lang="en-US" sz="2200" dirty="0">
                <a:latin typeface="+mj-lt"/>
              </a:endParaRP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EAD5418E-34C3-CE4B-9023-9F5A6BF39A20}"/>
                    </a:ext>
                  </a:extLst>
                </p:cNvPr>
                <p:cNvSpPr/>
                <p:nvPr/>
              </p:nvSpPr>
              <p:spPr>
                <a:xfrm>
                  <a:off x="5345814" y="3983985"/>
                  <a:ext cx="277216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400" i="1">
                                <a:latin typeface="Cambria Math" panose="02040503050406030204" pitchFamily="18" charset="0"/>
                              </a:rPr>
                            </m:ctrlPr>
                          </m:dPr>
                          <m:e>
                            <m:r>
                              <a:rPr lang="en-US" sz="2400" i="1" smtClean="0">
                                <a:solidFill>
                                  <a:srgbClr val="0000FF"/>
                                </a:solidFill>
                                <a:latin typeface="Cambria Math" panose="02040503050406030204" pitchFamily="18" charset="0"/>
                              </a:rPr>
                              <m:t>𝑈</m:t>
                            </m:r>
                            <m:r>
                              <a:rPr lang="en-US" sz="2400" i="1" smtClean="0">
                                <a:solidFill>
                                  <a:srgbClr val="FF0000"/>
                                </a:solidFill>
                                <a:latin typeface="Cambria Math" panose="02040503050406030204" pitchFamily="18" charset="0"/>
                              </a:rPr>
                              <m:t>𝑉</m:t>
                            </m:r>
                          </m:e>
                        </m:d>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en-US" sz="2400" i="0">
                            <a:latin typeface="Cambria Math" panose="02040503050406030204" pitchFamily="18" charset="0"/>
                          </a:rPr>
                          <m:t>=</m:t>
                        </m:r>
                        <m:r>
                          <a:rPr lang="en-US" sz="2400" i="1" smtClean="0">
                            <a:solidFill>
                              <a:srgbClr val="0000FF"/>
                            </a:solidFill>
                            <a:latin typeface="Cambria Math" panose="02040503050406030204" pitchFamily="18" charset="0"/>
                          </a:rPr>
                          <m:t>𝑈</m:t>
                        </m:r>
                        <m:d>
                          <m:dPr>
                            <m:ctrlPr>
                              <a:rPr lang="en-US" sz="2400" i="1">
                                <a:latin typeface="Cambria Math" panose="02040503050406030204" pitchFamily="18" charset="0"/>
                              </a:rPr>
                            </m:ctrlPr>
                          </m:dPr>
                          <m:e>
                            <m:r>
                              <a:rPr lang="en-US" sz="2400" i="1" smtClean="0">
                                <a:solidFill>
                                  <a:srgbClr val="FF0000"/>
                                </a:solidFill>
                                <a:latin typeface="Cambria Math" panose="02040503050406030204" pitchFamily="18" charset="0"/>
                              </a:rPr>
                              <m:t>𝑉</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e>
                        </m:d>
                      </m:oMath>
                    </m:oMathPara>
                  </a14:m>
                  <a:endParaRPr lang="en-US" sz="2400" dirty="0"/>
                </a:p>
              </p:txBody>
            </p:sp>
          </mc:Choice>
          <mc:Fallback xmlns="">
            <p:sp>
              <p:nvSpPr>
                <p:cNvPr id="7" name="Rectangle 6">
                  <a:extLst>
                    <a:ext uri="{FF2B5EF4-FFF2-40B4-BE49-F238E27FC236}">
                      <a16:creationId xmlns:a16="http://schemas.microsoft.com/office/drawing/2014/main" id="{EAD5418E-34C3-CE4B-9023-9F5A6BF39A20}"/>
                    </a:ext>
                  </a:extLst>
                </p:cNvPr>
                <p:cNvSpPr>
                  <a:spLocks noRot="1" noChangeAspect="1" noMove="1" noResize="1" noEditPoints="1" noAdjustHandles="1" noChangeArrowheads="1" noChangeShapeType="1" noTextEdit="1"/>
                </p:cNvSpPr>
                <p:nvPr/>
              </p:nvSpPr>
              <p:spPr>
                <a:xfrm>
                  <a:off x="5345814" y="3983985"/>
                  <a:ext cx="2772169" cy="461665"/>
                </a:xfrm>
                <a:prstGeom prst="rect">
                  <a:avLst/>
                </a:prstGeom>
                <a:blipFill>
                  <a:blip r:embed="rId3"/>
                  <a:stretch>
                    <a:fillRect/>
                  </a:stretch>
                </a:blipFill>
              </p:spPr>
              <p:txBody>
                <a:bodyPr/>
                <a:lstStyle/>
                <a:p>
                  <a:r>
                    <a:rPr lang="en-US">
                      <a:noFill/>
                    </a:rPr>
                    <a:t> </a:t>
                  </a:r>
                </a:p>
              </p:txBody>
            </p:sp>
          </mc:Fallback>
        </mc:AlternateContent>
      </p:grpSp>
      <p:grpSp>
        <p:nvGrpSpPr>
          <p:cNvPr id="10" name="Group 9">
            <a:extLst>
              <a:ext uri="{FF2B5EF4-FFF2-40B4-BE49-F238E27FC236}">
                <a16:creationId xmlns:a16="http://schemas.microsoft.com/office/drawing/2014/main" id="{68B9EDDC-BE7B-0045-A22F-8A3FF8F32675}"/>
              </a:ext>
            </a:extLst>
          </p:cNvPr>
          <p:cNvGrpSpPr/>
          <p:nvPr/>
        </p:nvGrpSpPr>
        <p:grpSpPr>
          <a:xfrm>
            <a:off x="2059683" y="1395772"/>
            <a:ext cx="8872927" cy="1461527"/>
            <a:chOff x="1958083" y="1983055"/>
            <a:chExt cx="8872927" cy="1461527"/>
          </a:xfrm>
        </p:grpSpPr>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D64D3A5E-DC2C-A240-946E-F6C67763B97B}"/>
                    </a:ext>
                  </a:extLst>
                </p:cNvPr>
                <p:cNvSpPr/>
                <p:nvPr/>
              </p:nvSpPr>
              <p:spPr>
                <a:xfrm>
                  <a:off x="3616819" y="2982917"/>
                  <a:ext cx="483202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m>
                          <m:mPr>
                            <m:mcs>
                              <m:mc>
                                <m:mcPr>
                                  <m:count m:val="4"/>
                                  <m:mcJc m:val="center"/>
                                </m:mcPr>
                              </m:mc>
                            </m:mcs>
                            <m:ctrlPr>
                              <a:rPr lang="en-US" sz="2400" i="1" smtClean="0">
                                <a:solidFill>
                                  <a:srgbClr val="0000FF"/>
                                </a:solidFill>
                                <a:latin typeface="Cambria Math" panose="02040503050406030204" pitchFamily="18" charset="0"/>
                              </a:rPr>
                            </m:ctrlPr>
                          </m:mPr>
                          <m:mr>
                            <m:e>
                              <m:r>
                                <a:rPr lang="en-US" sz="2400" i="1" smtClean="0">
                                  <a:solidFill>
                                    <a:srgbClr val="0000FF"/>
                                  </a:solidFill>
                                  <a:latin typeface="Cambria Math" panose="02040503050406030204" pitchFamily="18" charset="0"/>
                                </a:rPr>
                                <m:t>𝑈</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en-US" sz="240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𝑏</m:t>
                                  </m:r>
                                </m:e>
                              </m:d>
                            </m:e>
                            <m:e/>
                            <m:e/>
                            <m:e>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𝑏</m:t>
                                  </m:r>
                                </m:e>
                              </m:d>
                              <m:sSup>
                                <m:sSupPr>
                                  <m:ctrlPr>
                                    <a:rPr lang="en-US" sz="2400" i="1" smtClean="0">
                                      <a:solidFill>
                                        <a:srgbClr val="0000FF"/>
                                      </a:solidFill>
                                      <a:latin typeface="Cambria Math" panose="02040503050406030204" pitchFamily="18" charset="0"/>
                                    </a:rPr>
                                  </m:ctrlPr>
                                </m:sSupPr>
                                <m:e>
                                  <m:r>
                                    <a:rPr lang="en-US" sz="2400" i="1">
                                      <a:solidFill>
                                        <a:srgbClr val="0000FF"/>
                                      </a:solidFill>
                                      <a:latin typeface="Cambria Math" panose="02040503050406030204" pitchFamily="18" charset="0"/>
                                    </a:rPr>
                                    <m:t>𝑈</m:t>
                                  </m:r>
                                </m:e>
                                <m:sup>
                                  <m:r>
                                    <a:rPr lang="en-US" sz="2400" i="1">
                                      <a:solidFill>
                                        <a:srgbClr val="0000FF"/>
                                      </a:solidFill>
                                      <a:latin typeface="Cambria Math" panose="02040503050406030204" pitchFamily="18" charset="0"/>
                                    </a:rPr>
                                    <m:t>†</m:t>
                                  </m:r>
                                </m:sup>
                              </m:sSup>
                              <m:r>
                                <a:rPr lang="en-US" sz="2400" i="1">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𝑎</m:t>
                                  </m:r>
                                </m:e>
                              </m:d>
                              <m:r>
                                <m:rPr>
                                  <m:nor/>
                                </m:rPr>
                                <a:rPr lang="en-US" sz="2400"/>
                                <m:t> </m:t>
                              </m:r>
                            </m:e>
                          </m:mr>
                        </m:m>
                      </m:oMath>
                    </m:oMathPara>
                  </a14:m>
                  <a:endParaRPr lang="en-US" sz="2400" dirty="0"/>
                </a:p>
              </p:txBody>
            </p:sp>
          </mc:Choice>
          <mc:Fallback xmlns="">
            <p:sp>
              <p:nvSpPr>
                <p:cNvPr id="5" name="Rectangle 4">
                  <a:extLst>
                    <a:ext uri="{FF2B5EF4-FFF2-40B4-BE49-F238E27FC236}">
                      <a16:creationId xmlns:a16="http://schemas.microsoft.com/office/drawing/2014/main" id="{D64D3A5E-DC2C-A240-946E-F6C67763B97B}"/>
                    </a:ext>
                  </a:extLst>
                </p:cNvPr>
                <p:cNvSpPr>
                  <a:spLocks noRot="1" noChangeAspect="1" noMove="1" noResize="1" noEditPoints="1" noAdjustHandles="1" noChangeArrowheads="1" noChangeShapeType="1" noTextEdit="1"/>
                </p:cNvSpPr>
                <p:nvPr/>
              </p:nvSpPr>
              <p:spPr>
                <a:xfrm>
                  <a:off x="3616819" y="2982917"/>
                  <a:ext cx="4832027" cy="461665"/>
                </a:xfrm>
                <a:prstGeom prst="rect">
                  <a:avLst/>
                </a:prstGeom>
                <a:blipFill>
                  <a:blip r:embed="rId4"/>
                  <a:stretch>
                    <a:fillRect t="-2703" b="-270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263970F0-598E-8244-AA7B-9B9F7A57A8F5}"/>
                    </a:ext>
                  </a:extLst>
                </p:cNvPr>
                <p:cNvSpPr/>
                <p:nvPr/>
              </p:nvSpPr>
              <p:spPr>
                <a:xfrm>
                  <a:off x="1958083" y="1983055"/>
                  <a:ext cx="3417409" cy="707886"/>
                </a:xfrm>
                <a:prstGeom prst="rect">
                  <a:avLst/>
                </a:prstGeom>
                <a:solidFill>
                  <a:schemeClr val="accent5">
                    <a:lumMod val="20000"/>
                    <a:lumOff val="80000"/>
                  </a:schemeClr>
                </a:solidFill>
              </p:spPr>
              <p:txBody>
                <a:bodyPr wrap="none">
                  <a:spAutoFit/>
                </a:bodyPr>
                <a:lstStyle/>
                <a:p>
                  <a:pPr algn="ctr"/>
                  <a:r>
                    <a:rPr lang="en-ZA" sz="2000" dirty="0">
                      <a:latin typeface="+mj-lt"/>
                    </a:rPr>
                    <a:t>operator </a:t>
                  </a:r>
                  <a14:m>
                    <m:oMath xmlns:m="http://schemas.openxmlformats.org/officeDocument/2006/math">
                      <m:r>
                        <a:rPr lang="en-US" sz="2000" i="1">
                          <a:solidFill>
                            <a:srgbClr val="0000FF"/>
                          </a:solidFill>
                          <a:latin typeface="Cambria Math" panose="02040503050406030204" pitchFamily="18" charset="0"/>
                        </a:rPr>
                        <m:t>𝑈</m:t>
                      </m:r>
                    </m:oMath>
                  </a14:m>
                  <a:r>
                    <a:rPr lang="en-ZA" sz="2000" dirty="0">
                      <a:latin typeface="+mj-lt"/>
                    </a:rPr>
                    <a:t> acts on a ket vector</a:t>
                  </a:r>
                </a:p>
                <a:p>
                  <a:pPr algn="ctr"/>
                  <a:r>
                    <a:rPr lang="en-ZA" sz="2000" dirty="0">
                      <a:latin typeface="+mj-lt"/>
                    </a:rPr>
                    <a:t>from the right</a:t>
                  </a:r>
                  <a:endParaRPr lang="en-US" sz="2000" dirty="0">
                    <a:latin typeface="+mj-lt"/>
                  </a:endParaRPr>
                </a:p>
              </p:txBody>
            </p:sp>
          </mc:Choice>
          <mc:Fallback xmlns="">
            <p:sp>
              <p:nvSpPr>
                <p:cNvPr id="8" name="Rectangle 7">
                  <a:extLst>
                    <a:ext uri="{FF2B5EF4-FFF2-40B4-BE49-F238E27FC236}">
                      <a16:creationId xmlns:a16="http://schemas.microsoft.com/office/drawing/2014/main" id="{263970F0-598E-8244-AA7B-9B9F7A57A8F5}"/>
                    </a:ext>
                  </a:extLst>
                </p:cNvPr>
                <p:cNvSpPr>
                  <a:spLocks noRot="1" noChangeAspect="1" noMove="1" noResize="1" noEditPoints="1" noAdjustHandles="1" noChangeArrowheads="1" noChangeShapeType="1" noTextEdit="1"/>
                </p:cNvSpPr>
                <p:nvPr/>
              </p:nvSpPr>
              <p:spPr>
                <a:xfrm>
                  <a:off x="1958083" y="1983055"/>
                  <a:ext cx="3417409" cy="707886"/>
                </a:xfrm>
                <a:prstGeom prst="rect">
                  <a:avLst/>
                </a:prstGeom>
                <a:blipFill>
                  <a:blip r:embed="rId5"/>
                  <a:stretch>
                    <a:fillRect l="-370" t="-3509" r="-741" b="-12281"/>
                  </a:stretch>
                </a:blipFill>
              </p:spPr>
              <p:txBody>
                <a:bodyPr/>
                <a:lstStyle/>
                <a:p>
                  <a:r>
                    <a:rPr lang="en-US">
                      <a:noFill/>
                    </a:rPr>
                    <a:t> </a:t>
                  </a:r>
                </a:p>
              </p:txBody>
            </p:sp>
          </mc:Fallback>
        </mc:AlternateContent>
        <p:sp>
          <p:nvSpPr>
            <p:cNvPr id="9" name="Rectangle 8">
              <a:extLst>
                <a:ext uri="{FF2B5EF4-FFF2-40B4-BE49-F238E27FC236}">
                  <a16:creationId xmlns:a16="http://schemas.microsoft.com/office/drawing/2014/main" id="{66912C84-B449-0F40-8AB4-F78881D6DECF}"/>
                </a:ext>
              </a:extLst>
            </p:cNvPr>
            <p:cNvSpPr/>
            <p:nvPr/>
          </p:nvSpPr>
          <p:spPr>
            <a:xfrm>
              <a:off x="6651714" y="1992335"/>
              <a:ext cx="4179296" cy="707886"/>
            </a:xfrm>
            <a:prstGeom prst="rect">
              <a:avLst/>
            </a:prstGeom>
            <a:solidFill>
              <a:schemeClr val="accent6">
                <a:lumMod val="20000"/>
                <a:lumOff val="80000"/>
              </a:schemeClr>
            </a:solidFill>
          </p:spPr>
          <p:txBody>
            <a:bodyPr wrap="square">
              <a:spAutoFit/>
            </a:bodyPr>
            <a:lstStyle/>
            <a:p>
              <a:pPr algn="ctr"/>
              <a:r>
                <a:rPr lang="en-ZA" sz="2000" dirty="0">
                  <a:latin typeface="+mj-lt"/>
                </a:rPr>
                <a:t>Conjugate transpose of the operator acts on a bra vector from the left</a:t>
              </a:r>
              <a:endParaRPr lang="en-US" sz="2000" dirty="0">
                <a:latin typeface="+mj-lt"/>
              </a:endParaRPr>
            </a:p>
          </p:txBody>
        </p:sp>
        <p:sp>
          <p:nvSpPr>
            <p:cNvPr id="11" name="Bent Arrow 10">
              <a:extLst>
                <a:ext uri="{FF2B5EF4-FFF2-40B4-BE49-F238E27FC236}">
                  <a16:creationId xmlns:a16="http://schemas.microsoft.com/office/drawing/2014/main" id="{4FD88096-822D-B147-88D9-87FE0D3C7AD9}"/>
                </a:ext>
              </a:extLst>
            </p:cNvPr>
            <p:cNvSpPr/>
            <p:nvPr/>
          </p:nvSpPr>
          <p:spPr>
            <a:xfrm flipH="1" flipV="1">
              <a:off x="8260333" y="2823005"/>
              <a:ext cx="481029" cy="523347"/>
            </a:xfrm>
            <a:prstGeom prst="bentArrow">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Bent Arrow 11">
              <a:extLst>
                <a:ext uri="{FF2B5EF4-FFF2-40B4-BE49-F238E27FC236}">
                  <a16:creationId xmlns:a16="http://schemas.microsoft.com/office/drawing/2014/main" id="{891C1AD9-3C99-6A43-9F44-3A58C3E67AA9}"/>
                </a:ext>
              </a:extLst>
            </p:cNvPr>
            <p:cNvSpPr/>
            <p:nvPr/>
          </p:nvSpPr>
          <p:spPr>
            <a:xfrm flipV="1">
              <a:off x="3221199" y="2824033"/>
              <a:ext cx="481029" cy="523347"/>
            </a:xfrm>
            <a:prstGeom prst="bentArrow">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nvGrpSpPr>
          <p:cNvPr id="16" name="Group 15">
            <a:extLst>
              <a:ext uri="{FF2B5EF4-FFF2-40B4-BE49-F238E27FC236}">
                <a16:creationId xmlns:a16="http://schemas.microsoft.com/office/drawing/2014/main" id="{F27C2820-1FF3-0545-BD2D-56340BC561E9}"/>
              </a:ext>
            </a:extLst>
          </p:cNvPr>
          <p:cNvGrpSpPr/>
          <p:nvPr/>
        </p:nvGrpSpPr>
        <p:grpSpPr>
          <a:xfrm>
            <a:off x="420162" y="3860025"/>
            <a:ext cx="10120608" cy="1074268"/>
            <a:chOff x="318562" y="5215347"/>
            <a:chExt cx="10120608" cy="1074268"/>
          </a:xfrm>
        </p:grpSpPr>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339313BC-02F9-2C4E-A3EF-AEB0E04F796B}"/>
                    </a:ext>
                  </a:extLst>
                </p:cNvPr>
                <p:cNvSpPr/>
                <p:nvPr/>
              </p:nvSpPr>
              <p:spPr>
                <a:xfrm>
                  <a:off x="5332323" y="5215347"/>
                  <a:ext cx="5106847" cy="107426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rgbClr val="0000FF"/>
                            </a:solidFill>
                            <a:latin typeface="Cambria Math" panose="02040503050406030204" pitchFamily="18" charset="0"/>
                          </a:rPr>
                          <m:t>𝑈</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𝑎</m:t>
                            </m:r>
                          </m:e>
                        </m:d>
                        <m:r>
                          <a:rPr lang="en-US" sz="2400" i="0">
                            <a:latin typeface="Cambria Math" panose="02040503050406030204" pitchFamily="18" charset="0"/>
                          </a:rPr>
                          <m:t>=</m:t>
                        </m:r>
                        <m:r>
                          <a:rPr lang="en-US" sz="2400" i="1" smtClean="0">
                            <a:solidFill>
                              <a:srgbClr val="0000FF"/>
                            </a:solidFill>
                            <a:latin typeface="Cambria Math" panose="02040503050406030204" pitchFamily="18" charset="0"/>
                          </a:rPr>
                          <m:t>𝑈</m:t>
                        </m:r>
                        <m:d>
                          <m:dPr>
                            <m:ctrlPr>
                              <a:rPr lang="en-US" sz="2400" i="1">
                                <a:latin typeface="Cambria Math" panose="02040503050406030204" pitchFamily="18" charset="0"/>
                              </a:rPr>
                            </m:ctrlPr>
                          </m:dPr>
                          <m:e>
                            <m:nary>
                              <m:naryPr>
                                <m:chr m:val="∑"/>
                                <m:limLoc m:val="undOvr"/>
                                <m:supHide m:val="on"/>
                                <m:ctrlPr>
                                  <a:rPr lang="en-US" sz="2400" i="1">
                                    <a:latin typeface="Cambria Math" panose="02040503050406030204" pitchFamily="18" charset="0"/>
                                  </a:rPr>
                                </m:ctrlPr>
                              </m:naryPr>
                              <m:sub>
                                <m:r>
                                  <a:rPr lang="en-US" sz="2400" i="1">
                                    <a:latin typeface="Cambria Math" panose="02040503050406030204" pitchFamily="18" charset="0"/>
                                  </a:rPr>
                                  <m:t>𝑘</m:t>
                                </m:r>
                              </m:sub>
                              <m:sup/>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en-US" sz="2400" i="1">
                                            <a:latin typeface="Cambria Math" panose="02040503050406030204" pitchFamily="18" charset="0"/>
                                          </a:rPr>
                                          <m:t>𝑘</m:t>
                                        </m:r>
                                      </m:sub>
                                    </m:sSub>
                                  </m:e>
                                </m:d>
                              </m:e>
                            </m:nary>
                          </m:e>
                        </m:d>
                        <m:r>
                          <a:rPr lang="en-US" sz="2400" i="0">
                            <a:latin typeface="Cambria Math" panose="02040503050406030204" pitchFamily="18" charset="0"/>
                          </a:rPr>
                          <m:t>=</m:t>
                        </m:r>
                        <m:nary>
                          <m:naryPr>
                            <m:chr m:val="∑"/>
                            <m:limLoc m:val="undOvr"/>
                            <m:supHide m:val="on"/>
                            <m:ctrlPr>
                              <a:rPr lang="en-US" sz="2400" i="1">
                                <a:latin typeface="Cambria Math" panose="02040503050406030204" pitchFamily="18" charset="0"/>
                              </a:rPr>
                            </m:ctrlPr>
                          </m:naryPr>
                          <m:sub>
                            <m:r>
                              <a:rPr lang="en-US" sz="2400" i="1">
                                <a:latin typeface="Cambria Math" panose="02040503050406030204" pitchFamily="18" charset="0"/>
                              </a:rPr>
                              <m:t>𝑘</m:t>
                            </m:r>
                          </m:sub>
                          <m:sup/>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i="1">
                                    <a:latin typeface="Cambria Math" panose="02040503050406030204" pitchFamily="18" charset="0"/>
                                  </a:rPr>
                                  <m:t>𝑘</m:t>
                                </m:r>
                              </m:sub>
                            </m:sSub>
                            <m:r>
                              <a:rPr lang="en-US" sz="2400" i="1" smtClean="0">
                                <a:solidFill>
                                  <a:srgbClr val="0000FF"/>
                                </a:solidFill>
                                <a:latin typeface="Cambria Math" panose="02040503050406030204" pitchFamily="18" charset="0"/>
                              </a:rPr>
                              <m:t>𝑈</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en-US" sz="2400" i="1">
                                        <a:latin typeface="Cambria Math" panose="02040503050406030204" pitchFamily="18" charset="0"/>
                                      </a:rPr>
                                      <m:t>𝑘</m:t>
                                    </m:r>
                                  </m:sub>
                                </m:sSub>
                              </m:e>
                            </m:d>
                          </m:e>
                        </m:nary>
                      </m:oMath>
                    </m:oMathPara>
                  </a14:m>
                  <a:endParaRPr lang="en-US" sz="2400" dirty="0"/>
                </a:p>
              </p:txBody>
            </p:sp>
          </mc:Choice>
          <mc:Fallback xmlns="">
            <p:sp>
              <p:nvSpPr>
                <p:cNvPr id="13" name="Rectangle 12">
                  <a:extLst>
                    <a:ext uri="{FF2B5EF4-FFF2-40B4-BE49-F238E27FC236}">
                      <a16:creationId xmlns:a16="http://schemas.microsoft.com/office/drawing/2014/main" id="{339313BC-02F9-2C4E-A3EF-AEB0E04F796B}"/>
                    </a:ext>
                  </a:extLst>
                </p:cNvPr>
                <p:cNvSpPr>
                  <a:spLocks noRot="1" noChangeAspect="1" noMove="1" noResize="1" noEditPoints="1" noAdjustHandles="1" noChangeArrowheads="1" noChangeShapeType="1" noTextEdit="1"/>
                </p:cNvSpPr>
                <p:nvPr/>
              </p:nvSpPr>
              <p:spPr>
                <a:xfrm>
                  <a:off x="5332323" y="5215347"/>
                  <a:ext cx="5106847" cy="1074268"/>
                </a:xfrm>
                <a:prstGeom prst="rect">
                  <a:avLst/>
                </a:prstGeom>
                <a:blipFill>
                  <a:blip r:embed="rId6"/>
                  <a:stretch>
                    <a:fillRect t="-112941" b="-167059"/>
                  </a:stretch>
                </a:blipFill>
              </p:spPr>
              <p:txBody>
                <a:bodyPr/>
                <a:lstStyle/>
                <a:p>
                  <a:r>
                    <a:rPr lang="en-US">
                      <a:noFill/>
                    </a:rPr>
                    <a:t> </a:t>
                  </a:r>
                </a:p>
              </p:txBody>
            </p:sp>
          </mc:Fallback>
        </mc:AlternateContent>
        <p:sp>
          <p:nvSpPr>
            <p:cNvPr id="14" name="Rectangle 13">
              <a:extLst>
                <a:ext uri="{FF2B5EF4-FFF2-40B4-BE49-F238E27FC236}">
                  <a16:creationId xmlns:a16="http://schemas.microsoft.com/office/drawing/2014/main" id="{3694D0FC-F0BF-6241-9040-FA55930CA9DF}"/>
                </a:ext>
              </a:extLst>
            </p:cNvPr>
            <p:cNvSpPr/>
            <p:nvPr/>
          </p:nvSpPr>
          <p:spPr>
            <a:xfrm>
              <a:off x="318562" y="5353975"/>
              <a:ext cx="4731616" cy="769441"/>
            </a:xfrm>
            <a:prstGeom prst="rect">
              <a:avLst/>
            </a:prstGeom>
            <a:solidFill>
              <a:schemeClr val="accent4">
                <a:lumMod val="20000"/>
                <a:lumOff val="80000"/>
              </a:schemeClr>
            </a:solidFill>
          </p:spPr>
          <p:txBody>
            <a:bodyPr wrap="square">
              <a:spAutoFit/>
            </a:bodyPr>
            <a:lstStyle/>
            <a:p>
              <a:pPr algn="ctr"/>
              <a:r>
                <a:rPr lang="en-ZA" sz="2200" dirty="0">
                  <a:latin typeface="+mj-lt"/>
                </a:rPr>
                <a:t>An operator acts on all components of a vector.</a:t>
              </a:r>
              <a:endParaRPr lang="en-US" sz="2200" dirty="0">
                <a:latin typeface="+mj-lt"/>
              </a:endParaRPr>
            </a:p>
          </p:txBody>
        </p:sp>
      </p:grpSp>
      <p:grpSp>
        <p:nvGrpSpPr>
          <p:cNvPr id="21" name="Group 20">
            <a:extLst>
              <a:ext uri="{FF2B5EF4-FFF2-40B4-BE49-F238E27FC236}">
                <a16:creationId xmlns:a16="http://schemas.microsoft.com/office/drawing/2014/main" id="{D951F808-F25D-C247-8C30-D627F44F73DA}"/>
              </a:ext>
            </a:extLst>
          </p:cNvPr>
          <p:cNvGrpSpPr/>
          <p:nvPr/>
        </p:nvGrpSpPr>
        <p:grpSpPr>
          <a:xfrm>
            <a:off x="378511" y="5183225"/>
            <a:ext cx="6446271" cy="1107996"/>
            <a:chOff x="276911" y="5453058"/>
            <a:chExt cx="6446271" cy="1107996"/>
          </a:xfrm>
        </p:grpSpPr>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7B9A2980-94D8-184B-A9E4-639F7091A240}"/>
                    </a:ext>
                  </a:extLst>
                </p:cNvPr>
                <p:cNvSpPr txBox="1"/>
                <p:nvPr/>
              </p:nvSpPr>
              <p:spPr>
                <a:xfrm>
                  <a:off x="276911" y="5453058"/>
                  <a:ext cx="4773267" cy="1107996"/>
                </a:xfrm>
                <a:prstGeom prst="rect">
                  <a:avLst/>
                </a:prstGeom>
                <a:solidFill>
                  <a:schemeClr val="accent4">
                    <a:lumMod val="20000"/>
                    <a:lumOff val="80000"/>
                  </a:schemeClr>
                </a:solidFill>
              </p:spPr>
              <p:txBody>
                <a:bodyPr wrap="square" rtlCol="0">
                  <a:spAutoFit/>
                </a:bodyPr>
                <a:lstStyle/>
                <a:p>
                  <a:r>
                    <a:rPr lang="en-ZA" sz="2200" dirty="0">
                      <a:latin typeface="+mj-lt"/>
                    </a:rPr>
                    <a:t>Sandwich expression: the inner product of vector </a:t>
                  </a:r>
                  <a14:m>
                    <m:oMath xmlns:m="http://schemas.openxmlformats.org/officeDocument/2006/math">
                      <m:d>
                        <m:dPr>
                          <m:begChr m:val="|"/>
                          <m:endChr m:val="⟩"/>
                          <m:ctrlPr>
                            <a:rPr lang="en-US" sz="2200" i="1">
                              <a:latin typeface="Cambria Math" panose="02040503050406030204" pitchFamily="18" charset="0"/>
                            </a:rPr>
                          </m:ctrlPr>
                        </m:dPr>
                        <m:e>
                          <m:r>
                            <a:rPr lang="en-US" sz="2200" b="0" i="1" smtClean="0">
                              <a:latin typeface="Cambria Math" panose="02040503050406030204" pitchFamily="18" charset="0"/>
                            </a:rPr>
                            <m:t>𝑎</m:t>
                          </m:r>
                        </m:e>
                      </m:d>
                    </m:oMath>
                  </a14:m>
                  <a:r>
                    <a:rPr lang="en-ZA" sz="2200" dirty="0">
                      <a:latin typeface="+mj-lt"/>
                    </a:rPr>
                    <a:t> with the vector </a:t>
                  </a:r>
                  <a14:m>
                    <m:oMath xmlns:m="http://schemas.openxmlformats.org/officeDocument/2006/math">
                      <m:d>
                        <m:dPr>
                          <m:begChr m:val="|"/>
                          <m:endChr m:val="⟩"/>
                          <m:ctrlPr>
                            <a:rPr lang="en-US" sz="2200" i="1">
                              <a:latin typeface="Cambria Math" panose="02040503050406030204" pitchFamily="18" charset="0"/>
                            </a:rPr>
                          </m:ctrlPr>
                        </m:dPr>
                        <m:e>
                          <m:r>
                            <a:rPr lang="en-US" sz="2200" i="1">
                              <a:latin typeface="Cambria Math" panose="02040503050406030204" pitchFamily="18" charset="0"/>
                            </a:rPr>
                            <m:t>𝑏</m:t>
                          </m:r>
                        </m:e>
                      </m:d>
                    </m:oMath>
                  </a14:m>
                  <a:r>
                    <a:rPr lang="en-ZA" sz="2200" dirty="0">
                      <a:latin typeface="+mj-lt"/>
                    </a:rPr>
                    <a:t>  after the application of operator </a:t>
                  </a:r>
                  <a14:m>
                    <m:oMath xmlns:m="http://schemas.openxmlformats.org/officeDocument/2006/math">
                      <m:r>
                        <a:rPr lang="en-US" sz="2200" b="0" i="1" smtClean="0">
                          <a:latin typeface="Cambria Math" panose="02040503050406030204" pitchFamily="18" charset="0"/>
                        </a:rPr>
                        <m:t>𝑈</m:t>
                      </m:r>
                    </m:oMath>
                  </a14:m>
                  <a:r>
                    <a:rPr lang="en-ZA" sz="2200" dirty="0">
                      <a:latin typeface="+mj-lt"/>
                    </a:rPr>
                    <a:t>.</a:t>
                  </a:r>
                  <a:endParaRPr lang="en-US" sz="2200" dirty="0">
                    <a:latin typeface="+mj-lt"/>
                  </a:endParaRPr>
                </a:p>
              </p:txBody>
            </p:sp>
          </mc:Choice>
          <mc:Fallback xmlns="">
            <p:sp>
              <p:nvSpPr>
                <p:cNvPr id="18" name="TextBox 17">
                  <a:extLst>
                    <a:ext uri="{FF2B5EF4-FFF2-40B4-BE49-F238E27FC236}">
                      <a16:creationId xmlns:a16="http://schemas.microsoft.com/office/drawing/2014/main" id="{7B9A2980-94D8-184B-A9E4-639F7091A240}"/>
                    </a:ext>
                  </a:extLst>
                </p:cNvPr>
                <p:cNvSpPr txBox="1">
                  <a:spLocks noRot="1" noChangeAspect="1" noMove="1" noResize="1" noEditPoints="1" noAdjustHandles="1" noChangeArrowheads="1" noChangeShapeType="1" noTextEdit="1"/>
                </p:cNvSpPr>
                <p:nvPr/>
              </p:nvSpPr>
              <p:spPr>
                <a:xfrm>
                  <a:off x="276911" y="5453058"/>
                  <a:ext cx="4773267" cy="1107996"/>
                </a:xfrm>
                <a:prstGeom prst="rect">
                  <a:avLst/>
                </a:prstGeom>
                <a:blipFill>
                  <a:blip r:embed="rId7"/>
                  <a:stretch>
                    <a:fillRect l="-1326" t="-3448" b="-103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D3168C3F-4460-5943-9AF0-2E1A46F6DB55}"/>
                    </a:ext>
                  </a:extLst>
                </p:cNvPr>
                <p:cNvSpPr/>
                <p:nvPr/>
              </p:nvSpPr>
              <p:spPr>
                <a:xfrm>
                  <a:off x="5484701" y="5617668"/>
                  <a:ext cx="123848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a:latin typeface="Cambria Math" panose="02040503050406030204" pitchFamily="18" charset="0"/>
                          </a:rPr>
                          <m:t>⟨</m:t>
                        </m:r>
                        <m:r>
                          <a:rPr lang="en-US" sz="2400" i="1">
                            <a:latin typeface="Cambria Math" panose="02040503050406030204" pitchFamily="18" charset="0"/>
                          </a:rPr>
                          <m:t>𝑎</m:t>
                        </m:r>
                        <m:d>
                          <m:dPr>
                            <m:begChr m:val="|"/>
                            <m:endChr m:val="⟩"/>
                            <m:ctrlPr>
                              <a:rPr lang="en-US" sz="2400" i="1">
                                <a:latin typeface="Cambria Math" panose="02040503050406030204" pitchFamily="18" charset="0"/>
                              </a:rPr>
                            </m:ctrlPr>
                          </m:dPr>
                          <m:e>
                            <m:r>
                              <a:rPr lang="en-US" sz="2400" i="1">
                                <a:solidFill>
                                  <a:srgbClr val="0000FF"/>
                                </a:solidFill>
                                <a:latin typeface="Cambria Math" panose="02040503050406030204" pitchFamily="18" charset="0"/>
                              </a:rPr>
                              <m:t>𝑈</m:t>
                            </m:r>
                            <m:r>
                              <a:rPr lang="en-US" sz="2400" i="1">
                                <a:latin typeface="Cambria Math" panose="02040503050406030204" pitchFamily="18" charset="0"/>
                              </a:rPr>
                              <m:t>|</m:t>
                            </m:r>
                            <m:r>
                              <a:rPr lang="en-US" sz="2400" i="1">
                                <a:latin typeface="Cambria Math" panose="02040503050406030204" pitchFamily="18" charset="0"/>
                              </a:rPr>
                              <m:t>𝑏</m:t>
                            </m:r>
                          </m:e>
                        </m:d>
                      </m:oMath>
                    </m:oMathPara>
                  </a14:m>
                  <a:endParaRPr lang="en-US" sz="2400" dirty="0"/>
                </a:p>
              </p:txBody>
            </p:sp>
          </mc:Choice>
          <mc:Fallback xmlns="">
            <p:sp>
              <p:nvSpPr>
                <p:cNvPr id="19" name="Rectangle 18">
                  <a:extLst>
                    <a:ext uri="{FF2B5EF4-FFF2-40B4-BE49-F238E27FC236}">
                      <a16:creationId xmlns:a16="http://schemas.microsoft.com/office/drawing/2014/main" id="{D3168C3F-4460-5943-9AF0-2E1A46F6DB55}"/>
                    </a:ext>
                  </a:extLst>
                </p:cNvPr>
                <p:cNvSpPr>
                  <a:spLocks noRot="1" noChangeAspect="1" noMove="1" noResize="1" noEditPoints="1" noAdjustHandles="1" noChangeArrowheads="1" noChangeShapeType="1" noTextEdit="1"/>
                </p:cNvSpPr>
                <p:nvPr/>
              </p:nvSpPr>
              <p:spPr>
                <a:xfrm>
                  <a:off x="5484701" y="5617668"/>
                  <a:ext cx="1238481" cy="461665"/>
                </a:xfrm>
                <a:prstGeom prst="rect">
                  <a:avLst/>
                </a:prstGeom>
                <a:blipFill>
                  <a:blip r:embed="rId8"/>
                  <a:stretch>
                    <a:fillRect l="-1020" b="-18919"/>
                  </a:stretch>
                </a:blipFill>
              </p:spPr>
              <p:txBody>
                <a:bodyPr/>
                <a:lstStyle/>
                <a:p>
                  <a:r>
                    <a:rPr lang="en-US">
                      <a:noFill/>
                    </a:rPr>
                    <a:t> </a:t>
                  </a:r>
                </a:p>
              </p:txBody>
            </p:sp>
          </mc:Fallback>
        </mc:AlternateContent>
      </p:grpSp>
      <p:sp>
        <p:nvSpPr>
          <p:cNvPr id="23" name="Rectangle 22">
            <a:extLst>
              <a:ext uri="{FF2B5EF4-FFF2-40B4-BE49-F238E27FC236}">
                <a16:creationId xmlns:a16="http://schemas.microsoft.com/office/drawing/2014/main" id="{9E837378-3B47-0646-84C3-5404D158A017}"/>
              </a:ext>
            </a:extLst>
          </p:cNvPr>
          <p:cNvSpPr/>
          <p:nvPr/>
        </p:nvSpPr>
        <p:spPr>
          <a:xfrm>
            <a:off x="5911853" y="1388986"/>
            <a:ext cx="50797" cy="1394642"/>
          </a:xfrm>
          <a:prstGeom prst="rect">
            <a:avLst/>
          </a:prstGeom>
          <a:solidFill>
            <a:schemeClr val="tx1">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0937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blinds(horizontal)">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44431-393F-7245-9EA7-663FE0DE4C83}"/>
              </a:ext>
            </a:extLst>
          </p:cNvPr>
          <p:cNvSpPr>
            <a:spLocks noGrp="1"/>
          </p:cNvSpPr>
          <p:nvPr>
            <p:ph type="title"/>
          </p:nvPr>
        </p:nvSpPr>
        <p:spPr>
          <a:xfrm>
            <a:off x="0" y="0"/>
            <a:ext cx="12192000" cy="928688"/>
          </a:xfrm>
        </p:spPr>
        <p:txBody>
          <a:bodyPr/>
          <a:lstStyle/>
          <a:p>
            <a:r>
              <a:rPr lang="en-ZA" dirty="0"/>
              <a:t>Projectors</a:t>
            </a:r>
            <a:endParaRPr lang="en-US" dirty="0"/>
          </a:p>
        </p:txBody>
      </p:sp>
      <p:sp>
        <p:nvSpPr>
          <p:cNvPr id="3" name="Slide Number Placeholder 2">
            <a:extLst>
              <a:ext uri="{FF2B5EF4-FFF2-40B4-BE49-F238E27FC236}">
                <a16:creationId xmlns:a16="http://schemas.microsoft.com/office/drawing/2014/main" id="{21307143-E875-0343-833B-60BE977A6C3F}"/>
              </a:ext>
            </a:extLst>
          </p:cNvPr>
          <p:cNvSpPr>
            <a:spLocks noGrp="1"/>
          </p:cNvSpPr>
          <p:nvPr>
            <p:ph type="sldNum" sz="quarter" idx="12"/>
          </p:nvPr>
        </p:nvSpPr>
        <p:spPr/>
        <p:txBody>
          <a:bodyPr/>
          <a:lstStyle/>
          <a:p>
            <a:fld id="{591A223C-FA10-BC46-A853-03BA373D023C}" type="slidenum">
              <a:rPr lang="en-US" smtClean="0"/>
              <a:t>47</a:t>
            </a:fld>
            <a:endParaRPr lang="en-US"/>
          </a:p>
        </p:txBody>
      </p:sp>
      <p:cxnSp>
        <p:nvCxnSpPr>
          <p:cNvPr id="10" name="Straight Arrow Connector 9">
            <a:extLst>
              <a:ext uri="{FF2B5EF4-FFF2-40B4-BE49-F238E27FC236}">
                <a16:creationId xmlns:a16="http://schemas.microsoft.com/office/drawing/2014/main" id="{F8D5FBF3-83F0-2348-B32E-D55E6FBE6C52}"/>
              </a:ext>
            </a:extLst>
          </p:cNvPr>
          <p:cNvCxnSpPr>
            <a:cxnSpLocks/>
          </p:cNvCxnSpPr>
          <p:nvPr/>
        </p:nvCxnSpPr>
        <p:spPr>
          <a:xfrm>
            <a:off x="1511449" y="4647220"/>
            <a:ext cx="2520000" cy="2"/>
          </a:xfrm>
          <a:prstGeom prst="straightConnector1">
            <a:avLst/>
          </a:prstGeom>
          <a:ln w="38100" cap="rnd">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5850789-6AA9-CE4F-B944-E5F70BEC3579}"/>
              </a:ext>
            </a:extLst>
          </p:cNvPr>
          <p:cNvCxnSpPr>
            <a:cxnSpLocks/>
          </p:cNvCxnSpPr>
          <p:nvPr/>
        </p:nvCxnSpPr>
        <p:spPr>
          <a:xfrm flipV="1">
            <a:off x="1505682" y="2127220"/>
            <a:ext cx="0" cy="2520000"/>
          </a:xfrm>
          <a:prstGeom prst="straightConnector1">
            <a:avLst/>
          </a:prstGeom>
          <a:ln w="38100" cap="rnd">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AAC5801-4F5C-7E4F-BA55-38AA7E47BA3B}"/>
              </a:ext>
            </a:extLst>
          </p:cNvPr>
          <p:cNvCxnSpPr>
            <a:cxnSpLocks/>
          </p:cNvCxnSpPr>
          <p:nvPr/>
        </p:nvCxnSpPr>
        <p:spPr>
          <a:xfrm flipV="1">
            <a:off x="1511449" y="3162515"/>
            <a:ext cx="1612440" cy="147945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A1F8DE9C-9666-AF48-AAA8-EAE053351CFC}"/>
                  </a:ext>
                </a:extLst>
              </p:cNvPr>
              <p:cNvSpPr/>
              <p:nvPr/>
            </p:nvSpPr>
            <p:spPr>
              <a:xfrm>
                <a:off x="3351115" y="4709926"/>
                <a:ext cx="74033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0" i="1">
                                  <a:latin typeface="Cambria Math" panose="02040503050406030204" pitchFamily="18" charset="0"/>
                                </a:rPr>
                                <m:t>𝑒</m:t>
                              </m:r>
                            </m:e>
                            <m:sub>
                              <m:r>
                                <a:rPr lang="en-US" sz="2400" b="0" i="1">
                                  <a:latin typeface="Cambria Math" panose="02040503050406030204" pitchFamily="18" charset="0"/>
                                </a:rPr>
                                <m:t>1</m:t>
                              </m:r>
                            </m:sub>
                          </m:sSub>
                        </m:e>
                      </m:d>
                    </m:oMath>
                  </m:oMathPara>
                </a14:m>
                <a:endParaRPr lang="en-US" sz="2400" dirty="0"/>
              </a:p>
            </p:txBody>
          </p:sp>
        </mc:Choice>
        <mc:Fallback xmlns="">
          <p:sp>
            <p:nvSpPr>
              <p:cNvPr id="24" name="Rectangle 23">
                <a:extLst>
                  <a:ext uri="{FF2B5EF4-FFF2-40B4-BE49-F238E27FC236}">
                    <a16:creationId xmlns:a16="http://schemas.microsoft.com/office/drawing/2014/main" id="{A1F8DE9C-9666-AF48-AAA8-EAE053351CFC}"/>
                  </a:ext>
                </a:extLst>
              </p:cNvPr>
              <p:cNvSpPr>
                <a:spLocks noRot="1" noChangeAspect="1" noMove="1" noResize="1" noEditPoints="1" noAdjustHandles="1" noChangeArrowheads="1" noChangeShapeType="1" noTextEdit="1"/>
              </p:cNvSpPr>
              <p:nvPr/>
            </p:nvSpPr>
            <p:spPr>
              <a:xfrm>
                <a:off x="3351115" y="4709926"/>
                <a:ext cx="740331" cy="461665"/>
              </a:xfrm>
              <a:prstGeom prst="rect">
                <a:avLst/>
              </a:prstGeom>
              <a:blipFill>
                <a:blip r:embed="rId3"/>
                <a:stretch>
                  <a:fillRect b="-2703"/>
                </a:stretch>
              </a:blipFill>
            </p:spPr>
            <p:txBody>
              <a:bodyPr/>
              <a:lstStyle/>
              <a:p>
                <a:r>
                  <a:rPr lang="en-US">
                    <a:noFill/>
                  </a:rPr>
                  <a:t> </a:t>
                </a:r>
              </a:p>
            </p:txBody>
          </p:sp>
        </mc:Fallback>
      </mc:AlternateContent>
      <p:pic>
        <p:nvPicPr>
          <p:cNvPr id="28" name="Picture 27">
            <a:extLst>
              <a:ext uri="{FF2B5EF4-FFF2-40B4-BE49-F238E27FC236}">
                <a16:creationId xmlns:a16="http://schemas.microsoft.com/office/drawing/2014/main" id="{BE444134-6D5F-D649-9D01-4F552AE5FA98}"/>
              </a:ext>
            </a:extLst>
          </p:cNvPr>
          <p:cNvPicPr>
            <a:picLocks noChangeAspect="1"/>
          </p:cNvPicPr>
          <p:nvPr/>
        </p:nvPicPr>
        <p:blipFill>
          <a:blip r:embed="rId4"/>
          <a:stretch>
            <a:fillRect/>
          </a:stretch>
        </p:blipFill>
        <p:spPr>
          <a:xfrm rot="13444925" flipH="1">
            <a:off x="1747973" y="2449575"/>
            <a:ext cx="847939" cy="847939"/>
          </a:xfrm>
          <a:prstGeom prst="rect">
            <a:avLst/>
          </a:prstGeom>
          <a:noFill/>
        </p:spPr>
      </p:pic>
      <p:sp>
        <p:nvSpPr>
          <p:cNvPr id="30" name="Right Triangle 29">
            <a:extLst>
              <a:ext uri="{FF2B5EF4-FFF2-40B4-BE49-F238E27FC236}">
                <a16:creationId xmlns:a16="http://schemas.microsoft.com/office/drawing/2014/main" id="{7DEE4E99-6E55-2248-8ACC-3348422B8AAE}"/>
              </a:ext>
            </a:extLst>
          </p:cNvPr>
          <p:cNvSpPr/>
          <p:nvPr/>
        </p:nvSpPr>
        <p:spPr>
          <a:xfrm flipH="1">
            <a:off x="1542035" y="3161758"/>
            <a:ext cx="1581854" cy="1480216"/>
          </a:xfrm>
          <a:prstGeom prst="rtTriangle">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Rectangle 30">
                <a:extLst>
                  <a:ext uri="{FF2B5EF4-FFF2-40B4-BE49-F238E27FC236}">
                    <a16:creationId xmlns:a16="http://schemas.microsoft.com/office/drawing/2014/main" id="{F2A8A6C6-2417-8E4E-B7F3-AD2E9F493022}"/>
                  </a:ext>
                </a:extLst>
              </p:cNvPr>
              <p:cNvSpPr/>
              <p:nvPr/>
            </p:nvSpPr>
            <p:spPr>
              <a:xfrm>
                <a:off x="1657923" y="1812373"/>
                <a:ext cx="192078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rgbClr val="0000FF"/>
                              </a:solidFill>
                              <a:latin typeface="Cambria Math" panose="02040503050406030204" pitchFamily="18" charset="0"/>
                            </a:rPr>
                          </m:ctrlPr>
                        </m:sSubPr>
                        <m:e>
                          <m:r>
                            <a:rPr lang="en-US" sz="2400" b="0" i="1" smtClean="0">
                              <a:solidFill>
                                <a:srgbClr val="0000FF"/>
                              </a:solidFill>
                              <a:latin typeface="Cambria Math" panose="02040503050406030204" pitchFamily="18" charset="0"/>
                            </a:rPr>
                            <m:t>𝑃</m:t>
                          </m:r>
                        </m:e>
                        <m:sub>
                          <m:r>
                            <a:rPr lang="en-US" sz="2400" b="0" i="1" smtClean="0">
                              <a:solidFill>
                                <a:srgbClr val="0000FF"/>
                              </a:solidFill>
                              <a:latin typeface="Cambria Math" panose="02040503050406030204" pitchFamily="18" charset="0"/>
                            </a:rPr>
                            <m:t>1</m:t>
                          </m:r>
                        </m:sub>
                      </m:sSub>
                      <m:r>
                        <a:rPr lang="en-US" sz="2400" b="0" i="1" smtClean="0">
                          <a:solidFill>
                            <a:srgbClr val="0000FF"/>
                          </a:solidFill>
                          <a:latin typeface="Cambria Math" panose="02040503050406030204" pitchFamily="18" charset="0"/>
                        </a:rPr>
                        <m:t>=</m:t>
                      </m:r>
                      <m:d>
                        <m:dPr>
                          <m:begChr m:val="|"/>
                          <m:endChr m:val="⟩"/>
                          <m:ctrlPr>
                            <a:rPr lang="en-US" sz="2400" i="1" smtClean="0">
                              <a:solidFill>
                                <a:srgbClr val="0000FF"/>
                              </a:solidFill>
                              <a:latin typeface="Cambria Math" panose="02040503050406030204" pitchFamily="18" charset="0"/>
                            </a:rPr>
                          </m:ctrlPr>
                        </m:dPr>
                        <m:e>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𝑒</m:t>
                              </m:r>
                            </m:e>
                            <m:sub>
                              <m:r>
                                <a:rPr lang="en-US" sz="2400" i="1">
                                  <a:solidFill>
                                    <a:srgbClr val="0000FF"/>
                                  </a:solidFill>
                                  <a:latin typeface="Cambria Math" panose="02040503050406030204" pitchFamily="18" charset="0"/>
                                </a:rPr>
                                <m:t>1</m:t>
                              </m:r>
                            </m:sub>
                          </m:sSub>
                        </m:e>
                      </m:d>
                      <m:r>
                        <a:rPr lang="en-US" sz="2400">
                          <a:solidFill>
                            <a:srgbClr val="0000FF"/>
                          </a:solidFill>
                          <a:latin typeface="Cambria Math" panose="02040503050406030204" pitchFamily="18" charset="0"/>
                        </a:rPr>
                        <m:t>⟨</m:t>
                      </m:r>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𝑒</m:t>
                          </m:r>
                        </m:e>
                        <m:sub>
                          <m:r>
                            <a:rPr lang="en-US" sz="2400" i="1">
                              <a:solidFill>
                                <a:srgbClr val="0000FF"/>
                              </a:solidFill>
                              <a:latin typeface="Cambria Math" panose="02040503050406030204" pitchFamily="18" charset="0"/>
                            </a:rPr>
                            <m:t>1</m:t>
                          </m:r>
                        </m:sub>
                      </m:sSub>
                      <m:r>
                        <a:rPr lang="en-US" sz="2400">
                          <a:solidFill>
                            <a:srgbClr val="0000FF"/>
                          </a:solidFill>
                          <a:latin typeface="Cambria Math" panose="02040503050406030204" pitchFamily="18" charset="0"/>
                        </a:rPr>
                        <m:t>|</m:t>
                      </m:r>
                    </m:oMath>
                  </m:oMathPara>
                </a14:m>
                <a:endParaRPr lang="en-US" sz="2400" dirty="0">
                  <a:solidFill>
                    <a:srgbClr val="0000FF"/>
                  </a:solidFill>
                </a:endParaRPr>
              </a:p>
            </p:txBody>
          </p:sp>
        </mc:Choice>
        <mc:Fallback xmlns="">
          <p:sp>
            <p:nvSpPr>
              <p:cNvPr id="31" name="Rectangle 30">
                <a:extLst>
                  <a:ext uri="{FF2B5EF4-FFF2-40B4-BE49-F238E27FC236}">
                    <a16:creationId xmlns:a16="http://schemas.microsoft.com/office/drawing/2014/main" id="{F2A8A6C6-2417-8E4E-B7F3-AD2E9F493022}"/>
                  </a:ext>
                </a:extLst>
              </p:cNvPr>
              <p:cNvSpPr>
                <a:spLocks noRot="1" noChangeAspect="1" noMove="1" noResize="1" noEditPoints="1" noAdjustHandles="1" noChangeArrowheads="1" noChangeShapeType="1" noTextEdit="1"/>
              </p:cNvSpPr>
              <p:nvPr/>
            </p:nvSpPr>
            <p:spPr>
              <a:xfrm>
                <a:off x="1657923" y="1812373"/>
                <a:ext cx="1920782" cy="461665"/>
              </a:xfrm>
              <a:prstGeom prst="rect">
                <a:avLst/>
              </a:prstGeom>
              <a:blipFill>
                <a:blip r:embed="rId5"/>
                <a:stretch>
                  <a:fillRect b="-162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D3EC3D47-B55C-994F-9FEE-C6D2454BBE59}"/>
                  </a:ext>
                </a:extLst>
              </p:cNvPr>
              <p:cNvSpPr/>
              <p:nvPr/>
            </p:nvSpPr>
            <p:spPr>
              <a:xfrm>
                <a:off x="721547" y="2222081"/>
                <a:ext cx="77251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sSub>
                            <m:sSubPr>
                              <m:ctrlPr>
                                <a:rPr lang="en-US" sz="2400" i="1">
                                  <a:latin typeface="Cambria Math" panose="02040503050406030204" pitchFamily="18" charset="0"/>
                                </a:rPr>
                              </m:ctrlPr>
                            </m:sSubPr>
                            <m:e>
                              <m:r>
                                <a:rPr lang="en-US" sz="2400" b="0" i="1">
                                  <a:latin typeface="Cambria Math" panose="02040503050406030204" pitchFamily="18" charset="0"/>
                                </a:rPr>
                                <m:t>𝑒</m:t>
                              </m:r>
                            </m:e>
                            <m:sub>
                              <m:r>
                                <a:rPr lang="en-US" sz="2400" b="0" i="0" smtClean="0">
                                  <a:latin typeface="Cambria Math" panose="02040503050406030204" pitchFamily="18" charset="0"/>
                                </a:rPr>
                                <m:t>2</m:t>
                              </m:r>
                            </m:sub>
                          </m:sSub>
                        </m:e>
                      </m:d>
                    </m:oMath>
                  </m:oMathPara>
                </a14:m>
                <a:endParaRPr lang="en-US" sz="2400" dirty="0"/>
              </a:p>
            </p:txBody>
          </p:sp>
        </mc:Choice>
        <mc:Fallback xmlns="">
          <p:sp>
            <p:nvSpPr>
              <p:cNvPr id="32" name="Rectangle 31">
                <a:extLst>
                  <a:ext uri="{FF2B5EF4-FFF2-40B4-BE49-F238E27FC236}">
                    <a16:creationId xmlns:a16="http://schemas.microsoft.com/office/drawing/2014/main" id="{D3EC3D47-B55C-994F-9FEE-C6D2454BBE59}"/>
                  </a:ext>
                </a:extLst>
              </p:cNvPr>
              <p:cNvSpPr>
                <a:spLocks noRot="1" noChangeAspect="1" noMove="1" noResize="1" noEditPoints="1" noAdjustHandles="1" noChangeArrowheads="1" noChangeShapeType="1" noTextEdit="1"/>
              </p:cNvSpPr>
              <p:nvPr/>
            </p:nvSpPr>
            <p:spPr>
              <a:xfrm>
                <a:off x="721547" y="2222081"/>
                <a:ext cx="772519" cy="461665"/>
              </a:xfrm>
              <a:prstGeom prst="rect">
                <a:avLst/>
              </a:prstGeom>
              <a:blipFill>
                <a:blip r:embed="rId6"/>
                <a:stretch>
                  <a:fillRect b="-27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68BCC797-DFD6-8040-94C0-021D0CC41297}"/>
                  </a:ext>
                </a:extLst>
              </p:cNvPr>
              <p:cNvSpPr/>
              <p:nvPr/>
            </p:nvSpPr>
            <p:spPr>
              <a:xfrm>
                <a:off x="1809293" y="5194515"/>
                <a:ext cx="104733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400" i="1" smtClean="0">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𝑎</m:t>
                          </m:r>
                        </m:e>
                        <m:sub>
                          <m:r>
                            <a:rPr lang="en-US" sz="2400">
                              <a:solidFill>
                                <a:schemeClr val="tx1"/>
                              </a:solidFill>
                              <a:latin typeface="Cambria Math" panose="02040503050406030204" pitchFamily="18" charset="0"/>
                            </a:rPr>
                            <m:t>1</m:t>
                          </m:r>
                        </m:sub>
                      </m:sSub>
                      <m:d>
                        <m:dPr>
                          <m:begChr m:val="|"/>
                          <m:endChr m:val="⟩"/>
                          <m:ctrlPr>
                            <a:rPr lang="en-US" sz="2400" i="1">
                              <a:solidFill>
                                <a:schemeClr val="tx1"/>
                              </a:solidFill>
                              <a:latin typeface="Cambria Math" panose="02040503050406030204" pitchFamily="18" charset="0"/>
                            </a:rPr>
                          </m:ctrlPr>
                        </m:dPr>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𝑒</m:t>
                              </m:r>
                            </m:e>
                            <m:sub>
                              <m:r>
                                <a:rPr lang="en-US" sz="2400" i="1">
                                  <a:solidFill>
                                    <a:schemeClr val="tx1"/>
                                  </a:solidFill>
                                  <a:latin typeface="Cambria Math" panose="02040503050406030204" pitchFamily="18" charset="0"/>
                                </a:rPr>
                                <m:t>1</m:t>
                              </m:r>
                            </m:sub>
                          </m:sSub>
                        </m:e>
                      </m:d>
                    </m:oMath>
                  </m:oMathPara>
                </a14:m>
                <a:endParaRPr lang="en-US" sz="2400" dirty="0">
                  <a:solidFill>
                    <a:schemeClr val="tx1"/>
                  </a:solidFill>
                </a:endParaRPr>
              </a:p>
            </p:txBody>
          </p:sp>
        </mc:Choice>
        <mc:Fallback xmlns="">
          <p:sp>
            <p:nvSpPr>
              <p:cNvPr id="36" name="Rectangle 35">
                <a:extLst>
                  <a:ext uri="{FF2B5EF4-FFF2-40B4-BE49-F238E27FC236}">
                    <a16:creationId xmlns:a16="http://schemas.microsoft.com/office/drawing/2014/main" id="{68BCC797-DFD6-8040-94C0-021D0CC41297}"/>
                  </a:ext>
                </a:extLst>
              </p:cNvPr>
              <p:cNvSpPr>
                <a:spLocks noRot="1" noChangeAspect="1" noMove="1" noResize="1" noEditPoints="1" noAdjustHandles="1" noChangeArrowheads="1" noChangeShapeType="1" noTextEdit="1"/>
              </p:cNvSpPr>
              <p:nvPr/>
            </p:nvSpPr>
            <p:spPr>
              <a:xfrm>
                <a:off x="1809293" y="5194515"/>
                <a:ext cx="1047338" cy="461665"/>
              </a:xfrm>
              <a:prstGeom prst="rect">
                <a:avLst/>
              </a:prstGeom>
              <a:blipFill>
                <a:blip r:embed="rId7"/>
                <a:stretch>
                  <a:fillRect b="-2703"/>
                </a:stretch>
              </a:blipFill>
            </p:spPr>
            <p:txBody>
              <a:bodyPr/>
              <a:lstStyle/>
              <a:p>
                <a:r>
                  <a:rPr lang="en-US">
                    <a:noFill/>
                  </a:rPr>
                  <a:t> </a:t>
                </a:r>
              </a:p>
            </p:txBody>
          </p:sp>
        </mc:Fallback>
      </mc:AlternateContent>
      <p:sp>
        <p:nvSpPr>
          <p:cNvPr id="37" name="Left Brace 36">
            <a:extLst>
              <a:ext uri="{FF2B5EF4-FFF2-40B4-BE49-F238E27FC236}">
                <a16:creationId xmlns:a16="http://schemas.microsoft.com/office/drawing/2014/main" id="{6A55E26B-0289-474F-BA0A-21A027230125}"/>
              </a:ext>
            </a:extLst>
          </p:cNvPr>
          <p:cNvSpPr/>
          <p:nvPr/>
        </p:nvSpPr>
        <p:spPr>
          <a:xfrm rot="16200000">
            <a:off x="2053258" y="4150736"/>
            <a:ext cx="511444" cy="1629823"/>
          </a:xfrm>
          <a:prstGeom prst="leftBrace">
            <a:avLst>
              <a:gd name="adj1" fmla="val 42428"/>
              <a:gd name="adj2" fmla="val 5089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0A9184AC-F0F9-E74B-A3F8-3AC4195D7579}"/>
                  </a:ext>
                </a:extLst>
              </p:cNvPr>
              <p:cNvSpPr/>
              <p:nvPr/>
            </p:nvSpPr>
            <p:spPr>
              <a:xfrm>
                <a:off x="5176881" y="2733428"/>
                <a:ext cx="527503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a:solidFill>
                                <a:srgbClr val="0000FF"/>
                              </a:solidFill>
                              <a:latin typeface="Cambria Math" panose="02040503050406030204" pitchFamily="18" charset="0"/>
                            </a:rPr>
                          </m:ctrlPr>
                        </m:dPr>
                        <m:e>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𝑒</m:t>
                              </m:r>
                            </m:e>
                            <m:sub>
                              <m:r>
                                <a:rPr lang="en-US" sz="2400" i="1">
                                  <a:solidFill>
                                    <a:srgbClr val="0000FF"/>
                                  </a:solidFill>
                                  <a:latin typeface="Cambria Math" panose="02040503050406030204" pitchFamily="18" charset="0"/>
                                </a:rPr>
                                <m:t>1</m:t>
                              </m:r>
                            </m:sub>
                          </m:sSub>
                        </m:e>
                      </m:d>
                      <m:d>
                        <m:dPr>
                          <m:begChr m:val="⟨"/>
                          <m:endChr m:val="|"/>
                          <m:ctrlPr>
                            <a:rPr lang="en-US" sz="2400" i="1">
                              <a:solidFill>
                                <a:srgbClr val="0000FF"/>
                              </a:solidFill>
                              <a:latin typeface="Cambria Math" panose="02040503050406030204" pitchFamily="18" charset="0"/>
                            </a:rPr>
                          </m:ctrlPr>
                        </m:dPr>
                        <m:e>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𝑒</m:t>
                              </m:r>
                            </m:e>
                            <m:sub>
                              <m:r>
                                <a:rPr lang="en-US" sz="2400" i="1">
                                  <a:solidFill>
                                    <a:srgbClr val="0000FF"/>
                                  </a:solidFill>
                                  <a:latin typeface="Cambria Math" panose="02040503050406030204" pitchFamily="18" charset="0"/>
                                </a:rPr>
                                <m:t>1</m:t>
                              </m:r>
                            </m:sub>
                          </m:sSub>
                        </m:e>
                      </m:d>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𝑣</m:t>
                          </m:r>
                        </m:e>
                      </m:d>
                      <m:r>
                        <a:rPr lang="en-US" sz="2400" b="0" i="0" smtClean="0">
                          <a:latin typeface="Cambria Math" panose="02040503050406030204" pitchFamily="18" charset="0"/>
                        </a:rPr>
                        <m:t>=</m:t>
                      </m:r>
                      <m:d>
                        <m:dPr>
                          <m:begChr m:val="|"/>
                          <m:endChr m:val="⟩"/>
                          <m:ctrlPr>
                            <a:rPr lang="en-US" sz="2400" i="1" smtClean="0">
                              <a:solidFill>
                                <a:srgbClr val="0000FF"/>
                              </a:solidFill>
                              <a:latin typeface="Cambria Math" panose="02040503050406030204" pitchFamily="18" charset="0"/>
                            </a:rPr>
                          </m:ctrlPr>
                        </m:dPr>
                        <m:e>
                          <m:sSub>
                            <m:sSubPr>
                              <m:ctrlPr>
                                <a:rPr lang="en-US" sz="2400" i="1">
                                  <a:solidFill>
                                    <a:srgbClr val="0000FF"/>
                                  </a:solidFill>
                                  <a:latin typeface="Cambria Math" panose="02040503050406030204" pitchFamily="18" charset="0"/>
                                </a:rPr>
                              </m:ctrlPr>
                            </m:sSubPr>
                            <m:e>
                              <m:r>
                                <a:rPr lang="en-US" sz="2400" b="0" i="1">
                                  <a:solidFill>
                                    <a:srgbClr val="0000FF"/>
                                  </a:solidFill>
                                  <a:latin typeface="Cambria Math" panose="02040503050406030204" pitchFamily="18" charset="0"/>
                                </a:rPr>
                                <m:t>𝑒</m:t>
                              </m:r>
                            </m:e>
                            <m:sub>
                              <m:r>
                                <a:rPr lang="en-US" sz="2400" b="0" i="1">
                                  <a:solidFill>
                                    <a:srgbClr val="0000FF"/>
                                  </a:solidFill>
                                  <a:latin typeface="Cambria Math" panose="02040503050406030204" pitchFamily="18" charset="0"/>
                                </a:rPr>
                                <m:t>1</m:t>
                              </m:r>
                            </m:sub>
                          </m:sSub>
                        </m:e>
                      </m:d>
                      <m:d>
                        <m:dPr>
                          <m:begChr m:val="⟨"/>
                          <m:endChr m:val="|"/>
                          <m:ctrlPr>
                            <a:rPr lang="en-US" sz="2400" i="1">
                              <a:solidFill>
                                <a:srgbClr val="0000FF"/>
                              </a:solidFill>
                              <a:latin typeface="Cambria Math" panose="02040503050406030204" pitchFamily="18" charset="0"/>
                            </a:rPr>
                          </m:ctrlPr>
                        </m:dPr>
                        <m:e>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𝑒</m:t>
                              </m:r>
                            </m:e>
                            <m:sub>
                              <m:r>
                                <a:rPr lang="en-US" sz="2400" i="1">
                                  <a:solidFill>
                                    <a:srgbClr val="0000FF"/>
                                  </a:solidFill>
                                  <a:latin typeface="Cambria Math" panose="02040503050406030204" pitchFamily="18" charset="0"/>
                                </a:rPr>
                                <m:t>1</m:t>
                              </m:r>
                            </m:sub>
                          </m:sSub>
                        </m:e>
                      </m:d>
                      <m:r>
                        <a:rPr lang="en-US" sz="2400" b="0" i="1" smtClean="0">
                          <a:latin typeface="Cambria Math" panose="02040503050406030204" pitchFamily="18" charset="0"/>
                        </a:rPr>
                        <m:t> </m:t>
                      </m:r>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0" smtClean="0">
                                  <a:latin typeface="Cambria Math" panose="02040503050406030204" pitchFamily="18" charset="0"/>
                                </a:rPr>
                                <m:t>1</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en-US" sz="2400" i="1">
                                      <a:latin typeface="Cambria Math" panose="02040503050406030204" pitchFamily="18" charset="0"/>
                                    </a:rPr>
                                    <m:t>1</m:t>
                                  </m:r>
                                </m:sub>
                              </m:sSub>
                            </m:e>
                          </m:d>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b="0" i="0" smtClean="0">
                                  <a:latin typeface="Cambria Math" panose="02040503050406030204" pitchFamily="18" charset="0"/>
                                </a:rPr>
                                <m:t>2</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en-US" sz="2400" b="0" i="1" smtClean="0">
                                      <a:latin typeface="Cambria Math" panose="02040503050406030204" pitchFamily="18" charset="0"/>
                                    </a:rPr>
                                    <m:t>2</m:t>
                                  </m:r>
                                </m:sub>
                              </m:sSub>
                            </m:e>
                          </m:d>
                        </m:e>
                      </m:d>
                    </m:oMath>
                  </m:oMathPara>
                </a14:m>
                <a:endParaRPr lang="en-US" sz="2400" dirty="0"/>
              </a:p>
            </p:txBody>
          </p:sp>
        </mc:Choice>
        <mc:Fallback xmlns="">
          <p:sp>
            <p:nvSpPr>
              <p:cNvPr id="35" name="Rectangle 34">
                <a:extLst>
                  <a:ext uri="{FF2B5EF4-FFF2-40B4-BE49-F238E27FC236}">
                    <a16:creationId xmlns:a16="http://schemas.microsoft.com/office/drawing/2014/main" id="{0A9184AC-F0F9-E74B-A3F8-3AC4195D7579}"/>
                  </a:ext>
                </a:extLst>
              </p:cNvPr>
              <p:cNvSpPr>
                <a:spLocks noRot="1" noChangeAspect="1" noMove="1" noResize="1" noEditPoints="1" noAdjustHandles="1" noChangeArrowheads="1" noChangeShapeType="1" noTextEdit="1"/>
              </p:cNvSpPr>
              <p:nvPr/>
            </p:nvSpPr>
            <p:spPr>
              <a:xfrm>
                <a:off x="5176881" y="2733428"/>
                <a:ext cx="5275034" cy="461665"/>
              </a:xfrm>
              <a:prstGeom prst="rect">
                <a:avLst/>
              </a:prstGeom>
              <a:blipFill>
                <a:blip r:embed="rId8"/>
                <a:stretch>
                  <a:fillRect b="-18421"/>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063282B0-4FAC-2742-A111-F6F58B2E3896}"/>
              </a:ext>
            </a:extLst>
          </p:cNvPr>
          <p:cNvGrpSpPr/>
          <p:nvPr/>
        </p:nvGrpSpPr>
        <p:grpSpPr>
          <a:xfrm>
            <a:off x="5204421" y="2036124"/>
            <a:ext cx="4378392" cy="477053"/>
            <a:chOff x="5204421" y="2036124"/>
            <a:chExt cx="4378392" cy="477053"/>
          </a:xfrm>
        </p:grpSpPr>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454309E7-66F4-1D42-A71D-A03CD289E4BB}"/>
                    </a:ext>
                  </a:extLst>
                </p:cNvPr>
                <p:cNvSpPr/>
                <p:nvPr/>
              </p:nvSpPr>
              <p:spPr>
                <a:xfrm>
                  <a:off x="5204421" y="2036124"/>
                  <a:ext cx="2912849" cy="461665"/>
                </a:xfrm>
                <a:prstGeom prst="rect">
                  <a:avLst/>
                </a:prstGeom>
              </p:spPr>
              <p:txBody>
                <a:bodyPr wrap="none">
                  <a:spAutoFit/>
                </a:bodyPr>
                <a:lstStyle/>
                <a:p>
                  <a14:m>
                    <m:oMath xmlns:m="http://schemas.openxmlformats.org/officeDocument/2006/math">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𝑣</m:t>
                          </m:r>
                        </m:e>
                      </m:d>
                      <m:r>
                        <a:rPr lang="en-US" sz="2400" b="0" i="1">
                          <a:latin typeface="Cambria Math" panose="02040503050406030204" pitchFamily="18" charset="0"/>
                        </a:rPr>
                        <m:t>=</m:t>
                      </m:r>
                    </m:oMath>
                  </a14:m>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b="0" i="1">
                              <a:latin typeface="Cambria Math" panose="02040503050406030204" pitchFamily="18" charset="0"/>
                            </a:rPr>
                            <m:t>𝑎</m:t>
                          </m:r>
                        </m:e>
                        <m:sub>
                          <m:r>
                            <a:rPr lang="en-US" sz="2400" b="0" i="1">
                              <a:latin typeface="Cambria Math" panose="02040503050406030204" pitchFamily="18" charset="0"/>
                            </a:rPr>
                            <m:t>1</m:t>
                          </m:r>
                        </m:sub>
                      </m:sSub>
                    </m:oMath>
                  </a14:m>
                  <a:r>
                    <a:rPr lang="en-US" sz="2400" dirty="0"/>
                    <a:t> </a:t>
                  </a:r>
                  <a14:m>
                    <m:oMath xmlns:m="http://schemas.openxmlformats.org/officeDocument/2006/math">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0" i="1">
                                  <a:latin typeface="Cambria Math" panose="02040503050406030204" pitchFamily="18" charset="0"/>
                                </a:rPr>
                                <m:t>𝑒</m:t>
                              </m:r>
                            </m:e>
                            <m:sub>
                              <m:r>
                                <a:rPr lang="en-US" sz="2400" b="0" i="1">
                                  <a:latin typeface="Cambria Math" panose="02040503050406030204" pitchFamily="18" charset="0"/>
                                </a:rPr>
                                <m:t>1</m:t>
                              </m:r>
                            </m:sub>
                          </m:sSub>
                        </m:e>
                      </m:d>
                      <m:r>
                        <a:rPr lang="en-US" sz="2400" b="0" i="1">
                          <a:latin typeface="Cambria Math" panose="02040503050406030204" pitchFamily="18" charset="0"/>
                        </a:rPr>
                        <m:t> </m:t>
                      </m:r>
                    </m:oMath>
                  </a14:m>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b="0" i="1">
                              <a:latin typeface="Cambria Math" panose="02040503050406030204" pitchFamily="18" charset="0"/>
                            </a:rPr>
                            <m:t>𝑎</m:t>
                          </m:r>
                        </m:e>
                        <m:sub>
                          <m:r>
                            <a:rPr lang="en-US" sz="2400" b="0" i="1">
                              <a:latin typeface="Cambria Math" panose="02040503050406030204" pitchFamily="18" charset="0"/>
                            </a:rPr>
                            <m:t>2</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b="0" i="1">
                                  <a:latin typeface="Cambria Math" panose="02040503050406030204" pitchFamily="18" charset="0"/>
                                </a:rPr>
                                <m:t>𝑒</m:t>
                              </m:r>
                            </m:e>
                            <m:sub>
                              <m:r>
                                <a:rPr lang="en-US" sz="2400" b="0" i="1" smtClean="0">
                                  <a:latin typeface="Cambria Math" panose="02040503050406030204" pitchFamily="18" charset="0"/>
                                </a:rPr>
                                <m:t>2</m:t>
                              </m:r>
                            </m:sub>
                          </m:sSub>
                        </m:e>
                      </m:d>
                    </m:oMath>
                  </a14:m>
                  <a:endParaRPr lang="en-US" sz="2400" dirty="0"/>
                </a:p>
              </p:txBody>
            </p:sp>
          </mc:Choice>
          <mc:Fallback xmlns="">
            <p:sp>
              <p:nvSpPr>
                <p:cNvPr id="34" name="Rectangle 33">
                  <a:extLst>
                    <a:ext uri="{FF2B5EF4-FFF2-40B4-BE49-F238E27FC236}">
                      <a16:creationId xmlns:a16="http://schemas.microsoft.com/office/drawing/2014/main" id="{454309E7-66F4-1D42-A71D-A03CD289E4BB}"/>
                    </a:ext>
                  </a:extLst>
                </p:cNvPr>
                <p:cNvSpPr>
                  <a:spLocks noRot="1" noChangeAspect="1" noMove="1" noResize="1" noEditPoints="1" noAdjustHandles="1" noChangeArrowheads="1" noChangeShapeType="1" noTextEdit="1"/>
                </p:cNvSpPr>
                <p:nvPr/>
              </p:nvSpPr>
              <p:spPr>
                <a:xfrm>
                  <a:off x="5204421" y="2036124"/>
                  <a:ext cx="2912849" cy="461665"/>
                </a:xfrm>
                <a:prstGeom prst="rect">
                  <a:avLst/>
                </a:prstGeom>
                <a:blipFill>
                  <a:blip r:embed="rId9"/>
                  <a:stretch>
                    <a:fillRect t="-5263" b="-26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EAC7A795-643B-AD48-B4D8-C2AB4B8DC51A}"/>
                    </a:ext>
                  </a:extLst>
                </p:cNvPr>
                <p:cNvSpPr/>
                <p:nvPr/>
              </p:nvSpPr>
              <p:spPr>
                <a:xfrm>
                  <a:off x="8034569" y="2051512"/>
                  <a:ext cx="1548244" cy="461665"/>
                </a:xfrm>
                <a:prstGeom prst="rect">
                  <a:avLst/>
                </a:prstGeom>
                <a:ln>
                  <a:noFill/>
                </a:ln>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ea typeface="Cambria Math" panose="02040503050406030204" pitchFamily="18" charset="0"/>
                          </a:rPr>
                          <m:t>∙</m:t>
                        </m:r>
                        <m:d>
                          <m:dPr>
                            <m:begChr m:val="|"/>
                            <m:endChr m:val="⟩"/>
                            <m:ctrlPr>
                              <a:rPr lang="en-US" sz="2400" i="1">
                                <a:solidFill>
                                  <a:srgbClr val="0000FF"/>
                                </a:solidFill>
                                <a:latin typeface="Cambria Math" panose="02040503050406030204" pitchFamily="18" charset="0"/>
                              </a:rPr>
                            </m:ctrlPr>
                          </m:dPr>
                          <m:e>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𝑒</m:t>
                                </m:r>
                              </m:e>
                              <m:sub>
                                <m:r>
                                  <a:rPr lang="en-US" sz="2400" i="1">
                                    <a:solidFill>
                                      <a:srgbClr val="0000FF"/>
                                    </a:solidFill>
                                    <a:latin typeface="Cambria Math" panose="02040503050406030204" pitchFamily="18" charset="0"/>
                                  </a:rPr>
                                  <m:t>1</m:t>
                                </m:r>
                              </m:sub>
                            </m:sSub>
                          </m:e>
                        </m:d>
                        <m:d>
                          <m:dPr>
                            <m:begChr m:val="⟨"/>
                            <m:endChr m:val="|"/>
                            <m:ctrlPr>
                              <a:rPr lang="en-US" sz="2400" i="1">
                                <a:solidFill>
                                  <a:srgbClr val="0000FF"/>
                                </a:solidFill>
                                <a:latin typeface="Cambria Math" panose="02040503050406030204" pitchFamily="18" charset="0"/>
                              </a:rPr>
                            </m:ctrlPr>
                          </m:dPr>
                          <m:e>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𝑒</m:t>
                                </m:r>
                              </m:e>
                              <m:sub>
                                <m:r>
                                  <a:rPr lang="en-US" sz="2400" i="1">
                                    <a:solidFill>
                                      <a:srgbClr val="0000FF"/>
                                    </a:solidFill>
                                    <a:latin typeface="Cambria Math" panose="02040503050406030204" pitchFamily="18" charset="0"/>
                                  </a:rPr>
                                  <m:t>1</m:t>
                                </m:r>
                              </m:sub>
                            </m:sSub>
                          </m:e>
                        </m:d>
                      </m:oMath>
                    </m:oMathPara>
                  </a14:m>
                  <a:endParaRPr lang="en-US" sz="2400" dirty="0">
                    <a:solidFill>
                      <a:srgbClr val="FF0000"/>
                    </a:solidFill>
                  </a:endParaRPr>
                </a:p>
              </p:txBody>
            </p:sp>
          </mc:Choice>
          <mc:Fallback xmlns="">
            <p:sp>
              <p:nvSpPr>
                <p:cNvPr id="38" name="Rectangle 37">
                  <a:extLst>
                    <a:ext uri="{FF2B5EF4-FFF2-40B4-BE49-F238E27FC236}">
                      <a16:creationId xmlns:a16="http://schemas.microsoft.com/office/drawing/2014/main" id="{EAC7A795-643B-AD48-B4D8-C2AB4B8DC51A}"/>
                    </a:ext>
                  </a:extLst>
                </p:cNvPr>
                <p:cNvSpPr>
                  <a:spLocks noRot="1" noChangeAspect="1" noMove="1" noResize="1" noEditPoints="1" noAdjustHandles="1" noChangeArrowheads="1" noChangeShapeType="1" noTextEdit="1"/>
                </p:cNvSpPr>
                <p:nvPr/>
              </p:nvSpPr>
              <p:spPr>
                <a:xfrm>
                  <a:off x="8034569" y="2051512"/>
                  <a:ext cx="1548244" cy="461665"/>
                </a:xfrm>
                <a:prstGeom prst="rect">
                  <a:avLst/>
                </a:prstGeom>
                <a:blipFill>
                  <a:blip r:embed="rId10"/>
                  <a:stretch>
                    <a:fillRect l="-813" b="-16216"/>
                  </a:stretch>
                </a:blipFill>
                <a:ln>
                  <a:noFill/>
                </a:ln>
              </p:spPr>
              <p:txBody>
                <a:bodyPr/>
                <a:lstStyle/>
                <a:p>
                  <a:r>
                    <a:rPr lang="en-US">
                      <a:noFill/>
                    </a:rPr>
                    <a:t> </a:t>
                  </a:r>
                </a:p>
              </p:txBody>
            </p:sp>
          </mc:Fallback>
        </mc:AlternateContent>
      </p:grpSp>
      <p:grpSp>
        <p:nvGrpSpPr>
          <p:cNvPr id="6" name="Group 5">
            <a:extLst>
              <a:ext uri="{FF2B5EF4-FFF2-40B4-BE49-F238E27FC236}">
                <a16:creationId xmlns:a16="http://schemas.microsoft.com/office/drawing/2014/main" id="{ECD1CCFB-A648-5741-AE88-74E404EA5871}"/>
              </a:ext>
            </a:extLst>
          </p:cNvPr>
          <p:cNvGrpSpPr/>
          <p:nvPr/>
        </p:nvGrpSpPr>
        <p:grpSpPr>
          <a:xfrm>
            <a:off x="6609043" y="3154346"/>
            <a:ext cx="5250861" cy="700861"/>
            <a:chOff x="6609043" y="3154346"/>
            <a:chExt cx="5250861" cy="700861"/>
          </a:xfrm>
        </p:grpSpPr>
        <mc:AlternateContent xmlns:mc="http://schemas.openxmlformats.org/markup-compatibility/2006" xmlns:a14="http://schemas.microsoft.com/office/drawing/2010/main">
          <mc:Choice Requires="a14">
            <p:sp>
              <p:nvSpPr>
                <p:cNvPr id="39" name="Rectangle 38">
                  <a:extLst>
                    <a:ext uri="{FF2B5EF4-FFF2-40B4-BE49-F238E27FC236}">
                      <a16:creationId xmlns:a16="http://schemas.microsoft.com/office/drawing/2014/main" id="{8311EAAB-44D8-E447-93F3-2B809857DEAC}"/>
                    </a:ext>
                  </a:extLst>
                </p:cNvPr>
                <p:cNvSpPr/>
                <p:nvPr/>
              </p:nvSpPr>
              <p:spPr>
                <a:xfrm>
                  <a:off x="6609043" y="3393542"/>
                  <a:ext cx="525086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en-US" sz="2400" i="1">
                                    <a:latin typeface="Cambria Math" panose="02040503050406030204" pitchFamily="18" charset="0"/>
                                  </a:rPr>
                                  <m:t>1</m:t>
                                </m:r>
                              </m:sub>
                            </m:sSub>
                          </m:e>
                        </m:d>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en-US" sz="2400" i="1">
                                    <a:latin typeface="Cambria Math" panose="02040503050406030204" pitchFamily="18" charset="0"/>
                                  </a:rPr>
                                  <m:t>1</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en-US" sz="2400" i="1">
                                        <a:latin typeface="Cambria Math" panose="02040503050406030204" pitchFamily="18" charset="0"/>
                                      </a:rPr>
                                      <m:t>1</m:t>
                                    </m:r>
                                  </m:sub>
                                </m:sSub>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2</m:t>
                                </m:r>
                              </m:sub>
                            </m:sSub>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en-US" sz="2400" i="1">
                                    <a:latin typeface="Cambria Math" panose="02040503050406030204" pitchFamily="18" charset="0"/>
                                  </a:rPr>
                                  <m:t>1</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en-US" sz="2400" i="1">
                                        <a:latin typeface="Cambria Math" panose="02040503050406030204" pitchFamily="18" charset="0"/>
                                      </a:rPr>
                                      <m:t>2</m:t>
                                    </m:r>
                                  </m:sub>
                                </m:sSub>
                              </m:e>
                            </m:d>
                          </m:e>
                        </m:d>
                        <m:r>
                          <a:rPr lang="en-US" sz="2400">
                            <a:latin typeface="Cambria Math" panose="02040503050406030204" pitchFamily="18" charset="0"/>
                          </a:rPr>
                          <m:t>=</m:t>
                        </m:r>
                        <m:sSub>
                          <m:sSubPr>
                            <m:ctrlPr>
                              <a:rPr lang="en-US" sz="2400" i="1" smtClean="0">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en-US" sz="2400" i="1">
                                    <a:latin typeface="Cambria Math" panose="02040503050406030204" pitchFamily="18" charset="0"/>
                                  </a:rPr>
                                  <m:t>1</m:t>
                                </m:r>
                              </m:sub>
                            </m:sSub>
                          </m:e>
                        </m:d>
                      </m:oMath>
                    </m:oMathPara>
                  </a14:m>
                  <a:endParaRPr lang="en-US" sz="2400" dirty="0"/>
                </a:p>
              </p:txBody>
            </p:sp>
          </mc:Choice>
          <mc:Fallback xmlns="">
            <p:sp>
              <p:nvSpPr>
                <p:cNvPr id="39" name="Rectangle 38">
                  <a:extLst>
                    <a:ext uri="{FF2B5EF4-FFF2-40B4-BE49-F238E27FC236}">
                      <a16:creationId xmlns:a16="http://schemas.microsoft.com/office/drawing/2014/main" id="{8311EAAB-44D8-E447-93F3-2B809857DEAC}"/>
                    </a:ext>
                  </a:extLst>
                </p:cNvPr>
                <p:cNvSpPr>
                  <a:spLocks noRot="1" noChangeAspect="1" noMove="1" noResize="1" noEditPoints="1" noAdjustHandles="1" noChangeArrowheads="1" noChangeShapeType="1" noTextEdit="1"/>
                </p:cNvSpPr>
                <p:nvPr/>
              </p:nvSpPr>
              <p:spPr>
                <a:xfrm>
                  <a:off x="6609043" y="3393542"/>
                  <a:ext cx="5250861" cy="461665"/>
                </a:xfrm>
                <a:prstGeom prst="rect">
                  <a:avLst/>
                </a:prstGeom>
                <a:blipFill>
                  <a:blip r:embed="rId11"/>
                  <a:stretch>
                    <a:fillRect b="-15789"/>
                  </a:stretch>
                </a:blipFill>
              </p:spPr>
              <p:txBody>
                <a:bodyPr/>
                <a:lstStyle/>
                <a:p>
                  <a:r>
                    <a:rPr lang="en-US">
                      <a:noFill/>
                    </a:rPr>
                    <a:t> </a:t>
                  </a:r>
                </a:p>
              </p:txBody>
            </p:sp>
          </mc:Fallback>
        </mc:AlternateContent>
        <p:cxnSp>
          <p:nvCxnSpPr>
            <p:cNvPr id="43" name="Straight Arrow Connector 42">
              <a:extLst>
                <a:ext uri="{FF2B5EF4-FFF2-40B4-BE49-F238E27FC236}">
                  <a16:creationId xmlns:a16="http://schemas.microsoft.com/office/drawing/2014/main" id="{41F200C2-B0C9-D143-BFDA-7A27FAFC6F79}"/>
                </a:ext>
              </a:extLst>
            </p:cNvPr>
            <p:cNvCxnSpPr>
              <a:cxnSpLocks/>
            </p:cNvCxnSpPr>
            <p:nvPr/>
          </p:nvCxnSpPr>
          <p:spPr>
            <a:xfrm flipV="1">
              <a:off x="8234137" y="3389985"/>
              <a:ext cx="275771" cy="46166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466A02BB-1341-7A41-8123-36F8EABFC2E0}"/>
                </a:ext>
              </a:extLst>
            </p:cNvPr>
            <p:cNvCxnSpPr>
              <a:cxnSpLocks/>
            </p:cNvCxnSpPr>
            <p:nvPr/>
          </p:nvCxnSpPr>
          <p:spPr>
            <a:xfrm flipV="1">
              <a:off x="9822750" y="3389985"/>
              <a:ext cx="275771" cy="46166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Rectangle 45">
                  <a:extLst>
                    <a:ext uri="{FF2B5EF4-FFF2-40B4-BE49-F238E27FC236}">
                      <a16:creationId xmlns:a16="http://schemas.microsoft.com/office/drawing/2014/main" id="{648FFF17-3F3F-8647-BB70-8EDB7AB0F0BD}"/>
                    </a:ext>
                  </a:extLst>
                </p:cNvPr>
                <p:cNvSpPr/>
                <p:nvPr/>
              </p:nvSpPr>
              <p:spPr>
                <a:xfrm>
                  <a:off x="8372022" y="3154346"/>
                  <a:ext cx="3754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m:t>
                        </m:r>
                      </m:oMath>
                    </m:oMathPara>
                  </a14:m>
                  <a:endParaRPr lang="en-US" dirty="0"/>
                </a:p>
              </p:txBody>
            </p:sp>
          </mc:Choice>
          <mc:Fallback xmlns="">
            <p:sp>
              <p:nvSpPr>
                <p:cNvPr id="46" name="Rectangle 45">
                  <a:extLst>
                    <a:ext uri="{FF2B5EF4-FFF2-40B4-BE49-F238E27FC236}">
                      <a16:creationId xmlns:a16="http://schemas.microsoft.com/office/drawing/2014/main" id="{648FFF17-3F3F-8647-BB70-8EDB7AB0F0BD}"/>
                    </a:ext>
                  </a:extLst>
                </p:cNvPr>
                <p:cNvSpPr>
                  <a:spLocks noRot="1" noChangeAspect="1" noMove="1" noResize="1" noEditPoints="1" noAdjustHandles="1" noChangeArrowheads="1" noChangeShapeType="1" noTextEdit="1"/>
                </p:cNvSpPr>
                <p:nvPr/>
              </p:nvSpPr>
              <p:spPr>
                <a:xfrm>
                  <a:off x="8372022" y="3154346"/>
                  <a:ext cx="375423"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Rectangle 46">
                  <a:extLst>
                    <a:ext uri="{FF2B5EF4-FFF2-40B4-BE49-F238E27FC236}">
                      <a16:creationId xmlns:a16="http://schemas.microsoft.com/office/drawing/2014/main" id="{963653FB-26A6-CD43-84E9-BD1031E306EB}"/>
                    </a:ext>
                  </a:extLst>
                </p:cNvPr>
                <p:cNvSpPr/>
                <p:nvPr/>
              </p:nvSpPr>
              <p:spPr>
                <a:xfrm>
                  <a:off x="10010719" y="3154346"/>
                  <a:ext cx="375423"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m:t>
                        </m:r>
                      </m:oMath>
                    </m:oMathPara>
                  </a14:m>
                  <a:endParaRPr lang="en-US" dirty="0"/>
                </a:p>
              </p:txBody>
            </p:sp>
          </mc:Choice>
          <mc:Fallback xmlns="">
            <p:sp>
              <p:nvSpPr>
                <p:cNvPr id="47" name="Rectangle 46">
                  <a:extLst>
                    <a:ext uri="{FF2B5EF4-FFF2-40B4-BE49-F238E27FC236}">
                      <a16:creationId xmlns:a16="http://schemas.microsoft.com/office/drawing/2014/main" id="{963653FB-26A6-CD43-84E9-BD1031E306EB}"/>
                    </a:ext>
                  </a:extLst>
                </p:cNvPr>
                <p:cNvSpPr>
                  <a:spLocks noRot="1" noChangeAspect="1" noMove="1" noResize="1" noEditPoints="1" noAdjustHandles="1" noChangeArrowheads="1" noChangeShapeType="1" noTextEdit="1"/>
                </p:cNvSpPr>
                <p:nvPr/>
              </p:nvSpPr>
              <p:spPr>
                <a:xfrm>
                  <a:off x="10010719" y="3154346"/>
                  <a:ext cx="375423" cy="369332"/>
                </a:xfrm>
                <a:prstGeom prst="rect">
                  <a:avLst/>
                </a:prstGeom>
                <a:blipFill>
                  <a:blip r:embed="rId13"/>
                  <a:stretch>
                    <a:fillRect/>
                  </a:stretch>
                </a:blipFill>
              </p:spPr>
              <p:txBody>
                <a:bodyPr/>
                <a:lstStyle/>
                <a:p>
                  <a:r>
                    <a:rPr lang="en-US">
                      <a:noFill/>
                    </a:rPr>
                    <a:t> </a:t>
                  </a:r>
                </a:p>
              </p:txBody>
            </p:sp>
          </mc:Fallback>
        </mc:AlternateContent>
      </p:grpSp>
      <p:grpSp>
        <p:nvGrpSpPr>
          <p:cNvPr id="7" name="Group 6">
            <a:extLst>
              <a:ext uri="{FF2B5EF4-FFF2-40B4-BE49-F238E27FC236}">
                <a16:creationId xmlns:a16="http://schemas.microsoft.com/office/drawing/2014/main" id="{C9B28BD1-9773-BA4D-99B3-892FC91B0D28}"/>
              </a:ext>
            </a:extLst>
          </p:cNvPr>
          <p:cNvGrpSpPr/>
          <p:nvPr/>
        </p:nvGrpSpPr>
        <p:grpSpPr>
          <a:xfrm>
            <a:off x="6117361" y="4128036"/>
            <a:ext cx="2719271" cy="1392233"/>
            <a:chOff x="6117361" y="4128036"/>
            <a:chExt cx="2719271" cy="1392233"/>
          </a:xfrm>
        </p:grpSpPr>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4EFC6738-D01D-744A-8D62-B6CD06B26D32}"/>
                    </a:ext>
                  </a:extLst>
                </p:cNvPr>
                <p:cNvSpPr/>
                <p:nvPr/>
              </p:nvSpPr>
              <p:spPr>
                <a:xfrm>
                  <a:off x="6117361" y="4922695"/>
                  <a:ext cx="2719271" cy="461665"/>
                </a:xfrm>
                <a:prstGeom prst="rect">
                  <a:avLst/>
                </a:prstGeom>
              </p:spPr>
              <p:txBody>
                <a:bodyPr wrap="none">
                  <a:spAutoFit/>
                </a:bodyPr>
                <a:lstStyle/>
                <a:p>
                  <a14:m>
                    <m:oMath xmlns:m="http://schemas.openxmlformats.org/officeDocument/2006/math">
                      <m:d>
                        <m:dPr>
                          <m:begChr m:val="|"/>
                          <m:endChr m:val="⟩"/>
                          <m:ctrlPr>
                            <a:rPr lang="en-US" sz="2400" i="1" smtClean="0">
                              <a:solidFill>
                                <a:srgbClr val="0000FF"/>
                              </a:solidFill>
                              <a:latin typeface="Cambria Math" panose="02040503050406030204" pitchFamily="18" charset="0"/>
                            </a:rPr>
                          </m:ctrlPr>
                        </m:dPr>
                        <m:e>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𝑒</m:t>
                              </m:r>
                            </m:e>
                            <m:sub>
                              <m:r>
                                <a:rPr lang="en-US" sz="2400" i="1">
                                  <a:solidFill>
                                    <a:srgbClr val="0000FF"/>
                                  </a:solidFill>
                                  <a:latin typeface="Cambria Math" panose="02040503050406030204" pitchFamily="18" charset="0"/>
                                </a:rPr>
                                <m:t>1</m:t>
                              </m:r>
                            </m:sub>
                          </m:sSub>
                        </m:e>
                      </m:d>
                      <m:d>
                        <m:dPr>
                          <m:begChr m:val="⟨"/>
                          <m:endChr m:val="|"/>
                          <m:ctrlPr>
                            <a:rPr lang="en-US" sz="2400" i="1">
                              <a:solidFill>
                                <a:srgbClr val="0000FF"/>
                              </a:solidFill>
                              <a:latin typeface="Cambria Math" panose="02040503050406030204" pitchFamily="18" charset="0"/>
                            </a:rPr>
                          </m:ctrlPr>
                        </m:dPr>
                        <m:e>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𝑒</m:t>
                              </m:r>
                            </m:e>
                            <m:sub>
                              <m:r>
                                <a:rPr lang="en-US" sz="2400" i="1">
                                  <a:solidFill>
                                    <a:srgbClr val="0000FF"/>
                                  </a:solidFill>
                                  <a:latin typeface="Cambria Math" panose="02040503050406030204" pitchFamily="18" charset="0"/>
                                </a:rPr>
                                <m:t>1</m:t>
                              </m:r>
                            </m:sub>
                          </m:sSub>
                        </m:e>
                      </m:d>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𝑣</m:t>
                          </m:r>
                        </m:e>
                      </m:d>
                      <m:r>
                        <a:rPr lang="en-US" sz="2400" b="1" i="1" smtClean="0">
                          <a:latin typeface="Cambria Math" panose="02040503050406030204" pitchFamily="18" charset="0"/>
                        </a:rPr>
                        <m:t>=</m:t>
                      </m:r>
                    </m:oMath>
                  </a14:m>
                  <a:r>
                    <a:rPr lang="en-US" sz="2400" dirty="0"/>
                    <a:t>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𝑎</m:t>
                          </m:r>
                        </m:e>
                        <m:sub>
                          <m:r>
                            <a:rPr lang="en-US" sz="2400">
                              <a:latin typeface="Cambria Math" panose="02040503050406030204" pitchFamily="18" charset="0"/>
                            </a:rPr>
                            <m:t>1</m:t>
                          </m:r>
                        </m:sub>
                      </m:sSub>
                      <m:d>
                        <m:dPr>
                          <m:begChr m:val="|"/>
                          <m:endChr m:val="⟩"/>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en-US" sz="2400" i="1">
                                  <a:latin typeface="Cambria Math" panose="02040503050406030204" pitchFamily="18" charset="0"/>
                                </a:rPr>
                                <m:t>1</m:t>
                              </m:r>
                            </m:sub>
                          </m:sSub>
                        </m:e>
                      </m:d>
                    </m:oMath>
                  </a14:m>
                  <a:endParaRPr lang="en-US" sz="2400" dirty="0"/>
                </a:p>
              </p:txBody>
            </p:sp>
          </mc:Choice>
          <mc:Fallback xmlns="">
            <p:sp>
              <p:nvSpPr>
                <p:cNvPr id="40" name="Rectangle 39">
                  <a:extLst>
                    <a:ext uri="{FF2B5EF4-FFF2-40B4-BE49-F238E27FC236}">
                      <a16:creationId xmlns:a16="http://schemas.microsoft.com/office/drawing/2014/main" id="{4EFC6738-D01D-744A-8D62-B6CD06B26D32}"/>
                    </a:ext>
                  </a:extLst>
                </p:cNvPr>
                <p:cNvSpPr>
                  <a:spLocks noRot="1" noChangeAspect="1" noMove="1" noResize="1" noEditPoints="1" noAdjustHandles="1" noChangeArrowheads="1" noChangeShapeType="1" noTextEdit="1"/>
                </p:cNvSpPr>
                <p:nvPr/>
              </p:nvSpPr>
              <p:spPr>
                <a:xfrm>
                  <a:off x="6117361" y="4922695"/>
                  <a:ext cx="2719271" cy="461665"/>
                </a:xfrm>
                <a:prstGeom prst="rect">
                  <a:avLst/>
                </a:prstGeom>
                <a:blipFill>
                  <a:blip r:embed="rId14"/>
                  <a:stretch>
                    <a:fillRect/>
                  </a:stretch>
                </a:blipFill>
              </p:spPr>
              <p:txBody>
                <a:bodyPr/>
                <a:lstStyle/>
                <a:p>
                  <a:r>
                    <a:rPr lang="en-US">
                      <a:noFill/>
                    </a:rPr>
                    <a:t> </a:t>
                  </a:r>
                </a:p>
              </p:txBody>
            </p:sp>
          </mc:Fallback>
        </mc:AlternateContent>
        <p:sp>
          <p:nvSpPr>
            <p:cNvPr id="41" name="Down Arrow 40">
              <a:extLst>
                <a:ext uri="{FF2B5EF4-FFF2-40B4-BE49-F238E27FC236}">
                  <a16:creationId xmlns:a16="http://schemas.microsoft.com/office/drawing/2014/main" id="{1413E0BF-5317-7B40-992A-25C0743C3539}"/>
                </a:ext>
              </a:extLst>
            </p:cNvPr>
            <p:cNvSpPr/>
            <p:nvPr/>
          </p:nvSpPr>
          <p:spPr>
            <a:xfrm>
              <a:off x="7149407" y="4128036"/>
              <a:ext cx="523093" cy="584589"/>
            </a:xfrm>
            <a:prstGeom prst="downArrow">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99651EE6-360D-5D4A-891F-DECDCA3DF28A}"/>
                </a:ext>
              </a:extLst>
            </p:cNvPr>
            <p:cNvSpPr/>
            <p:nvPr/>
          </p:nvSpPr>
          <p:spPr>
            <a:xfrm>
              <a:off x="7756649" y="4786784"/>
              <a:ext cx="876811" cy="73348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6A97CB6E-D3D2-D848-9A0F-F6F76F2EAF27}"/>
                  </a:ext>
                </a:extLst>
              </p:cNvPr>
              <p:cNvSpPr/>
              <p:nvPr/>
            </p:nvSpPr>
            <p:spPr>
              <a:xfrm>
                <a:off x="1657923" y="3644105"/>
                <a:ext cx="259205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𝑣</m:t>
                          </m:r>
                        </m:e>
                      </m:d>
                      <m:r>
                        <a:rPr lang="en-US" sz="2000" i="1">
                          <a:latin typeface="Cambria Math" panose="02040503050406030204" pitchFamily="18" charset="0"/>
                        </a:rPr>
                        <m:t>=</m:t>
                      </m:r>
                      <m:r>
                        <m:rPr>
                          <m:nor/>
                        </m:rPr>
                        <a:rPr lang="en-US" sz="2000" dirty="0"/>
                        <m:t> </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1</m:t>
                          </m:r>
                        </m:sub>
                      </m:sSub>
                      <m:r>
                        <m:rPr>
                          <m:nor/>
                        </m:rPr>
                        <a:rPr lang="en-US" sz="2000" dirty="0"/>
                        <m:t> </m:t>
                      </m:r>
                      <m:d>
                        <m:dPr>
                          <m:begChr m:val="|"/>
                          <m:endChr m:val="⟩"/>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𝑒</m:t>
                              </m:r>
                            </m:e>
                            <m:sub>
                              <m:r>
                                <a:rPr lang="en-US" sz="2000" i="1">
                                  <a:latin typeface="Cambria Math" panose="02040503050406030204" pitchFamily="18" charset="0"/>
                                </a:rPr>
                                <m:t>1</m:t>
                              </m:r>
                            </m:sub>
                          </m:sSub>
                        </m:e>
                      </m:d>
                      <m:r>
                        <a:rPr lang="en-US" sz="2000" i="1">
                          <a:latin typeface="Cambria Math" panose="02040503050406030204" pitchFamily="18" charset="0"/>
                        </a:rPr>
                        <m:t> </m:t>
                      </m:r>
                      <m:r>
                        <m:rPr>
                          <m:nor/>
                        </m:rPr>
                        <a:rPr lang="en-US" sz="2000" dirty="0"/>
                        <m:t>+ </m:t>
                      </m:r>
                      <m:sSub>
                        <m:sSubPr>
                          <m:ctrlPr>
                            <a:rPr lang="en-US" sz="2000" i="1">
                              <a:latin typeface="Cambria Math" panose="02040503050406030204" pitchFamily="18" charset="0"/>
                            </a:rPr>
                          </m:ctrlPr>
                        </m:sSubPr>
                        <m:e>
                          <m:r>
                            <a:rPr lang="en-US" sz="2000" i="1">
                              <a:latin typeface="Cambria Math" panose="02040503050406030204" pitchFamily="18" charset="0"/>
                            </a:rPr>
                            <m:t>𝑎</m:t>
                          </m:r>
                        </m:e>
                        <m:sub>
                          <m:r>
                            <a:rPr lang="en-US" sz="2000" i="1">
                              <a:latin typeface="Cambria Math" panose="02040503050406030204" pitchFamily="18" charset="0"/>
                            </a:rPr>
                            <m:t>2</m:t>
                          </m:r>
                        </m:sub>
                      </m:sSub>
                      <m:d>
                        <m:dPr>
                          <m:begChr m:val="|"/>
                          <m:endChr m:val="⟩"/>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𝑒</m:t>
                              </m:r>
                            </m:e>
                            <m:sub>
                              <m:r>
                                <a:rPr lang="en-US" sz="2000" i="1">
                                  <a:latin typeface="Cambria Math" panose="02040503050406030204" pitchFamily="18" charset="0"/>
                                </a:rPr>
                                <m:t>2</m:t>
                              </m:r>
                            </m:sub>
                          </m:sSub>
                        </m:e>
                      </m:d>
                    </m:oMath>
                  </m:oMathPara>
                </a14:m>
                <a:endParaRPr lang="en-US" sz="2000" dirty="0"/>
              </a:p>
            </p:txBody>
          </p:sp>
        </mc:Choice>
        <mc:Fallback xmlns="">
          <p:sp>
            <p:nvSpPr>
              <p:cNvPr id="20" name="Rectangle 19">
                <a:extLst>
                  <a:ext uri="{FF2B5EF4-FFF2-40B4-BE49-F238E27FC236}">
                    <a16:creationId xmlns:a16="http://schemas.microsoft.com/office/drawing/2014/main" id="{6A97CB6E-D3D2-D848-9A0F-F6F76F2EAF27}"/>
                  </a:ext>
                </a:extLst>
              </p:cNvPr>
              <p:cNvSpPr>
                <a:spLocks noRot="1" noChangeAspect="1" noMove="1" noResize="1" noEditPoints="1" noAdjustHandles="1" noChangeArrowheads="1" noChangeShapeType="1" noTextEdit="1"/>
              </p:cNvSpPr>
              <p:nvPr/>
            </p:nvSpPr>
            <p:spPr>
              <a:xfrm>
                <a:off x="1657923" y="3644105"/>
                <a:ext cx="2592055" cy="400110"/>
              </a:xfrm>
              <a:prstGeom prst="rect">
                <a:avLst/>
              </a:prstGeom>
              <a:blipFill>
                <a:blip r:embed="rId15"/>
                <a:stretch>
                  <a:fillRect t="-3125" b="-18750"/>
                </a:stretch>
              </a:blipFill>
            </p:spPr>
            <p:txBody>
              <a:bodyPr/>
              <a:lstStyle/>
              <a:p>
                <a:r>
                  <a:rPr lang="en-US">
                    <a:noFill/>
                  </a:rPr>
                  <a:t> </a:t>
                </a:r>
              </a:p>
            </p:txBody>
          </p:sp>
        </mc:Fallback>
      </mc:AlternateContent>
    </p:spTree>
    <p:extLst>
      <p:ext uri="{BB962C8B-B14F-4D97-AF65-F5344CB8AC3E}">
        <p14:creationId xmlns:p14="http://schemas.microsoft.com/office/powerpoint/2010/main" val="2549844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dissolv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517DC8A-7AB7-DA4D-9150-0B8E9D328BD9}"/>
              </a:ext>
            </a:extLst>
          </p:cNvPr>
          <p:cNvSpPr>
            <a:spLocks noGrp="1"/>
          </p:cNvSpPr>
          <p:nvPr>
            <p:ph type="sldNum" sz="quarter" idx="12"/>
          </p:nvPr>
        </p:nvSpPr>
        <p:spPr/>
        <p:txBody>
          <a:bodyPr/>
          <a:lstStyle/>
          <a:p>
            <a:fld id="{591A223C-FA10-BC46-A853-03BA373D023C}" type="slidenum">
              <a:rPr lang="en-US" smtClean="0"/>
              <a:t>48</a:t>
            </a:fld>
            <a:endParaRPr lang="en-US"/>
          </a:p>
        </p:txBody>
      </p:sp>
      <p:sp>
        <p:nvSpPr>
          <p:cNvPr id="3" name="Title 2">
            <a:extLst>
              <a:ext uri="{FF2B5EF4-FFF2-40B4-BE49-F238E27FC236}">
                <a16:creationId xmlns:a16="http://schemas.microsoft.com/office/drawing/2014/main" id="{D166824B-A26E-014A-A24D-266EFA88444E}"/>
              </a:ext>
            </a:extLst>
          </p:cNvPr>
          <p:cNvSpPr>
            <a:spLocks noGrp="1"/>
          </p:cNvSpPr>
          <p:nvPr>
            <p:ph type="title"/>
          </p:nvPr>
        </p:nvSpPr>
        <p:spPr>
          <a:xfrm>
            <a:off x="0" y="0"/>
            <a:ext cx="12192000" cy="928688"/>
          </a:xfrm>
        </p:spPr>
        <p:txBody>
          <a:bodyPr/>
          <a:lstStyle/>
          <a:p>
            <a:r>
              <a:rPr lang="en-ZA" dirty="0"/>
              <a:t>The completeness relation</a:t>
            </a:r>
            <a:endParaRPr lang="en-US" dirty="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37E590BE-9AB3-EE45-B555-4C3BC6283456}"/>
                  </a:ext>
                </a:extLst>
              </p:cNvPr>
              <p:cNvSpPr/>
              <p:nvPr/>
            </p:nvSpPr>
            <p:spPr>
              <a:xfrm>
                <a:off x="643467" y="1301529"/>
                <a:ext cx="2407262" cy="1137876"/>
              </a:xfrm>
              <a:prstGeom prst="rect">
                <a:avLst/>
              </a:prstGeom>
              <a:solidFill>
                <a:schemeClr val="accent2">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nary>
                        <m:naryPr>
                          <m:chr m:val="∑"/>
                          <m:supHide m:val="on"/>
                          <m:ctrlPr>
                            <a:rPr lang="en-US" sz="2800" i="1">
                              <a:latin typeface="Cambria Math" panose="02040503050406030204" pitchFamily="18" charset="0"/>
                            </a:rPr>
                          </m:ctrlPr>
                        </m:naryPr>
                        <m:sub>
                          <m:r>
                            <m:rPr>
                              <m:brk m:alnAt="7"/>
                            </m:rPr>
                            <a:rPr lang="en-US" sz="2800" i="1">
                              <a:latin typeface="Cambria Math" panose="02040503050406030204" pitchFamily="18" charset="0"/>
                            </a:rPr>
                            <m:t>𝑖</m:t>
                          </m:r>
                        </m:sub>
                        <m:sup/>
                        <m:e>
                          <m:d>
                            <m:dPr>
                              <m:begChr m:val="|"/>
                              <m:endChr m:val="⟩"/>
                              <m:ctrlPr>
                                <a:rPr lang="en-US" sz="2800" i="1">
                                  <a:latin typeface="Cambria Math" panose="02040503050406030204" pitchFamily="18" charset="0"/>
                                  <a:ea typeface="Cambria Math" panose="02040503050406030204" pitchFamily="18" charset="0"/>
                                </a:rPr>
                              </m:ctrlPr>
                            </m:dPr>
                            <m:e>
                              <m:sSub>
                                <m:sSubPr>
                                  <m:ctrlPr>
                                    <a:rPr lang="en-US"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𝑒</m:t>
                                  </m:r>
                                </m:e>
                                <m:sub>
                                  <m:r>
                                    <a:rPr lang="en-US" sz="2800" i="1">
                                      <a:solidFill>
                                        <a:srgbClr val="0000FF"/>
                                      </a:solidFill>
                                      <a:latin typeface="Cambria Math" panose="02040503050406030204" pitchFamily="18" charset="0"/>
                                    </a:rPr>
                                    <m:t>𝑖</m:t>
                                  </m:r>
                                </m:sub>
                              </m:sSub>
                            </m:e>
                          </m:d>
                          <m:r>
                            <a:rPr lang="en-US" sz="2800" i="1">
                              <a:latin typeface="Cambria Math" panose="02040503050406030204" pitchFamily="18" charset="0"/>
                              <a:ea typeface="Cambria Math" panose="02040503050406030204" pitchFamily="18" charset="0"/>
                            </a:rPr>
                            <m:t>⟨</m:t>
                          </m:r>
                          <m:sSub>
                            <m:sSubPr>
                              <m:ctrlPr>
                                <a:rPr lang="en-US" sz="2800" i="1">
                                  <a:solidFill>
                                    <a:srgbClr val="0000FF"/>
                                  </a:solidFill>
                                  <a:latin typeface="Cambria Math" panose="02040503050406030204" pitchFamily="18" charset="0"/>
                                </a:rPr>
                              </m:ctrlPr>
                            </m:sSubPr>
                            <m:e>
                              <m:r>
                                <a:rPr lang="en-US" sz="2800" i="1">
                                  <a:solidFill>
                                    <a:srgbClr val="0000FF"/>
                                  </a:solidFill>
                                  <a:latin typeface="Cambria Math" panose="02040503050406030204" pitchFamily="18" charset="0"/>
                                </a:rPr>
                                <m:t>𝑒</m:t>
                              </m:r>
                            </m:e>
                            <m:sub>
                              <m:r>
                                <a:rPr lang="en-US" sz="2800" i="1">
                                  <a:solidFill>
                                    <a:srgbClr val="0000FF"/>
                                  </a:solidFill>
                                  <a:latin typeface="Cambria Math" panose="02040503050406030204" pitchFamily="18" charset="0"/>
                                </a:rPr>
                                <m:t>𝑖</m:t>
                              </m:r>
                            </m:sub>
                          </m:sSub>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𝐼</m:t>
                          </m:r>
                        </m:e>
                      </m:nary>
                    </m:oMath>
                  </m:oMathPara>
                </a14:m>
                <a:endParaRPr lang="en-US" sz="2800" dirty="0"/>
              </a:p>
            </p:txBody>
          </p:sp>
        </mc:Choice>
        <mc:Fallback xmlns="">
          <p:sp>
            <p:nvSpPr>
              <p:cNvPr id="5" name="Rectangle 4">
                <a:extLst>
                  <a:ext uri="{FF2B5EF4-FFF2-40B4-BE49-F238E27FC236}">
                    <a16:creationId xmlns:a16="http://schemas.microsoft.com/office/drawing/2014/main" id="{37E590BE-9AB3-EE45-B555-4C3BC6283456}"/>
                  </a:ext>
                </a:extLst>
              </p:cNvPr>
              <p:cNvSpPr>
                <a:spLocks noRot="1" noChangeAspect="1" noMove="1" noResize="1" noEditPoints="1" noAdjustHandles="1" noChangeArrowheads="1" noChangeShapeType="1" noTextEdit="1"/>
              </p:cNvSpPr>
              <p:nvPr/>
            </p:nvSpPr>
            <p:spPr>
              <a:xfrm>
                <a:off x="643467" y="1301529"/>
                <a:ext cx="2407262" cy="1137876"/>
              </a:xfrm>
              <a:prstGeom prst="rect">
                <a:avLst/>
              </a:prstGeom>
              <a:blipFill>
                <a:blip r:embed="rId3"/>
                <a:stretch>
                  <a:fillRect l="-49474" t="-127473" b="-180220"/>
                </a:stretch>
              </a:blipFill>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D49271E8-FC1B-3349-9AE3-51618A7D3171}"/>
              </a:ext>
            </a:extLst>
          </p:cNvPr>
          <p:cNvGrpSpPr/>
          <p:nvPr/>
        </p:nvGrpSpPr>
        <p:grpSpPr>
          <a:xfrm>
            <a:off x="643467" y="3061130"/>
            <a:ext cx="10176933" cy="1280685"/>
            <a:chOff x="643467" y="2929467"/>
            <a:chExt cx="10176933" cy="1280685"/>
          </a:xfrm>
        </p:grpSpPr>
        <p:sp>
          <p:nvSpPr>
            <p:cNvPr id="9" name="Rectangle 8">
              <a:extLst>
                <a:ext uri="{FF2B5EF4-FFF2-40B4-BE49-F238E27FC236}">
                  <a16:creationId xmlns:a16="http://schemas.microsoft.com/office/drawing/2014/main" id="{32A9AAAF-77BF-EA4D-AB3D-E73948275679}"/>
                </a:ext>
              </a:extLst>
            </p:cNvPr>
            <p:cNvSpPr/>
            <p:nvPr/>
          </p:nvSpPr>
          <p:spPr>
            <a:xfrm>
              <a:off x="643467" y="2929467"/>
              <a:ext cx="10176933" cy="113453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7530984-3ACC-9E46-868E-B7ED3154031F}"/>
                </a:ext>
              </a:extLst>
            </p:cNvPr>
            <p:cNvSpPr txBox="1"/>
            <p:nvPr/>
          </p:nvSpPr>
          <p:spPr>
            <a:xfrm>
              <a:off x="914400" y="3291298"/>
              <a:ext cx="1504123" cy="461665"/>
            </a:xfrm>
            <a:prstGeom prst="rect">
              <a:avLst/>
            </a:prstGeom>
            <a:noFill/>
          </p:spPr>
          <p:txBody>
            <a:bodyPr wrap="square" rtlCol="0">
              <a:spAutoFit/>
            </a:bodyPr>
            <a:lstStyle/>
            <a:p>
              <a:r>
                <a:rPr lang="en-US" sz="2400" dirty="0"/>
                <a:t>Example:</a:t>
              </a: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6D9AB97-658B-FC43-9BFB-F261480688BC}"/>
                    </a:ext>
                  </a:extLst>
                </p:cNvPr>
                <p:cNvSpPr/>
                <p:nvPr/>
              </p:nvSpPr>
              <p:spPr>
                <a:xfrm>
                  <a:off x="2260551" y="3132678"/>
                  <a:ext cx="8263467" cy="1077474"/>
                </a:xfrm>
                <a:prstGeom prst="rect">
                  <a:avLst/>
                </a:prstGeom>
              </p:spPr>
              <p:txBody>
                <a:bodyPr wrap="square">
                  <a:spAutoFit/>
                </a:bodyPr>
                <a:lstStyle/>
                <a:p>
                  <a:pPr algn="just"/>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solidFill>
                                  <a:srgbClr val="0000FF"/>
                                </a:solidFill>
                                <a:latin typeface="Cambria Math" panose="02040503050406030204" pitchFamily="18" charset="0"/>
                              </a:rPr>
                              <m:t>0</m:t>
                            </m:r>
                          </m:e>
                        </m:d>
                        <m:r>
                          <a:rPr lang="en-US" sz="2400" i="1">
                            <a:latin typeface="Cambria Math" panose="02040503050406030204" pitchFamily="18" charset="0"/>
                            <a:ea typeface="Cambria Math" panose="02040503050406030204" pitchFamily="18" charset="0"/>
                          </a:rPr>
                          <m:t>⟨</m:t>
                        </m:r>
                        <m:r>
                          <a:rPr lang="en-US" sz="2400" i="1" smtClean="0">
                            <a:solidFill>
                              <a:srgbClr val="0000FF"/>
                            </a:solidFill>
                            <a:latin typeface="Cambria Math" panose="02040503050406030204" pitchFamily="18" charset="0"/>
                          </a:rPr>
                          <m:t>0</m:t>
                        </m:r>
                        <m:r>
                          <a:rPr lang="en-US" sz="2400" i="1">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r>
                              <a:rPr lang="en-US" sz="2400" b="0" i="1" smtClean="0">
                                <a:solidFill>
                                  <a:srgbClr val="0000FF"/>
                                </a:solidFill>
                                <a:latin typeface="Cambria Math" panose="02040503050406030204" pitchFamily="18" charset="0"/>
                              </a:rPr>
                              <m:t>1</m:t>
                            </m:r>
                          </m:e>
                        </m:d>
                        <m:r>
                          <a:rPr lang="en-US" sz="2400" i="1">
                            <a:latin typeface="Cambria Math" panose="02040503050406030204" pitchFamily="18" charset="0"/>
                            <a:ea typeface="Cambria Math" panose="02040503050406030204" pitchFamily="18" charset="0"/>
                          </a:rPr>
                          <m:t>⟨</m:t>
                        </m:r>
                        <m:r>
                          <a:rPr lang="en-US" sz="2400" b="0" i="1" smtClean="0">
                            <a:solidFill>
                              <a:srgbClr val="0000FF"/>
                            </a:solidFill>
                            <a:latin typeface="Cambria Math" panose="02040503050406030204" pitchFamily="18" charset="0"/>
                          </a:rPr>
                          <m:t>1</m:t>
                        </m:r>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e>
                              </m:mr>
                              <m:mr>
                                <m:e>
                                  <m:r>
                                    <a:rPr lang="en-US" sz="2400" i="1">
                                      <a:latin typeface="Cambria Math" panose="02040503050406030204" pitchFamily="18" charset="0"/>
                                    </a:rPr>
                                    <m:t>0</m:t>
                                  </m:r>
                                </m:e>
                              </m:mr>
                            </m:m>
                          </m:e>
                        </m:d>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e>
                                <m:e>
                                  <m:r>
                                    <a:rPr lang="en-US" sz="2400" i="1">
                                      <a:latin typeface="Cambria Math" panose="02040503050406030204" pitchFamily="18" charset="0"/>
                                    </a:rPr>
                                    <m:t>0</m:t>
                                  </m:r>
                                </m:e>
                              </m:mr>
                            </m:m>
                          </m:e>
                        </m:d>
                        <m:r>
                          <a:rPr lang="en-US" sz="2400" i="1">
                            <a:latin typeface="Cambria Math" panose="02040503050406030204" pitchFamily="18" charset="0"/>
                          </a:rPr>
                          <m:t>+</m:t>
                        </m:r>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0</m:t>
                                  </m:r>
                                </m:e>
                              </m:mr>
                              <m:mr>
                                <m:e>
                                  <m:r>
                                    <a:rPr lang="en-US" sz="2400" i="1">
                                      <a:latin typeface="Cambria Math" panose="02040503050406030204" pitchFamily="18" charset="0"/>
                                    </a:rPr>
                                    <m:t>1</m:t>
                                  </m:r>
                                </m:e>
                              </m:mr>
                            </m:m>
                          </m:e>
                        </m:d>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0</m:t>
                                  </m:r>
                                </m:e>
                                <m:e>
                                  <m:r>
                                    <a:rPr lang="en-US" sz="2400" i="1">
                                      <a:latin typeface="Cambria Math" panose="02040503050406030204" pitchFamily="18" charset="0"/>
                                    </a:rPr>
                                    <m:t>1</m:t>
                                  </m:r>
                                </m:e>
                              </m:mr>
                            </m:m>
                          </m:e>
                        </m:d>
                        <m:r>
                          <a:rPr lang="en-US" sz="2400" i="1">
                            <a:latin typeface="Cambria Math" panose="02040503050406030204" pitchFamily="18" charset="0"/>
                          </a:rPr>
                          <m:t>=</m:t>
                        </m:r>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1</m:t>
                                  </m:r>
                                </m:e>
                              </m:mr>
                            </m:m>
                          </m:e>
                        </m:d>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𝐼</m:t>
                        </m:r>
                      </m:oMath>
                    </m:oMathPara>
                  </a14:m>
                  <a:endParaRPr lang="en-ZA" sz="2400" dirty="0"/>
                </a:p>
                <a:p>
                  <a:pPr algn="just"/>
                  <a:endParaRPr lang="en-ZA" sz="2400" dirty="0"/>
                </a:p>
              </p:txBody>
            </p:sp>
          </mc:Choice>
          <mc:Fallback xmlns="">
            <p:sp>
              <p:nvSpPr>
                <p:cNvPr id="7" name="Rectangle 6">
                  <a:extLst>
                    <a:ext uri="{FF2B5EF4-FFF2-40B4-BE49-F238E27FC236}">
                      <a16:creationId xmlns:a16="http://schemas.microsoft.com/office/drawing/2014/main" id="{36D9AB97-658B-FC43-9BFB-F261480688BC}"/>
                    </a:ext>
                  </a:extLst>
                </p:cNvPr>
                <p:cNvSpPr>
                  <a:spLocks noRot="1" noChangeAspect="1" noMove="1" noResize="1" noEditPoints="1" noAdjustHandles="1" noChangeArrowheads="1" noChangeShapeType="1" noTextEdit="1"/>
                </p:cNvSpPr>
                <p:nvPr/>
              </p:nvSpPr>
              <p:spPr>
                <a:xfrm>
                  <a:off x="2260551" y="3132678"/>
                  <a:ext cx="8263467" cy="1077474"/>
                </a:xfrm>
                <a:prstGeom prst="rect">
                  <a:avLst/>
                </a:prstGeom>
                <a:blipFill>
                  <a:blip r:embed="rId4"/>
                  <a:stretch>
                    <a:fillRect/>
                  </a:stretch>
                </a:blipFill>
              </p:spPr>
              <p:txBody>
                <a:bodyPr/>
                <a:lstStyle/>
                <a:p>
                  <a:r>
                    <a:rPr lang="en-US">
                      <a:noFill/>
                    </a:rPr>
                    <a:t> </a:t>
                  </a:r>
                </a:p>
              </p:txBody>
            </p:sp>
          </mc:Fallback>
        </mc:AlternateContent>
      </p:grpSp>
      <p:grpSp>
        <p:nvGrpSpPr>
          <p:cNvPr id="14" name="Group 13">
            <a:extLst>
              <a:ext uri="{FF2B5EF4-FFF2-40B4-BE49-F238E27FC236}">
                <a16:creationId xmlns:a16="http://schemas.microsoft.com/office/drawing/2014/main" id="{B55DA841-3198-1141-8529-324AD1BD2930}"/>
              </a:ext>
            </a:extLst>
          </p:cNvPr>
          <p:cNvGrpSpPr/>
          <p:nvPr/>
        </p:nvGrpSpPr>
        <p:grpSpPr>
          <a:xfrm>
            <a:off x="643467" y="5047305"/>
            <a:ext cx="10176933" cy="1134533"/>
            <a:chOff x="753485" y="4616204"/>
            <a:chExt cx="10176933" cy="1134533"/>
          </a:xfrm>
        </p:grpSpPr>
        <p:sp>
          <p:nvSpPr>
            <p:cNvPr id="12" name="Rectangle 11">
              <a:extLst>
                <a:ext uri="{FF2B5EF4-FFF2-40B4-BE49-F238E27FC236}">
                  <a16:creationId xmlns:a16="http://schemas.microsoft.com/office/drawing/2014/main" id="{3875EC1A-57F7-A344-B689-3D5485E2E42A}"/>
                </a:ext>
              </a:extLst>
            </p:cNvPr>
            <p:cNvSpPr/>
            <p:nvPr/>
          </p:nvSpPr>
          <p:spPr>
            <a:xfrm>
              <a:off x="753485" y="4616204"/>
              <a:ext cx="10176933" cy="1134533"/>
            </a:xfrm>
            <a:prstGeom prst="rect">
              <a:avLst/>
            </a:prstGeom>
            <a:solidFill>
              <a:srgbClr val="FCFF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39FBBEC0-AB90-584C-8BA0-F6C71A774067}"/>
                    </a:ext>
                  </a:extLst>
                </p:cNvPr>
                <p:cNvSpPr/>
                <p:nvPr/>
              </p:nvSpPr>
              <p:spPr>
                <a:xfrm>
                  <a:off x="4061201" y="4762197"/>
                  <a:ext cx="6462817" cy="98854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sr-Latn-RS" sz="2400" b="0" i="1" smtClean="0">
                                <a:latin typeface="Cambria Math" panose="02040503050406030204" pitchFamily="18" charset="0"/>
                              </a:rPr>
                              <m:t>𝑎</m:t>
                            </m:r>
                          </m:e>
                        </m:d>
                        <m:r>
                          <a:rPr lang="en-US" sz="2400" i="1">
                            <a:latin typeface="Cambria Math" panose="02040503050406030204" pitchFamily="18" charset="0"/>
                          </a:rPr>
                          <m:t>=</m:t>
                        </m:r>
                        <m:nary>
                          <m:naryPr>
                            <m:chr m:val="∑"/>
                            <m:supHide m:val="on"/>
                            <m:ctrlPr>
                              <a:rPr lang="en-US" sz="2400" i="1">
                                <a:latin typeface="Cambria Math" panose="02040503050406030204" pitchFamily="18" charset="0"/>
                              </a:rPr>
                            </m:ctrlPr>
                          </m:naryPr>
                          <m:sub>
                            <m:r>
                              <m:rPr>
                                <m:brk m:alnAt="7"/>
                              </m:rPr>
                              <a:rPr lang="en-US" sz="2400" i="1">
                                <a:latin typeface="Cambria Math" panose="02040503050406030204" pitchFamily="18" charset="0"/>
                              </a:rPr>
                              <m:t>𝑖</m:t>
                            </m:r>
                          </m:sub>
                          <m:sup/>
                          <m:e>
                            <m:d>
                              <m:dPr>
                                <m:begChr m:val="|"/>
                                <m:endChr m:val="⟩"/>
                                <m:ctrlPr>
                                  <a:rPr lang="en-US" sz="2400" i="1">
                                    <a:solidFill>
                                      <a:srgbClr val="0000FF"/>
                                    </a:solidFill>
                                    <a:latin typeface="Cambria Math" panose="02040503050406030204" pitchFamily="18" charset="0"/>
                                    <a:ea typeface="Cambria Math" panose="02040503050406030204" pitchFamily="18" charset="0"/>
                                  </a:rPr>
                                </m:ctrlPr>
                              </m:dPr>
                              <m:e>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𝑒</m:t>
                                    </m:r>
                                  </m:e>
                                  <m:sub>
                                    <m:r>
                                      <a:rPr lang="en-US" sz="2400" i="1">
                                        <a:solidFill>
                                          <a:srgbClr val="0000FF"/>
                                        </a:solidFill>
                                        <a:latin typeface="Cambria Math" panose="02040503050406030204" pitchFamily="18" charset="0"/>
                                      </a:rPr>
                                      <m:t>𝑖</m:t>
                                    </m:r>
                                  </m:sub>
                                </m:sSub>
                              </m:e>
                            </m:d>
                            <m:r>
                              <a:rPr lang="en-US" sz="2400" i="1">
                                <a:solidFill>
                                  <a:srgbClr val="0000FF"/>
                                </a:solidFill>
                                <a:latin typeface="Cambria Math" panose="02040503050406030204" pitchFamily="18" charset="0"/>
                                <a:ea typeface="Cambria Math" panose="02040503050406030204" pitchFamily="18" charset="0"/>
                              </a:rPr>
                              <m:t>⟨</m:t>
                            </m:r>
                            <m:sSub>
                              <m:sSubPr>
                                <m:ctrlPr>
                                  <a:rPr lang="en-US" sz="2400" i="1">
                                    <a:solidFill>
                                      <a:srgbClr val="0000FF"/>
                                    </a:solidFill>
                                    <a:latin typeface="Cambria Math" panose="02040503050406030204" pitchFamily="18" charset="0"/>
                                  </a:rPr>
                                </m:ctrlPr>
                              </m:sSubPr>
                              <m:e>
                                <m:r>
                                  <a:rPr lang="en-US" sz="2400" i="1">
                                    <a:solidFill>
                                      <a:srgbClr val="0000FF"/>
                                    </a:solidFill>
                                    <a:latin typeface="Cambria Math" panose="02040503050406030204" pitchFamily="18" charset="0"/>
                                  </a:rPr>
                                  <m:t>𝑒</m:t>
                                </m:r>
                              </m:e>
                              <m:sub>
                                <m:r>
                                  <a:rPr lang="en-US" sz="2400" i="1">
                                    <a:solidFill>
                                      <a:srgbClr val="0000FF"/>
                                    </a:solidFill>
                                    <a:latin typeface="Cambria Math" panose="02040503050406030204" pitchFamily="18" charset="0"/>
                                  </a:rPr>
                                  <m:t>𝑖</m:t>
                                </m:r>
                              </m:sub>
                            </m:sSub>
                            <m:r>
                              <a:rPr lang="en-US" sz="2400" i="1">
                                <a:solidFill>
                                  <a:srgbClr val="0000FF"/>
                                </a:solidFill>
                                <a:latin typeface="Cambria Math" panose="02040503050406030204" pitchFamily="18" charset="0"/>
                                <a:ea typeface="Cambria Math" panose="02040503050406030204" pitchFamily="18" charset="0"/>
                              </a:rPr>
                              <m:t>|</m:t>
                            </m:r>
                          </m:e>
                        </m:nary>
                        <m:d>
                          <m:dPr>
                            <m:begChr m:val="|"/>
                            <m:endChr m:val="⟩"/>
                            <m:ctrlPr>
                              <a:rPr lang="en-US" sz="2400" i="1">
                                <a:latin typeface="Cambria Math" panose="02040503050406030204" pitchFamily="18" charset="0"/>
                              </a:rPr>
                            </m:ctrlPr>
                          </m:dPr>
                          <m:e>
                            <m:r>
                              <a:rPr lang="sr-Latn-RS" sz="2400" b="0" i="1" smtClean="0">
                                <a:latin typeface="Cambria Math" panose="02040503050406030204" pitchFamily="18" charset="0"/>
                              </a:rPr>
                              <m:t>𝑎</m:t>
                            </m:r>
                          </m:e>
                        </m:d>
                        <m:r>
                          <a:rPr lang="en-US" sz="2400" i="1">
                            <a:latin typeface="Cambria Math" panose="02040503050406030204" pitchFamily="18" charset="0"/>
                          </a:rPr>
                          <m:t>=</m:t>
                        </m:r>
                        <m:nary>
                          <m:naryPr>
                            <m:chr m:val="∑"/>
                            <m:supHide m:val="on"/>
                            <m:ctrlPr>
                              <a:rPr lang="en-US" sz="2400" i="1">
                                <a:latin typeface="Cambria Math" panose="02040503050406030204" pitchFamily="18" charset="0"/>
                              </a:rPr>
                            </m:ctrlPr>
                          </m:naryPr>
                          <m:sub>
                            <m:r>
                              <m:rPr>
                                <m:brk m:alnAt="7"/>
                              </m:rPr>
                              <a:rPr lang="en-US" sz="2400" i="1">
                                <a:latin typeface="Cambria Math" panose="02040503050406030204" pitchFamily="18" charset="0"/>
                              </a:rPr>
                              <m:t>𝑖</m:t>
                            </m:r>
                          </m:sub>
                          <m:sup/>
                          <m:e>
                            <m:d>
                              <m:dPr>
                                <m:begChr m:val="|"/>
                                <m:endChr m:val="⟩"/>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en-US" sz="2400" i="1">
                                        <a:latin typeface="Cambria Math" panose="02040503050406030204" pitchFamily="18" charset="0"/>
                                      </a:rPr>
                                      <m:t>𝑖</m:t>
                                    </m:r>
                                  </m:sub>
                                </m:sSub>
                              </m:e>
                            </m:d>
                            <m:r>
                              <a:rPr lang="en-US" sz="240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𝑒</m:t>
                                </m:r>
                              </m:e>
                              <m:sub>
                                <m:r>
                                  <a:rPr lang="en-US" sz="2400" i="1">
                                    <a:latin typeface="Cambria Math" panose="02040503050406030204" pitchFamily="18" charset="0"/>
                                  </a:rPr>
                                  <m:t>𝑖</m:t>
                                </m:r>
                              </m:sub>
                            </m:sSub>
                            <m:d>
                              <m:dPr>
                                <m:begChr m:val="|"/>
                                <m:endChr m:val="⟩"/>
                                <m:ctrlPr>
                                  <a:rPr lang="en-US" sz="2400" i="1">
                                    <a:latin typeface="Cambria Math" panose="02040503050406030204" pitchFamily="18" charset="0"/>
                                  </a:rPr>
                                </m:ctrlPr>
                              </m:dPr>
                              <m:e>
                                <m:r>
                                  <a:rPr lang="sr-Latn-RS" sz="2400" b="0" i="1" smtClean="0">
                                    <a:latin typeface="Cambria Math" panose="02040503050406030204" pitchFamily="18" charset="0"/>
                                  </a:rPr>
                                  <m:t>𝑎</m:t>
                                </m:r>
                              </m:e>
                            </m:d>
                          </m:e>
                        </m:nary>
                      </m:oMath>
                    </m:oMathPara>
                  </a14:m>
                  <a:endParaRPr lang="en-US" sz="2400" dirty="0"/>
                </a:p>
              </p:txBody>
            </p:sp>
          </mc:Choice>
          <mc:Fallback xmlns="">
            <p:sp>
              <p:nvSpPr>
                <p:cNvPr id="8" name="Rectangle 7">
                  <a:extLst>
                    <a:ext uri="{FF2B5EF4-FFF2-40B4-BE49-F238E27FC236}">
                      <a16:creationId xmlns:a16="http://schemas.microsoft.com/office/drawing/2014/main" id="{39FBBEC0-AB90-584C-8BA0-F6C71A774067}"/>
                    </a:ext>
                  </a:extLst>
                </p:cNvPr>
                <p:cNvSpPr>
                  <a:spLocks noRot="1" noChangeAspect="1" noMove="1" noResize="1" noEditPoints="1" noAdjustHandles="1" noChangeArrowheads="1" noChangeShapeType="1" noTextEdit="1"/>
                </p:cNvSpPr>
                <p:nvPr/>
              </p:nvSpPr>
              <p:spPr>
                <a:xfrm>
                  <a:off x="4061201" y="4762197"/>
                  <a:ext cx="6462817" cy="988540"/>
                </a:xfrm>
                <a:prstGeom prst="rect">
                  <a:avLst/>
                </a:prstGeom>
                <a:blipFill>
                  <a:blip r:embed="rId5"/>
                  <a:stretch>
                    <a:fillRect t="-129114" b="-178481"/>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CAB4111D-AAA9-4F4C-9A76-EDA99130052D}"/>
                </a:ext>
              </a:extLst>
            </p:cNvPr>
            <p:cNvSpPr txBox="1"/>
            <p:nvPr/>
          </p:nvSpPr>
          <p:spPr>
            <a:xfrm>
              <a:off x="974459" y="4952637"/>
              <a:ext cx="3009093" cy="461665"/>
            </a:xfrm>
            <a:prstGeom prst="rect">
              <a:avLst/>
            </a:prstGeom>
            <a:noFill/>
          </p:spPr>
          <p:txBody>
            <a:bodyPr wrap="none" rtlCol="0">
              <a:spAutoFit/>
            </a:bodyPr>
            <a:lstStyle/>
            <a:p>
              <a:r>
                <a:rPr lang="en-US" sz="2400" dirty="0"/>
                <a:t>Vector decomposition:</a:t>
              </a:r>
            </a:p>
          </p:txBody>
        </p:sp>
      </p:grpSp>
      <p:sp>
        <p:nvSpPr>
          <p:cNvPr id="4" name="TextBox 3">
            <a:extLst>
              <a:ext uri="{FF2B5EF4-FFF2-40B4-BE49-F238E27FC236}">
                <a16:creationId xmlns:a16="http://schemas.microsoft.com/office/drawing/2014/main" id="{B28FBAD0-DDA9-5948-BF11-95205185318B}"/>
              </a:ext>
            </a:extLst>
          </p:cNvPr>
          <p:cNvSpPr txBox="1"/>
          <p:nvPr/>
        </p:nvSpPr>
        <p:spPr>
          <a:xfrm>
            <a:off x="3261360" y="1301529"/>
            <a:ext cx="7452556" cy="1200329"/>
          </a:xfrm>
          <a:prstGeom prst="rect">
            <a:avLst/>
          </a:prstGeom>
          <a:noFill/>
        </p:spPr>
        <p:txBody>
          <a:bodyPr wrap="square" rtlCol="0">
            <a:spAutoFit/>
          </a:bodyPr>
          <a:lstStyle/>
          <a:p>
            <a:pPr algn="ctr"/>
            <a:r>
              <a:rPr lang="en-ZA" sz="2400" dirty="0"/>
              <a:t>The sum of the outer products of a complete set of orthonormal basis vectors is</a:t>
            </a:r>
          </a:p>
          <a:p>
            <a:pPr algn="ctr"/>
            <a:r>
              <a:rPr lang="en-ZA" sz="2400" dirty="0"/>
              <a:t>equal to the identity matrix.</a:t>
            </a:r>
            <a:endParaRPr lang="en-US" sz="2400" dirty="0"/>
          </a:p>
        </p:txBody>
      </p:sp>
    </p:spTree>
    <p:extLst>
      <p:ext uri="{BB962C8B-B14F-4D97-AF65-F5344CB8AC3E}">
        <p14:creationId xmlns:p14="http://schemas.microsoft.com/office/powerpoint/2010/main" val="3585494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dissolve">
                                      <p:cBhvr>
                                        <p:cTn id="1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DAF3639-885B-8147-BED1-BC89B9769BD2}"/>
              </a:ext>
            </a:extLst>
          </p:cNvPr>
          <p:cNvSpPr>
            <a:spLocks noGrp="1"/>
          </p:cNvSpPr>
          <p:nvPr>
            <p:ph type="sldNum" sz="quarter" idx="12"/>
          </p:nvPr>
        </p:nvSpPr>
        <p:spPr/>
        <p:txBody>
          <a:bodyPr/>
          <a:lstStyle/>
          <a:p>
            <a:fld id="{591A223C-FA10-BC46-A853-03BA373D023C}" type="slidenum">
              <a:rPr lang="en-US" smtClean="0"/>
              <a:t>49</a:t>
            </a:fld>
            <a:endParaRPr lang="en-US"/>
          </a:p>
        </p:txBody>
      </p:sp>
      <p:sp>
        <p:nvSpPr>
          <p:cNvPr id="2" name="Title 1">
            <a:extLst>
              <a:ext uri="{FF2B5EF4-FFF2-40B4-BE49-F238E27FC236}">
                <a16:creationId xmlns:a16="http://schemas.microsoft.com/office/drawing/2014/main" id="{4929C240-E50D-7C4D-A160-DD6470D1DE5A}"/>
              </a:ext>
            </a:extLst>
          </p:cNvPr>
          <p:cNvSpPr>
            <a:spLocks noGrp="1"/>
          </p:cNvSpPr>
          <p:nvPr>
            <p:ph type="title"/>
          </p:nvPr>
        </p:nvSpPr>
        <p:spPr/>
        <p:txBody>
          <a:bodyPr/>
          <a:lstStyle/>
          <a:p>
            <a:r>
              <a:rPr lang="en-ZA" dirty="0"/>
              <a:t>Expectation Value</a:t>
            </a:r>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5D3545B-0CD9-E143-9614-6B605B0DEE00}"/>
                  </a:ext>
                </a:extLst>
              </p:cNvPr>
              <p:cNvSpPr txBox="1"/>
              <p:nvPr/>
            </p:nvSpPr>
            <p:spPr>
              <a:xfrm>
                <a:off x="1031081" y="1500188"/>
                <a:ext cx="10129838" cy="830997"/>
              </a:xfrm>
              <a:prstGeom prst="rect">
                <a:avLst/>
              </a:prstGeom>
              <a:solidFill>
                <a:schemeClr val="accent4">
                  <a:lumMod val="20000"/>
                  <a:lumOff val="80000"/>
                </a:schemeClr>
              </a:solidFill>
            </p:spPr>
            <p:txBody>
              <a:bodyPr wrap="square" rtlCol="0">
                <a:spAutoFit/>
              </a:bodyPr>
              <a:lstStyle/>
              <a:p>
                <a:pPr algn="ctr"/>
                <a:r>
                  <a:rPr lang="en-ZA" sz="2400" dirty="0"/>
                  <a:t>Let </a:t>
                </a:r>
                <a14:m>
                  <m:oMath xmlns:m="http://schemas.openxmlformats.org/officeDocument/2006/math">
                    <m:r>
                      <a:rPr lang="en-US" sz="2400" i="1">
                        <a:latin typeface="Cambria Math" panose="02040503050406030204" pitchFamily="18" charset="0"/>
                      </a:rPr>
                      <m:t>𝐴</m:t>
                    </m:r>
                  </m:oMath>
                </a14:m>
                <a:r>
                  <a:rPr lang="en-ZA" sz="2400" dirty="0"/>
                  <a:t> be a linear operator acting on a Hilbert space, and let </a:t>
                </a:r>
                <a14:m>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𝑆</m:t>
                        </m:r>
                      </m:e>
                    </m:d>
                  </m:oMath>
                </a14:m>
                <a:r>
                  <a:rPr lang="en-ZA" sz="2400" dirty="0"/>
                  <a:t> be a normalized vector in that space. The </a:t>
                </a:r>
                <a:r>
                  <a:rPr lang="en-ZA" sz="2400" b="1" dirty="0"/>
                  <a:t>expectation value</a:t>
                </a:r>
                <a:r>
                  <a:rPr lang="en-ZA" sz="2400" dirty="0"/>
                  <a:t> of </a:t>
                </a:r>
                <a14:m>
                  <m:oMath xmlns:m="http://schemas.openxmlformats.org/officeDocument/2006/math">
                    <m:r>
                      <a:rPr lang="en-US" sz="2400" b="0" i="1" smtClean="0">
                        <a:latin typeface="Cambria Math" panose="02040503050406030204" pitchFamily="18" charset="0"/>
                      </a:rPr>
                      <m:t>𝐴</m:t>
                    </m:r>
                  </m:oMath>
                </a14:m>
                <a:r>
                  <a:rPr lang="en-ZA" sz="2400" dirty="0"/>
                  <a:t> in the state </a:t>
                </a:r>
                <a14:m>
                  <m:oMath xmlns:m="http://schemas.openxmlformats.org/officeDocument/2006/math">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𝑆</m:t>
                        </m:r>
                      </m:e>
                    </m:d>
                  </m:oMath>
                </a14:m>
                <a:r>
                  <a:rPr lang="el-GR" sz="2400" dirty="0"/>
                  <a:t> </a:t>
                </a:r>
                <a:r>
                  <a:rPr lang="en-ZA" sz="2400" dirty="0"/>
                  <a:t>is defined as</a:t>
                </a:r>
                <a:endParaRPr lang="en-US" sz="2400" dirty="0"/>
              </a:p>
            </p:txBody>
          </p:sp>
        </mc:Choice>
        <mc:Fallback xmlns="">
          <p:sp>
            <p:nvSpPr>
              <p:cNvPr id="4" name="TextBox 3">
                <a:extLst>
                  <a:ext uri="{FF2B5EF4-FFF2-40B4-BE49-F238E27FC236}">
                    <a16:creationId xmlns:a16="http://schemas.microsoft.com/office/drawing/2014/main" id="{F5D3545B-0CD9-E143-9614-6B605B0DEE00}"/>
                  </a:ext>
                </a:extLst>
              </p:cNvPr>
              <p:cNvSpPr txBox="1">
                <a:spLocks noRot="1" noChangeAspect="1" noMove="1" noResize="1" noEditPoints="1" noAdjustHandles="1" noChangeArrowheads="1" noChangeShapeType="1" noTextEdit="1"/>
              </p:cNvSpPr>
              <p:nvPr/>
            </p:nvSpPr>
            <p:spPr>
              <a:xfrm>
                <a:off x="1031081" y="1500188"/>
                <a:ext cx="10129838" cy="830997"/>
              </a:xfrm>
              <a:prstGeom prst="rect">
                <a:avLst/>
              </a:prstGeom>
              <a:blipFill>
                <a:blip r:embed="rId3"/>
                <a:stretch>
                  <a:fillRect t="-2985" r="-626" b="-134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47B98297-7BD5-4345-8148-78EA3AAA397A}"/>
                  </a:ext>
                </a:extLst>
              </p:cNvPr>
              <p:cNvSpPr/>
              <p:nvPr/>
            </p:nvSpPr>
            <p:spPr>
              <a:xfrm>
                <a:off x="4928918" y="2925951"/>
                <a:ext cx="2334164"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smtClean="0">
                          <a:latin typeface="Cambria Math" panose="02040503050406030204" pitchFamily="18" charset="0"/>
                        </a:rPr>
                        <m:t>⟨</m:t>
                      </m:r>
                      <m:d>
                        <m:dPr>
                          <m:begChr m:val=""/>
                          <m:endChr m:val="⟩"/>
                          <m:ctrlPr>
                            <a:rPr lang="en-US" sz="2800" i="1">
                              <a:latin typeface="Cambria Math" panose="02040503050406030204" pitchFamily="18" charset="0"/>
                            </a:rPr>
                          </m:ctrlPr>
                        </m:dPr>
                        <m:e>
                          <m:r>
                            <a:rPr lang="en-US" sz="2800" b="0" i="1" smtClean="0">
                              <a:latin typeface="Cambria Math" panose="02040503050406030204" pitchFamily="18" charset="0"/>
                            </a:rPr>
                            <m:t>𝐴</m:t>
                          </m:r>
                        </m:e>
                      </m:d>
                      <m:r>
                        <a:rPr lang="en-US" sz="2800" b="0" i="1" smtClean="0">
                          <a:latin typeface="Cambria Math" panose="02040503050406030204" pitchFamily="18" charset="0"/>
                        </a:rPr>
                        <m:t>=</m:t>
                      </m:r>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𝑆</m:t>
                          </m:r>
                        </m:e>
                        <m:e>
                          <m:r>
                            <a:rPr lang="en-US" sz="2800" b="0" i="1" smtClean="0">
                              <a:latin typeface="Cambria Math" panose="02040503050406030204" pitchFamily="18" charset="0"/>
                            </a:rPr>
                            <m:t>𝐴</m:t>
                          </m:r>
                        </m:e>
                        <m:e>
                          <m:r>
                            <a:rPr lang="en-US" sz="2800" b="0" i="1" smtClean="0">
                              <a:latin typeface="Cambria Math" panose="02040503050406030204" pitchFamily="18" charset="0"/>
                            </a:rPr>
                            <m:t>𝑆</m:t>
                          </m:r>
                        </m:e>
                      </m:d>
                    </m:oMath>
                  </m:oMathPara>
                </a14:m>
                <a:endParaRPr lang="en-US" sz="2800" dirty="0"/>
              </a:p>
            </p:txBody>
          </p:sp>
        </mc:Choice>
        <mc:Fallback xmlns="">
          <p:sp>
            <p:nvSpPr>
              <p:cNvPr id="6" name="Rectangle 5">
                <a:extLst>
                  <a:ext uri="{FF2B5EF4-FFF2-40B4-BE49-F238E27FC236}">
                    <a16:creationId xmlns:a16="http://schemas.microsoft.com/office/drawing/2014/main" id="{47B98297-7BD5-4345-8148-78EA3AAA397A}"/>
                  </a:ext>
                </a:extLst>
              </p:cNvPr>
              <p:cNvSpPr>
                <a:spLocks noRot="1" noChangeAspect="1" noMove="1" noResize="1" noEditPoints="1" noAdjustHandles="1" noChangeArrowheads="1" noChangeShapeType="1" noTextEdit="1"/>
              </p:cNvSpPr>
              <p:nvPr/>
            </p:nvSpPr>
            <p:spPr>
              <a:xfrm>
                <a:off x="4928918" y="2925951"/>
                <a:ext cx="2334164" cy="523220"/>
              </a:xfrm>
              <a:prstGeom prst="rect">
                <a:avLst/>
              </a:prstGeom>
              <a:blipFill>
                <a:blip r:embed="rId4"/>
                <a:stretch>
                  <a:fillRect l="-6486" t="-130233" b="-195349"/>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45201B82-2CF4-0B4B-9C1A-362C2F77D581}"/>
              </a:ext>
            </a:extLst>
          </p:cNvPr>
          <p:cNvGrpSpPr/>
          <p:nvPr/>
        </p:nvGrpSpPr>
        <p:grpSpPr>
          <a:xfrm>
            <a:off x="410142" y="3427610"/>
            <a:ext cx="10862696" cy="2969394"/>
            <a:chOff x="410142" y="3427610"/>
            <a:chExt cx="10862696" cy="2969394"/>
          </a:xfrm>
        </p:grpSpPr>
        <p:sp>
          <p:nvSpPr>
            <p:cNvPr id="7" name="TextBox 6">
              <a:extLst>
                <a:ext uri="{FF2B5EF4-FFF2-40B4-BE49-F238E27FC236}">
                  <a16:creationId xmlns:a16="http://schemas.microsoft.com/office/drawing/2014/main" id="{EAA4F070-FC34-DC4D-ACD7-DF9FA432E471}"/>
                </a:ext>
              </a:extLst>
            </p:cNvPr>
            <p:cNvSpPr txBox="1"/>
            <p:nvPr/>
          </p:nvSpPr>
          <p:spPr>
            <a:xfrm>
              <a:off x="410142" y="3427610"/>
              <a:ext cx="1241878" cy="461665"/>
            </a:xfrm>
            <a:prstGeom prst="rect">
              <a:avLst/>
            </a:prstGeom>
            <a:noFill/>
          </p:spPr>
          <p:txBody>
            <a:bodyPr wrap="none" rtlCol="0">
              <a:spAutoFit/>
            </a:bodyPr>
            <a:lstStyle/>
            <a:p>
              <a:r>
                <a:rPr lang="en-US" sz="2400" dirty="0"/>
                <a:t>Example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DE552D9-0F16-0249-8FCC-E89E809C99A7}"/>
                    </a:ext>
                  </a:extLst>
                </p:cNvPr>
                <p:cNvSpPr txBox="1"/>
                <p:nvPr/>
              </p:nvSpPr>
              <p:spPr>
                <a:xfrm>
                  <a:off x="410142" y="4295495"/>
                  <a:ext cx="3102452" cy="88716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latin typeface="Cambria Math" panose="02040503050406030204" pitchFamily="18" charset="0"/>
                              </a:rPr>
                            </m:ctrlPr>
                          </m:dPr>
                          <m:e>
                            <m:r>
                              <a:rPr lang="en-US" sz="2400" i="1">
                                <a:latin typeface="Cambria Math" panose="02040503050406030204" pitchFamily="18" charset="0"/>
                              </a:rPr>
                              <m:t>𝑆</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0</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1</m:t>
                                </m:r>
                              </m:e>
                            </m:d>
                          </m:num>
                          <m:den>
                            <m:rad>
                              <m:radPr>
                                <m:degHide m:val="on"/>
                                <m:ctrlPr>
                                  <a:rPr lang="en-US" sz="2400" b="0" i="1" smtClean="0">
                                    <a:latin typeface="Cambria Math" panose="02040503050406030204" pitchFamily="18" charset="0"/>
                                  </a:rPr>
                                </m:ctrlPr>
                              </m:radPr>
                              <m:deg/>
                              <m:e>
                                <m:r>
                                  <a:rPr lang="en-US" sz="2400" b="0" i="1" smtClean="0">
                                    <a:latin typeface="Cambria Math" panose="02040503050406030204" pitchFamily="18" charset="0"/>
                                  </a:rPr>
                                  <m:t>2</m:t>
                                </m:r>
                              </m:e>
                            </m:rad>
                          </m:den>
                        </m:f>
                      </m:oMath>
                    </m:oMathPara>
                  </a14:m>
                  <a:endParaRPr lang="en-US" sz="2400" dirty="0"/>
                </a:p>
              </p:txBody>
            </p:sp>
          </mc:Choice>
          <mc:Fallback xmlns="">
            <p:sp>
              <p:nvSpPr>
                <p:cNvPr id="8" name="TextBox 7">
                  <a:extLst>
                    <a:ext uri="{FF2B5EF4-FFF2-40B4-BE49-F238E27FC236}">
                      <a16:creationId xmlns:a16="http://schemas.microsoft.com/office/drawing/2014/main" id="{9DE552D9-0F16-0249-8FCC-E89E809C99A7}"/>
                    </a:ext>
                  </a:extLst>
                </p:cNvPr>
                <p:cNvSpPr txBox="1">
                  <a:spLocks noRot="1" noChangeAspect="1" noMove="1" noResize="1" noEditPoints="1" noAdjustHandles="1" noChangeArrowheads="1" noChangeShapeType="1" noTextEdit="1"/>
                </p:cNvSpPr>
                <p:nvPr/>
              </p:nvSpPr>
              <p:spPr>
                <a:xfrm>
                  <a:off x="410142" y="4295495"/>
                  <a:ext cx="3102452" cy="88716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57A99D5-F6DA-4D4A-A158-EBB305931842}"/>
                    </a:ext>
                  </a:extLst>
                </p:cNvPr>
                <p:cNvSpPr/>
                <p:nvPr/>
              </p:nvSpPr>
              <p:spPr>
                <a:xfrm>
                  <a:off x="640717" y="5296959"/>
                  <a:ext cx="2022605" cy="70814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𝑍</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m>
                              <m:mPr>
                                <m:mcs>
                                  <m:mc>
                                    <m:mcPr>
                                      <m:count m:val="2"/>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1</m:t>
                                  </m:r>
                                </m:e>
                                <m:e>
                                  <m:r>
                                    <a:rPr lang="en-US" sz="2400" b="0" i="1" smtClean="0">
                                      <a:latin typeface="Cambria Math" panose="02040503050406030204" pitchFamily="18" charset="0"/>
                                    </a:rPr>
                                    <m:t>0</m:t>
                                  </m:r>
                                </m:e>
                              </m:mr>
                              <m:mr>
                                <m:e>
                                  <m:r>
                                    <a:rPr lang="en-US" sz="2400" b="0" i="1" smtClean="0">
                                      <a:latin typeface="Cambria Math" panose="02040503050406030204" pitchFamily="18" charset="0"/>
                                    </a:rPr>
                                    <m:t>0</m:t>
                                  </m:r>
                                </m:e>
                                <m:e>
                                  <m:r>
                                    <a:rPr lang="en-US" sz="2400" b="0" i="1" smtClean="0">
                                      <a:latin typeface="Cambria Math" panose="02040503050406030204" pitchFamily="18" charset="0"/>
                                    </a:rPr>
                                    <m:t>−1</m:t>
                                  </m:r>
                                </m:e>
                              </m:mr>
                            </m:m>
                          </m:e>
                        </m:d>
                      </m:oMath>
                    </m:oMathPara>
                  </a14:m>
                  <a:endParaRPr lang="en-US" sz="2400" dirty="0"/>
                </a:p>
              </p:txBody>
            </p:sp>
          </mc:Choice>
          <mc:Fallback xmlns="">
            <p:sp>
              <p:nvSpPr>
                <p:cNvPr id="9" name="Rectangle 8">
                  <a:extLst>
                    <a:ext uri="{FF2B5EF4-FFF2-40B4-BE49-F238E27FC236}">
                      <a16:creationId xmlns:a16="http://schemas.microsoft.com/office/drawing/2014/main" id="{857A99D5-F6DA-4D4A-A158-EBB305931842}"/>
                    </a:ext>
                  </a:extLst>
                </p:cNvPr>
                <p:cNvSpPr>
                  <a:spLocks noRot="1" noChangeAspect="1" noMove="1" noResize="1" noEditPoints="1" noAdjustHandles="1" noChangeArrowheads="1" noChangeShapeType="1" noTextEdit="1"/>
                </p:cNvSpPr>
                <p:nvPr/>
              </p:nvSpPr>
              <p:spPr>
                <a:xfrm>
                  <a:off x="640717" y="5296959"/>
                  <a:ext cx="2022605" cy="708143"/>
                </a:xfrm>
                <a:prstGeom prst="rect">
                  <a:avLst/>
                </a:prstGeom>
                <a:blipFill>
                  <a:blip r:embed="rId6"/>
                  <a:stretch>
                    <a:fillRect b="-70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D66929B9-5440-7341-BE39-E813C1DDACB2}"/>
                    </a:ext>
                  </a:extLst>
                </p:cNvPr>
                <p:cNvSpPr/>
                <p:nvPr/>
              </p:nvSpPr>
              <p:spPr>
                <a:xfrm>
                  <a:off x="4601036" y="3956044"/>
                  <a:ext cx="6467091" cy="922176"/>
                </a:xfrm>
                <a:prstGeom prst="rect">
                  <a:avLst/>
                </a:prstGeom>
              </p:spPr>
              <p:txBody>
                <a:bodyPr wrap="none">
                  <a:spAutoFit/>
                </a:bodyPr>
                <a:lstStyle/>
                <a:p>
                  <a14:m>
                    <m:oMath xmlns:m="http://schemas.openxmlformats.org/officeDocument/2006/math">
                      <m:r>
                        <a:rPr lang="en-US" sz="2400"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𝑍</m:t>
                          </m:r>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m:t>
                          </m:r>
                        </m:e>
                        <m:e>
                          <m:r>
                            <a:rPr lang="en-US" sz="2400" b="0" i="1" smtClean="0">
                              <a:latin typeface="Cambria Math" panose="02040503050406030204" pitchFamily="18" charset="0"/>
                            </a:rPr>
                            <m:t>𝑍</m:t>
                          </m:r>
                        </m:e>
                        <m:e>
                          <m:r>
                            <a:rPr lang="en-US" sz="2400" b="0" i="1" smtClean="0">
                              <a:latin typeface="Cambria Math" panose="02040503050406030204" pitchFamily="18" charset="0"/>
                            </a:rPr>
                            <m:t>+</m:t>
                          </m:r>
                        </m:e>
                      </m:d>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2</m:t>
                                  </m:r>
                                </m:e>
                              </m:rad>
                            </m:den>
                          </m:f>
                          <m:d>
                            <m:dPr>
                              <m:ctrlPr>
                                <a:rPr lang="en-US" sz="2400" i="1" smtClean="0">
                                  <a:latin typeface="Cambria Math" panose="02040503050406030204" pitchFamily="18" charset="0"/>
                                </a:rPr>
                              </m:ctrlPr>
                            </m:dPr>
                            <m:e>
                              <m:m>
                                <m:mPr>
                                  <m:mcs>
                                    <m:mc>
                                      <m:mcPr>
                                        <m:count m:val="2"/>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1</m:t>
                                    </m:r>
                                  </m:e>
                                  <m:e>
                                    <m:r>
                                      <a:rPr lang="en-US" sz="2400" b="0" i="1" smtClean="0">
                                        <a:latin typeface="Cambria Math" panose="02040503050406030204" pitchFamily="18" charset="0"/>
                                      </a:rPr>
                                      <m:t>1</m:t>
                                    </m:r>
                                  </m:e>
                                </m:mr>
                              </m:m>
                            </m:e>
                          </m:d>
                        </m:e>
                      </m:d>
                    </m:oMath>
                  </a14:m>
                  <a:r>
                    <a:rPr lang="en-US" sz="2400" dirty="0"/>
                    <a:t> </a:t>
                  </a:r>
                  <a14:m>
                    <m:oMath xmlns:m="http://schemas.openxmlformats.org/officeDocument/2006/math">
                      <m:d>
                        <m:dPr>
                          <m:ctrlPr>
                            <a:rPr lang="en-US" sz="2400" i="1">
                              <a:latin typeface="Cambria Math" panose="02040503050406030204" pitchFamily="18" charset="0"/>
                            </a:rPr>
                          </m:ctrlPr>
                        </m:dPr>
                        <m:e>
                          <m:m>
                            <m:mPr>
                              <m:mcs>
                                <m:mc>
                                  <m:mcPr>
                                    <m:count m:val="2"/>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e>
                              <m:e>
                                <m:r>
                                  <a:rPr lang="en-US" sz="2400" i="1">
                                    <a:latin typeface="Cambria Math" panose="02040503050406030204" pitchFamily="18" charset="0"/>
                                  </a:rPr>
                                  <m:t>0</m:t>
                                </m:r>
                              </m:e>
                            </m:mr>
                            <m:mr>
                              <m:e>
                                <m:r>
                                  <a:rPr lang="en-US" sz="2400" i="1">
                                    <a:latin typeface="Cambria Math" panose="02040503050406030204" pitchFamily="18" charset="0"/>
                                  </a:rPr>
                                  <m:t>0</m:t>
                                </m:r>
                              </m:e>
                              <m:e>
                                <m:r>
                                  <a:rPr lang="en-US" sz="2400" i="1">
                                    <a:latin typeface="Cambria Math" panose="02040503050406030204" pitchFamily="18" charset="0"/>
                                  </a:rPr>
                                  <m:t>−1</m:t>
                                </m:r>
                              </m:e>
                            </m:mr>
                          </m:m>
                        </m:e>
                      </m:d>
                    </m:oMath>
                  </a14:m>
                  <a:r>
                    <a:rPr lang="en-US" sz="2400" dirty="0"/>
                    <a:t> </a:t>
                  </a:r>
                  <a14:m>
                    <m:oMath xmlns:m="http://schemas.openxmlformats.org/officeDocument/2006/math">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2</m:t>
                                  </m:r>
                                </m:e>
                              </m:rad>
                            </m:den>
                          </m:f>
                          <m:d>
                            <m:dPr>
                              <m:ctrlPr>
                                <a:rPr lang="en-US" sz="2400" i="1" smtClean="0">
                                  <a:latin typeface="Cambria Math" panose="02040503050406030204" pitchFamily="18" charset="0"/>
                                </a:rPr>
                              </m:ctrlPr>
                            </m:dPr>
                            <m:e>
                              <m:m>
                                <m:mPr>
                                  <m:mcs>
                                    <m:mc>
                                      <m:mcPr>
                                        <m:count m:val="1"/>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1</m:t>
                                    </m:r>
                                  </m:e>
                                </m:mr>
                                <m:mr>
                                  <m:e>
                                    <m:r>
                                      <a:rPr lang="en-US" sz="2400" b="0" i="1" smtClean="0">
                                        <a:latin typeface="Cambria Math" panose="02040503050406030204" pitchFamily="18" charset="0"/>
                                      </a:rPr>
                                      <m:t>1</m:t>
                                    </m:r>
                                  </m:e>
                                </m:mr>
                              </m:m>
                            </m:e>
                          </m:d>
                        </m:e>
                      </m:d>
                    </m:oMath>
                  </a14:m>
                  <a:endParaRPr lang="en-US" sz="2400" dirty="0"/>
                </a:p>
              </p:txBody>
            </p:sp>
          </mc:Choice>
          <mc:Fallback xmlns="">
            <p:sp>
              <p:nvSpPr>
                <p:cNvPr id="10" name="Rectangle 9">
                  <a:extLst>
                    <a:ext uri="{FF2B5EF4-FFF2-40B4-BE49-F238E27FC236}">
                      <a16:creationId xmlns:a16="http://schemas.microsoft.com/office/drawing/2014/main" id="{D66929B9-5440-7341-BE39-E813C1DDACB2}"/>
                    </a:ext>
                  </a:extLst>
                </p:cNvPr>
                <p:cNvSpPr>
                  <a:spLocks noRot="1" noChangeAspect="1" noMove="1" noResize="1" noEditPoints="1" noAdjustHandles="1" noChangeArrowheads="1" noChangeShapeType="1" noTextEdit="1"/>
                </p:cNvSpPr>
                <p:nvPr/>
              </p:nvSpPr>
              <p:spPr>
                <a:xfrm>
                  <a:off x="4601036" y="3956044"/>
                  <a:ext cx="6467091" cy="922176"/>
                </a:xfrm>
                <a:prstGeom prst="rect">
                  <a:avLst/>
                </a:prstGeom>
                <a:blipFill>
                  <a:blip r:embed="rId7"/>
                  <a:stretch>
                    <a:fillRect l="-2544" t="-37838" b="-7162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6AE400B0-8677-894C-89DD-D4100C303FA6}"/>
                    </a:ext>
                  </a:extLst>
                </p:cNvPr>
                <p:cNvSpPr/>
                <p:nvPr/>
              </p:nvSpPr>
              <p:spPr>
                <a:xfrm>
                  <a:off x="4601036" y="4784622"/>
                  <a:ext cx="5448799" cy="922176"/>
                </a:xfrm>
                <a:prstGeom prst="rect">
                  <a:avLst/>
                </a:prstGeom>
              </p:spPr>
              <p:txBody>
                <a:bodyPr wrap="none">
                  <a:spAutoFit/>
                </a:bodyPr>
                <a:lstStyle/>
                <a:p>
                  <a14:m>
                    <m:oMath xmlns:m="http://schemas.openxmlformats.org/officeDocument/2006/math">
                      <m:r>
                        <a:rPr lang="en-US" sz="2400"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𝑍</m:t>
                          </m:r>
                        </m:e>
                      </m:d>
                      <m:r>
                        <a:rPr lang="en-US" sz="2400" b="0" i="1" smtClean="0">
                          <a:latin typeface="Cambria Math" panose="02040503050406030204" pitchFamily="18" charset="0"/>
                        </a:rPr>
                        <m:t>=</m:t>
                      </m:r>
                      <m:d>
                        <m:dPr>
                          <m:begChr m:val="⟨"/>
                          <m:endChr m:val="⟩"/>
                          <m:ctrlPr>
                            <a:rPr lang="en-US" sz="2400" b="0" i="1" smtClean="0">
                              <a:latin typeface="Cambria Math" panose="02040503050406030204" pitchFamily="18" charset="0"/>
                            </a:rPr>
                          </m:ctrlPr>
                        </m:dPr>
                        <m:e>
                          <m:r>
                            <a:rPr lang="en-US" sz="2400" b="0" i="1" smtClean="0">
                              <a:latin typeface="Cambria Math" panose="02040503050406030204" pitchFamily="18" charset="0"/>
                            </a:rPr>
                            <m:t>+</m:t>
                          </m:r>
                        </m:e>
                        <m:e>
                          <m:r>
                            <a:rPr lang="en-US" sz="2400" b="0" i="1" smtClean="0">
                              <a:latin typeface="Cambria Math" panose="02040503050406030204" pitchFamily="18" charset="0"/>
                            </a:rPr>
                            <m:t>𝑍</m:t>
                          </m:r>
                        </m:e>
                        <m:e>
                          <m:r>
                            <a:rPr lang="en-US" sz="2400" b="0" i="1" smtClean="0">
                              <a:latin typeface="Cambria Math" panose="02040503050406030204" pitchFamily="18" charset="0"/>
                            </a:rPr>
                            <m:t>+</m:t>
                          </m:r>
                        </m:e>
                      </m:d>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2</m:t>
                                  </m:r>
                                </m:e>
                              </m:rad>
                            </m:den>
                          </m:f>
                          <m:d>
                            <m:dPr>
                              <m:ctrlPr>
                                <a:rPr lang="en-US" sz="2400" i="1" smtClean="0">
                                  <a:latin typeface="Cambria Math" panose="02040503050406030204" pitchFamily="18" charset="0"/>
                                </a:rPr>
                              </m:ctrlPr>
                            </m:dPr>
                            <m:e>
                              <m:m>
                                <m:mPr>
                                  <m:mcs>
                                    <m:mc>
                                      <m:mcPr>
                                        <m:count m:val="2"/>
                                        <m:mcJc m:val="center"/>
                                      </m:mcPr>
                                    </m:mc>
                                  </m:mcs>
                                  <m:ctrlPr>
                                    <a:rPr lang="en-US" sz="2400" i="1" smtClean="0">
                                      <a:latin typeface="Cambria Math" panose="02040503050406030204" pitchFamily="18" charset="0"/>
                                    </a:rPr>
                                  </m:ctrlPr>
                                </m:mPr>
                                <m:mr>
                                  <m:e>
                                    <m:r>
                                      <m:rPr>
                                        <m:brk m:alnAt="7"/>
                                      </m:rPr>
                                      <a:rPr lang="en-US" sz="2400" b="0" i="1" smtClean="0">
                                        <a:latin typeface="Cambria Math" panose="02040503050406030204" pitchFamily="18" charset="0"/>
                                      </a:rPr>
                                      <m:t>1</m:t>
                                    </m:r>
                                  </m:e>
                                  <m:e>
                                    <m:r>
                                      <a:rPr lang="en-US" sz="2400" b="0" i="1" smtClean="0">
                                        <a:latin typeface="Cambria Math" panose="02040503050406030204" pitchFamily="18" charset="0"/>
                                      </a:rPr>
                                      <m:t>1</m:t>
                                    </m:r>
                                  </m:e>
                                </m:mr>
                              </m:m>
                            </m:e>
                          </m:d>
                        </m:e>
                      </m:d>
                    </m:oMath>
                  </a14:m>
                  <a:r>
                    <a:rPr lang="en-US" sz="2400" dirty="0"/>
                    <a:t> </a:t>
                  </a:r>
                  <a14:m>
                    <m:oMath xmlns:m="http://schemas.openxmlformats.org/officeDocument/2006/math">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1</m:t>
                              </m:r>
                            </m:num>
                            <m:den>
                              <m:rad>
                                <m:radPr>
                                  <m:degHide m:val="on"/>
                                  <m:ctrlPr>
                                    <a:rPr lang="en-US" sz="2400" i="1">
                                      <a:latin typeface="Cambria Math" panose="02040503050406030204" pitchFamily="18" charset="0"/>
                                    </a:rPr>
                                  </m:ctrlPr>
                                </m:radPr>
                                <m:deg/>
                                <m:e>
                                  <m:r>
                                    <a:rPr lang="en-US" sz="2400" i="1">
                                      <a:latin typeface="Cambria Math" panose="02040503050406030204" pitchFamily="18" charset="0"/>
                                    </a:rPr>
                                    <m:t>2</m:t>
                                  </m:r>
                                </m:e>
                              </m:rad>
                            </m:den>
                          </m:f>
                          <m:d>
                            <m:dPr>
                              <m:ctrlPr>
                                <a:rPr lang="en-US" sz="2400" i="1" smtClean="0">
                                  <a:latin typeface="Cambria Math" panose="02040503050406030204" pitchFamily="18" charset="0"/>
                                </a:rPr>
                              </m:ctrlPr>
                            </m:dPr>
                            <m:e>
                              <m:m>
                                <m:mPr>
                                  <m:mcs>
                                    <m:mc>
                                      <m:mcPr>
                                        <m:count m:val="1"/>
                                        <m:mcJc m:val="center"/>
                                      </m:mcPr>
                                    </m:mc>
                                  </m:mcs>
                                  <m:ctrlPr>
                                    <a:rPr lang="en-US" sz="2400" b="0" i="1" smtClean="0">
                                      <a:latin typeface="Cambria Math" panose="02040503050406030204" pitchFamily="18" charset="0"/>
                                    </a:rPr>
                                  </m:ctrlPr>
                                </m:mPr>
                                <m:mr>
                                  <m:e>
                                    <m:r>
                                      <m:rPr>
                                        <m:brk m:alnAt="7"/>
                                      </m:rPr>
                                      <a:rPr lang="en-US" sz="2400" b="0" i="1" smtClean="0">
                                        <a:latin typeface="Cambria Math" panose="02040503050406030204" pitchFamily="18" charset="0"/>
                                      </a:rPr>
                                      <m:t>1</m:t>
                                    </m:r>
                                  </m:e>
                                </m:mr>
                                <m:mr>
                                  <m:e>
                                    <m:r>
                                      <a:rPr lang="en-US" sz="2400" b="0" i="1" smtClean="0">
                                        <a:latin typeface="Cambria Math" panose="02040503050406030204" pitchFamily="18" charset="0"/>
                                      </a:rPr>
                                      <m:t>−1</m:t>
                                    </m:r>
                                  </m:e>
                                </m:mr>
                              </m:m>
                            </m:e>
                          </m:d>
                        </m:e>
                      </m:d>
                    </m:oMath>
                  </a14:m>
                  <a:endParaRPr lang="en-US" sz="2400" dirty="0"/>
                </a:p>
              </p:txBody>
            </p:sp>
          </mc:Choice>
          <mc:Fallback xmlns="">
            <p:sp>
              <p:nvSpPr>
                <p:cNvPr id="11" name="Rectangle 10">
                  <a:extLst>
                    <a:ext uri="{FF2B5EF4-FFF2-40B4-BE49-F238E27FC236}">
                      <a16:creationId xmlns:a16="http://schemas.microsoft.com/office/drawing/2014/main" id="{6AE400B0-8677-894C-89DD-D4100C303FA6}"/>
                    </a:ext>
                  </a:extLst>
                </p:cNvPr>
                <p:cNvSpPr>
                  <a:spLocks noRot="1" noChangeAspect="1" noMove="1" noResize="1" noEditPoints="1" noAdjustHandles="1" noChangeArrowheads="1" noChangeShapeType="1" noTextEdit="1"/>
                </p:cNvSpPr>
                <p:nvPr/>
              </p:nvSpPr>
              <p:spPr>
                <a:xfrm>
                  <a:off x="4601036" y="4784622"/>
                  <a:ext cx="5448799" cy="922176"/>
                </a:xfrm>
                <a:prstGeom prst="rect">
                  <a:avLst/>
                </a:prstGeom>
                <a:blipFill>
                  <a:blip r:embed="rId8"/>
                  <a:stretch>
                    <a:fillRect l="-3023" t="-38356" b="-7260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DC955D8-010A-FF48-8AC4-913F6728C0A1}"/>
                    </a:ext>
                  </a:extLst>
                </p:cNvPr>
                <p:cNvSpPr/>
                <p:nvPr/>
              </p:nvSpPr>
              <p:spPr>
                <a:xfrm>
                  <a:off x="4601036" y="5613200"/>
                  <a:ext cx="4110228" cy="7838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b="0" i="1" smtClean="0">
                                <a:latin typeface="Cambria Math" panose="02040503050406030204" pitchFamily="18" charset="0"/>
                              </a:rPr>
                              <m:t>𝑍</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∙1+1</m:t>
                            </m:r>
                            <m:r>
                              <a:rPr lang="en-US" sz="2400" i="1">
                                <a:latin typeface="Cambria Math" panose="02040503050406030204" pitchFamily="18" charset="0"/>
                                <a:ea typeface="Cambria Math" panose="02040503050406030204" pitchFamily="18" charset="0"/>
                              </a:rPr>
                              <m:t>∙</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−1</m:t>
                                </m:r>
                              </m:e>
                            </m:d>
                          </m:e>
                        </m:d>
                        <m:r>
                          <a:rPr lang="en-US" sz="2400" b="0" i="1" smtClean="0">
                            <a:latin typeface="Cambria Math" panose="02040503050406030204" pitchFamily="18" charset="0"/>
                          </a:rPr>
                          <m:t>=0</m:t>
                        </m:r>
                      </m:oMath>
                    </m:oMathPara>
                  </a14:m>
                  <a:endParaRPr lang="en-US" sz="2400" dirty="0"/>
                </a:p>
              </p:txBody>
            </p:sp>
          </mc:Choice>
          <mc:Fallback xmlns="">
            <p:sp>
              <p:nvSpPr>
                <p:cNvPr id="12" name="Rectangle 11">
                  <a:extLst>
                    <a:ext uri="{FF2B5EF4-FFF2-40B4-BE49-F238E27FC236}">
                      <a16:creationId xmlns:a16="http://schemas.microsoft.com/office/drawing/2014/main" id="{7DC955D8-010A-FF48-8AC4-913F6728C0A1}"/>
                    </a:ext>
                  </a:extLst>
                </p:cNvPr>
                <p:cNvSpPr>
                  <a:spLocks noRot="1" noChangeAspect="1" noMove="1" noResize="1" noEditPoints="1" noAdjustHandles="1" noChangeArrowheads="1" noChangeShapeType="1" noTextEdit="1"/>
                </p:cNvSpPr>
                <p:nvPr/>
              </p:nvSpPr>
              <p:spPr>
                <a:xfrm>
                  <a:off x="4601036" y="5613200"/>
                  <a:ext cx="4110228" cy="783804"/>
                </a:xfrm>
                <a:prstGeom prst="rect">
                  <a:avLst/>
                </a:prstGeom>
                <a:blipFill>
                  <a:blip r:embed="rId9"/>
                  <a:stretch>
                    <a:fillRect l="-2769" t="-49206" b="-95238"/>
                  </a:stretch>
                </a:blipFill>
              </p:spPr>
              <p:txBody>
                <a:bodyPr/>
                <a:lstStyle/>
                <a:p>
                  <a:r>
                    <a:rPr lang="en-US">
                      <a:noFill/>
                    </a:rPr>
                    <a:t> </a:t>
                  </a:r>
                </a:p>
              </p:txBody>
            </p:sp>
          </mc:Fallback>
        </mc:AlternateContent>
        <p:sp>
          <p:nvSpPr>
            <p:cNvPr id="13" name="Right Brace 12">
              <a:extLst>
                <a:ext uri="{FF2B5EF4-FFF2-40B4-BE49-F238E27FC236}">
                  <a16:creationId xmlns:a16="http://schemas.microsoft.com/office/drawing/2014/main" id="{11A528D2-23AD-FF49-94F1-962ECA380264}"/>
                </a:ext>
              </a:extLst>
            </p:cNvPr>
            <p:cNvSpPr/>
            <p:nvPr/>
          </p:nvSpPr>
          <p:spPr>
            <a:xfrm>
              <a:off x="3512594" y="4295495"/>
              <a:ext cx="716506" cy="1962430"/>
            </a:xfrm>
            <a:prstGeom prst="rightBrace">
              <a:avLst>
                <a:gd name="adj1" fmla="val 2627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0A64E08B-EEA9-EB41-9629-CC35E0611941}"/>
                </a:ext>
              </a:extLst>
            </p:cNvPr>
            <p:cNvCxnSpPr>
              <a:cxnSpLocks/>
            </p:cNvCxnSpPr>
            <p:nvPr/>
          </p:nvCxnSpPr>
          <p:spPr>
            <a:xfrm>
              <a:off x="410142" y="3889275"/>
              <a:ext cx="10862696"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86603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arallelogram 5">
            <a:extLst>
              <a:ext uri="{FF2B5EF4-FFF2-40B4-BE49-F238E27FC236}">
                <a16:creationId xmlns:a16="http://schemas.microsoft.com/office/drawing/2014/main" id="{C623BD4C-3A74-3E44-A911-B28A4C0560AF}"/>
              </a:ext>
            </a:extLst>
          </p:cNvPr>
          <p:cNvSpPr/>
          <p:nvPr/>
        </p:nvSpPr>
        <p:spPr>
          <a:xfrm>
            <a:off x="1117600" y="2145533"/>
            <a:ext cx="9448800" cy="4216399"/>
          </a:xfrm>
          <a:prstGeom prst="parallelogram">
            <a:avLst/>
          </a:prstGeom>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8713426-C9F0-6049-9DBD-4F2C28F838DD}"/>
              </a:ext>
            </a:extLst>
          </p:cNvPr>
          <p:cNvPicPr>
            <a:picLocks noChangeAspect="1"/>
          </p:cNvPicPr>
          <p:nvPr/>
        </p:nvPicPr>
        <p:blipFill>
          <a:blip r:embed="rId3"/>
          <a:stretch>
            <a:fillRect/>
          </a:stretch>
        </p:blipFill>
        <p:spPr>
          <a:xfrm flipH="1">
            <a:off x="1708150" y="2032111"/>
            <a:ext cx="4133850" cy="3579935"/>
          </a:xfrm>
          <a:prstGeom prst="rect">
            <a:avLst/>
          </a:prstGeom>
        </p:spPr>
      </p:pic>
      <p:sp>
        <p:nvSpPr>
          <p:cNvPr id="2" name="Slide Number Placeholder 1">
            <a:extLst>
              <a:ext uri="{FF2B5EF4-FFF2-40B4-BE49-F238E27FC236}">
                <a16:creationId xmlns:a16="http://schemas.microsoft.com/office/drawing/2014/main" id="{0A85E6E7-BF4A-5549-8F97-85962D5C6564}"/>
              </a:ext>
            </a:extLst>
          </p:cNvPr>
          <p:cNvSpPr>
            <a:spLocks noGrp="1"/>
          </p:cNvSpPr>
          <p:nvPr>
            <p:ph type="sldNum" sz="quarter" idx="12"/>
          </p:nvPr>
        </p:nvSpPr>
        <p:spPr/>
        <p:txBody>
          <a:bodyPr/>
          <a:lstStyle/>
          <a:p>
            <a:fld id="{591A223C-FA10-BC46-A853-03BA373D023C}" type="slidenum">
              <a:rPr lang="en-US" smtClean="0"/>
              <a:t>50</a:t>
            </a:fld>
            <a:endParaRPr lang="en-US"/>
          </a:p>
        </p:txBody>
      </p:sp>
      <p:sp>
        <p:nvSpPr>
          <p:cNvPr id="3" name="Title 2">
            <a:extLst>
              <a:ext uri="{FF2B5EF4-FFF2-40B4-BE49-F238E27FC236}">
                <a16:creationId xmlns:a16="http://schemas.microsoft.com/office/drawing/2014/main" id="{FCD6FDB1-1468-8249-B1E9-5E36673ADE83}"/>
              </a:ext>
            </a:extLst>
          </p:cNvPr>
          <p:cNvSpPr>
            <a:spLocks noGrp="1"/>
          </p:cNvSpPr>
          <p:nvPr>
            <p:ph type="title"/>
          </p:nvPr>
        </p:nvSpPr>
        <p:spPr>
          <a:xfrm>
            <a:off x="0" y="0"/>
            <a:ext cx="12192000" cy="928688"/>
          </a:xfrm>
        </p:spPr>
        <p:txBody>
          <a:bodyPr/>
          <a:lstStyle/>
          <a:p>
            <a:r>
              <a:rPr lang="en-ZA" dirty="0"/>
              <a:t>Eigenvalues and eigenvectors</a:t>
            </a:r>
            <a:endParaRPr lang="en-US" dirty="0"/>
          </a:p>
        </p:txBody>
      </p:sp>
      <p:cxnSp>
        <p:nvCxnSpPr>
          <p:cNvPr id="9" name="Straight Arrow Connector 8">
            <a:extLst>
              <a:ext uri="{FF2B5EF4-FFF2-40B4-BE49-F238E27FC236}">
                <a16:creationId xmlns:a16="http://schemas.microsoft.com/office/drawing/2014/main" id="{9DE80683-4D00-9147-BC6E-0FF27ACA35C3}"/>
              </a:ext>
            </a:extLst>
          </p:cNvPr>
          <p:cNvCxnSpPr>
            <a:cxnSpLocks/>
          </p:cNvCxnSpPr>
          <p:nvPr/>
        </p:nvCxnSpPr>
        <p:spPr>
          <a:xfrm flipV="1">
            <a:off x="2383316" y="2926080"/>
            <a:ext cx="2870328" cy="2208746"/>
          </a:xfrm>
          <a:prstGeom prst="straightConnector1">
            <a:avLst/>
          </a:prstGeom>
          <a:ln w="508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9F6CE161-379C-1F4C-B42F-23746A587D4D}"/>
              </a:ext>
            </a:extLst>
          </p:cNvPr>
          <p:cNvPicPr>
            <a:picLocks noChangeAspect="1"/>
          </p:cNvPicPr>
          <p:nvPr/>
        </p:nvPicPr>
        <p:blipFill>
          <a:blip r:embed="rId4"/>
          <a:stretch>
            <a:fillRect/>
          </a:stretch>
        </p:blipFill>
        <p:spPr>
          <a:xfrm>
            <a:off x="4819856" y="2249050"/>
            <a:ext cx="5930323" cy="3387369"/>
          </a:xfrm>
          <a:prstGeom prst="rect">
            <a:avLst/>
          </a:prstGeom>
        </p:spPr>
      </p:pic>
      <p:cxnSp>
        <p:nvCxnSpPr>
          <p:cNvPr id="18" name="Straight Arrow Connector 17">
            <a:extLst>
              <a:ext uri="{FF2B5EF4-FFF2-40B4-BE49-F238E27FC236}">
                <a16:creationId xmlns:a16="http://schemas.microsoft.com/office/drawing/2014/main" id="{BD8C9630-6036-564C-B41A-DBB198CA22BF}"/>
              </a:ext>
            </a:extLst>
          </p:cNvPr>
          <p:cNvCxnSpPr>
            <a:cxnSpLocks/>
          </p:cNvCxnSpPr>
          <p:nvPr/>
        </p:nvCxnSpPr>
        <p:spPr>
          <a:xfrm flipV="1">
            <a:off x="5581548" y="2224676"/>
            <a:ext cx="4362488" cy="3112427"/>
          </a:xfrm>
          <a:prstGeom prst="straightConnector1">
            <a:avLst/>
          </a:prstGeom>
          <a:ln w="508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832138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a:extLst>
              <a:ext uri="{FF2B5EF4-FFF2-40B4-BE49-F238E27FC236}">
                <a16:creationId xmlns:a16="http://schemas.microsoft.com/office/drawing/2014/main" id="{B10D74C2-5244-FD4F-9BF9-B3D9F6F2027A}"/>
              </a:ext>
            </a:extLst>
          </p:cNvPr>
          <p:cNvSpPr/>
          <p:nvPr/>
        </p:nvSpPr>
        <p:spPr>
          <a:xfrm>
            <a:off x="6596743" y="1328032"/>
            <a:ext cx="5257800" cy="3211311"/>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5849B6-0FC7-8947-B0F5-1EF97F6A3923}"/>
              </a:ext>
            </a:extLst>
          </p:cNvPr>
          <p:cNvSpPr>
            <a:spLocks noGrp="1"/>
          </p:cNvSpPr>
          <p:nvPr>
            <p:ph type="title"/>
          </p:nvPr>
        </p:nvSpPr>
        <p:spPr>
          <a:xfrm>
            <a:off x="0" y="0"/>
            <a:ext cx="12192000" cy="928688"/>
          </a:xfrm>
        </p:spPr>
        <p:txBody>
          <a:bodyPr>
            <a:normAutofit/>
          </a:bodyPr>
          <a:lstStyle/>
          <a:p>
            <a:r>
              <a:rPr lang="en-ZA" dirty="0"/>
              <a:t>Eigenvalues and eigenvectors</a:t>
            </a:r>
            <a:endParaRPr lang="en-US" dirty="0"/>
          </a:p>
        </p:txBody>
      </p:sp>
      <p:sp>
        <p:nvSpPr>
          <p:cNvPr id="3" name="Slide Number Placeholder 2">
            <a:extLst>
              <a:ext uri="{FF2B5EF4-FFF2-40B4-BE49-F238E27FC236}">
                <a16:creationId xmlns:a16="http://schemas.microsoft.com/office/drawing/2014/main" id="{DB6F5299-1E31-C24C-A85B-3752149AED52}"/>
              </a:ext>
            </a:extLst>
          </p:cNvPr>
          <p:cNvSpPr>
            <a:spLocks noGrp="1"/>
          </p:cNvSpPr>
          <p:nvPr>
            <p:ph type="sldNum" sz="quarter" idx="12"/>
          </p:nvPr>
        </p:nvSpPr>
        <p:spPr/>
        <p:txBody>
          <a:bodyPr/>
          <a:lstStyle/>
          <a:p>
            <a:fld id="{591A223C-FA10-BC46-A853-03BA373D023C}" type="slidenum">
              <a:rPr lang="en-US" smtClean="0"/>
              <a:t>51</a:t>
            </a:fld>
            <a:endParaRPr lang="en-US"/>
          </a:p>
        </p:txBody>
      </p:sp>
      <p:grpSp>
        <p:nvGrpSpPr>
          <p:cNvPr id="25" name="Group 24">
            <a:extLst>
              <a:ext uri="{FF2B5EF4-FFF2-40B4-BE49-F238E27FC236}">
                <a16:creationId xmlns:a16="http://schemas.microsoft.com/office/drawing/2014/main" id="{4A0F0B8E-F9AD-6E41-81E7-4095ED98BE9F}"/>
              </a:ext>
            </a:extLst>
          </p:cNvPr>
          <p:cNvGrpSpPr/>
          <p:nvPr/>
        </p:nvGrpSpPr>
        <p:grpSpPr>
          <a:xfrm>
            <a:off x="7365954" y="4845132"/>
            <a:ext cx="4368568" cy="1341953"/>
            <a:chOff x="4011313" y="4751578"/>
            <a:chExt cx="4368568" cy="1341953"/>
          </a:xfrm>
        </p:grpSpPr>
        <p:sp>
          <p:nvSpPr>
            <p:cNvPr id="7" name="TextBox 6">
              <a:extLst>
                <a:ext uri="{FF2B5EF4-FFF2-40B4-BE49-F238E27FC236}">
                  <a16:creationId xmlns:a16="http://schemas.microsoft.com/office/drawing/2014/main" id="{8EEECB8D-C3A4-A146-8BF4-A0CD0EF1D0CD}"/>
                </a:ext>
              </a:extLst>
            </p:cNvPr>
            <p:cNvSpPr txBox="1"/>
            <p:nvPr/>
          </p:nvSpPr>
          <p:spPr>
            <a:xfrm>
              <a:off x="4011313" y="4751578"/>
              <a:ext cx="1323632" cy="461665"/>
            </a:xfrm>
            <a:prstGeom prst="rect">
              <a:avLst/>
            </a:prstGeom>
            <a:noFill/>
          </p:spPr>
          <p:txBody>
            <a:bodyPr wrap="none" rtlCol="0">
              <a:spAutoFit/>
            </a:bodyPr>
            <a:lstStyle/>
            <a:p>
              <a:r>
                <a:rPr lang="en-US" sz="2400" dirty="0"/>
                <a:t>Example: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2CED248-ADE0-CA49-94BF-69FB6949E6AA}"/>
                    </a:ext>
                  </a:extLst>
                </p:cNvPr>
                <p:cNvSpPr txBox="1"/>
                <p:nvPr/>
              </p:nvSpPr>
              <p:spPr>
                <a:xfrm>
                  <a:off x="4011313" y="5383593"/>
                  <a:ext cx="4368568" cy="709938"/>
                </a:xfrm>
                <a:prstGeom prst="rect">
                  <a:avLst/>
                </a:prstGeom>
                <a:noFill/>
              </p:spPr>
              <p:txBody>
                <a:bodyPr wrap="none" rtlCol="0">
                  <a:spAutoFit/>
                </a:bodyPr>
                <a:lstStyle/>
                <a:p>
                  <a14:m>
                    <m:oMath xmlns:m="http://schemas.openxmlformats.org/officeDocument/2006/math">
                      <m:r>
                        <a:rPr lang="sr-Latn-RS" sz="2400" b="0" i="1" smtClean="0">
                          <a:latin typeface="Cambria Math" panose="02040503050406030204" pitchFamily="18" charset="0"/>
                        </a:rPr>
                        <m:t>𝐼</m:t>
                      </m:r>
                      <m:d>
                        <m:dPr>
                          <m:begChr m:val="|"/>
                          <m:endChr m:val="⟩"/>
                          <m:ctrlPr>
                            <a:rPr lang="en-US" sz="2400" i="1">
                              <a:latin typeface="Cambria Math" panose="02040503050406030204" pitchFamily="18" charset="0"/>
                            </a:rPr>
                          </m:ctrlPr>
                        </m:dPr>
                        <m:e>
                          <m:r>
                            <a:rPr lang="en-US" sz="2400" b="0" i="1">
                              <a:latin typeface="Cambria Math" panose="02040503050406030204" pitchFamily="18" charset="0"/>
                            </a:rPr>
                            <m:t>𝑥</m:t>
                          </m:r>
                        </m:e>
                      </m:d>
                      <m:r>
                        <a:rPr lang="en-US" sz="2400" b="1" i="1" smtClean="0">
                          <a:latin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m>
                            <m:mPr>
                              <m:mcs>
                                <m:mc>
                                  <m:mcPr>
                                    <m:count m:val="2"/>
                                    <m:mcJc m:val="center"/>
                                  </m:mcPr>
                                </m:mc>
                              </m:mcs>
                              <m:ctrlPr>
                                <a:rPr lang="en-US" sz="2400" i="1">
                                  <a:latin typeface="Cambria Math" panose="02040503050406030204" pitchFamily="18" charset="0"/>
                                  <a:ea typeface="Cambria Math" panose="02040503050406030204" pitchFamily="18" charset="0"/>
                                </a:rPr>
                              </m:ctrlPr>
                            </m:mPr>
                            <m:mr>
                              <m:e>
                                <m:r>
                                  <m:rPr>
                                    <m:brk m:alnAt="7"/>
                                  </m:rPr>
                                  <a:rPr lang="en-US" sz="2400" i="1">
                                    <a:latin typeface="Cambria Math" panose="02040503050406030204" pitchFamily="18" charset="0"/>
                                    <a:ea typeface="Cambria Math" panose="02040503050406030204" pitchFamily="18" charset="0"/>
                                  </a:rPr>
                                  <m:t>1</m:t>
                                </m:r>
                              </m:e>
                              <m:e>
                                <m:r>
                                  <a:rPr lang="en-US" sz="2400" i="1">
                                    <a:latin typeface="Cambria Math" panose="02040503050406030204" pitchFamily="18" charset="0"/>
                                    <a:ea typeface="Cambria Math" panose="02040503050406030204" pitchFamily="18" charset="0"/>
                                  </a:rPr>
                                  <m:t>0</m:t>
                                </m:r>
                              </m:e>
                            </m:mr>
                            <m:mr>
                              <m:e>
                                <m:r>
                                  <a:rPr lang="en-US" sz="2400" i="1">
                                    <a:latin typeface="Cambria Math" panose="02040503050406030204" pitchFamily="18" charset="0"/>
                                    <a:ea typeface="Cambria Math" panose="02040503050406030204" pitchFamily="18" charset="0"/>
                                  </a:rPr>
                                  <m:t>0</m:t>
                                </m:r>
                              </m:e>
                              <m:e>
                                <m:r>
                                  <a:rPr lang="en-US" sz="2400" i="1">
                                    <a:latin typeface="Cambria Math" panose="02040503050406030204" pitchFamily="18" charset="0"/>
                                    <a:ea typeface="Cambria Math" panose="02040503050406030204" pitchFamily="18" charset="0"/>
                                  </a:rPr>
                                  <m:t>1</m:t>
                                </m:r>
                              </m:e>
                            </m:mr>
                          </m:m>
                        </m:e>
                      </m:d>
                      <m:d>
                        <m:dPr>
                          <m:ctrlPr>
                            <a:rPr lang="en-US" sz="2400" b="1" i="1" smtClean="0">
                              <a:latin typeface="Cambria Math" panose="02040503050406030204" pitchFamily="18" charset="0"/>
                              <a:ea typeface="Cambria Math" panose="02040503050406030204" pitchFamily="18" charset="0"/>
                            </a:rPr>
                          </m:ctrlPr>
                        </m:dPr>
                        <m:e>
                          <m:m>
                            <m:mPr>
                              <m:mcs>
                                <m:mc>
                                  <m:mcPr>
                                    <m:count m:val="1"/>
                                    <m:mcJc m:val="center"/>
                                  </m:mcPr>
                                </m:mc>
                              </m:mcs>
                              <m:ctrlPr>
                                <a:rPr lang="en-US" sz="2400" i="1" smtClean="0">
                                  <a:latin typeface="Cambria Math" panose="02040503050406030204" pitchFamily="18" charset="0"/>
                                  <a:ea typeface="Cambria Math" panose="02040503050406030204" pitchFamily="18" charset="0"/>
                                </a:rPr>
                              </m:ctrlPr>
                            </m:mPr>
                            <m:mr>
                              <m:e>
                                <m:r>
                                  <m:rPr>
                                    <m:brk m:alnAt="7"/>
                                  </m:rPr>
                                  <a:rPr lang="en-US" sz="2400" b="0" i="1" smtClean="0">
                                    <a:latin typeface="Cambria Math" panose="02040503050406030204" pitchFamily="18" charset="0"/>
                                    <a:ea typeface="Cambria Math" panose="02040503050406030204" pitchFamily="18" charset="0"/>
                                  </a:rPr>
                                  <m:t>𝑥</m:t>
                                </m:r>
                              </m:e>
                            </m:mr>
                            <m:mr>
                              <m:e>
                                <m:r>
                                  <a:rPr lang="en-US" sz="2400" b="0" i="1" smtClean="0">
                                    <a:latin typeface="Cambria Math" panose="02040503050406030204" pitchFamily="18" charset="0"/>
                                    <a:ea typeface="Cambria Math" panose="02040503050406030204" pitchFamily="18" charset="0"/>
                                  </a:rPr>
                                  <m:t>𝑦</m:t>
                                </m:r>
                              </m:e>
                            </m:mr>
                          </m:m>
                        </m:e>
                      </m:d>
                      <m:r>
                        <a:rPr lang="en-US" sz="2400" b="1" i="1" smtClean="0">
                          <a:latin typeface="Cambria Math" panose="02040503050406030204" pitchFamily="18" charset="0"/>
                          <a:ea typeface="Cambria Math" panose="02040503050406030204" pitchFamily="18" charset="0"/>
                        </a:rPr>
                        <m:t>=</m:t>
                      </m:r>
                      <m:d>
                        <m:dPr>
                          <m:ctrlPr>
                            <a:rPr lang="en-US" sz="2400" b="1" i="1">
                              <a:latin typeface="Cambria Math" panose="02040503050406030204" pitchFamily="18" charset="0"/>
                              <a:ea typeface="Cambria Math" panose="02040503050406030204" pitchFamily="18" charset="0"/>
                            </a:rPr>
                          </m:ctrlPr>
                        </m:dPr>
                        <m:e>
                          <m:m>
                            <m:mPr>
                              <m:mcs>
                                <m:mc>
                                  <m:mcPr>
                                    <m:count m:val="1"/>
                                    <m:mcJc m:val="center"/>
                                  </m:mcPr>
                                </m:mc>
                              </m:mcs>
                              <m:ctrlPr>
                                <a:rPr lang="en-US" sz="2400" i="1">
                                  <a:latin typeface="Cambria Math" panose="02040503050406030204" pitchFamily="18" charset="0"/>
                                  <a:ea typeface="Cambria Math" panose="02040503050406030204" pitchFamily="18" charset="0"/>
                                </a:rPr>
                              </m:ctrlPr>
                            </m:mPr>
                            <m:mr>
                              <m:e>
                                <m:r>
                                  <m:rPr>
                                    <m:brk m:alnAt="7"/>
                                  </m:rPr>
                                  <a:rPr lang="en-US" sz="2400" i="1">
                                    <a:latin typeface="Cambria Math" panose="02040503050406030204" pitchFamily="18" charset="0"/>
                                    <a:ea typeface="Cambria Math" panose="02040503050406030204" pitchFamily="18" charset="0"/>
                                  </a:rPr>
                                  <m:t>𝑥</m:t>
                                </m:r>
                              </m:e>
                            </m:mr>
                            <m:mr>
                              <m:e>
                                <m:r>
                                  <a:rPr lang="en-US" sz="2400" i="1">
                                    <a:latin typeface="Cambria Math" panose="02040503050406030204" pitchFamily="18" charset="0"/>
                                    <a:ea typeface="Cambria Math" panose="02040503050406030204" pitchFamily="18" charset="0"/>
                                  </a:rPr>
                                  <m:t>𝑦</m:t>
                                </m:r>
                              </m:e>
                            </m:mr>
                          </m:m>
                        </m:e>
                      </m:d>
                      <m:r>
                        <a:rPr lang="en-US" sz="2400" b="1"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𝜆</m:t>
                      </m:r>
                    </m:oMath>
                  </a14:m>
                  <a:r>
                    <a:rPr lang="en-US" sz="2400" dirty="0"/>
                    <a:t>=1</a:t>
                  </a:r>
                </a:p>
              </p:txBody>
            </p:sp>
          </mc:Choice>
          <mc:Fallback xmlns="">
            <p:sp>
              <p:nvSpPr>
                <p:cNvPr id="8" name="TextBox 7">
                  <a:extLst>
                    <a:ext uri="{FF2B5EF4-FFF2-40B4-BE49-F238E27FC236}">
                      <a16:creationId xmlns:a16="http://schemas.microsoft.com/office/drawing/2014/main" id="{A2CED248-ADE0-CA49-94BF-69FB6949E6AA}"/>
                    </a:ext>
                  </a:extLst>
                </p:cNvPr>
                <p:cNvSpPr txBox="1">
                  <a:spLocks noRot="1" noChangeAspect="1" noMove="1" noResize="1" noEditPoints="1" noAdjustHandles="1" noChangeArrowheads="1" noChangeShapeType="1" noTextEdit="1"/>
                </p:cNvSpPr>
                <p:nvPr/>
              </p:nvSpPr>
              <p:spPr>
                <a:xfrm>
                  <a:off x="4011313" y="5383593"/>
                  <a:ext cx="4368568" cy="709938"/>
                </a:xfrm>
                <a:prstGeom prst="rect">
                  <a:avLst/>
                </a:prstGeom>
                <a:blipFill>
                  <a:blip r:embed="rId3"/>
                  <a:stretch>
                    <a:fillRect l="-290" r="-870" b="-8772"/>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D70856C-8C1B-A643-939D-2EDE7EA2B49B}"/>
                  </a:ext>
                </a:extLst>
              </p:cNvPr>
              <p:cNvSpPr txBox="1"/>
              <p:nvPr/>
            </p:nvSpPr>
            <p:spPr>
              <a:xfrm>
                <a:off x="6881618" y="2066324"/>
                <a:ext cx="2575449"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rPr>
                        <m:t>𝐴</m:t>
                      </m:r>
                      <m:d>
                        <m:dPr>
                          <m:begChr m:val="|"/>
                          <m:endChr m:val="⟩"/>
                          <m:ctrlPr>
                            <a:rPr lang="en-US" sz="3600" i="1">
                              <a:latin typeface="Cambria Math" panose="02040503050406030204" pitchFamily="18" charset="0"/>
                            </a:rPr>
                          </m:ctrlPr>
                        </m:dPr>
                        <m:e>
                          <m:r>
                            <a:rPr lang="en-US" sz="3600" b="0" i="1" smtClean="0">
                              <a:latin typeface="Cambria Math" panose="02040503050406030204" pitchFamily="18" charset="0"/>
                            </a:rPr>
                            <m:t>𝑥</m:t>
                          </m:r>
                        </m:e>
                      </m:d>
                      <m:r>
                        <a:rPr lang="en-US" sz="3600" b="0" i="1" smtClean="0">
                          <a:latin typeface="Cambria Math" panose="02040503050406030204" pitchFamily="18" charset="0"/>
                        </a:rPr>
                        <m:t>=</m:t>
                      </m:r>
                      <m:r>
                        <a:rPr lang="en-US" sz="3600" i="1">
                          <a:latin typeface="Cambria Math" panose="02040503050406030204" pitchFamily="18" charset="0"/>
                          <a:ea typeface="Cambria Math" panose="02040503050406030204" pitchFamily="18" charset="0"/>
                        </a:rPr>
                        <m:t>𝜆</m:t>
                      </m:r>
                      <m:d>
                        <m:dPr>
                          <m:begChr m:val="|"/>
                          <m:endChr m:val="⟩"/>
                          <m:ctrlPr>
                            <a:rPr lang="en-US" sz="3600" i="1">
                              <a:latin typeface="Cambria Math" panose="02040503050406030204" pitchFamily="18" charset="0"/>
                            </a:rPr>
                          </m:ctrlPr>
                        </m:dPr>
                        <m:e>
                          <m:r>
                            <a:rPr lang="en-US" sz="3600" i="1">
                              <a:latin typeface="Cambria Math" panose="02040503050406030204" pitchFamily="18" charset="0"/>
                            </a:rPr>
                            <m:t>𝑥</m:t>
                          </m:r>
                        </m:e>
                      </m:d>
                    </m:oMath>
                  </m:oMathPara>
                </a14:m>
                <a:endParaRPr lang="en-US" sz="3600" dirty="0"/>
              </a:p>
            </p:txBody>
          </p:sp>
        </mc:Choice>
        <mc:Fallback xmlns="">
          <p:sp>
            <p:nvSpPr>
              <p:cNvPr id="12" name="TextBox 11">
                <a:extLst>
                  <a:ext uri="{FF2B5EF4-FFF2-40B4-BE49-F238E27FC236}">
                    <a16:creationId xmlns:a16="http://schemas.microsoft.com/office/drawing/2014/main" id="{2D70856C-8C1B-A643-939D-2EDE7EA2B49B}"/>
                  </a:ext>
                </a:extLst>
              </p:cNvPr>
              <p:cNvSpPr txBox="1">
                <a:spLocks noRot="1" noChangeAspect="1" noMove="1" noResize="1" noEditPoints="1" noAdjustHandles="1" noChangeArrowheads="1" noChangeShapeType="1" noTextEdit="1"/>
              </p:cNvSpPr>
              <p:nvPr/>
            </p:nvSpPr>
            <p:spPr>
              <a:xfrm>
                <a:off x="6881618" y="2066324"/>
                <a:ext cx="2575449" cy="646331"/>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5CA3E87-5192-CD4A-BC6D-69777927A8F7}"/>
                  </a:ext>
                </a:extLst>
              </p:cNvPr>
              <p:cNvSpPr txBox="1"/>
              <p:nvPr/>
            </p:nvSpPr>
            <p:spPr>
              <a:xfrm>
                <a:off x="7365954" y="2933687"/>
                <a:ext cx="2536272" cy="954107"/>
              </a:xfrm>
              <a:prstGeom prst="rect">
                <a:avLst/>
              </a:prstGeom>
              <a:noFill/>
            </p:spPr>
            <p:txBody>
              <a:bodyPr wrap="none" rtlCol="0">
                <a:spAutoFit/>
              </a:bodyPr>
              <a:lstStyle/>
              <a:p>
                <a14:m>
                  <m:oMath xmlns:m="http://schemas.openxmlformats.org/officeDocument/2006/math">
                    <m:r>
                      <a:rPr lang="en-US" sz="2800" i="1">
                        <a:latin typeface="Cambria Math" panose="02040503050406030204" pitchFamily="18" charset="0"/>
                        <a:ea typeface="Cambria Math" panose="02040503050406030204" pitchFamily="18" charset="0"/>
                      </a:rPr>
                      <m:t>𝜆</m:t>
                    </m:r>
                  </m:oMath>
                </a14:m>
                <a:r>
                  <a:rPr lang="en-US" sz="2800" dirty="0"/>
                  <a:t>.  : eigenvalue</a:t>
                </a:r>
              </a:p>
              <a:p>
                <a14:m>
                  <m:oMath xmlns:m="http://schemas.openxmlformats.org/officeDocument/2006/math">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𝑥</m:t>
                        </m:r>
                      </m:e>
                    </m:d>
                  </m:oMath>
                </a14:m>
                <a:r>
                  <a:rPr lang="en-US" sz="2800" dirty="0"/>
                  <a:t>: eigenvector</a:t>
                </a:r>
              </a:p>
            </p:txBody>
          </p:sp>
        </mc:Choice>
        <mc:Fallback xmlns="">
          <p:sp>
            <p:nvSpPr>
              <p:cNvPr id="14" name="TextBox 13">
                <a:extLst>
                  <a:ext uri="{FF2B5EF4-FFF2-40B4-BE49-F238E27FC236}">
                    <a16:creationId xmlns:a16="http://schemas.microsoft.com/office/drawing/2014/main" id="{C5CA3E87-5192-CD4A-BC6D-69777927A8F7}"/>
                  </a:ext>
                </a:extLst>
              </p:cNvPr>
              <p:cNvSpPr txBox="1">
                <a:spLocks noRot="1" noChangeAspect="1" noMove="1" noResize="1" noEditPoints="1" noAdjustHandles="1" noChangeArrowheads="1" noChangeShapeType="1" noTextEdit="1"/>
              </p:cNvSpPr>
              <p:nvPr/>
            </p:nvSpPr>
            <p:spPr>
              <a:xfrm>
                <a:off x="7365954" y="2933687"/>
                <a:ext cx="2536272" cy="954107"/>
              </a:xfrm>
              <a:prstGeom prst="rect">
                <a:avLst/>
              </a:prstGeom>
              <a:blipFill>
                <a:blip r:embed="rId8"/>
                <a:stretch>
                  <a:fillRect l="-1493" t="-5263" r="-2488" b="-15789"/>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2E1829DC-18E2-5A48-887E-F86BB48EC0F2}"/>
              </a:ext>
            </a:extLst>
          </p:cNvPr>
          <p:cNvCxnSpPr>
            <a:cxnSpLocks/>
          </p:cNvCxnSpPr>
          <p:nvPr/>
        </p:nvCxnSpPr>
        <p:spPr>
          <a:xfrm>
            <a:off x="1288379" y="5333913"/>
            <a:ext cx="3859354" cy="3"/>
          </a:xfrm>
          <a:prstGeom prst="straightConnector1">
            <a:avLst/>
          </a:prstGeom>
          <a:ln w="12700" cap="rnd">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443C9D9-F52D-C347-A986-E9AB77FA39F7}"/>
              </a:ext>
            </a:extLst>
          </p:cNvPr>
          <p:cNvCxnSpPr>
            <a:cxnSpLocks/>
          </p:cNvCxnSpPr>
          <p:nvPr/>
        </p:nvCxnSpPr>
        <p:spPr>
          <a:xfrm flipV="1">
            <a:off x="1288379" y="1461204"/>
            <a:ext cx="0" cy="3859354"/>
          </a:xfrm>
          <a:prstGeom prst="straightConnector1">
            <a:avLst/>
          </a:prstGeom>
          <a:ln w="12700" cap="rnd">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FDE312C-EDE1-BF4D-B4C4-4686FF87DC37}"/>
              </a:ext>
            </a:extLst>
          </p:cNvPr>
          <p:cNvCxnSpPr>
            <a:cxnSpLocks/>
          </p:cNvCxnSpPr>
          <p:nvPr/>
        </p:nvCxnSpPr>
        <p:spPr>
          <a:xfrm flipV="1">
            <a:off x="1288379" y="2344208"/>
            <a:ext cx="2433893" cy="3003062"/>
          </a:xfrm>
          <a:prstGeom prst="straightConnector1">
            <a:avLst/>
          </a:prstGeom>
          <a:ln w="25400">
            <a:solidFill>
              <a:srgbClr val="0000FF"/>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3467602-E951-DA4D-9ADE-C1375828E30F}"/>
              </a:ext>
            </a:extLst>
          </p:cNvPr>
          <p:cNvCxnSpPr>
            <a:cxnSpLocks/>
          </p:cNvCxnSpPr>
          <p:nvPr/>
        </p:nvCxnSpPr>
        <p:spPr>
          <a:xfrm>
            <a:off x="3722273" y="2344208"/>
            <a:ext cx="0" cy="2989705"/>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E07030E-2D91-804F-947B-4DB5C5F92B05}"/>
              </a:ext>
            </a:extLst>
          </p:cNvPr>
          <p:cNvCxnSpPr>
            <a:cxnSpLocks/>
          </p:cNvCxnSpPr>
          <p:nvPr/>
        </p:nvCxnSpPr>
        <p:spPr>
          <a:xfrm flipV="1">
            <a:off x="1288379" y="2344205"/>
            <a:ext cx="2433893" cy="3"/>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D3DDB42-C446-3D4F-9954-5E0C7B23F677}"/>
              </a:ext>
            </a:extLst>
          </p:cNvPr>
          <p:cNvCxnSpPr>
            <a:cxnSpLocks noChangeAspect="1"/>
          </p:cNvCxnSpPr>
          <p:nvPr/>
        </p:nvCxnSpPr>
        <p:spPr>
          <a:xfrm flipV="1">
            <a:off x="1288378" y="3553579"/>
            <a:ext cx="1447258" cy="1783997"/>
          </a:xfrm>
          <a:prstGeom prst="straightConnector1">
            <a:avLst/>
          </a:prstGeom>
          <a:ln w="25400">
            <a:solidFill>
              <a:schemeClr val="tx1"/>
            </a:solidFill>
            <a:headEnd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6FFACBE-621B-2F4B-85F3-6F4A240836C3}"/>
              </a:ext>
            </a:extLst>
          </p:cNvPr>
          <p:cNvCxnSpPr>
            <a:cxnSpLocks/>
          </p:cNvCxnSpPr>
          <p:nvPr/>
        </p:nvCxnSpPr>
        <p:spPr>
          <a:xfrm flipH="1">
            <a:off x="2735636" y="3571567"/>
            <a:ext cx="0" cy="1762346"/>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77D406C-ADD2-0D41-809C-48B46710B9EC}"/>
              </a:ext>
            </a:extLst>
          </p:cNvPr>
          <p:cNvCxnSpPr>
            <a:cxnSpLocks/>
          </p:cNvCxnSpPr>
          <p:nvPr/>
        </p:nvCxnSpPr>
        <p:spPr>
          <a:xfrm>
            <a:off x="1288378" y="3571567"/>
            <a:ext cx="1447258" cy="0"/>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Rectangle 39">
                <a:extLst>
                  <a:ext uri="{FF2B5EF4-FFF2-40B4-BE49-F238E27FC236}">
                    <a16:creationId xmlns:a16="http://schemas.microsoft.com/office/drawing/2014/main" id="{19B040EA-3ABC-2040-93EB-6481B403FD79}"/>
                  </a:ext>
                </a:extLst>
              </p:cNvPr>
              <p:cNvSpPr/>
              <p:nvPr/>
            </p:nvSpPr>
            <p:spPr>
              <a:xfrm>
                <a:off x="1444735" y="3943068"/>
                <a:ext cx="785408" cy="584775"/>
              </a:xfrm>
              <a:prstGeom prst="rect">
                <a:avLst/>
              </a:prstGeom>
              <a:noFill/>
            </p:spPr>
            <p:txBody>
              <a:bodyPr wrap="none">
                <a:spAutoFit/>
              </a:bodyPr>
              <a:lstStyle/>
              <a:p>
                <a:pPr/>
                <a14:m>
                  <m:oMathPara xmlns:m="http://schemas.openxmlformats.org/officeDocument/2006/math">
                    <m:oMathParaPr>
                      <m:jc m:val="centerGroup"/>
                    </m:oMathParaPr>
                    <m:oMath xmlns:m="http://schemas.openxmlformats.org/officeDocument/2006/math">
                      <m:d>
                        <m:dPr>
                          <m:begChr m:val="|"/>
                          <m:endChr m:val="⟩"/>
                          <m:ctrlPr>
                            <a:rPr lang="en-US" sz="3200" i="1">
                              <a:latin typeface="Cambria Math" panose="02040503050406030204" pitchFamily="18" charset="0"/>
                            </a:rPr>
                          </m:ctrlPr>
                        </m:dPr>
                        <m:e>
                          <m:r>
                            <a:rPr lang="en-US" sz="3200" i="1">
                              <a:latin typeface="Cambria Math" panose="02040503050406030204" pitchFamily="18" charset="0"/>
                            </a:rPr>
                            <m:t>𝑥</m:t>
                          </m:r>
                        </m:e>
                      </m:d>
                    </m:oMath>
                  </m:oMathPara>
                </a14:m>
                <a:endParaRPr lang="en-US" sz="3200" dirty="0"/>
              </a:p>
            </p:txBody>
          </p:sp>
        </mc:Choice>
        <mc:Fallback xmlns="">
          <p:sp>
            <p:nvSpPr>
              <p:cNvPr id="40" name="Rectangle 39">
                <a:extLst>
                  <a:ext uri="{FF2B5EF4-FFF2-40B4-BE49-F238E27FC236}">
                    <a16:creationId xmlns:a16="http://schemas.microsoft.com/office/drawing/2014/main" id="{19B040EA-3ABC-2040-93EB-6481B403FD79}"/>
                  </a:ext>
                </a:extLst>
              </p:cNvPr>
              <p:cNvSpPr>
                <a:spLocks noRot="1" noChangeAspect="1" noMove="1" noResize="1" noEditPoints="1" noAdjustHandles="1" noChangeArrowheads="1" noChangeShapeType="1" noTextEdit="1"/>
              </p:cNvSpPr>
              <p:nvPr/>
            </p:nvSpPr>
            <p:spPr>
              <a:xfrm>
                <a:off x="1444735" y="3943068"/>
                <a:ext cx="785408" cy="58477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89558E00-699E-914B-BA76-AD06E3E749B6}"/>
                  </a:ext>
                </a:extLst>
              </p:cNvPr>
              <p:cNvSpPr/>
              <p:nvPr/>
            </p:nvSpPr>
            <p:spPr>
              <a:xfrm>
                <a:off x="3393397" y="5415815"/>
                <a:ext cx="585097"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ea typeface="Cambria Math" panose="02040503050406030204" pitchFamily="18" charset="0"/>
                        </a:rPr>
                        <m:t>𝜆</m:t>
                      </m:r>
                      <m:r>
                        <a:rPr lang="en-US" sz="2400" b="0" i="1">
                          <a:latin typeface="Cambria Math" panose="02040503050406030204" pitchFamily="18" charset="0"/>
                          <a:ea typeface="Cambria Math" panose="02040503050406030204" pitchFamily="18" charset="0"/>
                        </a:rPr>
                        <m:t>𝑥</m:t>
                      </m:r>
                    </m:oMath>
                  </m:oMathPara>
                </a14:m>
                <a:endParaRPr lang="en-US" sz="2400" dirty="0"/>
              </a:p>
            </p:txBody>
          </p:sp>
        </mc:Choice>
        <mc:Fallback xmlns="">
          <p:sp>
            <p:nvSpPr>
              <p:cNvPr id="41" name="Rectangle 40">
                <a:extLst>
                  <a:ext uri="{FF2B5EF4-FFF2-40B4-BE49-F238E27FC236}">
                    <a16:creationId xmlns:a16="http://schemas.microsoft.com/office/drawing/2014/main" id="{89558E00-699E-914B-BA76-AD06E3E749B6}"/>
                  </a:ext>
                </a:extLst>
              </p:cNvPr>
              <p:cNvSpPr>
                <a:spLocks noRot="1" noChangeAspect="1" noMove="1" noResize="1" noEditPoints="1" noAdjustHandles="1" noChangeArrowheads="1" noChangeShapeType="1" noTextEdit="1"/>
              </p:cNvSpPr>
              <p:nvPr/>
            </p:nvSpPr>
            <p:spPr>
              <a:xfrm>
                <a:off x="3393397" y="5415815"/>
                <a:ext cx="585097" cy="461665"/>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B17FA7F5-4F34-4146-AD9A-6AFC38FFDD87}"/>
                  </a:ext>
                </a:extLst>
              </p:cNvPr>
              <p:cNvSpPr/>
              <p:nvPr/>
            </p:nvSpPr>
            <p:spPr>
              <a:xfrm>
                <a:off x="2505326" y="5424189"/>
                <a:ext cx="426399"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a:latin typeface="Cambria Math" panose="02040503050406030204" pitchFamily="18" charset="0"/>
                        </a:rPr>
                        <m:t>𝑥</m:t>
                      </m:r>
                    </m:oMath>
                  </m:oMathPara>
                </a14:m>
                <a:endParaRPr lang="en-US" sz="2400" dirty="0"/>
              </a:p>
            </p:txBody>
          </p:sp>
        </mc:Choice>
        <mc:Fallback xmlns="">
          <p:sp>
            <p:nvSpPr>
              <p:cNvPr id="42" name="Rectangle 41">
                <a:extLst>
                  <a:ext uri="{FF2B5EF4-FFF2-40B4-BE49-F238E27FC236}">
                    <a16:creationId xmlns:a16="http://schemas.microsoft.com/office/drawing/2014/main" id="{B17FA7F5-4F34-4146-AD9A-6AFC38FFDD87}"/>
                  </a:ext>
                </a:extLst>
              </p:cNvPr>
              <p:cNvSpPr>
                <a:spLocks noRot="1" noChangeAspect="1" noMove="1" noResize="1" noEditPoints="1" noAdjustHandles="1" noChangeArrowheads="1" noChangeShapeType="1" noTextEdit="1"/>
              </p:cNvSpPr>
              <p:nvPr/>
            </p:nvSpPr>
            <p:spPr>
              <a:xfrm>
                <a:off x="2505326" y="5424189"/>
                <a:ext cx="426399" cy="461665"/>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Rectangle 42">
                <a:extLst>
                  <a:ext uri="{FF2B5EF4-FFF2-40B4-BE49-F238E27FC236}">
                    <a16:creationId xmlns:a16="http://schemas.microsoft.com/office/drawing/2014/main" id="{05784ABB-38B2-894B-A057-B1AB445691E0}"/>
                  </a:ext>
                </a:extLst>
              </p:cNvPr>
              <p:cNvSpPr/>
              <p:nvPr/>
            </p:nvSpPr>
            <p:spPr>
              <a:xfrm>
                <a:off x="549222" y="2087211"/>
                <a:ext cx="589071"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Cambria Math" panose="02040503050406030204" pitchFamily="18" charset="0"/>
                        </a:rPr>
                        <m:t>𝜆</m:t>
                      </m:r>
                      <m:r>
                        <a:rPr lang="en-US" sz="2400" b="0" i="1" smtClean="0">
                          <a:latin typeface="Cambria Math" panose="02040503050406030204" pitchFamily="18" charset="0"/>
                          <a:ea typeface="Cambria Math" panose="02040503050406030204" pitchFamily="18" charset="0"/>
                        </a:rPr>
                        <m:t>𝑦</m:t>
                      </m:r>
                    </m:oMath>
                  </m:oMathPara>
                </a14:m>
                <a:endParaRPr lang="en-US" sz="2400" dirty="0"/>
              </a:p>
            </p:txBody>
          </p:sp>
        </mc:Choice>
        <mc:Fallback xmlns="">
          <p:sp>
            <p:nvSpPr>
              <p:cNvPr id="43" name="Rectangle 42">
                <a:extLst>
                  <a:ext uri="{FF2B5EF4-FFF2-40B4-BE49-F238E27FC236}">
                    <a16:creationId xmlns:a16="http://schemas.microsoft.com/office/drawing/2014/main" id="{05784ABB-38B2-894B-A057-B1AB445691E0}"/>
                  </a:ext>
                </a:extLst>
              </p:cNvPr>
              <p:cNvSpPr>
                <a:spLocks noRot="1" noChangeAspect="1" noMove="1" noResize="1" noEditPoints="1" noAdjustHandles="1" noChangeArrowheads="1" noChangeShapeType="1" noTextEdit="1"/>
              </p:cNvSpPr>
              <p:nvPr/>
            </p:nvSpPr>
            <p:spPr>
              <a:xfrm>
                <a:off x="549222" y="2087211"/>
                <a:ext cx="589071" cy="461665"/>
              </a:xfrm>
              <a:prstGeom prst="rect">
                <a:avLst/>
              </a:prstGeom>
              <a:blipFill>
                <a:blip r:embed="rId13"/>
                <a:stretch>
                  <a:fillRect b="-1578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22699E18-031A-0B48-AA75-3D73D5DBAE80}"/>
                  </a:ext>
                </a:extLst>
              </p:cNvPr>
              <p:cNvSpPr/>
              <p:nvPr/>
            </p:nvSpPr>
            <p:spPr>
              <a:xfrm>
                <a:off x="645115" y="3265396"/>
                <a:ext cx="430374"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𝑦</m:t>
                      </m:r>
                    </m:oMath>
                  </m:oMathPara>
                </a14:m>
                <a:endParaRPr lang="en-US" sz="2400" dirty="0"/>
              </a:p>
            </p:txBody>
          </p:sp>
        </mc:Choice>
        <mc:Fallback xmlns="">
          <p:sp>
            <p:nvSpPr>
              <p:cNvPr id="44" name="Rectangle 43">
                <a:extLst>
                  <a:ext uri="{FF2B5EF4-FFF2-40B4-BE49-F238E27FC236}">
                    <a16:creationId xmlns:a16="http://schemas.microsoft.com/office/drawing/2014/main" id="{22699E18-031A-0B48-AA75-3D73D5DBAE80}"/>
                  </a:ext>
                </a:extLst>
              </p:cNvPr>
              <p:cNvSpPr>
                <a:spLocks noRot="1" noChangeAspect="1" noMove="1" noResize="1" noEditPoints="1" noAdjustHandles="1" noChangeArrowheads="1" noChangeShapeType="1" noTextEdit="1"/>
              </p:cNvSpPr>
              <p:nvPr/>
            </p:nvSpPr>
            <p:spPr>
              <a:xfrm>
                <a:off x="645115" y="3265396"/>
                <a:ext cx="430374" cy="461665"/>
              </a:xfrm>
              <a:prstGeom prst="rect">
                <a:avLst/>
              </a:prstGeom>
              <a:blipFill>
                <a:blip r:embed="rId14"/>
                <a:stretch>
                  <a:fillRect b="-108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076C464C-C733-4F42-827D-ACB944C3974D}"/>
                  </a:ext>
                </a:extLst>
              </p:cNvPr>
              <p:cNvSpPr txBox="1"/>
              <p:nvPr/>
            </p:nvSpPr>
            <p:spPr>
              <a:xfrm>
                <a:off x="3081528" y="2986792"/>
                <a:ext cx="2309671"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𝐴</m:t>
                      </m:r>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𝑥</m:t>
                          </m:r>
                        </m:e>
                      </m:d>
                      <m:r>
                        <a:rPr lang="en-US" sz="3200" b="0" i="1" smtClean="0">
                          <a:latin typeface="Cambria Math" panose="02040503050406030204" pitchFamily="18" charset="0"/>
                        </a:rPr>
                        <m:t>=</m:t>
                      </m:r>
                      <m:r>
                        <a:rPr lang="en-US" sz="3200" i="1">
                          <a:latin typeface="Cambria Math" panose="02040503050406030204" pitchFamily="18" charset="0"/>
                          <a:ea typeface="Cambria Math" panose="02040503050406030204" pitchFamily="18" charset="0"/>
                        </a:rPr>
                        <m:t>𝜆</m:t>
                      </m:r>
                      <m:d>
                        <m:dPr>
                          <m:begChr m:val="|"/>
                          <m:endChr m:val="⟩"/>
                          <m:ctrlPr>
                            <a:rPr lang="en-US" sz="3200" i="1">
                              <a:latin typeface="Cambria Math" panose="02040503050406030204" pitchFamily="18" charset="0"/>
                            </a:rPr>
                          </m:ctrlPr>
                        </m:dPr>
                        <m:e>
                          <m:r>
                            <a:rPr lang="en-US" sz="3200" i="1">
                              <a:latin typeface="Cambria Math" panose="02040503050406030204" pitchFamily="18" charset="0"/>
                            </a:rPr>
                            <m:t>𝑥</m:t>
                          </m:r>
                        </m:e>
                      </m:d>
                    </m:oMath>
                  </m:oMathPara>
                </a14:m>
                <a:endParaRPr lang="en-US" sz="3200" dirty="0"/>
              </a:p>
            </p:txBody>
          </p:sp>
        </mc:Choice>
        <mc:Fallback xmlns="">
          <p:sp>
            <p:nvSpPr>
              <p:cNvPr id="24" name="TextBox 23">
                <a:extLst>
                  <a:ext uri="{FF2B5EF4-FFF2-40B4-BE49-F238E27FC236}">
                    <a16:creationId xmlns:a16="http://schemas.microsoft.com/office/drawing/2014/main" id="{076C464C-C733-4F42-827D-ACB944C3974D}"/>
                  </a:ext>
                </a:extLst>
              </p:cNvPr>
              <p:cNvSpPr txBox="1">
                <a:spLocks noRot="1" noChangeAspect="1" noMove="1" noResize="1" noEditPoints="1" noAdjustHandles="1" noChangeArrowheads="1" noChangeShapeType="1" noTextEdit="1"/>
              </p:cNvSpPr>
              <p:nvPr/>
            </p:nvSpPr>
            <p:spPr>
              <a:xfrm>
                <a:off x="3081528" y="2986792"/>
                <a:ext cx="2309671" cy="584775"/>
              </a:xfrm>
              <a:prstGeom prst="rect">
                <a:avLst/>
              </a:prstGeom>
              <a:blipFill>
                <a:blip r:embed="rId15"/>
                <a:stretch>
                  <a:fillRect/>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76AEED3-A518-EB4B-9F22-D34EB47F8B4E}"/>
              </a:ext>
            </a:extLst>
          </p:cNvPr>
          <p:cNvSpPr txBox="1"/>
          <p:nvPr/>
        </p:nvSpPr>
        <p:spPr>
          <a:xfrm>
            <a:off x="8079814" y="1461204"/>
            <a:ext cx="2718373" cy="461665"/>
          </a:xfrm>
          <a:prstGeom prst="rect">
            <a:avLst/>
          </a:prstGeom>
          <a:noFill/>
        </p:spPr>
        <p:txBody>
          <a:bodyPr wrap="none" rtlCol="0">
            <a:spAutoFit/>
          </a:bodyPr>
          <a:lstStyle/>
          <a:p>
            <a:r>
              <a:rPr lang="en-ZA" sz="2400" dirty="0"/>
              <a:t>eigenvalue equation</a:t>
            </a:r>
            <a:endParaRPr lang="en-US" sz="2400" dirty="0"/>
          </a:p>
        </p:txBody>
      </p:sp>
    </p:spTree>
    <p:extLst>
      <p:ext uri="{BB962C8B-B14F-4D97-AF65-F5344CB8AC3E}">
        <p14:creationId xmlns:p14="http://schemas.microsoft.com/office/powerpoint/2010/main" val="3416184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a:extLst>
              <a:ext uri="{FF2B5EF4-FFF2-40B4-BE49-F238E27FC236}">
                <a16:creationId xmlns:a16="http://schemas.microsoft.com/office/drawing/2014/main" id="{B10D74C2-5244-FD4F-9BF9-B3D9F6F2027A}"/>
              </a:ext>
            </a:extLst>
          </p:cNvPr>
          <p:cNvSpPr/>
          <p:nvPr/>
        </p:nvSpPr>
        <p:spPr>
          <a:xfrm>
            <a:off x="333103" y="1081975"/>
            <a:ext cx="2849824" cy="1143065"/>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5849B6-0FC7-8947-B0F5-1EF97F6A3923}"/>
              </a:ext>
            </a:extLst>
          </p:cNvPr>
          <p:cNvSpPr>
            <a:spLocks noGrp="1"/>
          </p:cNvSpPr>
          <p:nvPr>
            <p:ph type="title"/>
          </p:nvPr>
        </p:nvSpPr>
        <p:spPr>
          <a:xfrm>
            <a:off x="0" y="0"/>
            <a:ext cx="12192000" cy="928688"/>
          </a:xfrm>
        </p:spPr>
        <p:txBody>
          <a:bodyPr>
            <a:normAutofit/>
          </a:bodyPr>
          <a:lstStyle/>
          <a:p>
            <a:r>
              <a:rPr lang="en-ZA" dirty="0"/>
              <a:t>Eigenspaces and Spectrum</a:t>
            </a:r>
            <a:endParaRPr lang="en-US" dirty="0"/>
          </a:p>
        </p:txBody>
      </p:sp>
      <p:sp>
        <p:nvSpPr>
          <p:cNvPr id="3" name="Slide Number Placeholder 2">
            <a:extLst>
              <a:ext uri="{FF2B5EF4-FFF2-40B4-BE49-F238E27FC236}">
                <a16:creationId xmlns:a16="http://schemas.microsoft.com/office/drawing/2014/main" id="{DB6F5299-1E31-C24C-A85B-3752149AED52}"/>
              </a:ext>
            </a:extLst>
          </p:cNvPr>
          <p:cNvSpPr>
            <a:spLocks noGrp="1"/>
          </p:cNvSpPr>
          <p:nvPr>
            <p:ph type="sldNum" sz="quarter" idx="12"/>
          </p:nvPr>
        </p:nvSpPr>
        <p:spPr/>
        <p:txBody>
          <a:bodyPr/>
          <a:lstStyle/>
          <a:p>
            <a:fld id="{591A223C-FA10-BC46-A853-03BA373D023C}" type="slidenum">
              <a:rPr lang="en-US" smtClean="0"/>
              <a:t>52</a:t>
            </a:fld>
            <a:endParaRPr lang="en-US"/>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D70856C-8C1B-A643-939D-2EDE7EA2B49B}"/>
                  </a:ext>
                </a:extLst>
              </p:cNvPr>
              <p:cNvSpPr txBox="1"/>
              <p:nvPr/>
            </p:nvSpPr>
            <p:spPr>
              <a:xfrm>
                <a:off x="470318" y="1284856"/>
                <a:ext cx="2575449"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600" i="1" smtClean="0">
                          <a:latin typeface="Cambria Math" panose="02040503050406030204" pitchFamily="18" charset="0"/>
                        </a:rPr>
                        <m:t>𝐴</m:t>
                      </m:r>
                      <m:d>
                        <m:dPr>
                          <m:begChr m:val="|"/>
                          <m:endChr m:val="⟩"/>
                          <m:ctrlPr>
                            <a:rPr lang="en-US" sz="3600" i="1">
                              <a:latin typeface="Cambria Math" panose="02040503050406030204" pitchFamily="18" charset="0"/>
                            </a:rPr>
                          </m:ctrlPr>
                        </m:dPr>
                        <m:e>
                          <m:r>
                            <a:rPr lang="en-US" sz="3600" b="0" i="1" smtClean="0">
                              <a:latin typeface="Cambria Math" panose="02040503050406030204" pitchFamily="18" charset="0"/>
                            </a:rPr>
                            <m:t>𝑥</m:t>
                          </m:r>
                        </m:e>
                      </m:d>
                      <m:r>
                        <a:rPr lang="en-US" sz="3600" b="0" i="1" smtClean="0">
                          <a:latin typeface="Cambria Math" panose="02040503050406030204" pitchFamily="18" charset="0"/>
                        </a:rPr>
                        <m:t>=</m:t>
                      </m:r>
                      <m:r>
                        <a:rPr lang="en-US" sz="3600" i="1">
                          <a:latin typeface="Cambria Math" panose="02040503050406030204" pitchFamily="18" charset="0"/>
                          <a:ea typeface="Cambria Math" panose="02040503050406030204" pitchFamily="18" charset="0"/>
                        </a:rPr>
                        <m:t>𝜆</m:t>
                      </m:r>
                      <m:d>
                        <m:dPr>
                          <m:begChr m:val="|"/>
                          <m:endChr m:val="⟩"/>
                          <m:ctrlPr>
                            <a:rPr lang="en-US" sz="3600" i="1">
                              <a:latin typeface="Cambria Math" panose="02040503050406030204" pitchFamily="18" charset="0"/>
                            </a:rPr>
                          </m:ctrlPr>
                        </m:dPr>
                        <m:e>
                          <m:r>
                            <a:rPr lang="en-US" sz="3600" i="1">
                              <a:latin typeface="Cambria Math" panose="02040503050406030204" pitchFamily="18" charset="0"/>
                            </a:rPr>
                            <m:t>𝑥</m:t>
                          </m:r>
                        </m:e>
                      </m:d>
                    </m:oMath>
                  </m:oMathPara>
                </a14:m>
                <a:endParaRPr lang="en-US" sz="3600" dirty="0"/>
              </a:p>
            </p:txBody>
          </p:sp>
        </mc:Choice>
        <mc:Fallback xmlns="">
          <p:sp>
            <p:nvSpPr>
              <p:cNvPr id="12" name="TextBox 11">
                <a:extLst>
                  <a:ext uri="{FF2B5EF4-FFF2-40B4-BE49-F238E27FC236}">
                    <a16:creationId xmlns:a16="http://schemas.microsoft.com/office/drawing/2014/main" id="{2D70856C-8C1B-A643-939D-2EDE7EA2B49B}"/>
                  </a:ext>
                </a:extLst>
              </p:cNvPr>
              <p:cNvSpPr txBox="1">
                <a:spLocks noRot="1" noChangeAspect="1" noMove="1" noResize="1" noEditPoints="1" noAdjustHandles="1" noChangeArrowheads="1" noChangeShapeType="1" noTextEdit="1"/>
              </p:cNvSpPr>
              <p:nvPr/>
            </p:nvSpPr>
            <p:spPr>
              <a:xfrm>
                <a:off x="470318" y="1284856"/>
                <a:ext cx="2575449" cy="64633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AE44BD4-F932-E246-9594-D7E1E35B9E71}"/>
                  </a:ext>
                </a:extLst>
              </p:cNvPr>
              <p:cNvSpPr txBox="1"/>
              <p:nvPr/>
            </p:nvSpPr>
            <p:spPr>
              <a:xfrm>
                <a:off x="333103" y="2586078"/>
                <a:ext cx="10700657" cy="3108543"/>
              </a:xfrm>
              <a:prstGeom prst="rect">
                <a:avLst/>
              </a:prstGeom>
              <a:noFill/>
            </p:spPr>
            <p:txBody>
              <a:bodyPr wrap="square" rtlCol="0">
                <a:spAutoFit/>
              </a:bodyPr>
              <a:lstStyle/>
              <a:p>
                <a:pPr marL="285750" indent="-285750">
                  <a:buFont typeface="Arial" panose="020B0604020202020204" pitchFamily="34" charset="0"/>
                  <a:buChar char="•"/>
                </a:pPr>
                <a:r>
                  <a:rPr lang="en-ZA" sz="2800" dirty="0"/>
                  <a:t>An eigenspace for an eigenvalue </a:t>
                </a:r>
                <a14:m>
                  <m:oMath xmlns:m="http://schemas.openxmlformats.org/officeDocument/2006/math">
                    <m:r>
                      <a:rPr lang="en-US" sz="2800" i="1">
                        <a:latin typeface="Cambria Math" panose="02040503050406030204" pitchFamily="18" charset="0"/>
                        <a:ea typeface="Cambria Math" panose="02040503050406030204" pitchFamily="18" charset="0"/>
                      </a:rPr>
                      <m:t>𝜆</m:t>
                    </m:r>
                  </m:oMath>
                </a14:m>
                <a:r>
                  <a:rPr lang="en-ZA" sz="2800" dirty="0"/>
                  <a:t> is the set of all vectors satisfying the corresponding eigenvalue equation, together with the zero vector. </a:t>
                </a:r>
              </a:p>
              <a:p>
                <a:pPr marL="285750" indent="-285750">
                  <a:buFont typeface="Arial" panose="020B0604020202020204" pitchFamily="34" charset="0"/>
                  <a:buChar char="•"/>
                </a:pPr>
                <a:endParaRPr lang="en-ZA" sz="2800" dirty="0"/>
              </a:p>
              <a:p>
                <a:pPr marL="285750" indent="-285750">
                  <a:buFont typeface="Arial" panose="020B0604020202020204" pitchFamily="34" charset="0"/>
                  <a:buChar char="•"/>
                </a:pPr>
                <a:r>
                  <a:rPr lang="en-ZA" sz="2800" dirty="0"/>
                  <a:t>The set of all eigenvalues of an operator is called its spectrum. </a:t>
                </a:r>
              </a:p>
              <a:p>
                <a:pPr marL="285750" indent="-285750">
                  <a:buFont typeface="Arial" panose="020B0604020202020204" pitchFamily="34" charset="0"/>
                  <a:buChar char="•"/>
                </a:pPr>
                <a:endParaRPr lang="en-ZA" sz="2800" dirty="0"/>
              </a:p>
              <a:p>
                <a:pPr marL="285750" indent="-285750">
                  <a:buFont typeface="Arial" panose="020B0604020202020204" pitchFamily="34" charset="0"/>
                  <a:buChar char="•"/>
                </a:pPr>
                <a:r>
                  <a:rPr lang="en-ZA" sz="2800" dirty="0"/>
                  <a:t>An eigenvalue is degenerate if it corresponds to two or more linearly independent eigenvectors.</a:t>
                </a:r>
                <a:endParaRPr lang="en-US" sz="2800" dirty="0"/>
              </a:p>
            </p:txBody>
          </p:sp>
        </mc:Choice>
        <mc:Fallback xmlns="">
          <p:sp>
            <p:nvSpPr>
              <p:cNvPr id="7" name="TextBox 6">
                <a:extLst>
                  <a:ext uri="{FF2B5EF4-FFF2-40B4-BE49-F238E27FC236}">
                    <a16:creationId xmlns:a16="http://schemas.microsoft.com/office/drawing/2014/main" id="{FAE44BD4-F932-E246-9594-D7E1E35B9E71}"/>
                  </a:ext>
                </a:extLst>
              </p:cNvPr>
              <p:cNvSpPr txBox="1">
                <a:spLocks noRot="1" noChangeAspect="1" noMove="1" noResize="1" noEditPoints="1" noAdjustHandles="1" noChangeArrowheads="1" noChangeShapeType="1" noTextEdit="1"/>
              </p:cNvSpPr>
              <p:nvPr/>
            </p:nvSpPr>
            <p:spPr>
              <a:xfrm>
                <a:off x="333103" y="2586078"/>
                <a:ext cx="10700657" cy="3108543"/>
              </a:xfrm>
              <a:prstGeom prst="rect">
                <a:avLst/>
              </a:prstGeom>
              <a:blipFill>
                <a:blip r:embed="rId4"/>
                <a:stretch>
                  <a:fillRect l="-948" t="-2459" r="-1540" b="-4508"/>
                </a:stretch>
              </a:blipFill>
            </p:spPr>
            <p:txBody>
              <a:bodyPr/>
              <a:lstStyle/>
              <a:p>
                <a:r>
                  <a:rPr lang="en-US">
                    <a:noFill/>
                  </a:rPr>
                  <a:t> </a:t>
                </a:r>
              </a:p>
            </p:txBody>
          </p:sp>
        </mc:Fallback>
      </mc:AlternateContent>
    </p:spTree>
    <p:extLst>
      <p:ext uri="{BB962C8B-B14F-4D97-AF65-F5344CB8AC3E}">
        <p14:creationId xmlns:p14="http://schemas.microsoft.com/office/powerpoint/2010/main" val="3706891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849B6-0FC7-8947-B0F5-1EF97F6A3923}"/>
              </a:ext>
            </a:extLst>
          </p:cNvPr>
          <p:cNvSpPr>
            <a:spLocks noGrp="1"/>
          </p:cNvSpPr>
          <p:nvPr>
            <p:ph type="title"/>
          </p:nvPr>
        </p:nvSpPr>
        <p:spPr>
          <a:xfrm>
            <a:off x="0" y="0"/>
            <a:ext cx="12192000" cy="928688"/>
          </a:xfrm>
        </p:spPr>
        <p:txBody>
          <a:bodyPr/>
          <a:lstStyle/>
          <a:p>
            <a:r>
              <a:rPr lang="en-ZA" dirty="0"/>
              <a:t>Calculating eigenvalues and eigenvectors</a:t>
            </a:r>
            <a:endParaRPr lang="en-US" dirty="0"/>
          </a:p>
        </p:txBody>
      </p:sp>
      <p:sp>
        <p:nvSpPr>
          <p:cNvPr id="3" name="Slide Number Placeholder 2">
            <a:extLst>
              <a:ext uri="{FF2B5EF4-FFF2-40B4-BE49-F238E27FC236}">
                <a16:creationId xmlns:a16="http://schemas.microsoft.com/office/drawing/2014/main" id="{DB6F5299-1E31-C24C-A85B-3752149AED52}"/>
              </a:ext>
            </a:extLst>
          </p:cNvPr>
          <p:cNvSpPr>
            <a:spLocks noGrp="1"/>
          </p:cNvSpPr>
          <p:nvPr>
            <p:ph type="sldNum" sz="quarter" idx="12"/>
          </p:nvPr>
        </p:nvSpPr>
        <p:spPr/>
        <p:txBody>
          <a:bodyPr/>
          <a:lstStyle/>
          <a:p>
            <a:fld id="{591A223C-FA10-BC46-A853-03BA373D023C}" type="slidenum">
              <a:rPr lang="en-US" smtClean="0"/>
              <a:t>53</a:t>
            </a:fld>
            <a:endParaRPr lang="en-US"/>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DAE9ADF9-D0AE-6847-B87C-C425DD3F4264}"/>
                  </a:ext>
                </a:extLst>
              </p:cNvPr>
              <p:cNvSpPr/>
              <p:nvPr/>
            </p:nvSpPr>
            <p:spPr>
              <a:xfrm>
                <a:off x="3357044" y="964106"/>
                <a:ext cx="4905445" cy="692434"/>
              </a:xfrm>
              <a:prstGeom prst="rect">
                <a:avLst/>
              </a:prstGeom>
              <a:solidFill>
                <a:schemeClr val="accent4">
                  <a:lumMod val="20000"/>
                  <a:lumOff val="80000"/>
                </a:schemeClr>
              </a:solidFill>
            </p:spPr>
            <p:txBody>
              <a:bodyPr wrap="none">
                <a:spAutoFit/>
              </a:bodyPr>
              <a:lstStyle/>
              <a:p>
                <a14:m>
                  <m:oMath xmlns:m="http://schemas.openxmlformats.org/officeDocument/2006/math">
                    <m:r>
                      <a:rPr lang="en-US" sz="2800" b="0" i="1" smtClean="0">
                        <a:latin typeface="Cambria Math" panose="02040503050406030204" pitchFamily="18" charset="0"/>
                      </a:rPr>
                      <m:t>𝑑𝑒𝑡</m:t>
                    </m:r>
                    <m:r>
                      <a:rPr lang="en-US" sz="2800" b="0" i="1" smtClean="0">
                        <a:latin typeface="Cambria Math" panose="02040503050406030204" pitchFamily="18" charset="0"/>
                      </a:rPr>
                      <m:t> (</m:t>
                    </m:r>
                    <m:r>
                      <a:rPr lang="en-US" sz="2800" b="0" i="1" smtClean="0">
                        <a:latin typeface="Cambria Math" panose="02040503050406030204" pitchFamily="18" charset="0"/>
                      </a:rPr>
                      <m:t>𝐴</m:t>
                    </m:r>
                    <m:r>
                      <a:rPr lang="en-US" sz="2800" b="0" i="1" smtClean="0">
                        <a:latin typeface="Cambria Math" panose="02040503050406030204" pitchFamily="18" charset="0"/>
                      </a:rPr>
                      <m:t>−</m:t>
                    </m:r>
                    <m:r>
                      <a:rPr lang="en-US" sz="2800" i="1">
                        <a:latin typeface="Cambria Math" panose="02040503050406030204" pitchFamily="18" charset="0"/>
                        <a:ea typeface="Cambria Math" panose="02040503050406030204" pitchFamily="18" charset="0"/>
                      </a:rPr>
                      <m:t>𝜆</m:t>
                    </m:r>
                  </m:oMath>
                </a14:m>
                <a:r>
                  <a:rPr lang="en-US" sz="2800" i="1" dirty="0"/>
                  <a:t>I) = </a:t>
                </a:r>
                <a:r>
                  <a:rPr lang="en-US" sz="2800" dirty="0"/>
                  <a:t>0</a:t>
                </a:r>
                <a:r>
                  <a:rPr lang="en-US" sz="2800" i="1" dirty="0"/>
                  <a:t> </a:t>
                </a:r>
                <a:r>
                  <a:rPr lang="en-US" sz="2800" dirty="0">
                    <a:ea typeface="Cambria Math" panose="02040503050406030204" pitchFamily="18" charset="0"/>
                  </a:rPr>
                  <a:t> </a:t>
                </a:r>
                <a14:m>
                  <m:oMath xmlns:m="http://schemas.openxmlformats.org/officeDocument/2006/math">
                    <m:groupChr>
                      <m:groupChrPr>
                        <m:chr m:val="→"/>
                        <m:vertJc m:val="bot"/>
                        <m:ctrlPr>
                          <a:rPr lang="en-US" sz="2800" i="1" smtClean="0">
                            <a:latin typeface="Cambria Math" panose="02040503050406030204" pitchFamily="18" charset="0"/>
                            <a:ea typeface="Cambria Math" panose="02040503050406030204" pitchFamily="18" charset="0"/>
                          </a:rPr>
                        </m:ctrlPr>
                      </m:groupChrPr>
                      <m:e>
                        <m:r>
                          <a:rPr lang="en-US" sz="2800" i="1">
                            <a:latin typeface="Cambria Math" panose="02040503050406030204" pitchFamily="18" charset="0"/>
                            <a:ea typeface="Cambria Math" panose="02040503050406030204" pitchFamily="18" charset="0"/>
                          </a:rPr>
                          <m:t>𝜆</m:t>
                        </m:r>
                      </m:e>
                    </m:groupChr>
                    <m:r>
                      <a:rPr lang="sr-Latn-RS" sz="2800" b="0" i="1" smtClean="0">
                        <a:latin typeface="Cambria Math" panose="02040503050406030204" pitchFamily="18" charset="0"/>
                        <a:ea typeface="Cambria Math" panose="02040503050406030204" pitchFamily="18" charset="0"/>
                      </a:rPr>
                      <m:t> </m:t>
                    </m:r>
                    <m:r>
                      <a:rPr lang="en-US" sz="2800" i="1">
                        <a:latin typeface="Cambria Math" panose="02040503050406030204" pitchFamily="18" charset="0"/>
                      </a:rPr>
                      <m:t>𝐴</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𝑥</m:t>
                        </m:r>
                      </m:e>
                    </m:d>
                    <m:r>
                      <a:rPr lang="en-US" sz="2800" b="1" i="1">
                        <a:latin typeface="Cambria Math" panose="02040503050406030204" pitchFamily="18" charset="0"/>
                      </a:rPr>
                      <m:t>=</m:t>
                    </m:r>
                    <m:r>
                      <a:rPr lang="en-US" sz="2800" i="1">
                        <a:latin typeface="Cambria Math" panose="02040503050406030204" pitchFamily="18" charset="0"/>
                        <a:ea typeface="Cambria Math" panose="02040503050406030204" pitchFamily="18" charset="0"/>
                      </a:rPr>
                      <m:t>𝜆</m:t>
                    </m:r>
                    <m:d>
                      <m:dPr>
                        <m:begChr m:val="|"/>
                        <m:endChr m:val="⟩"/>
                        <m:ctrlPr>
                          <a:rPr lang="en-US" sz="2800" i="1">
                            <a:latin typeface="Cambria Math" panose="02040503050406030204" pitchFamily="18" charset="0"/>
                          </a:rPr>
                        </m:ctrlPr>
                      </m:dPr>
                      <m:e>
                        <m:r>
                          <a:rPr lang="en-US" sz="2800" i="1">
                            <a:latin typeface="Cambria Math" panose="02040503050406030204" pitchFamily="18" charset="0"/>
                          </a:rPr>
                          <m:t>𝑥</m:t>
                        </m:r>
                      </m:e>
                    </m:d>
                  </m:oMath>
                </a14:m>
                <a:endParaRPr lang="en-US" sz="2800" i="1" dirty="0"/>
              </a:p>
            </p:txBody>
          </p:sp>
        </mc:Choice>
        <mc:Fallback xmlns="">
          <p:sp>
            <p:nvSpPr>
              <p:cNvPr id="12" name="Rectangle 11">
                <a:extLst>
                  <a:ext uri="{FF2B5EF4-FFF2-40B4-BE49-F238E27FC236}">
                    <a16:creationId xmlns:a16="http://schemas.microsoft.com/office/drawing/2014/main" id="{DAE9ADF9-D0AE-6847-B87C-C425DD3F4264}"/>
                  </a:ext>
                </a:extLst>
              </p:cNvPr>
              <p:cNvSpPr>
                <a:spLocks noRot="1" noChangeAspect="1" noMove="1" noResize="1" noEditPoints="1" noAdjustHandles="1" noChangeArrowheads="1" noChangeShapeType="1" noTextEdit="1"/>
              </p:cNvSpPr>
              <p:nvPr/>
            </p:nvSpPr>
            <p:spPr>
              <a:xfrm>
                <a:off x="3357044" y="964106"/>
                <a:ext cx="4905445" cy="692434"/>
              </a:xfrm>
              <a:prstGeom prst="rect">
                <a:avLst/>
              </a:prstGeom>
              <a:blipFill>
                <a:blip r:embed="rId3"/>
                <a:stretch>
                  <a:fillRect l="-775" b="-45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978A008-2102-324F-8D44-5E5BB43CD16C}"/>
                  </a:ext>
                </a:extLst>
              </p:cNvPr>
              <p:cNvSpPr/>
              <p:nvPr/>
            </p:nvSpPr>
            <p:spPr>
              <a:xfrm>
                <a:off x="173605" y="2675814"/>
                <a:ext cx="9048678" cy="1231747"/>
              </a:xfrm>
              <a:prstGeom prst="rect">
                <a:avLst/>
              </a:prstGeom>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sz="2400" smtClean="0">
                          <a:latin typeface="Cambria Math" panose="02040503050406030204" pitchFamily="18" charset="0"/>
                        </a:rPr>
                        <m:t>det</m:t>
                      </m:r>
                      <m:r>
                        <a:rPr lang="en-US" sz="2400" smtClean="0">
                          <a:latin typeface="Cambria Math" panose="02040503050406030204" pitchFamily="18" charset="0"/>
                        </a:rPr>
                        <m:t> (</m:t>
                      </m:r>
                      <m:r>
                        <a:rPr lang="en-US" sz="2400" b="0" i="1" smtClean="0">
                          <a:solidFill>
                            <a:srgbClr val="C00000"/>
                          </a:solidFill>
                          <a:latin typeface="Cambria Math" panose="02040503050406030204" pitchFamily="18" charset="0"/>
                        </a:rPr>
                        <m:t>𝑋</m:t>
                      </m:r>
                      <m:r>
                        <a:rPr lang="en-US" sz="2400">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𝜆</m:t>
                      </m:r>
                      <m:r>
                        <m:rPr>
                          <m:nor/>
                        </m:rPr>
                        <a:rPr lang="en-US" sz="2400" i="1" dirty="0" smtClean="0">
                          <a:solidFill>
                            <a:srgbClr val="0000FF"/>
                          </a:solidFill>
                        </a:rPr>
                        <m:t>I</m:t>
                      </m:r>
                      <m:r>
                        <m:rPr>
                          <m:nor/>
                        </m:rPr>
                        <a:rPr lang="en-US" sz="2400" dirty="0"/>
                        <m:t>)</m:t>
                      </m:r>
                      <m:r>
                        <a:rPr lang="en-US" sz="2400" i="1">
                          <a:latin typeface="Cambria Math" panose="02040503050406030204" pitchFamily="18" charset="0"/>
                          <a:ea typeface="Cambria Math" panose="02040503050406030204" pitchFamily="18" charset="0"/>
                        </a:rPr>
                        <m:t>=</m:t>
                      </m:r>
                      <m:r>
                        <m:rPr>
                          <m:nor/>
                        </m:rPr>
                        <a:rPr lang="en-US" sz="2400" b="0" i="0" dirty="0" smtClean="0"/>
                        <m:t>det</m:t>
                      </m:r>
                      <m:d>
                        <m:dPr>
                          <m:begChr m:val="["/>
                          <m:endChr m:val="]"/>
                          <m:ctrlPr>
                            <a:rPr lang="en-US" sz="2400" b="0" i="1" dirty="0" smtClean="0">
                              <a:latin typeface="Cambria Math" panose="02040503050406030204" pitchFamily="18" charset="0"/>
                            </a:rPr>
                          </m:ctrlPr>
                        </m:dPr>
                        <m:e>
                          <m:d>
                            <m:dPr>
                              <m:ctrlPr>
                                <a:rPr lang="en-US" sz="2400" i="1" smtClean="0">
                                  <a:solidFill>
                                    <a:srgbClr val="C00000"/>
                                  </a:solidFill>
                                  <a:latin typeface="Cambria Math" panose="02040503050406030204" pitchFamily="18" charset="0"/>
                                </a:rPr>
                              </m:ctrlPr>
                            </m:dPr>
                            <m:e>
                              <m:m>
                                <m:mPr>
                                  <m:plcHide m:val="on"/>
                                  <m:mcs>
                                    <m:mc>
                                      <m:mcPr>
                                        <m:count m:val="2"/>
                                        <m:mcJc m:val="center"/>
                                      </m:mcPr>
                                    </m:mc>
                                  </m:mcs>
                                  <m:ctrlPr>
                                    <a:rPr lang="en-US" sz="2400" i="1">
                                      <a:solidFill>
                                        <a:srgbClr val="C00000"/>
                                      </a:solidFill>
                                      <a:latin typeface="Cambria Math" panose="02040503050406030204" pitchFamily="18" charset="0"/>
                                    </a:rPr>
                                  </m:ctrlPr>
                                </m:mPr>
                                <m:mr>
                                  <m:e>
                                    <m:r>
                                      <a:rPr lang="en-US" sz="2400">
                                        <a:solidFill>
                                          <a:srgbClr val="C00000"/>
                                        </a:solidFill>
                                        <a:latin typeface="Cambria Math" panose="02040503050406030204" pitchFamily="18" charset="0"/>
                                      </a:rPr>
                                      <m:t>0</m:t>
                                    </m:r>
                                  </m:e>
                                  <m:e>
                                    <m:r>
                                      <a:rPr lang="en-US" sz="2400">
                                        <a:solidFill>
                                          <a:srgbClr val="C00000"/>
                                        </a:solidFill>
                                        <a:latin typeface="Cambria Math" panose="02040503050406030204" pitchFamily="18" charset="0"/>
                                      </a:rPr>
                                      <m:t>1</m:t>
                                    </m:r>
                                  </m:e>
                                </m:mr>
                                <m:mr>
                                  <m:e>
                                    <m:r>
                                      <a:rPr lang="en-US" sz="2400">
                                        <a:solidFill>
                                          <a:srgbClr val="C00000"/>
                                        </a:solidFill>
                                        <a:latin typeface="Cambria Math" panose="02040503050406030204" pitchFamily="18" charset="0"/>
                                      </a:rPr>
                                      <m:t>1</m:t>
                                    </m:r>
                                  </m:e>
                                  <m:e>
                                    <m:r>
                                      <a:rPr lang="en-US" sz="2400">
                                        <a:solidFill>
                                          <a:srgbClr val="C00000"/>
                                        </a:solidFill>
                                        <a:latin typeface="Cambria Math" panose="02040503050406030204" pitchFamily="18" charset="0"/>
                                      </a:rPr>
                                      <m:t>0</m:t>
                                    </m:r>
                                  </m:e>
                                </m:mr>
                              </m:m>
                            </m:e>
                          </m:d>
                          <m:r>
                            <a:rPr lang="en-US" sz="2400" b="0" i="1" smtClean="0">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𝜆</m:t>
                          </m:r>
                          <m:d>
                            <m:dPr>
                              <m:ctrlPr>
                                <a:rPr lang="en-US" sz="2400" i="1" smtClean="0">
                                  <a:solidFill>
                                    <a:srgbClr val="0000FF"/>
                                  </a:solidFill>
                                  <a:latin typeface="Cambria Math" panose="02040503050406030204" pitchFamily="18" charset="0"/>
                                </a:rPr>
                              </m:ctrlPr>
                            </m:dPr>
                            <m:e>
                              <m:m>
                                <m:mPr>
                                  <m:plcHide m:val="on"/>
                                  <m:mcs>
                                    <m:mc>
                                      <m:mcPr>
                                        <m:count m:val="2"/>
                                        <m:mcJc m:val="center"/>
                                      </m:mcPr>
                                    </m:mc>
                                  </m:mcs>
                                  <m:ctrlPr>
                                    <a:rPr lang="en-US" sz="2400" i="1">
                                      <a:solidFill>
                                        <a:srgbClr val="0000FF"/>
                                      </a:solidFill>
                                      <a:latin typeface="Cambria Math" panose="02040503050406030204" pitchFamily="18" charset="0"/>
                                    </a:rPr>
                                  </m:ctrlPr>
                                </m:mPr>
                                <m:mr>
                                  <m:e>
                                    <m:r>
                                      <a:rPr lang="en-US" sz="2400" b="0" i="0" smtClean="0">
                                        <a:solidFill>
                                          <a:srgbClr val="0000FF"/>
                                        </a:solidFill>
                                        <a:latin typeface="Cambria Math" panose="02040503050406030204" pitchFamily="18" charset="0"/>
                                      </a:rPr>
                                      <m:t>1</m:t>
                                    </m:r>
                                  </m:e>
                                  <m:e>
                                    <m:r>
                                      <a:rPr lang="en-US" sz="2400" b="0" i="0" smtClean="0">
                                        <a:solidFill>
                                          <a:srgbClr val="0000FF"/>
                                        </a:solidFill>
                                        <a:latin typeface="Cambria Math" panose="02040503050406030204" pitchFamily="18" charset="0"/>
                                      </a:rPr>
                                      <m:t>0</m:t>
                                    </m:r>
                                  </m:e>
                                </m:mr>
                                <m:mr>
                                  <m:e>
                                    <m:r>
                                      <a:rPr lang="en-US" sz="2400" b="0" i="0" smtClean="0">
                                        <a:solidFill>
                                          <a:srgbClr val="0000FF"/>
                                        </a:solidFill>
                                        <a:latin typeface="Cambria Math" panose="02040503050406030204" pitchFamily="18" charset="0"/>
                                      </a:rPr>
                                      <m:t>0</m:t>
                                    </m:r>
                                  </m:e>
                                  <m:e>
                                    <m:r>
                                      <a:rPr lang="en-US" sz="2400" b="0" i="0" smtClean="0">
                                        <a:solidFill>
                                          <a:srgbClr val="0000FF"/>
                                        </a:solidFill>
                                        <a:latin typeface="Cambria Math" panose="02040503050406030204" pitchFamily="18" charset="0"/>
                                      </a:rPr>
                                      <m:t>1</m:t>
                                    </m:r>
                                  </m:e>
                                </m:mr>
                              </m:m>
                            </m:e>
                          </m:d>
                        </m:e>
                      </m:d>
                      <m:r>
                        <a:rPr lang="en-US" sz="2400" b="0" i="1" smtClean="0">
                          <a:solidFill>
                            <a:srgbClr val="0000FF"/>
                          </a:solidFill>
                          <a:latin typeface="Cambria Math" panose="02040503050406030204" pitchFamily="18" charset="0"/>
                        </a:rPr>
                        <m:t>=</m:t>
                      </m:r>
                      <m:d>
                        <m:dPr>
                          <m:ctrlPr>
                            <a:rPr lang="en-US" sz="2400" i="1">
                              <a:latin typeface="Cambria Math" panose="02040503050406030204" pitchFamily="18" charset="0"/>
                            </a:rPr>
                          </m:ctrlPr>
                        </m:dPr>
                        <m:e>
                          <m:m>
                            <m:mPr>
                              <m:plcHide m:val="on"/>
                              <m:mcs>
                                <m:mc>
                                  <m:mcPr>
                                    <m:count m:val="2"/>
                                    <m:mcJc m:val="center"/>
                                  </m:mcPr>
                                </m:mc>
                              </m:mcs>
                              <m:ctrlPr>
                                <a:rPr lang="en-US" sz="2400" i="1">
                                  <a:latin typeface="Cambria Math" panose="02040503050406030204" pitchFamily="18" charset="0"/>
                                </a:rPr>
                              </m:ctrlPr>
                            </m:mPr>
                            <m:mr>
                              <m:e>
                                <m:r>
                                  <a:rPr lang="en-US" sz="2400" b="0" i="0" smtClean="0">
                                    <a:latin typeface="Cambria Math" panose="02040503050406030204" pitchFamily="18" charset="0"/>
                                  </a:rPr>
                                  <m:t>0</m:t>
                                </m:r>
                                <m:r>
                                  <m:rPr>
                                    <m:brk m:alnAt="7"/>
                                  </m:rP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𝜆</m:t>
                                </m:r>
                              </m:e>
                              <m:e>
                                <m:r>
                                  <a:rPr lang="en-US" sz="2400" b="0" i="1" smtClean="0">
                                    <a:latin typeface="Cambria Math" panose="02040503050406030204" pitchFamily="18" charset="0"/>
                                  </a:rPr>
                                  <m:t>1</m:t>
                                </m:r>
                              </m:e>
                            </m:mr>
                            <m:mr>
                              <m:e>
                                <m:r>
                                  <a:rPr lang="en-US" sz="2400" b="0" i="0" smtClean="0">
                                    <a:latin typeface="Cambria Math" panose="02040503050406030204" pitchFamily="18" charset="0"/>
                                  </a:rPr>
                                  <m:t>1</m:t>
                                </m:r>
                              </m:e>
                              <m:e>
                                <m:r>
                                  <a:rPr lang="en-US" sz="2400" b="0" i="0" smtClean="0">
                                    <a:latin typeface="Cambria Math" panose="02040503050406030204" pitchFamily="18" charset="0"/>
                                  </a:rPr>
                                  <m:t>0</m:t>
                                </m:r>
                                <m:r>
                                  <m:rPr>
                                    <m:brk m:alnAt="7"/>
                                  </m:rP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𝜆</m:t>
                                </m:r>
                              </m:e>
                            </m:mr>
                          </m:m>
                        </m:e>
                      </m:d>
                      <m:r>
                        <a:rPr lang="en-US" sz="2400" b="0" i="1" smtClean="0">
                          <a:latin typeface="Cambria Math" panose="02040503050406030204" pitchFamily="18" charset="0"/>
                        </a:rPr>
                        <m:t>=0</m:t>
                      </m:r>
                    </m:oMath>
                  </m:oMathPara>
                </a14:m>
                <a:endParaRPr lang="en-US" sz="2400" b="0" i="1" dirty="0">
                  <a:latin typeface="Cambria Math" panose="02040503050406030204" pitchFamily="18" charset="0"/>
                </a:endParaRPr>
              </a:p>
              <a:p>
                <a:endParaRPr lang="en-US" sz="800"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𝜆</m:t>
                          </m:r>
                        </m:e>
                      </m:d>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𝜆</m:t>
                          </m:r>
                        </m:e>
                      </m:d>
                      <m:r>
                        <a:rPr lang="en-US" sz="2400" b="0" i="1" smtClean="0">
                          <a:latin typeface="Cambria Math" panose="02040503050406030204" pitchFamily="18" charset="0"/>
                          <a:ea typeface="Cambria Math" panose="02040503050406030204" pitchFamily="18" charset="0"/>
                        </a:rPr>
                        <m:t>−1=0→</m:t>
                      </m:r>
                      <m:sSup>
                        <m:sSupPr>
                          <m:ctrlPr>
                            <a:rPr lang="en-US" sz="2400" b="0" i="1" smtClean="0">
                              <a:latin typeface="Cambria Math" panose="02040503050406030204" pitchFamily="18" charset="0"/>
                              <a:ea typeface="Cambria Math" panose="02040503050406030204" pitchFamily="18" charset="0"/>
                            </a:rPr>
                          </m:ctrlPr>
                        </m:sSupPr>
                        <m:e>
                          <m:r>
                            <a:rPr lang="en-US" sz="2400" i="1">
                              <a:latin typeface="Cambria Math" panose="02040503050406030204" pitchFamily="18" charset="0"/>
                              <a:ea typeface="Cambria Math" panose="02040503050406030204" pitchFamily="18" charset="0"/>
                            </a:rPr>
                            <m:t>𝜆</m:t>
                          </m:r>
                        </m:e>
                        <m:sup>
                          <m:r>
                            <a:rPr lang="en-US" sz="2400" b="0" i="1" smtClean="0">
                              <a:latin typeface="Cambria Math" panose="02040503050406030204" pitchFamily="18" charset="0"/>
                              <a:ea typeface="Cambria Math" panose="02040503050406030204" pitchFamily="18" charset="0"/>
                            </a:rPr>
                            <m:t>2</m:t>
                          </m:r>
                        </m:sup>
                      </m:sSup>
                      <m:r>
                        <a:rPr lang="en-US" sz="2400" b="0" i="1" smtClean="0">
                          <a:latin typeface="Cambria Math" panose="02040503050406030204" pitchFamily="18" charset="0"/>
                          <a:ea typeface="Cambria Math" panose="02040503050406030204" pitchFamily="18" charset="0"/>
                        </a:rPr>
                        <m:t>−1=0⟹</m:t>
                      </m:r>
                      <m:sSub>
                        <m:sSubPr>
                          <m:ctrlPr>
                            <a:rPr lang="en-US" sz="2400" b="0" i="1" smtClean="0">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𝜆</m:t>
                          </m:r>
                        </m:e>
                        <m:sub>
                          <m:r>
                            <a:rPr lang="en-US" sz="2400" b="0" i="1" smtClean="0">
                              <a:latin typeface="Cambria Math" panose="02040503050406030204" pitchFamily="18" charset="0"/>
                              <a:ea typeface="Cambria Math" panose="02040503050406030204" pitchFamily="18" charset="0"/>
                            </a:rPr>
                            <m:t>1,2</m:t>
                          </m:r>
                        </m:sub>
                      </m:sSub>
                      <m:r>
                        <a:rPr lang="en-US" sz="2400" b="0" i="1" smtClean="0">
                          <a:latin typeface="Cambria Math" panose="02040503050406030204" pitchFamily="18" charset="0"/>
                          <a:ea typeface="Cambria Math" panose="02040503050406030204" pitchFamily="18" charset="0"/>
                        </a:rPr>
                        <m:t>=±1</m:t>
                      </m:r>
                    </m:oMath>
                  </m:oMathPara>
                </a14:m>
                <a:endParaRPr lang="en-US" sz="2400" dirty="0"/>
              </a:p>
            </p:txBody>
          </p:sp>
        </mc:Choice>
        <mc:Fallback xmlns="">
          <p:sp>
            <p:nvSpPr>
              <p:cNvPr id="17" name="Rectangle 16">
                <a:extLst>
                  <a:ext uri="{FF2B5EF4-FFF2-40B4-BE49-F238E27FC236}">
                    <a16:creationId xmlns:a16="http://schemas.microsoft.com/office/drawing/2014/main" id="{0978A008-2102-324F-8D44-5E5BB43CD16C}"/>
                  </a:ext>
                </a:extLst>
              </p:cNvPr>
              <p:cNvSpPr>
                <a:spLocks noRot="1" noChangeAspect="1" noMove="1" noResize="1" noEditPoints="1" noAdjustHandles="1" noChangeArrowheads="1" noChangeShapeType="1" noTextEdit="1"/>
              </p:cNvSpPr>
              <p:nvPr/>
            </p:nvSpPr>
            <p:spPr>
              <a:xfrm>
                <a:off x="173605" y="2675814"/>
                <a:ext cx="9048678" cy="1231747"/>
              </a:xfrm>
              <a:prstGeom prst="rect">
                <a:avLst/>
              </a:prstGeom>
              <a:blipFill>
                <a:blip r:embed="rId5"/>
                <a:stretch>
                  <a:fillRect l="-140"/>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F4DC5C42-1883-1D40-953F-ADCEACECC21E}"/>
              </a:ext>
            </a:extLst>
          </p:cNvPr>
          <p:cNvGrpSpPr/>
          <p:nvPr/>
        </p:nvGrpSpPr>
        <p:grpSpPr>
          <a:xfrm>
            <a:off x="173605" y="4213202"/>
            <a:ext cx="8887946" cy="2380104"/>
            <a:chOff x="173605" y="4196079"/>
            <a:chExt cx="8887946" cy="2380104"/>
          </a:xfrm>
        </p:grpSpPr>
        <p:sp>
          <p:nvSpPr>
            <p:cNvPr id="4" name="Rounded Rectangle 3">
              <a:extLst>
                <a:ext uri="{FF2B5EF4-FFF2-40B4-BE49-F238E27FC236}">
                  <a16:creationId xmlns:a16="http://schemas.microsoft.com/office/drawing/2014/main" id="{17329ECA-D6B9-2B43-821B-2EB117A3E84D}"/>
                </a:ext>
              </a:extLst>
            </p:cNvPr>
            <p:cNvSpPr/>
            <p:nvPr/>
          </p:nvSpPr>
          <p:spPr>
            <a:xfrm>
              <a:off x="6905238" y="5509111"/>
              <a:ext cx="2147715" cy="1067072"/>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35071081-759C-1C46-A5A0-47D081D67768}"/>
                </a:ext>
              </a:extLst>
            </p:cNvPr>
            <p:cNvGrpSpPr/>
            <p:nvPr/>
          </p:nvGrpSpPr>
          <p:grpSpPr>
            <a:xfrm>
              <a:off x="173605" y="4196079"/>
              <a:ext cx="8887946" cy="2300800"/>
              <a:chOff x="4229884" y="4586873"/>
              <a:chExt cx="8887946" cy="2300800"/>
            </a:xfrm>
          </p:grpSpPr>
          <mc:AlternateContent xmlns:mc="http://schemas.openxmlformats.org/markup-compatibility/2006" xmlns:a14="http://schemas.microsoft.com/office/drawing/2010/main">
            <mc:Choice Requires="a14">
              <p:sp>
                <p:nvSpPr>
                  <p:cNvPr id="22" name="Rectangle 21">
                    <a:extLst>
                      <a:ext uri="{FF2B5EF4-FFF2-40B4-BE49-F238E27FC236}">
                        <a16:creationId xmlns:a16="http://schemas.microsoft.com/office/drawing/2014/main" id="{B9AD4755-F873-EC46-94A6-C1128A425827}"/>
                      </a:ext>
                    </a:extLst>
                  </p:cNvPr>
                  <p:cNvSpPr/>
                  <p:nvPr/>
                </p:nvSpPr>
                <p:spPr>
                  <a:xfrm>
                    <a:off x="4229884" y="5949403"/>
                    <a:ext cx="8887946" cy="93827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ea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𝑜𝑟𝑚𝑎𝑙𝑖𝑧𝑎𝑡𝑖𝑜𝑛</m:t>
                          </m:r>
                          <m:r>
                            <a:rPr lang="en-US" sz="2400" b="0" i="0" smtClean="0">
                              <a:latin typeface="Cambria Math" panose="02040503050406030204" pitchFamily="18" charset="0"/>
                              <a:ea typeface="Cambria Math" panose="02040503050406030204" pitchFamily="18" charset="0"/>
                            </a:rPr>
                            <m:t> </m:t>
                          </m:r>
                          <m:rad>
                            <m:radPr>
                              <m:degHide m:val="on"/>
                              <m:ctrlPr>
                                <a:rPr lang="en-US" sz="2400" b="0" i="1" smtClean="0">
                                  <a:latin typeface="Cambria Math" panose="02040503050406030204" pitchFamily="18" charset="0"/>
                                  <a:ea typeface="Cambria Math" panose="02040503050406030204" pitchFamily="18" charset="0"/>
                                </a:rPr>
                              </m:ctrlPr>
                            </m:radPr>
                            <m:deg/>
                            <m:e>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𝑎</m:t>
                                  </m:r>
                                </m:e>
                                <m:sup>
                                  <m:r>
                                    <a:rPr lang="en-US" sz="2400" b="0" i="1" smtClean="0">
                                      <a:latin typeface="Cambria Math" panose="02040503050406030204" pitchFamily="18" charset="0"/>
                                      <a:ea typeface="Cambria Math" panose="02040503050406030204" pitchFamily="18" charset="0"/>
                                    </a:rPr>
                                    <m:t>2</m:t>
                                  </m:r>
                                </m:sup>
                              </m:sSup>
                              <m:r>
                                <a:rPr lang="en-US" sz="2400" b="0" i="1" smtClean="0">
                                  <a:latin typeface="Cambria Math" panose="02040503050406030204" pitchFamily="18" charset="0"/>
                                  <a:ea typeface="Cambria Math" panose="02040503050406030204" pitchFamily="18" charset="0"/>
                                </a:rPr>
                                <m:t>+</m:t>
                              </m:r>
                              <m:sSup>
                                <m:sSupPr>
                                  <m:ctrlPr>
                                    <a:rPr lang="en-US" sz="2400" b="0" i="1" smtClean="0">
                                      <a:latin typeface="Cambria Math" panose="02040503050406030204" pitchFamily="18" charset="0"/>
                                      <a:ea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𝑏</m:t>
                                  </m:r>
                                </m:e>
                                <m:sup>
                                  <m:r>
                                    <a:rPr lang="en-US" sz="2400" b="0" i="1" smtClean="0">
                                      <a:latin typeface="Cambria Math" panose="02040503050406030204" pitchFamily="18" charset="0"/>
                                      <a:ea typeface="Cambria Math" panose="02040503050406030204" pitchFamily="18" charset="0"/>
                                    </a:rPr>
                                    <m:t>2</m:t>
                                  </m:r>
                                </m:sup>
                              </m:sSup>
                              <m:r>
                                <a:rPr lang="en-US" sz="2400" b="0" i="1" smtClean="0">
                                  <a:latin typeface="Cambria Math" panose="02040503050406030204" pitchFamily="18" charset="0"/>
                                  <a:ea typeface="Cambria Math" panose="02040503050406030204" pitchFamily="18" charset="0"/>
                                </a:rPr>
                                <m:t> </m:t>
                              </m:r>
                            </m:e>
                          </m:rad>
                          <m:r>
                            <a:rPr lang="en-US" sz="2400" i="1">
                              <a:latin typeface="Cambria Math" panose="02040503050406030204" pitchFamily="18" charset="0"/>
                              <a:ea typeface="Cambria Math" panose="02040503050406030204" pitchFamily="18" charset="0"/>
                            </a:rPr>
                            <m:t>=1</m:t>
                          </m:r>
                          <m:r>
                            <a:rPr lang="en-US" sz="2400" b="0" i="1" smtClean="0">
                              <a:latin typeface="Cambria Math" panose="02040503050406030204" pitchFamily="18" charset="0"/>
                              <a:ea typeface="Cambria Math" panose="02040503050406030204" pitchFamily="18" charset="0"/>
                            </a:rPr>
                            <m:t> </m:t>
                          </m:r>
                          <m:r>
                            <m:rPr>
                              <m:sty m:val="p"/>
                            </m:rPr>
                            <a:rPr lang="en-US" sz="2400" b="0" i="0" smtClean="0">
                              <a:latin typeface="Cambria Math" panose="02040503050406030204" pitchFamily="18" charset="0"/>
                              <a:ea typeface="Cambria Math" panose="02040503050406030204" pitchFamily="18" charset="0"/>
                            </a:rPr>
                            <m:t>gives</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𝑎</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𝑏</m:t>
                          </m:r>
                          <m:r>
                            <a:rPr lang="en-US" sz="2400" i="1">
                              <a:latin typeface="Cambria Math" panose="02040503050406030204" pitchFamily="18" charset="0"/>
                              <a:ea typeface="Cambria Math" panose="02040503050406030204" pitchFamily="18" charset="0"/>
                            </a:rPr>
                            <m:t>=</m:t>
                          </m:r>
                          <m:f>
                            <m:fPr>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2</m:t>
                                  </m:r>
                                </m:e>
                              </m:rad>
                            </m:den>
                          </m:f>
                          <m:r>
                            <a:rPr lang="en-US" sz="2400" i="1" smtClean="0">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b="0" i="1" smtClean="0">
                              <a:latin typeface="Cambria Math" panose="02040503050406030204" pitchFamily="18" charset="0"/>
                            </a:rPr>
                            <m:t>=</m:t>
                          </m:r>
                          <m:d>
                            <m:dPr>
                              <m:ctrlPr>
                                <a:rPr lang="en-US" sz="2400" b="1" i="1">
                                  <a:latin typeface="Cambria Math" panose="02040503050406030204" pitchFamily="18" charset="0"/>
                                  <a:ea typeface="Cambria Math" panose="02040503050406030204" pitchFamily="18" charset="0"/>
                                </a:rPr>
                              </m:ctrlPr>
                            </m:dPr>
                            <m:e>
                              <m:m>
                                <m:mPr>
                                  <m:mcs>
                                    <m:mc>
                                      <m:mcPr>
                                        <m:count m:val="1"/>
                                        <m:mcJc m:val="center"/>
                                      </m:mcPr>
                                    </m:mc>
                                  </m:mcs>
                                  <m:ctrlPr>
                                    <a:rPr lang="en-US" sz="2400" i="1">
                                      <a:latin typeface="Cambria Math" panose="02040503050406030204" pitchFamily="18" charset="0"/>
                                      <a:ea typeface="Cambria Math" panose="02040503050406030204" pitchFamily="18" charset="0"/>
                                    </a:rPr>
                                  </m:ctrlPr>
                                </m:mPr>
                                <m:mr>
                                  <m:e>
                                    <m:f>
                                      <m:fPr>
                                        <m:type m:val="lin"/>
                                        <m:ctrlPr>
                                          <a:rPr lang="en-US" sz="2400" i="1" smtClean="0">
                                            <a:latin typeface="Cambria Math" panose="02040503050406030204" pitchFamily="18" charset="0"/>
                                            <a:ea typeface="Cambria Math" panose="02040503050406030204" pitchFamily="18" charset="0"/>
                                          </a:rPr>
                                        </m:ctrlPr>
                                      </m:fPr>
                                      <m:num>
                                        <m:r>
                                          <a:rPr lang="en-US" sz="2400" b="0" i="1" smtClean="0">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2</m:t>
                                            </m:r>
                                          </m:e>
                                        </m:rad>
                                      </m:den>
                                    </m:f>
                                  </m:e>
                                </m:mr>
                                <m:mr>
                                  <m:e>
                                    <m:f>
                                      <m:fPr>
                                        <m:type m:val="lin"/>
                                        <m:ctrlPr>
                                          <a:rPr lang="en-US" sz="2400" i="1">
                                            <a:latin typeface="Cambria Math" panose="02040503050406030204" pitchFamily="18" charset="0"/>
                                            <a:ea typeface="Cambria Math" panose="02040503050406030204" pitchFamily="18" charset="0"/>
                                          </a:rPr>
                                        </m:ctrlPr>
                                      </m:fPr>
                                      <m:num>
                                        <m:r>
                                          <a:rPr lang="en-US" sz="2400" i="1">
                                            <a:latin typeface="Cambria Math" panose="02040503050406030204" pitchFamily="18" charset="0"/>
                                            <a:ea typeface="Cambria Math" panose="02040503050406030204" pitchFamily="18" charset="0"/>
                                          </a:rPr>
                                          <m:t>1</m:t>
                                        </m:r>
                                      </m:num>
                                      <m:den>
                                        <m:rad>
                                          <m:radPr>
                                            <m:degHide m:val="on"/>
                                            <m:ctrlPr>
                                              <a:rPr lang="en-US" sz="2400" i="1">
                                                <a:latin typeface="Cambria Math" panose="02040503050406030204" pitchFamily="18" charset="0"/>
                                                <a:ea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rPr>
                                              <m:t>2</m:t>
                                            </m:r>
                                          </m:e>
                                        </m:rad>
                                      </m:den>
                                    </m:f>
                                  </m:e>
                                </m:mr>
                              </m:m>
                            </m:e>
                          </m:d>
                        </m:oMath>
                      </m:oMathPara>
                    </a14:m>
                    <a:endParaRPr lang="en-US" sz="2400" dirty="0"/>
                  </a:p>
                </p:txBody>
              </p:sp>
            </mc:Choice>
            <mc:Fallback xmlns="">
              <p:sp>
                <p:nvSpPr>
                  <p:cNvPr id="22" name="Rectangle 21">
                    <a:extLst>
                      <a:ext uri="{FF2B5EF4-FFF2-40B4-BE49-F238E27FC236}">
                        <a16:creationId xmlns:a16="http://schemas.microsoft.com/office/drawing/2014/main" id="{B9AD4755-F873-EC46-94A6-C1128A425827}"/>
                      </a:ext>
                    </a:extLst>
                  </p:cNvPr>
                  <p:cNvSpPr>
                    <a:spLocks noRot="1" noChangeAspect="1" noMove="1" noResize="1" noEditPoints="1" noAdjustHandles="1" noChangeArrowheads="1" noChangeShapeType="1" noTextEdit="1"/>
                  </p:cNvSpPr>
                  <p:nvPr/>
                </p:nvSpPr>
                <p:spPr>
                  <a:xfrm>
                    <a:off x="4229884" y="5949403"/>
                    <a:ext cx="8887946" cy="938270"/>
                  </a:xfrm>
                  <a:prstGeom prst="rect">
                    <a:avLst/>
                  </a:prstGeom>
                  <a:blipFill>
                    <a:blip r:embed="rId6"/>
                    <a:stretch>
                      <a:fillRect t="-56000" b="-97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39CB5CA-5F14-944B-896D-7BA448942BD8}"/>
                      </a:ext>
                    </a:extLst>
                  </p:cNvPr>
                  <p:cNvSpPr txBox="1"/>
                  <p:nvPr/>
                </p:nvSpPr>
                <p:spPr>
                  <a:xfrm>
                    <a:off x="4304887" y="4586873"/>
                    <a:ext cx="3741794" cy="461665"/>
                  </a:xfrm>
                  <a:prstGeom prst="rect">
                    <a:avLst/>
                  </a:prstGeom>
                  <a:solidFill>
                    <a:schemeClr val="accent5">
                      <a:lumMod val="20000"/>
                      <a:lumOff val="80000"/>
                    </a:schemeClr>
                  </a:solidFill>
                </p:spPr>
                <p:txBody>
                  <a:bodyPr wrap="none" rtlCol="0">
                    <a:spAutoFit/>
                  </a:bodyPr>
                  <a:lstStyle/>
                  <a:p>
                    <a:r>
                      <a:rPr lang="en-US" sz="2400" i="1" dirty="0"/>
                      <a:t>X</a:t>
                    </a:r>
                    <a14:m>
                      <m:oMath xmlns:m="http://schemas.openxmlformats.org/officeDocument/2006/math">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b="1"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𝜆</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a:latin typeface="Cambria Math" panose="02040503050406030204" pitchFamily="18" charset="0"/>
                          </a:rPr>
                          <m:t> </m:t>
                        </m:r>
                      </m:oMath>
                    </a14:m>
                    <a:r>
                      <a:rPr lang="en-US" sz="2400" dirty="0"/>
                      <a:t>for </a:t>
                    </a:r>
                    <a14:m>
                      <m:oMath xmlns:m="http://schemas.openxmlformats.org/officeDocument/2006/math">
                        <m:r>
                          <a:rPr lang="en-US" sz="2400" i="1">
                            <a:latin typeface="Cambria Math" panose="02040503050406030204" pitchFamily="18" charset="0"/>
                            <a:ea typeface="Cambria Math" panose="02040503050406030204" pitchFamily="18" charset="0"/>
                          </a:rPr>
                          <m:t>𝜆</m:t>
                        </m:r>
                        <m:r>
                          <a:rPr lang="en-US" sz="2400" b="0" i="1" smtClean="0">
                            <a:latin typeface="Cambria Math" panose="02040503050406030204" pitchFamily="18" charset="0"/>
                            <a:ea typeface="Cambria Math" panose="02040503050406030204" pitchFamily="18" charset="0"/>
                          </a:rPr>
                          <m:t>=1 </m:t>
                        </m:r>
                      </m:oMath>
                    </a14:m>
                    <a:r>
                      <a:rPr lang="en-US" sz="2400" dirty="0"/>
                      <a:t>gives: </a:t>
                    </a:r>
                  </a:p>
                </p:txBody>
              </p:sp>
            </mc:Choice>
            <mc:Fallback xmlns="">
              <p:sp>
                <p:nvSpPr>
                  <p:cNvPr id="19" name="TextBox 18">
                    <a:extLst>
                      <a:ext uri="{FF2B5EF4-FFF2-40B4-BE49-F238E27FC236}">
                        <a16:creationId xmlns:a16="http://schemas.microsoft.com/office/drawing/2014/main" id="{139CB5CA-5F14-944B-896D-7BA448942BD8}"/>
                      </a:ext>
                    </a:extLst>
                  </p:cNvPr>
                  <p:cNvSpPr txBox="1">
                    <a:spLocks noRot="1" noChangeAspect="1" noMove="1" noResize="1" noEditPoints="1" noAdjustHandles="1" noChangeArrowheads="1" noChangeShapeType="1" noTextEdit="1"/>
                  </p:cNvSpPr>
                  <p:nvPr/>
                </p:nvSpPr>
                <p:spPr>
                  <a:xfrm>
                    <a:off x="4304887" y="4586873"/>
                    <a:ext cx="3741794" cy="461665"/>
                  </a:xfrm>
                  <a:prstGeom prst="rect">
                    <a:avLst/>
                  </a:prstGeom>
                  <a:blipFill>
                    <a:blip r:embed="rId7"/>
                    <a:stretch>
                      <a:fillRect l="-2373" t="-8108" r="-1356" b="-297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EBD05BD9-BD76-3241-944C-8654C59B953B}"/>
                      </a:ext>
                    </a:extLst>
                  </p:cNvPr>
                  <p:cNvSpPr/>
                  <p:nvPr/>
                </p:nvSpPr>
                <p:spPr>
                  <a:xfrm>
                    <a:off x="4233573" y="5219152"/>
                    <a:ext cx="8490851" cy="71558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400" i="1" smtClean="0">
                                  <a:solidFill>
                                    <a:srgbClr val="C00000"/>
                                  </a:solidFill>
                                  <a:latin typeface="Cambria Math" panose="02040503050406030204" pitchFamily="18" charset="0"/>
                                </a:rPr>
                              </m:ctrlPr>
                            </m:dPr>
                            <m:e>
                              <m:m>
                                <m:mPr>
                                  <m:plcHide m:val="on"/>
                                  <m:mcs>
                                    <m:mc>
                                      <m:mcPr>
                                        <m:count m:val="2"/>
                                        <m:mcJc m:val="center"/>
                                      </m:mcPr>
                                    </m:mc>
                                  </m:mcs>
                                  <m:ctrlPr>
                                    <a:rPr lang="en-US" sz="2400" i="1">
                                      <a:solidFill>
                                        <a:srgbClr val="C00000"/>
                                      </a:solidFill>
                                      <a:latin typeface="Cambria Math" panose="02040503050406030204" pitchFamily="18" charset="0"/>
                                    </a:rPr>
                                  </m:ctrlPr>
                                </m:mPr>
                                <m:mr>
                                  <m:e>
                                    <m:r>
                                      <a:rPr lang="en-US" sz="2400">
                                        <a:solidFill>
                                          <a:srgbClr val="C00000"/>
                                        </a:solidFill>
                                        <a:latin typeface="Cambria Math" panose="02040503050406030204" pitchFamily="18" charset="0"/>
                                      </a:rPr>
                                      <m:t>0</m:t>
                                    </m:r>
                                  </m:e>
                                  <m:e>
                                    <m:r>
                                      <a:rPr lang="en-US" sz="2400">
                                        <a:solidFill>
                                          <a:srgbClr val="C00000"/>
                                        </a:solidFill>
                                        <a:latin typeface="Cambria Math" panose="02040503050406030204" pitchFamily="18" charset="0"/>
                                      </a:rPr>
                                      <m:t>1</m:t>
                                    </m:r>
                                  </m:e>
                                </m:mr>
                                <m:mr>
                                  <m:e>
                                    <m:r>
                                      <a:rPr lang="en-US" sz="2400">
                                        <a:solidFill>
                                          <a:srgbClr val="C00000"/>
                                        </a:solidFill>
                                        <a:latin typeface="Cambria Math" panose="02040503050406030204" pitchFamily="18" charset="0"/>
                                      </a:rPr>
                                      <m:t>1</m:t>
                                    </m:r>
                                  </m:e>
                                  <m:e>
                                    <m:r>
                                      <a:rPr lang="en-US" sz="2400">
                                        <a:solidFill>
                                          <a:srgbClr val="C00000"/>
                                        </a:solidFill>
                                        <a:latin typeface="Cambria Math" panose="02040503050406030204" pitchFamily="18" charset="0"/>
                                      </a:rPr>
                                      <m:t>0</m:t>
                                    </m:r>
                                  </m:e>
                                </m:mr>
                              </m:m>
                            </m:e>
                          </m:d>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b="0" i="1" smtClean="0">
                              <a:latin typeface="Cambria Math" panose="02040503050406030204" pitchFamily="18" charset="0"/>
                            </a:rPr>
                            <m:t>=</m:t>
                          </m:r>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𝑥</m:t>
                              </m:r>
                            </m:e>
                          </m:d>
                          <m:r>
                            <a:rPr lang="en-US" sz="2400" i="1">
                              <a:latin typeface="Cambria Math" panose="02040503050406030204" pitchFamily="18" charset="0"/>
                              <a:ea typeface="Cambria Math" panose="02040503050406030204" pitchFamily="18" charset="0"/>
                            </a:rPr>
                            <m:t>→</m:t>
                          </m:r>
                          <m:d>
                            <m:dPr>
                              <m:ctrlPr>
                                <a:rPr lang="en-US" sz="2400" i="1" smtClean="0">
                                  <a:solidFill>
                                    <a:srgbClr val="C00000"/>
                                  </a:solidFill>
                                  <a:latin typeface="Cambria Math" panose="02040503050406030204" pitchFamily="18" charset="0"/>
                                </a:rPr>
                              </m:ctrlPr>
                            </m:dPr>
                            <m:e>
                              <m:m>
                                <m:mPr>
                                  <m:plcHide m:val="on"/>
                                  <m:mcs>
                                    <m:mc>
                                      <m:mcPr>
                                        <m:count m:val="2"/>
                                        <m:mcJc m:val="center"/>
                                      </m:mcPr>
                                    </m:mc>
                                  </m:mcs>
                                  <m:ctrlPr>
                                    <a:rPr lang="en-US" sz="2400" i="1">
                                      <a:solidFill>
                                        <a:srgbClr val="C00000"/>
                                      </a:solidFill>
                                      <a:latin typeface="Cambria Math" panose="02040503050406030204" pitchFamily="18" charset="0"/>
                                    </a:rPr>
                                  </m:ctrlPr>
                                </m:mPr>
                                <m:mr>
                                  <m:e>
                                    <m:r>
                                      <a:rPr lang="en-US" sz="2400">
                                        <a:solidFill>
                                          <a:srgbClr val="C00000"/>
                                        </a:solidFill>
                                        <a:latin typeface="Cambria Math" panose="02040503050406030204" pitchFamily="18" charset="0"/>
                                      </a:rPr>
                                      <m:t>0</m:t>
                                    </m:r>
                                  </m:e>
                                  <m:e>
                                    <m:r>
                                      <a:rPr lang="en-US" sz="2400">
                                        <a:solidFill>
                                          <a:srgbClr val="C00000"/>
                                        </a:solidFill>
                                        <a:latin typeface="Cambria Math" panose="02040503050406030204" pitchFamily="18" charset="0"/>
                                      </a:rPr>
                                      <m:t>1</m:t>
                                    </m:r>
                                  </m:e>
                                </m:mr>
                                <m:mr>
                                  <m:e>
                                    <m:r>
                                      <a:rPr lang="en-US" sz="2400">
                                        <a:solidFill>
                                          <a:srgbClr val="C00000"/>
                                        </a:solidFill>
                                        <a:latin typeface="Cambria Math" panose="02040503050406030204" pitchFamily="18" charset="0"/>
                                      </a:rPr>
                                      <m:t>1</m:t>
                                    </m:r>
                                  </m:e>
                                  <m:e>
                                    <m:r>
                                      <a:rPr lang="en-US" sz="2400">
                                        <a:solidFill>
                                          <a:srgbClr val="C00000"/>
                                        </a:solidFill>
                                        <a:latin typeface="Cambria Math" panose="02040503050406030204" pitchFamily="18" charset="0"/>
                                      </a:rPr>
                                      <m:t>0</m:t>
                                    </m:r>
                                  </m:e>
                                </m:mr>
                              </m:m>
                            </m:e>
                          </m:d>
                          <m:d>
                            <m:dPr>
                              <m:ctrlPr>
                                <a:rPr lang="en-US" sz="2400" b="1" i="1">
                                  <a:latin typeface="Cambria Math" panose="02040503050406030204" pitchFamily="18" charset="0"/>
                                  <a:ea typeface="Cambria Math" panose="02040503050406030204" pitchFamily="18" charset="0"/>
                                </a:rPr>
                              </m:ctrlPr>
                            </m:dPr>
                            <m:e>
                              <m:m>
                                <m:mPr>
                                  <m:mcs>
                                    <m:mc>
                                      <m:mcPr>
                                        <m:count m:val="1"/>
                                        <m:mcJc m:val="center"/>
                                      </m:mcPr>
                                    </m:mc>
                                  </m:mcs>
                                  <m:ctrlPr>
                                    <a:rPr lang="en-US" sz="2400" i="1">
                                      <a:latin typeface="Cambria Math" panose="02040503050406030204" pitchFamily="18" charset="0"/>
                                      <a:ea typeface="Cambria Math" panose="02040503050406030204" pitchFamily="18" charset="0"/>
                                    </a:rPr>
                                  </m:ctrlPr>
                                </m:mPr>
                                <m:mr>
                                  <m:e>
                                    <m:r>
                                      <m:rPr>
                                        <m:brk m:alnAt="7"/>
                                      </m:rPr>
                                      <a:rPr lang="en-US" sz="2400" b="0" i="1" smtClean="0">
                                        <a:latin typeface="Cambria Math" panose="02040503050406030204" pitchFamily="18" charset="0"/>
                                        <a:ea typeface="Cambria Math" panose="02040503050406030204" pitchFamily="18" charset="0"/>
                                      </a:rPr>
                                      <m:t>𝑎</m:t>
                                    </m:r>
                                  </m:e>
                                </m:mr>
                                <m:mr>
                                  <m:e>
                                    <m:r>
                                      <a:rPr lang="en-US" sz="2400" b="0" i="1" smtClean="0">
                                        <a:latin typeface="Cambria Math" panose="02040503050406030204" pitchFamily="18" charset="0"/>
                                        <a:ea typeface="Cambria Math" panose="02040503050406030204" pitchFamily="18" charset="0"/>
                                      </a:rPr>
                                      <m:t>𝑏</m:t>
                                    </m:r>
                                  </m:e>
                                </m:mr>
                              </m:m>
                            </m:e>
                          </m:d>
                          <m:r>
                            <a:rPr lang="en-US" sz="2400" b="1" i="1" smtClean="0">
                              <a:latin typeface="Cambria Math" panose="02040503050406030204" pitchFamily="18" charset="0"/>
                              <a:ea typeface="Cambria Math" panose="02040503050406030204" pitchFamily="18" charset="0"/>
                            </a:rPr>
                            <m:t>=</m:t>
                          </m:r>
                          <m:d>
                            <m:dPr>
                              <m:ctrlPr>
                                <a:rPr lang="en-US" sz="2400" b="1" i="1">
                                  <a:latin typeface="Cambria Math" panose="02040503050406030204" pitchFamily="18" charset="0"/>
                                  <a:ea typeface="Cambria Math" panose="02040503050406030204" pitchFamily="18" charset="0"/>
                                </a:rPr>
                              </m:ctrlPr>
                            </m:dPr>
                            <m:e>
                              <m:m>
                                <m:mPr>
                                  <m:mcs>
                                    <m:mc>
                                      <m:mcPr>
                                        <m:count m:val="1"/>
                                        <m:mcJc m:val="center"/>
                                      </m:mcPr>
                                    </m:mc>
                                  </m:mcs>
                                  <m:ctrlPr>
                                    <a:rPr lang="en-US" sz="2400" i="1">
                                      <a:latin typeface="Cambria Math" panose="02040503050406030204" pitchFamily="18" charset="0"/>
                                      <a:ea typeface="Cambria Math" panose="02040503050406030204" pitchFamily="18" charset="0"/>
                                    </a:rPr>
                                  </m:ctrlPr>
                                </m:mPr>
                                <m:mr>
                                  <m:e>
                                    <m:r>
                                      <m:rPr>
                                        <m:brk m:alnAt="7"/>
                                      </m:rPr>
                                      <a:rPr lang="en-US" sz="2400" i="1">
                                        <a:latin typeface="Cambria Math" panose="02040503050406030204" pitchFamily="18" charset="0"/>
                                        <a:ea typeface="Cambria Math" panose="02040503050406030204" pitchFamily="18" charset="0"/>
                                      </a:rPr>
                                      <m:t>𝑎</m:t>
                                    </m:r>
                                  </m:e>
                                </m:mr>
                                <m:mr>
                                  <m:e>
                                    <m:r>
                                      <a:rPr lang="en-US" sz="2400" i="1">
                                        <a:latin typeface="Cambria Math" panose="02040503050406030204" pitchFamily="18" charset="0"/>
                                        <a:ea typeface="Cambria Math" panose="02040503050406030204" pitchFamily="18" charset="0"/>
                                      </a:rPr>
                                      <m:t>𝑏</m:t>
                                    </m:r>
                                  </m:e>
                                </m:mr>
                              </m:m>
                            </m:e>
                          </m:d>
                          <m:r>
                            <a:rPr lang="en-US" sz="2400" i="1">
                              <a:latin typeface="Cambria Math" panose="02040503050406030204" pitchFamily="18" charset="0"/>
                              <a:ea typeface="Cambria Math" panose="02040503050406030204" pitchFamily="18" charset="0"/>
                            </a:rPr>
                            <m:t>→</m:t>
                          </m:r>
                          <m:d>
                            <m:dPr>
                              <m:ctrlPr>
                                <a:rPr lang="en-US" sz="2400" b="1" i="1">
                                  <a:latin typeface="Cambria Math" panose="02040503050406030204" pitchFamily="18" charset="0"/>
                                  <a:ea typeface="Cambria Math" panose="02040503050406030204" pitchFamily="18" charset="0"/>
                                </a:rPr>
                              </m:ctrlPr>
                            </m:dPr>
                            <m:e>
                              <m:m>
                                <m:mPr>
                                  <m:mcs>
                                    <m:mc>
                                      <m:mcPr>
                                        <m:count m:val="1"/>
                                        <m:mcJc m:val="center"/>
                                      </m:mcPr>
                                    </m:mc>
                                  </m:mcs>
                                  <m:ctrlPr>
                                    <a:rPr lang="en-US" sz="2400" i="1">
                                      <a:latin typeface="Cambria Math" panose="02040503050406030204" pitchFamily="18" charset="0"/>
                                      <a:ea typeface="Cambria Math" panose="02040503050406030204" pitchFamily="18" charset="0"/>
                                    </a:rPr>
                                  </m:ctrlPr>
                                </m:mPr>
                                <m:mr>
                                  <m:e>
                                    <m:r>
                                      <m:rPr>
                                        <m:brk m:alnAt="7"/>
                                      </m:rPr>
                                      <a:rPr lang="en-US" sz="2400" b="0" i="1" smtClean="0">
                                        <a:latin typeface="Cambria Math" panose="02040503050406030204" pitchFamily="18" charset="0"/>
                                        <a:ea typeface="Cambria Math" panose="02040503050406030204" pitchFamily="18" charset="0"/>
                                      </a:rPr>
                                      <m:t>𝑏</m:t>
                                    </m:r>
                                  </m:e>
                                </m:mr>
                                <m:mr>
                                  <m:e>
                                    <m:r>
                                      <a:rPr lang="en-US" sz="2400" b="0" i="1" smtClean="0">
                                        <a:latin typeface="Cambria Math" panose="02040503050406030204" pitchFamily="18" charset="0"/>
                                        <a:ea typeface="Cambria Math" panose="02040503050406030204" pitchFamily="18" charset="0"/>
                                      </a:rPr>
                                      <m:t>𝑎</m:t>
                                    </m:r>
                                  </m:e>
                                </m:mr>
                              </m:m>
                            </m:e>
                          </m:d>
                          <m:r>
                            <a:rPr lang="en-US" sz="2400" b="1" i="1" smtClean="0">
                              <a:latin typeface="Cambria Math" panose="02040503050406030204" pitchFamily="18" charset="0"/>
                              <a:ea typeface="Cambria Math" panose="02040503050406030204" pitchFamily="18" charset="0"/>
                            </a:rPr>
                            <m:t>=</m:t>
                          </m:r>
                          <m:d>
                            <m:dPr>
                              <m:ctrlPr>
                                <a:rPr lang="en-US" sz="2400" b="1" i="1">
                                  <a:latin typeface="Cambria Math" panose="02040503050406030204" pitchFamily="18" charset="0"/>
                                  <a:ea typeface="Cambria Math" panose="02040503050406030204" pitchFamily="18" charset="0"/>
                                </a:rPr>
                              </m:ctrlPr>
                            </m:dPr>
                            <m:e>
                              <m:m>
                                <m:mPr>
                                  <m:mcs>
                                    <m:mc>
                                      <m:mcPr>
                                        <m:count m:val="1"/>
                                        <m:mcJc m:val="center"/>
                                      </m:mcPr>
                                    </m:mc>
                                  </m:mcs>
                                  <m:ctrlPr>
                                    <a:rPr lang="en-US" sz="2400" i="1">
                                      <a:latin typeface="Cambria Math" panose="02040503050406030204" pitchFamily="18" charset="0"/>
                                      <a:ea typeface="Cambria Math" panose="02040503050406030204" pitchFamily="18" charset="0"/>
                                    </a:rPr>
                                  </m:ctrlPr>
                                </m:mPr>
                                <m:mr>
                                  <m:e>
                                    <m:r>
                                      <m:rPr>
                                        <m:brk m:alnAt="7"/>
                                      </m:rPr>
                                      <a:rPr lang="en-US" sz="2400" i="1">
                                        <a:latin typeface="Cambria Math" panose="02040503050406030204" pitchFamily="18" charset="0"/>
                                        <a:ea typeface="Cambria Math" panose="02040503050406030204" pitchFamily="18" charset="0"/>
                                      </a:rPr>
                                      <m:t>𝑎</m:t>
                                    </m:r>
                                  </m:e>
                                </m:mr>
                                <m:mr>
                                  <m:e>
                                    <m:r>
                                      <a:rPr lang="en-US" sz="2400" i="1">
                                        <a:latin typeface="Cambria Math" panose="02040503050406030204" pitchFamily="18" charset="0"/>
                                        <a:ea typeface="Cambria Math" panose="02040503050406030204" pitchFamily="18" charset="0"/>
                                      </a:rPr>
                                      <m:t>𝑏</m:t>
                                    </m:r>
                                  </m:e>
                                </m:mr>
                              </m:m>
                            </m:e>
                          </m:d>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𝑏</m:t>
                          </m:r>
                        </m:oMath>
                      </m:oMathPara>
                    </a14:m>
                    <a:endParaRPr lang="en-US" sz="2400" dirty="0"/>
                  </a:p>
                </p:txBody>
              </p:sp>
            </mc:Choice>
            <mc:Fallback xmlns="">
              <p:sp>
                <p:nvSpPr>
                  <p:cNvPr id="20" name="Rectangle 19">
                    <a:extLst>
                      <a:ext uri="{FF2B5EF4-FFF2-40B4-BE49-F238E27FC236}">
                        <a16:creationId xmlns:a16="http://schemas.microsoft.com/office/drawing/2014/main" id="{EBD05BD9-BD76-3241-944C-8654C59B953B}"/>
                      </a:ext>
                    </a:extLst>
                  </p:cNvPr>
                  <p:cNvSpPr>
                    <a:spLocks noRot="1" noChangeAspect="1" noMove="1" noResize="1" noEditPoints="1" noAdjustHandles="1" noChangeArrowheads="1" noChangeShapeType="1" noTextEdit="1"/>
                  </p:cNvSpPr>
                  <p:nvPr/>
                </p:nvSpPr>
                <p:spPr>
                  <a:xfrm>
                    <a:off x="4233573" y="5219152"/>
                    <a:ext cx="8490851" cy="715581"/>
                  </a:xfrm>
                  <a:prstGeom prst="rect">
                    <a:avLst/>
                  </a:prstGeom>
                  <a:blipFill>
                    <a:blip r:embed="rId8"/>
                    <a:stretch>
                      <a:fillRect b="-5263"/>
                    </a:stretch>
                  </a:blipFill>
                </p:spPr>
                <p:txBody>
                  <a:bodyPr/>
                  <a:lstStyle/>
                  <a:p>
                    <a:r>
                      <a:rPr lang="en-US">
                        <a:noFill/>
                      </a:rPr>
                      <a:t> </a:t>
                    </a:r>
                  </a:p>
                </p:txBody>
              </p:sp>
            </mc:Fallback>
          </mc:AlternateContent>
        </p:grpSp>
      </p:grpSp>
      <p:grpSp>
        <p:nvGrpSpPr>
          <p:cNvPr id="6" name="Group 5">
            <a:extLst>
              <a:ext uri="{FF2B5EF4-FFF2-40B4-BE49-F238E27FC236}">
                <a16:creationId xmlns:a16="http://schemas.microsoft.com/office/drawing/2014/main" id="{B25D7D5B-4FA3-1E41-A484-43A7D6B8FD71}"/>
              </a:ext>
            </a:extLst>
          </p:cNvPr>
          <p:cNvGrpSpPr/>
          <p:nvPr/>
        </p:nvGrpSpPr>
        <p:grpSpPr>
          <a:xfrm>
            <a:off x="173605" y="1552425"/>
            <a:ext cx="9450080" cy="1072660"/>
            <a:chOff x="173605" y="1552425"/>
            <a:chExt cx="9450080" cy="1072660"/>
          </a:xfrm>
        </p:grpSpPr>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507445A-A9F8-FB41-852E-67757551B202}"/>
                    </a:ext>
                  </a:extLst>
                </p:cNvPr>
                <p:cNvSpPr txBox="1"/>
                <p:nvPr/>
              </p:nvSpPr>
              <p:spPr>
                <a:xfrm>
                  <a:off x="173605" y="1968239"/>
                  <a:ext cx="9450080" cy="656846"/>
                </a:xfrm>
                <a:prstGeom prst="rect">
                  <a:avLst/>
                </a:prstGeom>
                <a:solidFill>
                  <a:schemeClr val="bg1">
                    <a:lumMod val="95000"/>
                  </a:schemeClr>
                </a:solidFill>
              </p:spPr>
              <p:txBody>
                <a:bodyPr wrap="square" rtlCol="0">
                  <a:spAutoFit/>
                </a:bodyPr>
                <a:lstStyle/>
                <a:p>
                  <a:r>
                    <a:rPr lang="en-ZA" sz="2400" dirty="0"/>
                    <a:t>Eigenvalues </a:t>
                  </a:r>
                  <a:r>
                    <a:rPr lang="en-ZA" sz="2400"/>
                    <a:t>and eigenvectors </a:t>
                  </a:r>
                  <a:r>
                    <a:rPr lang="en-ZA" sz="2400" dirty="0"/>
                    <a:t>of the Pauli </a:t>
                  </a:r>
                  <a14:m>
                    <m:oMath xmlns:m="http://schemas.openxmlformats.org/officeDocument/2006/math">
                      <m:r>
                        <a:rPr lang="en-US" sz="2400" i="1">
                          <a:latin typeface="Cambria Math" panose="02040503050406030204" pitchFamily="18" charset="0"/>
                        </a:rPr>
                        <m:t>𝑋</m:t>
                      </m:r>
                    </m:oMath>
                  </a14:m>
                  <a:r>
                    <a:rPr lang="en-ZA" sz="2400" dirty="0"/>
                    <a:t> matrix:</a:t>
                  </a:r>
                  <a14:m>
                    <m:oMath xmlns:m="http://schemas.openxmlformats.org/officeDocument/2006/math">
                      <m:r>
                        <a:rPr lang="en-US" sz="2200" b="0" i="0" smtClean="0">
                          <a:latin typeface="Cambria Math" panose="02040503050406030204" pitchFamily="18" charset="0"/>
                        </a:rPr>
                        <m:t> </m:t>
                      </m:r>
                      <m:r>
                        <a:rPr lang="sr-Latn-RS" sz="2200" b="0" i="0" smtClean="0">
                          <a:latin typeface="Cambria Math" panose="02040503050406030204" pitchFamily="18" charset="0"/>
                        </a:rPr>
                        <m:t> </m:t>
                      </m:r>
                      <m:r>
                        <a:rPr lang="en-US" sz="2200" i="1">
                          <a:latin typeface="Cambria Math" panose="02040503050406030204" pitchFamily="18" charset="0"/>
                        </a:rPr>
                        <m:t>𝑋</m:t>
                      </m:r>
                      <m:r>
                        <a:rPr lang="en-US" sz="2200" i="1">
                          <a:latin typeface="Cambria Math" panose="02040503050406030204" pitchFamily="18" charset="0"/>
                        </a:rPr>
                        <m:t>=</m:t>
                      </m:r>
                      <m:d>
                        <m:dPr>
                          <m:ctrlPr>
                            <a:rPr lang="en-US" sz="2200" i="1">
                              <a:latin typeface="Cambria Math" panose="02040503050406030204" pitchFamily="18" charset="0"/>
                            </a:rPr>
                          </m:ctrlPr>
                        </m:dPr>
                        <m:e>
                          <m:m>
                            <m:mPr>
                              <m:plcHide m:val="on"/>
                              <m:mcs>
                                <m:mc>
                                  <m:mcPr>
                                    <m:count m:val="2"/>
                                    <m:mcJc m:val="center"/>
                                  </m:mcPr>
                                </m:mc>
                              </m:mcs>
                              <m:ctrlPr>
                                <a:rPr lang="en-US" sz="2200" i="1">
                                  <a:latin typeface="Cambria Math" panose="02040503050406030204" pitchFamily="18" charset="0"/>
                                </a:rPr>
                              </m:ctrlPr>
                            </m:mPr>
                            <m:mr>
                              <m:e>
                                <m:r>
                                  <a:rPr lang="en-US" sz="2200">
                                    <a:latin typeface="Cambria Math" panose="02040503050406030204" pitchFamily="18" charset="0"/>
                                  </a:rPr>
                                  <m:t>0</m:t>
                                </m:r>
                              </m:e>
                              <m:e>
                                <m:r>
                                  <a:rPr lang="en-US" sz="2200">
                                    <a:latin typeface="Cambria Math" panose="02040503050406030204" pitchFamily="18" charset="0"/>
                                  </a:rPr>
                                  <m:t>1</m:t>
                                </m:r>
                              </m:e>
                            </m:mr>
                            <m:mr>
                              <m:e>
                                <m:r>
                                  <a:rPr lang="en-US" sz="2200">
                                    <a:latin typeface="Cambria Math" panose="02040503050406030204" pitchFamily="18" charset="0"/>
                                  </a:rPr>
                                  <m:t>1</m:t>
                                </m:r>
                              </m:e>
                              <m:e>
                                <m:r>
                                  <a:rPr lang="en-US" sz="2200">
                                    <a:latin typeface="Cambria Math" panose="02040503050406030204" pitchFamily="18" charset="0"/>
                                  </a:rPr>
                                  <m:t>0</m:t>
                                </m:r>
                              </m:e>
                            </m:mr>
                          </m:m>
                        </m:e>
                      </m:d>
                      <m:r>
                        <a:rPr lang="sr-Latn-RS" sz="2200" b="0" i="0" smtClean="0">
                          <a:latin typeface="Cambria Math" panose="02040503050406030204" pitchFamily="18" charset="0"/>
                        </a:rPr>
                        <m:t>.</m:t>
                      </m:r>
                    </m:oMath>
                  </a14:m>
                  <a:endParaRPr lang="en-US" sz="2200" dirty="0"/>
                </a:p>
              </p:txBody>
            </p:sp>
          </mc:Choice>
          <mc:Fallback xmlns="">
            <p:sp>
              <p:nvSpPr>
                <p:cNvPr id="14" name="TextBox 13">
                  <a:extLst>
                    <a:ext uri="{FF2B5EF4-FFF2-40B4-BE49-F238E27FC236}">
                      <a16:creationId xmlns:a16="http://schemas.microsoft.com/office/drawing/2014/main" id="{9507445A-A9F8-FB41-852E-67757551B202}"/>
                    </a:ext>
                  </a:extLst>
                </p:cNvPr>
                <p:cNvSpPr txBox="1">
                  <a:spLocks noRot="1" noChangeAspect="1" noMove="1" noResize="1" noEditPoints="1" noAdjustHandles="1" noChangeArrowheads="1" noChangeShapeType="1" noTextEdit="1"/>
                </p:cNvSpPr>
                <p:nvPr/>
              </p:nvSpPr>
              <p:spPr>
                <a:xfrm>
                  <a:off x="173605" y="1968239"/>
                  <a:ext cx="9450080" cy="656846"/>
                </a:xfrm>
                <a:prstGeom prst="rect">
                  <a:avLst/>
                </a:prstGeom>
                <a:blipFill>
                  <a:blip r:embed="rId9"/>
                  <a:stretch>
                    <a:fillRect l="-940" b="-5660"/>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1310D2C7-37D7-A648-BBAA-E16BACDA9A30}"/>
                </a:ext>
              </a:extLst>
            </p:cNvPr>
            <p:cNvSpPr txBox="1"/>
            <p:nvPr/>
          </p:nvSpPr>
          <p:spPr>
            <a:xfrm>
              <a:off x="173605" y="1552425"/>
              <a:ext cx="1323632" cy="461665"/>
            </a:xfrm>
            <a:prstGeom prst="rect">
              <a:avLst/>
            </a:prstGeom>
            <a:solidFill>
              <a:schemeClr val="accent4">
                <a:lumMod val="40000"/>
                <a:lumOff val="60000"/>
              </a:schemeClr>
            </a:solidFill>
          </p:spPr>
          <p:txBody>
            <a:bodyPr wrap="none" rtlCol="0">
              <a:spAutoFit/>
            </a:bodyPr>
            <a:lstStyle/>
            <a:p>
              <a:r>
                <a:rPr lang="en-US" sz="2400" dirty="0"/>
                <a:t>Example:</a:t>
              </a:r>
            </a:p>
          </p:txBody>
        </p:sp>
      </p:grpSp>
    </p:spTree>
    <p:extLst>
      <p:ext uri="{BB962C8B-B14F-4D97-AF65-F5344CB8AC3E}">
        <p14:creationId xmlns:p14="http://schemas.microsoft.com/office/powerpoint/2010/main" val="676887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DA5D2E-D866-E246-AF93-7F6659D3C75F}"/>
              </a:ext>
            </a:extLst>
          </p:cNvPr>
          <p:cNvSpPr>
            <a:spLocks noGrp="1"/>
          </p:cNvSpPr>
          <p:nvPr>
            <p:ph type="sldNum" sz="quarter" idx="12"/>
          </p:nvPr>
        </p:nvSpPr>
        <p:spPr/>
        <p:txBody>
          <a:bodyPr/>
          <a:lstStyle/>
          <a:p>
            <a:fld id="{591A223C-FA10-BC46-A853-03BA373D023C}" type="slidenum">
              <a:rPr lang="en-US" smtClean="0"/>
              <a:t>54</a:t>
            </a:fld>
            <a:endParaRPr lang="en-US"/>
          </a:p>
        </p:txBody>
      </p:sp>
      <p:sp>
        <p:nvSpPr>
          <p:cNvPr id="3" name="Title 2">
            <a:extLst>
              <a:ext uri="{FF2B5EF4-FFF2-40B4-BE49-F238E27FC236}">
                <a16:creationId xmlns:a16="http://schemas.microsoft.com/office/drawing/2014/main" id="{046E0A5F-5B7C-D94C-B664-E93B1FADEC3A}"/>
              </a:ext>
            </a:extLst>
          </p:cNvPr>
          <p:cNvSpPr>
            <a:spLocks noGrp="1"/>
          </p:cNvSpPr>
          <p:nvPr>
            <p:ph type="title"/>
          </p:nvPr>
        </p:nvSpPr>
        <p:spPr>
          <a:xfrm>
            <a:off x="0" y="0"/>
            <a:ext cx="12192000" cy="928688"/>
          </a:xfrm>
        </p:spPr>
        <p:txBody>
          <a:bodyPr/>
          <a:lstStyle/>
          <a:p>
            <a:r>
              <a:rPr lang="en-ZA" dirty="0"/>
              <a:t>The spectral decomposition theorem</a:t>
            </a:r>
            <a:endParaRPr lang="en-US"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E3C54C48-382C-8142-A631-3A08402D2240}"/>
                  </a:ext>
                </a:extLst>
              </p:cNvPr>
              <p:cNvSpPr/>
              <p:nvPr/>
            </p:nvSpPr>
            <p:spPr>
              <a:xfrm>
                <a:off x="382038" y="1423911"/>
                <a:ext cx="11427922" cy="965264"/>
              </a:xfrm>
              <a:prstGeom prst="rect">
                <a:avLst/>
              </a:prstGeom>
            </p:spPr>
            <p:txBody>
              <a:bodyPr wrap="square">
                <a:spAutoFit/>
              </a:bodyPr>
              <a:lstStyle/>
              <a:p>
                <a:pPr algn="ctr"/>
                <a:r>
                  <a:rPr lang="en-ZA" sz="2800" dirty="0"/>
                  <a:t>Any normal operator </a:t>
                </a:r>
                <a14:m>
                  <m:oMath xmlns:m="http://schemas.openxmlformats.org/officeDocument/2006/math">
                    <m:r>
                      <a:rPr lang="sr-Latn-RS" sz="2800" i="1">
                        <a:latin typeface="Cambria Math" panose="02040503050406030204" pitchFamily="18" charset="0"/>
                        <a:ea typeface="Times New Roman" panose="02020603050405020304" pitchFamily="18" charset="0"/>
                        <a:cs typeface="Times New Roman" panose="02020603050405020304" pitchFamily="18" charset="0"/>
                      </a:rPr>
                      <m:t>𝐴</m:t>
                    </m:r>
                  </m:oMath>
                </a14:m>
                <a:r>
                  <a:rPr lang="en-ZA" sz="2800" dirty="0"/>
                  <a:t>, which satisfies </a:t>
                </a:r>
                <a14:m>
                  <m:oMath xmlns:m="http://schemas.openxmlformats.org/officeDocument/2006/math">
                    <m:r>
                      <a:rPr lang="sr-Latn-RS" sz="2800" i="1">
                        <a:latin typeface="Cambria Math" panose="02040503050406030204" pitchFamily="18" charset="0"/>
                        <a:ea typeface="Times New Roman" panose="02020603050405020304" pitchFamily="18" charset="0"/>
                        <a:cs typeface="Times New Roman" panose="02020603050405020304" pitchFamily="18" charset="0"/>
                      </a:rPr>
                      <m:t>𝐴</m:t>
                    </m:r>
                    <m:sSup>
                      <m:sSupPr>
                        <m:ctrlPr>
                          <a:rPr lang="en-ZA" sz="2800" i="1">
                            <a:latin typeface="Cambria Math" panose="02040503050406030204" pitchFamily="18" charset="0"/>
                          </a:rPr>
                        </m:ctrlPr>
                      </m:sSup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𝐴</m:t>
                        </m:r>
                      </m:e>
                      <m:sup>
                        <m:r>
                          <a:rPr lang="sr-Latn-RS" sz="2800" i="1">
                            <a:latin typeface="Cambria Math" panose="02040503050406030204" pitchFamily="18" charset="0"/>
                            <a:ea typeface="Times New Roman" panose="02020603050405020304" pitchFamily="18" charset="0"/>
                            <a:cs typeface="Times New Roman" panose="02020603050405020304" pitchFamily="18" charset="0"/>
                          </a:rPr>
                          <m:t>†</m:t>
                        </m:r>
                      </m:sup>
                    </m:sSup>
                    <m:r>
                      <a:rPr lang="sr-Latn-RS" sz="2800" i="1">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ZA" sz="2800" i="1">
                            <a:latin typeface="Cambria Math" panose="02040503050406030204" pitchFamily="18" charset="0"/>
                          </a:rPr>
                        </m:ctrlPr>
                      </m:sSup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𝐴</m:t>
                        </m:r>
                      </m:e>
                      <m:sup>
                        <m:r>
                          <a:rPr lang="sr-Latn-RS" sz="2800" i="1">
                            <a:latin typeface="Cambria Math" panose="02040503050406030204" pitchFamily="18" charset="0"/>
                            <a:ea typeface="Times New Roman" panose="02020603050405020304" pitchFamily="18" charset="0"/>
                            <a:cs typeface="Times New Roman" panose="02020603050405020304" pitchFamily="18" charset="0"/>
                          </a:rPr>
                          <m:t>†</m:t>
                        </m:r>
                      </m:sup>
                    </m:sSup>
                    <m:r>
                      <a:rPr lang="sr-Latn-RS" sz="2800" i="1">
                        <a:latin typeface="Cambria Math" panose="02040503050406030204" pitchFamily="18" charset="0"/>
                        <a:ea typeface="Times New Roman" panose="02020603050405020304" pitchFamily="18" charset="0"/>
                        <a:cs typeface="Times New Roman" panose="02020603050405020304" pitchFamily="18" charset="0"/>
                      </a:rPr>
                      <m:t>𝐴</m:t>
                    </m:r>
                  </m:oMath>
                </a14:m>
                <a:r>
                  <a:rPr lang="en-ZA" sz="2800" dirty="0"/>
                  <a:t>, can be expressed using spectral decomposition.</a:t>
                </a:r>
              </a:p>
            </p:txBody>
          </p:sp>
        </mc:Choice>
        <mc:Fallback xmlns="">
          <p:sp>
            <p:nvSpPr>
              <p:cNvPr id="4" name="Rectangle 3">
                <a:extLst>
                  <a:ext uri="{FF2B5EF4-FFF2-40B4-BE49-F238E27FC236}">
                    <a16:creationId xmlns:a16="http://schemas.microsoft.com/office/drawing/2014/main" id="{E3C54C48-382C-8142-A631-3A08402D2240}"/>
                  </a:ext>
                </a:extLst>
              </p:cNvPr>
              <p:cNvSpPr>
                <a:spLocks noRot="1" noChangeAspect="1" noMove="1" noResize="1" noEditPoints="1" noAdjustHandles="1" noChangeArrowheads="1" noChangeShapeType="1" noTextEdit="1"/>
              </p:cNvSpPr>
              <p:nvPr/>
            </p:nvSpPr>
            <p:spPr>
              <a:xfrm>
                <a:off x="382038" y="1423911"/>
                <a:ext cx="11427922" cy="965264"/>
              </a:xfrm>
              <a:prstGeom prst="rect">
                <a:avLst/>
              </a:prstGeom>
              <a:blipFill>
                <a:blip r:embed="rId3"/>
                <a:stretch>
                  <a:fillRect t="-3896" r="-111" b="-168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B517AE3C-8530-DE4F-B054-AE06E63B9884}"/>
                  </a:ext>
                </a:extLst>
              </p:cNvPr>
              <p:cNvSpPr/>
              <p:nvPr/>
            </p:nvSpPr>
            <p:spPr>
              <a:xfrm>
                <a:off x="4191639" y="2861659"/>
                <a:ext cx="4615174" cy="1137876"/>
              </a:xfrm>
              <a:prstGeom prst="rect">
                <a:avLst/>
              </a:prstGeom>
              <a:solidFill>
                <a:schemeClr val="accent2">
                  <a:lumMod val="20000"/>
                  <a:lumOff val="80000"/>
                </a:schemeClr>
              </a:solidFill>
            </p:spPr>
            <p:txBody>
              <a:bodyPr wrap="none">
                <a:spAutoFit/>
              </a:bodyPr>
              <a:lstStyle/>
              <a:p>
                <a:pPr/>
                <a14:m>
                  <m:oMathPara xmlns:m="http://schemas.openxmlformats.org/officeDocument/2006/math">
                    <m:oMathParaPr>
                      <m:jc m:val="centerGroup"/>
                    </m:oMathParaPr>
                    <m:oMath xmlns:m="http://schemas.openxmlformats.org/officeDocument/2006/math">
                      <m:r>
                        <a:rPr lang="en-US" sz="2800" i="1" smtClean="0">
                          <a:latin typeface="Cambria Math" panose="02040503050406030204" pitchFamily="18" charset="0"/>
                        </a:rPr>
                        <m:t>𝐴</m:t>
                      </m:r>
                      <m:r>
                        <a:rPr lang="en-US" sz="2800" i="0">
                          <a:latin typeface="Cambria Math" panose="02040503050406030204" pitchFamily="18" charset="0"/>
                        </a:rPr>
                        <m:t>=</m:t>
                      </m:r>
                      <m:nary>
                        <m:naryPr>
                          <m:chr m:val="∑"/>
                          <m:limLoc m:val="undOvr"/>
                          <m:supHide m:val="on"/>
                          <m:ctrlPr>
                            <a:rPr lang="en-US" sz="2800" i="1">
                              <a:latin typeface="Cambria Math" panose="02040503050406030204" pitchFamily="18" charset="0"/>
                            </a:rPr>
                          </m:ctrlPr>
                        </m:naryPr>
                        <m:sub>
                          <m:r>
                            <a:rPr lang="en-US" sz="2800" i="1">
                              <a:latin typeface="Cambria Math" panose="02040503050406030204" pitchFamily="18" charset="0"/>
                            </a:rPr>
                            <m:t>𝑖</m:t>
                          </m:r>
                        </m:sub>
                        <m:sup/>
                        <m:e>
                          <m:sSub>
                            <m:sSubPr>
                              <m:ctrlPr>
                                <a:rPr lang="en-US" sz="2800" i="1">
                                  <a:latin typeface="Cambria Math" panose="02040503050406030204" pitchFamily="18" charset="0"/>
                                </a:rPr>
                              </m:ctrlPr>
                            </m:sSubPr>
                            <m:e>
                              <m:r>
                                <a:rPr lang="en-US" sz="2800" i="1">
                                  <a:latin typeface="Cambria Math" panose="02040503050406030204" pitchFamily="18" charset="0"/>
                                </a:rPr>
                                <m:t>𝜆</m:t>
                              </m:r>
                            </m:e>
                            <m:sub>
                              <m:r>
                                <a:rPr lang="en-US" sz="2800" i="1">
                                  <a:latin typeface="Cambria Math" panose="02040503050406030204" pitchFamily="18" charset="0"/>
                                </a:rPr>
                                <m:t>𝑖</m:t>
                              </m:r>
                            </m:sub>
                          </m:sSub>
                        </m:e>
                      </m:nary>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sr-Latn-RS" sz="2800" b="0" i="1" smtClean="0">
                                  <a:latin typeface="Cambria Math" panose="02040503050406030204" pitchFamily="18" charset="0"/>
                                </a:rPr>
                                <m:t>𝑥</m:t>
                              </m:r>
                            </m:e>
                            <m:sub>
                              <m:r>
                                <a:rPr lang="en-US" sz="2800" i="1">
                                  <a:latin typeface="Cambria Math" panose="02040503050406030204" pitchFamily="18" charset="0"/>
                                </a:rPr>
                                <m:t>𝑖</m:t>
                              </m:r>
                            </m:sub>
                          </m:sSub>
                        </m:e>
                      </m:d>
                      <m:d>
                        <m:dPr>
                          <m:begChr m:val="⟨"/>
                          <m:endChr m:val="|"/>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sr-Latn-RS" sz="2800" b="0" i="1" smtClean="0">
                                  <a:latin typeface="Cambria Math" panose="02040503050406030204" pitchFamily="18" charset="0"/>
                                </a:rPr>
                                <m:t>𝑥</m:t>
                              </m:r>
                            </m:e>
                            <m:sub>
                              <m:r>
                                <a:rPr lang="en-US" sz="2800" i="1">
                                  <a:latin typeface="Cambria Math" panose="02040503050406030204" pitchFamily="18" charset="0"/>
                                </a:rPr>
                                <m:t>𝑖</m:t>
                              </m:r>
                            </m:sub>
                          </m:sSub>
                        </m:e>
                      </m:d>
                      <m:r>
                        <a:rPr lang="en-US" sz="2800" i="0">
                          <a:latin typeface="Cambria Math" panose="02040503050406030204" pitchFamily="18" charset="0"/>
                        </a:rPr>
                        <m:t>=</m:t>
                      </m:r>
                      <m:nary>
                        <m:naryPr>
                          <m:chr m:val="∑"/>
                          <m:limLoc m:val="undOvr"/>
                          <m:supHide m:val="on"/>
                          <m:ctrlPr>
                            <a:rPr lang="en-US" sz="2800" i="1">
                              <a:latin typeface="Cambria Math" panose="02040503050406030204" pitchFamily="18" charset="0"/>
                            </a:rPr>
                          </m:ctrlPr>
                        </m:naryPr>
                        <m:sub>
                          <m:r>
                            <a:rPr lang="en-US" sz="2800" i="1">
                              <a:latin typeface="Cambria Math" panose="02040503050406030204" pitchFamily="18" charset="0"/>
                            </a:rPr>
                            <m:t>𝑖</m:t>
                          </m:r>
                        </m:sub>
                        <m:sup/>
                        <m:e>
                          <m:sSub>
                            <m:sSubPr>
                              <m:ctrlPr>
                                <a:rPr lang="en-US" sz="2800" i="1">
                                  <a:latin typeface="Cambria Math" panose="02040503050406030204" pitchFamily="18" charset="0"/>
                                </a:rPr>
                              </m:ctrlPr>
                            </m:sSubPr>
                            <m:e>
                              <m:r>
                                <a:rPr lang="en-US" sz="2800" i="1">
                                  <a:latin typeface="Cambria Math" panose="02040503050406030204" pitchFamily="18" charset="0"/>
                                </a:rPr>
                                <m:t>𝜆</m:t>
                              </m:r>
                            </m:e>
                            <m:sub>
                              <m:r>
                                <a:rPr lang="en-US" sz="2800" i="1">
                                  <a:latin typeface="Cambria Math" panose="02040503050406030204" pitchFamily="18" charset="0"/>
                                </a:rPr>
                                <m:t>𝑖</m:t>
                              </m:r>
                            </m:sub>
                          </m:sSub>
                        </m:e>
                      </m:nary>
                      <m:sSub>
                        <m:sSubPr>
                          <m:ctrlPr>
                            <a:rPr lang="en-US" sz="2800" i="1">
                              <a:latin typeface="Cambria Math" panose="02040503050406030204" pitchFamily="18" charset="0"/>
                            </a:rPr>
                          </m:ctrlPr>
                        </m:sSubPr>
                        <m:e>
                          <m:r>
                            <a:rPr lang="en-US" sz="2800" i="1">
                              <a:latin typeface="Cambria Math" panose="02040503050406030204" pitchFamily="18" charset="0"/>
                            </a:rPr>
                            <m:t>𝑃</m:t>
                          </m:r>
                        </m:e>
                        <m:sub>
                          <m:r>
                            <a:rPr lang="en-US" sz="2800" i="1">
                              <a:latin typeface="Cambria Math" panose="02040503050406030204" pitchFamily="18" charset="0"/>
                            </a:rPr>
                            <m:t>𝑖</m:t>
                          </m:r>
                        </m:sub>
                      </m:sSub>
                    </m:oMath>
                  </m:oMathPara>
                </a14:m>
                <a:endParaRPr lang="en-US" sz="2800" dirty="0"/>
              </a:p>
            </p:txBody>
          </p:sp>
        </mc:Choice>
        <mc:Fallback xmlns="">
          <p:sp>
            <p:nvSpPr>
              <p:cNvPr id="5" name="Rectangle 4">
                <a:extLst>
                  <a:ext uri="{FF2B5EF4-FFF2-40B4-BE49-F238E27FC236}">
                    <a16:creationId xmlns:a16="http://schemas.microsoft.com/office/drawing/2014/main" id="{B517AE3C-8530-DE4F-B054-AE06E63B9884}"/>
                  </a:ext>
                </a:extLst>
              </p:cNvPr>
              <p:cNvSpPr>
                <a:spLocks noRot="1" noChangeAspect="1" noMove="1" noResize="1" noEditPoints="1" noAdjustHandles="1" noChangeArrowheads="1" noChangeShapeType="1" noTextEdit="1"/>
              </p:cNvSpPr>
              <p:nvPr/>
            </p:nvSpPr>
            <p:spPr>
              <a:xfrm>
                <a:off x="4191639" y="2861659"/>
                <a:ext cx="4615174" cy="1137876"/>
              </a:xfrm>
              <a:prstGeom prst="rect">
                <a:avLst/>
              </a:prstGeom>
              <a:blipFill>
                <a:blip r:embed="rId4"/>
                <a:stretch>
                  <a:fillRect l="-10714" t="-128571" r="-549" b="-1802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8E0D90F5-CAE9-F344-B0B6-85144F554752}"/>
                  </a:ext>
                </a:extLst>
              </p:cNvPr>
              <p:cNvSpPr/>
              <p:nvPr/>
            </p:nvSpPr>
            <p:spPr>
              <a:xfrm>
                <a:off x="1066799" y="4481876"/>
                <a:ext cx="9753601" cy="1384995"/>
              </a:xfrm>
              <a:prstGeom prst="rect">
                <a:avLst/>
              </a:prstGeom>
            </p:spPr>
            <p:txBody>
              <a:bodyPr wrap="square">
                <a:spAutoFit/>
              </a:bodyPr>
              <a:lstStyle/>
              <a:p>
                <a14:m>
                  <m:oMath xmlns:m="http://schemas.openxmlformats.org/officeDocument/2006/math">
                    <m:sSub>
                      <m:sSubPr>
                        <m:ctrlPr>
                          <a:rPr lang="en-ZA" sz="2800" i="1">
                            <a:effectLst/>
                            <a:latin typeface="Cambria Math" panose="02040503050406030204" pitchFamily="18" charset="0"/>
                          </a:rPr>
                        </m:ctrlPr>
                      </m:sSub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𝜆</m:t>
                        </m:r>
                      </m:e>
                      <m:sub>
                        <m:r>
                          <m:rPr>
                            <m:sty m:val="p"/>
                          </m:rPr>
                          <a:rPr lang="sr-Latn-RS" sz="2800">
                            <a:latin typeface="Cambria Math" panose="02040503050406030204" pitchFamily="18" charset="0"/>
                            <a:ea typeface="Times New Roman" panose="02020603050405020304" pitchFamily="18" charset="0"/>
                            <a:cs typeface="Times New Roman" panose="02020603050405020304" pitchFamily="18" charset="0"/>
                          </a:rPr>
                          <m:t>i</m:t>
                        </m:r>
                      </m:sub>
                    </m:sSub>
                  </m:oMath>
                </a14:m>
                <a:r>
                  <a:rPr lang="sr-Latn-RS" sz="2800" dirty="0">
                    <a:latin typeface="Cambria" panose="02040503050406030204" pitchFamily="18" charset="0"/>
                    <a:ea typeface="Times New Roman" panose="02020603050405020304" pitchFamily="18" charset="0"/>
                    <a:cs typeface="Times New Roman" panose="02020603050405020304" pitchFamily="18" charset="0"/>
                  </a:rPr>
                  <a:t> </a:t>
                </a:r>
                <a:r>
                  <a:rPr lang="en-ZA" sz="2800" dirty="0"/>
                  <a:t>eigenvalues of </a:t>
                </a:r>
                <a14:m>
                  <m:oMath xmlns:m="http://schemas.openxmlformats.org/officeDocument/2006/math">
                    <m:r>
                      <a:rPr lang="en-US" sz="2800" i="1">
                        <a:latin typeface="Cambria Math" panose="02040503050406030204" pitchFamily="18" charset="0"/>
                      </a:rPr>
                      <m:t>𝐴</m:t>
                    </m:r>
                  </m:oMath>
                </a14:m>
                <a:r>
                  <a:rPr lang="sr-Latn-RS" sz="2800" dirty="0">
                    <a:latin typeface="Cambria" panose="02040503050406030204" pitchFamily="18" charset="0"/>
                    <a:ea typeface="Times New Roman" panose="02020603050405020304" pitchFamily="18" charset="0"/>
                    <a:cs typeface="Times New Roman" panose="02020603050405020304" pitchFamily="18" charset="0"/>
                  </a:rPr>
                  <a:t>,</a:t>
                </a:r>
              </a:p>
              <a:p>
                <a14:m>
                  <m:oMath xmlns:m="http://schemas.openxmlformats.org/officeDocument/2006/math">
                    <m:d>
                      <m:dPr>
                        <m:begChr m:val="|"/>
                        <m:endChr m:val="⟩"/>
                        <m:ctrlPr>
                          <a:rPr lang="en-ZA" sz="2800" i="1">
                            <a:effectLst/>
                            <a:latin typeface="Cambria Math" panose="02040503050406030204" pitchFamily="18" charset="0"/>
                          </a:rPr>
                        </m:ctrlPr>
                      </m:dPr>
                      <m:e>
                        <m:sSub>
                          <m:sSubPr>
                            <m:ctrlPr>
                              <a:rPr lang="en-ZA" sz="2800" i="1">
                                <a:effectLst/>
                                <a:latin typeface="Cambria Math" panose="02040503050406030204" pitchFamily="18" charset="0"/>
                              </a:rPr>
                            </m:ctrlPr>
                          </m:sSub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𝑥</m:t>
                            </m:r>
                          </m:e>
                          <m:sub>
                            <m:r>
                              <m:rPr>
                                <m:sty m:val="p"/>
                              </m:rPr>
                              <a:rPr lang="sr-Latn-RS" sz="2800">
                                <a:latin typeface="Cambria Math" panose="02040503050406030204" pitchFamily="18" charset="0"/>
                                <a:ea typeface="Times New Roman" panose="02020603050405020304" pitchFamily="18" charset="0"/>
                                <a:cs typeface="Times New Roman" panose="02020603050405020304" pitchFamily="18" charset="0"/>
                              </a:rPr>
                              <m:t>i</m:t>
                            </m:r>
                          </m:sub>
                        </m:sSub>
                      </m:e>
                    </m:d>
                  </m:oMath>
                </a14:m>
                <a:r>
                  <a:rPr lang="sr-Latn-RS" sz="2800" dirty="0">
                    <a:latin typeface="Cambria" panose="02040503050406030204" pitchFamily="18" charset="0"/>
                    <a:ea typeface="Times New Roman" panose="02020603050405020304" pitchFamily="18" charset="0"/>
                    <a:cs typeface="Times New Roman" panose="02020603050405020304" pitchFamily="18" charset="0"/>
                  </a:rPr>
                  <a:t> </a:t>
                </a:r>
                <a:r>
                  <a:rPr lang="en-ZA" sz="2800" dirty="0"/>
                  <a:t>corresponding eigenvectors</a:t>
                </a:r>
                <a:r>
                  <a:rPr lang="sr-Latn-RS" sz="2800" dirty="0">
                    <a:latin typeface="Cambria" panose="02040503050406030204" pitchFamily="18" charset="0"/>
                    <a:cs typeface="Times New Roman" panose="02020603050405020304" pitchFamily="18" charset="0"/>
                  </a:rPr>
                  <a:t>,</a:t>
                </a:r>
                <a:endParaRPr lang="sr-Latn-RS" sz="2800" dirty="0">
                  <a:latin typeface="Cambria" panose="02040503050406030204" pitchFamily="18" charset="0"/>
                  <a:ea typeface="Times New Roman" panose="02020603050405020304" pitchFamily="18" charset="0"/>
                  <a:cs typeface="Times New Roman" panose="02020603050405020304" pitchFamily="18" charset="0"/>
                </a:endParaRPr>
              </a:p>
              <a:p>
                <a14:m>
                  <m:oMath xmlns:m="http://schemas.openxmlformats.org/officeDocument/2006/math">
                    <m:sSub>
                      <m:sSubPr>
                        <m:ctrlPr>
                          <a:rPr lang="en-ZA" sz="2800" i="1">
                            <a:effectLst/>
                            <a:latin typeface="Cambria Math" panose="02040503050406030204" pitchFamily="18" charset="0"/>
                          </a:rPr>
                        </m:ctrlPr>
                      </m:sSub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𝑃</m:t>
                        </m:r>
                      </m:e>
                      <m:sub>
                        <m:r>
                          <a:rPr lang="sr-Latn-RS" sz="2800" i="1">
                            <a:latin typeface="Cambria Math" panose="02040503050406030204" pitchFamily="18" charset="0"/>
                            <a:ea typeface="Times New Roman" panose="02020603050405020304" pitchFamily="18" charset="0"/>
                            <a:cs typeface="Times New Roman" panose="02020603050405020304" pitchFamily="18" charset="0"/>
                          </a:rPr>
                          <m:t>𝑖</m:t>
                        </m:r>
                      </m:sub>
                    </m:sSub>
                    <m:r>
                      <a:rPr lang="sr-Latn-RS" sz="2800" i="1">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n-ZA" sz="2800" i="1">
                            <a:effectLst/>
                            <a:latin typeface="Cambria Math" panose="02040503050406030204" pitchFamily="18" charset="0"/>
                          </a:rPr>
                        </m:ctrlPr>
                      </m:dPr>
                      <m:e>
                        <m:sSub>
                          <m:sSubPr>
                            <m:ctrlPr>
                              <a:rPr lang="en-ZA" sz="2800" i="1">
                                <a:effectLst/>
                                <a:latin typeface="Cambria Math" panose="02040503050406030204" pitchFamily="18" charset="0"/>
                              </a:rPr>
                            </m:ctrlPr>
                          </m:sSub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𝑥</m:t>
                            </m:r>
                          </m:e>
                          <m:sub>
                            <m:r>
                              <a:rPr lang="sr-Latn-RS" sz="2800" i="1">
                                <a:latin typeface="Cambria Math" panose="02040503050406030204" pitchFamily="18" charset="0"/>
                                <a:ea typeface="Times New Roman" panose="02020603050405020304" pitchFamily="18" charset="0"/>
                                <a:cs typeface="Times New Roman" panose="02020603050405020304" pitchFamily="18" charset="0"/>
                              </a:rPr>
                              <m:t>𝑖</m:t>
                            </m:r>
                          </m:sub>
                        </m:sSub>
                      </m:e>
                    </m:d>
                    <m:d>
                      <m:dPr>
                        <m:begChr m:val="⟨"/>
                        <m:endChr m:val="|"/>
                        <m:ctrlPr>
                          <a:rPr lang="en-ZA" sz="2800" i="1">
                            <a:effectLst/>
                            <a:latin typeface="Cambria Math" panose="02040503050406030204" pitchFamily="18" charset="0"/>
                            <a:cs typeface="Menlo Regular" panose="020B0609030804020204" pitchFamily="49" charset="0"/>
                          </a:rPr>
                        </m:ctrlPr>
                      </m:dPr>
                      <m:e>
                        <m:sSub>
                          <m:sSubPr>
                            <m:ctrlPr>
                              <a:rPr lang="en-ZA" sz="2800" i="1">
                                <a:effectLst/>
                                <a:latin typeface="Cambria Math" panose="02040503050406030204" pitchFamily="18" charset="0"/>
                              </a:rPr>
                            </m:ctrlPr>
                          </m:sSubPr>
                          <m:e>
                            <m:r>
                              <a:rPr lang="sr-Latn-RS" sz="2800" i="1">
                                <a:latin typeface="Cambria Math" panose="02040503050406030204" pitchFamily="18" charset="0"/>
                                <a:ea typeface="Times New Roman" panose="02020603050405020304" pitchFamily="18" charset="0"/>
                                <a:cs typeface="Times New Roman" panose="02020603050405020304" pitchFamily="18" charset="0"/>
                              </a:rPr>
                              <m:t>𝑥</m:t>
                            </m:r>
                          </m:e>
                          <m:sub>
                            <m:r>
                              <a:rPr lang="sr-Latn-RS" sz="2800" i="1">
                                <a:latin typeface="Cambria Math" panose="02040503050406030204" pitchFamily="18" charset="0"/>
                                <a:ea typeface="Times New Roman" panose="02020603050405020304" pitchFamily="18" charset="0"/>
                                <a:cs typeface="Times New Roman" panose="02020603050405020304" pitchFamily="18" charset="0"/>
                              </a:rPr>
                              <m:t>𝑖</m:t>
                            </m:r>
                          </m:sub>
                        </m:sSub>
                      </m:e>
                    </m:d>
                  </m:oMath>
                </a14:m>
                <a:r>
                  <a:rPr lang="sr-Latn-RS" sz="2800" dirty="0">
                    <a:latin typeface="Cambria" panose="02040503050406030204" pitchFamily="18" charset="0"/>
                    <a:ea typeface="Times New Roman" panose="02020603050405020304" pitchFamily="18" charset="0"/>
                    <a:cs typeface="Times New Roman" panose="02020603050405020304" pitchFamily="18" charset="0"/>
                  </a:rPr>
                  <a:t> </a:t>
                </a:r>
                <a:r>
                  <a:rPr lang="en-ZA" sz="2800" dirty="0"/>
                  <a:t>projection operators onto the eigenspaces</a:t>
                </a:r>
                <a:r>
                  <a:rPr lang="sr-Latn-RS" sz="2800" dirty="0">
                    <a:latin typeface="Cambria" panose="02040503050406030204" pitchFamily="18" charset="0"/>
                    <a:ea typeface="Times New Roman" panose="02020603050405020304" pitchFamily="18" charset="0"/>
                    <a:cs typeface="Times New Roman" panose="02020603050405020304" pitchFamily="18" charset="0"/>
                  </a:rPr>
                  <a:t>.</a:t>
                </a:r>
                <a:r>
                  <a:rPr lang="en-ZA" sz="2800" dirty="0">
                    <a:effectLst/>
                  </a:rPr>
                  <a:t> </a:t>
                </a:r>
                <a:endParaRPr lang="en-US" sz="2800" dirty="0"/>
              </a:p>
            </p:txBody>
          </p:sp>
        </mc:Choice>
        <mc:Fallback xmlns="">
          <p:sp>
            <p:nvSpPr>
              <p:cNvPr id="7" name="Rectangle 6">
                <a:extLst>
                  <a:ext uri="{FF2B5EF4-FFF2-40B4-BE49-F238E27FC236}">
                    <a16:creationId xmlns:a16="http://schemas.microsoft.com/office/drawing/2014/main" id="{8E0D90F5-CAE9-F344-B0B6-85144F554752}"/>
                  </a:ext>
                </a:extLst>
              </p:cNvPr>
              <p:cNvSpPr>
                <a:spLocks noRot="1" noChangeAspect="1" noMove="1" noResize="1" noEditPoints="1" noAdjustHandles="1" noChangeArrowheads="1" noChangeShapeType="1" noTextEdit="1"/>
              </p:cNvSpPr>
              <p:nvPr/>
            </p:nvSpPr>
            <p:spPr>
              <a:xfrm>
                <a:off x="1066799" y="4481876"/>
                <a:ext cx="9753601" cy="1384995"/>
              </a:xfrm>
              <a:prstGeom prst="rect">
                <a:avLst/>
              </a:prstGeom>
              <a:blipFill>
                <a:blip r:embed="rId5"/>
                <a:stretch>
                  <a:fillRect l="-391" t="-3636" b="-10000"/>
                </a:stretch>
              </a:blipFill>
            </p:spPr>
            <p:txBody>
              <a:bodyPr/>
              <a:lstStyle/>
              <a:p>
                <a:r>
                  <a:rPr lang="en-US">
                    <a:noFill/>
                  </a:rPr>
                  <a:t> </a:t>
                </a:r>
              </a:p>
            </p:txBody>
          </p:sp>
        </mc:Fallback>
      </mc:AlternateContent>
    </p:spTree>
    <p:extLst>
      <p:ext uri="{BB962C8B-B14F-4D97-AF65-F5344CB8AC3E}">
        <p14:creationId xmlns:p14="http://schemas.microsoft.com/office/powerpoint/2010/main" val="28276270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D63C12-FB1B-504C-8750-17B608724ABF}"/>
              </a:ext>
            </a:extLst>
          </p:cNvPr>
          <p:cNvSpPr>
            <a:spLocks noGrp="1"/>
          </p:cNvSpPr>
          <p:nvPr>
            <p:ph type="sldNum" sz="quarter" idx="12"/>
          </p:nvPr>
        </p:nvSpPr>
        <p:spPr/>
        <p:txBody>
          <a:bodyPr/>
          <a:lstStyle/>
          <a:p>
            <a:fld id="{591A223C-FA10-BC46-A853-03BA373D023C}" type="slidenum">
              <a:rPr lang="en-US" smtClean="0"/>
              <a:t>55</a:t>
            </a:fld>
            <a:endParaRPr lang="en-US"/>
          </a:p>
        </p:txBody>
      </p:sp>
      <p:sp>
        <p:nvSpPr>
          <p:cNvPr id="3" name="Title 2">
            <a:extLst>
              <a:ext uri="{FF2B5EF4-FFF2-40B4-BE49-F238E27FC236}">
                <a16:creationId xmlns:a16="http://schemas.microsoft.com/office/drawing/2014/main" id="{6260CF8A-4FCD-9A45-A330-BBF9019AC025}"/>
              </a:ext>
            </a:extLst>
          </p:cNvPr>
          <p:cNvSpPr>
            <a:spLocks noGrp="1"/>
          </p:cNvSpPr>
          <p:nvPr>
            <p:ph type="title"/>
          </p:nvPr>
        </p:nvSpPr>
        <p:spPr>
          <a:xfrm>
            <a:off x="0" y="0"/>
            <a:ext cx="12192000" cy="928688"/>
          </a:xfrm>
        </p:spPr>
        <p:txBody>
          <a:bodyPr/>
          <a:lstStyle/>
          <a:p>
            <a:r>
              <a:rPr lang="en-ZA" dirty="0"/>
              <a:t>Spectral decomposition of the Z operator</a:t>
            </a: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39953C6-B995-4144-84FC-F01A06CF52D0}"/>
                  </a:ext>
                </a:extLst>
              </p:cNvPr>
              <p:cNvSpPr txBox="1"/>
              <p:nvPr/>
            </p:nvSpPr>
            <p:spPr>
              <a:xfrm>
                <a:off x="364066" y="1083734"/>
                <a:ext cx="11463868" cy="1703287"/>
              </a:xfrm>
              <a:prstGeom prst="rect">
                <a:avLst/>
              </a:prstGeom>
              <a:noFill/>
            </p:spPr>
            <p:txBody>
              <a:bodyPr wrap="square" rtlCol="0">
                <a:spAutoFit/>
              </a:bodyPr>
              <a:lstStyle/>
              <a:p>
                <a:pPr algn="just">
                  <a:spcAft>
                    <a:spcPts val="1200"/>
                  </a:spcAft>
                </a:pPr>
                <a:r>
                  <a:rPr lang="en-ZA" sz="2400" dirty="0"/>
                  <a:t>Perform the spectral decomposition of the Pauli Z operator, whose eigenvalues and eigenvectors are given as</a:t>
                </a:r>
              </a:p>
              <a:p>
                <a:pPr algn="just">
                  <a:spcAft>
                    <a:spcPts val="800"/>
                  </a:spcAft>
                </a:pPr>
                <a14:m>
                  <m:oMathPara xmlns:m="http://schemas.openxmlformats.org/officeDocument/2006/math">
                    <m:oMathParaPr>
                      <m:jc m:val="centerGroup"/>
                    </m:oMathParaPr>
                    <m:oMath xmlns:m="http://schemas.openxmlformats.org/officeDocument/2006/math">
                      <m:r>
                        <a:rPr lang="sr-Latn-RS" sz="2400" b="0" i="1" smtClean="0">
                          <a:latin typeface="Cambria Math" panose="02040503050406030204" pitchFamily="18" charset="0"/>
                        </a:rPr>
                        <m:t>𝑍</m:t>
                      </m:r>
                      <m:r>
                        <a:rPr lang="sr-Latn-RS" sz="2400">
                          <a:latin typeface="Cambria Math" panose="02040503050406030204" pitchFamily="18" charset="0"/>
                        </a:rPr>
                        <m:t>=</m:t>
                      </m:r>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r>
                                  <m:rPr>
                                    <m:brk m:alnAt="7"/>
                                  </m:rPr>
                                  <a:rPr lang="sr-Latn-RS" sz="2400" b="0" i="0" smtClean="0">
                                    <a:latin typeface="Cambria Math" panose="02040503050406030204" pitchFamily="18" charset="0"/>
                                  </a:rPr>
                                  <m:t>1</m:t>
                                </m:r>
                              </m:e>
                              <m:e>
                                <m:r>
                                  <a:rPr lang="sr-Latn-RS" sz="2400" b="0" i="0" smtClean="0">
                                    <a:latin typeface="Cambria Math" panose="02040503050406030204" pitchFamily="18" charset="0"/>
                                  </a:rPr>
                                  <m:t>0</m:t>
                                </m:r>
                              </m:e>
                            </m:mr>
                            <m:mr>
                              <m:e>
                                <m:r>
                                  <a:rPr lang="sr-Latn-RS" sz="2400" b="0" i="0" smtClean="0">
                                    <a:latin typeface="Cambria Math" panose="02040503050406030204" pitchFamily="18" charset="0"/>
                                  </a:rPr>
                                  <m:t>0</m:t>
                                </m:r>
                              </m:e>
                              <m:e>
                                <m:r>
                                  <a:rPr lang="sr-Latn-RS" sz="2400" b="0" i="0" smtClean="0">
                                    <a:latin typeface="Cambria Math" panose="02040503050406030204" pitchFamily="18" charset="0"/>
                                  </a:rPr>
                                  <m:t>−1</m:t>
                                </m:r>
                              </m:e>
                            </m:mr>
                          </m:m>
                        </m:e>
                      </m:d>
                      <m:r>
                        <a:rPr lang="sr-Latn-RS" sz="2400">
                          <a:latin typeface="Cambria Math" panose="02040503050406030204" pitchFamily="18" charset="0"/>
                        </a:rPr>
                        <m:t>,  </m:t>
                      </m:r>
                      <m:sSub>
                        <m:sSubPr>
                          <m:ctrlPr>
                            <a:rPr lang="en-ZA" sz="2400" i="1">
                              <a:latin typeface="Cambria Math" panose="02040503050406030204" pitchFamily="18" charset="0"/>
                            </a:rPr>
                          </m:ctrlPr>
                        </m:sSubPr>
                        <m:e>
                          <m:r>
                            <a:rPr lang="sr-Latn-RS" sz="2400">
                              <a:latin typeface="Cambria Math" panose="02040503050406030204" pitchFamily="18" charset="0"/>
                            </a:rPr>
                            <m:t>𝜆</m:t>
                          </m:r>
                        </m:e>
                        <m:sub>
                          <m:r>
                            <a:rPr lang="sr-Latn-RS" sz="2400">
                              <a:latin typeface="Cambria Math" panose="02040503050406030204" pitchFamily="18" charset="0"/>
                            </a:rPr>
                            <m:t>1,2</m:t>
                          </m:r>
                        </m:sub>
                      </m:sSub>
                      <m:r>
                        <a:rPr lang="sr-Latn-RS" sz="2400">
                          <a:latin typeface="Cambria Math" panose="02040503050406030204" pitchFamily="18" charset="0"/>
                        </a:rPr>
                        <m:t>=±1,  </m:t>
                      </m:r>
                      <m:d>
                        <m:dPr>
                          <m:begChr m:val="|"/>
                          <m:endChr m:val="⟩"/>
                          <m:ctrlPr>
                            <a:rPr lang="en-ZA" sz="2400" i="1">
                              <a:latin typeface="Cambria Math" panose="02040503050406030204" pitchFamily="18" charset="0"/>
                            </a:rPr>
                          </m:ctrlPr>
                        </m:dPr>
                        <m:e>
                          <m:sSub>
                            <m:sSubPr>
                              <m:ctrlPr>
                                <a:rPr lang="en-ZA" sz="2400" i="1">
                                  <a:latin typeface="Cambria Math" panose="02040503050406030204" pitchFamily="18" charset="0"/>
                                </a:rPr>
                              </m:ctrlPr>
                            </m:sSubPr>
                            <m:e>
                              <m:r>
                                <a:rPr lang="sr-Latn-RS" sz="2400">
                                  <a:latin typeface="Cambria Math" panose="02040503050406030204" pitchFamily="18" charset="0"/>
                                </a:rPr>
                                <m:t>𝑥</m:t>
                              </m:r>
                            </m:e>
                            <m:sub>
                              <m:r>
                                <a:rPr lang="sr-Latn-RS" sz="2400">
                                  <a:latin typeface="Cambria Math" panose="02040503050406030204" pitchFamily="18" charset="0"/>
                                </a:rPr>
                                <m:t>1</m:t>
                              </m:r>
                            </m:sub>
                          </m:sSub>
                        </m:e>
                      </m:d>
                      <m:r>
                        <a:rPr lang="sr-Latn-RS" sz="2400">
                          <a:latin typeface="Cambria Math" panose="02040503050406030204" pitchFamily="18" charset="0"/>
                        </a:rPr>
                        <m:t>=</m:t>
                      </m:r>
                      <m:d>
                        <m:dPr>
                          <m:ctrlPr>
                            <a:rPr lang="en-ZA" sz="2400" i="1">
                              <a:latin typeface="Cambria Math" panose="02040503050406030204" pitchFamily="18" charset="0"/>
                            </a:rPr>
                          </m:ctrlPr>
                        </m:dPr>
                        <m:e>
                          <m:m>
                            <m:mPr>
                              <m:mcs>
                                <m:mc>
                                  <m:mcPr>
                                    <m:count m:val="1"/>
                                    <m:mcJc m:val="center"/>
                                  </m:mcPr>
                                </m:mc>
                              </m:mcs>
                              <m:ctrlPr>
                                <a:rPr lang="en-ZA" sz="2400" i="1">
                                  <a:latin typeface="Cambria Math" panose="02040503050406030204" pitchFamily="18" charset="0"/>
                                </a:rPr>
                              </m:ctrlPr>
                            </m:mPr>
                            <m:mr>
                              <m:e>
                                <m:r>
                                  <m:rPr>
                                    <m:brk m:alnAt="7"/>
                                  </m:rPr>
                                  <a:rPr lang="sr-Latn-RS" sz="2400" b="0" i="0" smtClean="0">
                                    <a:latin typeface="Cambria Math" panose="02040503050406030204" pitchFamily="18" charset="0"/>
                                  </a:rPr>
                                  <m:t>1</m:t>
                                </m:r>
                              </m:e>
                            </m:mr>
                            <m:mr>
                              <m:e>
                                <m:r>
                                  <a:rPr lang="sr-Latn-RS" sz="2400" b="0" i="0" smtClean="0">
                                    <a:latin typeface="Cambria Math" panose="02040503050406030204" pitchFamily="18" charset="0"/>
                                  </a:rPr>
                                  <m:t>0</m:t>
                                </m:r>
                              </m:e>
                            </m:mr>
                          </m:m>
                        </m:e>
                      </m:d>
                      <m:r>
                        <a:rPr lang="sr-Latn-RS" sz="2400" b="0" i="1" smtClean="0">
                          <a:latin typeface="Cambria Math" panose="02040503050406030204" pitchFamily="18" charset="0"/>
                        </a:rPr>
                        <m:t>,  </m:t>
                      </m:r>
                      <m:d>
                        <m:dPr>
                          <m:begChr m:val="|"/>
                          <m:endChr m:val="⟩"/>
                          <m:ctrlPr>
                            <a:rPr lang="en-ZA" sz="2400" i="1">
                              <a:latin typeface="Cambria Math" panose="02040503050406030204" pitchFamily="18" charset="0"/>
                            </a:rPr>
                          </m:ctrlPr>
                        </m:dPr>
                        <m:e>
                          <m:sSub>
                            <m:sSubPr>
                              <m:ctrlPr>
                                <a:rPr lang="en-ZA" sz="2400" i="1">
                                  <a:latin typeface="Cambria Math" panose="02040503050406030204" pitchFamily="18" charset="0"/>
                                </a:rPr>
                              </m:ctrlPr>
                            </m:sSubPr>
                            <m:e>
                              <m:r>
                                <a:rPr lang="sr-Latn-RS" sz="2400">
                                  <a:latin typeface="Cambria Math" panose="02040503050406030204" pitchFamily="18" charset="0"/>
                                </a:rPr>
                                <m:t>𝑥</m:t>
                              </m:r>
                            </m:e>
                            <m:sub>
                              <m:r>
                                <a:rPr lang="sr-Latn-RS" sz="2400" b="0" i="0" smtClean="0">
                                  <a:latin typeface="Cambria Math" panose="02040503050406030204" pitchFamily="18" charset="0"/>
                                </a:rPr>
                                <m:t>2</m:t>
                              </m:r>
                            </m:sub>
                          </m:sSub>
                        </m:e>
                      </m:d>
                      <m:r>
                        <a:rPr lang="sr-Latn-RS" sz="2400">
                          <a:latin typeface="Cambria Math" panose="02040503050406030204" pitchFamily="18" charset="0"/>
                        </a:rPr>
                        <m:t>=</m:t>
                      </m:r>
                      <m:d>
                        <m:dPr>
                          <m:ctrlPr>
                            <a:rPr lang="en-ZA" sz="2400" i="1">
                              <a:latin typeface="Cambria Math" panose="02040503050406030204" pitchFamily="18" charset="0"/>
                            </a:rPr>
                          </m:ctrlPr>
                        </m:dPr>
                        <m:e>
                          <m:m>
                            <m:mPr>
                              <m:mcs>
                                <m:mc>
                                  <m:mcPr>
                                    <m:count m:val="1"/>
                                    <m:mcJc m:val="center"/>
                                  </m:mcPr>
                                </m:mc>
                              </m:mcs>
                              <m:ctrlPr>
                                <a:rPr lang="en-ZA" sz="2400" i="1">
                                  <a:latin typeface="Cambria Math" panose="02040503050406030204" pitchFamily="18" charset="0"/>
                                </a:rPr>
                              </m:ctrlPr>
                            </m:mPr>
                            <m:mr>
                              <m:e>
                                <m:r>
                                  <m:rPr>
                                    <m:brk m:alnAt="7"/>
                                  </m:rPr>
                                  <a:rPr lang="sr-Latn-RS" sz="2400" b="0" i="0" smtClean="0">
                                    <a:latin typeface="Cambria Math" panose="02040503050406030204" pitchFamily="18" charset="0"/>
                                  </a:rPr>
                                  <m:t>0</m:t>
                                </m:r>
                              </m:e>
                            </m:mr>
                            <m:mr>
                              <m:e>
                                <m:r>
                                  <a:rPr lang="sr-Latn-RS" sz="2400" b="0" i="0" smtClean="0">
                                    <a:latin typeface="Cambria Math" panose="02040503050406030204" pitchFamily="18" charset="0"/>
                                  </a:rPr>
                                  <m:t>1</m:t>
                                </m:r>
                              </m:e>
                            </m:mr>
                          </m:m>
                        </m:e>
                      </m:d>
                    </m:oMath>
                  </m:oMathPara>
                </a14:m>
                <a:endParaRPr lang="en-ZA" sz="2400" dirty="0"/>
              </a:p>
            </p:txBody>
          </p:sp>
        </mc:Choice>
        <mc:Fallback xmlns="">
          <p:sp>
            <p:nvSpPr>
              <p:cNvPr id="6" name="TextBox 5">
                <a:extLst>
                  <a:ext uri="{FF2B5EF4-FFF2-40B4-BE49-F238E27FC236}">
                    <a16:creationId xmlns:a16="http://schemas.microsoft.com/office/drawing/2014/main" id="{939953C6-B995-4144-84FC-F01A06CF52D0}"/>
                  </a:ext>
                </a:extLst>
              </p:cNvPr>
              <p:cNvSpPr txBox="1">
                <a:spLocks noRot="1" noChangeAspect="1" noMove="1" noResize="1" noEditPoints="1" noAdjustHandles="1" noChangeArrowheads="1" noChangeShapeType="1" noTextEdit="1"/>
              </p:cNvSpPr>
              <p:nvPr/>
            </p:nvSpPr>
            <p:spPr>
              <a:xfrm>
                <a:off x="364066" y="1083734"/>
                <a:ext cx="11463868" cy="1703287"/>
              </a:xfrm>
              <a:prstGeom prst="rect">
                <a:avLst/>
              </a:prstGeom>
              <a:blipFill>
                <a:blip r:embed="rId3"/>
                <a:stretch>
                  <a:fillRect l="-775" t="-2222" r="-7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0D4E4A6-74E6-814E-9B9E-9478C4673348}"/>
                  </a:ext>
                </a:extLst>
              </p:cNvPr>
              <p:cNvSpPr txBox="1"/>
              <p:nvPr/>
            </p:nvSpPr>
            <p:spPr>
              <a:xfrm>
                <a:off x="575734" y="3420534"/>
                <a:ext cx="11252200" cy="2663743"/>
              </a:xfrm>
              <a:prstGeom prst="rect">
                <a:avLst/>
              </a:prstGeom>
              <a:solidFill>
                <a:schemeClr val="bg1">
                  <a:lumMod val="95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m>
                        <m:mPr>
                          <m:mcs>
                            <m:mc>
                              <m:mcPr>
                                <m:count m:val="2"/>
                                <m:mcJc m:val="center"/>
                              </m:mcPr>
                            </m:mc>
                          </m:mcs>
                          <m:ctrlPr>
                            <a:rPr lang="en-ZA" sz="2400" b="0" i="1" smtClean="0">
                              <a:latin typeface="Cambria Math" panose="02040503050406030204" pitchFamily="18" charset="0"/>
                            </a:rPr>
                          </m:ctrlPr>
                        </m:mPr>
                        <m:mr>
                          <m:e>
                            <m:r>
                              <m:rPr>
                                <m:brk m:alnAt="7"/>
                              </m:rPr>
                              <a:rPr lang="sr-Latn-RS" sz="2400" b="0" i="1" smtClean="0">
                                <a:latin typeface="Cambria Math" panose="02040503050406030204" pitchFamily="18" charset="0"/>
                              </a:rPr>
                              <m:t>𝑍</m:t>
                            </m:r>
                            <m:r>
                              <a:rPr lang="sr-Latn-RS" sz="2400">
                                <a:latin typeface="Cambria Math" panose="02040503050406030204" pitchFamily="18" charset="0"/>
                              </a:rPr>
                              <m:t>=</m:t>
                            </m:r>
                          </m:e>
                          <m:e>
                            <m:nary>
                              <m:naryPr>
                                <m:chr m:val="∑"/>
                                <m:limLoc m:val="undOvr"/>
                                <m:supHide m:val="on"/>
                                <m:ctrlPr>
                                  <a:rPr lang="en-ZA" sz="2400" i="1">
                                    <a:latin typeface="Cambria Math" panose="02040503050406030204" pitchFamily="18" charset="0"/>
                                  </a:rPr>
                                </m:ctrlPr>
                              </m:naryPr>
                              <m:sub>
                                <m:r>
                                  <a:rPr lang="sr-Latn-RS" sz="2400">
                                    <a:latin typeface="Cambria Math" panose="02040503050406030204" pitchFamily="18" charset="0"/>
                                  </a:rPr>
                                  <m:t>𝑖</m:t>
                                </m:r>
                              </m:sub>
                              <m:sup/>
                              <m:e>
                                <m:sSub>
                                  <m:sSubPr>
                                    <m:ctrlPr>
                                      <a:rPr lang="en-ZA" sz="2400" i="1">
                                        <a:latin typeface="Cambria Math" panose="02040503050406030204" pitchFamily="18" charset="0"/>
                                      </a:rPr>
                                    </m:ctrlPr>
                                  </m:sSubPr>
                                  <m:e>
                                    <m:r>
                                      <a:rPr lang="sr-Latn-RS" sz="2400">
                                        <a:latin typeface="Cambria Math" panose="02040503050406030204" pitchFamily="18" charset="0"/>
                                      </a:rPr>
                                      <m:t>𝜆</m:t>
                                    </m:r>
                                  </m:e>
                                  <m:sub>
                                    <m:r>
                                      <a:rPr lang="sr-Latn-RS" sz="2400">
                                        <a:latin typeface="Cambria Math" panose="02040503050406030204" pitchFamily="18" charset="0"/>
                                      </a:rPr>
                                      <m:t>𝑖</m:t>
                                    </m:r>
                                  </m:sub>
                                </m:sSub>
                              </m:e>
                            </m:nary>
                            <m:d>
                              <m:dPr>
                                <m:begChr m:val="|"/>
                                <m:endChr m:val="⟩"/>
                                <m:ctrlPr>
                                  <a:rPr lang="en-ZA" sz="2400" i="1">
                                    <a:latin typeface="Cambria Math" panose="02040503050406030204" pitchFamily="18" charset="0"/>
                                  </a:rPr>
                                </m:ctrlPr>
                              </m:dPr>
                              <m:e>
                                <m:sSub>
                                  <m:sSubPr>
                                    <m:ctrlPr>
                                      <a:rPr lang="en-ZA" sz="2400" i="1">
                                        <a:latin typeface="Cambria Math" panose="02040503050406030204" pitchFamily="18" charset="0"/>
                                      </a:rPr>
                                    </m:ctrlPr>
                                  </m:sSubPr>
                                  <m:e>
                                    <m:r>
                                      <a:rPr lang="sr-Latn-RS" sz="2400">
                                        <a:latin typeface="Cambria Math" panose="02040503050406030204" pitchFamily="18" charset="0"/>
                                      </a:rPr>
                                      <m:t>𝑥</m:t>
                                    </m:r>
                                  </m:e>
                                  <m:sub>
                                    <m:r>
                                      <a:rPr lang="sr-Latn-RS" sz="2400">
                                        <a:latin typeface="Cambria Math" panose="02040503050406030204" pitchFamily="18" charset="0"/>
                                      </a:rPr>
                                      <m:t>𝑖</m:t>
                                    </m:r>
                                  </m:sub>
                                </m:sSub>
                              </m:e>
                            </m:d>
                            <m:d>
                              <m:dPr>
                                <m:begChr m:val="⟨"/>
                                <m:endChr m:val="|"/>
                                <m:ctrlPr>
                                  <a:rPr lang="en-ZA" sz="2400" i="1">
                                    <a:latin typeface="Cambria Math" panose="02040503050406030204" pitchFamily="18" charset="0"/>
                                  </a:rPr>
                                </m:ctrlPr>
                              </m:dPr>
                              <m:e>
                                <m:sSub>
                                  <m:sSubPr>
                                    <m:ctrlPr>
                                      <a:rPr lang="en-ZA" sz="2400" i="1">
                                        <a:latin typeface="Cambria Math" panose="02040503050406030204" pitchFamily="18" charset="0"/>
                                      </a:rPr>
                                    </m:ctrlPr>
                                  </m:sSubPr>
                                  <m:e>
                                    <m:r>
                                      <a:rPr lang="sr-Latn-RS" sz="2400">
                                        <a:latin typeface="Cambria Math" panose="02040503050406030204" pitchFamily="18" charset="0"/>
                                      </a:rPr>
                                      <m:t>𝑥</m:t>
                                    </m:r>
                                  </m:e>
                                  <m:sub>
                                    <m:r>
                                      <a:rPr lang="sr-Latn-RS" sz="2400">
                                        <a:latin typeface="Cambria Math" panose="02040503050406030204" pitchFamily="18" charset="0"/>
                                      </a:rPr>
                                      <m:t>𝑖</m:t>
                                    </m:r>
                                  </m:sub>
                                </m:sSub>
                              </m:e>
                            </m:d>
                          </m:e>
                        </m:mr>
                        <m:mr>
                          <m:e>
                            <m:r>
                              <a:rPr lang="sr-Latn-RS" sz="2400">
                                <a:latin typeface="Cambria Math" panose="02040503050406030204" pitchFamily="18" charset="0"/>
                              </a:rPr>
                              <m:t>=</m:t>
                            </m:r>
                          </m:e>
                          <m:e>
                            <m:r>
                              <a:rPr lang="sr-Latn-RS" sz="2400" b="0" i="1" smtClean="0">
                                <a:latin typeface="Cambria Math" panose="02040503050406030204" pitchFamily="18" charset="0"/>
                              </a:rPr>
                              <m:t>1</m:t>
                            </m:r>
                            <m:d>
                              <m:dPr>
                                <m:ctrlPr>
                                  <a:rPr lang="en-ZA" sz="2400" i="1">
                                    <a:latin typeface="Cambria Math" panose="02040503050406030204" pitchFamily="18" charset="0"/>
                                  </a:rPr>
                                </m:ctrlPr>
                              </m:dPr>
                              <m:e>
                                <m:m>
                                  <m:mPr>
                                    <m:mcs>
                                      <m:mc>
                                        <m:mcPr>
                                          <m:count m:val="1"/>
                                          <m:mcJc m:val="center"/>
                                        </m:mcPr>
                                      </m:mc>
                                    </m:mcs>
                                    <m:ctrlPr>
                                      <a:rPr lang="en-ZA" sz="2400" i="1">
                                        <a:latin typeface="Cambria Math" panose="02040503050406030204" pitchFamily="18" charset="0"/>
                                      </a:rPr>
                                    </m:ctrlPr>
                                  </m:mPr>
                                  <m:mr>
                                    <m:e>
                                      <m:r>
                                        <m:rPr>
                                          <m:brk m:alnAt="7"/>
                                        </m:rPr>
                                        <a:rPr lang="sr-Latn-RS" sz="2400">
                                          <a:latin typeface="Cambria Math" panose="02040503050406030204" pitchFamily="18" charset="0"/>
                                        </a:rPr>
                                        <m:t>1</m:t>
                                      </m:r>
                                    </m:e>
                                  </m:mr>
                                  <m:mr>
                                    <m:e>
                                      <m:r>
                                        <a:rPr lang="sr-Latn-RS" sz="2400">
                                          <a:latin typeface="Cambria Math" panose="02040503050406030204" pitchFamily="18" charset="0"/>
                                        </a:rPr>
                                        <m:t>0</m:t>
                                      </m:r>
                                    </m:e>
                                  </m:mr>
                                </m:m>
                              </m:e>
                            </m:d>
                            <m:d>
                              <m:dPr>
                                <m:ctrlPr>
                                  <a:rPr lang="sr-Latn-RS" sz="2400" i="1" smtClean="0">
                                    <a:latin typeface="Cambria Math" panose="02040503050406030204" pitchFamily="18" charset="0"/>
                                  </a:rPr>
                                </m:ctrlPr>
                              </m:dPr>
                              <m:e>
                                <m:m>
                                  <m:mPr>
                                    <m:mcs>
                                      <m:mc>
                                        <m:mcPr>
                                          <m:count m:val="2"/>
                                          <m:mcJc m:val="center"/>
                                        </m:mcPr>
                                      </m:mc>
                                    </m:mcs>
                                    <m:ctrlPr>
                                      <a:rPr lang="sr-Latn-RS" sz="2400" i="1" smtClean="0">
                                        <a:latin typeface="Cambria Math" panose="02040503050406030204" pitchFamily="18" charset="0"/>
                                      </a:rPr>
                                    </m:ctrlPr>
                                  </m:mPr>
                                  <m:mr>
                                    <m:e>
                                      <m:r>
                                        <m:rPr>
                                          <m:brk m:alnAt="7"/>
                                        </m:rPr>
                                        <a:rPr lang="sr-Latn-RS" sz="2400" b="0" i="1" smtClean="0">
                                          <a:latin typeface="Cambria Math" panose="02040503050406030204" pitchFamily="18" charset="0"/>
                                        </a:rPr>
                                        <m:t>1</m:t>
                                      </m:r>
                                    </m:e>
                                    <m:e>
                                      <m:r>
                                        <a:rPr lang="sr-Latn-RS" sz="2400" b="0" i="1" smtClean="0">
                                          <a:latin typeface="Cambria Math" panose="02040503050406030204" pitchFamily="18" charset="0"/>
                                        </a:rPr>
                                        <m:t>0</m:t>
                                      </m:r>
                                    </m:e>
                                  </m:mr>
                                </m:m>
                              </m:e>
                            </m:d>
                            <m:r>
                              <a:rPr lang="sr-Latn-RS" sz="2400" i="1">
                                <a:latin typeface="Cambria Math" panose="02040503050406030204" pitchFamily="18" charset="0"/>
                              </a:rPr>
                              <m:t>+</m:t>
                            </m:r>
                            <m:d>
                              <m:dPr>
                                <m:ctrlPr>
                                  <a:rPr lang="sr-Latn-RS" sz="2400" i="1">
                                    <a:latin typeface="Cambria Math" panose="02040503050406030204" pitchFamily="18" charset="0"/>
                                  </a:rPr>
                                </m:ctrlPr>
                              </m:dPr>
                              <m:e>
                                <m:r>
                                  <a:rPr lang="sr-Latn-RS" sz="2400" i="1">
                                    <a:latin typeface="Cambria Math" panose="02040503050406030204" pitchFamily="18" charset="0"/>
                                  </a:rPr>
                                  <m:t>−1</m:t>
                                </m:r>
                              </m:e>
                            </m:d>
                            <m:d>
                              <m:dPr>
                                <m:ctrlPr>
                                  <a:rPr lang="en-ZA" sz="2400" i="1">
                                    <a:latin typeface="Cambria Math" panose="02040503050406030204" pitchFamily="18" charset="0"/>
                                  </a:rPr>
                                </m:ctrlPr>
                              </m:dPr>
                              <m:e>
                                <m:m>
                                  <m:mPr>
                                    <m:mcs>
                                      <m:mc>
                                        <m:mcPr>
                                          <m:count m:val="1"/>
                                          <m:mcJc m:val="center"/>
                                        </m:mcPr>
                                      </m:mc>
                                    </m:mcs>
                                    <m:ctrlPr>
                                      <a:rPr lang="en-ZA" sz="2400" i="1">
                                        <a:latin typeface="Cambria Math" panose="02040503050406030204" pitchFamily="18" charset="0"/>
                                      </a:rPr>
                                    </m:ctrlPr>
                                  </m:mPr>
                                  <m:mr>
                                    <m:e>
                                      <m:r>
                                        <m:rPr>
                                          <m:brk m:alnAt="7"/>
                                        </m:rPr>
                                        <a:rPr lang="sr-Latn-RS" sz="2400" b="0" i="0" smtClean="0">
                                          <a:latin typeface="Cambria Math" panose="02040503050406030204" pitchFamily="18" charset="0"/>
                                        </a:rPr>
                                        <m:t>0</m:t>
                                      </m:r>
                                    </m:e>
                                  </m:mr>
                                  <m:mr>
                                    <m:e>
                                      <m:r>
                                        <a:rPr lang="sr-Latn-RS" sz="2400" b="0" i="0" smtClean="0">
                                          <a:latin typeface="Cambria Math" panose="02040503050406030204" pitchFamily="18" charset="0"/>
                                        </a:rPr>
                                        <m:t>1</m:t>
                                      </m:r>
                                    </m:e>
                                  </m:mr>
                                </m:m>
                              </m:e>
                            </m:d>
                            <m:d>
                              <m:dPr>
                                <m:ctrlPr>
                                  <a:rPr lang="sr-Latn-RS" sz="2400" i="1">
                                    <a:latin typeface="Cambria Math" panose="02040503050406030204" pitchFamily="18" charset="0"/>
                                  </a:rPr>
                                </m:ctrlPr>
                              </m:dPr>
                              <m:e>
                                <m:m>
                                  <m:mPr>
                                    <m:mcs>
                                      <m:mc>
                                        <m:mcPr>
                                          <m:count m:val="2"/>
                                          <m:mcJc m:val="center"/>
                                        </m:mcPr>
                                      </m:mc>
                                    </m:mcs>
                                    <m:ctrlPr>
                                      <a:rPr lang="sr-Latn-RS" sz="2400" i="1" smtClean="0">
                                        <a:latin typeface="Cambria Math" panose="02040503050406030204" pitchFamily="18" charset="0"/>
                                      </a:rPr>
                                    </m:ctrlPr>
                                  </m:mPr>
                                  <m:mr>
                                    <m:e>
                                      <m:r>
                                        <m:rPr>
                                          <m:brk m:alnAt="7"/>
                                        </m:rPr>
                                        <a:rPr lang="sr-Latn-RS" sz="2400" b="0" i="1" smtClean="0">
                                          <a:latin typeface="Cambria Math" panose="02040503050406030204" pitchFamily="18" charset="0"/>
                                        </a:rPr>
                                        <m:t>0</m:t>
                                      </m:r>
                                    </m:e>
                                    <m:e>
                                      <m:r>
                                        <a:rPr lang="sr-Latn-RS" sz="2400" b="0" i="1" smtClean="0">
                                          <a:latin typeface="Cambria Math" panose="02040503050406030204" pitchFamily="18" charset="0"/>
                                        </a:rPr>
                                        <m:t>1</m:t>
                                      </m:r>
                                    </m:e>
                                  </m:mr>
                                </m:m>
                              </m:e>
                            </m:d>
                          </m:e>
                        </m:mr>
                        <m:mr>
                          <m:e/>
                          <m:e/>
                        </m:mr>
                        <m:mr>
                          <m:e>
                            <m:r>
                              <a:rPr lang="sr-Latn-RS" sz="2400">
                                <a:latin typeface="Cambria Math" panose="02040503050406030204" pitchFamily="18" charset="0"/>
                              </a:rPr>
                              <m:t>=</m:t>
                            </m:r>
                          </m:e>
                          <m:e>
                            <m:r>
                              <a:rPr lang="sr-Latn-RS" sz="2400" b="0" i="1" smtClean="0">
                                <a:latin typeface="Cambria Math" panose="02040503050406030204" pitchFamily="18" charset="0"/>
                              </a:rPr>
                              <m:t>1</m:t>
                            </m:r>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r>
                                        <m:rPr>
                                          <m:brk m:alnAt="7"/>
                                        </m:rPr>
                                        <a:rPr lang="sr-Latn-RS" sz="2400">
                                          <a:latin typeface="Cambria Math" panose="02040503050406030204" pitchFamily="18" charset="0"/>
                                        </a:rPr>
                                        <m:t>1</m:t>
                                      </m:r>
                                    </m:e>
                                    <m:e>
                                      <m:r>
                                        <a:rPr lang="sr-Latn-RS" sz="2400">
                                          <a:latin typeface="Cambria Math" panose="02040503050406030204" pitchFamily="18" charset="0"/>
                                        </a:rPr>
                                        <m:t>0</m:t>
                                      </m:r>
                                    </m:e>
                                  </m:mr>
                                  <m:mr>
                                    <m:e>
                                      <m:r>
                                        <a:rPr lang="sr-Latn-RS" sz="2400">
                                          <a:latin typeface="Cambria Math" panose="02040503050406030204" pitchFamily="18" charset="0"/>
                                        </a:rPr>
                                        <m:t>0</m:t>
                                      </m:r>
                                    </m:e>
                                    <m:e>
                                      <m:r>
                                        <a:rPr lang="sr-Latn-RS" sz="2400" b="0" i="0" smtClean="0">
                                          <a:latin typeface="Cambria Math" panose="02040503050406030204" pitchFamily="18" charset="0"/>
                                        </a:rPr>
                                        <m:t>0</m:t>
                                      </m:r>
                                    </m:e>
                                  </m:mr>
                                </m:m>
                              </m:e>
                            </m:d>
                            <m:r>
                              <a:rPr lang="sr-Latn-RS" sz="2400" b="0" i="1" smtClean="0">
                                <a:latin typeface="Cambria Math" panose="02040503050406030204" pitchFamily="18" charset="0"/>
                              </a:rPr>
                              <m:t>+</m:t>
                            </m:r>
                            <m:d>
                              <m:dPr>
                                <m:ctrlPr>
                                  <a:rPr lang="sr-Latn-RS" sz="2400" b="0" i="1" smtClean="0">
                                    <a:latin typeface="Cambria Math" panose="02040503050406030204" pitchFamily="18" charset="0"/>
                                  </a:rPr>
                                </m:ctrlPr>
                              </m:dPr>
                              <m:e>
                                <m:r>
                                  <a:rPr lang="sr-Latn-RS" sz="2400" b="0" i="1" smtClean="0">
                                    <a:latin typeface="Cambria Math" panose="02040503050406030204" pitchFamily="18" charset="0"/>
                                  </a:rPr>
                                  <m:t>−1</m:t>
                                </m:r>
                              </m:e>
                            </m:d>
                            <m:d>
                              <m:dPr>
                                <m:ctrlPr>
                                  <a:rPr lang="en-ZA" sz="2400" i="1">
                                    <a:latin typeface="Cambria Math" panose="02040503050406030204" pitchFamily="18" charset="0"/>
                                  </a:rPr>
                                </m:ctrlPr>
                              </m:dPr>
                              <m:e>
                                <m:m>
                                  <m:mPr>
                                    <m:mcs>
                                      <m:mc>
                                        <m:mcPr>
                                          <m:count m:val="2"/>
                                          <m:mcJc m:val="center"/>
                                        </m:mcPr>
                                      </m:mc>
                                    </m:mcs>
                                    <m:ctrlPr>
                                      <a:rPr lang="en-ZA" sz="2400" i="1">
                                        <a:latin typeface="Cambria Math" panose="02040503050406030204" pitchFamily="18" charset="0"/>
                                      </a:rPr>
                                    </m:ctrlPr>
                                  </m:mPr>
                                  <m:mr>
                                    <m:e>
                                      <m:r>
                                        <m:rPr>
                                          <m:brk m:alnAt="7"/>
                                        </m:rPr>
                                        <a:rPr lang="sr-Latn-RS" sz="2400" b="0" i="0" smtClean="0">
                                          <a:latin typeface="Cambria Math" panose="02040503050406030204" pitchFamily="18" charset="0"/>
                                        </a:rPr>
                                        <m:t>0</m:t>
                                      </m:r>
                                    </m:e>
                                    <m:e>
                                      <m:r>
                                        <a:rPr lang="sr-Latn-RS" sz="2400">
                                          <a:latin typeface="Cambria Math" panose="02040503050406030204" pitchFamily="18" charset="0"/>
                                        </a:rPr>
                                        <m:t>0</m:t>
                                      </m:r>
                                    </m:e>
                                  </m:mr>
                                  <m:mr>
                                    <m:e>
                                      <m:r>
                                        <a:rPr lang="sr-Latn-RS" sz="2400">
                                          <a:latin typeface="Cambria Math" panose="02040503050406030204" pitchFamily="18" charset="0"/>
                                        </a:rPr>
                                        <m:t>0</m:t>
                                      </m:r>
                                    </m:e>
                                    <m:e>
                                      <m:r>
                                        <a:rPr lang="sr-Latn-RS" sz="2400" b="0" i="0" smtClean="0">
                                          <a:latin typeface="Cambria Math" panose="02040503050406030204" pitchFamily="18" charset="0"/>
                                        </a:rPr>
                                        <m:t>1</m:t>
                                      </m:r>
                                    </m:e>
                                  </m:mr>
                                </m:m>
                              </m:e>
                            </m:d>
                          </m:e>
                        </m:mr>
                      </m:m>
                    </m:oMath>
                  </m:oMathPara>
                </a14:m>
                <a:endParaRPr lang="en-US" sz="2400" dirty="0"/>
              </a:p>
            </p:txBody>
          </p:sp>
        </mc:Choice>
        <mc:Fallback xmlns="">
          <p:sp>
            <p:nvSpPr>
              <p:cNvPr id="7" name="TextBox 6">
                <a:extLst>
                  <a:ext uri="{FF2B5EF4-FFF2-40B4-BE49-F238E27FC236}">
                    <a16:creationId xmlns:a16="http://schemas.microsoft.com/office/drawing/2014/main" id="{00D4E4A6-74E6-814E-9B9E-9478C4673348}"/>
                  </a:ext>
                </a:extLst>
              </p:cNvPr>
              <p:cNvSpPr txBox="1">
                <a:spLocks noRot="1" noChangeAspect="1" noMove="1" noResize="1" noEditPoints="1" noAdjustHandles="1" noChangeArrowheads="1" noChangeShapeType="1" noTextEdit="1"/>
              </p:cNvSpPr>
              <p:nvPr/>
            </p:nvSpPr>
            <p:spPr>
              <a:xfrm>
                <a:off x="575734" y="3420534"/>
                <a:ext cx="11252200" cy="2663743"/>
              </a:xfrm>
              <a:prstGeom prst="rect">
                <a:avLst/>
              </a:prstGeom>
              <a:blipFill>
                <a:blip r:embed="rId4"/>
                <a:stretch>
                  <a:fillRect t="-47867" b="-4739"/>
                </a:stretch>
              </a:blipFill>
            </p:spPr>
            <p:txBody>
              <a:bodyPr/>
              <a:lstStyle/>
              <a:p>
                <a:r>
                  <a:rPr lang="en-US">
                    <a:noFill/>
                  </a:rPr>
                  <a:t> </a:t>
                </a:r>
              </a:p>
            </p:txBody>
          </p:sp>
        </mc:Fallback>
      </mc:AlternateContent>
    </p:spTree>
    <p:extLst>
      <p:ext uri="{BB962C8B-B14F-4D97-AF65-F5344CB8AC3E}">
        <p14:creationId xmlns:p14="http://schemas.microsoft.com/office/powerpoint/2010/main" val="24525270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20F1492-2513-8441-83A1-24EF508E2B3A}"/>
              </a:ext>
            </a:extLst>
          </p:cNvPr>
          <p:cNvPicPr>
            <a:picLocks noChangeAspect="1"/>
          </p:cNvPicPr>
          <p:nvPr/>
        </p:nvPicPr>
        <p:blipFill>
          <a:blip r:embed="rId3"/>
          <a:stretch>
            <a:fillRect/>
          </a:stretch>
        </p:blipFill>
        <p:spPr>
          <a:xfrm>
            <a:off x="4640040" y="0"/>
            <a:ext cx="6502400" cy="5981700"/>
          </a:xfrm>
          <a:prstGeom prst="rect">
            <a:avLst/>
          </a:prstGeom>
        </p:spPr>
      </p:pic>
      <p:sp>
        <p:nvSpPr>
          <p:cNvPr id="2" name="Slide Number Placeholder 1">
            <a:extLst>
              <a:ext uri="{FF2B5EF4-FFF2-40B4-BE49-F238E27FC236}">
                <a16:creationId xmlns:a16="http://schemas.microsoft.com/office/drawing/2014/main" id="{8813459A-911B-9041-B8E6-120F4EA39363}"/>
              </a:ext>
            </a:extLst>
          </p:cNvPr>
          <p:cNvSpPr>
            <a:spLocks noGrp="1"/>
          </p:cNvSpPr>
          <p:nvPr>
            <p:ph type="sldNum" sz="quarter" idx="12"/>
          </p:nvPr>
        </p:nvSpPr>
        <p:spPr/>
        <p:txBody>
          <a:bodyPr/>
          <a:lstStyle/>
          <a:p>
            <a:fld id="{591A223C-FA10-BC46-A853-03BA373D023C}" type="slidenum">
              <a:rPr lang="en-US" smtClean="0"/>
              <a:t>56</a:t>
            </a:fld>
            <a:endParaRPr lang="en-US"/>
          </a:p>
        </p:txBody>
      </p:sp>
      <p:sp>
        <p:nvSpPr>
          <p:cNvPr id="3" name="Title 2">
            <a:extLst>
              <a:ext uri="{FF2B5EF4-FFF2-40B4-BE49-F238E27FC236}">
                <a16:creationId xmlns:a16="http://schemas.microsoft.com/office/drawing/2014/main" id="{EDAC2124-1840-5A42-9FE3-BA63C08C0C61}"/>
              </a:ext>
            </a:extLst>
          </p:cNvPr>
          <p:cNvSpPr>
            <a:spLocks noGrp="1"/>
          </p:cNvSpPr>
          <p:nvPr>
            <p:ph type="title"/>
          </p:nvPr>
        </p:nvSpPr>
        <p:spPr>
          <a:xfrm>
            <a:off x="0" y="0"/>
            <a:ext cx="12192000" cy="928688"/>
          </a:xfrm>
        </p:spPr>
        <p:txBody>
          <a:bodyPr/>
          <a:lstStyle/>
          <a:p>
            <a:r>
              <a:rPr lang="en-ZA" dirty="0"/>
              <a:t>Boolean algebra</a:t>
            </a:r>
            <a:endParaRPr lang="en-US" dirty="0"/>
          </a:p>
        </p:txBody>
      </p:sp>
      <p:sp>
        <p:nvSpPr>
          <p:cNvPr id="6" name="TextBox 5">
            <a:extLst>
              <a:ext uri="{FF2B5EF4-FFF2-40B4-BE49-F238E27FC236}">
                <a16:creationId xmlns:a16="http://schemas.microsoft.com/office/drawing/2014/main" id="{44774DD0-8BE9-8148-AEE1-99A5985199C8}"/>
              </a:ext>
            </a:extLst>
          </p:cNvPr>
          <p:cNvSpPr txBox="1"/>
          <p:nvPr/>
        </p:nvSpPr>
        <p:spPr>
          <a:xfrm>
            <a:off x="628089" y="5450679"/>
            <a:ext cx="3861570" cy="461665"/>
          </a:xfrm>
          <a:prstGeom prst="rect">
            <a:avLst/>
          </a:prstGeom>
          <a:noFill/>
        </p:spPr>
        <p:txBody>
          <a:bodyPr wrap="none" rtlCol="0">
            <a:spAutoFit/>
          </a:bodyPr>
          <a:lstStyle/>
          <a:p>
            <a:pPr algn="ctr"/>
            <a:r>
              <a:rPr lang="en-ZA" sz="2400" dirty="0"/>
              <a:t>George Boole</a:t>
            </a:r>
            <a:r>
              <a:rPr lang="en-US" sz="2400" dirty="0"/>
              <a:t> (1815 — 1864</a:t>
            </a:r>
            <a:r>
              <a:rPr lang="en-US" sz="2400"/>
              <a:t>) </a:t>
            </a:r>
            <a:endParaRPr lang="en-US" sz="2400" dirty="0"/>
          </a:p>
        </p:txBody>
      </p:sp>
      <p:pic>
        <p:nvPicPr>
          <p:cNvPr id="5" name="Picture 4">
            <a:extLst>
              <a:ext uri="{FF2B5EF4-FFF2-40B4-BE49-F238E27FC236}">
                <a16:creationId xmlns:a16="http://schemas.microsoft.com/office/drawing/2014/main" id="{477E30BC-19B7-EF4C-A246-AFCCEB80FA29}"/>
              </a:ext>
            </a:extLst>
          </p:cNvPr>
          <p:cNvPicPr>
            <a:picLocks noChangeAspect="1"/>
          </p:cNvPicPr>
          <p:nvPr/>
        </p:nvPicPr>
        <p:blipFill>
          <a:blip r:embed="rId4"/>
          <a:stretch>
            <a:fillRect/>
          </a:stretch>
        </p:blipFill>
        <p:spPr>
          <a:xfrm flipH="1">
            <a:off x="664471" y="1051605"/>
            <a:ext cx="3788805" cy="4399074"/>
          </a:xfrm>
          <a:prstGeom prst="rect">
            <a:avLst/>
          </a:prstGeom>
        </p:spPr>
      </p:pic>
    </p:spTree>
    <p:extLst>
      <p:ext uri="{BB962C8B-B14F-4D97-AF65-F5344CB8AC3E}">
        <p14:creationId xmlns:p14="http://schemas.microsoft.com/office/powerpoint/2010/main" val="17414435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D904F0-ED01-9449-AE2E-1B1DB3CF1F52}"/>
              </a:ext>
            </a:extLst>
          </p:cNvPr>
          <p:cNvSpPr>
            <a:spLocks noGrp="1"/>
          </p:cNvSpPr>
          <p:nvPr>
            <p:ph type="sldNum" sz="quarter" idx="12"/>
          </p:nvPr>
        </p:nvSpPr>
        <p:spPr/>
        <p:txBody>
          <a:bodyPr/>
          <a:lstStyle/>
          <a:p>
            <a:fld id="{591A223C-FA10-BC46-A853-03BA373D023C}" type="slidenum">
              <a:rPr lang="en-US" smtClean="0"/>
              <a:t>57</a:t>
            </a:fld>
            <a:endParaRPr lang="en-US"/>
          </a:p>
        </p:txBody>
      </p:sp>
      <p:sp>
        <p:nvSpPr>
          <p:cNvPr id="3" name="Title 2">
            <a:extLst>
              <a:ext uri="{FF2B5EF4-FFF2-40B4-BE49-F238E27FC236}">
                <a16:creationId xmlns:a16="http://schemas.microsoft.com/office/drawing/2014/main" id="{FE9CE088-0AA0-4E4F-B6DC-72FF4043B362}"/>
              </a:ext>
            </a:extLst>
          </p:cNvPr>
          <p:cNvSpPr>
            <a:spLocks noGrp="1"/>
          </p:cNvSpPr>
          <p:nvPr>
            <p:ph type="title"/>
          </p:nvPr>
        </p:nvSpPr>
        <p:spPr>
          <a:xfrm>
            <a:off x="0" y="0"/>
            <a:ext cx="12192000" cy="928688"/>
          </a:xfrm>
        </p:spPr>
        <p:txBody>
          <a:bodyPr/>
          <a:lstStyle/>
          <a:p>
            <a:r>
              <a:rPr lang="en-ZA" dirty="0"/>
              <a:t>Basics of Boolean algebra</a:t>
            </a:r>
            <a:endParaRPr lang="en-US"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1F1431A-4BF6-2D48-A06B-4FAEFE8B01C9}"/>
                  </a:ext>
                </a:extLst>
              </p:cNvPr>
              <p:cNvGraphicFramePr>
                <a:graphicFrameLocks noGrp="1"/>
              </p:cNvGraphicFramePr>
              <p:nvPr>
                <p:extLst>
                  <p:ext uri="{D42A27DB-BD31-4B8C-83A1-F6EECF244321}">
                    <p14:modId xmlns:p14="http://schemas.microsoft.com/office/powerpoint/2010/main" val="1200363401"/>
                  </p:ext>
                </p:extLst>
              </p:nvPr>
            </p:nvGraphicFramePr>
            <p:xfrm>
              <a:off x="401606" y="1698191"/>
              <a:ext cx="11083079" cy="2171319"/>
            </p:xfrm>
            <a:graphic>
              <a:graphicData uri="http://schemas.openxmlformats.org/drawingml/2006/table">
                <a:tbl>
                  <a:tblPr firstRow="1" firstCol="1" bandRow="1">
                    <a:tableStyleId>{5C22544A-7EE6-4342-B048-85BDC9FD1C3A}</a:tableStyleId>
                  </a:tblPr>
                  <a:tblGrid>
                    <a:gridCol w="3043133">
                      <a:extLst>
                        <a:ext uri="{9D8B030D-6E8A-4147-A177-3AD203B41FA5}">
                          <a16:colId xmlns:a16="http://schemas.microsoft.com/office/drawing/2014/main" val="4161782026"/>
                        </a:ext>
                      </a:extLst>
                    </a:gridCol>
                    <a:gridCol w="4472247">
                      <a:extLst>
                        <a:ext uri="{9D8B030D-6E8A-4147-A177-3AD203B41FA5}">
                          <a16:colId xmlns:a16="http://schemas.microsoft.com/office/drawing/2014/main" val="512158711"/>
                        </a:ext>
                      </a:extLst>
                    </a:gridCol>
                    <a:gridCol w="3567699">
                      <a:extLst>
                        <a:ext uri="{9D8B030D-6E8A-4147-A177-3AD203B41FA5}">
                          <a16:colId xmlns:a16="http://schemas.microsoft.com/office/drawing/2014/main" val="761353228"/>
                        </a:ext>
                      </a:extLst>
                    </a:gridCol>
                  </a:tblGrid>
                  <a:tr h="0">
                    <a:tc>
                      <a:txBody>
                        <a:bodyPr/>
                        <a:lstStyle/>
                        <a:p>
                          <a:pPr algn="ctr">
                            <a:spcBef>
                              <a:spcPts val="225"/>
                            </a:spcBef>
                            <a:spcAft>
                              <a:spcPts val="225"/>
                            </a:spcAft>
                          </a:pPr>
                          <a:r>
                            <a:rPr lang="en-ZA" sz="2800" b="0" dirty="0"/>
                            <a:t>Operations</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225"/>
                            </a:spcBef>
                            <a:spcAft>
                              <a:spcPts val="225"/>
                            </a:spcAft>
                          </a:pPr>
                          <a:r>
                            <a:rPr lang="sr-Latn-RS" sz="2800" b="0" dirty="0">
                              <a:effectLst/>
                            </a:rPr>
                            <a:t>alt. </a:t>
                          </a:r>
                          <a:r>
                            <a:rPr lang="sr-Latn-RS" sz="2800" b="0" dirty="0" err="1">
                              <a:effectLst/>
                            </a:rPr>
                            <a:t>name</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225"/>
                            </a:spcBef>
                            <a:spcAft>
                              <a:spcPts val="225"/>
                            </a:spcAft>
                          </a:pPr>
                          <a:r>
                            <a:rPr lang="sr-Latn-RS" sz="2800" b="0">
                              <a:effectLst/>
                            </a:rPr>
                            <a:t>Operator</a:t>
                          </a:r>
                          <a:endParaRPr lang="en-ZA" sz="2800" b="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358223958"/>
                      </a:ext>
                    </a:extLst>
                  </a:tr>
                  <a:tr h="0">
                    <a:tc>
                      <a:txBody>
                        <a:bodyPr/>
                        <a:lstStyle/>
                        <a:p>
                          <a:pPr algn="ctr">
                            <a:spcBef>
                              <a:spcPts val="225"/>
                            </a:spcBef>
                            <a:spcAft>
                              <a:spcPts val="225"/>
                            </a:spcAft>
                            <a:tabLst>
                              <a:tab pos="398145" algn="l"/>
                            </a:tabLst>
                          </a:pPr>
                          <a:r>
                            <a:rPr lang="sr-Latn-RS" sz="2800" b="0" dirty="0">
                              <a:effectLst/>
                              <a:latin typeface="Cambria" panose="02040503050406030204" pitchFamily="18" charset="0"/>
                              <a:ea typeface="Times New Roman" panose="02020603050405020304" pitchFamily="18" charset="0"/>
                              <a:cs typeface="Times New Roman" panose="02020603050405020304" pitchFamily="18" charset="0"/>
                            </a:rPr>
                            <a:t>AND</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225"/>
                            </a:spcBef>
                            <a:spcAft>
                              <a:spcPts val="225"/>
                            </a:spcAft>
                            <a:tabLst>
                              <a:tab pos="398145" algn="l"/>
                            </a:tabLst>
                          </a:pPr>
                          <a:r>
                            <a:rPr lang="en-ZA" sz="2800" b="0" dirty="0"/>
                            <a:t>conjunction</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225"/>
                            </a:spcBef>
                            <a:spcAft>
                              <a:spcPts val="225"/>
                            </a:spcAft>
                            <a:tabLst>
                              <a:tab pos="398145" algn="l"/>
                            </a:tabLst>
                          </a:pPr>
                          <a14:m>
                            <m:oMath xmlns:m="http://schemas.openxmlformats.org/officeDocument/2006/math">
                              <m:r>
                                <a:rPr lang="sr-Latn-RS" sz="2800" b="0">
                                  <a:effectLst/>
                                  <a:latin typeface="Cambria Math" panose="02040503050406030204" pitchFamily="18" charset="0"/>
                                </a:rPr>
                                <m:t>∧</m:t>
                              </m:r>
                            </m:oMath>
                          </a14:m>
                          <a:r>
                            <a:rPr lang="sr-Latn-RS" sz="2800" b="0" dirty="0">
                              <a:effectLst/>
                            </a:rPr>
                            <a:t>  </a:t>
                          </a:r>
                          <a14:m>
                            <m:oMath xmlns:m="http://schemas.openxmlformats.org/officeDocument/2006/math">
                              <m:r>
                                <a:rPr lang="sr-Latn-RS" sz="2800" b="0">
                                  <a:effectLst/>
                                  <a:latin typeface="Cambria Math" panose="02040503050406030204" pitchFamily="18" charset="0"/>
                                </a:rPr>
                                <m:t>∙</m:t>
                              </m:r>
                            </m:oMath>
                          </a14:m>
                          <a:r>
                            <a:rPr lang="sr-Latn-RS" sz="2800" b="0" dirty="0">
                              <a:effectLst/>
                            </a:rPr>
                            <a:t>  AND</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749101665"/>
                      </a:ext>
                    </a:extLst>
                  </a:tr>
                  <a:tr h="135890">
                    <a:tc>
                      <a:txBody>
                        <a:bodyPr/>
                        <a:lstStyle/>
                        <a:p>
                          <a:pPr algn="ctr">
                            <a:spcBef>
                              <a:spcPts val="225"/>
                            </a:spcBef>
                            <a:spcAft>
                              <a:spcPts val="225"/>
                            </a:spcAft>
                            <a:tabLst>
                              <a:tab pos="398145" algn="l"/>
                            </a:tabLst>
                          </a:pPr>
                          <a:r>
                            <a:rPr lang="sr-Latn-RS" sz="2800" b="0" dirty="0">
                              <a:effectLst/>
                            </a:rPr>
                            <a:t>OR</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225"/>
                            </a:spcBef>
                            <a:spcAft>
                              <a:spcPts val="225"/>
                            </a:spcAft>
                            <a:tabLst>
                              <a:tab pos="398145" algn="l"/>
                            </a:tabLst>
                          </a:pPr>
                          <a:r>
                            <a:rPr lang="en-ZA" sz="2800" b="0" dirty="0"/>
                            <a:t>disjunction</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225"/>
                            </a:spcBef>
                            <a:spcAft>
                              <a:spcPts val="225"/>
                            </a:spcAft>
                            <a:tabLst>
                              <a:tab pos="398145" algn="l"/>
                            </a:tabLst>
                          </a:pPr>
                          <a14:m>
                            <m:oMath xmlns:m="http://schemas.openxmlformats.org/officeDocument/2006/math">
                              <m:r>
                                <a:rPr lang="sr-Latn-RS" sz="2800" b="0">
                                  <a:effectLst/>
                                  <a:latin typeface="Cambria Math" panose="02040503050406030204" pitchFamily="18" charset="0"/>
                                </a:rPr>
                                <m:t>∨</m:t>
                              </m:r>
                            </m:oMath>
                          </a14:m>
                          <a:r>
                            <a:rPr lang="sr-Latn-RS" sz="2800" b="0" dirty="0">
                              <a:effectLst/>
                            </a:rPr>
                            <a:t> </a:t>
                          </a:r>
                          <a14:m>
                            <m:oMath xmlns:m="http://schemas.openxmlformats.org/officeDocument/2006/math">
                              <m:r>
                                <a:rPr lang="sr-Latn-RS" sz="2800" b="0">
                                  <a:effectLst/>
                                  <a:latin typeface="Cambria Math" panose="02040503050406030204" pitchFamily="18" charset="0"/>
                                </a:rPr>
                                <m:t>+</m:t>
                              </m:r>
                            </m:oMath>
                          </a14:m>
                          <a:r>
                            <a:rPr lang="sr-Latn-RS" sz="2800" b="0" dirty="0">
                              <a:effectLst/>
                            </a:rPr>
                            <a:t>  OR</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110323875"/>
                      </a:ext>
                    </a:extLst>
                  </a:tr>
                  <a:tr h="0">
                    <a:tc>
                      <a:txBody>
                        <a:bodyPr/>
                        <a:lstStyle/>
                        <a:p>
                          <a:pPr algn="ctr">
                            <a:spcBef>
                              <a:spcPts val="225"/>
                            </a:spcBef>
                            <a:spcAft>
                              <a:spcPts val="225"/>
                            </a:spcAft>
                            <a:tabLst>
                              <a:tab pos="398145" algn="l"/>
                            </a:tabLst>
                          </a:pPr>
                          <a:r>
                            <a:rPr lang="sr-Latn-RS" sz="2800" b="0" dirty="0">
                              <a:effectLst/>
                            </a:rPr>
                            <a:t>NOT</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225"/>
                            </a:spcBef>
                            <a:spcAft>
                              <a:spcPts val="225"/>
                            </a:spcAft>
                            <a:tabLst>
                              <a:tab pos="398145" algn="l"/>
                            </a:tabLst>
                          </a:pPr>
                          <a:r>
                            <a:rPr lang="en-ZA" sz="2800" b="0" dirty="0"/>
                            <a:t>negation</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225"/>
                            </a:spcBef>
                            <a:spcAft>
                              <a:spcPts val="225"/>
                            </a:spcAft>
                          </a:pPr>
                          <a14:m>
                            <m:oMath xmlns:m="http://schemas.openxmlformats.org/officeDocument/2006/math">
                              <m:r>
                                <a:rPr lang="sr-Latn-RS" sz="2800" b="0">
                                  <a:effectLst/>
                                  <a:latin typeface="Cambria Math" panose="02040503050406030204" pitchFamily="18" charset="0"/>
                                </a:rPr>
                                <m:t>¬</m:t>
                              </m:r>
                            </m:oMath>
                          </a14:m>
                          <a:r>
                            <a:rPr lang="sr-Latn-RS" sz="2800" b="0" dirty="0">
                              <a:effectLst/>
                            </a:rPr>
                            <a:t>  </a:t>
                          </a:r>
                          <a14:m>
                            <m:oMath xmlns:m="http://schemas.openxmlformats.org/officeDocument/2006/math">
                              <m:r>
                                <a:rPr lang="sr-Latn-RS" sz="2800" b="0">
                                  <a:effectLst/>
                                  <a:latin typeface="Cambria Math" panose="02040503050406030204" pitchFamily="18" charset="0"/>
                                </a:rPr>
                                <m:t>`</m:t>
                              </m:r>
                            </m:oMath>
                          </a14:m>
                          <a:r>
                            <a:rPr lang="sr-Latn-RS" sz="2800" b="0" dirty="0">
                              <a:effectLst/>
                            </a:rPr>
                            <a:t> </a:t>
                          </a:r>
                          <a14:m>
                            <m:oMath xmlns:m="http://schemas.openxmlformats.org/officeDocument/2006/math">
                              <m:acc>
                                <m:accPr>
                                  <m:chr m:val="̅"/>
                                  <m:ctrlPr>
                                    <a:rPr lang="en-ZA" sz="2800" b="0" i="1">
                                      <a:effectLst/>
                                      <a:latin typeface="Cambria Math" panose="02040503050406030204" pitchFamily="18" charset="0"/>
                                    </a:rPr>
                                  </m:ctrlPr>
                                </m:accPr>
                                <m:e/>
                              </m:acc>
                            </m:oMath>
                          </a14:m>
                          <a:r>
                            <a:rPr lang="sr-Latn-RS" sz="2800" b="0" dirty="0">
                              <a:effectLst/>
                            </a:rPr>
                            <a:t> NOT</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932969916"/>
                      </a:ext>
                    </a:extLst>
                  </a:tr>
                  <a:tr h="135890">
                    <a:tc>
                      <a:txBody>
                        <a:bodyPr/>
                        <a:lstStyle/>
                        <a:p>
                          <a:pPr algn="ctr">
                            <a:spcBef>
                              <a:spcPts val="225"/>
                            </a:spcBef>
                            <a:spcAft>
                              <a:spcPts val="225"/>
                            </a:spcAft>
                            <a:tabLst>
                              <a:tab pos="398145" algn="l"/>
                            </a:tabLst>
                          </a:pPr>
                          <a:r>
                            <a:rPr lang="en-ZA" sz="2800" b="0" dirty="0"/>
                            <a:t>exclusive</a:t>
                          </a:r>
                          <a:r>
                            <a:rPr lang="sr-Latn-RS" sz="2800" b="0" dirty="0">
                              <a:effectLst/>
                            </a:rPr>
                            <a:t> OR</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225"/>
                            </a:spcBef>
                            <a:spcAft>
                              <a:spcPts val="225"/>
                            </a:spcAft>
                            <a:tabLst>
                              <a:tab pos="398145" algn="l"/>
                            </a:tabLst>
                          </a:pPr>
                          <a:r>
                            <a:rPr lang="en-ZA" sz="2800" b="0" dirty="0"/>
                            <a:t>exclusive disjunction</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225"/>
                            </a:spcBef>
                            <a:spcAft>
                              <a:spcPts val="225"/>
                            </a:spcAft>
                            <a:tabLst>
                              <a:tab pos="398145" algn="l"/>
                            </a:tabLst>
                          </a:pPr>
                          <a14:m>
                            <m:oMath xmlns:m="http://schemas.openxmlformats.org/officeDocument/2006/math">
                              <m:r>
                                <a:rPr lang="sr-Latn-RS" sz="2800" b="0">
                                  <a:effectLst/>
                                  <a:latin typeface="Cambria Math" panose="02040503050406030204" pitchFamily="18" charset="0"/>
                                </a:rPr>
                                <m:t>⊕</m:t>
                              </m:r>
                            </m:oMath>
                          </a14:m>
                          <a:r>
                            <a:rPr lang="sr-Latn-RS" sz="2800" b="0" dirty="0">
                              <a:effectLst/>
                            </a:rPr>
                            <a:t>  XOR</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69809893"/>
                      </a:ext>
                    </a:extLst>
                  </a:tr>
                </a:tbl>
              </a:graphicData>
            </a:graphic>
          </p:graphicFrame>
        </mc:Choice>
        <mc:Fallback xmlns="">
          <p:graphicFrame>
            <p:nvGraphicFramePr>
              <p:cNvPr id="4" name="Table 3">
                <a:extLst>
                  <a:ext uri="{FF2B5EF4-FFF2-40B4-BE49-F238E27FC236}">
                    <a16:creationId xmlns:a16="http://schemas.microsoft.com/office/drawing/2014/main" id="{91F1431A-4BF6-2D48-A06B-4FAEFE8B01C9}"/>
                  </a:ext>
                </a:extLst>
              </p:cNvPr>
              <p:cNvGraphicFramePr>
                <a:graphicFrameLocks noGrp="1"/>
              </p:cNvGraphicFramePr>
              <p:nvPr>
                <p:extLst>
                  <p:ext uri="{D42A27DB-BD31-4B8C-83A1-F6EECF244321}">
                    <p14:modId xmlns:p14="http://schemas.microsoft.com/office/powerpoint/2010/main" val="1200363401"/>
                  </p:ext>
                </p:extLst>
              </p:nvPr>
            </p:nvGraphicFramePr>
            <p:xfrm>
              <a:off x="401606" y="1698191"/>
              <a:ext cx="11083079" cy="2171319"/>
            </p:xfrm>
            <a:graphic>
              <a:graphicData uri="http://schemas.openxmlformats.org/drawingml/2006/table">
                <a:tbl>
                  <a:tblPr firstRow="1" firstCol="1" bandRow="1">
                    <a:tableStyleId>{5C22544A-7EE6-4342-B048-85BDC9FD1C3A}</a:tableStyleId>
                  </a:tblPr>
                  <a:tblGrid>
                    <a:gridCol w="3043133">
                      <a:extLst>
                        <a:ext uri="{9D8B030D-6E8A-4147-A177-3AD203B41FA5}">
                          <a16:colId xmlns:a16="http://schemas.microsoft.com/office/drawing/2014/main" val="4161782026"/>
                        </a:ext>
                      </a:extLst>
                    </a:gridCol>
                    <a:gridCol w="4472247">
                      <a:extLst>
                        <a:ext uri="{9D8B030D-6E8A-4147-A177-3AD203B41FA5}">
                          <a16:colId xmlns:a16="http://schemas.microsoft.com/office/drawing/2014/main" val="512158711"/>
                        </a:ext>
                      </a:extLst>
                    </a:gridCol>
                    <a:gridCol w="3567699">
                      <a:extLst>
                        <a:ext uri="{9D8B030D-6E8A-4147-A177-3AD203B41FA5}">
                          <a16:colId xmlns:a16="http://schemas.microsoft.com/office/drawing/2014/main" val="761353228"/>
                        </a:ext>
                      </a:extLst>
                    </a:gridCol>
                  </a:tblGrid>
                  <a:tr h="426720">
                    <a:tc>
                      <a:txBody>
                        <a:bodyPr/>
                        <a:lstStyle/>
                        <a:p>
                          <a:pPr algn="ctr">
                            <a:spcBef>
                              <a:spcPts val="225"/>
                            </a:spcBef>
                            <a:spcAft>
                              <a:spcPts val="225"/>
                            </a:spcAft>
                          </a:pPr>
                          <a:r>
                            <a:rPr lang="en-ZA" sz="2800" b="0" dirty="0"/>
                            <a:t>Operations</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225"/>
                            </a:spcBef>
                            <a:spcAft>
                              <a:spcPts val="225"/>
                            </a:spcAft>
                          </a:pPr>
                          <a:r>
                            <a:rPr lang="sr-Latn-RS" sz="2800" b="0" dirty="0">
                              <a:effectLst/>
                            </a:rPr>
                            <a:t>alt. </a:t>
                          </a:r>
                          <a:r>
                            <a:rPr lang="sr-Latn-RS" sz="2800" b="0" dirty="0" err="1">
                              <a:effectLst/>
                            </a:rPr>
                            <a:t>name</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225"/>
                            </a:spcBef>
                            <a:spcAft>
                              <a:spcPts val="225"/>
                            </a:spcAft>
                          </a:pPr>
                          <a:r>
                            <a:rPr lang="sr-Latn-RS" sz="2800" b="0">
                              <a:effectLst/>
                            </a:rPr>
                            <a:t>Operator</a:t>
                          </a:r>
                          <a:endParaRPr lang="en-ZA" sz="2800" b="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358223958"/>
                      </a:ext>
                    </a:extLst>
                  </a:tr>
                  <a:tr h="426720">
                    <a:tc>
                      <a:txBody>
                        <a:bodyPr/>
                        <a:lstStyle/>
                        <a:p>
                          <a:pPr algn="ctr">
                            <a:spcBef>
                              <a:spcPts val="225"/>
                            </a:spcBef>
                            <a:spcAft>
                              <a:spcPts val="225"/>
                            </a:spcAft>
                            <a:tabLst>
                              <a:tab pos="398145" algn="l"/>
                            </a:tabLst>
                          </a:pPr>
                          <a:r>
                            <a:rPr lang="sr-Latn-RS" sz="2800" b="0" dirty="0">
                              <a:effectLst/>
                              <a:latin typeface="Cambria" panose="02040503050406030204" pitchFamily="18" charset="0"/>
                              <a:ea typeface="Times New Roman" panose="02020603050405020304" pitchFamily="18" charset="0"/>
                              <a:cs typeface="Times New Roman" panose="02020603050405020304" pitchFamily="18" charset="0"/>
                            </a:rPr>
                            <a:t>AND</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225"/>
                            </a:spcBef>
                            <a:spcAft>
                              <a:spcPts val="225"/>
                            </a:spcAft>
                            <a:tabLst>
                              <a:tab pos="398145" algn="l"/>
                            </a:tabLst>
                          </a:pPr>
                          <a:r>
                            <a:rPr lang="en-ZA" sz="2800" b="0" dirty="0"/>
                            <a:t>conjunction</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3"/>
                          <a:stretch>
                            <a:fillRect l="-211388" t="-126471" r="-356" b="-352941"/>
                          </a:stretch>
                        </a:blipFill>
                      </a:tcPr>
                    </a:tc>
                    <a:extLst>
                      <a:ext uri="{0D108BD9-81ED-4DB2-BD59-A6C34878D82A}">
                        <a16:rowId xmlns:a16="http://schemas.microsoft.com/office/drawing/2014/main" val="1749101665"/>
                      </a:ext>
                    </a:extLst>
                  </a:tr>
                  <a:tr h="426720">
                    <a:tc>
                      <a:txBody>
                        <a:bodyPr/>
                        <a:lstStyle/>
                        <a:p>
                          <a:pPr algn="ctr">
                            <a:spcBef>
                              <a:spcPts val="225"/>
                            </a:spcBef>
                            <a:spcAft>
                              <a:spcPts val="225"/>
                            </a:spcAft>
                            <a:tabLst>
                              <a:tab pos="398145" algn="l"/>
                            </a:tabLst>
                          </a:pPr>
                          <a:r>
                            <a:rPr lang="sr-Latn-RS" sz="2800" b="0" dirty="0">
                              <a:effectLst/>
                            </a:rPr>
                            <a:t>OR</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225"/>
                            </a:spcBef>
                            <a:spcAft>
                              <a:spcPts val="225"/>
                            </a:spcAft>
                            <a:tabLst>
                              <a:tab pos="398145" algn="l"/>
                            </a:tabLst>
                          </a:pPr>
                          <a:r>
                            <a:rPr lang="en-ZA" sz="2800" b="0" dirty="0"/>
                            <a:t>disjunction</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3"/>
                          <a:stretch>
                            <a:fillRect l="-211388" t="-233333" r="-356" b="-263636"/>
                          </a:stretch>
                        </a:blipFill>
                      </a:tcPr>
                    </a:tc>
                    <a:extLst>
                      <a:ext uri="{0D108BD9-81ED-4DB2-BD59-A6C34878D82A}">
                        <a16:rowId xmlns:a16="http://schemas.microsoft.com/office/drawing/2014/main" val="1110323875"/>
                      </a:ext>
                    </a:extLst>
                  </a:tr>
                  <a:tr h="464439">
                    <a:tc>
                      <a:txBody>
                        <a:bodyPr/>
                        <a:lstStyle/>
                        <a:p>
                          <a:pPr algn="ctr">
                            <a:spcBef>
                              <a:spcPts val="225"/>
                            </a:spcBef>
                            <a:spcAft>
                              <a:spcPts val="225"/>
                            </a:spcAft>
                            <a:tabLst>
                              <a:tab pos="398145" algn="l"/>
                            </a:tabLst>
                          </a:pPr>
                          <a:r>
                            <a:rPr lang="sr-Latn-RS" sz="2800" b="0" dirty="0">
                              <a:effectLst/>
                            </a:rPr>
                            <a:t>NOT</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225"/>
                            </a:spcBef>
                            <a:spcAft>
                              <a:spcPts val="225"/>
                            </a:spcAft>
                            <a:tabLst>
                              <a:tab pos="398145" algn="l"/>
                            </a:tabLst>
                          </a:pPr>
                          <a:r>
                            <a:rPr lang="en-ZA" sz="2800" b="0" dirty="0"/>
                            <a:t>negation</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3"/>
                          <a:stretch>
                            <a:fillRect l="-211388" t="-297297" r="-356" b="-135135"/>
                          </a:stretch>
                        </a:blipFill>
                      </a:tcPr>
                    </a:tc>
                    <a:extLst>
                      <a:ext uri="{0D108BD9-81ED-4DB2-BD59-A6C34878D82A}">
                        <a16:rowId xmlns:a16="http://schemas.microsoft.com/office/drawing/2014/main" val="2932969916"/>
                      </a:ext>
                    </a:extLst>
                  </a:tr>
                  <a:tr h="426720">
                    <a:tc>
                      <a:txBody>
                        <a:bodyPr/>
                        <a:lstStyle/>
                        <a:p>
                          <a:pPr algn="ctr">
                            <a:spcBef>
                              <a:spcPts val="225"/>
                            </a:spcBef>
                            <a:spcAft>
                              <a:spcPts val="225"/>
                            </a:spcAft>
                            <a:tabLst>
                              <a:tab pos="398145" algn="l"/>
                            </a:tabLst>
                          </a:pPr>
                          <a:r>
                            <a:rPr lang="en-ZA" sz="2800" b="0" dirty="0"/>
                            <a:t>exclusive</a:t>
                          </a:r>
                          <a:r>
                            <a:rPr lang="sr-Latn-RS" sz="2800" b="0" dirty="0">
                              <a:effectLst/>
                            </a:rPr>
                            <a:t> OR</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algn="ctr">
                            <a:spcBef>
                              <a:spcPts val="225"/>
                            </a:spcBef>
                            <a:spcAft>
                              <a:spcPts val="225"/>
                            </a:spcAft>
                            <a:tabLst>
                              <a:tab pos="398145" algn="l"/>
                            </a:tabLst>
                          </a:pPr>
                          <a:r>
                            <a:rPr lang="en-ZA" sz="2800" b="0" dirty="0"/>
                            <a:t>exclusive disjunction</a:t>
                          </a:r>
                          <a:endParaRPr lang="en-ZA" sz="28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3"/>
                          <a:stretch>
                            <a:fillRect l="-211388" t="-432353" r="-356" b="-47059"/>
                          </a:stretch>
                        </a:blipFill>
                      </a:tcPr>
                    </a:tc>
                    <a:extLst>
                      <a:ext uri="{0D108BD9-81ED-4DB2-BD59-A6C34878D82A}">
                        <a16:rowId xmlns:a16="http://schemas.microsoft.com/office/drawing/2014/main" val="2769809893"/>
                      </a:ext>
                    </a:extLst>
                  </a:tr>
                </a:tbl>
              </a:graphicData>
            </a:graphic>
          </p:graphicFrame>
        </mc:Fallback>
      </mc:AlternateContent>
      <p:sp>
        <p:nvSpPr>
          <p:cNvPr id="5" name="TextBox 4">
            <a:extLst>
              <a:ext uri="{FF2B5EF4-FFF2-40B4-BE49-F238E27FC236}">
                <a16:creationId xmlns:a16="http://schemas.microsoft.com/office/drawing/2014/main" id="{C57164E7-182C-564F-98A9-FFC9914D4FC3}"/>
              </a:ext>
            </a:extLst>
          </p:cNvPr>
          <p:cNvSpPr txBox="1"/>
          <p:nvPr/>
        </p:nvSpPr>
        <p:spPr>
          <a:xfrm>
            <a:off x="401606" y="1051829"/>
            <a:ext cx="4582729" cy="523220"/>
          </a:xfrm>
          <a:prstGeom prst="rect">
            <a:avLst/>
          </a:prstGeom>
          <a:noFill/>
        </p:spPr>
        <p:txBody>
          <a:bodyPr wrap="none" rtlCol="0">
            <a:spAutoFit/>
          </a:bodyPr>
          <a:lstStyle/>
          <a:p>
            <a:r>
              <a:rPr lang="en-ZA" sz="2800" dirty="0"/>
              <a:t>Variables</a:t>
            </a:r>
            <a:r>
              <a:rPr lang="en-US" sz="2800" dirty="0"/>
              <a:t>: True (1) or False (0)</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71649C3-0919-3049-956C-37B42DE1A8A1}"/>
                  </a:ext>
                </a:extLst>
              </p:cNvPr>
              <p:cNvSpPr txBox="1"/>
              <p:nvPr/>
            </p:nvSpPr>
            <p:spPr>
              <a:xfrm>
                <a:off x="401607" y="4639013"/>
                <a:ext cx="11083078" cy="1631216"/>
              </a:xfrm>
              <a:prstGeom prst="rect">
                <a:avLst/>
              </a:prstGeom>
              <a:noFill/>
            </p:spPr>
            <p:txBody>
              <a:bodyPr wrap="square" rtlCol="0">
                <a:spAutoFit/>
              </a:bodyPr>
              <a:lstStyle/>
              <a:p>
                <a:pPr algn="ctr"/>
                <a:r>
                  <a:rPr lang="en-ZA" sz="2400" dirty="0"/>
                  <a:t>A Boolean expression is a logical statement that always evaluates to either true or false. It consists of logical operators and literals, where a literal is a variable or its negation:</a:t>
                </a:r>
              </a:p>
              <a:p>
                <a:pPr algn="ctr"/>
                <a:endParaRPr lang="sr-Latn-RS" sz="2400" dirty="0"/>
              </a:p>
              <a:p>
                <a:pPr algn="ctr"/>
                <a14:m>
                  <m:oMathPara xmlns:m="http://schemas.openxmlformats.org/officeDocument/2006/math">
                    <m:oMathParaPr>
                      <m:jc m:val="centerGroup"/>
                    </m:oMathParaPr>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𝑎</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AND</m:t>
                          </m:r>
                          <m:r>
                            <a:rPr lang="en-US" sz="2400" b="0" i="0" smtClean="0">
                              <a:latin typeface="Cambria Math" panose="02040503050406030204" pitchFamily="18" charset="0"/>
                            </a:rPr>
                            <m:t> </m:t>
                          </m:r>
                          <m:r>
                            <a:rPr lang="en-US" sz="2400" b="0" i="1" smtClean="0">
                              <a:latin typeface="Cambria Math" panose="02040503050406030204" pitchFamily="18" charset="0"/>
                            </a:rPr>
                            <m:t>𝑏</m:t>
                          </m:r>
                        </m:e>
                      </m:d>
                      <m:r>
                        <a:rPr lang="en-US" sz="2400" b="0" i="0" smtClean="0">
                          <a:latin typeface="Cambria Math" panose="02040503050406030204" pitchFamily="18" charset="0"/>
                        </a:rPr>
                        <m:t> </m:t>
                      </m:r>
                      <m:r>
                        <m:rPr>
                          <m:sty m:val="p"/>
                        </m:rPr>
                        <a:rPr lang="en-US" sz="2400" b="0" i="0" smtClean="0">
                          <a:latin typeface="Cambria Math" panose="02040503050406030204" pitchFamily="18" charset="0"/>
                        </a:rPr>
                        <m:t>OR</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NOT</m:t>
                      </m:r>
                      <m:r>
                        <a:rPr lang="en-US" sz="2400" b="0" i="0" smtClean="0">
                          <a:latin typeface="Cambria Math" panose="02040503050406030204" pitchFamily="18" charset="0"/>
                        </a:rPr>
                        <m:t> </m:t>
                      </m:r>
                      <m:r>
                        <a:rPr lang="en-US" sz="2400" b="0" i="1" smtClean="0">
                          <a:latin typeface="Cambria Math" panose="02040503050406030204" pitchFamily="18" charset="0"/>
                        </a:rPr>
                        <m:t>𝑎</m:t>
                      </m:r>
                      <m:r>
                        <a:rPr lang="en-US" sz="2400" b="0" i="0" smtClean="0">
                          <a:latin typeface="Cambria Math" panose="02040503050406030204" pitchFamily="18" charset="0"/>
                        </a:rPr>
                        <m:t>)</m:t>
                      </m:r>
                    </m:oMath>
                  </m:oMathPara>
                </a14:m>
                <a:endParaRPr lang="en-ZA" sz="2400" dirty="0"/>
              </a:p>
            </p:txBody>
          </p:sp>
        </mc:Choice>
        <mc:Fallback xmlns="">
          <p:sp>
            <p:nvSpPr>
              <p:cNvPr id="6" name="TextBox 5">
                <a:extLst>
                  <a:ext uri="{FF2B5EF4-FFF2-40B4-BE49-F238E27FC236}">
                    <a16:creationId xmlns:a16="http://schemas.microsoft.com/office/drawing/2014/main" id="{971649C3-0919-3049-956C-37B42DE1A8A1}"/>
                  </a:ext>
                </a:extLst>
              </p:cNvPr>
              <p:cNvSpPr txBox="1">
                <a:spLocks noRot="1" noChangeAspect="1" noMove="1" noResize="1" noEditPoints="1" noAdjustHandles="1" noChangeArrowheads="1" noChangeShapeType="1" noTextEdit="1"/>
              </p:cNvSpPr>
              <p:nvPr/>
            </p:nvSpPr>
            <p:spPr>
              <a:xfrm>
                <a:off x="401607" y="4639013"/>
                <a:ext cx="11083078" cy="1631216"/>
              </a:xfrm>
              <a:prstGeom prst="rect">
                <a:avLst/>
              </a:prstGeom>
              <a:blipFill>
                <a:blip r:embed="rId4"/>
                <a:stretch>
                  <a:fillRect l="-344" t="-2308" r="-916" b="-769"/>
                </a:stretch>
              </a:blipFill>
            </p:spPr>
            <p:txBody>
              <a:bodyPr/>
              <a:lstStyle/>
              <a:p>
                <a:r>
                  <a:rPr lang="en-US">
                    <a:noFill/>
                  </a:rPr>
                  <a:t> </a:t>
                </a:r>
              </a:p>
            </p:txBody>
          </p:sp>
        </mc:Fallback>
      </mc:AlternateContent>
    </p:spTree>
    <p:extLst>
      <p:ext uri="{BB962C8B-B14F-4D97-AF65-F5344CB8AC3E}">
        <p14:creationId xmlns:p14="http://schemas.microsoft.com/office/powerpoint/2010/main" val="203383746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0E69A0-2FA4-754C-9A61-28CC4FDC7C9F}"/>
              </a:ext>
            </a:extLst>
          </p:cNvPr>
          <p:cNvSpPr>
            <a:spLocks noGrp="1"/>
          </p:cNvSpPr>
          <p:nvPr>
            <p:ph type="sldNum" sz="quarter" idx="12"/>
          </p:nvPr>
        </p:nvSpPr>
        <p:spPr/>
        <p:txBody>
          <a:bodyPr/>
          <a:lstStyle/>
          <a:p>
            <a:fld id="{591A223C-FA10-BC46-A853-03BA373D023C}" type="slidenum">
              <a:rPr lang="en-US" smtClean="0"/>
              <a:t>58</a:t>
            </a:fld>
            <a:endParaRPr lang="en-US"/>
          </a:p>
        </p:txBody>
      </p:sp>
      <p:sp>
        <p:nvSpPr>
          <p:cNvPr id="3" name="Title 2">
            <a:extLst>
              <a:ext uri="{FF2B5EF4-FFF2-40B4-BE49-F238E27FC236}">
                <a16:creationId xmlns:a16="http://schemas.microsoft.com/office/drawing/2014/main" id="{740EE0C3-AE25-D745-94B6-2FFCFEB09DC2}"/>
              </a:ext>
            </a:extLst>
          </p:cNvPr>
          <p:cNvSpPr>
            <a:spLocks noGrp="1"/>
          </p:cNvSpPr>
          <p:nvPr>
            <p:ph type="title"/>
          </p:nvPr>
        </p:nvSpPr>
        <p:spPr>
          <a:xfrm>
            <a:off x="0" y="0"/>
            <a:ext cx="12192000" cy="928688"/>
          </a:xfrm>
        </p:spPr>
        <p:txBody>
          <a:bodyPr/>
          <a:lstStyle/>
          <a:p>
            <a:r>
              <a:rPr lang="en-ZA" dirty="0"/>
              <a:t>Truth table for logical operations</a:t>
            </a:r>
            <a:endParaRPr lang="en-US"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5AEB473-8D09-2242-8340-A3E123B2898B}"/>
                  </a:ext>
                </a:extLst>
              </p:cNvPr>
              <p:cNvGraphicFramePr>
                <a:graphicFrameLocks noGrp="1"/>
              </p:cNvGraphicFramePr>
              <p:nvPr>
                <p:extLst>
                  <p:ext uri="{D42A27DB-BD31-4B8C-83A1-F6EECF244321}">
                    <p14:modId xmlns:p14="http://schemas.microsoft.com/office/powerpoint/2010/main" val="2462613727"/>
                  </p:ext>
                </p:extLst>
              </p:nvPr>
            </p:nvGraphicFramePr>
            <p:xfrm>
              <a:off x="2032000" y="1234281"/>
              <a:ext cx="7812299" cy="2476500"/>
            </p:xfrm>
            <a:graphic>
              <a:graphicData uri="http://schemas.openxmlformats.org/drawingml/2006/table">
                <a:tbl>
                  <a:tblPr firstRow="1" firstCol="1" bandRow="1">
                    <a:tableStyleId>{5C22544A-7EE6-4342-B048-85BDC9FD1C3A}</a:tableStyleId>
                  </a:tblPr>
                  <a:tblGrid>
                    <a:gridCol w="817409">
                      <a:extLst>
                        <a:ext uri="{9D8B030D-6E8A-4147-A177-3AD203B41FA5}">
                          <a16:colId xmlns:a16="http://schemas.microsoft.com/office/drawing/2014/main" val="1423986472"/>
                        </a:ext>
                      </a:extLst>
                    </a:gridCol>
                    <a:gridCol w="842058">
                      <a:extLst>
                        <a:ext uri="{9D8B030D-6E8A-4147-A177-3AD203B41FA5}">
                          <a16:colId xmlns:a16="http://schemas.microsoft.com/office/drawing/2014/main" val="1878583858"/>
                        </a:ext>
                      </a:extLst>
                    </a:gridCol>
                    <a:gridCol w="1865496">
                      <a:extLst>
                        <a:ext uri="{9D8B030D-6E8A-4147-A177-3AD203B41FA5}">
                          <a16:colId xmlns:a16="http://schemas.microsoft.com/office/drawing/2014/main" val="2039416510"/>
                        </a:ext>
                      </a:extLst>
                    </a:gridCol>
                    <a:gridCol w="1489561">
                      <a:extLst>
                        <a:ext uri="{9D8B030D-6E8A-4147-A177-3AD203B41FA5}">
                          <a16:colId xmlns:a16="http://schemas.microsoft.com/office/drawing/2014/main" val="2892344325"/>
                        </a:ext>
                      </a:extLst>
                    </a:gridCol>
                    <a:gridCol w="1446254">
                      <a:extLst>
                        <a:ext uri="{9D8B030D-6E8A-4147-A177-3AD203B41FA5}">
                          <a16:colId xmlns:a16="http://schemas.microsoft.com/office/drawing/2014/main" val="3237724145"/>
                        </a:ext>
                      </a:extLst>
                    </a:gridCol>
                    <a:gridCol w="1351521">
                      <a:extLst>
                        <a:ext uri="{9D8B030D-6E8A-4147-A177-3AD203B41FA5}">
                          <a16:colId xmlns:a16="http://schemas.microsoft.com/office/drawing/2014/main" val="1527566405"/>
                        </a:ext>
                      </a:extLst>
                    </a:gridCol>
                  </a:tblGrid>
                  <a:tr h="0">
                    <a:tc>
                      <a:txBody>
                        <a:bodyPr/>
                        <a:lstStyle/>
                        <a:p>
                          <a:pPr algn="ctr">
                            <a:spcBef>
                              <a:spcPts val="300"/>
                            </a:spcBef>
                            <a:spcAft>
                              <a:spcPts val="300"/>
                            </a:spcAft>
                          </a:pPr>
                          <a14:m>
                            <m:oMathPara xmlns:m="http://schemas.openxmlformats.org/officeDocument/2006/math">
                              <m:oMathParaPr>
                                <m:jc m:val="centerGroup"/>
                              </m:oMathParaPr>
                              <m:oMath xmlns:m="http://schemas.openxmlformats.org/officeDocument/2006/math">
                                <m:r>
                                  <a:rPr lang="sr-Latn-RS" sz="3200">
                                    <a:effectLst/>
                                    <a:latin typeface="Cambria Math" panose="02040503050406030204" pitchFamily="18" charset="0"/>
                                  </a:rPr>
                                  <m:t>𝒂</m:t>
                                </m:r>
                              </m:oMath>
                            </m:oMathPara>
                          </a14:m>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300"/>
                            </a:spcBef>
                            <a:spcAft>
                              <a:spcPts val="300"/>
                            </a:spcAft>
                          </a:pPr>
                          <a14:m>
                            <m:oMathPara xmlns:m="http://schemas.openxmlformats.org/officeDocument/2006/math">
                              <m:oMathParaPr>
                                <m:jc m:val="centerGroup"/>
                              </m:oMathParaPr>
                              <m:oMath xmlns:m="http://schemas.openxmlformats.org/officeDocument/2006/math">
                                <m:r>
                                  <a:rPr lang="sr-Latn-RS" sz="3200">
                                    <a:effectLst/>
                                    <a:latin typeface="Cambria Math" panose="02040503050406030204" pitchFamily="18" charset="0"/>
                                  </a:rPr>
                                  <m:t>𝒃</m:t>
                                </m:r>
                              </m:oMath>
                            </m:oMathPara>
                          </a14:m>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300"/>
                            </a:spcBef>
                            <a:spcAft>
                              <a:spcPts val="300"/>
                            </a:spcAft>
                          </a:pPr>
                          <a14:m>
                            <m:oMathPara xmlns:m="http://schemas.openxmlformats.org/officeDocument/2006/math">
                              <m:oMathParaPr>
                                <m:jc m:val="centerGroup"/>
                              </m:oMathParaPr>
                              <m:oMath xmlns:m="http://schemas.openxmlformats.org/officeDocument/2006/math">
                                <m:r>
                                  <a:rPr lang="sr-Latn-RS" sz="3200">
                                    <a:effectLst/>
                                    <a:latin typeface="Cambria Math" panose="02040503050406030204" pitchFamily="18" charset="0"/>
                                  </a:rPr>
                                  <m:t>𝒂</m:t>
                                </m:r>
                                <m:r>
                                  <a:rPr lang="sr-Latn-RS" sz="3200">
                                    <a:effectLst/>
                                    <a:latin typeface="Cambria Math" panose="02040503050406030204" pitchFamily="18" charset="0"/>
                                  </a:rPr>
                                  <m:t>∧</m:t>
                                </m:r>
                                <m:r>
                                  <a:rPr lang="sr-Latn-RS" sz="3200">
                                    <a:effectLst/>
                                    <a:latin typeface="Cambria Math" panose="02040503050406030204" pitchFamily="18" charset="0"/>
                                  </a:rPr>
                                  <m:t>𝒃</m:t>
                                </m:r>
                              </m:oMath>
                            </m:oMathPara>
                          </a14:m>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300"/>
                            </a:spcBef>
                            <a:spcAft>
                              <a:spcPts val="300"/>
                            </a:spcAft>
                          </a:pPr>
                          <a14:m>
                            <m:oMathPara xmlns:m="http://schemas.openxmlformats.org/officeDocument/2006/math">
                              <m:oMathParaPr>
                                <m:jc m:val="centerGroup"/>
                              </m:oMathParaPr>
                              <m:oMath xmlns:m="http://schemas.openxmlformats.org/officeDocument/2006/math">
                                <m:r>
                                  <a:rPr lang="sr-Latn-RS" sz="3200">
                                    <a:effectLst/>
                                    <a:latin typeface="Cambria Math" panose="02040503050406030204" pitchFamily="18" charset="0"/>
                                  </a:rPr>
                                  <m:t>𝒂</m:t>
                                </m:r>
                                <m:r>
                                  <a:rPr lang="sr-Latn-RS" sz="3200">
                                    <a:effectLst/>
                                    <a:latin typeface="Cambria Math" panose="02040503050406030204" pitchFamily="18" charset="0"/>
                                  </a:rPr>
                                  <m:t>∨</m:t>
                                </m:r>
                                <m:r>
                                  <a:rPr lang="sr-Latn-RS" sz="3200">
                                    <a:effectLst/>
                                    <a:latin typeface="Cambria Math" panose="02040503050406030204" pitchFamily="18" charset="0"/>
                                  </a:rPr>
                                  <m:t>𝒃</m:t>
                                </m:r>
                              </m:oMath>
                            </m:oMathPara>
                          </a14:m>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300"/>
                            </a:spcBef>
                            <a:spcAft>
                              <a:spcPts val="300"/>
                            </a:spcAft>
                          </a:pPr>
                          <a14:m>
                            <m:oMathPara xmlns:m="http://schemas.openxmlformats.org/officeDocument/2006/math">
                              <m:oMathParaPr>
                                <m:jc m:val="centerGroup"/>
                              </m:oMathParaPr>
                              <m:oMath xmlns:m="http://schemas.openxmlformats.org/officeDocument/2006/math">
                                <m:r>
                                  <a:rPr lang="sr-Latn-RS" sz="3200">
                                    <a:effectLst/>
                                    <a:latin typeface="Cambria Math" panose="02040503050406030204" pitchFamily="18" charset="0"/>
                                  </a:rPr>
                                  <m:t>𝒂</m:t>
                                </m:r>
                                <m:r>
                                  <a:rPr lang="sr-Latn-RS" sz="3200">
                                    <a:effectLst/>
                                    <a:latin typeface="Cambria Math" panose="02040503050406030204" pitchFamily="18" charset="0"/>
                                  </a:rPr>
                                  <m:t>⊕</m:t>
                                </m:r>
                                <m:r>
                                  <a:rPr lang="sr-Latn-RS" sz="3200">
                                    <a:effectLst/>
                                    <a:latin typeface="Cambria Math" panose="02040503050406030204" pitchFamily="18" charset="0"/>
                                  </a:rPr>
                                  <m:t>𝒃</m:t>
                                </m:r>
                              </m:oMath>
                            </m:oMathPara>
                          </a14:m>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300"/>
                            </a:spcBef>
                            <a:spcAft>
                              <a:spcPts val="300"/>
                            </a:spcAft>
                          </a:pPr>
                          <a14:m>
                            <m:oMathPara xmlns:m="http://schemas.openxmlformats.org/officeDocument/2006/math">
                              <m:oMathParaPr>
                                <m:jc m:val="centerGroup"/>
                              </m:oMathParaPr>
                              <m:oMath xmlns:m="http://schemas.openxmlformats.org/officeDocument/2006/math">
                                <m:r>
                                  <a:rPr lang="sr-Latn-RS" sz="3200">
                                    <a:effectLst/>
                                    <a:latin typeface="Cambria Math" panose="02040503050406030204" pitchFamily="18" charset="0"/>
                                  </a:rPr>
                                  <m:t>¬</m:t>
                                </m:r>
                                <m:r>
                                  <a:rPr lang="sr-Latn-RS" sz="3200">
                                    <a:effectLst/>
                                    <a:latin typeface="Cambria Math" panose="02040503050406030204" pitchFamily="18" charset="0"/>
                                  </a:rPr>
                                  <m:t>𝒂</m:t>
                                </m:r>
                              </m:oMath>
                            </m:oMathPara>
                          </a14:m>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808942815"/>
                      </a:ext>
                    </a:extLst>
                  </a:tr>
                  <a:tr h="0">
                    <a:tc>
                      <a:txBody>
                        <a:bodyPr/>
                        <a:lstStyle/>
                        <a:p>
                          <a:pPr algn="ctr">
                            <a:spcBef>
                              <a:spcPts val="200"/>
                            </a:spcBef>
                            <a:spcAft>
                              <a:spcPts val="200"/>
                            </a:spcAft>
                            <a:tabLst>
                              <a:tab pos="398145" algn="l"/>
                            </a:tabLst>
                          </a:pPr>
                          <a:r>
                            <a:rPr lang="sr-Latn-RS" sz="3200" dirty="0">
                              <a:effectLst/>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3200" dirty="0">
                              <a:solidFill>
                                <a:schemeClr val="bg1"/>
                              </a:solidFill>
                              <a:effectLst/>
                            </a:rPr>
                            <a:t>0</a:t>
                          </a:r>
                          <a:endParaRPr lang="en-ZA" sz="3200" dirty="0">
                            <a:solidFill>
                              <a:schemeClr val="bg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Aft>
                              <a:spcPts val="0"/>
                            </a:spcAft>
                          </a:pPr>
                          <a:r>
                            <a:rPr lang="sr-Latn-RS" sz="3200">
                              <a:effectLst/>
                            </a:rPr>
                            <a:t>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sr-Latn-RS" sz="3200">
                              <a:effectLst/>
                            </a:rPr>
                            <a:t>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sr-Latn-RS" sz="3200">
                              <a:effectLst/>
                            </a:rPr>
                            <a:t>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sr-Latn-RS" sz="3200">
                              <a:effectLst/>
                            </a:rPr>
                            <a:t>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19113289"/>
                      </a:ext>
                    </a:extLst>
                  </a:tr>
                  <a:tr h="0">
                    <a:tc>
                      <a:txBody>
                        <a:bodyPr/>
                        <a:lstStyle/>
                        <a:p>
                          <a:pPr algn="ctr">
                            <a:spcBef>
                              <a:spcPts val="200"/>
                            </a:spcBef>
                            <a:spcAft>
                              <a:spcPts val="200"/>
                            </a:spcAft>
                            <a:tabLst>
                              <a:tab pos="398145" algn="l"/>
                            </a:tabLst>
                          </a:pPr>
                          <a:r>
                            <a:rPr lang="sr-Latn-RS" sz="3200" dirty="0">
                              <a:effectLst/>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3200" dirty="0">
                              <a:solidFill>
                                <a:schemeClr val="bg1"/>
                              </a:solidFill>
                              <a:effectLst/>
                            </a:rPr>
                            <a:t>1</a:t>
                          </a:r>
                          <a:endParaRPr lang="en-ZA" sz="3200" dirty="0">
                            <a:solidFill>
                              <a:schemeClr val="bg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3200" dirty="0">
                              <a:effectLst/>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a:effectLst/>
                            </a:rPr>
                            <a:t>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a:effectLst/>
                            </a:rPr>
                            <a:t>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a:effectLst/>
                            </a:rPr>
                            <a:t>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79737442"/>
                      </a:ext>
                    </a:extLst>
                  </a:tr>
                  <a:tr h="135890">
                    <a:tc>
                      <a:txBody>
                        <a:bodyPr/>
                        <a:lstStyle/>
                        <a:p>
                          <a:pPr algn="ctr">
                            <a:spcBef>
                              <a:spcPts val="200"/>
                            </a:spcBef>
                            <a:spcAft>
                              <a:spcPts val="200"/>
                            </a:spcAft>
                            <a:tabLst>
                              <a:tab pos="398145" algn="l"/>
                            </a:tabLst>
                          </a:pPr>
                          <a:r>
                            <a:rPr lang="sr-Latn-RS" sz="3200" dirty="0">
                              <a:effectLst/>
                            </a:rPr>
                            <a:t>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3200" dirty="0">
                              <a:solidFill>
                                <a:schemeClr val="bg1"/>
                              </a:solidFill>
                              <a:effectLst/>
                            </a:rPr>
                            <a:t>0</a:t>
                          </a:r>
                          <a:endParaRPr lang="en-ZA" sz="3200" dirty="0">
                            <a:solidFill>
                              <a:schemeClr val="bg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3200">
                              <a:effectLst/>
                            </a:rPr>
                            <a:t>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a:effectLst/>
                            </a:rPr>
                            <a:t>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a:effectLst/>
                            </a:rPr>
                            <a:t>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a:effectLst/>
                            </a:rPr>
                            <a:t>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83115458"/>
                      </a:ext>
                    </a:extLst>
                  </a:tr>
                  <a:tr h="135890">
                    <a:tc>
                      <a:txBody>
                        <a:bodyPr/>
                        <a:lstStyle/>
                        <a:p>
                          <a:pPr algn="ctr">
                            <a:spcBef>
                              <a:spcPts val="200"/>
                            </a:spcBef>
                            <a:spcAft>
                              <a:spcPts val="200"/>
                            </a:spcAft>
                            <a:tabLst>
                              <a:tab pos="398145" algn="l"/>
                            </a:tabLst>
                          </a:pPr>
                          <a:r>
                            <a:rPr lang="sr-Latn-RS" sz="3200" dirty="0">
                              <a:effectLst/>
                            </a:rPr>
                            <a:t>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3200" dirty="0">
                              <a:solidFill>
                                <a:schemeClr val="bg1"/>
                              </a:solidFill>
                              <a:effectLst/>
                            </a:rPr>
                            <a:t>1</a:t>
                          </a:r>
                          <a:endParaRPr lang="en-ZA" sz="3200" dirty="0">
                            <a:solidFill>
                              <a:schemeClr val="bg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3200">
                              <a:effectLst/>
                            </a:rPr>
                            <a:t>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a:effectLst/>
                            </a:rPr>
                            <a:t>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a:effectLst/>
                            </a:rPr>
                            <a:t>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dirty="0">
                              <a:effectLst/>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60069591"/>
                      </a:ext>
                    </a:extLst>
                  </a:tr>
                </a:tbl>
              </a:graphicData>
            </a:graphic>
          </p:graphicFrame>
        </mc:Choice>
        <mc:Fallback xmlns="">
          <p:graphicFrame>
            <p:nvGraphicFramePr>
              <p:cNvPr id="4" name="Table 3">
                <a:extLst>
                  <a:ext uri="{FF2B5EF4-FFF2-40B4-BE49-F238E27FC236}">
                    <a16:creationId xmlns:a16="http://schemas.microsoft.com/office/drawing/2014/main" id="{35AEB473-8D09-2242-8340-A3E123B2898B}"/>
                  </a:ext>
                </a:extLst>
              </p:cNvPr>
              <p:cNvGraphicFramePr>
                <a:graphicFrameLocks noGrp="1"/>
              </p:cNvGraphicFramePr>
              <p:nvPr>
                <p:extLst>
                  <p:ext uri="{D42A27DB-BD31-4B8C-83A1-F6EECF244321}">
                    <p14:modId xmlns:p14="http://schemas.microsoft.com/office/powerpoint/2010/main" val="2462613727"/>
                  </p:ext>
                </p:extLst>
              </p:nvPr>
            </p:nvGraphicFramePr>
            <p:xfrm>
              <a:off x="2032000" y="1234281"/>
              <a:ext cx="7812299" cy="2476500"/>
            </p:xfrm>
            <a:graphic>
              <a:graphicData uri="http://schemas.openxmlformats.org/drawingml/2006/table">
                <a:tbl>
                  <a:tblPr firstRow="1" firstCol="1" bandRow="1">
                    <a:tableStyleId>{5C22544A-7EE6-4342-B048-85BDC9FD1C3A}</a:tableStyleId>
                  </a:tblPr>
                  <a:tblGrid>
                    <a:gridCol w="817409">
                      <a:extLst>
                        <a:ext uri="{9D8B030D-6E8A-4147-A177-3AD203B41FA5}">
                          <a16:colId xmlns:a16="http://schemas.microsoft.com/office/drawing/2014/main" val="1423986472"/>
                        </a:ext>
                      </a:extLst>
                    </a:gridCol>
                    <a:gridCol w="842058">
                      <a:extLst>
                        <a:ext uri="{9D8B030D-6E8A-4147-A177-3AD203B41FA5}">
                          <a16:colId xmlns:a16="http://schemas.microsoft.com/office/drawing/2014/main" val="1878583858"/>
                        </a:ext>
                      </a:extLst>
                    </a:gridCol>
                    <a:gridCol w="1865496">
                      <a:extLst>
                        <a:ext uri="{9D8B030D-6E8A-4147-A177-3AD203B41FA5}">
                          <a16:colId xmlns:a16="http://schemas.microsoft.com/office/drawing/2014/main" val="2039416510"/>
                        </a:ext>
                      </a:extLst>
                    </a:gridCol>
                    <a:gridCol w="1489561">
                      <a:extLst>
                        <a:ext uri="{9D8B030D-6E8A-4147-A177-3AD203B41FA5}">
                          <a16:colId xmlns:a16="http://schemas.microsoft.com/office/drawing/2014/main" val="2892344325"/>
                        </a:ext>
                      </a:extLst>
                    </a:gridCol>
                    <a:gridCol w="1446254">
                      <a:extLst>
                        <a:ext uri="{9D8B030D-6E8A-4147-A177-3AD203B41FA5}">
                          <a16:colId xmlns:a16="http://schemas.microsoft.com/office/drawing/2014/main" val="3237724145"/>
                        </a:ext>
                      </a:extLst>
                    </a:gridCol>
                    <a:gridCol w="1351521">
                      <a:extLst>
                        <a:ext uri="{9D8B030D-6E8A-4147-A177-3AD203B41FA5}">
                          <a16:colId xmlns:a16="http://schemas.microsoft.com/office/drawing/2014/main" val="1527566405"/>
                        </a:ext>
                      </a:extLst>
                    </a:gridCol>
                  </a:tblGrid>
                  <a:tr h="525780">
                    <a:tc>
                      <a:txBody>
                        <a:bodyPr/>
                        <a:lstStyle/>
                        <a:p>
                          <a:endParaRPr lang="en-US"/>
                        </a:p>
                      </a:txBody>
                      <a:tcPr marL="68580" marR="68580" marT="0" marB="0">
                        <a:blipFill>
                          <a:blip r:embed="rId3"/>
                          <a:stretch>
                            <a:fillRect l="-1563" t="-2381" r="-864063" b="-409524"/>
                          </a:stretch>
                        </a:blipFill>
                      </a:tcPr>
                    </a:tc>
                    <a:tc>
                      <a:txBody>
                        <a:bodyPr/>
                        <a:lstStyle/>
                        <a:p>
                          <a:endParaRPr lang="en-US"/>
                        </a:p>
                      </a:txBody>
                      <a:tcPr marL="68580" marR="68580" marT="0" marB="0">
                        <a:blipFill>
                          <a:blip r:embed="rId3"/>
                          <a:stretch>
                            <a:fillRect l="-97015" t="-2381" r="-725373" b="-409524"/>
                          </a:stretch>
                        </a:blipFill>
                      </a:tcPr>
                    </a:tc>
                    <a:tc>
                      <a:txBody>
                        <a:bodyPr/>
                        <a:lstStyle/>
                        <a:p>
                          <a:endParaRPr lang="en-US"/>
                        </a:p>
                      </a:txBody>
                      <a:tcPr marL="68580" marR="68580" marT="0" marB="0">
                        <a:blipFill>
                          <a:blip r:embed="rId3"/>
                          <a:stretch>
                            <a:fillRect l="-89796" t="-2381" r="-230612" b="-409524"/>
                          </a:stretch>
                        </a:blipFill>
                      </a:tcPr>
                    </a:tc>
                    <a:tc>
                      <a:txBody>
                        <a:bodyPr/>
                        <a:lstStyle/>
                        <a:p>
                          <a:endParaRPr lang="en-US"/>
                        </a:p>
                      </a:txBody>
                      <a:tcPr marL="68580" marR="68580" marT="0" marB="0">
                        <a:blipFill>
                          <a:blip r:embed="rId3"/>
                          <a:stretch>
                            <a:fillRect l="-238462" t="-2381" r="-189744" b="-409524"/>
                          </a:stretch>
                        </a:blipFill>
                      </a:tcPr>
                    </a:tc>
                    <a:tc>
                      <a:txBody>
                        <a:bodyPr/>
                        <a:lstStyle/>
                        <a:p>
                          <a:endParaRPr lang="en-US"/>
                        </a:p>
                      </a:txBody>
                      <a:tcPr marL="68580" marR="68580" marT="0" marB="0">
                        <a:blipFill>
                          <a:blip r:embed="rId3"/>
                          <a:stretch>
                            <a:fillRect l="-347368" t="-2381" r="-94737" b="-409524"/>
                          </a:stretch>
                        </a:blipFill>
                      </a:tcPr>
                    </a:tc>
                    <a:tc>
                      <a:txBody>
                        <a:bodyPr/>
                        <a:lstStyle/>
                        <a:p>
                          <a:endParaRPr lang="en-US"/>
                        </a:p>
                      </a:txBody>
                      <a:tcPr marL="68580" marR="68580" marT="0" marB="0">
                        <a:blipFill>
                          <a:blip r:embed="rId3"/>
                          <a:stretch>
                            <a:fillRect l="-476636" t="-2381" r="-935" b="-409524"/>
                          </a:stretch>
                        </a:blipFill>
                      </a:tcPr>
                    </a:tc>
                    <a:extLst>
                      <a:ext uri="{0D108BD9-81ED-4DB2-BD59-A6C34878D82A}">
                        <a16:rowId xmlns:a16="http://schemas.microsoft.com/office/drawing/2014/main" val="808942815"/>
                      </a:ext>
                    </a:extLst>
                  </a:tr>
                  <a:tr h="487680">
                    <a:tc>
                      <a:txBody>
                        <a:bodyPr/>
                        <a:lstStyle/>
                        <a:p>
                          <a:pPr algn="ctr">
                            <a:spcBef>
                              <a:spcPts val="200"/>
                            </a:spcBef>
                            <a:spcAft>
                              <a:spcPts val="200"/>
                            </a:spcAft>
                            <a:tabLst>
                              <a:tab pos="398145" algn="l"/>
                            </a:tabLst>
                          </a:pPr>
                          <a:r>
                            <a:rPr lang="sr-Latn-RS" sz="3200" dirty="0">
                              <a:effectLst/>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3200" dirty="0">
                              <a:solidFill>
                                <a:schemeClr val="bg1"/>
                              </a:solidFill>
                              <a:effectLst/>
                            </a:rPr>
                            <a:t>0</a:t>
                          </a:r>
                          <a:endParaRPr lang="en-ZA" sz="3200" dirty="0">
                            <a:solidFill>
                              <a:schemeClr val="bg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Aft>
                              <a:spcPts val="0"/>
                            </a:spcAft>
                          </a:pPr>
                          <a:r>
                            <a:rPr lang="sr-Latn-RS" sz="3200">
                              <a:effectLst/>
                            </a:rPr>
                            <a:t>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sr-Latn-RS" sz="3200">
                              <a:effectLst/>
                            </a:rPr>
                            <a:t>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sr-Latn-RS" sz="3200">
                              <a:effectLst/>
                            </a:rPr>
                            <a:t>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Aft>
                              <a:spcPts val="0"/>
                            </a:spcAft>
                          </a:pPr>
                          <a:r>
                            <a:rPr lang="sr-Latn-RS" sz="3200">
                              <a:effectLst/>
                            </a:rPr>
                            <a:t>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19113289"/>
                      </a:ext>
                    </a:extLst>
                  </a:tr>
                  <a:tr h="487680">
                    <a:tc>
                      <a:txBody>
                        <a:bodyPr/>
                        <a:lstStyle/>
                        <a:p>
                          <a:pPr algn="ctr">
                            <a:spcBef>
                              <a:spcPts val="200"/>
                            </a:spcBef>
                            <a:spcAft>
                              <a:spcPts val="200"/>
                            </a:spcAft>
                            <a:tabLst>
                              <a:tab pos="398145" algn="l"/>
                            </a:tabLst>
                          </a:pPr>
                          <a:r>
                            <a:rPr lang="sr-Latn-RS" sz="3200" dirty="0">
                              <a:effectLst/>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3200" dirty="0">
                              <a:solidFill>
                                <a:schemeClr val="bg1"/>
                              </a:solidFill>
                              <a:effectLst/>
                            </a:rPr>
                            <a:t>1</a:t>
                          </a:r>
                          <a:endParaRPr lang="en-ZA" sz="3200" dirty="0">
                            <a:solidFill>
                              <a:schemeClr val="bg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3200" dirty="0">
                              <a:effectLst/>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a:effectLst/>
                            </a:rPr>
                            <a:t>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a:effectLst/>
                            </a:rPr>
                            <a:t>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a:effectLst/>
                            </a:rPr>
                            <a:t>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79737442"/>
                      </a:ext>
                    </a:extLst>
                  </a:tr>
                  <a:tr h="487680">
                    <a:tc>
                      <a:txBody>
                        <a:bodyPr/>
                        <a:lstStyle/>
                        <a:p>
                          <a:pPr algn="ctr">
                            <a:spcBef>
                              <a:spcPts val="200"/>
                            </a:spcBef>
                            <a:spcAft>
                              <a:spcPts val="200"/>
                            </a:spcAft>
                            <a:tabLst>
                              <a:tab pos="398145" algn="l"/>
                            </a:tabLst>
                          </a:pPr>
                          <a:r>
                            <a:rPr lang="sr-Latn-RS" sz="3200" dirty="0">
                              <a:effectLst/>
                            </a:rPr>
                            <a:t>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3200" dirty="0">
                              <a:solidFill>
                                <a:schemeClr val="bg1"/>
                              </a:solidFill>
                              <a:effectLst/>
                            </a:rPr>
                            <a:t>0</a:t>
                          </a:r>
                          <a:endParaRPr lang="en-ZA" sz="3200" dirty="0">
                            <a:solidFill>
                              <a:schemeClr val="bg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3200">
                              <a:effectLst/>
                            </a:rPr>
                            <a:t>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a:effectLst/>
                            </a:rPr>
                            <a:t>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a:effectLst/>
                            </a:rPr>
                            <a:t>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a:effectLst/>
                            </a:rPr>
                            <a:t>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283115458"/>
                      </a:ext>
                    </a:extLst>
                  </a:tr>
                  <a:tr h="487680">
                    <a:tc>
                      <a:txBody>
                        <a:bodyPr/>
                        <a:lstStyle/>
                        <a:p>
                          <a:pPr algn="ctr">
                            <a:spcBef>
                              <a:spcPts val="200"/>
                            </a:spcBef>
                            <a:spcAft>
                              <a:spcPts val="200"/>
                            </a:spcAft>
                            <a:tabLst>
                              <a:tab pos="398145" algn="l"/>
                            </a:tabLst>
                          </a:pPr>
                          <a:r>
                            <a:rPr lang="sr-Latn-RS" sz="3200" dirty="0">
                              <a:effectLst/>
                            </a:rPr>
                            <a:t>1</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3200" dirty="0">
                              <a:solidFill>
                                <a:schemeClr val="bg1"/>
                              </a:solidFill>
                              <a:effectLst/>
                            </a:rPr>
                            <a:t>1</a:t>
                          </a:r>
                          <a:endParaRPr lang="en-ZA" sz="3200" dirty="0">
                            <a:solidFill>
                              <a:schemeClr val="bg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solidFill>
                          <a:schemeClr val="accent5">
                            <a:lumMod val="50000"/>
                          </a:schemeClr>
                        </a:solidFill>
                      </a:tcPr>
                    </a:tc>
                    <a:tc>
                      <a:txBody>
                        <a:bodyPr/>
                        <a:lstStyle/>
                        <a:p>
                          <a:pPr algn="ctr">
                            <a:spcBef>
                              <a:spcPts val="200"/>
                            </a:spcBef>
                            <a:spcAft>
                              <a:spcPts val="200"/>
                            </a:spcAft>
                            <a:tabLst>
                              <a:tab pos="398145" algn="l"/>
                            </a:tabLst>
                          </a:pPr>
                          <a:r>
                            <a:rPr lang="sr-Latn-RS" sz="3200">
                              <a:effectLst/>
                            </a:rPr>
                            <a:t>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a:effectLst/>
                            </a:rPr>
                            <a:t>1</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a:effectLst/>
                            </a:rPr>
                            <a:t>0</a:t>
                          </a:r>
                          <a:endParaRPr lang="en-ZA" sz="320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spcBef>
                              <a:spcPts val="200"/>
                            </a:spcBef>
                            <a:spcAft>
                              <a:spcPts val="200"/>
                            </a:spcAft>
                            <a:tabLst>
                              <a:tab pos="398145" algn="l"/>
                            </a:tabLst>
                          </a:pPr>
                          <a:r>
                            <a:rPr lang="sr-Latn-RS" sz="3200" dirty="0">
                              <a:effectLst/>
                            </a:rPr>
                            <a:t>0</a:t>
                          </a:r>
                          <a:endParaRPr lang="en-ZA" sz="3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760069591"/>
                      </a:ext>
                    </a:extLst>
                  </a:tr>
                </a:tbl>
              </a:graphicData>
            </a:graphic>
          </p:graphicFrame>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89354F1F-41AA-BC4D-8533-96298F7A6BA4}"/>
                  </a:ext>
                </a:extLst>
              </p:cNvPr>
              <p:cNvSpPr/>
              <p:nvPr/>
            </p:nvSpPr>
            <p:spPr>
              <a:xfrm>
                <a:off x="1913466" y="4143514"/>
                <a:ext cx="8049365" cy="2349361"/>
              </a:xfrm>
              <a:prstGeom prst="rect">
                <a:avLst/>
              </a:prstGeom>
            </p:spPr>
            <p:txBody>
              <a:bodyPr wrap="square">
                <a:spAutoFit/>
              </a:bodyPr>
              <a:lstStyle/>
              <a:p>
                <a:pPr marL="457200" lvl="0" indent="-457200" algn="just">
                  <a:spcAft>
                    <a:spcPts val="800"/>
                  </a:spcAft>
                  <a:buFont typeface="+mj-lt"/>
                  <a:buAutoNum type="arabicPeriod"/>
                </a:pPr>
                <a14:m>
                  <m:oMath xmlns:m="http://schemas.openxmlformats.org/officeDocument/2006/math">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r>
                      <a:rPr lang="sr-Latn-RS" sz="2400" i="1">
                        <a:latin typeface="Cambria Math" panose="02040503050406030204" pitchFamily="18" charset="0"/>
                        <a:ea typeface="Times New Roman" panose="02020603050405020304" pitchFamily="18" charset="0"/>
                        <a:cs typeface="Times New Roman" panose="02020603050405020304" pitchFamily="18" charset="0"/>
                      </a:rPr>
                      <m:t> ⨁ </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𝑦</m:t>
                    </m:r>
                    <m:r>
                      <a:rPr lang="sr-Latn-RS" sz="2400" i="1">
                        <a:latin typeface="Cambria Math" panose="02040503050406030204" pitchFamily="18" charset="0"/>
                        <a:ea typeface="Times New Roman" panose="02020603050405020304" pitchFamily="18" charset="0"/>
                        <a:cs typeface="Times New Roman" panose="02020603050405020304" pitchFamily="18" charset="0"/>
                      </a:rPr>
                      <m:t>= </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𝑦</m:t>
                    </m:r>
                    <m:r>
                      <a:rPr lang="sr-Latn-RS" sz="2400" i="1">
                        <a:latin typeface="Cambria Math" panose="02040503050406030204" pitchFamily="18" charset="0"/>
                        <a:ea typeface="Times New Roman" panose="02020603050405020304" pitchFamily="18" charset="0"/>
                        <a:cs typeface="Times New Roman" panose="02020603050405020304" pitchFamily="18" charset="0"/>
                      </a:rPr>
                      <m:t> ⨁ </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oMath>
                </a14:m>
                <a:endParaRPr lang="en-ZA" sz="2400" dirty="0">
                  <a:latin typeface="Cambria" panose="02040503050406030204" pitchFamily="18" charset="0"/>
                  <a:ea typeface="Times New Roman" panose="02020603050405020304" pitchFamily="18" charset="0"/>
                  <a:cs typeface="Times New Roman" panose="02020603050405020304" pitchFamily="18" charset="0"/>
                </a:endParaRPr>
              </a:p>
              <a:p>
                <a:pPr marL="457200" lvl="0" indent="-457200" algn="just">
                  <a:spcAft>
                    <a:spcPts val="800"/>
                  </a:spcAft>
                  <a:buFont typeface="+mj-lt"/>
                  <a:buAutoNum type="arabicPeriod"/>
                </a:pPr>
                <a14:m>
                  <m:oMath xmlns:m="http://schemas.openxmlformats.org/officeDocument/2006/math">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r>
                      <a:rPr lang="sr-Latn-RS" sz="2400" i="1">
                        <a:latin typeface="Cambria Math" panose="02040503050406030204" pitchFamily="18" charset="0"/>
                        <a:ea typeface="Times New Roman" panose="02020603050405020304" pitchFamily="18" charset="0"/>
                        <a:cs typeface="Times New Roman" panose="02020603050405020304" pitchFamily="18" charset="0"/>
                      </a:rPr>
                      <m:t> </m:t>
                    </m:r>
                    <m:nary>
                      <m:naryPr>
                        <m:chr m:val="⨁"/>
                        <m:subHide m:val="on"/>
                        <m:supHide m:val="on"/>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naryPr>
                      <m:sub/>
                      <m:sup/>
                      <m:e>
                        <m:d>
                          <m:d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𝑦</m:t>
                            </m:r>
                            <m:r>
                              <a:rPr lang="sr-Latn-RS" sz="2400" i="1">
                                <a:latin typeface="Cambria Math" panose="02040503050406030204" pitchFamily="18" charset="0"/>
                                <a:ea typeface="Times New Roman" panose="02020603050405020304" pitchFamily="18" charset="0"/>
                                <a:cs typeface="Times New Roman" panose="02020603050405020304" pitchFamily="18" charset="0"/>
                              </a:rPr>
                              <m:t> </m:t>
                            </m:r>
                            <m:nary>
                              <m:naryPr>
                                <m:chr m:val="⨁"/>
                                <m:subHide m:val="on"/>
                                <m:supHide m:val="on"/>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naryPr>
                              <m:sub/>
                              <m:sup/>
                              <m:e>
                                <m:r>
                                  <a:rPr lang="sr-Latn-RS" sz="2400" i="1">
                                    <a:latin typeface="Cambria Math" panose="02040503050406030204" pitchFamily="18" charset="0"/>
                                    <a:ea typeface="Times New Roman" panose="02020603050405020304" pitchFamily="18" charset="0"/>
                                    <a:cs typeface="Times New Roman" panose="02020603050405020304" pitchFamily="18" charset="0"/>
                                  </a:rPr>
                                  <m:t>𝑧</m:t>
                                </m:r>
                              </m:e>
                            </m:nary>
                          </m:e>
                        </m:d>
                      </m:e>
                    </m:nary>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d>
                      <m:d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r>
                          <a:rPr lang="sr-Latn-RS" sz="2400" i="1">
                            <a:latin typeface="Cambria Math" panose="02040503050406030204" pitchFamily="18" charset="0"/>
                            <a:ea typeface="Times New Roman" panose="02020603050405020304" pitchFamily="18" charset="0"/>
                            <a:cs typeface="Times New Roman" panose="02020603050405020304" pitchFamily="18" charset="0"/>
                          </a:rPr>
                          <m:t> </m:t>
                        </m:r>
                        <m:nary>
                          <m:naryPr>
                            <m:chr m:val="⨁"/>
                            <m:subHide m:val="on"/>
                            <m:supHide m:val="on"/>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naryPr>
                          <m:sub/>
                          <m:sup/>
                          <m:e>
                            <m:r>
                              <a:rPr lang="sr-Latn-RS" sz="2400" i="1">
                                <a:latin typeface="Cambria Math" panose="02040503050406030204" pitchFamily="18" charset="0"/>
                                <a:ea typeface="Times New Roman" panose="02020603050405020304" pitchFamily="18" charset="0"/>
                                <a:cs typeface="Times New Roman" panose="02020603050405020304" pitchFamily="18" charset="0"/>
                              </a:rPr>
                              <m:t>𝑦</m:t>
                            </m:r>
                          </m:e>
                        </m:nary>
                      </m:e>
                    </m:d>
                    <m:nary>
                      <m:naryPr>
                        <m:chr m:val="⨁"/>
                        <m:subHide m:val="on"/>
                        <m:supHide m:val="on"/>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naryPr>
                      <m:sub/>
                      <m:sup/>
                      <m:e>
                        <m:r>
                          <a:rPr lang="sr-Latn-RS" sz="2400" i="1">
                            <a:latin typeface="Cambria Math" panose="02040503050406030204" pitchFamily="18" charset="0"/>
                            <a:ea typeface="Times New Roman" panose="02020603050405020304" pitchFamily="18" charset="0"/>
                            <a:cs typeface="Times New Roman" panose="02020603050405020304" pitchFamily="18" charset="0"/>
                          </a:rPr>
                          <m:t> </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𝑧</m:t>
                        </m:r>
                      </m:e>
                    </m:nary>
                  </m:oMath>
                </a14:m>
                <a:endParaRPr lang="en-ZA" sz="2400" dirty="0">
                  <a:latin typeface="Cambria" panose="02040503050406030204" pitchFamily="18" charset="0"/>
                  <a:ea typeface="Times New Roman" panose="02020603050405020304" pitchFamily="18" charset="0"/>
                  <a:cs typeface="Times New Roman" panose="02020603050405020304" pitchFamily="18" charset="0"/>
                </a:endParaRPr>
              </a:p>
              <a:p>
                <a:pPr marL="457200" lvl="0" indent="-457200" algn="just">
                  <a:spcAft>
                    <a:spcPts val="800"/>
                  </a:spcAft>
                  <a:buFont typeface="+mj-lt"/>
                  <a:buAutoNum type="arabicPeriod"/>
                </a:pPr>
                <a:r>
                  <a:rPr lang="sr-Latn-RS" sz="2400" dirty="0">
                    <a:solidFill>
                      <a:srgbClr val="000000"/>
                    </a:solidFill>
                    <a:effectLst/>
                    <a:latin typeface="Cambria" panose="02040503050406030204" pitchFamily="18" charset="0"/>
                    <a:ea typeface="Times New Roman" panose="02020603050405020304" pitchFamily="18" charset="0"/>
                    <a:cs typeface="Times New Roman" panose="02020603050405020304" pitchFamily="18" charset="0"/>
                  </a:rPr>
                  <a:t>(a)</a:t>
                </a:r>
                <a:r>
                  <a:rPr lang="sr-Latn-RS" sz="2400" dirty="0">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r>
                      <a:rPr lang="sr-Latn-RS" sz="2400" i="1">
                        <a:latin typeface="Cambria Math" panose="02040503050406030204" pitchFamily="18" charset="0"/>
                        <a:ea typeface="Times New Roman" panose="02020603050405020304" pitchFamily="18" charset="0"/>
                        <a:cs typeface="Times New Roman" panose="02020603050405020304" pitchFamily="18" charset="0"/>
                      </a:rPr>
                      <m:t> ⨁ 0=</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sr-Latn-RS" sz="2400" dirty="0">
                    <a:latin typeface="Cambria" panose="02040503050406030204" pitchFamily="18" charset="0"/>
                    <a:ea typeface="Times New Roman" panose="02020603050405020304" pitchFamily="18" charset="0"/>
                    <a:cs typeface="Times New Roman" panose="02020603050405020304" pitchFamily="18" charset="0"/>
                  </a:rPr>
                  <a:t>	</a:t>
                </a:r>
                <a:r>
                  <a:rPr lang="sr-Latn-RS" sz="2400" dirty="0">
                    <a:solidFill>
                      <a:srgbClr val="000000"/>
                    </a:solidFill>
                    <a:effectLst/>
                    <a:latin typeface="Cambria" panose="02040503050406030204" pitchFamily="18" charset="0"/>
                    <a:ea typeface="Times New Roman" panose="02020603050405020304" pitchFamily="18" charset="0"/>
                    <a:cs typeface="Times New Roman" panose="02020603050405020304" pitchFamily="18" charset="0"/>
                  </a:rPr>
                  <a:t>(</a:t>
                </a:r>
                <a:r>
                  <a:rPr lang="sr-Latn-RS" sz="2400" dirty="0" err="1">
                    <a:solidFill>
                      <a:srgbClr val="000000"/>
                    </a:solidFill>
                    <a:effectLst/>
                    <a:latin typeface="Cambria" panose="02040503050406030204" pitchFamily="18" charset="0"/>
                    <a:ea typeface="Times New Roman" panose="02020603050405020304" pitchFamily="18" charset="0"/>
                    <a:cs typeface="Times New Roman" panose="02020603050405020304" pitchFamily="18" charset="0"/>
                  </a:rPr>
                  <a:t>b</a:t>
                </a:r>
                <a:r>
                  <a:rPr lang="sr-Latn-RS" sz="2400" dirty="0">
                    <a:solidFill>
                      <a:srgbClr val="000000"/>
                    </a:solidFill>
                    <a:effectLst/>
                    <a:latin typeface="Cambria" panose="02040503050406030204" pitchFamily="18" charset="0"/>
                    <a:ea typeface="Times New Roman" panose="02020603050405020304" pitchFamily="18" charset="0"/>
                    <a:cs typeface="Times New Roman" panose="02020603050405020304" pitchFamily="18" charset="0"/>
                  </a:rPr>
                  <a:t>)</a:t>
                </a:r>
                <a:r>
                  <a:rPr lang="sr-Latn-RS" sz="2400" dirty="0">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r>
                      <a:rPr lang="sr-Latn-RS" sz="2400" i="1">
                        <a:latin typeface="Cambria Math" panose="02040503050406030204" pitchFamily="18" charset="0"/>
                        <a:ea typeface="Times New Roman" panose="02020603050405020304" pitchFamily="18" charset="0"/>
                        <a:cs typeface="Times New Roman" panose="02020603050405020304" pitchFamily="18" charset="0"/>
                      </a:rPr>
                      <m:t> ⨁ 1=</m:t>
                    </m:r>
                    <m:acc>
                      <m:accPr>
                        <m:chr m:val="̅"/>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acc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e>
                    </m:acc>
                  </m:oMath>
                </a14:m>
                <a:endParaRPr lang="en-ZA" sz="2400" dirty="0">
                  <a:latin typeface="Cambria" panose="02040503050406030204" pitchFamily="18" charset="0"/>
                  <a:ea typeface="Times New Roman" panose="02020603050405020304" pitchFamily="18" charset="0"/>
                  <a:cs typeface="Times New Roman" panose="02020603050405020304" pitchFamily="18" charset="0"/>
                </a:endParaRPr>
              </a:p>
              <a:p>
                <a:pPr marL="457200" lvl="0" indent="-457200" algn="just">
                  <a:spcAft>
                    <a:spcPts val="800"/>
                  </a:spcAft>
                  <a:buFont typeface="+mj-lt"/>
                  <a:buAutoNum type="arabicPeriod"/>
                </a:pPr>
                <a:r>
                  <a:rPr lang="sr-Latn-RS" sz="2400" dirty="0">
                    <a:solidFill>
                      <a:srgbClr val="000000"/>
                    </a:solidFill>
                    <a:effectLst/>
                    <a:latin typeface="Cambria" panose="02040503050406030204" pitchFamily="18" charset="0"/>
                    <a:ea typeface="Times New Roman" panose="02020603050405020304" pitchFamily="18" charset="0"/>
                    <a:cs typeface="Times New Roman" panose="02020603050405020304" pitchFamily="18" charset="0"/>
                  </a:rPr>
                  <a:t>(a)</a:t>
                </a:r>
                <a:r>
                  <a:rPr lang="sr-Latn-RS" sz="2400" dirty="0">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r>
                      <a:rPr lang="sr-Latn-RS" sz="2400" i="1">
                        <a:latin typeface="Cambria Math" panose="02040503050406030204" pitchFamily="18" charset="0"/>
                        <a:ea typeface="Times New Roman" panose="02020603050405020304" pitchFamily="18" charset="0"/>
                        <a:cs typeface="Times New Roman" panose="02020603050405020304" pitchFamily="18" charset="0"/>
                      </a:rPr>
                      <m:t> ⨁ </m:t>
                    </m:r>
                    <m:acc>
                      <m:accPr>
                        <m:chr m:val="̅"/>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acc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e>
                    </m:acc>
                    <m:r>
                      <a:rPr lang="sr-Latn-RS" sz="2400" i="1">
                        <a:latin typeface="Cambria Math" panose="02040503050406030204" pitchFamily="18" charset="0"/>
                        <a:ea typeface="Times New Roman" panose="02020603050405020304" pitchFamily="18" charset="0"/>
                        <a:cs typeface="Times New Roman" panose="02020603050405020304" pitchFamily="18" charset="0"/>
                      </a:rPr>
                      <m:t>=1</m:t>
                    </m:r>
                  </m:oMath>
                </a14:m>
                <a:r>
                  <a:rPr lang="sr-Latn-RS" sz="2400" dirty="0">
                    <a:latin typeface="Cambria" panose="02040503050406030204" pitchFamily="18" charset="0"/>
                    <a:ea typeface="Times New Roman" panose="02020603050405020304" pitchFamily="18" charset="0"/>
                    <a:cs typeface="Times New Roman" panose="02020603050405020304" pitchFamily="18" charset="0"/>
                  </a:rPr>
                  <a:t>	</a:t>
                </a:r>
                <a:r>
                  <a:rPr lang="sr-Latn-RS" sz="2400" dirty="0">
                    <a:solidFill>
                      <a:srgbClr val="000000"/>
                    </a:solidFill>
                    <a:effectLst/>
                    <a:latin typeface="Cambria" panose="02040503050406030204" pitchFamily="18" charset="0"/>
                    <a:ea typeface="Times New Roman" panose="02020603050405020304" pitchFamily="18" charset="0"/>
                    <a:cs typeface="Times New Roman" panose="02020603050405020304" pitchFamily="18" charset="0"/>
                  </a:rPr>
                  <a:t>(</a:t>
                </a:r>
                <a:r>
                  <a:rPr lang="sr-Latn-RS" sz="2400" dirty="0" err="1">
                    <a:solidFill>
                      <a:srgbClr val="000000"/>
                    </a:solidFill>
                    <a:effectLst/>
                    <a:latin typeface="Cambria" panose="02040503050406030204" pitchFamily="18" charset="0"/>
                    <a:ea typeface="Times New Roman" panose="02020603050405020304" pitchFamily="18" charset="0"/>
                    <a:cs typeface="Times New Roman" panose="02020603050405020304" pitchFamily="18" charset="0"/>
                  </a:rPr>
                  <a:t>b</a:t>
                </a:r>
                <a:r>
                  <a:rPr lang="sr-Latn-RS" sz="2400" dirty="0">
                    <a:solidFill>
                      <a:srgbClr val="000000"/>
                    </a:solidFill>
                    <a:effectLst/>
                    <a:latin typeface="Cambria" panose="02040503050406030204" pitchFamily="18" charset="0"/>
                    <a:ea typeface="Times New Roman" panose="02020603050405020304" pitchFamily="18" charset="0"/>
                    <a:cs typeface="Times New Roman" panose="02020603050405020304" pitchFamily="18" charset="0"/>
                  </a:rPr>
                  <a:t>)	</a:t>
                </a:r>
                <a:r>
                  <a:rPr lang="sr-Latn-RS" sz="2400" dirty="0">
                    <a:latin typeface="Cambria" panose="02040503050406030204" pitchFamily="18" charset="0"/>
                    <a:ea typeface="Times New Roman" panose="02020603050405020304" pitchFamily="18" charset="0"/>
                    <a:cs typeface="Times New Roman" panose="02020603050405020304" pitchFamily="18" charset="0"/>
                  </a:rPr>
                  <a:t>	</a:t>
                </a:r>
                <a14:m>
                  <m:oMath xmlns:m="http://schemas.openxmlformats.org/officeDocument/2006/math">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r>
                      <a:rPr lang="sr-Latn-RS" sz="2400" i="1">
                        <a:latin typeface="Cambria Math" panose="02040503050406030204" pitchFamily="18" charset="0"/>
                        <a:ea typeface="Times New Roman" panose="02020603050405020304" pitchFamily="18" charset="0"/>
                        <a:cs typeface="Times New Roman" panose="02020603050405020304" pitchFamily="18" charset="0"/>
                      </a:rPr>
                      <m:t> ⨁ </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r>
                      <a:rPr lang="sr-Latn-RS" sz="2400" i="1">
                        <a:latin typeface="Cambria Math" panose="02040503050406030204" pitchFamily="18" charset="0"/>
                        <a:ea typeface="Times New Roman" panose="02020603050405020304" pitchFamily="18" charset="0"/>
                        <a:cs typeface="Times New Roman" panose="02020603050405020304" pitchFamily="18" charset="0"/>
                      </a:rPr>
                      <m:t>=0</m:t>
                    </m:r>
                  </m:oMath>
                </a14:m>
                <a:endParaRPr lang="en-ZA" sz="2400" dirty="0">
                  <a:latin typeface="Cambria" panose="02040503050406030204" pitchFamily="18" charset="0"/>
                  <a:ea typeface="Times New Roman" panose="02020603050405020304" pitchFamily="18" charset="0"/>
                  <a:cs typeface="Times New Roman" panose="02020603050405020304" pitchFamily="18" charset="0"/>
                </a:endParaRPr>
              </a:p>
              <a:p>
                <a:pPr marL="457200" lvl="0" indent="-457200" algn="just">
                  <a:spcAft>
                    <a:spcPts val="800"/>
                  </a:spcAft>
                  <a:buFont typeface="+mj-lt"/>
                  <a:buAutoNum type="arabicPeriod"/>
                </a:pPr>
                <a14:m>
                  <m:oMath xmlns:m="http://schemas.openxmlformats.org/officeDocument/2006/math">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r>
                      <a:rPr lang="sr-Latn-RS" sz="2400" i="1">
                        <a:latin typeface="Cambria Math" panose="02040503050406030204" pitchFamily="18" charset="0"/>
                        <a:ea typeface="Times New Roman" panose="02020603050405020304" pitchFamily="18" charset="0"/>
                        <a:cs typeface="Times New Roman" panose="02020603050405020304" pitchFamily="18" charset="0"/>
                      </a:rPr>
                      <m:t> </m:t>
                    </m:r>
                    <m:d>
                      <m:d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𝑦</m:t>
                        </m:r>
                        <m:r>
                          <a:rPr lang="sr-Latn-RS" sz="2400" i="1">
                            <a:latin typeface="Cambria Math" panose="02040503050406030204" pitchFamily="18" charset="0"/>
                            <a:ea typeface="Times New Roman" panose="02020603050405020304" pitchFamily="18" charset="0"/>
                            <a:cs typeface="Times New Roman" panose="02020603050405020304" pitchFamily="18" charset="0"/>
                          </a:rPr>
                          <m:t> </m:t>
                        </m:r>
                        <m:nary>
                          <m:naryPr>
                            <m:chr m:val="⨁"/>
                            <m:subHide m:val="on"/>
                            <m:supHide m:val="on"/>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naryPr>
                          <m:sub/>
                          <m:sup/>
                          <m:e>
                            <m:r>
                              <a:rPr lang="sr-Latn-RS" sz="2400" i="1">
                                <a:latin typeface="Cambria Math" panose="02040503050406030204" pitchFamily="18" charset="0"/>
                                <a:ea typeface="Times New Roman" panose="02020603050405020304" pitchFamily="18" charset="0"/>
                                <a:cs typeface="Times New Roman" panose="02020603050405020304" pitchFamily="18" charset="0"/>
                              </a:rPr>
                              <m:t>𝑧</m:t>
                            </m:r>
                          </m:e>
                        </m:nary>
                      </m:e>
                    </m:d>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𝑥𝑦</m:t>
                    </m:r>
                    <m:r>
                      <a:rPr lang="sr-Latn-RS" sz="2400" i="1">
                        <a:latin typeface="Cambria Math" panose="02040503050406030204" pitchFamily="18" charset="0"/>
                        <a:ea typeface="Times New Roman" panose="02020603050405020304" pitchFamily="18" charset="0"/>
                        <a:cs typeface="Times New Roman" panose="02020603050405020304" pitchFamily="18" charset="0"/>
                      </a:rPr>
                      <m:t> </m:t>
                    </m:r>
                    <m:nary>
                      <m:naryPr>
                        <m:chr m:val="⨁"/>
                        <m:subHide m:val="on"/>
                        <m:supHide m:val="on"/>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naryPr>
                      <m:sub/>
                      <m:sup/>
                      <m:e>
                        <m:r>
                          <a:rPr lang="sr-Latn-RS" sz="2400" i="1">
                            <a:latin typeface="Cambria Math" panose="02040503050406030204" pitchFamily="18" charset="0"/>
                            <a:ea typeface="Times New Roman" panose="02020603050405020304" pitchFamily="18" charset="0"/>
                            <a:cs typeface="Times New Roman" panose="02020603050405020304" pitchFamily="18" charset="0"/>
                          </a:rPr>
                          <m:t>𝑥</m:t>
                        </m:r>
                        <m:r>
                          <a:rPr lang="sr-Latn-RS" sz="2400" i="1">
                            <a:latin typeface="Cambria Math" panose="02040503050406030204" pitchFamily="18" charset="0"/>
                            <a:ea typeface="Times New Roman" panose="02020603050405020304" pitchFamily="18" charset="0"/>
                            <a:cs typeface="Times New Roman" panose="02020603050405020304" pitchFamily="18" charset="0"/>
                          </a:rPr>
                          <m:t> </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𝑧</m:t>
                        </m:r>
                      </m:e>
                    </m:nary>
                  </m:oMath>
                </a14:m>
                <a:endParaRPr lang="en-ZA"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5" name="Rectangle 4">
                <a:extLst>
                  <a:ext uri="{FF2B5EF4-FFF2-40B4-BE49-F238E27FC236}">
                    <a16:creationId xmlns:a16="http://schemas.microsoft.com/office/drawing/2014/main" id="{89354F1F-41AA-BC4D-8533-96298F7A6BA4}"/>
                  </a:ext>
                </a:extLst>
              </p:cNvPr>
              <p:cNvSpPr>
                <a:spLocks noRot="1" noChangeAspect="1" noMove="1" noResize="1" noEditPoints="1" noAdjustHandles="1" noChangeArrowheads="1" noChangeShapeType="1" noTextEdit="1"/>
              </p:cNvSpPr>
              <p:nvPr/>
            </p:nvSpPr>
            <p:spPr>
              <a:xfrm>
                <a:off x="1913466" y="4143514"/>
                <a:ext cx="8049365" cy="2349361"/>
              </a:xfrm>
              <a:prstGeom prst="rect">
                <a:avLst/>
              </a:prstGeom>
              <a:blipFill>
                <a:blip r:embed="rId4"/>
                <a:stretch>
                  <a:fillRect l="-1104" b="-28495"/>
                </a:stretch>
              </a:blipFill>
            </p:spPr>
            <p:txBody>
              <a:bodyPr/>
              <a:lstStyle/>
              <a:p>
                <a:r>
                  <a:rPr lang="en-US">
                    <a:noFill/>
                  </a:rPr>
                  <a:t> </a:t>
                </a:r>
              </a:p>
            </p:txBody>
          </p:sp>
        </mc:Fallback>
      </mc:AlternateContent>
    </p:spTree>
    <p:extLst>
      <p:ext uri="{BB962C8B-B14F-4D97-AF65-F5344CB8AC3E}">
        <p14:creationId xmlns:p14="http://schemas.microsoft.com/office/powerpoint/2010/main" val="2526712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FBE42D-58CD-B449-B925-803249E8D797}"/>
              </a:ext>
            </a:extLst>
          </p:cNvPr>
          <p:cNvSpPr>
            <a:spLocks noGrp="1"/>
          </p:cNvSpPr>
          <p:nvPr>
            <p:ph type="sldNum" sz="quarter" idx="12"/>
          </p:nvPr>
        </p:nvSpPr>
        <p:spPr/>
        <p:txBody>
          <a:bodyPr/>
          <a:lstStyle/>
          <a:p>
            <a:fld id="{591A223C-FA10-BC46-A853-03BA373D023C}" type="slidenum">
              <a:rPr lang="en-US" smtClean="0"/>
              <a:t>59</a:t>
            </a:fld>
            <a:endParaRPr lang="en-US"/>
          </a:p>
        </p:txBody>
      </p:sp>
      <p:sp>
        <p:nvSpPr>
          <p:cNvPr id="3" name="Title 2">
            <a:extLst>
              <a:ext uri="{FF2B5EF4-FFF2-40B4-BE49-F238E27FC236}">
                <a16:creationId xmlns:a16="http://schemas.microsoft.com/office/drawing/2014/main" id="{3BC2C761-8AF6-8F4E-9E36-259280127D4F}"/>
              </a:ext>
            </a:extLst>
          </p:cNvPr>
          <p:cNvSpPr>
            <a:spLocks noGrp="1"/>
          </p:cNvSpPr>
          <p:nvPr>
            <p:ph type="title"/>
          </p:nvPr>
        </p:nvSpPr>
        <p:spPr/>
        <p:txBody>
          <a:bodyPr/>
          <a:lstStyle/>
          <a:p>
            <a:r>
              <a:rPr lang="en-US" dirty="0"/>
              <a:t>De Morgan’s laws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63890052-9BA8-4845-84C5-8ECDF6DD8709}"/>
                  </a:ext>
                </a:extLst>
              </p:cNvPr>
              <p:cNvSpPr txBox="1"/>
              <p:nvPr/>
            </p:nvSpPr>
            <p:spPr>
              <a:xfrm>
                <a:off x="176463" y="1367005"/>
                <a:ext cx="9767161" cy="1754326"/>
              </a:xfrm>
              <a:prstGeom prst="rect">
                <a:avLst/>
              </a:prstGeom>
              <a:noFill/>
            </p:spPr>
            <p:txBody>
              <a:bodyPr wrap="none" rtlCol="0">
                <a:spAutoFit/>
              </a:bodyPr>
              <a:lstStyle/>
              <a:p>
                <a:pPr marL="342900" indent="-342900">
                  <a:buFont typeface="Arial" panose="020B0604020202020204" pitchFamily="34" charset="0"/>
                  <a:buChar char="•"/>
                </a:pPr>
                <a:endParaRPr lang="en-ZA" sz="600" dirty="0"/>
              </a:p>
              <a:p>
                <a:pPr marL="342900" indent="-342900">
                  <a:buFont typeface="Arial" panose="020B0604020202020204" pitchFamily="34" charset="0"/>
                  <a:buChar char="•"/>
                </a:pPr>
                <a:r>
                  <a:rPr lang="en-ZA" sz="2400" dirty="0"/>
                  <a:t>Boolean expressions consisting solely of conjunctions (</a:t>
                </a:r>
                <a14:m>
                  <m:oMath xmlns:m="http://schemas.openxmlformats.org/officeDocument/2006/math">
                    <m:r>
                      <a:rPr lang="sr-Latn-RS" sz="2400" i="1">
                        <a:latin typeface="Cambria Math" panose="02040503050406030204" pitchFamily="18" charset="0"/>
                      </a:rPr>
                      <m:t>∧</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AND</m:t>
                    </m:r>
                  </m:oMath>
                </a14:m>
                <a:r>
                  <a:rPr lang="en-ZA" sz="2400" dirty="0"/>
                  <a:t>) of literals, </a:t>
                </a:r>
                <a:br>
                  <a:rPr lang="en-ZA" sz="2400" dirty="0"/>
                </a:br>
                <a:r>
                  <a:rPr lang="en-ZA" sz="2400" dirty="0"/>
                  <a:t>without disjunctions (∨), are called conjunctive terms</a:t>
                </a:r>
              </a:p>
              <a:p>
                <a:pPr marL="342900" indent="-342900">
                  <a:buFont typeface="Arial" panose="020B0604020202020204" pitchFamily="34" charset="0"/>
                  <a:buChar char="•"/>
                </a:pPr>
                <a:endParaRPr lang="en-ZA" sz="600" dirty="0"/>
              </a:p>
              <a:p>
                <a:pPr marL="342900" indent="-342900">
                  <a:buFont typeface="Arial" panose="020B0604020202020204" pitchFamily="34" charset="0"/>
                  <a:buChar char="•"/>
                </a:pPr>
                <a:r>
                  <a:rPr lang="en-ZA" sz="2400" dirty="0"/>
                  <a:t>Boolean expressions consisting solely of disjunctions (</a:t>
                </a:r>
                <a14:m>
                  <m:oMath xmlns:m="http://schemas.openxmlformats.org/officeDocument/2006/math">
                    <m:r>
                      <a:rPr lang="sr-Latn-RS" sz="2400" i="1">
                        <a:latin typeface="Cambria Math" panose="02040503050406030204" pitchFamily="18" charset="0"/>
                      </a:rPr>
                      <m:t>∨</m:t>
                    </m:r>
                    <m:r>
                      <a:rPr lang="en-US" sz="2400" b="0" i="1" smtClean="0">
                        <a:latin typeface="Cambria Math" panose="02040503050406030204" pitchFamily="18" charset="0"/>
                      </a:rPr>
                      <m:t>/</m:t>
                    </m:r>
                    <m:r>
                      <m:rPr>
                        <m:sty m:val="p"/>
                      </m:rPr>
                      <a:rPr lang="en-US" sz="2400" b="0" i="0" smtClean="0">
                        <a:latin typeface="Cambria Math" panose="02040503050406030204" pitchFamily="18" charset="0"/>
                      </a:rPr>
                      <m:t>OR</m:t>
                    </m:r>
                  </m:oMath>
                </a14:m>
                <a:r>
                  <a:rPr lang="en-ZA" sz="2400" dirty="0"/>
                  <a:t>) of literals, </a:t>
                </a:r>
                <a:br>
                  <a:rPr lang="en-ZA" sz="2400" dirty="0"/>
                </a:br>
                <a:r>
                  <a:rPr lang="en-ZA" sz="2400" dirty="0"/>
                  <a:t>without conjunctions (∧), are called clauses (or disjunctive clauses).</a:t>
                </a:r>
              </a:p>
            </p:txBody>
          </p:sp>
        </mc:Choice>
        <mc:Fallback xmlns="">
          <p:sp>
            <p:nvSpPr>
              <p:cNvPr id="4" name="TextBox 3">
                <a:extLst>
                  <a:ext uri="{FF2B5EF4-FFF2-40B4-BE49-F238E27FC236}">
                    <a16:creationId xmlns:a16="http://schemas.microsoft.com/office/drawing/2014/main" id="{63890052-9BA8-4845-84C5-8ECDF6DD8709}"/>
                  </a:ext>
                </a:extLst>
              </p:cNvPr>
              <p:cNvSpPr txBox="1">
                <a:spLocks noRot="1" noChangeAspect="1" noMove="1" noResize="1" noEditPoints="1" noAdjustHandles="1" noChangeArrowheads="1" noChangeShapeType="1" noTextEdit="1"/>
              </p:cNvSpPr>
              <p:nvPr/>
            </p:nvSpPr>
            <p:spPr>
              <a:xfrm>
                <a:off x="176463" y="1367005"/>
                <a:ext cx="9767161" cy="1754326"/>
              </a:xfrm>
              <a:prstGeom prst="rect">
                <a:avLst/>
              </a:prstGeom>
              <a:blipFill>
                <a:blip r:embed="rId3"/>
                <a:stretch>
                  <a:fillRect l="-779" b="-5797"/>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5DB6F0DE-6194-2740-860A-606A56DEAA81}"/>
              </a:ext>
            </a:extLst>
          </p:cNvPr>
          <p:cNvSpPr txBox="1"/>
          <p:nvPr/>
        </p:nvSpPr>
        <p:spPr>
          <a:xfrm>
            <a:off x="176463" y="928688"/>
            <a:ext cx="1539717" cy="461665"/>
          </a:xfrm>
          <a:prstGeom prst="rect">
            <a:avLst/>
          </a:prstGeom>
          <a:solidFill>
            <a:schemeClr val="accent4">
              <a:lumMod val="20000"/>
              <a:lumOff val="80000"/>
            </a:schemeClr>
          </a:solidFill>
        </p:spPr>
        <p:txBody>
          <a:bodyPr wrap="none" rtlCol="0">
            <a:spAutoFit/>
          </a:bodyPr>
          <a:lstStyle/>
          <a:p>
            <a:r>
              <a:rPr lang="en-US" sz="2400" dirty="0"/>
              <a:t>Definitions</a:t>
            </a:r>
          </a:p>
        </p:txBody>
      </p:sp>
      <p:sp>
        <p:nvSpPr>
          <p:cNvPr id="6" name="TextBox 5">
            <a:extLst>
              <a:ext uri="{FF2B5EF4-FFF2-40B4-BE49-F238E27FC236}">
                <a16:creationId xmlns:a16="http://schemas.microsoft.com/office/drawing/2014/main" id="{B242EFCF-FE39-CA4B-B462-A4A798B3B048}"/>
              </a:ext>
            </a:extLst>
          </p:cNvPr>
          <p:cNvSpPr txBox="1"/>
          <p:nvPr/>
        </p:nvSpPr>
        <p:spPr>
          <a:xfrm>
            <a:off x="219328" y="3564084"/>
            <a:ext cx="2928430" cy="461665"/>
          </a:xfrm>
          <a:prstGeom prst="rect">
            <a:avLst/>
          </a:prstGeom>
          <a:solidFill>
            <a:schemeClr val="accent4">
              <a:lumMod val="20000"/>
              <a:lumOff val="80000"/>
            </a:schemeClr>
          </a:solidFill>
        </p:spPr>
        <p:txBody>
          <a:bodyPr wrap="none" rtlCol="0">
            <a:spAutoFit/>
          </a:bodyPr>
          <a:lstStyle/>
          <a:p>
            <a:r>
              <a:rPr lang="en-ZA" sz="2400" b="1" dirty="0"/>
              <a:t>First De Morgan’s law</a:t>
            </a:r>
            <a:endParaRPr lang="en-US" sz="24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9FE001E-72B4-3945-8D83-283368EC7F68}"/>
                  </a:ext>
                </a:extLst>
              </p:cNvPr>
              <p:cNvSpPr txBox="1"/>
              <p:nvPr/>
            </p:nvSpPr>
            <p:spPr>
              <a:xfrm>
                <a:off x="509977" y="4054292"/>
                <a:ext cx="10136429" cy="923330"/>
              </a:xfrm>
              <a:prstGeom prst="rect">
                <a:avLst/>
              </a:prstGeom>
              <a:solidFill>
                <a:schemeClr val="bg1">
                  <a:lumMod val="95000"/>
                </a:schemeClr>
              </a:solidFill>
            </p:spPr>
            <p:txBody>
              <a:bodyPr wrap="none" rtlCol="0">
                <a:spAutoFit/>
              </a:bodyPr>
              <a:lstStyle/>
              <a:p>
                <a:r>
                  <a:rPr lang="en-ZA" sz="2400" dirty="0"/>
                  <a:t>The negation of a conjunction is equivalent to the disjunction of the negations.: </a:t>
                </a:r>
              </a:p>
              <a:p>
                <a:endParaRPr lang="sr-Latn-RS" sz="600" i="1" dirty="0"/>
              </a:p>
              <a:p>
                <a:pPr/>
                <a14:m>
                  <m:oMathPara xmlns:m="http://schemas.openxmlformats.org/officeDocument/2006/math">
                    <m:oMathParaPr>
                      <m:jc m:val="centerGroup"/>
                    </m:oMathParaPr>
                    <m:oMath xmlns:m="http://schemas.openxmlformats.org/officeDocument/2006/math">
                      <m:r>
                        <a:rPr lang="sr-Latn-RS" sz="2400" i="1">
                          <a:latin typeface="Cambria Math" panose="02040503050406030204" pitchFamily="18" charset="0"/>
                        </a:rPr>
                        <m:t>¬</m:t>
                      </m:r>
                      <m:d>
                        <m:dPr>
                          <m:ctrlPr>
                            <a:rPr lang="en-ZA" sz="2400" i="1">
                              <a:latin typeface="Cambria Math" panose="02040503050406030204" pitchFamily="18" charset="0"/>
                            </a:rPr>
                          </m:ctrlPr>
                        </m:dPr>
                        <m:e>
                          <m:r>
                            <a:rPr lang="sr-Latn-RS" sz="2400" i="1">
                              <a:latin typeface="Cambria Math" panose="02040503050406030204" pitchFamily="18" charset="0"/>
                            </a:rPr>
                            <m:t>𝑎</m:t>
                          </m:r>
                          <m:r>
                            <a:rPr lang="sr-Latn-RS" sz="2400" i="1">
                              <a:latin typeface="Cambria Math" panose="02040503050406030204" pitchFamily="18" charset="0"/>
                            </a:rPr>
                            <m:t>∧</m:t>
                          </m:r>
                          <m:r>
                            <a:rPr lang="sr-Latn-RS" sz="2400" i="1">
                              <a:latin typeface="Cambria Math" panose="02040503050406030204" pitchFamily="18" charset="0"/>
                            </a:rPr>
                            <m:t>𝑏</m:t>
                          </m:r>
                        </m:e>
                      </m:d>
                      <m:r>
                        <a:rPr lang="sr-Latn-RS" sz="2400" i="1">
                          <a:latin typeface="Cambria Math" panose="02040503050406030204" pitchFamily="18" charset="0"/>
                        </a:rPr>
                        <m:t>=</m:t>
                      </m:r>
                      <m:d>
                        <m:dPr>
                          <m:ctrlPr>
                            <a:rPr lang="en-ZA" sz="2400" i="1">
                              <a:latin typeface="Cambria Math" panose="02040503050406030204" pitchFamily="18" charset="0"/>
                            </a:rPr>
                          </m:ctrlPr>
                        </m:dPr>
                        <m:e>
                          <m:r>
                            <a:rPr lang="sr-Latn-RS" sz="2400" i="1">
                              <a:latin typeface="Cambria Math" panose="02040503050406030204" pitchFamily="18" charset="0"/>
                            </a:rPr>
                            <m:t>¬</m:t>
                          </m:r>
                          <m:r>
                            <a:rPr lang="sr-Latn-RS" sz="2400" i="1">
                              <a:latin typeface="Cambria Math" panose="02040503050406030204" pitchFamily="18" charset="0"/>
                            </a:rPr>
                            <m:t>𝑎</m:t>
                          </m:r>
                        </m:e>
                      </m:d>
                      <m:r>
                        <a:rPr lang="sr-Latn-RS" sz="2400" i="1">
                          <a:latin typeface="Cambria Math" panose="02040503050406030204" pitchFamily="18" charset="0"/>
                        </a:rPr>
                        <m:t>∨</m:t>
                      </m:r>
                      <m:d>
                        <m:dPr>
                          <m:ctrlPr>
                            <a:rPr lang="en-ZA" sz="2400" i="1">
                              <a:latin typeface="Cambria Math" panose="02040503050406030204" pitchFamily="18" charset="0"/>
                            </a:rPr>
                          </m:ctrlPr>
                        </m:dPr>
                        <m:e>
                          <m:r>
                            <a:rPr lang="sr-Latn-RS" sz="2400" i="1">
                              <a:latin typeface="Cambria Math" panose="02040503050406030204" pitchFamily="18" charset="0"/>
                            </a:rPr>
                            <m:t>¬</m:t>
                          </m:r>
                          <m:r>
                            <a:rPr lang="sr-Latn-RS" sz="2400" i="1">
                              <a:latin typeface="Cambria Math" panose="02040503050406030204" pitchFamily="18" charset="0"/>
                            </a:rPr>
                            <m:t>𝑏</m:t>
                          </m:r>
                        </m:e>
                      </m:d>
                    </m:oMath>
                  </m:oMathPara>
                </a14:m>
                <a:endParaRPr lang="en-ZA" sz="2400" dirty="0"/>
              </a:p>
            </p:txBody>
          </p:sp>
        </mc:Choice>
        <mc:Fallback xmlns="">
          <p:sp>
            <p:nvSpPr>
              <p:cNvPr id="7" name="TextBox 6">
                <a:extLst>
                  <a:ext uri="{FF2B5EF4-FFF2-40B4-BE49-F238E27FC236}">
                    <a16:creationId xmlns:a16="http://schemas.microsoft.com/office/drawing/2014/main" id="{29FE001E-72B4-3945-8D83-283368EC7F68}"/>
                  </a:ext>
                </a:extLst>
              </p:cNvPr>
              <p:cNvSpPr txBox="1">
                <a:spLocks noRot="1" noChangeAspect="1" noMove="1" noResize="1" noEditPoints="1" noAdjustHandles="1" noChangeArrowheads="1" noChangeShapeType="1" noTextEdit="1"/>
              </p:cNvSpPr>
              <p:nvPr/>
            </p:nvSpPr>
            <p:spPr>
              <a:xfrm>
                <a:off x="509977" y="4054292"/>
                <a:ext cx="10136429" cy="923330"/>
              </a:xfrm>
              <a:prstGeom prst="rect">
                <a:avLst/>
              </a:prstGeom>
              <a:blipFill>
                <a:blip r:embed="rId4"/>
                <a:stretch>
                  <a:fillRect l="-876" t="-4054"/>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6B6BE671-0150-6448-B386-E1067844F724}"/>
              </a:ext>
            </a:extLst>
          </p:cNvPr>
          <p:cNvSpPr txBox="1"/>
          <p:nvPr/>
        </p:nvSpPr>
        <p:spPr>
          <a:xfrm>
            <a:off x="219328" y="5193437"/>
            <a:ext cx="3280450" cy="461665"/>
          </a:xfrm>
          <a:prstGeom prst="rect">
            <a:avLst/>
          </a:prstGeom>
          <a:solidFill>
            <a:schemeClr val="accent4">
              <a:lumMod val="20000"/>
              <a:lumOff val="80000"/>
            </a:schemeClr>
          </a:solidFill>
        </p:spPr>
        <p:txBody>
          <a:bodyPr wrap="none" rtlCol="0">
            <a:spAutoFit/>
          </a:bodyPr>
          <a:lstStyle/>
          <a:p>
            <a:r>
              <a:rPr lang="en-ZA" sz="2400" b="1" dirty="0"/>
              <a:t>Second De Morgan’s law</a:t>
            </a:r>
            <a:endParaRPr lang="en-US" sz="24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6E10EEA-B240-3D42-890C-1E76F9FA159A}"/>
                  </a:ext>
                </a:extLst>
              </p:cNvPr>
              <p:cNvSpPr txBox="1"/>
              <p:nvPr/>
            </p:nvSpPr>
            <p:spPr>
              <a:xfrm>
                <a:off x="509977" y="5577296"/>
                <a:ext cx="10059485" cy="923330"/>
              </a:xfrm>
              <a:prstGeom prst="rect">
                <a:avLst/>
              </a:prstGeom>
              <a:solidFill>
                <a:schemeClr val="bg1">
                  <a:lumMod val="95000"/>
                </a:schemeClr>
              </a:solidFill>
            </p:spPr>
            <p:txBody>
              <a:bodyPr wrap="none" rtlCol="0">
                <a:spAutoFit/>
              </a:bodyPr>
              <a:lstStyle/>
              <a:p>
                <a:r>
                  <a:rPr lang="en-ZA" sz="2400" dirty="0"/>
                  <a:t>The negation of a disjunction is equivalent to the conjunction of the negations: </a:t>
                </a:r>
                <a:endParaRPr lang="en-US" sz="2400" i="1" dirty="0">
                  <a:latin typeface="Cambria Math" panose="02040503050406030204" pitchFamily="18" charset="0"/>
                  <a:ea typeface="Times New Roman" panose="02020603050405020304" pitchFamily="18" charset="0"/>
                  <a:cs typeface="Times New Roman" panose="02020603050405020304" pitchFamily="18" charset="0"/>
                </a:endParaRPr>
              </a:p>
              <a:p>
                <a:endParaRPr lang="en-US" sz="600" i="1" dirty="0">
                  <a:latin typeface="Cambria Math" panose="02040503050406030204" pitchFamily="18" charset="0"/>
                  <a:ea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d>
                        <m:d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400" i="1">
                              <a:latin typeface="Cambria Math" panose="02040503050406030204" pitchFamily="18" charset="0"/>
                              <a:ea typeface="Times New Roman" panose="02020603050405020304" pitchFamily="18" charset="0"/>
                              <a:cs typeface="Times New Roman" panose="02020603050405020304" pitchFamily="18" charset="0"/>
                            </a:rPr>
                            <m:t>𝑎</m:t>
                          </m:r>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𝑏</m:t>
                          </m:r>
                        </m:e>
                      </m:d>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d>
                        <m:d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𝑎</m:t>
                          </m:r>
                        </m:e>
                      </m:d>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d>
                        <m:dPr>
                          <m:ctrlPr>
                            <a:rPr lang="en-ZA" sz="2400" i="1">
                              <a:latin typeface="Cambria Math" panose="02040503050406030204" pitchFamily="18" charset="0"/>
                              <a:ea typeface="Times New Roman" panose="02020603050405020304" pitchFamily="18" charset="0"/>
                              <a:cs typeface="Times New Roman" panose="02020603050405020304" pitchFamily="18" charset="0"/>
                            </a:rPr>
                          </m:ctrlPr>
                        </m:dPr>
                        <m:e>
                          <m:r>
                            <a:rPr lang="sr-Latn-RS" sz="2400" i="1">
                              <a:latin typeface="Cambria Math" panose="02040503050406030204" pitchFamily="18" charset="0"/>
                              <a:ea typeface="Times New Roman" panose="02020603050405020304" pitchFamily="18" charset="0"/>
                              <a:cs typeface="Times New Roman" panose="02020603050405020304" pitchFamily="18" charset="0"/>
                            </a:rPr>
                            <m:t>¬</m:t>
                          </m:r>
                          <m:r>
                            <a:rPr lang="sr-Latn-RS" sz="2400" i="1">
                              <a:latin typeface="Cambria Math" panose="02040503050406030204" pitchFamily="18" charset="0"/>
                              <a:ea typeface="Times New Roman" panose="02020603050405020304" pitchFamily="18" charset="0"/>
                              <a:cs typeface="Times New Roman" panose="02020603050405020304" pitchFamily="18" charset="0"/>
                            </a:rPr>
                            <m:t>𝑏</m:t>
                          </m:r>
                        </m:e>
                      </m:d>
                    </m:oMath>
                  </m:oMathPara>
                </a14:m>
                <a:endParaRPr lang="en-ZA" sz="2400"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36E10EEA-B240-3D42-890C-1E76F9FA159A}"/>
                  </a:ext>
                </a:extLst>
              </p:cNvPr>
              <p:cNvSpPr txBox="1">
                <a:spLocks noRot="1" noChangeAspect="1" noMove="1" noResize="1" noEditPoints="1" noAdjustHandles="1" noChangeArrowheads="1" noChangeShapeType="1" noTextEdit="1"/>
              </p:cNvSpPr>
              <p:nvPr/>
            </p:nvSpPr>
            <p:spPr>
              <a:xfrm>
                <a:off x="509977" y="5577296"/>
                <a:ext cx="10059485" cy="923330"/>
              </a:xfrm>
              <a:prstGeom prst="rect">
                <a:avLst/>
              </a:prstGeom>
              <a:blipFill>
                <a:blip r:embed="rId5"/>
                <a:stretch>
                  <a:fillRect l="-883" t="-4054"/>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CC9E42F5-27AE-4E4E-B42C-D6B343B15C09}"/>
              </a:ext>
            </a:extLst>
          </p:cNvPr>
          <p:cNvSpPr txBox="1"/>
          <p:nvPr/>
        </p:nvSpPr>
        <p:spPr>
          <a:xfrm>
            <a:off x="9741176" y="3236482"/>
            <a:ext cx="2143151" cy="646331"/>
          </a:xfrm>
          <a:prstGeom prst="rect">
            <a:avLst/>
          </a:prstGeom>
          <a:noFill/>
        </p:spPr>
        <p:txBody>
          <a:bodyPr wrap="none" rtlCol="0">
            <a:spAutoFit/>
          </a:bodyPr>
          <a:lstStyle/>
          <a:p>
            <a:pPr algn="ctr"/>
            <a:r>
              <a:rPr lang="en-US" dirty="0"/>
              <a:t>Augustus De Morgan</a:t>
            </a:r>
          </a:p>
          <a:p>
            <a:pPr algn="ctr"/>
            <a:r>
              <a:rPr lang="en-US" dirty="0"/>
              <a:t>(1806 – 1871)</a:t>
            </a:r>
          </a:p>
        </p:txBody>
      </p:sp>
      <p:pic>
        <p:nvPicPr>
          <p:cNvPr id="12" name="Picture 11">
            <a:extLst>
              <a:ext uri="{FF2B5EF4-FFF2-40B4-BE49-F238E27FC236}">
                <a16:creationId xmlns:a16="http://schemas.microsoft.com/office/drawing/2014/main" id="{605CB65D-FCAC-F64E-81B0-C7BBDD97498C}"/>
              </a:ext>
            </a:extLst>
          </p:cNvPr>
          <p:cNvPicPr>
            <a:picLocks noChangeAspect="1"/>
          </p:cNvPicPr>
          <p:nvPr/>
        </p:nvPicPr>
        <p:blipFill>
          <a:blip r:embed="rId6"/>
          <a:stretch>
            <a:fillRect/>
          </a:stretch>
        </p:blipFill>
        <p:spPr>
          <a:xfrm>
            <a:off x="9448800" y="305291"/>
            <a:ext cx="2727905" cy="2905383"/>
          </a:xfrm>
          <a:prstGeom prst="rect">
            <a:avLst/>
          </a:prstGeom>
        </p:spPr>
      </p:pic>
    </p:spTree>
    <p:extLst>
      <p:ext uri="{BB962C8B-B14F-4D97-AF65-F5344CB8AC3E}">
        <p14:creationId xmlns:p14="http://schemas.microsoft.com/office/powerpoint/2010/main" val="10558299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CD0921-8A8F-BA48-966F-5EBF090E41BF}"/>
              </a:ext>
            </a:extLst>
          </p:cNvPr>
          <p:cNvSpPr>
            <a:spLocks noGrp="1"/>
          </p:cNvSpPr>
          <p:nvPr>
            <p:ph type="sldNum" sz="quarter" idx="12"/>
          </p:nvPr>
        </p:nvSpPr>
        <p:spPr/>
        <p:txBody>
          <a:bodyPr/>
          <a:lstStyle/>
          <a:p>
            <a:fld id="{591A223C-FA10-BC46-A853-03BA373D023C}" type="slidenum">
              <a:rPr lang="en-US" smtClean="0"/>
              <a:t>60</a:t>
            </a:fld>
            <a:endParaRPr lang="en-US"/>
          </a:p>
        </p:txBody>
      </p:sp>
      <p:sp>
        <p:nvSpPr>
          <p:cNvPr id="3" name="Title 2">
            <a:extLst>
              <a:ext uri="{FF2B5EF4-FFF2-40B4-BE49-F238E27FC236}">
                <a16:creationId xmlns:a16="http://schemas.microsoft.com/office/drawing/2014/main" id="{7AB97732-2A04-E34D-901C-F41661EA2257}"/>
              </a:ext>
            </a:extLst>
          </p:cNvPr>
          <p:cNvSpPr>
            <a:spLocks noGrp="1"/>
          </p:cNvSpPr>
          <p:nvPr>
            <p:ph type="title"/>
          </p:nvPr>
        </p:nvSpPr>
        <p:spPr/>
        <p:txBody>
          <a:bodyPr/>
          <a:lstStyle/>
          <a:p>
            <a:r>
              <a:rPr lang="en-ZA" dirty="0"/>
              <a:t>Conjunctive Normal Form (CNF)</a:t>
            </a:r>
            <a:endParaRPr lang="en-US" dirty="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9A6FA1C9-4DD3-864F-B948-EF06558C5D2C}"/>
                  </a:ext>
                </a:extLst>
              </p:cNvPr>
              <p:cNvSpPr/>
              <p:nvPr/>
            </p:nvSpPr>
            <p:spPr>
              <a:xfrm>
                <a:off x="247143" y="1222957"/>
                <a:ext cx="11655047" cy="3204788"/>
              </a:xfrm>
              <a:prstGeom prst="rect">
                <a:avLst/>
              </a:prstGeom>
            </p:spPr>
            <p:txBody>
              <a:bodyPr wrap="square">
                <a:spAutoFit/>
              </a:bodyPr>
              <a:lstStyle/>
              <a:p>
                <a:pPr algn="ctr"/>
                <a:r>
                  <a:rPr lang="en-ZA" sz="2800" dirty="0"/>
                  <a:t>Conjunctive Normal Form (CNF) is a Boolean expression represented as a conjunction of multiple clauses</a:t>
                </a:r>
                <a:endParaRPr lang="en-US" sz="800" i="1" dirty="0">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ZA" sz="800" i="1">
                              <a:latin typeface="Cambria Math" panose="02040503050406030204" pitchFamily="18" charset="0"/>
                            </a:rPr>
                          </m:ctrlPr>
                        </m:sSubPr>
                        <m:e>
                          <m:r>
                            <a:rPr lang="sr-Latn-RS" sz="800" i="1">
                              <a:latin typeface="Cambria Math" panose="02040503050406030204" pitchFamily="18" charset="0"/>
                            </a:rPr>
                            <m:t>𝐷</m:t>
                          </m:r>
                        </m:e>
                        <m:sub>
                          <m:r>
                            <a:rPr lang="en-US" sz="800" i="1">
                              <a:latin typeface="Cambria Math" panose="02040503050406030204" pitchFamily="18" charset="0"/>
                            </a:rPr>
                            <m:t>𝑖</m:t>
                          </m:r>
                        </m:sub>
                      </m:sSub>
                    </m:oMath>
                  </m:oMathPara>
                </a14:m>
                <a:endParaRPr lang="en-ZA" sz="600" dirty="0"/>
              </a:p>
              <a:p>
                <a:pPr algn="ctr"/>
                <a14:m>
                  <m:oMath xmlns:m="http://schemas.openxmlformats.org/officeDocument/2006/math">
                    <m:sSub>
                      <m:sSubPr>
                        <m:ctrlPr>
                          <a:rPr lang="en-ZA" sz="2800" i="1">
                            <a:latin typeface="Cambria Math" panose="02040503050406030204" pitchFamily="18" charset="0"/>
                          </a:rPr>
                        </m:ctrlPr>
                      </m:sSubPr>
                      <m:e>
                        <m:r>
                          <a:rPr lang="sr-Latn-RS" sz="2800" i="1">
                            <a:latin typeface="Cambria Math" panose="02040503050406030204" pitchFamily="18" charset="0"/>
                          </a:rPr>
                          <m:t>𝐷</m:t>
                        </m:r>
                      </m:e>
                      <m:sub>
                        <m:r>
                          <a:rPr lang="sr-Latn-RS" sz="2800" i="1">
                            <a:latin typeface="Cambria Math" panose="02040503050406030204" pitchFamily="18" charset="0"/>
                          </a:rPr>
                          <m:t>1</m:t>
                        </m:r>
                      </m:sub>
                    </m:sSub>
                    <m:r>
                      <a:rPr lang="sr-Latn-RS" sz="2800" i="1">
                        <a:latin typeface="Cambria Math" panose="02040503050406030204" pitchFamily="18" charset="0"/>
                      </a:rPr>
                      <m:t>∧</m:t>
                    </m:r>
                    <m:sSub>
                      <m:sSubPr>
                        <m:ctrlPr>
                          <a:rPr lang="en-ZA" sz="2800" i="1">
                            <a:latin typeface="Cambria Math" panose="02040503050406030204" pitchFamily="18" charset="0"/>
                          </a:rPr>
                        </m:ctrlPr>
                      </m:sSubPr>
                      <m:e>
                        <m:r>
                          <a:rPr lang="sr-Latn-RS" sz="2800" i="1">
                            <a:latin typeface="Cambria Math" panose="02040503050406030204" pitchFamily="18" charset="0"/>
                          </a:rPr>
                          <m:t>𝐷</m:t>
                        </m:r>
                      </m:e>
                      <m:sub>
                        <m:r>
                          <a:rPr lang="sr-Latn-RS" sz="2800" i="1">
                            <a:latin typeface="Cambria Math" panose="02040503050406030204" pitchFamily="18" charset="0"/>
                          </a:rPr>
                          <m:t>2</m:t>
                        </m:r>
                      </m:sub>
                    </m:sSub>
                    <m:r>
                      <a:rPr lang="sr-Latn-RS" sz="2800" i="1">
                        <a:latin typeface="Cambria Math" panose="02040503050406030204" pitchFamily="18" charset="0"/>
                      </a:rPr>
                      <m:t>∧⋯∧</m:t>
                    </m:r>
                    <m:sSub>
                      <m:sSubPr>
                        <m:ctrlPr>
                          <a:rPr lang="en-ZA" sz="2800" i="1">
                            <a:latin typeface="Cambria Math" panose="02040503050406030204" pitchFamily="18" charset="0"/>
                          </a:rPr>
                        </m:ctrlPr>
                      </m:sSubPr>
                      <m:e>
                        <m:r>
                          <a:rPr lang="sr-Latn-RS" sz="2800" i="1">
                            <a:latin typeface="Cambria Math" panose="02040503050406030204" pitchFamily="18" charset="0"/>
                          </a:rPr>
                          <m:t>𝐷</m:t>
                        </m:r>
                      </m:e>
                      <m:sub>
                        <m:r>
                          <a:rPr lang="sr-Latn-RS" sz="2800" i="1">
                            <a:latin typeface="Cambria Math" panose="02040503050406030204" pitchFamily="18" charset="0"/>
                          </a:rPr>
                          <m:t>𝑛</m:t>
                        </m:r>
                      </m:sub>
                    </m:sSub>
                  </m:oMath>
                </a14:m>
                <a:r>
                  <a:rPr lang="en-US" sz="2800" dirty="0"/>
                  <a:t> </a:t>
                </a:r>
              </a:p>
              <a:p>
                <a:pPr algn="ctr"/>
                <a:endParaRPr lang="en-US" sz="600" dirty="0"/>
              </a:p>
              <a:p>
                <a:pPr algn="ctr"/>
                <a:r>
                  <a:rPr lang="en-ZA" sz="2800" dirty="0"/>
                  <a:t>where each clause</a:t>
                </a:r>
              </a:p>
              <a:p>
                <a:pPr algn="ctr"/>
                <a:endParaRPr lang="en-US" sz="600" dirty="0"/>
              </a:p>
              <a:p>
                <a:pPr algn="ctr"/>
                <a14:m>
                  <m:oMathPara xmlns:m="http://schemas.openxmlformats.org/officeDocument/2006/math">
                    <m:oMathParaPr>
                      <m:jc m:val="centerGroup"/>
                    </m:oMathParaPr>
                    <m:oMath xmlns:m="http://schemas.openxmlformats.org/officeDocument/2006/math">
                      <m:sSub>
                        <m:sSubPr>
                          <m:ctrlPr>
                            <a:rPr lang="en-ZA" sz="2800" i="1">
                              <a:latin typeface="Cambria Math" panose="02040503050406030204" pitchFamily="18" charset="0"/>
                            </a:rPr>
                          </m:ctrlPr>
                        </m:sSubPr>
                        <m:e>
                          <m:r>
                            <a:rPr lang="sr-Latn-RS" sz="2800" i="1">
                              <a:latin typeface="Cambria Math" panose="02040503050406030204" pitchFamily="18" charset="0"/>
                            </a:rPr>
                            <m:t>𝐷</m:t>
                          </m:r>
                        </m:e>
                        <m:sub>
                          <m:r>
                            <a:rPr lang="sr-Latn-RS" sz="2800" i="1">
                              <a:latin typeface="Cambria Math" panose="02040503050406030204" pitchFamily="18" charset="0"/>
                            </a:rPr>
                            <m:t>𝑖</m:t>
                          </m:r>
                        </m:sub>
                      </m:sSub>
                      <m:r>
                        <a:rPr lang="sr-Latn-RS" sz="2800" i="1">
                          <a:latin typeface="Cambria Math" panose="02040503050406030204" pitchFamily="18" charset="0"/>
                        </a:rPr>
                        <m:t>=</m:t>
                      </m:r>
                      <m:sSub>
                        <m:sSubPr>
                          <m:ctrlPr>
                            <a:rPr lang="en-ZA" sz="2800" i="1">
                              <a:latin typeface="Cambria Math" panose="02040503050406030204" pitchFamily="18" charset="0"/>
                            </a:rPr>
                          </m:ctrlPr>
                        </m:sSubPr>
                        <m:e>
                          <m:r>
                            <a:rPr lang="sr-Latn-RS" sz="2800" i="1">
                              <a:latin typeface="Cambria Math" panose="02040503050406030204" pitchFamily="18" charset="0"/>
                            </a:rPr>
                            <m:t>𝐿</m:t>
                          </m:r>
                        </m:e>
                        <m:sub>
                          <m:r>
                            <a:rPr lang="sr-Latn-RS" sz="2800" i="1">
                              <a:latin typeface="Cambria Math" panose="02040503050406030204" pitchFamily="18" charset="0"/>
                            </a:rPr>
                            <m:t>𝑖</m:t>
                          </m:r>
                          <m:r>
                            <a:rPr lang="sr-Latn-RS" sz="2800" i="1">
                              <a:latin typeface="Cambria Math" panose="02040503050406030204" pitchFamily="18" charset="0"/>
                            </a:rPr>
                            <m:t>1</m:t>
                          </m:r>
                        </m:sub>
                      </m:sSub>
                      <m:r>
                        <a:rPr lang="sr-Latn-RS" sz="2800" b="1" i="1">
                          <a:latin typeface="Cambria Math" panose="02040503050406030204" pitchFamily="18" charset="0"/>
                        </a:rPr>
                        <m:t>∨</m:t>
                      </m:r>
                      <m:sSub>
                        <m:sSubPr>
                          <m:ctrlPr>
                            <a:rPr lang="en-ZA" sz="2800" i="1">
                              <a:latin typeface="Cambria Math" panose="02040503050406030204" pitchFamily="18" charset="0"/>
                            </a:rPr>
                          </m:ctrlPr>
                        </m:sSubPr>
                        <m:e>
                          <m:r>
                            <a:rPr lang="sr-Latn-RS" sz="2800" i="1">
                              <a:latin typeface="Cambria Math" panose="02040503050406030204" pitchFamily="18" charset="0"/>
                            </a:rPr>
                            <m:t>𝐿</m:t>
                          </m:r>
                        </m:e>
                        <m:sub>
                          <m:r>
                            <a:rPr lang="sr-Latn-RS" sz="2800" i="1">
                              <a:latin typeface="Cambria Math" panose="02040503050406030204" pitchFamily="18" charset="0"/>
                            </a:rPr>
                            <m:t>𝑖</m:t>
                          </m:r>
                          <m:r>
                            <a:rPr lang="sr-Latn-RS" sz="2800" i="1">
                              <a:latin typeface="Cambria Math" panose="02040503050406030204" pitchFamily="18" charset="0"/>
                            </a:rPr>
                            <m:t>2</m:t>
                          </m:r>
                        </m:sub>
                      </m:sSub>
                      <m:r>
                        <a:rPr lang="sr-Latn-RS" sz="2800" b="1" i="1">
                          <a:latin typeface="Cambria Math" panose="02040503050406030204" pitchFamily="18" charset="0"/>
                        </a:rPr>
                        <m:t>∨</m:t>
                      </m:r>
                      <m:r>
                        <a:rPr lang="sr-Latn-RS" sz="2800" i="1">
                          <a:latin typeface="Cambria Math" panose="02040503050406030204" pitchFamily="18" charset="0"/>
                        </a:rPr>
                        <m:t>⋯</m:t>
                      </m:r>
                      <m:r>
                        <a:rPr lang="sr-Latn-RS" sz="2800" b="1" i="1">
                          <a:latin typeface="Cambria Math" panose="02040503050406030204" pitchFamily="18" charset="0"/>
                        </a:rPr>
                        <m:t>∨</m:t>
                      </m:r>
                      <m:sSub>
                        <m:sSubPr>
                          <m:ctrlPr>
                            <a:rPr lang="en-ZA" sz="2800" i="1">
                              <a:latin typeface="Cambria Math" panose="02040503050406030204" pitchFamily="18" charset="0"/>
                            </a:rPr>
                          </m:ctrlPr>
                        </m:sSubPr>
                        <m:e>
                          <m:r>
                            <a:rPr lang="sr-Latn-RS" sz="2800" i="1">
                              <a:latin typeface="Cambria Math" panose="02040503050406030204" pitchFamily="18" charset="0"/>
                            </a:rPr>
                            <m:t>𝐿</m:t>
                          </m:r>
                        </m:e>
                        <m:sub>
                          <m:r>
                            <a:rPr lang="sr-Latn-RS" sz="2800" i="1">
                              <a:latin typeface="Cambria Math" panose="02040503050406030204" pitchFamily="18" charset="0"/>
                            </a:rPr>
                            <m:t>𝑖𝑚</m:t>
                          </m:r>
                        </m:sub>
                      </m:sSub>
                    </m:oMath>
                  </m:oMathPara>
                </a14:m>
                <a:endParaRPr lang="en-US" sz="2800" dirty="0"/>
              </a:p>
              <a:p>
                <a:pPr algn="ctr"/>
                <a:endParaRPr lang="en-US" sz="600" dirty="0"/>
              </a:p>
              <a:p>
                <a:pPr algn="ctr"/>
                <a:endParaRPr lang="en-US" sz="600" dirty="0"/>
              </a:p>
              <a:p>
                <a:pPr algn="ctr"/>
                <a:r>
                  <a:rPr lang="en-ZA" sz="2800" dirty="0"/>
                  <a:t>is a disjunction of literals</a:t>
                </a:r>
                <a14:m>
                  <m:oMath xmlns:m="http://schemas.openxmlformats.org/officeDocument/2006/math">
                    <m:sSub>
                      <m:sSubPr>
                        <m:ctrlPr>
                          <a:rPr lang="en-ZA" sz="2800" i="1">
                            <a:latin typeface="Cambria Math" panose="02040503050406030204" pitchFamily="18" charset="0"/>
                          </a:rPr>
                        </m:ctrlPr>
                      </m:sSubPr>
                      <m:e>
                        <m:r>
                          <a:rPr lang="en-US" sz="2800" i="1">
                            <a:latin typeface="Cambria Math" panose="02040503050406030204" pitchFamily="18" charset="0"/>
                          </a:rPr>
                          <m:t> </m:t>
                        </m:r>
                        <m:r>
                          <a:rPr lang="en-US" sz="2800" i="1">
                            <a:latin typeface="Cambria Math" panose="02040503050406030204" pitchFamily="18" charset="0"/>
                          </a:rPr>
                          <m:t>𝐿</m:t>
                        </m:r>
                      </m:e>
                      <m:sub>
                        <m:r>
                          <a:rPr lang="en-US" sz="2800" i="1">
                            <a:latin typeface="Cambria Math" panose="02040503050406030204" pitchFamily="18" charset="0"/>
                          </a:rPr>
                          <m:t>𝑖𝑗</m:t>
                        </m:r>
                      </m:sub>
                    </m:sSub>
                  </m:oMath>
                </a14:m>
                <a:r>
                  <a:rPr lang="en-ZA" sz="2800" dirty="0"/>
                  <a:t>​.</a:t>
                </a:r>
                <a:endParaRPr lang="en-US" sz="2800" dirty="0"/>
              </a:p>
            </p:txBody>
          </p:sp>
        </mc:Choice>
        <mc:Fallback xmlns="">
          <p:sp>
            <p:nvSpPr>
              <p:cNvPr id="5" name="Rectangle 4">
                <a:extLst>
                  <a:ext uri="{FF2B5EF4-FFF2-40B4-BE49-F238E27FC236}">
                    <a16:creationId xmlns:a16="http://schemas.microsoft.com/office/drawing/2014/main" id="{9A6FA1C9-4DD3-864F-B948-EF06558C5D2C}"/>
                  </a:ext>
                </a:extLst>
              </p:cNvPr>
              <p:cNvSpPr>
                <a:spLocks noRot="1" noChangeAspect="1" noMove="1" noResize="1" noEditPoints="1" noAdjustHandles="1" noChangeArrowheads="1" noChangeShapeType="1" noTextEdit="1"/>
              </p:cNvSpPr>
              <p:nvPr/>
            </p:nvSpPr>
            <p:spPr>
              <a:xfrm>
                <a:off x="247143" y="1222957"/>
                <a:ext cx="11655047" cy="3204788"/>
              </a:xfrm>
              <a:prstGeom prst="rect">
                <a:avLst/>
              </a:prstGeom>
              <a:blipFill>
                <a:blip r:embed="rId3"/>
                <a:stretch>
                  <a:fillRect t="-1976" b="-3162"/>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54EDC619-AB0E-3945-B569-651F1EB43751}"/>
              </a:ext>
            </a:extLst>
          </p:cNvPr>
          <p:cNvSpPr txBox="1"/>
          <p:nvPr/>
        </p:nvSpPr>
        <p:spPr>
          <a:xfrm>
            <a:off x="2772785" y="4762062"/>
            <a:ext cx="6946231" cy="1569660"/>
          </a:xfrm>
          <a:prstGeom prst="rect">
            <a:avLst/>
          </a:prstGeom>
          <a:solidFill>
            <a:schemeClr val="bg1">
              <a:lumMod val="95000"/>
            </a:schemeClr>
          </a:solidFill>
        </p:spPr>
        <p:txBody>
          <a:bodyPr wrap="square" rtlCol="0">
            <a:spAutoFit/>
          </a:bodyPr>
          <a:lstStyle/>
          <a:p>
            <a:r>
              <a:rPr lang="sr-Latn-RS" sz="2400" dirty="0">
                <a:latin typeface="Meiryo" panose="020B0604030504040204" pitchFamily="34" charset="-128"/>
                <a:ea typeface="Meiryo" panose="020B0604030504040204" pitchFamily="34" charset="-128"/>
              </a:rPr>
              <a:t>c </a:t>
            </a:r>
            <a:r>
              <a:rPr lang="en-ZA" sz="2400" dirty="0"/>
              <a:t>DIMACS CNF </a:t>
            </a:r>
            <a:r>
              <a:rPr lang="sr-Latn-RS" sz="2400" dirty="0" err="1">
                <a:latin typeface="Meiryo" panose="020B0604030504040204" pitchFamily="34" charset="-128"/>
                <a:ea typeface="Meiryo" panose="020B0604030504040204" pitchFamily="34" charset="-128"/>
              </a:rPr>
              <a:t>Example</a:t>
            </a:r>
            <a:endParaRPr lang="en-ZA" sz="2400" dirty="0">
              <a:latin typeface="Meiryo" panose="020B0604030504040204" pitchFamily="34" charset="-128"/>
              <a:ea typeface="Meiryo" panose="020B0604030504040204" pitchFamily="34" charset="-128"/>
            </a:endParaRPr>
          </a:p>
          <a:p>
            <a:r>
              <a:rPr lang="sr-Latn-RS" sz="2400" dirty="0" err="1">
                <a:latin typeface="Meiryo" panose="020B0604030504040204" pitchFamily="34" charset="-128"/>
                <a:ea typeface="Meiryo" panose="020B0604030504040204" pitchFamily="34" charset="-128"/>
              </a:rPr>
              <a:t>p</a:t>
            </a:r>
            <a:r>
              <a:rPr lang="sr-Latn-RS" sz="2400" dirty="0">
                <a:latin typeface="Meiryo" panose="020B0604030504040204" pitchFamily="34" charset="-128"/>
                <a:ea typeface="Meiryo" panose="020B0604030504040204" pitchFamily="34" charset="-128"/>
              </a:rPr>
              <a:t> </a:t>
            </a:r>
            <a:r>
              <a:rPr lang="sr-Latn-RS" sz="2400" dirty="0" err="1">
                <a:latin typeface="Meiryo" panose="020B0604030504040204" pitchFamily="34" charset="-128"/>
                <a:ea typeface="Meiryo" panose="020B0604030504040204" pitchFamily="34" charset="-128"/>
              </a:rPr>
              <a:t>cnf</a:t>
            </a:r>
            <a:r>
              <a:rPr lang="sr-Latn-RS" sz="2400" dirty="0">
                <a:latin typeface="Meiryo" panose="020B0604030504040204" pitchFamily="34" charset="-128"/>
                <a:ea typeface="Meiryo" panose="020B0604030504040204" pitchFamily="34" charset="-128"/>
              </a:rPr>
              <a:t> 3 2</a:t>
            </a:r>
            <a:endParaRPr lang="en-ZA" sz="2400" dirty="0">
              <a:latin typeface="Meiryo" panose="020B0604030504040204" pitchFamily="34" charset="-128"/>
              <a:ea typeface="Meiryo" panose="020B0604030504040204" pitchFamily="34" charset="-128"/>
            </a:endParaRPr>
          </a:p>
          <a:p>
            <a:r>
              <a:rPr lang="sr-Latn-RS" sz="2400" dirty="0">
                <a:latin typeface="Meiryo" panose="020B0604030504040204" pitchFamily="34" charset="-128"/>
                <a:ea typeface="Meiryo" panose="020B0604030504040204" pitchFamily="34" charset="-128"/>
              </a:rPr>
              <a:t>1 2 0</a:t>
            </a:r>
            <a:endParaRPr lang="en-ZA" sz="2400" dirty="0">
              <a:latin typeface="Meiryo" panose="020B0604030504040204" pitchFamily="34" charset="-128"/>
              <a:ea typeface="Meiryo" panose="020B0604030504040204" pitchFamily="34" charset="-128"/>
            </a:endParaRPr>
          </a:p>
          <a:p>
            <a:r>
              <a:rPr lang="sr-Latn-RS" sz="2400" dirty="0">
                <a:latin typeface="Meiryo" panose="020B0604030504040204" pitchFamily="34" charset="-128"/>
                <a:ea typeface="Meiryo" panose="020B0604030504040204" pitchFamily="34" charset="-128"/>
              </a:rPr>
              <a:t>-1 -3 0</a:t>
            </a:r>
            <a:endParaRPr lang="en-US" sz="24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0346034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B40CA5F-C709-0E4F-8750-3E6719169AEA}"/>
              </a:ext>
            </a:extLst>
          </p:cNvPr>
          <p:cNvSpPr/>
          <p:nvPr/>
        </p:nvSpPr>
        <p:spPr>
          <a:xfrm>
            <a:off x="36163" y="5833206"/>
            <a:ext cx="12155837" cy="798621"/>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0DE13E9-8448-B04C-A2EF-7DCB701A989C}"/>
              </a:ext>
            </a:extLst>
          </p:cNvPr>
          <p:cNvSpPr/>
          <p:nvPr/>
        </p:nvSpPr>
        <p:spPr>
          <a:xfrm>
            <a:off x="36163" y="4911442"/>
            <a:ext cx="12155837" cy="43516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0E23971-963D-8646-8E76-551ECB3C5CDD}"/>
              </a:ext>
            </a:extLst>
          </p:cNvPr>
          <p:cNvSpPr/>
          <p:nvPr/>
        </p:nvSpPr>
        <p:spPr>
          <a:xfrm>
            <a:off x="36163" y="3246437"/>
            <a:ext cx="12155837" cy="798621"/>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4A71223-2BC6-6F47-BA94-E23D69ADF16A}"/>
              </a:ext>
            </a:extLst>
          </p:cNvPr>
          <p:cNvSpPr/>
          <p:nvPr/>
        </p:nvSpPr>
        <p:spPr>
          <a:xfrm>
            <a:off x="36163" y="1857376"/>
            <a:ext cx="12155837" cy="43516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967F6E2-5400-184F-BBE1-69137CC13995}"/>
              </a:ext>
            </a:extLst>
          </p:cNvPr>
          <p:cNvSpPr/>
          <p:nvPr/>
        </p:nvSpPr>
        <p:spPr>
          <a:xfrm>
            <a:off x="36163" y="928688"/>
            <a:ext cx="12155837" cy="435163"/>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7539B066-79B4-DF4F-9E57-2EACAD7D5341}"/>
              </a:ext>
            </a:extLst>
          </p:cNvPr>
          <p:cNvSpPr>
            <a:spLocks noGrp="1"/>
          </p:cNvSpPr>
          <p:nvPr>
            <p:ph type="sldNum" sz="quarter" idx="12"/>
          </p:nvPr>
        </p:nvSpPr>
        <p:spPr/>
        <p:txBody>
          <a:bodyPr/>
          <a:lstStyle/>
          <a:p>
            <a:fld id="{591A223C-FA10-BC46-A853-03BA373D023C}" type="slidenum">
              <a:rPr lang="en-US" smtClean="0"/>
              <a:t>61</a:t>
            </a:fld>
            <a:endParaRPr lang="en-US"/>
          </a:p>
        </p:txBody>
      </p:sp>
      <p:sp>
        <p:nvSpPr>
          <p:cNvPr id="3" name="Title 2">
            <a:extLst>
              <a:ext uri="{FF2B5EF4-FFF2-40B4-BE49-F238E27FC236}">
                <a16:creationId xmlns:a16="http://schemas.microsoft.com/office/drawing/2014/main" id="{B627504D-F689-A640-93DE-A4A5EF43FC8F}"/>
              </a:ext>
            </a:extLst>
          </p:cNvPr>
          <p:cNvSpPr>
            <a:spLocks noGrp="1"/>
          </p:cNvSpPr>
          <p:nvPr>
            <p:ph type="title"/>
          </p:nvPr>
        </p:nvSpPr>
        <p:spPr>
          <a:xfrm>
            <a:off x="0" y="0"/>
            <a:ext cx="12192000" cy="928688"/>
          </a:xfrm>
        </p:spPr>
        <p:txBody>
          <a:bodyPr/>
          <a:lstStyle/>
          <a:p>
            <a:r>
              <a:rPr lang="en-US" dirty="0"/>
              <a:t>Boolean vectors and vector spaces</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834CF6A-E67B-9641-A780-A3ED42E6BCBE}"/>
                  </a:ext>
                </a:extLst>
              </p:cNvPr>
              <p:cNvSpPr txBox="1"/>
              <p:nvPr/>
            </p:nvSpPr>
            <p:spPr>
              <a:xfrm>
                <a:off x="29463" y="928688"/>
                <a:ext cx="12374991" cy="5909310"/>
              </a:xfrm>
              <a:prstGeom prst="rect">
                <a:avLst/>
              </a:prstGeom>
              <a:noFill/>
            </p:spPr>
            <p:txBody>
              <a:bodyPr wrap="none" rtlCol="0">
                <a:spAutoFit/>
              </a:bodyPr>
              <a:lstStyle/>
              <a:p>
                <a:pPr marL="457200" indent="-457200">
                  <a:buFont typeface="+mj-lt"/>
                  <a:buAutoNum type="arabicPeriod"/>
                </a:pPr>
                <a:r>
                  <a:rPr lang="en-ZA" sz="2400" dirty="0">
                    <a:latin typeface="+mj-lt"/>
                  </a:rPr>
                  <a:t>A Boolean vector is an ordered </a:t>
                </a:r>
                <a:r>
                  <a:rPr lang="en-US" sz="2400" dirty="0">
                    <a:latin typeface="+mj-lt"/>
                  </a:rPr>
                  <a:t>n</a:t>
                </a:r>
                <a:r>
                  <a:rPr lang="en-ZA" sz="2400" dirty="0">
                    <a:latin typeface="+mj-lt"/>
                  </a:rPr>
                  <a:t>-tuple of binary values</a:t>
                </a:r>
                <a:r>
                  <a:rPr lang="en-US" sz="2200" dirty="0">
                    <a:latin typeface="+mj-lt"/>
                  </a:rPr>
                  <a:t>, e.g.  </a:t>
                </a:r>
                <a14:m>
                  <m:oMath xmlns:m="http://schemas.openxmlformats.org/officeDocument/2006/math">
                    <m:r>
                      <a:rPr lang="sr-Latn-RS" sz="2200" i="1">
                        <a:latin typeface="Cambria Math" panose="02040503050406030204" pitchFamily="18" charset="0"/>
                      </a:rPr>
                      <m:t>𝑣</m:t>
                    </m:r>
                    <m:r>
                      <a:rPr lang="sr-Latn-RS" sz="2200" i="1">
                        <a:latin typeface="Cambria Math" panose="02040503050406030204" pitchFamily="18" charset="0"/>
                      </a:rPr>
                      <m:t>=</m:t>
                    </m:r>
                    <m:d>
                      <m:dPr>
                        <m:ctrlPr>
                          <a:rPr lang="sr-Latn-RS" sz="2200" i="1">
                            <a:latin typeface="Cambria Math" panose="02040503050406030204" pitchFamily="18" charset="0"/>
                          </a:rPr>
                        </m:ctrlPr>
                      </m:dPr>
                      <m:e>
                        <m:r>
                          <a:rPr lang="sr-Latn-RS" sz="2200" i="1">
                            <a:latin typeface="Cambria Math" panose="02040503050406030204" pitchFamily="18" charset="0"/>
                          </a:rPr>
                          <m:t>1,01,1</m:t>
                        </m:r>
                      </m:e>
                    </m:d>
                    <m:r>
                      <a:rPr lang="en-US" sz="2200" b="0" i="0" smtClean="0">
                        <a:latin typeface="Cambria Math" panose="02040503050406030204" pitchFamily="18" charset="0"/>
                      </a:rPr>
                      <m:t>.</m:t>
                    </m:r>
                  </m:oMath>
                </a14:m>
                <a:endParaRPr lang="en-ZA" sz="2200" dirty="0">
                  <a:effectLst/>
                  <a:latin typeface="+mj-lt"/>
                </a:endParaRPr>
              </a:p>
              <a:p>
                <a:pPr marL="342900" indent="-342900">
                  <a:buFont typeface="+mj-lt"/>
                  <a:buAutoNum type="arabicPeriod"/>
                </a:pPr>
                <a:endParaRPr lang="en-ZA" sz="800" dirty="0">
                  <a:effectLst/>
                  <a:latin typeface="+mj-lt"/>
                </a:endParaRPr>
              </a:p>
              <a:p>
                <a:pPr marL="457200" indent="-457200">
                  <a:buFont typeface="+mj-lt"/>
                  <a:buAutoNum type="arabicPeriod"/>
                </a:pPr>
                <a:r>
                  <a:rPr lang="en-ZA" sz="2200" dirty="0">
                    <a:latin typeface="+mj-lt"/>
                  </a:rPr>
                  <a:t>Vectors, vector addition (⊕), and scalar multiplication (∧,∨) form a vector space.</a:t>
                </a:r>
                <a:endParaRPr lang="sr-Latn-RS" sz="2200" dirty="0">
                  <a:latin typeface="+mj-lt"/>
                </a:endParaRPr>
              </a:p>
              <a:p>
                <a:pPr marL="342900" indent="-342900">
                  <a:buFont typeface="+mj-lt"/>
                  <a:buAutoNum type="arabicPeriod"/>
                </a:pPr>
                <a:endParaRPr lang="sr-Latn-RS" sz="800" dirty="0">
                  <a:latin typeface="+mj-lt"/>
                </a:endParaRPr>
              </a:p>
              <a:p>
                <a:pPr marL="457200" indent="-457200">
                  <a:buFont typeface="+mj-lt"/>
                  <a:buAutoNum type="arabicPeriod"/>
                </a:pPr>
                <a:r>
                  <a:rPr lang="en-ZA" sz="2400" dirty="0">
                    <a:latin typeface="+mj-lt"/>
                  </a:rPr>
                  <a:t>A basis of the space is a set of linearly independent vectors</a:t>
                </a:r>
                <a:r>
                  <a:rPr lang="sr-Latn-RS" sz="2200" dirty="0">
                    <a:latin typeface="+mj-lt"/>
                  </a:rPr>
                  <a:t>, </a:t>
                </a:r>
                <a:r>
                  <a:rPr lang="sr-Latn-RS" sz="2200" dirty="0" err="1">
                    <a:latin typeface="+mj-lt"/>
                  </a:rPr>
                  <a:t>e.g</a:t>
                </a:r>
                <a:r>
                  <a:rPr lang="sr-Latn-RS" sz="2200" dirty="0">
                    <a:latin typeface="+mj-lt"/>
                  </a:rPr>
                  <a:t>.  </a:t>
                </a:r>
                <a14:m>
                  <m:oMath xmlns:m="http://schemas.openxmlformats.org/officeDocument/2006/math">
                    <m:sSub>
                      <m:sSubPr>
                        <m:ctrlPr>
                          <a:rPr lang="en-ZA" sz="2200" i="1">
                            <a:latin typeface="Cambria Math" panose="02040503050406030204" pitchFamily="18" charset="0"/>
                          </a:rPr>
                        </m:ctrlPr>
                      </m:sSubPr>
                      <m:e>
                        <m:r>
                          <a:rPr lang="sr-Latn-RS" sz="2200" i="1">
                            <a:latin typeface="Cambria Math" panose="02040503050406030204" pitchFamily="18" charset="0"/>
                          </a:rPr>
                          <m:t>𝑒</m:t>
                        </m:r>
                      </m:e>
                      <m:sub>
                        <m:r>
                          <a:rPr lang="sr-Latn-RS" sz="2200" i="1">
                            <a:latin typeface="Cambria Math" panose="02040503050406030204" pitchFamily="18" charset="0"/>
                          </a:rPr>
                          <m:t>1</m:t>
                        </m:r>
                      </m:sub>
                    </m:sSub>
                    <m:r>
                      <a:rPr lang="sr-Latn-RS" sz="2200" i="1">
                        <a:latin typeface="Cambria Math" panose="02040503050406030204" pitchFamily="18" charset="0"/>
                      </a:rPr>
                      <m:t>=</m:t>
                    </m:r>
                    <m:d>
                      <m:dPr>
                        <m:ctrlPr>
                          <a:rPr lang="en-ZA" sz="2200" i="1">
                            <a:latin typeface="Cambria Math" panose="02040503050406030204" pitchFamily="18" charset="0"/>
                          </a:rPr>
                        </m:ctrlPr>
                      </m:dPr>
                      <m:e>
                        <m:r>
                          <a:rPr lang="sr-Latn-RS" sz="2200" i="1">
                            <a:latin typeface="Cambria Math" panose="02040503050406030204" pitchFamily="18" charset="0"/>
                          </a:rPr>
                          <m:t>1,0,⋯0</m:t>
                        </m:r>
                      </m:e>
                    </m:d>
                  </m:oMath>
                </a14:m>
                <a:r>
                  <a:rPr lang="en-ZA" sz="2200" dirty="0">
                    <a:effectLst/>
                    <a:latin typeface="+mj-lt"/>
                  </a:rPr>
                  <a:t> , </a:t>
                </a:r>
                <a14:m>
                  <m:oMath xmlns:m="http://schemas.openxmlformats.org/officeDocument/2006/math">
                    <m:sSub>
                      <m:sSubPr>
                        <m:ctrlPr>
                          <a:rPr lang="en-ZA" sz="2200" i="1">
                            <a:latin typeface="Cambria Math" panose="02040503050406030204" pitchFamily="18" charset="0"/>
                          </a:rPr>
                        </m:ctrlPr>
                      </m:sSubPr>
                      <m:e>
                        <m:r>
                          <a:rPr lang="sr-Latn-RS" sz="2200" i="1">
                            <a:latin typeface="Cambria Math" panose="02040503050406030204" pitchFamily="18" charset="0"/>
                          </a:rPr>
                          <m:t>𝑒</m:t>
                        </m:r>
                      </m:e>
                      <m:sub>
                        <m:r>
                          <a:rPr lang="sr-Latn-RS" sz="2200" i="1">
                            <a:latin typeface="Cambria Math" panose="02040503050406030204" pitchFamily="18" charset="0"/>
                          </a:rPr>
                          <m:t>2</m:t>
                        </m:r>
                      </m:sub>
                    </m:sSub>
                    <m:r>
                      <a:rPr lang="sr-Latn-RS" sz="2200" i="1">
                        <a:latin typeface="Cambria Math" panose="02040503050406030204" pitchFamily="18" charset="0"/>
                      </a:rPr>
                      <m:t>=</m:t>
                    </m:r>
                    <m:d>
                      <m:dPr>
                        <m:ctrlPr>
                          <a:rPr lang="en-ZA" sz="2200" i="1">
                            <a:latin typeface="Cambria Math" panose="02040503050406030204" pitchFamily="18" charset="0"/>
                          </a:rPr>
                        </m:ctrlPr>
                      </m:dPr>
                      <m:e>
                        <m:r>
                          <a:rPr lang="sr-Latn-RS" sz="2200" i="1">
                            <a:latin typeface="Cambria Math" panose="02040503050406030204" pitchFamily="18" charset="0"/>
                          </a:rPr>
                          <m:t>0,1,⋯0</m:t>
                        </m:r>
                      </m:e>
                    </m:d>
                  </m:oMath>
                </a14:m>
                <a:r>
                  <a:rPr lang="en-ZA" sz="2200" dirty="0">
                    <a:effectLst/>
                    <a:latin typeface="+mj-lt"/>
                  </a:rPr>
                  <a:t> </a:t>
                </a:r>
              </a:p>
              <a:p>
                <a:pPr marL="342900" indent="-342900">
                  <a:buFont typeface="+mj-lt"/>
                  <a:buAutoNum type="arabicPeriod"/>
                </a:pPr>
                <a:endParaRPr lang="en-ZA" sz="800" dirty="0">
                  <a:effectLst/>
                  <a:latin typeface="+mj-lt"/>
                </a:endParaRPr>
              </a:p>
              <a:p>
                <a:pPr marL="457200" indent="-457200">
                  <a:buFont typeface="+mj-lt"/>
                  <a:buAutoNum type="arabicPeriod"/>
                </a:pPr>
                <a:r>
                  <a:rPr lang="en-ZA" sz="2400" dirty="0">
                    <a:latin typeface="+mj-lt"/>
                  </a:rPr>
                  <a:t>Vectors are linearly independent if for every set of scalars</a:t>
                </a:r>
                <a:r>
                  <a:rPr lang="en-ZA" sz="2200" dirty="0">
                    <a:latin typeface="+mj-lt"/>
                  </a:rPr>
                  <a:t> </a:t>
                </a:r>
                <a14:m>
                  <m:oMath xmlns:m="http://schemas.openxmlformats.org/officeDocument/2006/math">
                    <m:sSub>
                      <m:sSubPr>
                        <m:ctrlPr>
                          <a:rPr lang="en-ZA" sz="2200" i="1">
                            <a:latin typeface="Cambria Math" panose="02040503050406030204" pitchFamily="18" charset="0"/>
                          </a:rPr>
                        </m:ctrlPr>
                      </m:sSubPr>
                      <m:e>
                        <m:r>
                          <a:rPr lang="sr-Latn-RS" sz="2200" i="1">
                            <a:latin typeface="Cambria Math" panose="02040503050406030204" pitchFamily="18" charset="0"/>
                          </a:rPr>
                          <m:t>𝑎</m:t>
                        </m:r>
                      </m:e>
                      <m:sub>
                        <m:r>
                          <a:rPr lang="sr-Latn-RS" sz="2200" b="0" i="1" smtClean="0">
                            <a:latin typeface="Cambria Math" panose="02040503050406030204" pitchFamily="18" charset="0"/>
                          </a:rPr>
                          <m:t>𝑖</m:t>
                        </m:r>
                      </m:sub>
                    </m:sSub>
                  </m:oMath>
                </a14:m>
                <a:r>
                  <a:rPr lang="sr-Latn-RS" sz="2200" dirty="0">
                    <a:latin typeface="+mj-lt"/>
                  </a:rPr>
                  <a:t>, </a:t>
                </a:r>
                <a:r>
                  <a:rPr lang="en-ZA" sz="2400" dirty="0">
                    <a:latin typeface="+mj-lt"/>
                  </a:rPr>
                  <a:t>the equation</a:t>
                </a:r>
                <a:endParaRPr lang="sr-Latn-RS" sz="2200" dirty="0">
                  <a:latin typeface="+mj-lt"/>
                </a:endParaRPr>
              </a:p>
              <a:p>
                <a:pPr lvl="1"/>
                <a:r>
                  <a:rPr lang="en-ZA" sz="2200" dirty="0"/>
                  <a:t>	</a:t>
                </a:r>
                <a14:m>
                  <m:oMath xmlns:m="http://schemas.openxmlformats.org/officeDocument/2006/math">
                    <m:sSub>
                      <m:sSubPr>
                        <m:ctrlPr>
                          <a:rPr lang="en-ZA" sz="2200" i="1">
                            <a:latin typeface="Cambria Math" panose="02040503050406030204" pitchFamily="18" charset="0"/>
                          </a:rPr>
                        </m:ctrlPr>
                      </m:sSubPr>
                      <m:e>
                        <m:sSub>
                          <m:sSubPr>
                            <m:ctrlPr>
                              <a:rPr lang="en-ZA" sz="2200" i="1">
                                <a:latin typeface="Cambria Math" panose="02040503050406030204" pitchFamily="18" charset="0"/>
                              </a:rPr>
                            </m:ctrlPr>
                          </m:sSubPr>
                          <m:e>
                            <m:r>
                              <a:rPr lang="sr-Latn-RS" sz="2200" i="1">
                                <a:latin typeface="Cambria Math" panose="02040503050406030204" pitchFamily="18" charset="0"/>
                              </a:rPr>
                              <m:t>𝑎</m:t>
                            </m:r>
                          </m:e>
                          <m:sub>
                            <m:r>
                              <a:rPr lang="sr-Latn-RS" sz="2200" i="1">
                                <a:latin typeface="Cambria Math" panose="02040503050406030204" pitchFamily="18" charset="0"/>
                              </a:rPr>
                              <m:t>1</m:t>
                            </m:r>
                          </m:sub>
                        </m:sSub>
                        <m:r>
                          <a:rPr lang="sr-Latn-RS" sz="2200" i="1">
                            <a:latin typeface="Cambria Math" panose="02040503050406030204" pitchFamily="18" charset="0"/>
                          </a:rPr>
                          <m:t>𝑒</m:t>
                        </m:r>
                      </m:e>
                      <m:sub>
                        <m:r>
                          <a:rPr lang="sr-Latn-RS" sz="2200" i="1">
                            <a:latin typeface="Cambria Math" panose="02040503050406030204" pitchFamily="18" charset="0"/>
                          </a:rPr>
                          <m:t>1</m:t>
                        </m:r>
                      </m:sub>
                    </m:sSub>
                    <m:r>
                      <a:rPr lang="sr-Latn-RS" sz="2200" i="1">
                        <a:latin typeface="Cambria Math" panose="02040503050406030204" pitchFamily="18" charset="0"/>
                      </a:rPr>
                      <m:t>+</m:t>
                    </m:r>
                    <m:sSub>
                      <m:sSubPr>
                        <m:ctrlPr>
                          <a:rPr lang="en-ZA" sz="2200" i="1">
                            <a:latin typeface="Cambria Math" panose="02040503050406030204" pitchFamily="18" charset="0"/>
                          </a:rPr>
                        </m:ctrlPr>
                      </m:sSubPr>
                      <m:e>
                        <m:r>
                          <a:rPr lang="sr-Latn-RS" sz="2200" i="1">
                            <a:latin typeface="Cambria Math" panose="02040503050406030204" pitchFamily="18" charset="0"/>
                          </a:rPr>
                          <m:t>𝑎</m:t>
                        </m:r>
                      </m:e>
                      <m:sub>
                        <m:r>
                          <a:rPr lang="sr-Latn-RS" sz="2200" i="1">
                            <a:latin typeface="Cambria Math" panose="02040503050406030204" pitchFamily="18" charset="0"/>
                          </a:rPr>
                          <m:t>2</m:t>
                        </m:r>
                      </m:sub>
                    </m:sSub>
                    <m:sSub>
                      <m:sSubPr>
                        <m:ctrlPr>
                          <a:rPr lang="en-ZA" sz="2200" i="1">
                            <a:latin typeface="Cambria Math" panose="02040503050406030204" pitchFamily="18" charset="0"/>
                          </a:rPr>
                        </m:ctrlPr>
                      </m:sSubPr>
                      <m:e>
                        <m:r>
                          <a:rPr lang="sr-Latn-RS" sz="2200" i="1">
                            <a:latin typeface="Cambria Math" panose="02040503050406030204" pitchFamily="18" charset="0"/>
                          </a:rPr>
                          <m:t>𝑒</m:t>
                        </m:r>
                      </m:e>
                      <m:sub>
                        <m:r>
                          <a:rPr lang="sr-Latn-RS" sz="2200" i="1">
                            <a:latin typeface="Cambria Math" panose="02040503050406030204" pitchFamily="18" charset="0"/>
                          </a:rPr>
                          <m:t>1</m:t>
                        </m:r>
                      </m:sub>
                    </m:sSub>
                    <m:r>
                      <a:rPr lang="sr-Latn-RS" sz="2200" i="1">
                        <a:latin typeface="Cambria Math" panose="02040503050406030204" pitchFamily="18" charset="0"/>
                      </a:rPr>
                      <m:t>+⋯+</m:t>
                    </m:r>
                    <m:sSub>
                      <m:sSubPr>
                        <m:ctrlPr>
                          <a:rPr lang="en-ZA" sz="2200" i="1">
                            <a:latin typeface="Cambria Math" panose="02040503050406030204" pitchFamily="18" charset="0"/>
                          </a:rPr>
                        </m:ctrlPr>
                      </m:sSubPr>
                      <m:e>
                        <m:r>
                          <a:rPr lang="sr-Latn-RS" sz="2200" i="1">
                            <a:latin typeface="Cambria Math" panose="02040503050406030204" pitchFamily="18" charset="0"/>
                          </a:rPr>
                          <m:t>𝑎</m:t>
                        </m:r>
                      </m:e>
                      <m:sub>
                        <m:r>
                          <a:rPr lang="sr-Latn-RS" sz="2200" i="1">
                            <a:latin typeface="Cambria Math" panose="02040503050406030204" pitchFamily="18" charset="0"/>
                          </a:rPr>
                          <m:t>𝑛</m:t>
                        </m:r>
                      </m:sub>
                    </m:sSub>
                    <m:sSub>
                      <m:sSubPr>
                        <m:ctrlPr>
                          <a:rPr lang="en-ZA" sz="2200" i="1">
                            <a:latin typeface="Cambria Math" panose="02040503050406030204" pitchFamily="18" charset="0"/>
                          </a:rPr>
                        </m:ctrlPr>
                      </m:sSubPr>
                      <m:e>
                        <m:r>
                          <a:rPr lang="sr-Latn-RS" sz="2200" i="1">
                            <a:latin typeface="Cambria Math" panose="02040503050406030204" pitchFamily="18" charset="0"/>
                          </a:rPr>
                          <m:t>𝑒</m:t>
                        </m:r>
                      </m:e>
                      <m:sub>
                        <m:r>
                          <a:rPr lang="sr-Latn-RS" sz="2200" i="1">
                            <a:latin typeface="Cambria Math" panose="02040503050406030204" pitchFamily="18" charset="0"/>
                          </a:rPr>
                          <m:t>𝑛</m:t>
                        </m:r>
                      </m:sub>
                    </m:sSub>
                    <m:r>
                      <a:rPr lang="sr-Latn-RS" sz="2200" i="1">
                        <a:latin typeface="Cambria Math" panose="02040503050406030204" pitchFamily="18" charset="0"/>
                      </a:rPr>
                      <m:t>=0</m:t>
                    </m:r>
                  </m:oMath>
                </a14:m>
                <a:r>
                  <a:rPr lang="sr-Latn-RS" sz="2200" dirty="0">
                    <a:latin typeface="+mj-lt"/>
                  </a:rPr>
                  <a:t>   </a:t>
                </a:r>
                <a:r>
                  <a:rPr lang="en-ZA" sz="2400" dirty="0">
                    <a:latin typeface="+mj-lt"/>
                  </a:rPr>
                  <a:t>implies that</a:t>
                </a:r>
                <a:r>
                  <a:rPr lang="sr-Latn-RS" sz="2200" dirty="0">
                    <a:latin typeface="+mj-lt"/>
                  </a:rPr>
                  <a:t>   </a:t>
                </a:r>
                <a14:m>
                  <m:oMath xmlns:m="http://schemas.openxmlformats.org/officeDocument/2006/math">
                    <m:sSub>
                      <m:sSubPr>
                        <m:ctrlPr>
                          <a:rPr lang="en-ZA" sz="2200" i="1">
                            <a:latin typeface="Cambria Math" panose="02040503050406030204" pitchFamily="18" charset="0"/>
                          </a:rPr>
                        </m:ctrlPr>
                      </m:sSubPr>
                      <m:e>
                        <m:r>
                          <a:rPr lang="sr-Latn-RS" sz="2200" i="1">
                            <a:latin typeface="Cambria Math" panose="02040503050406030204" pitchFamily="18" charset="0"/>
                          </a:rPr>
                          <m:t>𝑒</m:t>
                        </m:r>
                      </m:e>
                      <m:sub>
                        <m:r>
                          <a:rPr lang="sr-Latn-RS" sz="2200" i="1">
                            <a:latin typeface="Cambria Math" panose="02040503050406030204" pitchFamily="18" charset="0"/>
                          </a:rPr>
                          <m:t>1</m:t>
                        </m:r>
                      </m:sub>
                    </m:sSub>
                    <m:r>
                      <a:rPr lang="sr-Latn-RS" sz="2200" i="1">
                        <a:latin typeface="Cambria Math" panose="02040503050406030204" pitchFamily="18" charset="0"/>
                      </a:rPr>
                      <m:t>=</m:t>
                    </m:r>
                    <m:sSub>
                      <m:sSubPr>
                        <m:ctrlPr>
                          <a:rPr lang="en-ZA" sz="2200" i="1">
                            <a:latin typeface="Cambria Math" panose="02040503050406030204" pitchFamily="18" charset="0"/>
                          </a:rPr>
                        </m:ctrlPr>
                      </m:sSubPr>
                      <m:e>
                        <m:r>
                          <a:rPr lang="sr-Latn-RS" sz="2200" i="1">
                            <a:latin typeface="Cambria Math" panose="02040503050406030204" pitchFamily="18" charset="0"/>
                          </a:rPr>
                          <m:t>𝑒</m:t>
                        </m:r>
                      </m:e>
                      <m:sub>
                        <m:r>
                          <a:rPr lang="sr-Latn-RS" sz="2200" i="1">
                            <a:latin typeface="Cambria Math" panose="02040503050406030204" pitchFamily="18" charset="0"/>
                          </a:rPr>
                          <m:t>2</m:t>
                        </m:r>
                      </m:sub>
                    </m:sSub>
                    <m:r>
                      <a:rPr lang="sr-Latn-RS" sz="2200" i="1">
                        <a:latin typeface="Cambria Math" panose="02040503050406030204" pitchFamily="18" charset="0"/>
                      </a:rPr>
                      <m:t>=⋯=</m:t>
                    </m:r>
                    <m:sSub>
                      <m:sSubPr>
                        <m:ctrlPr>
                          <a:rPr lang="en-ZA" sz="2200" i="1">
                            <a:latin typeface="Cambria Math" panose="02040503050406030204" pitchFamily="18" charset="0"/>
                          </a:rPr>
                        </m:ctrlPr>
                      </m:sSubPr>
                      <m:e>
                        <m:r>
                          <a:rPr lang="sr-Latn-RS" sz="2200" i="1">
                            <a:latin typeface="Cambria Math" panose="02040503050406030204" pitchFamily="18" charset="0"/>
                          </a:rPr>
                          <m:t>𝑒</m:t>
                        </m:r>
                      </m:e>
                      <m:sub>
                        <m:r>
                          <a:rPr lang="sr-Latn-RS" sz="2200" i="1">
                            <a:latin typeface="Cambria Math" panose="02040503050406030204" pitchFamily="18" charset="0"/>
                          </a:rPr>
                          <m:t>𝑛</m:t>
                        </m:r>
                      </m:sub>
                    </m:sSub>
                    <m:r>
                      <a:rPr lang="sr-Latn-RS" sz="2200" i="1">
                        <a:latin typeface="Cambria Math" panose="02040503050406030204" pitchFamily="18" charset="0"/>
                      </a:rPr>
                      <m:t>=0</m:t>
                    </m:r>
                  </m:oMath>
                </a14:m>
                <a:endParaRPr lang="en-ZA" sz="2200" dirty="0">
                  <a:effectLst/>
                  <a:latin typeface="+mj-lt"/>
                </a:endParaRPr>
              </a:p>
              <a:p>
                <a:pPr marL="800100" lvl="1" indent="-342900">
                  <a:buFont typeface="+mj-lt"/>
                  <a:buAutoNum type="arabicPeriod"/>
                </a:pPr>
                <a:endParaRPr lang="en-ZA" sz="1000" dirty="0">
                  <a:effectLst/>
                  <a:latin typeface="+mj-lt"/>
                </a:endParaRPr>
              </a:p>
              <a:p>
                <a:pPr marL="457200" indent="-457200">
                  <a:buFont typeface="+mj-lt"/>
                  <a:buAutoNum type="arabicPeriod"/>
                </a:pPr>
                <a:r>
                  <a:rPr lang="en-ZA" sz="2400" dirty="0">
                    <a:latin typeface="+mj-lt"/>
                  </a:rPr>
                  <a:t>Every vector in a vector space can be expressed as a </a:t>
                </a:r>
                <a:r>
                  <a:rPr lang="en-ZA" sz="2400" b="1" dirty="0">
                    <a:latin typeface="+mj-lt"/>
                  </a:rPr>
                  <a:t>linear combination</a:t>
                </a:r>
                <a:r>
                  <a:rPr lang="en-ZA" sz="2400" dirty="0">
                    <a:latin typeface="+mj-lt"/>
                  </a:rPr>
                  <a:t> of the basis vectors</a:t>
                </a:r>
                <a:r>
                  <a:rPr lang="sr-Latn-RS" sz="2200" dirty="0">
                    <a:latin typeface="+mj-lt"/>
                  </a:rPr>
                  <a:t> </a:t>
                </a:r>
              </a:p>
              <a:p>
                <a:pPr lvl="1"/>
                <a:r>
                  <a:rPr lang="en-ZA" sz="2200" dirty="0"/>
                  <a:t>	</a:t>
                </a:r>
                <a14:m>
                  <m:oMath xmlns:m="http://schemas.openxmlformats.org/officeDocument/2006/math">
                    <m:sSub>
                      <m:sSubPr>
                        <m:ctrlPr>
                          <a:rPr lang="en-ZA" sz="2200" i="1">
                            <a:latin typeface="Cambria Math" panose="02040503050406030204" pitchFamily="18" charset="0"/>
                          </a:rPr>
                        </m:ctrlPr>
                      </m:sSubPr>
                      <m:e>
                        <m:sSub>
                          <m:sSubPr>
                            <m:ctrlPr>
                              <a:rPr lang="en-ZA" sz="2200" i="1">
                                <a:latin typeface="Cambria Math" panose="02040503050406030204" pitchFamily="18" charset="0"/>
                              </a:rPr>
                            </m:ctrlPr>
                          </m:sSubPr>
                          <m:e>
                            <m:r>
                              <a:rPr lang="sr-Latn-RS" sz="2200" i="1">
                                <a:latin typeface="Cambria Math" panose="02040503050406030204" pitchFamily="18" charset="0"/>
                              </a:rPr>
                              <m:t>𝑥</m:t>
                            </m:r>
                            <m:r>
                              <a:rPr lang="sr-Latn-RS" sz="2200" b="0" i="1" smtClean="0">
                                <a:latin typeface="Cambria Math" panose="02040503050406030204" pitchFamily="18" charset="0"/>
                              </a:rPr>
                              <m:t>=</m:t>
                            </m:r>
                            <m:r>
                              <a:rPr lang="sr-Latn-RS" sz="2200" i="1">
                                <a:latin typeface="Cambria Math" panose="02040503050406030204" pitchFamily="18" charset="0"/>
                              </a:rPr>
                              <m:t>𝑥</m:t>
                            </m:r>
                          </m:e>
                          <m:sub>
                            <m:r>
                              <a:rPr lang="sr-Latn-RS" sz="2200" i="1">
                                <a:latin typeface="Cambria Math" panose="02040503050406030204" pitchFamily="18" charset="0"/>
                              </a:rPr>
                              <m:t>1</m:t>
                            </m:r>
                          </m:sub>
                        </m:sSub>
                        <m:r>
                          <a:rPr lang="sr-Latn-RS" sz="2200" i="1">
                            <a:latin typeface="Cambria Math" panose="02040503050406030204" pitchFamily="18" charset="0"/>
                          </a:rPr>
                          <m:t>𝑒</m:t>
                        </m:r>
                      </m:e>
                      <m:sub>
                        <m:r>
                          <a:rPr lang="sr-Latn-RS" sz="2200" i="1">
                            <a:latin typeface="Cambria Math" panose="02040503050406030204" pitchFamily="18" charset="0"/>
                          </a:rPr>
                          <m:t>1</m:t>
                        </m:r>
                      </m:sub>
                    </m:sSub>
                    <m:r>
                      <a:rPr lang="sr-Latn-RS" sz="2200" i="1">
                        <a:latin typeface="Cambria Math" panose="02040503050406030204" pitchFamily="18" charset="0"/>
                      </a:rPr>
                      <m:t>+</m:t>
                    </m:r>
                    <m:sSub>
                      <m:sSubPr>
                        <m:ctrlPr>
                          <a:rPr lang="en-ZA" sz="2200" i="1">
                            <a:latin typeface="Cambria Math" panose="02040503050406030204" pitchFamily="18" charset="0"/>
                          </a:rPr>
                        </m:ctrlPr>
                      </m:sSubPr>
                      <m:e>
                        <m:r>
                          <a:rPr lang="sr-Latn-RS" sz="2200" i="1">
                            <a:latin typeface="Cambria Math" panose="02040503050406030204" pitchFamily="18" charset="0"/>
                          </a:rPr>
                          <m:t>𝑥</m:t>
                        </m:r>
                      </m:e>
                      <m:sub>
                        <m:r>
                          <a:rPr lang="sr-Latn-RS" sz="2200" i="1">
                            <a:latin typeface="Cambria Math" panose="02040503050406030204" pitchFamily="18" charset="0"/>
                          </a:rPr>
                          <m:t>2</m:t>
                        </m:r>
                      </m:sub>
                    </m:sSub>
                    <m:sSub>
                      <m:sSubPr>
                        <m:ctrlPr>
                          <a:rPr lang="en-ZA" sz="2200" i="1">
                            <a:latin typeface="Cambria Math" panose="02040503050406030204" pitchFamily="18" charset="0"/>
                          </a:rPr>
                        </m:ctrlPr>
                      </m:sSubPr>
                      <m:e>
                        <m:r>
                          <a:rPr lang="sr-Latn-RS" sz="2200" i="1">
                            <a:latin typeface="Cambria Math" panose="02040503050406030204" pitchFamily="18" charset="0"/>
                          </a:rPr>
                          <m:t>𝑒</m:t>
                        </m:r>
                      </m:e>
                      <m:sub>
                        <m:r>
                          <a:rPr lang="sr-Latn-RS" sz="2200" i="1">
                            <a:latin typeface="Cambria Math" panose="02040503050406030204" pitchFamily="18" charset="0"/>
                          </a:rPr>
                          <m:t>1</m:t>
                        </m:r>
                      </m:sub>
                    </m:sSub>
                    <m:r>
                      <a:rPr lang="sr-Latn-RS" sz="2200" i="1">
                        <a:latin typeface="Cambria Math" panose="02040503050406030204" pitchFamily="18" charset="0"/>
                      </a:rPr>
                      <m:t>+</m:t>
                    </m:r>
                    <m:sSub>
                      <m:sSubPr>
                        <m:ctrlPr>
                          <a:rPr lang="en-ZA" sz="2200" i="1">
                            <a:latin typeface="Cambria Math" panose="02040503050406030204" pitchFamily="18" charset="0"/>
                          </a:rPr>
                        </m:ctrlPr>
                      </m:sSubPr>
                      <m:e>
                        <m:r>
                          <a:rPr lang="sr-Latn-RS" sz="2200" i="1">
                            <a:latin typeface="Cambria Math" panose="02040503050406030204" pitchFamily="18" charset="0"/>
                          </a:rPr>
                          <m:t>𝑥</m:t>
                        </m:r>
                      </m:e>
                      <m:sub>
                        <m:r>
                          <a:rPr lang="sr-Latn-RS" sz="2200" i="1">
                            <a:latin typeface="Cambria Math" panose="02040503050406030204" pitchFamily="18" charset="0"/>
                          </a:rPr>
                          <m:t>3</m:t>
                        </m:r>
                      </m:sub>
                    </m:sSub>
                    <m:sSub>
                      <m:sSubPr>
                        <m:ctrlPr>
                          <a:rPr lang="en-ZA" sz="2200" i="1">
                            <a:latin typeface="Cambria Math" panose="02040503050406030204" pitchFamily="18" charset="0"/>
                          </a:rPr>
                        </m:ctrlPr>
                      </m:sSubPr>
                      <m:e>
                        <m:r>
                          <a:rPr lang="sr-Latn-RS" sz="2200" i="1">
                            <a:latin typeface="Cambria Math" panose="02040503050406030204" pitchFamily="18" charset="0"/>
                          </a:rPr>
                          <m:t>𝑒</m:t>
                        </m:r>
                      </m:e>
                      <m:sub>
                        <m:r>
                          <a:rPr lang="sr-Latn-RS" sz="2200" i="1">
                            <a:latin typeface="Cambria Math" panose="02040503050406030204" pitchFamily="18" charset="0"/>
                          </a:rPr>
                          <m:t>3</m:t>
                        </m:r>
                      </m:sub>
                    </m:sSub>
                  </m:oMath>
                </a14:m>
                <a:r>
                  <a:rPr lang="en-ZA" sz="2200" dirty="0">
                    <a:effectLst/>
                    <a:latin typeface="+mj-lt"/>
                  </a:rPr>
                  <a:t> </a:t>
                </a:r>
              </a:p>
              <a:p>
                <a:pPr marL="800100" lvl="1" indent="-342900">
                  <a:buFont typeface="+mj-lt"/>
                  <a:buAutoNum type="arabicPeriod"/>
                </a:pPr>
                <a:endParaRPr lang="en-ZA" sz="800" dirty="0">
                  <a:effectLst/>
                  <a:latin typeface="+mj-lt"/>
                </a:endParaRPr>
              </a:p>
              <a:p>
                <a:pPr marL="457200" indent="-457200">
                  <a:buFont typeface="+mj-lt"/>
                  <a:buAutoNum type="arabicPeriod"/>
                </a:pPr>
                <a:r>
                  <a:rPr lang="en-ZA" sz="2400" dirty="0">
                    <a:latin typeface="+mj-lt"/>
                  </a:rPr>
                  <a:t>In a vector space, the inner product of two vectors is defined as</a:t>
                </a:r>
                <a:endParaRPr lang="sr-Latn-RS" sz="2200" dirty="0">
                  <a:latin typeface="+mj-lt"/>
                </a:endParaRPr>
              </a:p>
              <a:p>
                <a:pPr lvl="1"/>
                <a:r>
                  <a:rPr lang="sr-Latn-RS" sz="2200" dirty="0"/>
                  <a:t>	</a:t>
                </a:r>
                <a14:m>
                  <m:oMath xmlns:m="http://schemas.openxmlformats.org/officeDocument/2006/math">
                    <m:r>
                      <a:rPr lang="sr-Latn-RS" sz="2200" i="1">
                        <a:latin typeface="Cambria Math" panose="02040503050406030204" pitchFamily="18" charset="0"/>
                      </a:rPr>
                      <m:t>𝑥</m:t>
                    </m:r>
                    <m:r>
                      <a:rPr lang="sr-Latn-RS" sz="2200" i="1">
                        <a:latin typeface="Cambria Math" panose="02040503050406030204" pitchFamily="18" charset="0"/>
                      </a:rPr>
                      <m:t>= </m:t>
                    </m:r>
                    <m:d>
                      <m:dPr>
                        <m:ctrlPr>
                          <a:rPr lang="en-ZA" sz="2200" i="1">
                            <a:latin typeface="Cambria Math" panose="02040503050406030204" pitchFamily="18" charset="0"/>
                          </a:rPr>
                        </m:ctrlPr>
                      </m:dPr>
                      <m:e>
                        <m:sSub>
                          <m:sSubPr>
                            <m:ctrlPr>
                              <a:rPr lang="en-ZA" sz="2200" i="1">
                                <a:latin typeface="Cambria Math" panose="02040503050406030204" pitchFamily="18" charset="0"/>
                              </a:rPr>
                            </m:ctrlPr>
                          </m:sSubPr>
                          <m:e>
                            <m:r>
                              <a:rPr lang="sr-Latn-RS" sz="2200" i="1">
                                <a:latin typeface="Cambria Math" panose="02040503050406030204" pitchFamily="18" charset="0"/>
                              </a:rPr>
                              <m:t>𝑥</m:t>
                            </m:r>
                          </m:e>
                          <m:sub>
                            <m:r>
                              <a:rPr lang="sr-Latn-RS" sz="2200" i="1">
                                <a:latin typeface="Cambria Math" panose="02040503050406030204" pitchFamily="18" charset="0"/>
                              </a:rPr>
                              <m:t>1</m:t>
                            </m:r>
                          </m:sub>
                        </m:sSub>
                        <m:r>
                          <a:rPr lang="sr-Latn-RS" sz="2200" i="1">
                            <a:latin typeface="Cambria Math" panose="02040503050406030204" pitchFamily="18" charset="0"/>
                          </a:rPr>
                          <m:t>,</m:t>
                        </m:r>
                        <m:sSub>
                          <m:sSubPr>
                            <m:ctrlPr>
                              <a:rPr lang="en-ZA" sz="2200" i="1">
                                <a:latin typeface="Cambria Math" panose="02040503050406030204" pitchFamily="18" charset="0"/>
                              </a:rPr>
                            </m:ctrlPr>
                          </m:sSubPr>
                          <m:e>
                            <m:r>
                              <a:rPr lang="sr-Latn-RS" sz="2200" i="1">
                                <a:latin typeface="Cambria Math" panose="02040503050406030204" pitchFamily="18" charset="0"/>
                              </a:rPr>
                              <m:t>𝑥</m:t>
                            </m:r>
                          </m:e>
                          <m:sub>
                            <m:r>
                              <a:rPr lang="sr-Latn-RS" sz="2200" i="1">
                                <a:latin typeface="Cambria Math" panose="02040503050406030204" pitchFamily="18" charset="0"/>
                              </a:rPr>
                              <m:t>2</m:t>
                            </m:r>
                          </m:sub>
                        </m:sSub>
                        <m:r>
                          <a:rPr lang="sr-Latn-RS" sz="2200" i="1">
                            <a:latin typeface="Cambria Math" panose="02040503050406030204" pitchFamily="18" charset="0"/>
                          </a:rPr>
                          <m:t>,⋯</m:t>
                        </m:r>
                        <m:sSub>
                          <m:sSubPr>
                            <m:ctrlPr>
                              <a:rPr lang="en-ZA" sz="2200" i="1">
                                <a:latin typeface="Cambria Math" panose="02040503050406030204" pitchFamily="18" charset="0"/>
                              </a:rPr>
                            </m:ctrlPr>
                          </m:sSubPr>
                          <m:e>
                            <m:r>
                              <a:rPr lang="sr-Latn-RS" sz="2200" i="1">
                                <a:latin typeface="Cambria Math" panose="02040503050406030204" pitchFamily="18" charset="0"/>
                              </a:rPr>
                              <m:t>𝑥</m:t>
                            </m:r>
                          </m:e>
                          <m:sub>
                            <m:r>
                              <a:rPr lang="sr-Latn-RS" sz="2200" i="1">
                                <a:latin typeface="Cambria Math" panose="02040503050406030204" pitchFamily="18" charset="0"/>
                              </a:rPr>
                              <m:t>𝑛</m:t>
                            </m:r>
                          </m:sub>
                        </m:sSub>
                      </m:e>
                    </m:d>
                    <m:r>
                      <a:rPr lang="en-US" sz="2200" b="0" i="0" smtClean="0">
                        <a:latin typeface="Cambria Math" panose="02040503050406030204" pitchFamily="18" charset="0"/>
                      </a:rPr>
                      <m:t>, </m:t>
                    </m:r>
                  </m:oMath>
                </a14:m>
                <a:r>
                  <a:rPr lang="sr-Latn-RS" sz="2200" dirty="0">
                    <a:latin typeface="+mj-lt"/>
                  </a:rPr>
                  <a:t> </a:t>
                </a:r>
                <a14:m>
                  <m:oMath xmlns:m="http://schemas.openxmlformats.org/officeDocument/2006/math">
                    <m:r>
                      <a:rPr lang="sr-Latn-RS" sz="2200" i="1">
                        <a:latin typeface="Cambria Math" panose="02040503050406030204" pitchFamily="18" charset="0"/>
                      </a:rPr>
                      <m:t>𝑦</m:t>
                    </m:r>
                    <m:r>
                      <a:rPr lang="sr-Latn-RS" sz="2200" i="1">
                        <a:latin typeface="Cambria Math" panose="02040503050406030204" pitchFamily="18" charset="0"/>
                      </a:rPr>
                      <m:t>=</m:t>
                    </m:r>
                    <m:d>
                      <m:dPr>
                        <m:ctrlPr>
                          <a:rPr lang="en-ZA" sz="2200" i="1">
                            <a:latin typeface="Cambria Math" panose="02040503050406030204" pitchFamily="18" charset="0"/>
                          </a:rPr>
                        </m:ctrlPr>
                      </m:dPr>
                      <m:e>
                        <m:sSub>
                          <m:sSubPr>
                            <m:ctrlPr>
                              <a:rPr lang="en-ZA" sz="2200" i="1">
                                <a:latin typeface="Cambria Math" panose="02040503050406030204" pitchFamily="18" charset="0"/>
                              </a:rPr>
                            </m:ctrlPr>
                          </m:sSubPr>
                          <m:e>
                            <m:r>
                              <a:rPr lang="sr-Latn-RS" sz="2200" i="1">
                                <a:latin typeface="Cambria Math" panose="02040503050406030204" pitchFamily="18" charset="0"/>
                              </a:rPr>
                              <m:t>𝑦</m:t>
                            </m:r>
                          </m:e>
                          <m:sub>
                            <m:r>
                              <a:rPr lang="sr-Latn-RS" sz="2200" i="1">
                                <a:latin typeface="Cambria Math" panose="02040503050406030204" pitchFamily="18" charset="0"/>
                              </a:rPr>
                              <m:t>1</m:t>
                            </m:r>
                          </m:sub>
                        </m:sSub>
                        <m:r>
                          <a:rPr lang="sr-Latn-RS" sz="2200" i="1">
                            <a:latin typeface="Cambria Math" panose="02040503050406030204" pitchFamily="18" charset="0"/>
                          </a:rPr>
                          <m:t>,</m:t>
                        </m:r>
                        <m:sSub>
                          <m:sSubPr>
                            <m:ctrlPr>
                              <a:rPr lang="en-ZA" sz="2200" i="1">
                                <a:latin typeface="Cambria Math" panose="02040503050406030204" pitchFamily="18" charset="0"/>
                              </a:rPr>
                            </m:ctrlPr>
                          </m:sSubPr>
                          <m:e>
                            <m:r>
                              <a:rPr lang="sr-Latn-RS" sz="2200" i="1">
                                <a:latin typeface="Cambria Math" panose="02040503050406030204" pitchFamily="18" charset="0"/>
                              </a:rPr>
                              <m:t>𝑦</m:t>
                            </m:r>
                          </m:e>
                          <m:sub>
                            <m:r>
                              <a:rPr lang="sr-Latn-RS" sz="2200" i="1">
                                <a:latin typeface="Cambria Math" panose="02040503050406030204" pitchFamily="18" charset="0"/>
                              </a:rPr>
                              <m:t>2</m:t>
                            </m:r>
                          </m:sub>
                        </m:sSub>
                        <m:r>
                          <a:rPr lang="sr-Latn-RS" sz="2200" i="1">
                            <a:latin typeface="Cambria Math" panose="02040503050406030204" pitchFamily="18" charset="0"/>
                          </a:rPr>
                          <m:t>,⋯</m:t>
                        </m:r>
                        <m:sSub>
                          <m:sSubPr>
                            <m:ctrlPr>
                              <a:rPr lang="en-ZA" sz="2200" i="1">
                                <a:latin typeface="Cambria Math" panose="02040503050406030204" pitchFamily="18" charset="0"/>
                              </a:rPr>
                            </m:ctrlPr>
                          </m:sSubPr>
                          <m:e>
                            <m:r>
                              <a:rPr lang="sr-Latn-RS" sz="2200" i="1">
                                <a:latin typeface="Cambria Math" panose="02040503050406030204" pitchFamily="18" charset="0"/>
                              </a:rPr>
                              <m:t>𝑦</m:t>
                            </m:r>
                          </m:e>
                          <m:sub>
                            <m:r>
                              <a:rPr lang="sr-Latn-RS" sz="2200" i="1">
                                <a:latin typeface="Cambria Math" panose="02040503050406030204" pitchFamily="18" charset="0"/>
                              </a:rPr>
                              <m:t>𝑛</m:t>
                            </m:r>
                          </m:sub>
                        </m:sSub>
                      </m:e>
                    </m:d>
                  </m:oMath>
                </a14:m>
                <a:r>
                  <a:rPr lang="sr-Latn-RS" sz="2200" dirty="0">
                    <a:latin typeface="+mj-lt"/>
                  </a:rPr>
                  <a:t> </a:t>
                </a:r>
                <a14:m>
                  <m:oMath xmlns:m="http://schemas.openxmlformats.org/officeDocument/2006/math">
                    <m:r>
                      <a:rPr lang="en-ZA" sz="2200" i="1" smtClean="0">
                        <a:latin typeface="Cambria Math" panose="02040503050406030204" pitchFamily="18" charset="0"/>
                        <a:ea typeface="Cambria Math" panose="02040503050406030204" pitchFamily="18" charset="0"/>
                      </a:rPr>
                      <m:t>⇒</m:t>
                    </m:r>
                    <m:d>
                      <m:dPr>
                        <m:begChr m:val="〈"/>
                        <m:endChr m:val="〉"/>
                        <m:ctrlPr>
                          <a:rPr lang="en-ZA" sz="2200" i="1">
                            <a:latin typeface="Cambria Math" panose="02040503050406030204" pitchFamily="18" charset="0"/>
                          </a:rPr>
                        </m:ctrlPr>
                      </m:dPr>
                      <m:e>
                        <m:r>
                          <a:rPr lang="sr-Latn-RS" sz="2200" i="1">
                            <a:latin typeface="Cambria Math" panose="02040503050406030204" pitchFamily="18" charset="0"/>
                          </a:rPr>
                          <m:t>𝑥</m:t>
                        </m:r>
                        <m:r>
                          <a:rPr lang="sr-Latn-RS" sz="2200" i="1">
                            <a:latin typeface="Cambria Math" panose="02040503050406030204" pitchFamily="18" charset="0"/>
                          </a:rPr>
                          <m:t>,</m:t>
                        </m:r>
                        <m:r>
                          <a:rPr lang="sr-Latn-RS" sz="2200" i="1">
                            <a:latin typeface="Cambria Math" panose="02040503050406030204" pitchFamily="18" charset="0"/>
                          </a:rPr>
                          <m:t>𝑦</m:t>
                        </m:r>
                      </m:e>
                    </m:d>
                    <m:r>
                      <a:rPr lang="sr-Latn-RS" sz="2200" i="1">
                        <a:latin typeface="Cambria Math" panose="02040503050406030204" pitchFamily="18" charset="0"/>
                      </a:rPr>
                      <m:t>=</m:t>
                    </m:r>
                    <m:sSub>
                      <m:sSubPr>
                        <m:ctrlPr>
                          <a:rPr lang="en-ZA" sz="2200" i="1">
                            <a:latin typeface="Cambria Math" panose="02040503050406030204" pitchFamily="18" charset="0"/>
                          </a:rPr>
                        </m:ctrlPr>
                      </m:sSubPr>
                      <m:e>
                        <m:r>
                          <a:rPr lang="sr-Latn-RS" sz="2200" i="1">
                            <a:latin typeface="Cambria Math" panose="02040503050406030204" pitchFamily="18" charset="0"/>
                          </a:rPr>
                          <m:t>𝑥</m:t>
                        </m:r>
                      </m:e>
                      <m:sub>
                        <m:r>
                          <a:rPr lang="sr-Latn-RS" sz="2200" i="1">
                            <a:latin typeface="Cambria Math" panose="02040503050406030204" pitchFamily="18" charset="0"/>
                          </a:rPr>
                          <m:t>1</m:t>
                        </m:r>
                      </m:sub>
                    </m:sSub>
                    <m:sSub>
                      <m:sSubPr>
                        <m:ctrlPr>
                          <a:rPr lang="en-ZA" sz="2200" i="1">
                            <a:latin typeface="Cambria Math" panose="02040503050406030204" pitchFamily="18" charset="0"/>
                          </a:rPr>
                        </m:ctrlPr>
                      </m:sSubPr>
                      <m:e>
                        <m:r>
                          <a:rPr lang="sr-Latn-RS" sz="2200" i="1">
                            <a:latin typeface="Cambria Math" panose="02040503050406030204" pitchFamily="18" charset="0"/>
                          </a:rPr>
                          <m:t>𝑦</m:t>
                        </m:r>
                      </m:e>
                      <m:sub>
                        <m:r>
                          <a:rPr lang="sr-Latn-RS" sz="2200" i="1">
                            <a:latin typeface="Cambria Math" panose="02040503050406030204" pitchFamily="18" charset="0"/>
                          </a:rPr>
                          <m:t>1</m:t>
                        </m:r>
                      </m:sub>
                    </m:sSub>
                    <m:r>
                      <a:rPr lang="sr-Latn-RS" sz="2200" i="1">
                        <a:latin typeface="Cambria Math" panose="02040503050406030204" pitchFamily="18" charset="0"/>
                      </a:rPr>
                      <m:t> ⨁ </m:t>
                    </m:r>
                    <m:sSub>
                      <m:sSubPr>
                        <m:ctrlPr>
                          <a:rPr lang="en-ZA" sz="2200" i="1">
                            <a:latin typeface="Cambria Math" panose="02040503050406030204" pitchFamily="18" charset="0"/>
                          </a:rPr>
                        </m:ctrlPr>
                      </m:sSubPr>
                      <m:e>
                        <m:r>
                          <a:rPr lang="sr-Latn-RS" sz="2200" i="1">
                            <a:latin typeface="Cambria Math" panose="02040503050406030204" pitchFamily="18" charset="0"/>
                          </a:rPr>
                          <m:t>𝑥</m:t>
                        </m:r>
                      </m:e>
                      <m:sub>
                        <m:r>
                          <a:rPr lang="sr-Latn-RS" sz="2200" i="1">
                            <a:latin typeface="Cambria Math" panose="02040503050406030204" pitchFamily="18" charset="0"/>
                          </a:rPr>
                          <m:t>2</m:t>
                        </m:r>
                      </m:sub>
                    </m:sSub>
                    <m:sSub>
                      <m:sSubPr>
                        <m:ctrlPr>
                          <a:rPr lang="en-ZA" sz="2200" i="1">
                            <a:latin typeface="Cambria Math" panose="02040503050406030204" pitchFamily="18" charset="0"/>
                          </a:rPr>
                        </m:ctrlPr>
                      </m:sSubPr>
                      <m:e>
                        <m:r>
                          <a:rPr lang="sr-Latn-RS" sz="2200" i="1">
                            <a:latin typeface="Cambria Math" panose="02040503050406030204" pitchFamily="18" charset="0"/>
                          </a:rPr>
                          <m:t>𝑦</m:t>
                        </m:r>
                      </m:e>
                      <m:sub>
                        <m:r>
                          <a:rPr lang="sr-Latn-RS" sz="2200" i="1">
                            <a:latin typeface="Cambria Math" panose="02040503050406030204" pitchFamily="18" charset="0"/>
                          </a:rPr>
                          <m:t>2</m:t>
                        </m:r>
                      </m:sub>
                    </m:sSub>
                    <m:sSub>
                      <m:sSubPr>
                        <m:ctrlPr>
                          <a:rPr lang="en-ZA" sz="2200" i="1">
                            <a:latin typeface="Cambria Math" panose="02040503050406030204" pitchFamily="18" charset="0"/>
                          </a:rPr>
                        </m:ctrlPr>
                      </m:sSubPr>
                      <m:e>
                        <m:r>
                          <a:rPr lang="sr-Latn-RS" sz="2200" i="1">
                            <a:latin typeface="Cambria Math" panose="02040503050406030204" pitchFamily="18" charset="0"/>
                          </a:rPr>
                          <m:t> ⨁ ⋯ ⨁ </m:t>
                        </m:r>
                        <m:r>
                          <a:rPr lang="sr-Latn-RS" sz="2200" i="1">
                            <a:latin typeface="Cambria Math" panose="02040503050406030204" pitchFamily="18" charset="0"/>
                          </a:rPr>
                          <m:t>𝑥</m:t>
                        </m:r>
                      </m:e>
                      <m:sub>
                        <m:r>
                          <a:rPr lang="sr-Latn-RS" sz="2200" i="1">
                            <a:latin typeface="Cambria Math" panose="02040503050406030204" pitchFamily="18" charset="0"/>
                          </a:rPr>
                          <m:t>𝑛</m:t>
                        </m:r>
                      </m:sub>
                    </m:sSub>
                    <m:sSub>
                      <m:sSubPr>
                        <m:ctrlPr>
                          <a:rPr lang="en-ZA" sz="2200" i="1">
                            <a:latin typeface="Cambria Math" panose="02040503050406030204" pitchFamily="18" charset="0"/>
                          </a:rPr>
                        </m:ctrlPr>
                      </m:sSubPr>
                      <m:e>
                        <m:r>
                          <a:rPr lang="sr-Latn-RS" sz="2200" i="1">
                            <a:latin typeface="Cambria Math" panose="02040503050406030204" pitchFamily="18" charset="0"/>
                          </a:rPr>
                          <m:t>𝑦</m:t>
                        </m:r>
                      </m:e>
                      <m:sub>
                        <m:r>
                          <a:rPr lang="sr-Latn-RS" sz="2200" i="1">
                            <a:latin typeface="Cambria Math" panose="02040503050406030204" pitchFamily="18" charset="0"/>
                          </a:rPr>
                          <m:t>𝑛</m:t>
                        </m:r>
                      </m:sub>
                    </m:sSub>
                  </m:oMath>
                </a14:m>
                <a:endParaRPr lang="en-ZA" sz="2200" dirty="0">
                  <a:latin typeface="+mj-lt"/>
                </a:endParaRPr>
              </a:p>
              <a:p>
                <a:pPr lvl="1"/>
                <a:endParaRPr lang="en-ZA" sz="800" dirty="0">
                  <a:latin typeface="+mj-lt"/>
                </a:endParaRPr>
              </a:p>
              <a:p>
                <a:pPr marL="457200" indent="-457200">
                  <a:buFont typeface="+mj-lt"/>
                  <a:buAutoNum type="arabicPeriod"/>
                </a:pPr>
                <a:r>
                  <a:rPr lang="en-ZA" sz="2400" dirty="0">
                    <a:latin typeface="+mj-lt"/>
                  </a:rPr>
                  <a:t>Two vectors are orthogonal if their inner product is 0: </a:t>
                </a:r>
                <a14:m>
                  <m:oMath xmlns:m="http://schemas.openxmlformats.org/officeDocument/2006/math">
                    <m:d>
                      <m:dPr>
                        <m:begChr m:val="〈"/>
                        <m:endChr m:val="〉"/>
                        <m:ctrlPr>
                          <a:rPr lang="en-ZA" sz="2200" i="1">
                            <a:latin typeface="Cambria Math" panose="02040503050406030204" pitchFamily="18" charset="0"/>
                          </a:rPr>
                        </m:ctrlPr>
                      </m:dPr>
                      <m:e>
                        <m:r>
                          <a:rPr lang="sr-Latn-RS" sz="2200" i="1">
                            <a:latin typeface="Cambria Math" panose="02040503050406030204" pitchFamily="18" charset="0"/>
                          </a:rPr>
                          <m:t>𝑥</m:t>
                        </m:r>
                        <m:r>
                          <a:rPr lang="sr-Latn-RS" sz="2200" i="1">
                            <a:latin typeface="Cambria Math" panose="02040503050406030204" pitchFamily="18" charset="0"/>
                          </a:rPr>
                          <m:t>,</m:t>
                        </m:r>
                        <m:r>
                          <a:rPr lang="sr-Latn-RS" sz="2200" i="1">
                            <a:latin typeface="Cambria Math" panose="02040503050406030204" pitchFamily="18" charset="0"/>
                          </a:rPr>
                          <m:t>𝑦</m:t>
                        </m:r>
                      </m:e>
                    </m:d>
                    <m:r>
                      <a:rPr lang="sr-Latn-RS" sz="2200" i="1">
                        <a:latin typeface="Cambria Math" panose="02040503050406030204" pitchFamily="18" charset="0"/>
                      </a:rPr>
                      <m:t>=0</m:t>
                    </m:r>
                  </m:oMath>
                </a14:m>
                <a:endParaRPr lang="en-US" sz="2200" dirty="0">
                  <a:latin typeface="+mj-lt"/>
                </a:endParaRPr>
              </a:p>
              <a:p>
                <a:pPr marL="342900" indent="-342900">
                  <a:buFont typeface="+mj-lt"/>
                  <a:buAutoNum type="arabicPeriod"/>
                </a:pPr>
                <a:endParaRPr lang="en-US" sz="800" dirty="0">
                  <a:latin typeface="+mj-lt"/>
                </a:endParaRPr>
              </a:p>
              <a:p>
                <a:pPr marL="457200" indent="-457200">
                  <a:buFont typeface="+mj-lt"/>
                  <a:buAutoNum type="arabicPeriod"/>
                </a:pPr>
                <a:r>
                  <a:rPr lang="en-ZA" sz="2400" dirty="0">
                    <a:latin typeface="+mj-lt"/>
                  </a:rPr>
                  <a:t>A function</a:t>
                </a:r>
                <a:r>
                  <a:rPr lang="sr-Latn-RS" sz="2200" dirty="0">
                    <a:latin typeface="+mj-lt"/>
                  </a:rPr>
                  <a:t>  </a:t>
                </a:r>
                <a14:m>
                  <m:oMath xmlns:m="http://schemas.openxmlformats.org/officeDocument/2006/math">
                    <m:r>
                      <a:rPr lang="sr-Latn-RS" sz="2200" i="1">
                        <a:latin typeface="Cambria Math" panose="02040503050406030204" pitchFamily="18" charset="0"/>
                      </a:rPr>
                      <m:t>𝑓</m:t>
                    </m:r>
                    <m:r>
                      <a:rPr lang="sr-Latn-RS" sz="2200" i="1">
                        <a:latin typeface="Cambria Math" panose="02040503050406030204" pitchFamily="18" charset="0"/>
                      </a:rPr>
                      <m:t>:</m:t>
                    </m:r>
                    <m:sSup>
                      <m:sSupPr>
                        <m:ctrlPr>
                          <a:rPr lang="en-ZA" sz="2200" i="1">
                            <a:latin typeface="Cambria Math" panose="02040503050406030204" pitchFamily="18" charset="0"/>
                          </a:rPr>
                        </m:ctrlPr>
                      </m:sSupPr>
                      <m:e>
                        <m:d>
                          <m:dPr>
                            <m:begChr m:val="{"/>
                            <m:endChr m:val="}"/>
                            <m:ctrlPr>
                              <a:rPr lang="en-ZA" sz="2200" i="1">
                                <a:latin typeface="Cambria Math" panose="02040503050406030204" pitchFamily="18" charset="0"/>
                              </a:rPr>
                            </m:ctrlPr>
                          </m:dPr>
                          <m:e>
                            <m:r>
                              <a:rPr lang="sr-Latn-RS" sz="2200" i="1">
                                <a:latin typeface="Cambria Math" panose="02040503050406030204" pitchFamily="18" charset="0"/>
                              </a:rPr>
                              <m:t>0,1</m:t>
                            </m:r>
                          </m:e>
                        </m:d>
                      </m:e>
                      <m:sup>
                        <m:r>
                          <a:rPr lang="sr-Latn-RS" sz="2200" i="1">
                            <a:latin typeface="Cambria Math" panose="02040503050406030204" pitchFamily="18" charset="0"/>
                          </a:rPr>
                          <m:t>𝑛</m:t>
                        </m:r>
                      </m:sup>
                    </m:sSup>
                    <m:r>
                      <a:rPr lang="sr-Latn-RS" sz="2200" i="1">
                        <a:latin typeface="Cambria Math" panose="02040503050406030204" pitchFamily="18" charset="0"/>
                      </a:rPr>
                      <m:t>→</m:t>
                    </m:r>
                    <m:d>
                      <m:dPr>
                        <m:begChr m:val="{"/>
                        <m:endChr m:val="}"/>
                        <m:ctrlPr>
                          <a:rPr lang="en-ZA" sz="2200" i="1">
                            <a:latin typeface="Cambria Math" panose="02040503050406030204" pitchFamily="18" charset="0"/>
                          </a:rPr>
                        </m:ctrlPr>
                      </m:dPr>
                      <m:e>
                        <m:r>
                          <a:rPr lang="sr-Latn-RS" sz="2200" i="1">
                            <a:latin typeface="Cambria Math" panose="02040503050406030204" pitchFamily="18" charset="0"/>
                          </a:rPr>
                          <m:t>0,1</m:t>
                        </m:r>
                      </m:e>
                    </m:d>
                  </m:oMath>
                </a14:m>
                <a:r>
                  <a:rPr lang="sr-Latn-RS" sz="2200" dirty="0">
                    <a:latin typeface="+mj-lt"/>
                  </a:rPr>
                  <a:t> is </a:t>
                </a:r>
                <a:r>
                  <a:rPr lang="sr-Latn-RS" sz="2200" dirty="0" err="1">
                    <a:latin typeface="+mj-lt"/>
                  </a:rPr>
                  <a:t>called</a:t>
                </a:r>
                <a:r>
                  <a:rPr lang="sr-Latn-RS" sz="2200" dirty="0">
                    <a:latin typeface="+mj-lt"/>
                  </a:rPr>
                  <a:t> a </a:t>
                </a:r>
                <a:r>
                  <a:rPr lang="en-ZA" sz="2400" dirty="0">
                    <a:latin typeface="+mj-lt"/>
                  </a:rPr>
                  <a:t>Boolean function</a:t>
                </a:r>
                <a:r>
                  <a:rPr lang="sr-Latn-RS" sz="2200" dirty="0">
                    <a:latin typeface="+mj-lt"/>
                  </a:rPr>
                  <a:t>.</a:t>
                </a:r>
                <a:br>
                  <a:rPr lang="sr-Latn-RS" sz="2200" dirty="0">
                    <a:latin typeface="+mj-lt"/>
                  </a:rPr>
                </a:br>
                <a:endParaRPr lang="sr-Latn-RS" sz="800" dirty="0">
                  <a:latin typeface="+mj-lt"/>
                </a:endParaRPr>
              </a:p>
              <a:p>
                <a:pPr marL="457200" indent="-457200">
                  <a:buFont typeface="+mj-lt"/>
                  <a:buAutoNum type="arabicPeriod"/>
                </a:pPr>
                <a:r>
                  <a:rPr lang="en-ZA" sz="2400" dirty="0">
                    <a:latin typeface="+mj-lt"/>
                  </a:rPr>
                  <a:t>A vector Boolean function is a function</a:t>
                </a:r>
                <a:r>
                  <a:rPr lang="sr-Latn-RS" sz="2200" dirty="0">
                    <a:latin typeface="+mj-lt"/>
                  </a:rPr>
                  <a:t> </a:t>
                </a:r>
                <a14:m>
                  <m:oMath xmlns:m="http://schemas.openxmlformats.org/officeDocument/2006/math">
                    <m:r>
                      <a:rPr lang="sr-Latn-RS" sz="2200" i="1">
                        <a:latin typeface="Cambria Math" panose="02040503050406030204" pitchFamily="18" charset="0"/>
                      </a:rPr>
                      <m:t>𝑓</m:t>
                    </m:r>
                    <m:r>
                      <a:rPr lang="sr-Latn-RS" sz="2200" i="1">
                        <a:latin typeface="Cambria Math" panose="02040503050406030204" pitchFamily="18" charset="0"/>
                      </a:rPr>
                      <m:t>:</m:t>
                    </m:r>
                    <m:sSup>
                      <m:sSupPr>
                        <m:ctrlPr>
                          <a:rPr lang="en-ZA" sz="2200" i="1">
                            <a:latin typeface="Cambria Math" panose="02040503050406030204" pitchFamily="18" charset="0"/>
                          </a:rPr>
                        </m:ctrlPr>
                      </m:sSupPr>
                      <m:e>
                        <m:d>
                          <m:dPr>
                            <m:begChr m:val="{"/>
                            <m:endChr m:val="}"/>
                            <m:ctrlPr>
                              <a:rPr lang="en-ZA" sz="2200" i="1">
                                <a:latin typeface="Cambria Math" panose="02040503050406030204" pitchFamily="18" charset="0"/>
                              </a:rPr>
                            </m:ctrlPr>
                          </m:dPr>
                          <m:e>
                            <m:r>
                              <a:rPr lang="sr-Latn-RS" sz="2200" i="1">
                                <a:latin typeface="Cambria Math" panose="02040503050406030204" pitchFamily="18" charset="0"/>
                              </a:rPr>
                              <m:t>0,1</m:t>
                            </m:r>
                          </m:e>
                        </m:d>
                      </m:e>
                      <m:sup>
                        <m:r>
                          <a:rPr lang="sr-Latn-RS" sz="2200" i="1">
                            <a:latin typeface="Cambria Math" panose="02040503050406030204" pitchFamily="18" charset="0"/>
                          </a:rPr>
                          <m:t>𝑛</m:t>
                        </m:r>
                      </m:sup>
                    </m:sSup>
                    <m:r>
                      <a:rPr lang="sr-Latn-RS" sz="2200" i="1">
                        <a:latin typeface="Cambria Math" panose="02040503050406030204" pitchFamily="18" charset="0"/>
                      </a:rPr>
                      <m:t>→</m:t>
                    </m:r>
                    <m:sSup>
                      <m:sSupPr>
                        <m:ctrlPr>
                          <a:rPr lang="en-ZA" sz="2200" i="1">
                            <a:latin typeface="Cambria Math" panose="02040503050406030204" pitchFamily="18" charset="0"/>
                          </a:rPr>
                        </m:ctrlPr>
                      </m:sSupPr>
                      <m:e>
                        <m:d>
                          <m:dPr>
                            <m:begChr m:val="{"/>
                            <m:endChr m:val="}"/>
                            <m:ctrlPr>
                              <a:rPr lang="en-ZA" sz="2200" i="1">
                                <a:latin typeface="Cambria Math" panose="02040503050406030204" pitchFamily="18" charset="0"/>
                              </a:rPr>
                            </m:ctrlPr>
                          </m:dPr>
                          <m:e>
                            <m:r>
                              <a:rPr lang="sr-Latn-RS" sz="2200" i="1">
                                <a:latin typeface="Cambria Math" panose="02040503050406030204" pitchFamily="18" charset="0"/>
                              </a:rPr>
                              <m:t>0,1</m:t>
                            </m:r>
                          </m:e>
                        </m:d>
                      </m:e>
                      <m:sup>
                        <m:r>
                          <a:rPr lang="sr-Latn-RS" sz="2200" i="1">
                            <a:latin typeface="Cambria Math" panose="02040503050406030204" pitchFamily="18" charset="0"/>
                          </a:rPr>
                          <m:t>𝑚</m:t>
                        </m:r>
                      </m:sup>
                    </m:sSup>
                  </m:oMath>
                </a14:m>
                <a:r>
                  <a:rPr lang="sr-Latn-RS" sz="2200" dirty="0">
                    <a:latin typeface="+mj-lt"/>
                  </a:rPr>
                  <a:t>, </a:t>
                </a:r>
                <a:r>
                  <a:rPr lang="en-ZA" sz="2400" dirty="0">
                    <a:latin typeface="+mj-lt"/>
                  </a:rPr>
                  <a:t>that maps an n-bit binary input</a:t>
                </a:r>
                <a:br>
                  <a:rPr lang="en-ZA" sz="2400" dirty="0">
                    <a:latin typeface="+mj-lt"/>
                  </a:rPr>
                </a:br>
                <a:r>
                  <a:rPr lang="en-ZA" sz="2400" dirty="0">
                    <a:latin typeface="+mj-lt"/>
                  </a:rPr>
                  <a:t>to an m-bit binary output</a:t>
                </a:r>
                <a:r>
                  <a:rPr lang="sr-Latn-RS" sz="2200" dirty="0">
                    <a:latin typeface="+mj-lt"/>
                  </a:rPr>
                  <a:t>.</a:t>
                </a:r>
                <a:endParaRPr lang="en-US" sz="2200" dirty="0">
                  <a:latin typeface="+mj-lt"/>
                </a:endParaRPr>
              </a:p>
            </p:txBody>
          </p:sp>
        </mc:Choice>
        <mc:Fallback xmlns="">
          <p:sp>
            <p:nvSpPr>
              <p:cNvPr id="4" name="TextBox 3">
                <a:extLst>
                  <a:ext uri="{FF2B5EF4-FFF2-40B4-BE49-F238E27FC236}">
                    <a16:creationId xmlns:a16="http://schemas.microsoft.com/office/drawing/2014/main" id="{7834CF6A-E67B-9641-A780-A3ED42E6BCBE}"/>
                  </a:ext>
                </a:extLst>
              </p:cNvPr>
              <p:cNvSpPr txBox="1">
                <a:spLocks noRot="1" noChangeAspect="1" noMove="1" noResize="1" noEditPoints="1" noAdjustHandles="1" noChangeArrowheads="1" noChangeShapeType="1" noTextEdit="1"/>
              </p:cNvSpPr>
              <p:nvPr/>
            </p:nvSpPr>
            <p:spPr>
              <a:xfrm>
                <a:off x="29463" y="928688"/>
                <a:ext cx="12374991" cy="5909310"/>
              </a:xfrm>
              <a:prstGeom prst="rect">
                <a:avLst/>
              </a:prstGeom>
              <a:blipFill>
                <a:blip r:embed="rId3"/>
                <a:stretch>
                  <a:fillRect l="-615" t="-858"/>
                </a:stretch>
              </a:blipFill>
            </p:spPr>
            <p:txBody>
              <a:bodyPr/>
              <a:lstStyle/>
              <a:p>
                <a:r>
                  <a:rPr lang="en-US">
                    <a:noFill/>
                  </a:rPr>
                  <a:t> </a:t>
                </a:r>
              </a:p>
            </p:txBody>
          </p:sp>
        </mc:Fallback>
      </mc:AlternateContent>
    </p:spTree>
    <p:extLst>
      <p:ext uri="{BB962C8B-B14F-4D97-AF65-F5344CB8AC3E}">
        <p14:creationId xmlns:p14="http://schemas.microsoft.com/office/powerpoint/2010/main" val="141132807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8AD06E-60D2-2F4C-9C0E-9AE2324221E7}"/>
              </a:ext>
            </a:extLst>
          </p:cNvPr>
          <p:cNvSpPr>
            <a:spLocks noGrp="1"/>
          </p:cNvSpPr>
          <p:nvPr>
            <p:ph type="sldNum" sz="quarter" idx="12"/>
          </p:nvPr>
        </p:nvSpPr>
        <p:spPr/>
        <p:txBody>
          <a:bodyPr/>
          <a:lstStyle/>
          <a:p>
            <a:fld id="{591A223C-FA10-BC46-A853-03BA373D023C}" type="slidenum">
              <a:rPr lang="en-US" smtClean="0"/>
              <a:t>62</a:t>
            </a:fld>
            <a:endParaRPr lang="en-US"/>
          </a:p>
        </p:txBody>
      </p:sp>
      <p:sp>
        <p:nvSpPr>
          <p:cNvPr id="3" name="Title 2">
            <a:extLst>
              <a:ext uri="{FF2B5EF4-FFF2-40B4-BE49-F238E27FC236}">
                <a16:creationId xmlns:a16="http://schemas.microsoft.com/office/drawing/2014/main" id="{F3FA1BB3-6B42-9344-99A7-90979FE4E07D}"/>
              </a:ext>
            </a:extLst>
          </p:cNvPr>
          <p:cNvSpPr>
            <a:spLocks noGrp="1"/>
          </p:cNvSpPr>
          <p:nvPr>
            <p:ph type="title"/>
          </p:nvPr>
        </p:nvSpPr>
        <p:spPr/>
        <p:txBody>
          <a:bodyPr/>
          <a:lstStyle/>
          <a:p>
            <a:r>
              <a:rPr lang="en-US" dirty="0"/>
              <a:t>Boolean functions</a:t>
            </a:r>
          </a:p>
        </p:txBody>
      </p:sp>
      <p:sp>
        <p:nvSpPr>
          <p:cNvPr id="4" name="TextBox 3">
            <a:extLst>
              <a:ext uri="{FF2B5EF4-FFF2-40B4-BE49-F238E27FC236}">
                <a16:creationId xmlns:a16="http://schemas.microsoft.com/office/drawing/2014/main" id="{B91EF742-DB7A-D443-8756-70814A99AF2F}"/>
              </a:ext>
            </a:extLst>
          </p:cNvPr>
          <p:cNvSpPr txBox="1"/>
          <p:nvPr/>
        </p:nvSpPr>
        <p:spPr>
          <a:xfrm>
            <a:off x="176463" y="928688"/>
            <a:ext cx="1539717" cy="461665"/>
          </a:xfrm>
          <a:prstGeom prst="rect">
            <a:avLst/>
          </a:prstGeom>
          <a:solidFill>
            <a:schemeClr val="accent4">
              <a:lumMod val="20000"/>
              <a:lumOff val="80000"/>
            </a:schemeClr>
          </a:solidFill>
        </p:spPr>
        <p:txBody>
          <a:bodyPr wrap="none" rtlCol="0">
            <a:spAutoFit/>
          </a:bodyPr>
          <a:lstStyle/>
          <a:p>
            <a:r>
              <a:rPr lang="en-US" sz="2400" dirty="0"/>
              <a:t>Definitions</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BEC0411-6AB8-004B-8020-92BD94768D7D}"/>
                  </a:ext>
                </a:extLst>
              </p:cNvPr>
              <p:cNvSpPr txBox="1"/>
              <p:nvPr/>
            </p:nvSpPr>
            <p:spPr>
              <a:xfrm>
                <a:off x="545432" y="1441877"/>
                <a:ext cx="8770671" cy="954107"/>
              </a:xfrm>
              <a:prstGeom prst="rect">
                <a:avLst/>
              </a:prstGeom>
              <a:noFill/>
            </p:spPr>
            <p:txBody>
              <a:bodyPr wrap="none" rtlCol="0">
                <a:spAutoFit/>
              </a:bodyPr>
              <a:lstStyle/>
              <a:p>
                <a:r>
                  <a:rPr lang="sr-Latn-RS" sz="2400" dirty="0"/>
                  <a:t>A </a:t>
                </a:r>
                <a:r>
                  <a:rPr lang="sr-Latn-RS" sz="2400" dirty="0" err="1"/>
                  <a:t>mapping</a:t>
                </a:r>
                <a:r>
                  <a:rPr lang="sr-Latn-RS" sz="2400" dirty="0"/>
                  <a:t>  </a:t>
                </a:r>
                <a14:m>
                  <m:oMath xmlns:m="http://schemas.openxmlformats.org/officeDocument/2006/math">
                    <m:r>
                      <a:rPr lang="sr-Latn-RS" sz="2400" i="1">
                        <a:latin typeface="Cambria Math" panose="02040503050406030204" pitchFamily="18" charset="0"/>
                      </a:rPr>
                      <m:t>𝑓</m:t>
                    </m:r>
                    <m:r>
                      <a:rPr lang="sr-Latn-RS" sz="2400" i="1">
                        <a:latin typeface="Cambria Math" panose="02040503050406030204" pitchFamily="18" charset="0"/>
                      </a:rPr>
                      <m:t>:</m:t>
                    </m:r>
                    <m:sSup>
                      <m:sSupPr>
                        <m:ctrlPr>
                          <a:rPr lang="en-ZA" sz="2400" i="1">
                            <a:latin typeface="Cambria Math" panose="02040503050406030204" pitchFamily="18" charset="0"/>
                          </a:rPr>
                        </m:ctrlPr>
                      </m:sSupPr>
                      <m:e>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0,1</m:t>
                            </m:r>
                          </m:e>
                        </m:d>
                      </m:e>
                      <m:sup>
                        <m:r>
                          <a:rPr lang="sr-Latn-RS" sz="2400" i="1">
                            <a:latin typeface="Cambria Math" panose="02040503050406030204" pitchFamily="18" charset="0"/>
                          </a:rPr>
                          <m:t>𝑛</m:t>
                        </m:r>
                      </m:sup>
                    </m:sSup>
                    <m:r>
                      <a:rPr lang="sr-Latn-RS" sz="2400" i="1">
                        <a:latin typeface="Cambria Math" panose="02040503050406030204" pitchFamily="18" charset="0"/>
                      </a:rPr>
                      <m:t>→</m:t>
                    </m:r>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0,1</m:t>
                        </m:r>
                      </m:e>
                    </m:d>
                  </m:oMath>
                </a14:m>
                <a:r>
                  <a:rPr lang="sr-Latn-RS" sz="2400" dirty="0"/>
                  <a:t> is </a:t>
                </a:r>
                <a:r>
                  <a:rPr lang="sr-Latn-RS" sz="2400" dirty="0" err="1"/>
                  <a:t>called</a:t>
                </a:r>
                <a:r>
                  <a:rPr lang="sr-Latn-RS" sz="2400" dirty="0"/>
                  <a:t> a </a:t>
                </a:r>
                <a:r>
                  <a:rPr lang="sr-Latn-RS" sz="2400" dirty="0" err="1"/>
                  <a:t>Boolean</a:t>
                </a:r>
                <a:r>
                  <a:rPr lang="sr-Latn-RS" sz="2400" dirty="0"/>
                  <a:t> </a:t>
                </a:r>
                <a:r>
                  <a:rPr lang="sr-Latn-RS" sz="2400" dirty="0" err="1"/>
                  <a:t>function</a:t>
                </a:r>
                <a:r>
                  <a:rPr lang="sr-Latn-RS" sz="2400" dirty="0"/>
                  <a:t>.</a:t>
                </a:r>
              </a:p>
              <a:p>
                <a:endParaRPr lang="en-US" sz="800" dirty="0"/>
              </a:p>
              <a:p>
                <a:r>
                  <a:rPr lang="en-ZA" sz="2400" dirty="0"/>
                  <a:t>A mapping</a:t>
                </a:r>
                <a:r>
                  <a:rPr lang="sr-Latn-RS" sz="2400" dirty="0"/>
                  <a:t> </a:t>
                </a:r>
                <a14:m>
                  <m:oMath xmlns:m="http://schemas.openxmlformats.org/officeDocument/2006/math">
                    <m:r>
                      <a:rPr lang="sr-Latn-RS" sz="2400" b="0" i="1">
                        <a:latin typeface="Cambria Math" panose="02040503050406030204" pitchFamily="18" charset="0"/>
                      </a:rPr>
                      <m:t>𝑓</m:t>
                    </m:r>
                    <m:r>
                      <a:rPr lang="sr-Latn-RS" sz="2400" b="0" i="1">
                        <a:latin typeface="Cambria Math" panose="02040503050406030204" pitchFamily="18" charset="0"/>
                      </a:rPr>
                      <m:t>:</m:t>
                    </m:r>
                    <m:sSup>
                      <m:sSupPr>
                        <m:ctrlPr>
                          <a:rPr lang="en-ZA" sz="2400" i="1">
                            <a:latin typeface="Cambria Math" panose="02040503050406030204" pitchFamily="18" charset="0"/>
                          </a:rPr>
                        </m:ctrlPr>
                      </m:sSupPr>
                      <m:e>
                        <m:d>
                          <m:dPr>
                            <m:begChr m:val="{"/>
                            <m:endChr m:val="}"/>
                            <m:ctrlPr>
                              <a:rPr lang="en-ZA" sz="2400" i="1">
                                <a:latin typeface="Cambria Math" panose="02040503050406030204" pitchFamily="18" charset="0"/>
                              </a:rPr>
                            </m:ctrlPr>
                          </m:dPr>
                          <m:e>
                            <m:r>
                              <a:rPr lang="sr-Latn-RS" sz="2400" b="0" i="1">
                                <a:latin typeface="Cambria Math" panose="02040503050406030204" pitchFamily="18" charset="0"/>
                              </a:rPr>
                              <m:t>0,1</m:t>
                            </m:r>
                          </m:e>
                        </m:d>
                      </m:e>
                      <m:sup>
                        <m:r>
                          <a:rPr lang="sr-Latn-RS" sz="2400" b="0" i="1">
                            <a:latin typeface="Cambria Math" panose="02040503050406030204" pitchFamily="18" charset="0"/>
                          </a:rPr>
                          <m:t>𝑛</m:t>
                        </m:r>
                      </m:sup>
                    </m:sSup>
                    <m:r>
                      <a:rPr lang="sr-Latn-RS" sz="2400" b="0" i="1">
                        <a:latin typeface="Cambria Math" panose="02040503050406030204" pitchFamily="18" charset="0"/>
                      </a:rPr>
                      <m:t>→</m:t>
                    </m:r>
                    <m:sSup>
                      <m:sSupPr>
                        <m:ctrlPr>
                          <a:rPr lang="en-ZA" sz="2400" i="1">
                            <a:latin typeface="Cambria Math" panose="02040503050406030204" pitchFamily="18" charset="0"/>
                          </a:rPr>
                        </m:ctrlPr>
                      </m:sSupPr>
                      <m:e>
                        <m:d>
                          <m:dPr>
                            <m:begChr m:val="{"/>
                            <m:endChr m:val="}"/>
                            <m:ctrlPr>
                              <a:rPr lang="en-ZA" sz="2400" i="1">
                                <a:latin typeface="Cambria Math" panose="02040503050406030204" pitchFamily="18" charset="0"/>
                              </a:rPr>
                            </m:ctrlPr>
                          </m:dPr>
                          <m:e>
                            <m:r>
                              <a:rPr lang="sr-Latn-RS" sz="2400" b="0" i="1">
                                <a:latin typeface="Cambria Math" panose="02040503050406030204" pitchFamily="18" charset="0"/>
                              </a:rPr>
                              <m:t>0,1</m:t>
                            </m:r>
                          </m:e>
                        </m:d>
                      </m:e>
                      <m:sup>
                        <m:r>
                          <a:rPr lang="sr-Latn-RS" sz="2400" b="0" i="1">
                            <a:latin typeface="Cambria Math" panose="02040503050406030204" pitchFamily="18" charset="0"/>
                          </a:rPr>
                          <m:t>𝑚</m:t>
                        </m:r>
                      </m:sup>
                    </m:sSup>
                  </m:oMath>
                </a14:m>
                <a:r>
                  <a:rPr lang="sr-Latn-RS" sz="2400" dirty="0"/>
                  <a:t> </a:t>
                </a:r>
                <a:r>
                  <a:rPr lang="en-ZA" sz="2400" dirty="0"/>
                  <a:t>is called a vector Boolean function</a:t>
                </a:r>
                <a:r>
                  <a:rPr lang="sr-Latn-RS" sz="2400" dirty="0"/>
                  <a:t>.</a:t>
                </a:r>
                <a:r>
                  <a:rPr lang="en-ZA" sz="2400" dirty="0">
                    <a:effectLst/>
                  </a:rPr>
                  <a:t> </a:t>
                </a:r>
                <a:endParaRPr lang="en-ZA" sz="2400" dirty="0"/>
              </a:p>
            </p:txBody>
          </p:sp>
        </mc:Choice>
        <mc:Fallback xmlns="">
          <p:sp>
            <p:nvSpPr>
              <p:cNvPr id="5" name="TextBox 4">
                <a:extLst>
                  <a:ext uri="{FF2B5EF4-FFF2-40B4-BE49-F238E27FC236}">
                    <a16:creationId xmlns:a16="http://schemas.microsoft.com/office/drawing/2014/main" id="{CBEC0411-6AB8-004B-8020-92BD94768D7D}"/>
                  </a:ext>
                </a:extLst>
              </p:cNvPr>
              <p:cNvSpPr txBox="1">
                <a:spLocks noRot="1" noChangeAspect="1" noMove="1" noResize="1" noEditPoints="1" noAdjustHandles="1" noChangeArrowheads="1" noChangeShapeType="1" noTextEdit="1"/>
              </p:cNvSpPr>
              <p:nvPr/>
            </p:nvSpPr>
            <p:spPr>
              <a:xfrm>
                <a:off x="545432" y="1441877"/>
                <a:ext cx="8770671" cy="954107"/>
              </a:xfrm>
              <a:prstGeom prst="rect">
                <a:avLst/>
              </a:prstGeom>
              <a:blipFill>
                <a:blip r:embed="rId3"/>
                <a:stretch>
                  <a:fillRect l="-1012" t="-3947" b="-1184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F817E12-B1E8-3045-8E76-860188CDBB7D}"/>
                  </a:ext>
                </a:extLst>
              </p:cNvPr>
              <p:cNvSpPr txBox="1"/>
              <p:nvPr/>
            </p:nvSpPr>
            <p:spPr>
              <a:xfrm>
                <a:off x="545432" y="3196748"/>
                <a:ext cx="11434412" cy="584775"/>
              </a:xfrm>
              <a:prstGeom prst="rect">
                <a:avLst/>
              </a:prstGeom>
              <a:noFill/>
            </p:spPr>
            <p:txBody>
              <a:bodyPr wrap="none" rtlCol="0">
                <a:spAutoFit/>
              </a:bodyPr>
              <a:lstStyle/>
              <a:p>
                <a:endParaRPr lang="sr-Latn-RS" sz="800" dirty="0"/>
              </a:p>
              <a:p>
                <a14:m>
                  <m:oMath xmlns:m="http://schemas.openxmlformats.org/officeDocument/2006/math">
                    <m:r>
                      <a:rPr lang="sr-Latn-RS" sz="2400" i="1">
                        <a:latin typeface="Cambria Math" panose="02040503050406030204" pitchFamily="18" charset="0"/>
                      </a:rPr>
                      <m:t>𝑓</m:t>
                    </m:r>
                    <m:d>
                      <m:dPr>
                        <m:ctrlPr>
                          <a:rPr lang="en-ZA" sz="2400" i="1">
                            <a:latin typeface="Cambria Math" panose="02040503050406030204" pitchFamily="18" charset="0"/>
                          </a:rPr>
                        </m:ctrlPr>
                      </m:dPr>
                      <m:e>
                        <m:sSub>
                          <m:sSubPr>
                            <m:ctrlPr>
                              <a:rPr lang="en-ZA" sz="2400" i="1">
                                <a:latin typeface="Cambria Math" panose="02040503050406030204" pitchFamily="18" charset="0"/>
                              </a:rPr>
                            </m:ctrlPr>
                          </m:sSubPr>
                          <m:e>
                            <m:r>
                              <a:rPr lang="sr-Latn-RS" sz="2400" i="1">
                                <a:latin typeface="Cambria Math" panose="02040503050406030204" pitchFamily="18" charset="0"/>
                              </a:rPr>
                              <m:t>𝑥</m:t>
                            </m:r>
                          </m:e>
                          <m:sub>
                            <m:r>
                              <a:rPr lang="sr-Latn-RS" sz="2400" i="1">
                                <a:latin typeface="Cambria Math" panose="02040503050406030204" pitchFamily="18" charset="0"/>
                              </a:rPr>
                              <m:t>0</m:t>
                            </m:r>
                          </m:sub>
                        </m:sSub>
                        <m:r>
                          <a:rPr lang="sr-Latn-RS" sz="2400" i="1">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𝑥</m:t>
                            </m:r>
                          </m:e>
                          <m:sub>
                            <m:r>
                              <a:rPr lang="sr-Latn-RS" sz="2400" i="1">
                                <a:latin typeface="Cambria Math" panose="02040503050406030204" pitchFamily="18" charset="0"/>
                              </a:rPr>
                              <m:t>1</m:t>
                            </m:r>
                          </m:sub>
                        </m:sSub>
                        <m:r>
                          <a:rPr lang="sr-Latn-RS" sz="2400" i="1">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m:t>
                            </m:r>
                            <m:r>
                              <a:rPr lang="sr-Latn-RS" sz="2400" i="1">
                                <a:latin typeface="Cambria Math" panose="02040503050406030204" pitchFamily="18" charset="0"/>
                              </a:rPr>
                              <m:t>𝑥</m:t>
                            </m:r>
                          </m:e>
                          <m:sub>
                            <m:r>
                              <a:rPr lang="sr-Latn-RS" sz="2400" i="1">
                                <a:latin typeface="Cambria Math" panose="02040503050406030204" pitchFamily="18" charset="0"/>
                              </a:rPr>
                              <m:t>𝑛</m:t>
                            </m:r>
                            <m:r>
                              <a:rPr lang="sr-Latn-RS" sz="2400" i="1">
                                <a:latin typeface="Cambria Math" panose="02040503050406030204" pitchFamily="18" charset="0"/>
                              </a:rPr>
                              <m:t>−1</m:t>
                            </m:r>
                          </m:sub>
                        </m:sSub>
                      </m:e>
                    </m:d>
                    <m:r>
                      <a:rPr lang="sr-Latn-RS" sz="2400" i="1">
                        <a:latin typeface="Cambria Math" panose="02040503050406030204" pitchFamily="18" charset="0"/>
                      </a:rPr>
                      <m:t>=</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0</m:t>
                        </m:r>
                      </m:sub>
                    </m:sSub>
                    <m:sSub>
                      <m:sSubPr>
                        <m:ctrlPr>
                          <a:rPr lang="en-ZA" sz="2400" i="1">
                            <a:latin typeface="Cambria Math" panose="02040503050406030204" pitchFamily="18" charset="0"/>
                          </a:rPr>
                        </m:ctrlPr>
                      </m:sSubPr>
                      <m:e>
                        <m:r>
                          <a:rPr lang="sr-Latn-RS" sz="2400" i="1">
                            <a:latin typeface="Cambria Math" panose="02040503050406030204" pitchFamily="18" charset="0"/>
                          </a:rPr>
                          <m:t>𝑥</m:t>
                        </m:r>
                      </m:e>
                      <m:sub>
                        <m:r>
                          <a:rPr lang="sr-Latn-RS" sz="2400" i="1">
                            <a:latin typeface="Cambria Math" panose="02040503050406030204" pitchFamily="18" charset="0"/>
                          </a:rPr>
                          <m:t>0</m:t>
                        </m:r>
                      </m:sub>
                    </m:sSub>
                    <m:r>
                      <a:rPr lang="sr-Latn-RS" sz="2400" i="1">
                        <a:latin typeface="Cambria Math" panose="02040503050406030204" pitchFamily="18" charset="0"/>
                      </a:rPr>
                      <m:t> ⨁ </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1</m:t>
                        </m:r>
                      </m:sub>
                    </m:sSub>
                    <m:sSub>
                      <m:sSubPr>
                        <m:ctrlPr>
                          <a:rPr lang="en-ZA" sz="2400" i="1">
                            <a:latin typeface="Cambria Math" panose="02040503050406030204" pitchFamily="18" charset="0"/>
                          </a:rPr>
                        </m:ctrlPr>
                      </m:sSubPr>
                      <m:e>
                        <m:r>
                          <a:rPr lang="sr-Latn-RS" sz="2400" i="1">
                            <a:latin typeface="Cambria Math" panose="02040503050406030204" pitchFamily="18" charset="0"/>
                          </a:rPr>
                          <m:t>𝑥</m:t>
                        </m:r>
                      </m:e>
                      <m:sub>
                        <m:r>
                          <a:rPr lang="sr-Latn-RS" sz="2400" i="1">
                            <a:latin typeface="Cambria Math" panose="02040503050406030204" pitchFamily="18" charset="0"/>
                          </a:rPr>
                          <m:t>1</m:t>
                        </m:r>
                      </m:sub>
                    </m:sSub>
                    <m:r>
                      <a:rPr lang="sr-Latn-RS" sz="2400" i="1">
                        <a:latin typeface="Cambria Math" panose="02040503050406030204" pitchFamily="18" charset="0"/>
                      </a:rPr>
                      <m:t>⨁⋯⨁ </m:t>
                    </m:r>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𝑛</m:t>
                        </m:r>
                        <m:r>
                          <a:rPr lang="sr-Latn-RS" sz="2400" i="1">
                            <a:latin typeface="Cambria Math" panose="02040503050406030204" pitchFamily="18" charset="0"/>
                          </a:rPr>
                          <m:t>−1</m:t>
                        </m:r>
                      </m:sub>
                    </m:sSub>
                    <m:sSub>
                      <m:sSubPr>
                        <m:ctrlPr>
                          <a:rPr lang="en-ZA" sz="2400" i="1">
                            <a:latin typeface="Cambria Math" panose="02040503050406030204" pitchFamily="18" charset="0"/>
                          </a:rPr>
                        </m:ctrlPr>
                      </m:sSubPr>
                      <m:e>
                        <m:r>
                          <a:rPr lang="sr-Latn-RS" sz="2400" i="1">
                            <a:latin typeface="Cambria Math" panose="02040503050406030204" pitchFamily="18" charset="0"/>
                          </a:rPr>
                          <m:t>𝑥</m:t>
                        </m:r>
                      </m:e>
                      <m:sub>
                        <m:r>
                          <a:rPr lang="sr-Latn-RS" sz="2400" i="1">
                            <a:latin typeface="Cambria Math" panose="02040503050406030204" pitchFamily="18" charset="0"/>
                          </a:rPr>
                          <m:t>𝑛</m:t>
                        </m:r>
                        <m:r>
                          <a:rPr lang="sr-Latn-RS" sz="2400" i="1">
                            <a:latin typeface="Cambria Math" panose="02040503050406030204" pitchFamily="18" charset="0"/>
                          </a:rPr>
                          <m:t>−1</m:t>
                        </m:r>
                      </m:sub>
                    </m:sSub>
                  </m:oMath>
                </a14:m>
                <a:r>
                  <a:rPr lang="en-ZA" sz="2400" dirty="0">
                    <a:effectLst/>
                  </a:rPr>
                  <a:t> , where </a:t>
                </a:r>
                <a14:m>
                  <m:oMath xmlns:m="http://schemas.openxmlformats.org/officeDocument/2006/math">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𝑖</m:t>
                        </m:r>
                      </m:sub>
                    </m:sSub>
                    <m:r>
                      <a:rPr lang="sr-Latn-RS" sz="2400" i="1">
                        <a:latin typeface="Cambria Math" panose="02040503050406030204" pitchFamily="18" charset="0"/>
                      </a:rPr>
                      <m:t>∈</m:t>
                    </m:r>
                    <m:d>
                      <m:dPr>
                        <m:begChr m:val="{"/>
                        <m:endChr m:val="}"/>
                        <m:ctrlPr>
                          <a:rPr lang="en-ZA" sz="2400" i="1">
                            <a:latin typeface="Cambria Math" panose="02040503050406030204" pitchFamily="18" charset="0"/>
                          </a:rPr>
                        </m:ctrlPr>
                      </m:dPr>
                      <m:e>
                        <m:r>
                          <a:rPr lang="sr-Latn-RS" sz="2400" i="1">
                            <a:latin typeface="Cambria Math" panose="02040503050406030204" pitchFamily="18" charset="0"/>
                          </a:rPr>
                          <m:t>0,1</m:t>
                        </m:r>
                      </m:e>
                    </m:d>
                  </m:oMath>
                </a14:m>
                <a:r>
                  <a:rPr lang="en-ZA" sz="2400" dirty="0">
                    <a:effectLst/>
                  </a:rPr>
                  <a:t> are fixed constants.</a:t>
                </a:r>
                <a:endParaRPr lang="en-US" sz="2400" dirty="0"/>
              </a:p>
            </p:txBody>
          </p:sp>
        </mc:Choice>
        <mc:Fallback xmlns="">
          <p:sp>
            <p:nvSpPr>
              <p:cNvPr id="6" name="TextBox 5">
                <a:extLst>
                  <a:ext uri="{FF2B5EF4-FFF2-40B4-BE49-F238E27FC236}">
                    <a16:creationId xmlns:a16="http://schemas.microsoft.com/office/drawing/2014/main" id="{DF817E12-B1E8-3045-8E76-860188CDBB7D}"/>
                  </a:ext>
                </a:extLst>
              </p:cNvPr>
              <p:cNvSpPr txBox="1">
                <a:spLocks noRot="1" noChangeAspect="1" noMove="1" noResize="1" noEditPoints="1" noAdjustHandles="1" noChangeArrowheads="1" noChangeShapeType="1" noTextEdit="1"/>
              </p:cNvSpPr>
              <p:nvPr/>
            </p:nvSpPr>
            <p:spPr>
              <a:xfrm>
                <a:off x="545432" y="3196748"/>
                <a:ext cx="11434412" cy="584775"/>
              </a:xfrm>
              <a:prstGeom prst="rect">
                <a:avLst/>
              </a:prstGeom>
              <a:blipFill>
                <a:blip r:embed="rId4"/>
                <a:stretch>
                  <a:fillRect l="-444" b="-217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7861412-6B44-BA4F-A8D3-F2924DFA489D}"/>
                  </a:ext>
                </a:extLst>
              </p:cNvPr>
              <p:cNvSpPr txBox="1"/>
              <p:nvPr/>
            </p:nvSpPr>
            <p:spPr>
              <a:xfrm>
                <a:off x="529390" y="3879813"/>
                <a:ext cx="8544327" cy="461665"/>
              </a:xfrm>
              <a:prstGeom prst="rect">
                <a:avLst/>
              </a:prstGeom>
              <a:noFill/>
            </p:spPr>
            <p:txBody>
              <a:bodyPr wrap="none" rtlCol="0">
                <a:spAutoFit/>
              </a:bodyPr>
              <a:lstStyle/>
              <a:p>
                <a:r>
                  <a:rPr lang="en-ZA" sz="2400" dirty="0"/>
                  <a:t>Properties of linearity</a:t>
                </a:r>
                <a:r>
                  <a:rPr lang="en-US" sz="2400" dirty="0"/>
                  <a:t>: </a:t>
                </a:r>
                <a14:m>
                  <m:oMath xmlns:m="http://schemas.openxmlformats.org/officeDocument/2006/math">
                    <m:m>
                      <m:mPr>
                        <m:mcs>
                          <m:mc>
                            <m:mcPr>
                              <m:count m:val="2"/>
                              <m:mcJc m:val="center"/>
                            </m:mcPr>
                          </m:mc>
                        </m:mcs>
                        <m:ctrlPr>
                          <a:rPr lang="en-ZA" sz="2400" i="1">
                            <a:latin typeface="Cambria Math" panose="02040503050406030204" pitchFamily="18" charset="0"/>
                          </a:rPr>
                        </m:ctrlPr>
                      </m:mPr>
                      <m:mr>
                        <m:e>
                          <m:r>
                            <a:rPr lang="sr-Latn-RS" sz="2400" i="1">
                              <a:latin typeface="Cambria Math" panose="02040503050406030204" pitchFamily="18" charset="0"/>
                            </a:rPr>
                            <m:t>𝑓</m:t>
                          </m:r>
                          <m:d>
                            <m:dPr>
                              <m:ctrlPr>
                                <a:rPr lang="en-ZA" sz="2400" i="1">
                                  <a:latin typeface="Cambria Math" panose="02040503050406030204" pitchFamily="18" charset="0"/>
                                </a:rPr>
                              </m:ctrlPr>
                            </m:dPr>
                            <m:e>
                              <m:r>
                                <a:rPr lang="sr-Latn-RS" sz="2400" i="1">
                                  <a:latin typeface="Cambria Math" panose="02040503050406030204" pitchFamily="18" charset="0"/>
                                </a:rPr>
                                <m:t>𝑥</m:t>
                              </m:r>
                              <m:r>
                                <a:rPr lang="sr-Latn-RS" sz="2400" i="1">
                                  <a:latin typeface="Cambria Math" panose="02040503050406030204" pitchFamily="18" charset="0"/>
                                </a:rPr>
                                <m:t>⨁</m:t>
                              </m:r>
                              <m:r>
                                <a:rPr lang="sr-Latn-RS" sz="2400" i="1">
                                  <a:latin typeface="Cambria Math" panose="02040503050406030204" pitchFamily="18" charset="0"/>
                                </a:rPr>
                                <m:t>𝑦</m:t>
                              </m:r>
                            </m:e>
                          </m:d>
                          <m:r>
                            <a:rPr lang="sr-Latn-RS" sz="2400" i="1">
                              <a:latin typeface="Cambria Math" panose="02040503050406030204" pitchFamily="18" charset="0"/>
                            </a:rPr>
                            <m:t>=</m:t>
                          </m:r>
                          <m:r>
                            <a:rPr lang="sr-Latn-RS" sz="2400" i="1">
                              <a:latin typeface="Cambria Math" panose="02040503050406030204" pitchFamily="18" charset="0"/>
                            </a:rPr>
                            <m:t>𝑓</m:t>
                          </m:r>
                          <m:d>
                            <m:dPr>
                              <m:ctrlPr>
                                <a:rPr lang="en-ZA" sz="2400" i="1">
                                  <a:latin typeface="Cambria Math" panose="02040503050406030204" pitchFamily="18" charset="0"/>
                                </a:rPr>
                              </m:ctrlPr>
                            </m:dPr>
                            <m:e>
                              <m:r>
                                <a:rPr lang="sr-Latn-RS" sz="2400" i="1">
                                  <a:latin typeface="Cambria Math" panose="02040503050406030204" pitchFamily="18" charset="0"/>
                                </a:rPr>
                                <m:t>𝑥</m:t>
                              </m:r>
                            </m:e>
                          </m:d>
                          <m:r>
                            <a:rPr lang="sr-Latn-RS" sz="2400" i="1">
                              <a:latin typeface="Cambria Math" panose="02040503050406030204" pitchFamily="18" charset="0"/>
                            </a:rPr>
                            <m:t>⨁</m:t>
                          </m:r>
                          <m:r>
                            <a:rPr lang="sr-Latn-RS" sz="2400" i="1">
                              <a:latin typeface="Cambria Math" panose="02040503050406030204" pitchFamily="18" charset="0"/>
                            </a:rPr>
                            <m:t>𝑓</m:t>
                          </m:r>
                          <m:d>
                            <m:dPr>
                              <m:ctrlPr>
                                <a:rPr lang="en-ZA" sz="2400" i="1">
                                  <a:latin typeface="Cambria Math" panose="02040503050406030204" pitchFamily="18" charset="0"/>
                                </a:rPr>
                              </m:ctrlPr>
                            </m:dPr>
                            <m:e>
                              <m:r>
                                <a:rPr lang="sr-Latn-RS" sz="2400" i="1">
                                  <a:latin typeface="Cambria Math" panose="02040503050406030204" pitchFamily="18" charset="0"/>
                                </a:rPr>
                                <m:t>𝑦</m:t>
                              </m:r>
                            </m:e>
                          </m:d>
                          <m:r>
                            <a:rPr lang="sr-Latn-RS" sz="2400" i="1">
                              <a:latin typeface="Cambria Math" panose="02040503050406030204" pitchFamily="18" charset="0"/>
                            </a:rPr>
                            <m:t>,</m:t>
                          </m:r>
                        </m:e>
                        <m:e>
                          <m:r>
                            <a:rPr lang="sr-Latn-RS" sz="2400" i="1">
                              <a:latin typeface="Cambria Math" panose="02040503050406030204" pitchFamily="18" charset="0"/>
                            </a:rPr>
                            <m:t>𝑓</m:t>
                          </m:r>
                          <m:d>
                            <m:dPr>
                              <m:ctrlPr>
                                <a:rPr lang="en-ZA" sz="2400" i="1">
                                  <a:latin typeface="Cambria Math" panose="02040503050406030204" pitchFamily="18" charset="0"/>
                                </a:rPr>
                              </m:ctrlPr>
                            </m:dPr>
                            <m:e>
                              <m:r>
                                <a:rPr lang="sr-Latn-RS" sz="2400" i="1">
                                  <a:latin typeface="Cambria Math" panose="02040503050406030204" pitchFamily="18" charset="0"/>
                                </a:rPr>
                                <m:t>𝑎</m:t>
                              </m:r>
                              <m:r>
                                <a:rPr lang="sr-Latn-RS" sz="2400" i="1">
                                  <a:latin typeface="Cambria Math" panose="02040503050406030204" pitchFamily="18" charset="0"/>
                                </a:rPr>
                                <m:t>∙</m:t>
                              </m:r>
                              <m:r>
                                <a:rPr lang="sr-Latn-RS" sz="2400" i="1">
                                  <a:latin typeface="Cambria Math" panose="02040503050406030204" pitchFamily="18" charset="0"/>
                                </a:rPr>
                                <m:t>𝑥</m:t>
                              </m:r>
                            </m:e>
                          </m:d>
                          <m:r>
                            <a:rPr lang="sr-Latn-RS" sz="2400" i="1">
                              <a:latin typeface="Cambria Math" panose="02040503050406030204" pitchFamily="18" charset="0"/>
                            </a:rPr>
                            <m:t>=</m:t>
                          </m:r>
                          <m:r>
                            <a:rPr lang="sr-Latn-RS" sz="2400" i="1">
                              <a:latin typeface="Cambria Math" panose="02040503050406030204" pitchFamily="18" charset="0"/>
                            </a:rPr>
                            <m:t>𝑎𝑓</m:t>
                          </m:r>
                          <m:d>
                            <m:dPr>
                              <m:ctrlPr>
                                <a:rPr lang="en-ZA" sz="2400" i="1">
                                  <a:latin typeface="Cambria Math" panose="02040503050406030204" pitchFamily="18" charset="0"/>
                                </a:rPr>
                              </m:ctrlPr>
                            </m:dPr>
                            <m:e>
                              <m:r>
                                <a:rPr lang="sr-Latn-RS" sz="2400" i="1">
                                  <a:latin typeface="Cambria Math" panose="02040503050406030204" pitchFamily="18" charset="0"/>
                                </a:rPr>
                                <m:t>𝑥</m:t>
                              </m:r>
                            </m:e>
                          </m:d>
                        </m:e>
                      </m:mr>
                    </m:m>
                  </m:oMath>
                </a14:m>
                <a:endParaRPr lang="en-US" sz="2400" dirty="0"/>
              </a:p>
            </p:txBody>
          </p:sp>
        </mc:Choice>
        <mc:Fallback xmlns="">
          <p:sp>
            <p:nvSpPr>
              <p:cNvPr id="7" name="TextBox 6">
                <a:extLst>
                  <a:ext uri="{FF2B5EF4-FFF2-40B4-BE49-F238E27FC236}">
                    <a16:creationId xmlns:a16="http://schemas.microsoft.com/office/drawing/2014/main" id="{27861412-6B44-BA4F-A8D3-F2924DFA489D}"/>
                  </a:ext>
                </a:extLst>
              </p:cNvPr>
              <p:cNvSpPr txBox="1">
                <a:spLocks noRot="1" noChangeAspect="1" noMove="1" noResize="1" noEditPoints="1" noAdjustHandles="1" noChangeArrowheads="1" noChangeShapeType="1" noTextEdit="1"/>
              </p:cNvSpPr>
              <p:nvPr/>
            </p:nvSpPr>
            <p:spPr>
              <a:xfrm>
                <a:off x="529390" y="3879813"/>
                <a:ext cx="8544327" cy="461665"/>
              </a:xfrm>
              <a:prstGeom prst="rect">
                <a:avLst/>
              </a:prstGeom>
              <a:blipFill>
                <a:blip r:embed="rId5"/>
                <a:stretch>
                  <a:fillRect l="-1040" t="-5263" b="-26316"/>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682BF324-B99C-0B4F-AC4D-8167B8C6F836}"/>
              </a:ext>
            </a:extLst>
          </p:cNvPr>
          <p:cNvSpPr txBox="1"/>
          <p:nvPr/>
        </p:nvSpPr>
        <p:spPr>
          <a:xfrm>
            <a:off x="208548" y="2683635"/>
            <a:ext cx="3163045" cy="461665"/>
          </a:xfrm>
          <a:prstGeom prst="rect">
            <a:avLst/>
          </a:prstGeom>
          <a:solidFill>
            <a:schemeClr val="accent4">
              <a:lumMod val="20000"/>
              <a:lumOff val="80000"/>
            </a:schemeClr>
          </a:solidFill>
        </p:spPr>
        <p:txBody>
          <a:bodyPr wrap="none" rtlCol="0">
            <a:spAutoFit/>
          </a:bodyPr>
          <a:lstStyle/>
          <a:p>
            <a:r>
              <a:rPr lang="sr-Latn-RS" sz="2400" dirty="0" err="1"/>
              <a:t>Linear</a:t>
            </a:r>
            <a:r>
              <a:rPr lang="sr-Latn-RS" sz="2400" dirty="0"/>
              <a:t> </a:t>
            </a:r>
            <a:r>
              <a:rPr lang="sr-Latn-RS" sz="2400" dirty="0" err="1"/>
              <a:t>Boolean</a:t>
            </a:r>
            <a:r>
              <a:rPr lang="sr-Latn-RS" sz="2400" dirty="0"/>
              <a:t> </a:t>
            </a:r>
            <a:r>
              <a:rPr lang="sr-Latn-RS" sz="2400" dirty="0" err="1"/>
              <a:t>function</a:t>
            </a:r>
            <a:endParaRPr lang="sr-Latn-RS" sz="2400" dirty="0"/>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AAD5FEB-40FC-994C-8654-52B7B35A32B0}"/>
                  </a:ext>
                </a:extLst>
              </p:cNvPr>
              <p:cNvSpPr txBox="1"/>
              <p:nvPr/>
            </p:nvSpPr>
            <p:spPr>
              <a:xfrm>
                <a:off x="208548" y="4582287"/>
                <a:ext cx="11509319" cy="1938992"/>
              </a:xfrm>
              <a:prstGeom prst="rect">
                <a:avLst/>
              </a:prstGeom>
              <a:noFill/>
            </p:spPr>
            <p:txBody>
              <a:bodyPr wrap="square" rtlCol="0">
                <a:spAutoFit/>
              </a:bodyPr>
              <a:lstStyle/>
              <a:p>
                <a:pPr marL="285750" indent="-285750">
                  <a:buFont typeface="Arial" panose="020B0604020202020204" pitchFamily="34" charset="0"/>
                  <a:buChar char="•"/>
                </a:pPr>
                <a:r>
                  <a:rPr lang="en-ZA" sz="2400" dirty="0"/>
                  <a:t>A linear function is </a:t>
                </a:r>
                <a:r>
                  <a:rPr lang="en-ZA" sz="2400" b="1" dirty="0"/>
                  <a:t>constant</a:t>
                </a:r>
                <a:r>
                  <a:rPr lang="en-ZA" sz="2400" dirty="0"/>
                  <a:t> if all its coefficients are zero (</a:t>
                </a:r>
                <a14:m>
                  <m:oMath xmlns:m="http://schemas.openxmlformats.org/officeDocument/2006/math">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𝑖</m:t>
                        </m:r>
                      </m:sub>
                    </m:sSub>
                    <m:r>
                      <a:rPr lang="sr-Latn-RS" sz="2400" i="1">
                        <a:latin typeface="Cambria Math" panose="02040503050406030204" pitchFamily="18" charset="0"/>
                      </a:rPr>
                      <m:t>=0</m:t>
                    </m:r>
                  </m:oMath>
                </a14:m>
                <a:r>
                  <a:rPr lang="en-ZA" sz="2400" dirty="0"/>
                  <a:t>) giving </a:t>
                </a:r>
                <a14:m>
                  <m:oMath xmlns:m="http://schemas.openxmlformats.org/officeDocument/2006/math">
                    <m:r>
                      <a:rPr lang="en-US" sz="2400" i="1">
                        <a:latin typeface="Cambria Math" panose="02040503050406030204" pitchFamily="18" charset="0"/>
                      </a:rPr>
                      <m:t>𝑓</m:t>
                    </m:r>
                    <m:d>
                      <m:dPr>
                        <m:ctrlPr>
                          <a:rPr lang="en-US" sz="2400" i="1">
                            <a:latin typeface="Cambria Math" panose="02040503050406030204" pitchFamily="18" charset="0"/>
                          </a:rPr>
                        </m:ctrlPr>
                      </m:dPr>
                      <m:e>
                        <m:r>
                          <a:rPr lang="sr-Latn-RS" sz="2400" i="1">
                            <a:latin typeface="Cambria Math" panose="02040503050406030204" pitchFamily="18" charset="0"/>
                          </a:rPr>
                          <m:t>𝑥</m:t>
                        </m:r>
                      </m:e>
                    </m:d>
                    <m:r>
                      <a:rPr lang="en-US" sz="2400" i="1">
                        <a:latin typeface="Cambria Math" panose="02040503050406030204" pitchFamily="18" charset="0"/>
                      </a:rPr>
                      <m:t>=0</m:t>
                    </m:r>
                  </m:oMath>
                </a14:m>
                <a:r>
                  <a:rPr lang="en-ZA" sz="2400" dirty="0"/>
                  <a:t> for all inputs. The function </a:t>
                </a:r>
                <a14:m>
                  <m:oMath xmlns:m="http://schemas.openxmlformats.org/officeDocument/2006/math">
                    <m:r>
                      <a:rPr lang="en-US" sz="2400" i="1">
                        <a:latin typeface="Cambria Math" panose="02040503050406030204" pitchFamily="18" charset="0"/>
                      </a:rPr>
                      <m:t>𝑓</m:t>
                    </m:r>
                    <m:d>
                      <m:dPr>
                        <m:ctrlPr>
                          <a:rPr lang="en-US" sz="2400" i="1">
                            <a:latin typeface="Cambria Math" panose="02040503050406030204" pitchFamily="18" charset="0"/>
                          </a:rPr>
                        </m:ctrlPr>
                      </m:dPr>
                      <m:e>
                        <m:r>
                          <a:rPr lang="sr-Latn-RS" sz="2400" i="1">
                            <a:latin typeface="Cambria Math" panose="02040503050406030204" pitchFamily="18" charset="0"/>
                          </a:rPr>
                          <m:t>𝑥</m:t>
                        </m:r>
                      </m:e>
                    </m:d>
                    <m:r>
                      <a:rPr lang="en-US" sz="2400" i="1">
                        <a:latin typeface="Cambria Math" panose="02040503050406030204" pitchFamily="18" charset="0"/>
                      </a:rPr>
                      <m:t>=</m:t>
                    </m:r>
                    <m:r>
                      <a:rPr lang="sr-Latn-RS" sz="2400" b="0" i="1" smtClean="0">
                        <a:latin typeface="Cambria Math" panose="02040503050406030204" pitchFamily="18" charset="0"/>
                      </a:rPr>
                      <m:t>1</m:t>
                    </m:r>
                  </m:oMath>
                </a14:m>
                <a:r>
                  <a:rPr lang="en-ZA" sz="2400" dirty="0"/>
                  <a:t> is also constant, but </a:t>
                </a:r>
                <a:r>
                  <a:rPr lang="en-ZA" sz="2400" b="1" dirty="0"/>
                  <a:t>not linear</a:t>
                </a:r>
                <a:r>
                  <a:rPr lang="en-ZA" sz="2400" dirty="0"/>
                  <a:t>. </a:t>
                </a:r>
              </a:p>
              <a:p>
                <a:pPr marL="285750" indent="-285750">
                  <a:buFont typeface="Arial" panose="020B0604020202020204" pitchFamily="34" charset="0"/>
                  <a:buChar char="•"/>
                </a:pPr>
                <a:r>
                  <a:rPr lang="en-ZA" sz="2400" dirty="0"/>
                  <a:t>A linear function is </a:t>
                </a:r>
                <a:r>
                  <a:rPr lang="en-ZA" sz="2400" b="1" dirty="0"/>
                  <a:t>balanced</a:t>
                </a:r>
                <a:r>
                  <a:rPr lang="en-ZA" sz="2400" dirty="0"/>
                  <a:t> if at least one coefficient is nonzero (</a:t>
                </a:r>
                <a14:m>
                  <m:oMath xmlns:m="http://schemas.openxmlformats.org/officeDocument/2006/math">
                    <m:sSub>
                      <m:sSubPr>
                        <m:ctrlPr>
                          <a:rPr lang="en-ZA" sz="2400" i="1">
                            <a:latin typeface="Cambria Math" panose="02040503050406030204" pitchFamily="18" charset="0"/>
                          </a:rPr>
                        </m:ctrlPr>
                      </m:sSubPr>
                      <m:e>
                        <m:r>
                          <a:rPr lang="sr-Latn-RS" sz="2400" i="1">
                            <a:latin typeface="Cambria Math" panose="02040503050406030204" pitchFamily="18" charset="0"/>
                          </a:rPr>
                          <m:t>𝑎</m:t>
                        </m:r>
                      </m:e>
                      <m:sub>
                        <m:r>
                          <a:rPr lang="sr-Latn-RS" sz="2400" i="1">
                            <a:latin typeface="Cambria Math" panose="02040503050406030204" pitchFamily="18" charset="0"/>
                          </a:rPr>
                          <m:t>𝑖</m:t>
                        </m:r>
                      </m:sub>
                    </m:sSub>
                    <m:r>
                      <a:rPr lang="sr-Latn-RS" sz="2400" i="1">
                        <a:latin typeface="Cambria Math" panose="02040503050406030204" pitchFamily="18" charset="0"/>
                      </a:rPr>
                      <m:t>=1</m:t>
                    </m:r>
                  </m:oMath>
                </a14:m>
                <a:r>
                  <a:rPr lang="en-ZA" sz="2400" dirty="0"/>
                  <a:t>), producing an equal number of 0s and 1s over all possible inputs.</a:t>
                </a:r>
              </a:p>
              <a:p>
                <a:pPr marL="285750" indent="-285750">
                  <a:buFont typeface="Arial" panose="020B0604020202020204" pitchFamily="34" charset="0"/>
                  <a:buChar char="•"/>
                </a:pPr>
                <a:r>
                  <a:rPr lang="en-ZA" sz="2400" dirty="0"/>
                  <a:t>Every linear Boolean function is either constant or balanced.</a:t>
                </a:r>
                <a:endParaRPr lang="en-US" sz="2400" dirty="0"/>
              </a:p>
            </p:txBody>
          </p:sp>
        </mc:Choice>
        <mc:Fallback xmlns="">
          <p:sp>
            <p:nvSpPr>
              <p:cNvPr id="10" name="TextBox 9">
                <a:extLst>
                  <a:ext uri="{FF2B5EF4-FFF2-40B4-BE49-F238E27FC236}">
                    <a16:creationId xmlns:a16="http://schemas.microsoft.com/office/drawing/2014/main" id="{FAAD5FEB-40FC-994C-8654-52B7B35A32B0}"/>
                  </a:ext>
                </a:extLst>
              </p:cNvPr>
              <p:cNvSpPr txBox="1">
                <a:spLocks noRot="1" noChangeAspect="1" noMove="1" noResize="1" noEditPoints="1" noAdjustHandles="1" noChangeArrowheads="1" noChangeShapeType="1" noTextEdit="1"/>
              </p:cNvSpPr>
              <p:nvPr/>
            </p:nvSpPr>
            <p:spPr>
              <a:xfrm>
                <a:off x="208548" y="4582287"/>
                <a:ext cx="11509319" cy="1938992"/>
              </a:xfrm>
              <a:prstGeom prst="rect">
                <a:avLst/>
              </a:prstGeom>
              <a:blipFill>
                <a:blip r:embed="rId6"/>
                <a:stretch>
                  <a:fillRect l="-551" t="-1307" b="-6536"/>
                </a:stretch>
              </a:blipFill>
            </p:spPr>
            <p:txBody>
              <a:bodyPr/>
              <a:lstStyle/>
              <a:p>
                <a:r>
                  <a:rPr lang="en-US">
                    <a:noFill/>
                  </a:rPr>
                  <a:t> </a:t>
                </a:r>
              </a:p>
            </p:txBody>
          </p:sp>
        </mc:Fallback>
      </mc:AlternateContent>
    </p:spTree>
    <p:extLst>
      <p:ext uri="{BB962C8B-B14F-4D97-AF65-F5344CB8AC3E}">
        <p14:creationId xmlns:p14="http://schemas.microsoft.com/office/powerpoint/2010/main" val="33819808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F04080-B3D9-3142-827D-15FECC3A44F1}"/>
              </a:ext>
            </a:extLst>
          </p:cNvPr>
          <p:cNvSpPr>
            <a:spLocks noGrp="1"/>
          </p:cNvSpPr>
          <p:nvPr>
            <p:ph type="sldNum" sz="quarter" idx="12"/>
          </p:nvPr>
        </p:nvSpPr>
        <p:spPr/>
        <p:txBody>
          <a:bodyPr/>
          <a:lstStyle/>
          <a:p>
            <a:fld id="{591A223C-FA10-BC46-A853-03BA373D023C}" type="slidenum">
              <a:rPr lang="en-US" smtClean="0"/>
              <a:t>63</a:t>
            </a:fld>
            <a:endParaRPr lang="en-US"/>
          </a:p>
        </p:txBody>
      </p:sp>
      <p:sp>
        <p:nvSpPr>
          <p:cNvPr id="3" name="Title 2">
            <a:extLst>
              <a:ext uri="{FF2B5EF4-FFF2-40B4-BE49-F238E27FC236}">
                <a16:creationId xmlns:a16="http://schemas.microsoft.com/office/drawing/2014/main" id="{BCB6D4D9-58A7-6E49-AD86-3380FEB8F1B1}"/>
              </a:ext>
            </a:extLst>
          </p:cNvPr>
          <p:cNvSpPr>
            <a:spLocks noGrp="1"/>
          </p:cNvSpPr>
          <p:nvPr>
            <p:ph type="title"/>
          </p:nvPr>
        </p:nvSpPr>
        <p:spPr>
          <a:xfrm>
            <a:off x="0" y="0"/>
            <a:ext cx="12192000" cy="928688"/>
          </a:xfrm>
        </p:spPr>
        <p:txBody>
          <a:bodyPr/>
          <a:lstStyle/>
          <a:p>
            <a:r>
              <a:rPr lang="en-ZA" dirty="0"/>
              <a:t>Modular arithmetic</a:t>
            </a:r>
            <a:endParaRPr lang="en-US" dirty="0"/>
          </a:p>
        </p:txBody>
      </p:sp>
      <p:pic>
        <p:nvPicPr>
          <p:cNvPr id="4" name="Picture 3">
            <a:extLst>
              <a:ext uri="{FF2B5EF4-FFF2-40B4-BE49-F238E27FC236}">
                <a16:creationId xmlns:a16="http://schemas.microsoft.com/office/drawing/2014/main" id="{D4507C45-983A-C842-B237-8DF9C7DE372D}"/>
              </a:ext>
            </a:extLst>
          </p:cNvPr>
          <p:cNvPicPr>
            <a:picLocks noChangeAspect="1"/>
          </p:cNvPicPr>
          <p:nvPr/>
        </p:nvPicPr>
        <p:blipFill>
          <a:blip r:embed="rId3"/>
          <a:stretch>
            <a:fillRect/>
          </a:stretch>
        </p:blipFill>
        <p:spPr>
          <a:xfrm>
            <a:off x="4730951" y="565150"/>
            <a:ext cx="6083300" cy="5727700"/>
          </a:xfrm>
          <a:prstGeom prst="rect">
            <a:avLst/>
          </a:prstGeom>
        </p:spPr>
      </p:pic>
      <p:sp>
        <p:nvSpPr>
          <p:cNvPr id="7" name="Rectangle 6">
            <a:extLst>
              <a:ext uri="{FF2B5EF4-FFF2-40B4-BE49-F238E27FC236}">
                <a16:creationId xmlns:a16="http://schemas.microsoft.com/office/drawing/2014/main" id="{D961ABA2-A64E-D043-8E2F-7B0110345AC7}"/>
              </a:ext>
            </a:extLst>
          </p:cNvPr>
          <p:cNvSpPr/>
          <p:nvPr/>
        </p:nvSpPr>
        <p:spPr>
          <a:xfrm>
            <a:off x="3848979" y="928688"/>
            <a:ext cx="881972" cy="1569660"/>
          </a:xfrm>
          <a:prstGeom prst="rect">
            <a:avLst/>
          </a:prstGeom>
          <a:noFill/>
        </p:spPr>
        <p:txBody>
          <a:bodyPr wrap="none" lIns="91440" tIns="45720" rIns="91440" bIns="45720">
            <a:spAutoFit/>
          </a:bodyPr>
          <a:lstStyle/>
          <a:p>
            <a:pPr algn="ctr"/>
            <a:r>
              <a:rPr lang="en-US" sz="9600" b="1" cap="none" spc="0" dirty="0">
                <a:ln/>
                <a:pattFill prst="dkUpDiag">
                  <a:fgClr>
                    <a:schemeClr val="bg1">
                      <a:lumMod val="50000"/>
                    </a:schemeClr>
                  </a:fgClr>
                  <a:bgClr>
                    <a:schemeClr val="tx1">
                      <a:lumMod val="75000"/>
                      <a:lumOff val="25000"/>
                    </a:schemeClr>
                  </a:bgClr>
                </a:pattFill>
                <a:effectLst>
                  <a:outerShdw blurRad="38100" dist="19050" dir="2700000" algn="tl" rotWithShape="0">
                    <a:schemeClr val="dk1">
                      <a:lumMod val="50000"/>
                      <a:alpha val="40000"/>
                    </a:schemeClr>
                  </a:outerShdw>
                </a:effectLst>
                <a:latin typeface="Comic Sans MS" panose="030F0902030302020204" pitchFamily="66" charset="0"/>
              </a:rPr>
              <a:t>?</a:t>
            </a:r>
          </a:p>
        </p:txBody>
      </p:sp>
      <p:pic>
        <p:nvPicPr>
          <p:cNvPr id="6" name="Picture 5">
            <a:extLst>
              <a:ext uri="{FF2B5EF4-FFF2-40B4-BE49-F238E27FC236}">
                <a16:creationId xmlns:a16="http://schemas.microsoft.com/office/drawing/2014/main" id="{D2D773DC-DE6F-0B49-94F0-1CEF63C9DCF5}"/>
              </a:ext>
            </a:extLst>
          </p:cNvPr>
          <p:cNvPicPr>
            <a:picLocks noChangeAspect="1"/>
          </p:cNvPicPr>
          <p:nvPr/>
        </p:nvPicPr>
        <p:blipFill>
          <a:blip r:embed="rId4"/>
          <a:stretch>
            <a:fillRect/>
          </a:stretch>
        </p:blipFill>
        <p:spPr>
          <a:xfrm flipH="1">
            <a:off x="362151" y="1897379"/>
            <a:ext cx="3693575" cy="4595495"/>
          </a:xfrm>
          <a:prstGeom prst="rect">
            <a:avLst/>
          </a:prstGeom>
        </p:spPr>
      </p:pic>
    </p:spTree>
    <p:extLst>
      <p:ext uri="{BB962C8B-B14F-4D97-AF65-F5344CB8AC3E}">
        <p14:creationId xmlns:p14="http://schemas.microsoft.com/office/powerpoint/2010/main" val="11618744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3313DED-9497-F24F-8BFF-F075A5AB1B1F}"/>
              </a:ext>
            </a:extLst>
          </p:cNvPr>
          <p:cNvSpPr>
            <a:spLocks noGrp="1"/>
          </p:cNvSpPr>
          <p:nvPr>
            <p:ph type="sldNum" sz="quarter" idx="12"/>
          </p:nvPr>
        </p:nvSpPr>
        <p:spPr/>
        <p:txBody>
          <a:bodyPr/>
          <a:lstStyle/>
          <a:p>
            <a:fld id="{591A223C-FA10-BC46-A853-03BA373D023C}" type="slidenum">
              <a:rPr lang="en-US" smtClean="0"/>
              <a:t>64</a:t>
            </a:fld>
            <a:endParaRPr lang="en-US"/>
          </a:p>
        </p:txBody>
      </p:sp>
      <p:sp>
        <p:nvSpPr>
          <p:cNvPr id="4" name="Title 3">
            <a:extLst>
              <a:ext uri="{FF2B5EF4-FFF2-40B4-BE49-F238E27FC236}">
                <a16:creationId xmlns:a16="http://schemas.microsoft.com/office/drawing/2014/main" id="{6E0C7D73-1938-1E46-BE01-44690EB231D0}"/>
              </a:ext>
            </a:extLst>
          </p:cNvPr>
          <p:cNvSpPr>
            <a:spLocks noGrp="1"/>
          </p:cNvSpPr>
          <p:nvPr>
            <p:ph type="title"/>
          </p:nvPr>
        </p:nvSpPr>
        <p:spPr/>
        <p:txBody>
          <a:bodyPr/>
          <a:lstStyle/>
          <a:p>
            <a:r>
              <a:rPr lang="en-ZA" dirty="0"/>
              <a:t>Modular Arithmetic</a:t>
            </a:r>
            <a:endParaRPr lang="en-US" dirty="0"/>
          </a:p>
        </p:txBody>
      </p:sp>
      <p:pic>
        <p:nvPicPr>
          <p:cNvPr id="6" name="Picture 5">
            <a:extLst>
              <a:ext uri="{FF2B5EF4-FFF2-40B4-BE49-F238E27FC236}">
                <a16:creationId xmlns:a16="http://schemas.microsoft.com/office/drawing/2014/main" id="{05B69DD8-4D2D-5047-896D-679BE5F07D95}"/>
              </a:ext>
            </a:extLst>
          </p:cNvPr>
          <p:cNvPicPr>
            <a:picLocks noChangeAspect="1"/>
          </p:cNvPicPr>
          <p:nvPr/>
        </p:nvPicPr>
        <p:blipFill>
          <a:blip r:embed="rId3"/>
          <a:stretch>
            <a:fillRect/>
          </a:stretch>
        </p:blipFill>
        <p:spPr>
          <a:xfrm>
            <a:off x="2934219" y="1439075"/>
            <a:ext cx="6140175" cy="3199810"/>
          </a:xfrm>
          <a:prstGeom prst="rect">
            <a:avLst/>
          </a:prstGeom>
        </p:spPr>
      </p:pic>
      <p:grpSp>
        <p:nvGrpSpPr>
          <p:cNvPr id="9" name="Group 8">
            <a:extLst>
              <a:ext uri="{FF2B5EF4-FFF2-40B4-BE49-F238E27FC236}">
                <a16:creationId xmlns:a16="http://schemas.microsoft.com/office/drawing/2014/main" id="{8E964B4D-7635-8F43-8D29-0BFBF90F28D3}"/>
              </a:ext>
            </a:extLst>
          </p:cNvPr>
          <p:cNvGrpSpPr/>
          <p:nvPr/>
        </p:nvGrpSpPr>
        <p:grpSpPr>
          <a:xfrm>
            <a:off x="2892531" y="4751735"/>
            <a:ext cx="6777881" cy="1741140"/>
            <a:chOff x="2736362" y="5047634"/>
            <a:chExt cx="6777881" cy="1741140"/>
          </a:xfrm>
        </p:grpSpPr>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3CC2391A-DD7D-DD4C-BA03-E4E8C99FD42C}"/>
                    </a:ext>
                  </a:extLst>
                </p:cNvPr>
                <p:cNvSpPr/>
                <p:nvPr/>
              </p:nvSpPr>
              <p:spPr>
                <a:xfrm>
                  <a:off x="3204406" y="5664440"/>
                  <a:ext cx="5841792"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begChr m:val=""/>
                            <m:ctrlPr>
                              <a:rPr lang="en-US" sz="3600" i="1">
                                <a:latin typeface="Cambria Math" panose="02040503050406030204" pitchFamily="18" charset="0"/>
                              </a:rPr>
                            </m:ctrlPr>
                          </m:dPr>
                          <m:e>
                            <m:r>
                              <a:rPr lang="en-US" sz="3600" i="1">
                                <a:latin typeface="Cambria Math" panose="02040503050406030204" pitchFamily="18" charset="0"/>
                              </a:rPr>
                              <m:t>𝑎</m:t>
                            </m:r>
                            <m:r>
                              <a:rPr lang="en-US" sz="3600">
                                <a:latin typeface="Cambria Math" panose="02040503050406030204" pitchFamily="18" charset="0"/>
                              </a:rPr>
                              <m:t>≡</m:t>
                            </m:r>
                            <m:r>
                              <a:rPr lang="en-US" sz="3600" i="1">
                                <a:latin typeface="Cambria Math" panose="02040503050406030204" pitchFamily="18" charset="0"/>
                              </a:rPr>
                              <m:t>𝑏</m:t>
                            </m:r>
                            <m:r>
                              <a:rPr lang="en-US" sz="3600">
                                <a:latin typeface="Cambria Math" panose="02040503050406030204" pitchFamily="18" charset="0"/>
                              </a:rPr>
                              <m:t> (</m:t>
                            </m:r>
                            <m:r>
                              <m:rPr>
                                <m:sty m:val="p"/>
                              </m:rPr>
                              <a:rPr lang="en-US" sz="3600">
                                <a:latin typeface="Cambria Math" panose="02040503050406030204" pitchFamily="18" charset="0"/>
                              </a:rPr>
                              <m:t>mod</m:t>
                            </m:r>
                            <m:r>
                              <a:rPr lang="en-US" sz="3600">
                                <a:latin typeface="Cambria Math" panose="02040503050406030204" pitchFamily="18" charset="0"/>
                              </a:rPr>
                              <m:t> </m:t>
                            </m:r>
                            <m:r>
                              <a:rPr lang="en-US" sz="3600" i="1">
                                <a:latin typeface="Cambria Math" panose="02040503050406030204" pitchFamily="18" charset="0"/>
                              </a:rPr>
                              <m:t>𝑛</m:t>
                            </m:r>
                          </m:e>
                        </m:d>
                        <m:r>
                          <a:rPr lang="en-US" sz="3600" i="1">
                            <a:latin typeface="Cambria Math" panose="02040503050406030204" pitchFamily="18" charset="0"/>
                            <a:ea typeface="Cambria Math" panose="02040503050406030204" pitchFamily="18" charset="0"/>
                          </a:rPr>
                          <m:t>⟺</m:t>
                        </m:r>
                        <m:r>
                          <a:rPr lang="en-US" sz="3600" i="1">
                            <a:latin typeface="Cambria Math" panose="02040503050406030204" pitchFamily="18" charset="0"/>
                            <a:ea typeface="Cambria Math" panose="02040503050406030204" pitchFamily="18" charset="0"/>
                          </a:rPr>
                          <m:t>𝑛</m:t>
                        </m:r>
                        <m:r>
                          <a:rPr lang="en-US" sz="3600" i="1">
                            <a:latin typeface="Cambria Math" panose="02040503050406030204" pitchFamily="18" charset="0"/>
                            <a:ea typeface="Cambria Math" panose="02040503050406030204" pitchFamily="18" charset="0"/>
                          </a:rPr>
                          <m:t>|(</m:t>
                        </m:r>
                        <m:r>
                          <a:rPr lang="en-US" sz="3600" i="1">
                            <a:latin typeface="Cambria Math" panose="02040503050406030204" pitchFamily="18" charset="0"/>
                            <a:ea typeface="Cambria Math" panose="02040503050406030204" pitchFamily="18" charset="0"/>
                          </a:rPr>
                          <m:t>𝑎</m:t>
                        </m:r>
                        <m:r>
                          <a:rPr lang="en-US" sz="3600" i="1">
                            <a:latin typeface="Cambria Math" panose="02040503050406030204" pitchFamily="18" charset="0"/>
                            <a:ea typeface="Cambria Math" panose="02040503050406030204" pitchFamily="18" charset="0"/>
                          </a:rPr>
                          <m:t>−</m:t>
                        </m:r>
                        <m:r>
                          <a:rPr lang="en-US" sz="3600" i="1">
                            <a:latin typeface="Cambria Math" panose="02040503050406030204" pitchFamily="18" charset="0"/>
                            <a:ea typeface="Cambria Math" panose="02040503050406030204" pitchFamily="18" charset="0"/>
                          </a:rPr>
                          <m:t>𝑏</m:t>
                        </m:r>
                        <m:r>
                          <a:rPr lang="en-US" sz="3600" i="1">
                            <a:latin typeface="Cambria Math" panose="02040503050406030204" pitchFamily="18" charset="0"/>
                            <a:ea typeface="Cambria Math" panose="02040503050406030204" pitchFamily="18" charset="0"/>
                          </a:rPr>
                          <m:t>)</m:t>
                        </m:r>
                      </m:oMath>
                    </m:oMathPara>
                  </a14:m>
                  <a:endParaRPr lang="en-ZA" sz="3600" dirty="0"/>
                </a:p>
              </p:txBody>
            </p:sp>
          </mc:Choice>
          <mc:Fallback xmlns="">
            <p:sp>
              <p:nvSpPr>
                <p:cNvPr id="7" name="Rectangle 6">
                  <a:extLst>
                    <a:ext uri="{FF2B5EF4-FFF2-40B4-BE49-F238E27FC236}">
                      <a16:creationId xmlns:a16="http://schemas.microsoft.com/office/drawing/2014/main" id="{3CC2391A-DD7D-DD4C-BA03-E4E8C99FD42C}"/>
                    </a:ext>
                  </a:extLst>
                </p:cNvPr>
                <p:cNvSpPr>
                  <a:spLocks noRot="1" noChangeAspect="1" noMove="1" noResize="1" noEditPoints="1" noAdjustHandles="1" noChangeArrowheads="1" noChangeShapeType="1" noTextEdit="1"/>
                </p:cNvSpPr>
                <p:nvPr/>
              </p:nvSpPr>
              <p:spPr>
                <a:xfrm>
                  <a:off x="3204406" y="5664440"/>
                  <a:ext cx="5841792" cy="646331"/>
                </a:xfrm>
                <a:prstGeom prst="rect">
                  <a:avLst/>
                </a:prstGeom>
                <a:blipFill>
                  <a:blip r:embed="rId4"/>
                  <a:stretch>
                    <a:fillRect t="-136538" r="-434" b="-209615"/>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5541BAA3-9387-984D-8649-C48734EE0CE9}"/>
                </a:ext>
              </a:extLst>
            </p:cNvPr>
            <p:cNvSpPr txBox="1"/>
            <p:nvPr/>
          </p:nvSpPr>
          <p:spPr>
            <a:xfrm>
              <a:off x="4502455" y="5047634"/>
              <a:ext cx="3161956" cy="523220"/>
            </a:xfrm>
            <a:prstGeom prst="rect">
              <a:avLst/>
            </a:prstGeom>
            <a:solidFill>
              <a:schemeClr val="accent4">
                <a:lumMod val="20000"/>
                <a:lumOff val="80000"/>
              </a:schemeClr>
            </a:solidFill>
          </p:spPr>
          <p:txBody>
            <a:bodyPr wrap="none" rtlCol="0">
              <a:spAutoFit/>
            </a:bodyPr>
            <a:lstStyle/>
            <a:p>
              <a:r>
                <a:rPr lang="en-ZA" sz="2800" dirty="0"/>
                <a:t>congruence relation</a:t>
              </a:r>
              <a:endParaRPr lang="en-US" sz="2800" dirty="0"/>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5180BFC-B9B1-8A46-8043-AE3BD7375BCF}"/>
                    </a:ext>
                  </a:extLst>
                </p:cNvPr>
                <p:cNvSpPr txBox="1"/>
                <p:nvPr/>
              </p:nvSpPr>
              <p:spPr>
                <a:xfrm>
                  <a:off x="2736362" y="6327109"/>
                  <a:ext cx="6777881" cy="461665"/>
                </a:xfrm>
                <a:prstGeom prst="rect">
                  <a:avLst/>
                </a:prstGeom>
                <a:noFill/>
              </p:spPr>
              <p:txBody>
                <a:bodyPr wrap="none" rtlCol="0">
                  <a:spAutoFit/>
                </a:bodyPr>
                <a:lstStyle/>
                <a:p>
                  <a14:m>
                    <m:oMath xmlns:m="http://schemas.openxmlformats.org/officeDocument/2006/math">
                      <m:r>
                        <a:rPr lang="en-US" sz="2400" i="1" smtClean="0">
                          <a:latin typeface="Cambria Math" panose="02040503050406030204" pitchFamily="18" charset="0"/>
                        </a:rPr>
                        <m:t>𝑎</m:t>
                      </m:r>
                    </m:oMath>
                  </a14:m>
                  <a:r>
                    <a:rPr lang="en-ZA" sz="2400" dirty="0"/>
                    <a:t> and </a:t>
                  </a:r>
                  <a14:m>
                    <m:oMath xmlns:m="http://schemas.openxmlformats.org/officeDocument/2006/math">
                      <m:r>
                        <a:rPr lang="en-US" sz="2400" b="0" i="1" smtClean="0">
                          <a:latin typeface="Cambria Math" panose="02040503050406030204" pitchFamily="18" charset="0"/>
                        </a:rPr>
                        <m:t>𝑏</m:t>
                      </m:r>
                    </m:oMath>
                  </a14:m>
                  <a:r>
                    <a:rPr lang="en-ZA" sz="2400" dirty="0"/>
                    <a:t> have the same remainder when divided by </a:t>
                  </a:r>
                  <a14:m>
                    <m:oMath xmlns:m="http://schemas.openxmlformats.org/officeDocument/2006/math">
                      <m:r>
                        <a:rPr lang="en-US" sz="2400" b="0" i="1" smtClean="0">
                          <a:latin typeface="Cambria Math" panose="02040503050406030204" pitchFamily="18" charset="0"/>
                        </a:rPr>
                        <m:t>𝑛</m:t>
                      </m:r>
                    </m:oMath>
                  </a14:m>
                  <a:endParaRPr lang="en-US" sz="2200" dirty="0"/>
                </a:p>
              </p:txBody>
            </p:sp>
          </mc:Choice>
          <mc:Fallback xmlns="">
            <p:sp>
              <p:nvSpPr>
                <p:cNvPr id="12" name="TextBox 11">
                  <a:extLst>
                    <a:ext uri="{FF2B5EF4-FFF2-40B4-BE49-F238E27FC236}">
                      <a16:creationId xmlns:a16="http://schemas.microsoft.com/office/drawing/2014/main" id="{A5180BFC-B9B1-8A46-8043-AE3BD7375BCF}"/>
                    </a:ext>
                  </a:extLst>
                </p:cNvPr>
                <p:cNvSpPr txBox="1">
                  <a:spLocks noRot="1" noChangeAspect="1" noMove="1" noResize="1" noEditPoints="1" noAdjustHandles="1" noChangeArrowheads="1" noChangeShapeType="1" noTextEdit="1"/>
                </p:cNvSpPr>
                <p:nvPr/>
              </p:nvSpPr>
              <p:spPr>
                <a:xfrm>
                  <a:off x="2736362" y="6327109"/>
                  <a:ext cx="6777881" cy="461665"/>
                </a:xfrm>
                <a:prstGeom prst="rect">
                  <a:avLst/>
                </a:prstGeom>
                <a:blipFill>
                  <a:blip r:embed="rId6"/>
                  <a:stretch>
                    <a:fillRect t="-8108" b="-29730"/>
                  </a:stretch>
                </a:blipFill>
              </p:spPr>
              <p:txBody>
                <a:bodyPr/>
                <a:lstStyle/>
                <a:p>
                  <a:r>
                    <a:rPr lang="en-US">
                      <a:noFill/>
                    </a:rPr>
                    <a:t> </a:t>
                  </a:r>
                </a:p>
              </p:txBody>
            </p:sp>
          </mc:Fallback>
        </mc:AlternateContent>
      </p:grpSp>
      <p:sp>
        <p:nvSpPr>
          <p:cNvPr id="2" name="TextBox 1">
            <a:extLst>
              <a:ext uri="{FF2B5EF4-FFF2-40B4-BE49-F238E27FC236}">
                <a16:creationId xmlns:a16="http://schemas.microsoft.com/office/drawing/2014/main" id="{7259093A-819F-CC43-92A2-FA5DC841359D}"/>
              </a:ext>
            </a:extLst>
          </p:cNvPr>
          <p:cNvSpPr txBox="1"/>
          <p:nvPr/>
        </p:nvSpPr>
        <p:spPr>
          <a:xfrm>
            <a:off x="3620080" y="1009524"/>
            <a:ext cx="1140056" cy="369332"/>
          </a:xfrm>
          <a:prstGeom prst="rect">
            <a:avLst/>
          </a:prstGeom>
          <a:noFill/>
        </p:spPr>
        <p:txBody>
          <a:bodyPr wrap="none" rtlCol="0">
            <a:spAutoFit/>
          </a:bodyPr>
          <a:lstStyle/>
          <a:p>
            <a:r>
              <a:rPr lang="en-ZA" dirty="0"/>
              <a:t>(modulus)</a:t>
            </a:r>
            <a:endParaRPr lang="en-US" dirty="0"/>
          </a:p>
        </p:txBody>
      </p:sp>
      <p:sp>
        <p:nvSpPr>
          <p:cNvPr id="10" name="TextBox 9">
            <a:extLst>
              <a:ext uri="{FF2B5EF4-FFF2-40B4-BE49-F238E27FC236}">
                <a16:creationId xmlns:a16="http://schemas.microsoft.com/office/drawing/2014/main" id="{9C4DAECF-A235-6C49-9184-954F7077F900}"/>
              </a:ext>
            </a:extLst>
          </p:cNvPr>
          <p:cNvSpPr txBox="1"/>
          <p:nvPr/>
        </p:nvSpPr>
        <p:spPr>
          <a:xfrm>
            <a:off x="7370856" y="999215"/>
            <a:ext cx="1140056" cy="369332"/>
          </a:xfrm>
          <a:prstGeom prst="rect">
            <a:avLst/>
          </a:prstGeom>
          <a:noFill/>
        </p:spPr>
        <p:txBody>
          <a:bodyPr wrap="none" rtlCol="0">
            <a:spAutoFit/>
          </a:bodyPr>
          <a:lstStyle/>
          <a:p>
            <a:r>
              <a:rPr lang="en-ZA" dirty="0"/>
              <a:t>(modulus)</a:t>
            </a:r>
            <a:endParaRPr lang="en-US" dirty="0"/>
          </a:p>
        </p:txBody>
      </p:sp>
    </p:spTree>
    <p:extLst>
      <p:ext uri="{BB962C8B-B14F-4D97-AF65-F5344CB8AC3E}">
        <p14:creationId xmlns:p14="http://schemas.microsoft.com/office/powerpoint/2010/main" val="3361147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24D825F-F1F1-D64C-9F62-E1821BD7A9A6}"/>
                  </a:ext>
                </a:extLst>
              </p:cNvPr>
              <p:cNvSpPr>
                <a:spLocks noGrp="1"/>
              </p:cNvSpPr>
              <p:nvPr>
                <p:ph type="title"/>
              </p:nvPr>
            </p:nvSpPr>
            <p:spPr>
              <a:xfrm>
                <a:off x="0" y="0"/>
                <a:ext cx="12192000" cy="928688"/>
              </a:xfrm>
            </p:spPr>
            <p:txBody>
              <a:bodyPr/>
              <a:lstStyle/>
              <a:p>
                <a:r>
                  <a:rPr lang="en-ZA" dirty="0"/>
                  <a:t>Modular exponential function</a:t>
                </a:r>
                <a:r>
                  <a:rPr lang="en-US" dirty="0"/>
                  <a:t> </a:t>
                </a: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 </m:t>
                    </m:r>
                    <m:sSup>
                      <m:sSupPr>
                        <m:ctrlPr>
                          <a:rPr lang="en-US" i="1">
                            <a:latin typeface="Cambria Math" panose="02040503050406030204" pitchFamily="18" charset="0"/>
                          </a:rPr>
                        </m:ctrlPr>
                      </m:sSupPr>
                      <m:e>
                        <m:r>
                          <a:rPr lang="en-US" i="1">
                            <a:latin typeface="Cambria Math" panose="02040503050406030204" pitchFamily="18" charset="0"/>
                          </a:rPr>
                          <m:t>𝑎</m:t>
                        </m:r>
                      </m:e>
                      <m:sup>
                        <m:r>
                          <a:rPr lang="en-US" i="1">
                            <a:latin typeface="Cambria Math" panose="02040503050406030204" pitchFamily="18" charset="0"/>
                          </a:rPr>
                          <m:t>𝑥</m:t>
                        </m:r>
                      </m:sup>
                    </m:sSup>
                    <m:r>
                      <a:rPr lang="en-US" i="1">
                        <a:latin typeface="Cambria Math" panose="02040503050406030204" pitchFamily="18" charset="0"/>
                      </a:rPr>
                      <m:t>𝑚𝑜𝑑</m:t>
                    </m:r>
                    <m:r>
                      <a:rPr lang="en-US" i="1">
                        <a:latin typeface="Cambria Math" panose="02040503050406030204" pitchFamily="18" charset="0"/>
                      </a:rPr>
                      <m:t> </m:t>
                    </m:r>
                    <m:r>
                      <a:rPr lang="sr-Latn-RS" b="0" i="1" smtClean="0">
                        <a:latin typeface="Cambria Math" panose="02040503050406030204" pitchFamily="18" charset="0"/>
                      </a:rPr>
                      <m:t>𝑛</m:t>
                    </m:r>
                  </m:oMath>
                </a14:m>
                <a:r>
                  <a:rPr lang="en-US" dirty="0"/>
                  <a:t> </a:t>
                </a:r>
              </a:p>
            </p:txBody>
          </p:sp>
        </mc:Choice>
        <mc:Fallback xmlns="">
          <p:sp>
            <p:nvSpPr>
              <p:cNvPr id="2" name="Title 1">
                <a:extLst>
                  <a:ext uri="{FF2B5EF4-FFF2-40B4-BE49-F238E27FC236}">
                    <a16:creationId xmlns:a16="http://schemas.microsoft.com/office/drawing/2014/main" id="{C24D825F-F1F1-D64C-9F62-E1821BD7A9A6}"/>
                  </a:ext>
                </a:extLst>
              </p:cNvPr>
              <p:cNvSpPr>
                <a:spLocks noGrp="1" noRot="1" noChangeAspect="1" noMove="1" noResize="1" noEditPoints="1" noAdjustHandles="1" noChangeArrowheads="1" noChangeShapeType="1" noTextEdit="1"/>
              </p:cNvSpPr>
              <p:nvPr>
                <p:ph type="title"/>
              </p:nvPr>
            </p:nvSpPr>
            <p:spPr>
              <a:xfrm>
                <a:off x="0" y="0"/>
                <a:ext cx="12192000" cy="928688"/>
              </a:xfrm>
              <a:blipFill>
                <a:blip r:embed="rId3"/>
                <a:stretch>
                  <a:fillRect l="-1250"/>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85C5D125-CF8D-C842-9F5B-1516468565DC}"/>
              </a:ext>
            </a:extLst>
          </p:cNvPr>
          <p:cNvSpPr>
            <a:spLocks noGrp="1"/>
          </p:cNvSpPr>
          <p:nvPr>
            <p:ph type="sldNum" sz="quarter" idx="12"/>
          </p:nvPr>
        </p:nvSpPr>
        <p:spPr/>
        <p:txBody>
          <a:bodyPr/>
          <a:lstStyle/>
          <a:p>
            <a:fld id="{591A223C-FA10-BC46-A853-03BA373D023C}" type="slidenum">
              <a:rPr lang="en-US" smtClean="0"/>
              <a:t>65</a:t>
            </a:fld>
            <a:endParaRPr lang="en-US"/>
          </a:p>
        </p:txBody>
      </p:sp>
      <mc:AlternateContent xmlns:mc="http://schemas.openxmlformats.org/markup-compatibility/2006" xmlns:a14="http://schemas.microsoft.com/office/drawing/2010/main">
        <mc:Choice Requires="a14">
          <p:graphicFrame>
            <p:nvGraphicFramePr>
              <p:cNvPr id="7" name="Diagram 6">
                <a:extLst>
                  <a:ext uri="{FF2B5EF4-FFF2-40B4-BE49-F238E27FC236}">
                    <a16:creationId xmlns:a16="http://schemas.microsoft.com/office/drawing/2014/main" id="{7CF3A467-7D59-F34F-B6E5-401CE344E856}"/>
                  </a:ext>
                </a:extLst>
              </p:cNvPr>
              <p:cNvGraphicFramePr/>
              <p:nvPr>
                <p:extLst>
                  <p:ext uri="{D42A27DB-BD31-4B8C-83A1-F6EECF244321}">
                    <p14:modId xmlns:p14="http://schemas.microsoft.com/office/powerpoint/2010/main" val="1864160993"/>
                  </p:ext>
                </p:extLst>
              </p:nvPr>
            </p:nvGraphicFramePr>
            <p:xfrm>
              <a:off x="315884" y="1058470"/>
              <a:ext cx="11421687" cy="111656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mc:Choice>
        <mc:Fallback xmlns="">
          <p:graphicFrame>
            <p:nvGraphicFramePr>
              <p:cNvPr id="7" name="Diagram 6">
                <a:extLst>
                  <a:ext uri="{FF2B5EF4-FFF2-40B4-BE49-F238E27FC236}">
                    <a16:creationId xmlns:a16="http://schemas.microsoft.com/office/drawing/2014/main" id="{7CF3A467-7D59-F34F-B6E5-401CE344E856}"/>
                  </a:ext>
                </a:extLst>
              </p:cNvPr>
              <p:cNvGraphicFramePr/>
              <p:nvPr>
                <p:extLst>
                  <p:ext uri="{D42A27DB-BD31-4B8C-83A1-F6EECF244321}">
                    <p14:modId xmlns:p14="http://schemas.microsoft.com/office/powerpoint/2010/main" val="1864160993"/>
                  </p:ext>
                </p:extLst>
              </p:nvPr>
            </p:nvGraphicFramePr>
            <p:xfrm>
              <a:off x="315884" y="1058470"/>
              <a:ext cx="11421687" cy="1116562"/>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D4F94B18-320F-2444-ACEB-76E72A896ADA}"/>
                  </a:ext>
                </a:extLst>
              </p:cNvPr>
              <p:cNvGraphicFramePr>
                <a:graphicFrameLocks noGrp="1"/>
              </p:cNvGraphicFramePr>
              <p:nvPr>
                <p:extLst/>
              </p:nvPr>
            </p:nvGraphicFramePr>
            <p:xfrm>
              <a:off x="315884" y="3226909"/>
              <a:ext cx="3125585" cy="3200400"/>
            </p:xfrm>
            <a:graphic>
              <a:graphicData uri="http://schemas.openxmlformats.org/drawingml/2006/table">
                <a:tbl>
                  <a:tblPr firstRow="1" bandRow="1">
                    <a:tableStyleId>{00A15C55-8517-42AA-B614-E9B94910E393}</a:tableStyleId>
                  </a:tblPr>
                  <a:tblGrid>
                    <a:gridCol w="859946">
                      <a:extLst>
                        <a:ext uri="{9D8B030D-6E8A-4147-A177-3AD203B41FA5}">
                          <a16:colId xmlns:a16="http://schemas.microsoft.com/office/drawing/2014/main" val="206757364"/>
                        </a:ext>
                      </a:extLst>
                    </a:gridCol>
                    <a:gridCol w="2265639">
                      <a:extLst>
                        <a:ext uri="{9D8B030D-6E8A-4147-A177-3AD203B41FA5}">
                          <a16:colId xmlns:a16="http://schemas.microsoft.com/office/drawing/2014/main" val="1132820706"/>
                        </a:ext>
                      </a:extLst>
                    </a:gridCol>
                  </a:tblGrid>
                  <a:tr h="370840">
                    <a:tc>
                      <a:txBody>
                        <a:bodyPr/>
                        <a:lstStyle/>
                        <a:p>
                          <a:pPr/>
                          <a14:m>
                            <m:oMathPara xmlns:m="http://schemas.openxmlformats.org/officeDocument/2006/math">
                              <m:oMathParaPr>
                                <m:jc m:val="centerGroup"/>
                              </m:oMathParaPr>
                              <m:oMath xmlns:m="http://schemas.openxmlformats.org/officeDocument/2006/math">
                                <m:r>
                                  <a:rPr lang="en-US" sz="2400" smtClean="0">
                                    <a:solidFill>
                                      <a:schemeClr val="tx1"/>
                                    </a:solidFill>
                                    <a:latin typeface="Cambria Math" panose="02040503050406030204" pitchFamily="18" charset="0"/>
                                  </a:rPr>
                                  <m:t>𝑥</m:t>
                                </m:r>
                              </m:oMath>
                            </m:oMathPara>
                          </a14:m>
                          <a:endParaRPr lang="en-US" sz="24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sSup>
                                  <m:sSupPr>
                                    <m:ctrlPr>
                                      <a:rPr lang="en-US" sz="2400" i="1" smtClean="0">
                                        <a:solidFill>
                                          <a:schemeClr val="tx1"/>
                                        </a:solidFill>
                                        <a:latin typeface="Cambria Math" panose="02040503050406030204" pitchFamily="18" charset="0"/>
                                      </a:rPr>
                                    </m:ctrlPr>
                                  </m:sSupPr>
                                  <m:e>
                                    <m:r>
                                      <a:rPr lang="en-US" sz="2400" smtClean="0">
                                        <a:solidFill>
                                          <a:schemeClr val="tx1"/>
                                        </a:solidFill>
                                        <a:latin typeface="Cambria Math" panose="02040503050406030204" pitchFamily="18" charset="0"/>
                                      </a:rPr>
                                      <m:t>7</m:t>
                                    </m:r>
                                  </m:e>
                                  <m:sup>
                                    <m:r>
                                      <a:rPr lang="en-US" sz="2400">
                                        <a:solidFill>
                                          <a:schemeClr val="tx1"/>
                                        </a:solidFill>
                                        <a:latin typeface="Cambria Math" panose="02040503050406030204" pitchFamily="18" charset="0"/>
                                      </a:rPr>
                                      <m:t>𝑥</m:t>
                                    </m:r>
                                  </m:sup>
                                </m:sSup>
                                <m:r>
                                  <a:rPr lang="en-US" sz="2400">
                                    <a:solidFill>
                                      <a:schemeClr val="tx1"/>
                                    </a:solidFill>
                                    <a:latin typeface="Cambria Math" panose="02040503050406030204" pitchFamily="18" charset="0"/>
                                  </a:rPr>
                                  <m:t>𝑚𝑜𝑑</m:t>
                                </m:r>
                                <m:r>
                                  <a:rPr lang="en-US" sz="2400">
                                    <a:solidFill>
                                      <a:schemeClr val="tx1"/>
                                    </a:solidFill>
                                    <a:latin typeface="Cambria Math" panose="02040503050406030204" pitchFamily="18" charset="0"/>
                                  </a:rPr>
                                  <m:t> 15</m:t>
                                </m:r>
                              </m:oMath>
                            </m:oMathPara>
                          </a14:m>
                          <a:endParaRPr lang="en-US" sz="2400" dirty="0">
                            <a:solidFill>
                              <a:schemeClr val="tx1"/>
                            </a:solidFill>
                          </a:endParaRPr>
                        </a:p>
                      </a:txBody>
                      <a:tcPr/>
                    </a:tc>
                    <a:extLst>
                      <a:ext uri="{0D108BD9-81ED-4DB2-BD59-A6C34878D82A}">
                        <a16:rowId xmlns:a16="http://schemas.microsoft.com/office/drawing/2014/main" val="1955473743"/>
                      </a:ext>
                    </a:extLst>
                  </a:tr>
                  <a:tr h="370840">
                    <a:tc>
                      <a:txBody>
                        <a:bodyPr/>
                        <a:lstStyle/>
                        <a:p>
                          <a:pPr algn="ctr"/>
                          <a:r>
                            <a:rPr lang="en-US" sz="2400" dirty="0"/>
                            <a:t>0</a:t>
                          </a:r>
                        </a:p>
                      </a:txBody>
                      <a:tcPr/>
                    </a:tc>
                    <a:tc>
                      <a:txBody>
                        <a:bodyPr/>
                        <a:lstStyle/>
                        <a:p>
                          <a:pPr algn="ctr"/>
                          <a:r>
                            <a:rPr lang="en-US" sz="2400" dirty="0">
                              <a:solidFill>
                                <a:srgbClr val="0000FF"/>
                              </a:solidFill>
                            </a:rPr>
                            <a:t>1</a:t>
                          </a:r>
                        </a:p>
                      </a:txBody>
                      <a:tcPr/>
                    </a:tc>
                    <a:extLst>
                      <a:ext uri="{0D108BD9-81ED-4DB2-BD59-A6C34878D82A}">
                        <a16:rowId xmlns:a16="http://schemas.microsoft.com/office/drawing/2014/main" val="3419208819"/>
                      </a:ext>
                    </a:extLst>
                  </a:tr>
                  <a:tr h="370840">
                    <a:tc>
                      <a:txBody>
                        <a:bodyPr/>
                        <a:lstStyle/>
                        <a:p>
                          <a:pPr algn="ctr"/>
                          <a:r>
                            <a:rPr lang="en-US" sz="2400" dirty="0"/>
                            <a:t>1</a:t>
                          </a:r>
                        </a:p>
                      </a:txBody>
                      <a:tcPr/>
                    </a:tc>
                    <a:tc>
                      <a:txBody>
                        <a:bodyPr/>
                        <a:lstStyle/>
                        <a:p>
                          <a:pPr algn="ctr"/>
                          <a:r>
                            <a:rPr lang="en-US" sz="2400" dirty="0">
                              <a:solidFill>
                                <a:srgbClr val="0000FF"/>
                              </a:solidFill>
                            </a:rPr>
                            <a:t>7</a:t>
                          </a:r>
                        </a:p>
                      </a:txBody>
                      <a:tcPr/>
                    </a:tc>
                    <a:extLst>
                      <a:ext uri="{0D108BD9-81ED-4DB2-BD59-A6C34878D82A}">
                        <a16:rowId xmlns:a16="http://schemas.microsoft.com/office/drawing/2014/main" val="2452133419"/>
                      </a:ext>
                    </a:extLst>
                  </a:tr>
                  <a:tr h="370840">
                    <a:tc>
                      <a:txBody>
                        <a:bodyPr/>
                        <a:lstStyle/>
                        <a:p>
                          <a:pPr algn="ctr"/>
                          <a:r>
                            <a:rPr lang="en-US" sz="2400" dirty="0"/>
                            <a:t>2</a:t>
                          </a:r>
                        </a:p>
                      </a:txBody>
                      <a:tcPr/>
                    </a:tc>
                    <a:tc>
                      <a:txBody>
                        <a:bodyPr/>
                        <a:lstStyle/>
                        <a:p>
                          <a:pPr algn="ctr"/>
                          <a:r>
                            <a:rPr lang="en-US" sz="2400" dirty="0">
                              <a:solidFill>
                                <a:srgbClr val="0000FF"/>
                              </a:solidFill>
                            </a:rPr>
                            <a:t>4</a:t>
                          </a:r>
                        </a:p>
                      </a:txBody>
                      <a:tcPr/>
                    </a:tc>
                    <a:extLst>
                      <a:ext uri="{0D108BD9-81ED-4DB2-BD59-A6C34878D82A}">
                        <a16:rowId xmlns:a16="http://schemas.microsoft.com/office/drawing/2014/main" val="1376658329"/>
                      </a:ext>
                    </a:extLst>
                  </a:tr>
                  <a:tr h="370840">
                    <a:tc>
                      <a:txBody>
                        <a:bodyPr/>
                        <a:lstStyle/>
                        <a:p>
                          <a:pPr algn="ctr"/>
                          <a:r>
                            <a:rPr lang="en-US" sz="2400" dirty="0"/>
                            <a:t>3</a:t>
                          </a:r>
                        </a:p>
                      </a:txBody>
                      <a:tcPr/>
                    </a:tc>
                    <a:tc>
                      <a:txBody>
                        <a:bodyPr/>
                        <a:lstStyle/>
                        <a:p>
                          <a:pPr algn="ctr"/>
                          <a:r>
                            <a:rPr lang="en-US" sz="2400" dirty="0">
                              <a:solidFill>
                                <a:srgbClr val="0000FF"/>
                              </a:solidFill>
                            </a:rPr>
                            <a:t>13</a:t>
                          </a:r>
                        </a:p>
                      </a:txBody>
                      <a:tcPr/>
                    </a:tc>
                    <a:extLst>
                      <a:ext uri="{0D108BD9-81ED-4DB2-BD59-A6C34878D82A}">
                        <a16:rowId xmlns:a16="http://schemas.microsoft.com/office/drawing/2014/main" val="2085404646"/>
                      </a:ext>
                    </a:extLst>
                  </a:tr>
                  <a:tr h="370840">
                    <a:tc>
                      <a:txBody>
                        <a:bodyPr/>
                        <a:lstStyle/>
                        <a:p>
                          <a:pPr algn="ctr"/>
                          <a:r>
                            <a:rPr lang="en-US" sz="2400" dirty="0"/>
                            <a:t>4</a:t>
                          </a:r>
                        </a:p>
                      </a:txBody>
                      <a:tcPr/>
                    </a:tc>
                    <a:tc>
                      <a:txBody>
                        <a:bodyPr/>
                        <a:lstStyle/>
                        <a:p>
                          <a:pPr algn="ctr"/>
                          <a:r>
                            <a:rPr lang="en-US" sz="2400" dirty="0">
                              <a:solidFill>
                                <a:schemeClr val="accent6">
                                  <a:lumMod val="75000"/>
                                </a:schemeClr>
                              </a:solidFill>
                            </a:rPr>
                            <a:t>1</a:t>
                          </a:r>
                        </a:p>
                      </a:txBody>
                      <a:tcPr/>
                    </a:tc>
                    <a:extLst>
                      <a:ext uri="{0D108BD9-81ED-4DB2-BD59-A6C34878D82A}">
                        <a16:rowId xmlns:a16="http://schemas.microsoft.com/office/drawing/2014/main" val="2477180254"/>
                      </a:ext>
                    </a:extLst>
                  </a:tr>
                  <a:tr h="370840">
                    <a:tc>
                      <a:txBody>
                        <a:bodyPr/>
                        <a:lstStyle/>
                        <a:p>
                          <a:pPr algn="ctr"/>
                          <a:r>
                            <a:rPr lang="en-US" sz="2400" dirty="0"/>
                            <a:t>5</a:t>
                          </a:r>
                        </a:p>
                      </a:txBody>
                      <a:tcPr/>
                    </a:tc>
                    <a:tc>
                      <a:txBody>
                        <a:bodyPr/>
                        <a:lstStyle/>
                        <a:p>
                          <a:pPr algn="ctr"/>
                          <a:r>
                            <a:rPr lang="en-US" sz="2400" dirty="0">
                              <a:solidFill>
                                <a:schemeClr val="accent6">
                                  <a:lumMod val="75000"/>
                                </a:schemeClr>
                              </a:solidFill>
                            </a:rPr>
                            <a:t>7</a:t>
                          </a:r>
                        </a:p>
                      </a:txBody>
                      <a:tcPr/>
                    </a:tc>
                    <a:extLst>
                      <a:ext uri="{0D108BD9-81ED-4DB2-BD59-A6C34878D82A}">
                        <a16:rowId xmlns:a16="http://schemas.microsoft.com/office/drawing/2014/main" val="2280071381"/>
                      </a:ext>
                    </a:extLst>
                  </a:tr>
                </a:tbl>
              </a:graphicData>
            </a:graphic>
          </p:graphicFrame>
        </mc:Choice>
        <mc:Fallback xmlns="">
          <p:graphicFrame>
            <p:nvGraphicFramePr>
              <p:cNvPr id="11" name="Table 10">
                <a:extLst>
                  <a:ext uri="{FF2B5EF4-FFF2-40B4-BE49-F238E27FC236}">
                    <a16:creationId xmlns:a16="http://schemas.microsoft.com/office/drawing/2014/main" id="{D4F94B18-320F-2444-ACEB-76E72A896ADA}"/>
                  </a:ext>
                </a:extLst>
              </p:cNvPr>
              <p:cNvGraphicFramePr>
                <a:graphicFrameLocks noGrp="1"/>
              </p:cNvGraphicFramePr>
              <p:nvPr>
                <p:extLst>
                  <p:ext uri="{D42A27DB-BD31-4B8C-83A1-F6EECF244321}">
                    <p14:modId xmlns:p14="http://schemas.microsoft.com/office/powerpoint/2010/main" val="2344200088"/>
                  </p:ext>
                </p:extLst>
              </p:nvPr>
            </p:nvGraphicFramePr>
            <p:xfrm>
              <a:off x="315884" y="3226909"/>
              <a:ext cx="3125585" cy="3200400"/>
            </p:xfrm>
            <a:graphic>
              <a:graphicData uri="http://schemas.openxmlformats.org/drawingml/2006/table">
                <a:tbl>
                  <a:tblPr firstRow="1" bandRow="1">
                    <a:tableStyleId>{00A15C55-8517-42AA-B614-E9B94910E393}</a:tableStyleId>
                  </a:tblPr>
                  <a:tblGrid>
                    <a:gridCol w="859946">
                      <a:extLst>
                        <a:ext uri="{9D8B030D-6E8A-4147-A177-3AD203B41FA5}">
                          <a16:colId xmlns:a16="http://schemas.microsoft.com/office/drawing/2014/main" val="206757364"/>
                        </a:ext>
                      </a:extLst>
                    </a:gridCol>
                    <a:gridCol w="2265639">
                      <a:extLst>
                        <a:ext uri="{9D8B030D-6E8A-4147-A177-3AD203B41FA5}">
                          <a16:colId xmlns:a16="http://schemas.microsoft.com/office/drawing/2014/main" val="1132820706"/>
                        </a:ext>
                      </a:extLst>
                    </a:gridCol>
                  </a:tblGrid>
                  <a:tr h="457200">
                    <a:tc>
                      <a:txBody>
                        <a:bodyPr/>
                        <a:lstStyle/>
                        <a:p>
                          <a:endParaRPr lang="en-US"/>
                        </a:p>
                      </a:txBody>
                      <a:tcPr>
                        <a:blipFill>
                          <a:blip r:embed="rId15"/>
                          <a:stretch>
                            <a:fillRect t="-2778" r="-266176" b="-627778"/>
                          </a:stretch>
                        </a:blipFill>
                      </a:tcPr>
                    </a:tc>
                    <a:tc>
                      <a:txBody>
                        <a:bodyPr/>
                        <a:lstStyle/>
                        <a:p>
                          <a:endParaRPr lang="en-US"/>
                        </a:p>
                      </a:txBody>
                      <a:tcPr>
                        <a:blipFill>
                          <a:blip r:embed="rId15"/>
                          <a:stretch>
                            <a:fillRect l="-37989" t="-2778" r="-1117" b="-627778"/>
                          </a:stretch>
                        </a:blipFill>
                      </a:tcPr>
                    </a:tc>
                    <a:extLst>
                      <a:ext uri="{0D108BD9-81ED-4DB2-BD59-A6C34878D82A}">
                        <a16:rowId xmlns:a16="http://schemas.microsoft.com/office/drawing/2014/main" val="1955473743"/>
                      </a:ext>
                    </a:extLst>
                  </a:tr>
                  <a:tr h="457200">
                    <a:tc>
                      <a:txBody>
                        <a:bodyPr/>
                        <a:lstStyle/>
                        <a:p>
                          <a:pPr algn="ctr"/>
                          <a:r>
                            <a:rPr lang="en-US" sz="2400" dirty="0"/>
                            <a:t>0</a:t>
                          </a:r>
                        </a:p>
                      </a:txBody>
                      <a:tcPr/>
                    </a:tc>
                    <a:tc>
                      <a:txBody>
                        <a:bodyPr/>
                        <a:lstStyle/>
                        <a:p>
                          <a:pPr algn="ctr"/>
                          <a:r>
                            <a:rPr lang="en-US" sz="2400" dirty="0">
                              <a:solidFill>
                                <a:srgbClr val="0000FF"/>
                              </a:solidFill>
                            </a:rPr>
                            <a:t>1</a:t>
                          </a:r>
                        </a:p>
                      </a:txBody>
                      <a:tcPr/>
                    </a:tc>
                    <a:extLst>
                      <a:ext uri="{0D108BD9-81ED-4DB2-BD59-A6C34878D82A}">
                        <a16:rowId xmlns:a16="http://schemas.microsoft.com/office/drawing/2014/main" val="3419208819"/>
                      </a:ext>
                    </a:extLst>
                  </a:tr>
                  <a:tr h="457200">
                    <a:tc>
                      <a:txBody>
                        <a:bodyPr/>
                        <a:lstStyle/>
                        <a:p>
                          <a:pPr algn="ctr"/>
                          <a:r>
                            <a:rPr lang="en-US" sz="2400" dirty="0"/>
                            <a:t>1</a:t>
                          </a:r>
                        </a:p>
                      </a:txBody>
                      <a:tcPr/>
                    </a:tc>
                    <a:tc>
                      <a:txBody>
                        <a:bodyPr/>
                        <a:lstStyle/>
                        <a:p>
                          <a:pPr algn="ctr"/>
                          <a:r>
                            <a:rPr lang="en-US" sz="2400" dirty="0">
                              <a:solidFill>
                                <a:srgbClr val="0000FF"/>
                              </a:solidFill>
                            </a:rPr>
                            <a:t>7</a:t>
                          </a:r>
                        </a:p>
                      </a:txBody>
                      <a:tcPr/>
                    </a:tc>
                    <a:extLst>
                      <a:ext uri="{0D108BD9-81ED-4DB2-BD59-A6C34878D82A}">
                        <a16:rowId xmlns:a16="http://schemas.microsoft.com/office/drawing/2014/main" val="2452133419"/>
                      </a:ext>
                    </a:extLst>
                  </a:tr>
                  <a:tr h="457200">
                    <a:tc>
                      <a:txBody>
                        <a:bodyPr/>
                        <a:lstStyle/>
                        <a:p>
                          <a:pPr algn="ctr"/>
                          <a:r>
                            <a:rPr lang="en-US" sz="2400" dirty="0"/>
                            <a:t>2</a:t>
                          </a:r>
                        </a:p>
                      </a:txBody>
                      <a:tcPr/>
                    </a:tc>
                    <a:tc>
                      <a:txBody>
                        <a:bodyPr/>
                        <a:lstStyle/>
                        <a:p>
                          <a:pPr algn="ctr"/>
                          <a:r>
                            <a:rPr lang="en-US" sz="2400" dirty="0">
                              <a:solidFill>
                                <a:srgbClr val="0000FF"/>
                              </a:solidFill>
                            </a:rPr>
                            <a:t>4</a:t>
                          </a:r>
                        </a:p>
                      </a:txBody>
                      <a:tcPr/>
                    </a:tc>
                    <a:extLst>
                      <a:ext uri="{0D108BD9-81ED-4DB2-BD59-A6C34878D82A}">
                        <a16:rowId xmlns:a16="http://schemas.microsoft.com/office/drawing/2014/main" val="1376658329"/>
                      </a:ext>
                    </a:extLst>
                  </a:tr>
                  <a:tr h="457200">
                    <a:tc>
                      <a:txBody>
                        <a:bodyPr/>
                        <a:lstStyle/>
                        <a:p>
                          <a:pPr algn="ctr"/>
                          <a:r>
                            <a:rPr lang="en-US" sz="2400" dirty="0"/>
                            <a:t>3</a:t>
                          </a:r>
                        </a:p>
                      </a:txBody>
                      <a:tcPr/>
                    </a:tc>
                    <a:tc>
                      <a:txBody>
                        <a:bodyPr/>
                        <a:lstStyle/>
                        <a:p>
                          <a:pPr algn="ctr"/>
                          <a:r>
                            <a:rPr lang="en-US" sz="2400" dirty="0">
                              <a:solidFill>
                                <a:srgbClr val="0000FF"/>
                              </a:solidFill>
                            </a:rPr>
                            <a:t>13</a:t>
                          </a:r>
                        </a:p>
                      </a:txBody>
                      <a:tcPr/>
                    </a:tc>
                    <a:extLst>
                      <a:ext uri="{0D108BD9-81ED-4DB2-BD59-A6C34878D82A}">
                        <a16:rowId xmlns:a16="http://schemas.microsoft.com/office/drawing/2014/main" val="2085404646"/>
                      </a:ext>
                    </a:extLst>
                  </a:tr>
                  <a:tr h="457200">
                    <a:tc>
                      <a:txBody>
                        <a:bodyPr/>
                        <a:lstStyle/>
                        <a:p>
                          <a:pPr algn="ctr"/>
                          <a:r>
                            <a:rPr lang="en-US" sz="2400" dirty="0"/>
                            <a:t>4</a:t>
                          </a:r>
                        </a:p>
                      </a:txBody>
                      <a:tcPr/>
                    </a:tc>
                    <a:tc>
                      <a:txBody>
                        <a:bodyPr/>
                        <a:lstStyle/>
                        <a:p>
                          <a:pPr algn="ctr"/>
                          <a:r>
                            <a:rPr lang="en-US" sz="2400" dirty="0">
                              <a:solidFill>
                                <a:schemeClr val="accent6">
                                  <a:lumMod val="75000"/>
                                </a:schemeClr>
                              </a:solidFill>
                            </a:rPr>
                            <a:t>1</a:t>
                          </a:r>
                        </a:p>
                      </a:txBody>
                      <a:tcPr/>
                    </a:tc>
                    <a:extLst>
                      <a:ext uri="{0D108BD9-81ED-4DB2-BD59-A6C34878D82A}">
                        <a16:rowId xmlns:a16="http://schemas.microsoft.com/office/drawing/2014/main" val="2477180254"/>
                      </a:ext>
                    </a:extLst>
                  </a:tr>
                  <a:tr h="457200">
                    <a:tc>
                      <a:txBody>
                        <a:bodyPr/>
                        <a:lstStyle/>
                        <a:p>
                          <a:pPr algn="ctr"/>
                          <a:r>
                            <a:rPr lang="en-US" sz="2400" dirty="0"/>
                            <a:t>5</a:t>
                          </a:r>
                        </a:p>
                      </a:txBody>
                      <a:tcPr/>
                    </a:tc>
                    <a:tc>
                      <a:txBody>
                        <a:bodyPr/>
                        <a:lstStyle/>
                        <a:p>
                          <a:pPr algn="ctr"/>
                          <a:r>
                            <a:rPr lang="en-US" sz="2400" dirty="0">
                              <a:solidFill>
                                <a:schemeClr val="accent6">
                                  <a:lumMod val="75000"/>
                                </a:schemeClr>
                              </a:solidFill>
                            </a:rPr>
                            <a:t>7</a:t>
                          </a:r>
                        </a:p>
                      </a:txBody>
                      <a:tcPr/>
                    </a:tc>
                    <a:extLst>
                      <a:ext uri="{0D108BD9-81ED-4DB2-BD59-A6C34878D82A}">
                        <a16:rowId xmlns:a16="http://schemas.microsoft.com/office/drawing/2014/main" val="2280071381"/>
                      </a:ext>
                    </a:extLst>
                  </a:tr>
                </a:tbl>
              </a:graphicData>
            </a:graphic>
          </p:graphicFrame>
        </mc:Fallback>
      </mc:AlternateContent>
      <p:grpSp>
        <p:nvGrpSpPr>
          <p:cNvPr id="5" name="Group 4">
            <a:extLst>
              <a:ext uri="{FF2B5EF4-FFF2-40B4-BE49-F238E27FC236}">
                <a16:creationId xmlns:a16="http://schemas.microsoft.com/office/drawing/2014/main" id="{56E1D343-2A8D-FB42-AAD6-22B4947C3DAA}"/>
              </a:ext>
            </a:extLst>
          </p:cNvPr>
          <p:cNvGrpSpPr/>
          <p:nvPr/>
        </p:nvGrpSpPr>
        <p:grpSpPr>
          <a:xfrm>
            <a:off x="0" y="2410501"/>
            <a:ext cx="11737571" cy="4095873"/>
            <a:chOff x="0" y="2410501"/>
            <a:chExt cx="11737571" cy="4095873"/>
          </a:xfrm>
        </p:grpSpPr>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8422744C-8A73-5E45-BF26-255E9240D494}"/>
                    </a:ext>
                  </a:extLst>
                </p:cNvPr>
                <p:cNvSpPr/>
                <p:nvPr/>
              </p:nvSpPr>
              <p:spPr>
                <a:xfrm>
                  <a:off x="0" y="2410501"/>
                  <a:ext cx="6221768" cy="677108"/>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𝑓</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𝑥</m:t>
                            </m:r>
                          </m:e>
                        </m:d>
                        <m:r>
                          <a:rPr lang="en-US" sz="2800" b="0" i="1" smtClean="0">
                            <a:latin typeface="Cambria Math" panose="02040503050406030204" pitchFamily="18" charset="0"/>
                          </a:rPr>
                          <m:t>=</m:t>
                        </m:r>
                        <m:sSup>
                          <m:sSupPr>
                            <m:ctrlPr>
                              <a:rPr lang="en-US" sz="2800" i="1" smtClean="0">
                                <a:latin typeface="Cambria Math" panose="02040503050406030204" pitchFamily="18" charset="0"/>
                              </a:rPr>
                            </m:ctrlPr>
                          </m:sSupPr>
                          <m:e>
                            <m:r>
                              <a:rPr lang="en-US" sz="2800" b="0" i="1" smtClean="0">
                                <a:latin typeface="Cambria Math" panose="02040503050406030204" pitchFamily="18" charset="0"/>
                              </a:rPr>
                              <m:t>𝑎</m:t>
                            </m:r>
                          </m:e>
                          <m:sup>
                            <m:r>
                              <a:rPr lang="en-US" sz="2800" b="0" i="1" smtClean="0">
                                <a:latin typeface="Cambria Math" panose="02040503050406030204" pitchFamily="18" charset="0"/>
                              </a:rPr>
                              <m:t>𝑥</m:t>
                            </m:r>
                          </m:sup>
                        </m:sSup>
                        <m:r>
                          <a:rPr lang="en-US" sz="2800" b="0" i="1" smtClean="0">
                            <a:latin typeface="Cambria Math" panose="02040503050406030204" pitchFamily="18" charset="0"/>
                          </a:rPr>
                          <m:t> </m:t>
                        </m:r>
                        <m:r>
                          <a:rPr lang="en-US" sz="2800" b="0" i="1" smtClean="0">
                            <a:latin typeface="Cambria Math" panose="02040503050406030204" pitchFamily="18" charset="0"/>
                          </a:rPr>
                          <m:t>𝑚𝑜𝑑</m:t>
                        </m:r>
                        <m:r>
                          <a:rPr lang="en-US" sz="2800" b="0" i="1" smtClean="0">
                            <a:latin typeface="Cambria Math" panose="02040503050406030204" pitchFamily="18" charset="0"/>
                          </a:rPr>
                          <m:t> </m:t>
                        </m:r>
                        <m:r>
                          <a:rPr lang="sr-Latn-RS" sz="2800" b="0" i="1" smtClean="0">
                            <a:latin typeface="Cambria Math" panose="02040503050406030204" pitchFamily="18" charset="0"/>
                          </a:rPr>
                          <m:t>𝑛</m:t>
                        </m:r>
                        <m:groupChr>
                          <m:groupChrPr>
                            <m:chr m:val="→"/>
                            <m:vertJc m:val="bot"/>
                            <m:ctrlPr>
                              <a:rPr lang="en-US" sz="2800" b="0" i="1" smtClean="0">
                                <a:latin typeface="Cambria Math" panose="02040503050406030204" pitchFamily="18" charset="0"/>
                              </a:rPr>
                            </m:ctrlPr>
                          </m:groupChrPr>
                          <m:e>
                            <m:r>
                              <m:rPr>
                                <m:brk m:alnAt="2"/>
                              </m:rPr>
                              <a:rPr lang="en-US" sz="2800" b="0" i="1" smtClean="0">
                                <a:latin typeface="Cambria Math" panose="02040503050406030204" pitchFamily="18" charset="0"/>
                              </a:rPr>
                              <m:t>𝑎</m:t>
                            </m:r>
                            <m:r>
                              <a:rPr lang="en-US" sz="2800" b="0" i="1" smtClean="0">
                                <a:latin typeface="Cambria Math" panose="02040503050406030204" pitchFamily="18" charset="0"/>
                              </a:rPr>
                              <m:t>=7, </m:t>
                            </m:r>
                            <m:r>
                              <a:rPr lang="en-US" sz="2800" b="0" i="1" smtClean="0">
                                <a:latin typeface="Cambria Math" panose="02040503050406030204" pitchFamily="18" charset="0"/>
                              </a:rPr>
                              <m:t>𝑁</m:t>
                            </m:r>
                            <m:r>
                              <a:rPr lang="en-US" sz="2800" b="0" i="1" smtClean="0">
                                <a:latin typeface="Cambria Math" panose="02040503050406030204" pitchFamily="18" charset="0"/>
                              </a:rPr>
                              <m:t>=15 </m:t>
                            </m:r>
                          </m:e>
                        </m:groupChr>
                        <m:sSup>
                          <m:sSupPr>
                            <m:ctrlPr>
                              <a:rPr lang="en-US" sz="2800" i="1">
                                <a:latin typeface="Cambria Math" panose="02040503050406030204" pitchFamily="18" charset="0"/>
                              </a:rPr>
                            </m:ctrlPr>
                          </m:sSupPr>
                          <m:e>
                            <m:r>
                              <a:rPr lang="en-US" sz="2800" b="0" i="1" smtClean="0">
                                <a:latin typeface="Cambria Math" panose="02040503050406030204" pitchFamily="18" charset="0"/>
                              </a:rPr>
                              <m:t>7</m:t>
                            </m:r>
                          </m:e>
                          <m:sup>
                            <m:r>
                              <a:rPr lang="en-US" sz="2800" i="1">
                                <a:latin typeface="Cambria Math" panose="02040503050406030204" pitchFamily="18" charset="0"/>
                              </a:rPr>
                              <m:t>𝑥</m:t>
                            </m:r>
                          </m:sup>
                        </m:sSup>
                        <m:r>
                          <a:rPr lang="en-US" sz="2800" b="0" i="1" smtClean="0">
                            <a:latin typeface="Cambria Math" panose="02040503050406030204" pitchFamily="18" charset="0"/>
                          </a:rPr>
                          <m:t> </m:t>
                        </m:r>
                        <m:r>
                          <a:rPr lang="en-US" sz="2800" i="1">
                            <a:latin typeface="Cambria Math" panose="02040503050406030204" pitchFamily="18" charset="0"/>
                          </a:rPr>
                          <m:t>𝑚𝑜𝑑</m:t>
                        </m:r>
                        <m:r>
                          <a:rPr lang="en-US" sz="2800" i="1">
                            <a:latin typeface="Cambria Math" panose="02040503050406030204" pitchFamily="18" charset="0"/>
                          </a:rPr>
                          <m:t> 15</m:t>
                        </m:r>
                      </m:oMath>
                    </m:oMathPara>
                  </a14:m>
                  <a:endParaRPr lang="en-US" sz="2800" dirty="0"/>
                </a:p>
              </p:txBody>
            </p:sp>
          </mc:Choice>
          <mc:Fallback xmlns="">
            <p:sp>
              <p:nvSpPr>
                <p:cNvPr id="10" name="Rectangle 9">
                  <a:extLst>
                    <a:ext uri="{FF2B5EF4-FFF2-40B4-BE49-F238E27FC236}">
                      <a16:creationId xmlns:a16="http://schemas.microsoft.com/office/drawing/2014/main" id="{8422744C-8A73-5E45-BF26-255E9240D494}"/>
                    </a:ext>
                  </a:extLst>
                </p:cNvPr>
                <p:cNvSpPr>
                  <a:spLocks noRot="1" noChangeAspect="1" noMove="1" noResize="1" noEditPoints="1" noAdjustHandles="1" noChangeArrowheads="1" noChangeShapeType="1" noTextEdit="1"/>
                </p:cNvSpPr>
                <p:nvPr/>
              </p:nvSpPr>
              <p:spPr>
                <a:xfrm>
                  <a:off x="0" y="2410501"/>
                  <a:ext cx="6221768" cy="677108"/>
                </a:xfrm>
                <a:prstGeom prst="rect">
                  <a:avLst/>
                </a:prstGeom>
                <a:blipFill>
                  <a:blip r:embed="rId16"/>
                  <a:stretch>
                    <a:fillRect t="-1852" b="-16667"/>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017DF031-F541-644E-8F40-8FAF154F9E1D}"/>
                </a:ext>
              </a:extLst>
            </p:cNvPr>
            <p:cNvGrpSpPr/>
            <p:nvPr/>
          </p:nvGrpSpPr>
          <p:grpSpPr>
            <a:xfrm>
              <a:off x="5950155" y="2563300"/>
              <a:ext cx="5787416" cy="3943074"/>
              <a:chOff x="5950155" y="2563300"/>
              <a:chExt cx="5787416" cy="3943074"/>
            </a:xfrm>
          </p:grpSpPr>
          <p:pic>
            <p:nvPicPr>
              <p:cNvPr id="8" name="Picture 7">
                <a:extLst>
                  <a:ext uri="{FF2B5EF4-FFF2-40B4-BE49-F238E27FC236}">
                    <a16:creationId xmlns:a16="http://schemas.microsoft.com/office/drawing/2014/main" id="{5516BDCD-5618-AB43-89DB-F3FEBB8F6B40}"/>
                  </a:ext>
                </a:extLst>
              </p:cNvPr>
              <p:cNvPicPr>
                <a:picLocks noChangeAspect="1"/>
              </p:cNvPicPr>
              <p:nvPr/>
            </p:nvPicPr>
            <p:blipFill>
              <a:blip r:embed="rId17"/>
              <a:stretch>
                <a:fillRect/>
              </a:stretch>
            </p:blipFill>
            <p:spPr>
              <a:xfrm>
                <a:off x="5950155" y="2563300"/>
                <a:ext cx="5787416" cy="3943074"/>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E165CF4-4069-C449-A4C3-D98DA336CE25}"/>
                      </a:ext>
                    </a:extLst>
                  </p:cNvPr>
                  <p:cNvSpPr txBox="1"/>
                  <p:nvPr/>
                </p:nvSpPr>
                <p:spPr>
                  <a:xfrm>
                    <a:off x="6921068" y="3240408"/>
                    <a:ext cx="1555747" cy="461665"/>
                  </a:xfrm>
                  <a:prstGeom prst="rect">
                    <a:avLst/>
                  </a:prstGeom>
                  <a:noFill/>
                </p:spPr>
                <p:txBody>
                  <a:bodyPr wrap="none" rtlCol="0">
                    <a:spAutoFit/>
                  </a:bodyPr>
                  <a:lstStyle/>
                  <a:p>
                    <a:r>
                      <a:rPr lang="en-US" sz="2400" dirty="0"/>
                      <a:t>period </a:t>
                    </a:r>
                    <a14:m>
                      <m:oMath xmlns:m="http://schemas.openxmlformats.org/officeDocument/2006/math">
                        <m:r>
                          <a:rPr lang="en-US" sz="2400" b="0" i="1" smtClean="0">
                            <a:latin typeface="Cambria Math" panose="02040503050406030204" pitchFamily="18" charset="0"/>
                          </a:rPr>
                          <m:t>=4</m:t>
                        </m:r>
                      </m:oMath>
                    </a14:m>
                    <a:endParaRPr lang="en-US" sz="2400" dirty="0"/>
                  </a:p>
                </p:txBody>
              </p:sp>
            </mc:Choice>
            <mc:Fallback xmlns="">
              <p:sp>
                <p:nvSpPr>
                  <p:cNvPr id="12" name="TextBox 11">
                    <a:extLst>
                      <a:ext uri="{FF2B5EF4-FFF2-40B4-BE49-F238E27FC236}">
                        <a16:creationId xmlns:a16="http://schemas.microsoft.com/office/drawing/2014/main" id="{AE165CF4-4069-C449-A4C3-D98DA336CE25}"/>
                      </a:ext>
                    </a:extLst>
                  </p:cNvPr>
                  <p:cNvSpPr txBox="1">
                    <a:spLocks noRot="1" noChangeAspect="1" noMove="1" noResize="1" noEditPoints="1" noAdjustHandles="1" noChangeArrowheads="1" noChangeShapeType="1" noTextEdit="1"/>
                  </p:cNvSpPr>
                  <p:nvPr/>
                </p:nvSpPr>
                <p:spPr>
                  <a:xfrm>
                    <a:off x="6921068" y="3240408"/>
                    <a:ext cx="1555747" cy="461665"/>
                  </a:xfrm>
                  <a:prstGeom prst="rect">
                    <a:avLst/>
                  </a:prstGeom>
                  <a:blipFill>
                    <a:blip r:embed="rId18"/>
                    <a:stretch>
                      <a:fillRect l="-5691" t="-5263" b="-26316"/>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1B776EC0-7389-4E44-8639-BD5C81CE968B}"/>
                  </a:ext>
                </a:extLst>
              </p:cNvPr>
              <p:cNvCxnSpPr>
                <a:cxnSpLocks/>
              </p:cNvCxnSpPr>
              <p:nvPr/>
            </p:nvCxnSpPr>
            <p:spPr>
              <a:xfrm>
                <a:off x="6921068" y="3794405"/>
                <a:ext cx="2421596" cy="0"/>
              </a:xfrm>
              <a:prstGeom prst="straightConnector1">
                <a:avLst/>
              </a:prstGeom>
              <a:ln w="25400">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044014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3F3F0A81-45B2-0A49-8C9A-C595BBE261B2}"/>
              </a:ext>
            </a:extLst>
          </p:cNvPr>
          <p:cNvPicPr>
            <a:picLocks noChangeAspect="1"/>
          </p:cNvPicPr>
          <p:nvPr/>
        </p:nvPicPr>
        <p:blipFill>
          <a:blip r:embed="rId3"/>
          <a:stretch>
            <a:fillRect/>
          </a:stretch>
        </p:blipFill>
        <p:spPr>
          <a:xfrm>
            <a:off x="0" y="0"/>
            <a:ext cx="12191999" cy="6835381"/>
          </a:xfrm>
          <a:prstGeom prst="rect">
            <a:avLst/>
          </a:prstGeom>
        </p:spPr>
      </p:pic>
      <p:sp>
        <p:nvSpPr>
          <p:cNvPr id="3" name="Slide Number Placeholder 2">
            <a:extLst>
              <a:ext uri="{FF2B5EF4-FFF2-40B4-BE49-F238E27FC236}">
                <a16:creationId xmlns:a16="http://schemas.microsoft.com/office/drawing/2014/main" id="{60C4B02F-0FE1-7640-89D9-897868D9C7FC}"/>
              </a:ext>
            </a:extLst>
          </p:cNvPr>
          <p:cNvSpPr>
            <a:spLocks noGrp="1"/>
          </p:cNvSpPr>
          <p:nvPr>
            <p:ph type="sldNum" sz="quarter" idx="12"/>
          </p:nvPr>
        </p:nvSpPr>
        <p:spPr>
          <a:xfrm>
            <a:off x="9448799" y="6378335"/>
            <a:ext cx="2743200" cy="365125"/>
          </a:xfrm>
        </p:spPr>
        <p:txBody>
          <a:bodyPr/>
          <a:lstStyle/>
          <a:p>
            <a:fld id="{591A223C-FA10-BC46-A853-03BA373D023C}" type="slidenum">
              <a:rPr lang="en-US" smtClean="0"/>
              <a:t>66</a:t>
            </a:fld>
            <a:endParaRPr lang="en-US"/>
          </a:p>
        </p:txBody>
      </p:sp>
      <p:sp>
        <p:nvSpPr>
          <p:cNvPr id="9" name="TextBox 8">
            <a:extLst>
              <a:ext uri="{FF2B5EF4-FFF2-40B4-BE49-F238E27FC236}">
                <a16:creationId xmlns:a16="http://schemas.microsoft.com/office/drawing/2014/main" id="{719C0D81-1920-C34F-B234-53C430C4B1BB}"/>
              </a:ext>
            </a:extLst>
          </p:cNvPr>
          <p:cNvSpPr txBox="1"/>
          <p:nvPr/>
        </p:nvSpPr>
        <p:spPr>
          <a:xfrm>
            <a:off x="7113537" y="2254845"/>
            <a:ext cx="3815468" cy="923330"/>
          </a:xfrm>
          <a:prstGeom prst="rect">
            <a:avLst/>
          </a:prstGeom>
          <a:noFill/>
        </p:spPr>
        <p:txBody>
          <a:bodyPr wrap="none" rtlCol="0">
            <a:spAutoFit/>
          </a:bodyPr>
          <a:lstStyle/>
          <a:p>
            <a:r>
              <a:rPr lang="en-US" sz="5400" dirty="0">
                <a:solidFill>
                  <a:schemeClr val="bg1"/>
                </a:solidFill>
                <a:latin typeface="Comic Sans MS" panose="030F0902030302020204" pitchFamily="66" charset="0"/>
              </a:rPr>
              <a:t>Questions?</a:t>
            </a:r>
          </a:p>
        </p:txBody>
      </p:sp>
      <p:pic>
        <p:nvPicPr>
          <p:cNvPr id="6" name="Picture 5">
            <a:extLst>
              <a:ext uri="{FF2B5EF4-FFF2-40B4-BE49-F238E27FC236}">
                <a16:creationId xmlns:a16="http://schemas.microsoft.com/office/drawing/2014/main" id="{25CAF79D-906F-8845-86FA-72185BFDBBFD}"/>
              </a:ext>
            </a:extLst>
          </p:cNvPr>
          <p:cNvPicPr>
            <a:picLocks noChangeAspect="1"/>
          </p:cNvPicPr>
          <p:nvPr/>
        </p:nvPicPr>
        <p:blipFill>
          <a:blip r:embed="rId4"/>
          <a:stretch>
            <a:fillRect/>
          </a:stretch>
        </p:blipFill>
        <p:spPr>
          <a:xfrm>
            <a:off x="3391418" y="3157998"/>
            <a:ext cx="3314700" cy="3365500"/>
          </a:xfrm>
          <a:prstGeom prst="rect">
            <a:avLst/>
          </a:prstGeom>
        </p:spPr>
      </p:pic>
      <p:pic>
        <p:nvPicPr>
          <p:cNvPr id="4" name="Picture 3">
            <a:extLst>
              <a:ext uri="{FF2B5EF4-FFF2-40B4-BE49-F238E27FC236}">
                <a16:creationId xmlns:a16="http://schemas.microsoft.com/office/drawing/2014/main" id="{9EA7A2B2-C115-AC43-8CB6-8B25213DCC32}"/>
              </a:ext>
            </a:extLst>
          </p:cNvPr>
          <p:cNvPicPr>
            <a:picLocks noChangeAspect="1"/>
          </p:cNvPicPr>
          <p:nvPr/>
        </p:nvPicPr>
        <p:blipFill>
          <a:blip r:embed="rId5"/>
          <a:stretch>
            <a:fillRect/>
          </a:stretch>
        </p:blipFill>
        <p:spPr>
          <a:xfrm>
            <a:off x="505065" y="1097779"/>
            <a:ext cx="3744255" cy="5113836"/>
          </a:xfrm>
          <a:prstGeom prst="rect">
            <a:avLst/>
          </a:prstGeom>
        </p:spPr>
      </p:pic>
    </p:spTree>
    <p:extLst>
      <p:ext uri="{BB962C8B-B14F-4D97-AF65-F5344CB8AC3E}">
        <p14:creationId xmlns:p14="http://schemas.microsoft.com/office/powerpoint/2010/main" val="20064581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131344</TotalTime>
  <Words>12428</Words>
  <Application>Microsoft Macintosh PowerPoint</Application>
  <PresentationFormat>Widescreen</PresentationFormat>
  <Paragraphs>1404</Paragraphs>
  <Slides>66</Slides>
  <Notes>66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66</vt:i4>
      </vt:variant>
    </vt:vector>
  </HeadingPairs>
  <TitlesOfParts>
    <vt:vector size="77" baseType="lpstr">
      <vt:lpstr>Meiryo</vt:lpstr>
      <vt:lpstr>Arial</vt:lpstr>
      <vt:lpstr>Calibri</vt:lpstr>
      <vt:lpstr>Calibri Light</vt:lpstr>
      <vt:lpstr>Cambria</vt:lpstr>
      <vt:lpstr>Cambria Math</vt:lpstr>
      <vt:lpstr>Comic Sans MS</vt:lpstr>
      <vt:lpstr>Menlo Regular</vt:lpstr>
      <vt:lpstr>Times</vt:lpstr>
      <vt:lpstr>Times New Roman</vt:lpstr>
      <vt:lpstr>Office Theme</vt:lpstr>
      <vt:lpstr>PowerPoint Presentation</vt:lpstr>
      <vt:lpstr>Content</vt:lpstr>
      <vt:lpstr>Model of Quantum Computation</vt:lpstr>
      <vt:lpstr>Constants</vt:lpstr>
      <vt:lpstr>Important mathematical constants</vt:lpstr>
      <vt:lpstr>Important Trigonometric Functions</vt:lpstr>
      <vt:lpstr>Coordinate systems</vt:lpstr>
      <vt:lpstr>Kronecker delta function</vt:lpstr>
      <vt:lpstr>Complex numbers</vt:lpstr>
      <vt:lpstr>Complex numbers</vt:lpstr>
      <vt:lpstr>Euler’s formula</vt:lpstr>
      <vt:lpstr>Polar form of a complex number</vt:lpstr>
      <vt:lpstr>Complex numbers on the unit circle</vt:lpstr>
      <vt:lpstr>n-th roots of unity</vt:lpstr>
      <vt:lpstr>n-th roots of unity</vt:lpstr>
      <vt:lpstr>Example of finding the 5th roots of unity</vt:lpstr>
      <vt:lpstr>Some properties of the n-th roots of unity</vt:lpstr>
      <vt:lpstr>Primitive roots of unity</vt:lpstr>
      <vt:lpstr>Mathematical Framework</vt:lpstr>
      <vt:lpstr>Linear algebra</vt:lpstr>
      <vt:lpstr>Matrices</vt:lpstr>
      <vt:lpstr>Matrix</vt:lpstr>
      <vt:lpstr>Basic matrix operations </vt:lpstr>
      <vt:lpstr>Matrix multiplication</vt:lpstr>
      <vt:lpstr>Tensor/Kronecker product</vt:lpstr>
      <vt:lpstr>Key matrix types in quantum computing</vt:lpstr>
      <vt:lpstr>Determinant and special unitary groups</vt:lpstr>
      <vt:lpstr>Pauli matrices</vt:lpstr>
      <vt:lpstr>Hadamard matrix</vt:lpstr>
      <vt:lpstr>Vectors</vt:lpstr>
      <vt:lpstr>Vectors</vt:lpstr>
      <vt:lpstr>Dirac / bra c ket notation</vt:lpstr>
      <vt:lpstr>Bra-ket</vt:lpstr>
      <vt:lpstr>Scalar multiplication and vector addition</vt:lpstr>
      <vt:lpstr>Properties of vector addition and scalar multiplication</vt:lpstr>
      <vt:lpstr>Inner product</vt:lpstr>
      <vt:lpstr>Inner product properties in quantum computing</vt:lpstr>
      <vt:lpstr>Outer product</vt:lpstr>
      <vt:lpstr>Dirac notation cheatsheet</vt:lpstr>
      <vt:lpstr>Vector spaces</vt:lpstr>
      <vt:lpstr>Basis Vectors</vt:lpstr>
      <vt:lpstr>Higher-dimensional spaces</vt:lpstr>
      <vt:lpstr>Linear Transformations and Linear Operators</vt:lpstr>
      <vt:lpstr>Linear transformations</vt:lpstr>
      <vt:lpstr>Rotation operators</vt:lpstr>
      <vt:lpstr>Application of operators in quantum computing</vt:lpstr>
      <vt:lpstr>Projectors</vt:lpstr>
      <vt:lpstr>The completeness relation</vt:lpstr>
      <vt:lpstr>Expectation Value</vt:lpstr>
      <vt:lpstr>Eigenvalues and eigenvectors</vt:lpstr>
      <vt:lpstr>Eigenvalues and eigenvectors</vt:lpstr>
      <vt:lpstr>Eigenspaces and Spectrum</vt:lpstr>
      <vt:lpstr>Calculating eigenvalues and eigenvectors</vt:lpstr>
      <vt:lpstr>The spectral decomposition theorem</vt:lpstr>
      <vt:lpstr>Spectral decomposition of the Z operator</vt:lpstr>
      <vt:lpstr>Boolean algebra</vt:lpstr>
      <vt:lpstr>Basics of Boolean algebra</vt:lpstr>
      <vt:lpstr>Truth table for logical operations</vt:lpstr>
      <vt:lpstr>De Morgan’s laws</vt:lpstr>
      <vt:lpstr>Conjunctive Normal Form (CNF)</vt:lpstr>
      <vt:lpstr>Boolean vectors and vector spaces</vt:lpstr>
      <vt:lpstr>Boolean functions</vt:lpstr>
      <vt:lpstr>Modular arithmetic</vt:lpstr>
      <vt:lpstr>Modular Arithmetic</vt:lpstr>
      <vt:lpstr>Modular exponential function f(x)= a^x mod n </vt:lpstr>
      <vt:lpstr>PowerPoint Presentation</vt:lpstr>
    </vt:vector>
  </TitlesOfParts>
  <Manager/>
  <Company/>
  <LinksUpToDate>false</LinksUpToDate>
  <SharedDoc>false</SharedDoc>
  <HyperlinkBase/>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Microsoft Office User</dc:creator>
  <cp:keywords/>
  <dc:description/>
  <cp:lastModifiedBy>Aleksandar Radovanovic</cp:lastModifiedBy>
  <cp:revision>2354</cp:revision>
  <cp:lastPrinted>2026-03-28T19:58:13Z</cp:lastPrinted>
  <dcterms:created xsi:type="dcterms:W3CDTF">2021-12-18T08:25:37Z</dcterms:created>
  <dcterms:modified xsi:type="dcterms:W3CDTF">2026-09-26T12:50:11Z</dcterms:modified>
  <cp:category/>
</cp:coreProperties>
</file>